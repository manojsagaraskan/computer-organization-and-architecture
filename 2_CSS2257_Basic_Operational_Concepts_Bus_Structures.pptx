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2618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to the class. Introduce yourself as the faculty for Computer Organization and Architecture, subject code CSS2257. Today's lecture covers Basic Operational Concepts and Bus Structures — specifically how the processor talks to memory, and the mechanisms used to move data between them. Let them know this is foundational material that everything else in the course builds on, so it is worth getting comfortable with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anchors the session: which university, school, and department this class belongs to, which course and unit we are in, and who is teaching. If you have a physical or virtual logo, insert it in the top-right placeholder. Briefly orient new students — many freshers may not yet know their School and Department names by heart, so it's worth reading them out loud.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objectives briefly — don't dwell too long, about 30-40 seconds. Frame it as a roadmap: 'By the time we finish today, you should be able to trace a single instruction from the moment the CPU fetches it, all the way to how its data moves across the bus.' This sets expectations and gives freshers a mental checklist to tick off as we go.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as a quick, light activity — about 5 minutes total. Ask Q1 and take 2-3 quick verbal answers; don't correct them yet, just collect ideas. Ask Q2 as a show of hands. For Q3, this usually gets a fun reaction — use it to bring energy up. For Q4, take one or two answers and then say: 'Great, hold that thought — by the end of today you'll be able to answer this precisely.' Use their answers to transition naturally into 'Why This Topic Matters'.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to their icebreaker answers. Say something like: 'You already sensed that something moves between the brain (CPU) and memory — today we name it and understand it precisely: it's called a bus.' Emphasize real-world relevance — laptop speed, RAM upgrades, SSDs — so freshers see this isn't just theory but explains things they've experienced.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fast recap, 2-3 minutes — freshers likely saw this in Class 11/12 computer basics, so don't over-explain, just refresh. The key line to land: 'These three blocks are only useful if they can exchange data fast and reliably — that pathway is what we study today.' This sets up the transition into basic operational concepts.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framing here: the CPU is not 'intelligent' in a human sense — it is extremely fast at one repetitive job. Use an analogy: 'Think of a factory worker on an assembly line doing the same three steps thousands of times a second — that's the CPU.' This sets up the next slide, where we name and detail those three steps.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this triangle slide by slide as you speak: 'First, Fetch — the CPU goes to memory and picks up the next instruction. Second, Decode — it figures out what that instruction is asking it to do. Third, Execute — it actually performs the operation, like adding two numbers.' Emphasize the loop never stops: as soon as Execute finishes, the CPU immediately starts the next Fetch. This loop is literally what 'the CPU is running' means.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add technical precision to the previous slide. Point out that Fetch specifically involves the bus — the PC's address travels to memory over the address bus, and the instruction comes back over the data bus. This is your bridge into the next slide, where we name the specific registers involved: PC, IR, MAR, MBR. Pause and ask: 'Anyone remember what PC stands for from your digital logic class? Not personal computer — something else.'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dense but important slide — slow down here. Go register by register on the left first, in plain language: 'PC is basically a bookmark — it remembers where we are in the program.' Then walk through the five numbered steps on the right, connecting each register to its job. This sequence is exactly what happens physically on the bus, so it's the perfect bridge into 'what actually is a bus'.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WhatsApp group analogy — it lands very well with freshers. 'Imagine texting all 60 classmates individually every time you have an announcement — exhausting. Instead, one group chat, everyone connected to it. That group chat is the bus.' This motivates why the bus concept exists before formally defining it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formal definition now, but keep tying back to the group-chat analogy. Point at the diagram: 'Every device — CPU, memory, I/O — taps into this one shared line. This is a simplification, real systems have more nuance, but conceptually this is what a bus is.' Preview: 'Next we'll break down exactly what travels on this shared line — there are three different kinds of signals.'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direction — this is the first of three bus types and it's the easiest since it only flows one way. Use the postal analogy: 'You can't deliver a letter without a house number — the address bus is the CPU writing that house number before anything else can happen.' Mention the 32-bit example lightly; a numeric worked example comes later, so don't dive deep into binary math here.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directly with the address bus: 'Address bus = house number, one-way. Data bus = the actual parcel, and it can go both ways — sometimes the CPU sends data to memory (write), sometimes memory sends data to the CPU (read).' Mention bus width briefly — wider data bus is like a bigger truck that can carry more parcels per trip, which is why 64-bit systems move more data per cycle than 32-bit ones.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completes the three-part bus picture. Reinforce with a simple summary line: 'Address bus says WHERE, data bus carries WHAT, control bus says WHEN and HOW.' Ask a quick check question: 'If the CPU wants to read from memory, which bus tells memory it's specifically a READ and not a WRITE?' — Answer: control bus. This naturally leads into how these three come together in bus organization.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diagram directly: 'This is the simplest possible design — everyone shares one line, like one lane road.' Emphasize the trade-off clearly: cheap and simple, but only one conversation at a time, so it doesn't scale well when you add many devices. This naturally sets up the next slide — multiple bus organization — as the solution to this bottleneck.</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Directly contrast with the previous slide: 'Single bus was one lane for everyone. Multiple bus organization is like having a dedicated highway for fast traffic (memory) and a separate local road for slower traffic (I/O devices).' This is exactly how real CPUs work today — mention that modern systems have many specialized buses (front-side bus, PCIe, memory controller bus). Keep it conceptual — we're not going into exact modern bus names yet, that comes in the real-world example slide.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 it's a framing slide before the two detailed step-by-step slides that follow. The key message: 'No matter how complex a program feels, at the hardware level it's always just Read or Write, repeated billions of times per second.' Ask students: 'When you save a file, is that a Read or a Write?' — confirm it's Write, to check understanding before moving 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this slowly, step by step, using the diagram from Slide 12 as a mental reference (CPU–bus–memory). This is a core slide for the lecture: 'Step 1, the address goes into MAR — think of it as writing the house number on paper. Step 2, that number goes out on the address bus — like putting the letter in the mailbox. Step 3, the CPU also raises the READ signal on the control bus — that's like marking the envelope 'please read and reply'. Step 4 and 5, memory does the lookup and sends data back on the data bus. Step 6, CPU receives it.' This slide's structure directly mirrors the Write operation next, so students can compare.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deliberate color difference from the Read slide (navy circles vs amber) — point this out to students as a memory aid: 'I've colored Write differently from Read on purpose, so the pattern sticks.' Highlight the key structural difference: in Write, BOTH the address bus and data bus carry information from the CPU simultaneously, whereas in Read, the data bus direction reverses partway through. This distinction becomes very important in the timing example next.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this exactly like a worked numerical problem: state the given (address 2050), state what's being found (the value stored there), then go row by row. Say out loud: 'At time t0, two things happen together — the address bus carries 2050, and the control bus raises READ. At t1, memory needs a moment to actually look up that address — this is called memory access time. At t2, memory finally puts the answer, 47, onto the data bus. At t3, the CPU grabs it.' End by interpreting the result in plain language: 'So in four time steps, the CPU successfully retrieved the value 47 from address 2050 — this is a complete Read operation.' Invite students to try tracing a Write operation for address 3010 with value 90 as a quick mental exercise.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transition slide. Use an analogy: 'Synchronous is like a scheduled train — everyone must be ready exactly when the train arrives, whether they are or not. Asynchronous is like a conversation — you speak, wait for a reply, then continue. Neither is better in all cases — it depends on whether your devices are similar in speed (synchronous is fine) or very different in speed (asynchronous handles that better).' This sets up the two following slides.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waveform: 'This square wave is the shared clock, ticking at a fixed rate. Every device on the bus agrees: I will check the bus exactly when the clock ticks — no earlier, no later.' Draw the classroom analogy: 'It's like a teacher saying, everyone submit your answer sheet exactly when the bell rings — even if you finished early, you wait; even if you're not done, time's up.' This naturally motivates the flexibility of asynchronous transfer next.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real conversational analogy: 'Imagine passing a note in class. You don't just throw it — you tap your friend's shoulder (Data-Ready), they take it and nod back (Acknowledge), then you know it's safe to stop holding your arm out.' This is precisely a two-line handshake. Emphasize why this matters: a fast CPU and a slow printer, for example, can still communicate correctly because the handshake naturally paces the transfer to the slower device's speed.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Treat this exactly as a numerical/protocol problem: state the given (byte 0x4B, slow device), and walk through each of the six steps aloud, pointing out which side (CPU or device) is acting at each step — that's why the circles alternate color. Emphasize step 4 and 5 especially: 'The CPU does NOT withdraw the data until it sees Acknowledge — this is the key safety guarantee of handshaking; nothing is lost even if the device is slow.' Ask: 'What would happen if we used synchronous transfer instead, with a very slow device?' — lead them to realize data could be missed if the device isn't ready by the clock edge.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workplace analogy: 'Imagine you're a manager (CPU) and you need to move 500 boxes. Instead of carrying each box yourself, you tell a courier (DMA controller) — here's the source, here's the destination — and go back to your own work. The courier taps you on the shoulder only when all 500 boxes are moved.' Emphasize this is exactly why file transfers, video streaming, and large I/O don't freeze your whole computer — DMA is doing the heavy lifting.</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classroom analogy: 'If three students want to ask a question at once, the teacher (arbiter) decides who goes first — maybe by raised hand order, maybe by whoever's question is more urgent.' Briefly name the three schemes but don't over-explain each — daisy chaining is like passing a token down a line of devices, polling is the arbiter checking each device in turn, and independent request lines mean every device has a direct private request line to the arbiter. This is a survey-level slide; deeper coverage will come in a later class on I/O organization.</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'aha' slide connecting today's abstract concepts to hardware students may have shopped for or seen advertised. Ask: 'Who has heard the term PCIe Gen 4 or Gen 5 when talking about GPUs?' Point out: 'That number — Gen 4, Gen 5 — literally refers to how fast that bus can move data, exactly the concept we studied today.' Similarly connect USB versions (2.0 vs 3.0 vs USB-C) to bus speed differences, and NVMe vs SATA SSD speed differences directly to bus design.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myth-reality pair briskly, about 30 seconds each. These are exactly the kind of statements that trip students up in exams and interviews, so flag them clearly: 'If you remember nothing else from this slide, remember: DMA does NOT remove the CPU from the picture entirely — it still starts and ends the process.' Invite quick reactions: 'Did any of you believe one of these myths before today?'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exactly 2 minutes to discuss in pairs — set a visible timer if possible. This is meant to be a light, applied check, not a graded question — say so explicitly to reduce anxiety. After 2 minutes, cold-call 2-3 pairs for their answer. Good answers might mention USB bus speed being much slower than internal buses, or older USB 2.0 vs USB 3.0. Use this to reinforce Slide 28's real-world connection before moving to the formal summary.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briskly, connecting each bullet back to a slide students just saw — this reinforces the whole lecture arc in under 2 minutes. End with: 'Everything from here on in the course — pipelining, cache design, I/O systems — builds directly on this bus and communication model, so hold onto today's mental picture.' Transition into the quiz by saying: 'Let's put this to a quick, ungraded test.'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clearly as low-stakes: 'This is to check your own understanding, not for grading.' Give students 4-5 minutes to attempt individually or in pairs. Encourage honest effort rather than guessing — remind them it's fine to leave a question blank if unsure, that tells them exactly what to revise. Note which questions map to which part of the lecture: Q1/Q3 to registers and buses, Q2/Q4 to data transfer mechanisms, Q5 to processor-memory communication, Q6 to DMA.</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briefly — 20-30 seconds each. Pause on Q2 and Q4 specifically, since these True/False questions target the most common misconceptions from Slide 29 — reiterate why the 'False' answer is true. For Q6, expand slightly with the courier analogy from Slide 26 if students seem to need a refresher. Close by asking: 'Any question you got wrong or want to revisit — note it down, that's exactly what to review before the next class.'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class warmly. Mention the reading list is optional but useful for reinforcement, while the assignment is required before the next class. Preview the next topic — Cache Memory &amp; Memory Hierarchy — as a natural continuation: 'Now that you know how the CPU talks to memory, next class we'll see how we make that conversation faster using cache.' Thank the students for their participation, especially referencing the icebreaker and think-pair-share activity to end on an engaged note.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E2761"/>
          </a:solidFill>
          <a:ln/>
        </p:spPr>
      </p:sp>
      <p:sp>
        <p:nvSpPr>
          <p:cNvPr id="3" name="Shape 1"/>
          <p:cNvSpPr/>
          <p:nvPr/>
        </p:nvSpPr>
        <p:spPr>
          <a:xfrm>
            <a:off x="548640" y="6035040"/>
            <a:ext cx="54864" cy="54864"/>
          </a:xfrm>
          <a:prstGeom prst="ellipse">
            <a:avLst/>
          </a:prstGeom>
          <a:solidFill>
            <a:srgbClr val="E8871E"/>
          </a:solidFill>
          <a:ln/>
        </p:spPr>
      </p:sp>
      <p:sp>
        <p:nvSpPr>
          <p:cNvPr id="4" name="Shape 2"/>
          <p:cNvSpPr/>
          <p:nvPr/>
        </p:nvSpPr>
        <p:spPr>
          <a:xfrm>
            <a:off x="2468880" y="6035040"/>
            <a:ext cx="54864" cy="54864"/>
          </a:xfrm>
          <a:prstGeom prst="ellipse">
            <a:avLst/>
          </a:prstGeom>
          <a:solidFill>
            <a:srgbClr val="E8871E"/>
          </a:solidFill>
          <a:ln/>
        </p:spPr>
      </p:sp>
      <p:sp>
        <p:nvSpPr>
          <p:cNvPr id="5" name="Shape 3"/>
          <p:cNvSpPr/>
          <p:nvPr/>
        </p:nvSpPr>
        <p:spPr>
          <a:xfrm>
            <a:off x="4389120" y="6035040"/>
            <a:ext cx="54864" cy="54864"/>
          </a:xfrm>
          <a:prstGeom prst="ellipse">
            <a:avLst/>
          </a:prstGeom>
          <a:solidFill>
            <a:srgbClr val="E8871E"/>
          </a:solidFill>
          <a:ln/>
        </p:spPr>
      </p:sp>
      <p:sp>
        <p:nvSpPr>
          <p:cNvPr id="6" name="Shape 4"/>
          <p:cNvSpPr/>
          <p:nvPr/>
        </p:nvSpPr>
        <p:spPr>
          <a:xfrm>
            <a:off x="6309360" y="6035040"/>
            <a:ext cx="54864" cy="54864"/>
          </a:xfrm>
          <a:prstGeom prst="ellipse">
            <a:avLst/>
          </a:prstGeom>
          <a:solidFill>
            <a:srgbClr val="E8871E"/>
          </a:solidFill>
          <a:ln/>
        </p:spPr>
      </p:sp>
      <p:sp>
        <p:nvSpPr>
          <p:cNvPr id="7" name="Shape 5"/>
          <p:cNvSpPr/>
          <p:nvPr/>
        </p:nvSpPr>
        <p:spPr>
          <a:xfrm>
            <a:off x="8229600" y="6035040"/>
            <a:ext cx="54864" cy="54864"/>
          </a:xfrm>
          <a:prstGeom prst="ellipse">
            <a:avLst/>
          </a:prstGeom>
          <a:solidFill>
            <a:srgbClr val="E8871E"/>
          </a:solidFill>
          <a:ln/>
        </p:spPr>
      </p:sp>
      <p:sp>
        <p:nvSpPr>
          <p:cNvPr id="8" name="Shape 6"/>
          <p:cNvSpPr/>
          <p:nvPr/>
        </p:nvSpPr>
        <p:spPr>
          <a:xfrm>
            <a:off x="10149840" y="6035040"/>
            <a:ext cx="54864" cy="54864"/>
          </a:xfrm>
          <a:prstGeom prst="ellipse">
            <a:avLst/>
          </a:prstGeom>
          <a:solidFill>
            <a:srgbClr val="E8871E"/>
          </a:solidFill>
          <a:ln/>
        </p:spPr>
      </p:sp>
      <p:sp>
        <p:nvSpPr>
          <p:cNvPr id="9" name="Shape 7"/>
          <p:cNvSpPr/>
          <p:nvPr/>
        </p:nvSpPr>
        <p:spPr>
          <a:xfrm>
            <a:off x="548640" y="6062472"/>
            <a:ext cx="9692640" cy="0"/>
          </a:xfrm>
          <a:prstGeom prst="line">
            <a:avLst/>
          </a:prstGeom>
          <a:noFill/>
          <a:ln w="12700">
            <a:solidFill>
              <a:srgbClr val="3A4694"/>
            </a:solidFill>
            <a:prstDash val="solid"/>
          </a:ln>
        </p:spPr>
      </p:sp>
      <p:sp>
        <p:nvSpPr>
          <p:cNvPr id="10" name="Text 8"/>
          <p:cNvSpPr/>
          <p:nvPr/>
        </p:nvSpPr>
        <p:spPr>
          <a:xfrm>
            <a:off x="731520" y="548640"/>
            <a:ext cx="10698480" cy="457200"/>
          </a:xfrm>
          <a:prstGeom prst="rect">
            <a:avLst/>
          </a:prstGeom>
          <a:noFill/>
          <a:ln/>
        </p:spPr>
        <p:txBody>
          <a:bodyPr wrap="square" rtlCol="0" anchor="ctr"/>
          <a:lstStyle/>
          <a:p>
            <a:pPr marL="0" indent="0">
              <a:buNone/>
            </a:pPr>
            <a:r>
              <a:rPr lang="en-US" sz="1600" b="1" dirty="0">
                <a:solidFill>
                  <a:srgbClr val="CADCFC"/>
                </a:solidFill>
                <a:latin typeface="Calibri" pitchFamily="34" charset="0"/>
                <a:ea typeface="Calibri" pitchFamily="34" charset="-122"/>
                <a:cs typeface="Calibri" pitchFamily="34" charset="-120"/>
              </a:rPr>
              <a:t>Presidency University</a:t>
            </a:r>
            <a:endParaRPr lang="en-US" sz="1600" dirty="0"/>
          </a:p>
        </p:txBody>
      </p:sp>
      <p:sp>
        <p:nvSpPr>
          <p:cNvPr id="11" name="Text 9"/>
          <p:cNvSpPr/>
          <p:nvPr/>
        </p:nvSpPr>
        <p:spPr>
          <a:xfrm>
            <a:off x="731520" y="960120"/>
            <a:ext cx="10698480" cy="640080"/>
          </a:xfrm>
          <a:prstGeom prst="rect">
            <a:avLst/>
          </a:prstGeom>
          <a:noFill/>
          <a:ln/>
        </p:spPr>
        <p:txBody>
          <a:bodyPr wrap="square" rtlCol="0" anchor="ctr"/>
          <a:lstStyle/>
          <a:p>
            <a:pPr marL="0" indent="0">
              <a:buNone/>
            </a:pPr>
            <a:r>
              <a:rPr lang="en-US" sz="1300" dirty="0">
                <a:solidFill>
                  <a:srgbClr val="9FB3E8"/>
                </a:solidFill>
                <a:latin typeface="Calibri" pitchFamily="34" charset="0"/>
                <a:ea typeface="Calibri" pitchFamily="34" charset="-122"/>
                <a:cs typeface="Calibri" pitchFamily="34" charset="-120"/>
              </a:rPr>
              <a:t>Presidency School of Artificial Intelligence &amp; Advanced Computing</a:t>
            </a:r>
            <a:endParaRPr lang="en-US" sz="1300" dirty="0"/>
          </a:p>
          <a:p>
            <a:pPr marL="0" indent="0">
              <a:buNone/>
            </a:pPr>
            <a:r>
              <a:rPr lang="en-US" sz="1300" dirty="0">
                <a:solidFill>
                  <a:srgbClr val="9FB3E8"/>
                </a:solidFill>
                <a:latin typeface="Calibri" pitchFamily="34" charset="0"/>
                <a:ea typeface="Calibri" pitchFamily="34" charset="-122"/>
                <a:cs typeface="Calibri" pitchFamily="34" charset="-120"/>
              </a:rPr>
              <a:t>Department of AI &amp; Robotics</a:t>
            </a:r>
            <a:endParaRPr lang="en-US" sz="1300" dirty="0"/>
          </a:p>
        </p:txBody>
      </p:sp>
      <p:sp>
        <p:nvSpPr>
          <p:cNvPr id="12" name="Text 10"/>
          <p:cNvSpPr/>
          <p:nvPr/>
        </p:nvSpPr>
        <p:spPr>
          <a:xfrm>
            <a:off x="731520" y="2377440"/>
            <a:ext cx="8961120" cy="1737360"/>
          </a:xfrm>
          <a:prstGeom prst="rect">
            <a:avLst/>
          </a:prstGeom>
          <a:noFill/>
          <a:ln/>
        </p:spPr>
        <p:txBody>
          <a:bodyPr wrap="square" rtlCol="0" anchor="t"/>
          <a:lstStyle/>
          <a:p>
            <a:pPr marL="0" indent="0" algn="l">
              <a:buNone/>
            </a:pPr>
            <a:r>
              <a:rPr lang="en-US" sz="3400" b="1" dirty="0">
                <a:solidFill>
                  <a:srgbClr val="FFFFFF"/>
                </a:solidFill>
                <a:latin typeface="Cambria" pitchFamily="34" charset="0"/>
                <a:ea typeface="Cambria" pitchFamily="34" charset="-122"/>
                <a:cs typeface="Cambria" pitchFamily="34" charset="-120"/>
              </a:rPr>
              <a:t>Basic Operational Concepts &amp; Bus Structures</a:t>
            </a:r>
            <a:endParaRPr lang="en-US" sz="3400" dirty="0"/>
          </a:p>
        </p:txBody>
      </p:sp>
      <p:sp>
        <p:nvSpPr>
          <p:cNvPr id="13" name="Text 11"/>
          <p:cNvSpPr/>
          <p:nvPr/>
        </p:nvSpPr>
        <p:spPr>
          <a:xfrm>
            <a:off x="731520" y="3794760"/>
            <a:ext cx="10698480" cy="457200"/>
          </a:xfrm>
          <a:prstGeom prst="rect">
            <a:avLst/>
          </a:prstGeom>
          <a:noFill/>
          <a:ln/>
        </p:spPr>
        <p:txBody>
          <a:bodyPr wrap="square" rtlCol="0" anchor="ctr"/>
          <a:lstStyle/>
          <a:p>
            <a:pPr marL="0" indent="0">
              <a:buNone/>
            </a:pPr>
            <a:r>
              <a:rPr lang="en-US" sz="1800" i="1" dirty="0">
                <a:solidFill>
                  <a:srgbClr val="E8871E"/>
                </a:solidFill>
                <a:latin typeface="Calibri" pitchFamily="34" charset="0"/>
                <a:ea typeface="Calibri" pitchFamily="34" charset="-122"/>
                <a:cs typeface="Calibri" pitchFamily="34" charset="-120"/>
              </a:rPr>
              <a:t>Processor–Memory Communication  •  Data Transfer Mechanisms</a:t>
            </a:r>
            <a:endParaRPr lang="en-US" sz="1800" dirty="0"/>
          </a:p>
        </p:txBody>
      </p:sp>
      <p:sp>
        <p:nvSpPr>
          <p:cNvPr id="14" name="Text 12"/>
          <p:cNvSpPr/>
          <p:nvPr/>
        </p:nvSpPr>
        <p:spPr>
          <a:xfrm>
            <a:off x="731520" y="5120640"/>
            <a:ext cx="7315200" cy="36576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Computer Organization and Architecture  |  CSS2257</a:t>
            </a:r>
            <a:endParaRPr lang="en-US" sz="1400" dirty="0"/>
          </a:p>
        </p:txBody>
      </p:sp>
      <p:sp>
        <p:nvSpPr>
          <p:cNvPr id="15" name="Text 13"/>
          <p:cNvSpPr/>
          <p:nvPr/>
        </p:nvSpPr>
        <p:spPr>
          <a:xfrm>
            <a:off x="731520" y="5486400"/>
            <a:ext cx="7315200" cy="36576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Faculty: Mr. Manoj Sagar</a:t>
            </a:r>
            <a:endParaRPr lang="en-US" sz="1400" dirty="0"/>
          </a:p>
        </p:txBody>
      </p:sp>
      <p:sp>
        <p:nvSpPr>
          <p:cNvPr id="16" name="Shape 14"/>
          <p:cNvSpPr/>
          <p:nvPr/>
        </p:nvSpPr>
        <p:spPr>
          <a:xfrm>
            <a:off x="10424160" y="3566160"/>
            <a:ext cx="1188720" cy="1188720"/>
          </a:xfrm>
          <a:prstGeom prst="ellipse">
            <a:avLst/>
          </a:prstGeom>
          <a:solidFill>
            <a:srgbClr val="E8871E"/>
          </a:solidFill>
          <a:ln/>
        </p:spPr>
      </p:sp>
      <p:sp>
        <p:nvSpPr>
          <p:cNvPr id="17" name="Text 15"/>
          <p:cNvSpPr/>
          <p:nvPr/>
        </p:nvSpPr>
        <p:spPr>
          <a:xfrm>
            <a:off x="10424160" y="3566160"/>
            <a:ext cx="1188720" cy="1188720"/>
          </a:xfrm>
          <a:prstGeom prst="rect">
            <a:avLst/>
          </a:prstGeom>
          <a:noFill/>
          <a:ln/>
        </p:spPr>
        <p:txBody>
          <a:bodyPr wrap="square" rtlCol="0" anchor="ctr"/>
          <a:lstStyle/>
          <a:p>
            <a:pPr marL="0" indent="0" algn="ctr">
              <a:buNone/>
            </a:pPr>
            <a:r>
              <a:rPr lang="en-US" sz="2000" b="1" dirty="0">
                <a:solidFill>
                  <a:srgbClr val="1E2761"/>
                </a:solidFill>
                <a:latin typeface="Calibri" pitchFamily="34" charset="0"/>
                <a:ea typeface="Calibri" pitchFamily="34" charset="-122"/>
                <a:cs typeface="Calibri" pitchFamily="34" charset="-120"/>
              </a:rPr>
              <a:t>CPU</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123" y="8965"/>
            <a:ext cx="12191695" cy="2011680"/>
          </a:xfrm>
          <a:prstGeom prst="rect">
            <a:avLst/>
          </a:prstGeom>
          <a:solidFill>
            <a:srgbClr val="CADCFC"/>
          </a:solidFill>
          <a:ln/>
        </p:spPr>
        <p:txBody>
          <a:bodyPr/>
          <a:lstStyle/>
          <a:p>
            <a:endParaRPr lang="en-IN" dirty="0"/>
          </a:p>
        </p:txBody>
      </p:sp>
      <p:sp>
        <p:nvSpPr>
          <p:cNvPr id="3" name="Text 1"/>
          <p:cNvSpPr/>
          <p:nvPr/>
        </p:nvSpPr>
        <p:spPr>
          <a:xfrm>
            <a:off x="548640" y="457200"/>
            <a:ext cx="11094415" cy="822960"/>
          </a:xfrm>
          <a:prstGeom prst="rect">
            <a:avLst/>
          </a:prstGeom>
          <a:noFill/>
          <a:ln/>
        </p:spPr>
        <p:txBody>
          <a:bodyPr wrap="square" rtlCol="0" anchor="ctr"/>
          <a:lstStyle/>
          <a:p>
            <a:pPr marL="0" indent="0" algn="l">
              <a:buNone/>
            </a:pPr>
            <a:r>
              <a:rPr lang="en-US" sz="3000" b="1" dirty="0">
                <a:solidFill>
                  <a:srgbClr val="1E2761"/>
                </a:solidFill>
                <a:latin typeface="Cambria" pitchFamily="34" charset="0"/>
                <a:ea typeface="Cambria" pitchFamily="34" charset="-122"/>
                <a:cs typeface="Cambria" pitchFamily="34" charset="-120"/>
              </a:rPr>
              <a:t>Presidency University</a:t>
            </a:r>
            <a:endParaRPr lang="en-US" sz="3000" dirty="0"/>
          </a:p>
        </p:txBody>
      </p:sp>
      <p:sp>
        <p:nvSpPr>
          <p:cNvPr id="4" name="Text 2"/>
          <p:cNvSpPr/>
          <p:nvPr/>
        </p:nvSpPr>
        <p:spPr>
          <a:xfrm>
            <a:off x="548640" y="1143000"/>
            <a:ext cx="10972800" cy="457200"/>
          </a:xfrm>
          <a:prstGeom prst="rect">
            <a:avLst/>
          </a:prstGeom>
          <a:noFill/>
          <a:ln/>
        </p:spPr>
        <p:txBody>
          <a:bodyPr wrap="square" rtlCol="0" anchor="ctr"/>
          <a:lstStyle/>
          <a:p>
            <a:pPr marL="0" indent="0">
              <a:buNone/>
            </a:pPr>
            <a:r>
              <a:rPr lang="en-US" sz="1600" dirty="0">
                <a:solidFill>
                  <a:srgbClr val="1E2761"/>
                </a:solidFill>
                <a:latin typeface="Calibri" pitchFamily="34" charset="0"/>
                <a:ea typeface="Calibri" pitchFamily="34" charset="-122"/>
                <a:cs typeface="Calibri" pitchFamily="34" charset="-120"/>
              </a:rPr>
              <a:t>Presidency School of Artificial Intelligence &amp; Advanced Computing</a:t>
            </a:r>
            <a:endParaRPr lang="en-US" sz="1600" dirty="0"/>
          </a:p>
        </p:txBody>
      </p:sp>
      <p:sp>
        <p:nvSpPr>
          <p:cNvPr id="5" name="Text 3"/>
          <p:cNvSpPr/>
          <p:nvPr/>
        </p:nvSpPr>
        <p:spPr>
          <a:xfrm>
            <a:off x="548640" y="1554480"/>
            <a:ext cx="10972800" cy="3657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Department of AI &amp; Robotics</a:t>
            </a:r>
            <a:endParaRPr lang="en-US" sz="1400" dirty="0"/>
          </a:p>
        </p:txBody>
      </p:sp>
      <p:sp>
        <p:nvSpPr>
          <p:cNvPr id="6" name="Shape 4"/>
          <p:cNvSpPr/>
          <p:nvPr/>
        </p:nvSpPr>
        <p:spPr>
          <a:xfrm>
            <a:off x="822960" y="2560320"/>
            <a:ext cx="3200400" cy="1280160"/>
          </a:xfrm>
          <a:prstGeom prst="roundRect">
            <a:avLst>
              <a:gd name="adj" fmla="val 5714"/>
            </a:avLst>
          </a:prstGeom>
          <a:solidFill>
            <a:srgbClr val="CADCFC"/>
          </a:solidFill>
          <a:ln w="12700">
            <a:solidFill>
              <a:srgbClr val="1E2761"/>
            </a:solidFill>
            <a:prstDash val="solid"/>
          </a:ln>
        </p:spPr>
      </p:sp>
      <p:sp>
        <p:nvSpPr>
          <p:cNvPr id="7" name="Text 5"/>
          <p:cNvSpPr/>
          <p:nvPr/>
        </p:nvSpPr>
        <p:spPr>
          <a:xfrm>
            <a:off x="822960" y="2560320"/>
            <a:ext cx="3200400" cy="12801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Course</a:t>
            </a:r>
            <a:endParaRPr lang="en-US" sz="1300" dirty="0"/>
          </a:p>
        </p:txBody>
      </p:sp>
      <p:sp>
        <p:nvSpPr>
          <p:cNvPr id="8" name="Text 6"/>
          <p:cNvSpPr/>
          <p:nvPr/>
        </p:nvSpPr>
        <p:spPr>
          <a:xfrm>
            <a:off x="822960" y="3977640"/>
            <a:ext cx="3200400" cy="640080"/>
          </a:xfrm>
          <a:prstGeom prst="rect">
            <a:avLst/>
          </a:prstGeom>
          <a:noFill/>
          <a:ln/>
        </p:spPr>
        <p:txBody>
          <a:bodyPr wrap="square" rtlCol="0" anchor="ctr"/>
          <a:lstStyle/>
          <a:p>
            <a:pPr marL="0" indent="0" algn="ctr">
              <a:buNone/>
            </a:pPr>
            <a:r>
              <a:rPr lang="en-US" sz="1300" dirty="0">
                <a:solidFill>
                  <a:srgbClr val="1B1F3B"/>
                </a:solidFill>
                <a:latin typeface="Calibri" pitchFamily="34" charset="0"/>
                <a:ea typeface="Calibri" pitchFamily="34" charset="-122"/>
                <a:cs typeface="Calibri" pitchFamily="34" charset="-120"/>
              </a:rPr>
              <a:t>Computer Organization and Architecture</a:t>
            </a:r>
            <a:endParaRPr lang="en-US" sz="1300" dirty="0"/>
          </a:p>
          <a:p>
            <a:pPr marL="0" indent="0" algn="ctr">
              <a:buNone/>
            </a:pPr>
            <a:r>
              <a:rPr lang="en-US" sz="1300" dirty="0">
                <a:solidFill>
                  <a:srgbClr val="1B1F3B"/>
                </a:solidFill>
                <a:latin typeface="Calibri" pitchFamily="34" charset="0"/>
                <a:ea typeface="Calibri" pitchFamily="34" charset="-122"/>
                <a:cs typeface="Calibri" pitchFamily="34" charset="-120"/>
              </a:rPr>
              <a:t>(CSS2257)</a:t>
            </a:r>
            <a:endParaRPr lang="en-US" sz="1300" dirty="0"/>
          </a:p>
        </p:txBody>
      </p:sp>
      <p:sp>
        <p:nvSpPr>
          <p:cNvPr id="9" name="Shape 7"/>
          <p:cNvSpPr/>
          <p:nvPr/>
        </p:nvSpPr>
        <p:spPr>
          <a:xfrm>
            <a:off x="4480560" y="2560320"/>
            <a:ext cx="3200400" cy="1280160"/>
          </a:xfrm>
          <a:prstGeom prst="roundRect">
            <a:avLst>
              <a:gd name="adj" fmla="val 5714"/>
            </a:avLst>
          </a:prstGeom>
          <a:solidFill>
            <a:srgbClr val="CADCFC"/>
          </a:solidFill>
          <a:ln w="12700">
            <a:solidFill>
              <a:srgbClr val="1E2761"/>
            </a:solidFill>
            <a:prstDash val="solid"/>
          </a:ln>
        </p:spPr>
      </p:sp>
      <p:sp>
        <p:nvSpPr>
          <p:cNvPr id="10" name="Text 8"/>
          <p:cNvSpPr/>
          <p:nvPr/>
        </p:nvSpPr>
        <p:spPr>
          <a:xfrm>
            <a:off x="4480560" y="2560320"/>
            <a:ext cx="3200400" cy="12801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Session</a:t>
            </a:r>
            <a:endParaRPr lang="en-US" sz="1300" dirty="0"/>
          </a:p>
        </p:txBody>
      </p:sp>
      <p:sp>
        <p:nvSpPr>
          <p:cNvPr id="11" name="Text 9"/>
          <p:cNvSpPr/>
          <p:nvPr/>
        </p:nvSpPr>
        <p:spPr>
          <a:xfrm>
            <a:off x="4480560" y="3977640"/>
            <a:ext cx="3200400" cy="640080"/>
          </a:xfrm>
          <a:prstGeom prst="rect">
            <a:avLst/>
          </a:prstGeom>
          <a:noFill/>
          <a:ln/>
        </p:spPr>
        <p:txBody>
          <a:bodyPr wrap="square" rtlCol="0" anchor="ctr"/>
          <a:lstStyle/>
          <a:p>
            <a:pPr marL="0" indent="0" algn="ctr">
              <a:buNone/>
            </a:pPr>
            <a:r>
              <a:rPr lang="en-US" sz="1300" dirty="0">
                <a:solidFill>
                  <a:srgbClr val="1B1F3B"/>
                </a:solidFill>
                <a:latin typeface="Calibri" pitchFamily="34" charset="0"/>
                <a:ea typeface="Calibri" pitchFamily="34" charset="-122"/>
                <a:cs typeface="Calibri" pitchFamily="34" charset="-120"/>
              </a:rPr>
              <a:t>Unit 1: Basic Operational</a:t>
            </a:r>
            <a:endParaRPr lang="en-US" sz="1300" dirty="0"/>
          </a:p>
          <a:p>
            <a:pPr marL="0" indent="0" algn="ctr">
              <a:buNone/>
            </a:pPr>
            <a:r>
              <a:rPr lang="en-US" sz="1300" dirty="0">
                <a:solidFill>
                  <a:srgbClr val="1B1F3B"/>
                </a:solidFill>
                <a:latin typeface="Calibri" pitchFamily="34" charset="0"/>
                <a:ea typeface="Calibri" pitchFamily="34" charset="-122"/>
                <a:cs typeface="Calibri" pitchFamily="34" charset="-120"/>
              </a:rPr>
              <a:t>Concepts &amp; Bus Structures</a:t>
            </a:r>
            <a:endParaRPr lang="en-US" sz="1300" dirty="0"/>
          </a:p>
        </p:txBody>
      </p:sp>
      <p:sp>
        <p:nvSpPr>
          <p:cNvPr id="12" name="Shape 10"/>
          <p:cNvSpPr/>
          <p:nvPr/>
        </p:nvSpPr>
        <p:spPr>
          <a:xfrm>
            <a:off x="8138160" y="2560320"/>
            <a:ext cx="3200400" cy="1280160"/>
          </a:xfrm>
          <a:prstGeom prst="roundRect">
            <a:avLst>
              <a:gd name="adj" fmla="val 5714"/>
            </a:avLst>
          </a:prstGeom>
          <a:solidFill>
            <a:srgbClr val="CADCFC"/>
          </a:solidFill>
          <a:ln w="12700">
            <a:solidFill>
              <a:srgbClr val="1E2761"/>
            </a:solidFill>
            <a:prstDash val="solid"/>
          </a:ln>
        </p:spPr>
      </p:sp>
      <p:sp>
        <p:nvSpPr>
          <p:cNvPr id="13" name="Text 11"/>
          <p:cNvSpPr/>
          <p:nvPr/>
        </p:nvSpPr>
        <p:spPr>
          <a:xfrm>
            <a:off x="8138160" y="2560320"/>
            <a:ext cx="3200400" cy="12801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Instructor</a:t>
            </a:r>
            <a:endParaRPr lang="en-US" sz="1300" dirty="0"/>
          </a:p>
        </p:txBody>
      </p:sp>
      <p:sp>
        <p:nvSpPr>
          <p:cNvPr id="14" name="Text 12"/>
          <p:cNvSpPr/>
          <p:nvPr/>
        </p:nvSpPr>
        <p:spPr>
          <a:xfrm>
            <a:off x="8138160" y="3977640"/>
            <a:ext cx="3200400" cy="640080"/>
          </a:xfrm>
          <a:prstGeom prst="rect">
            <a:avLst/>
          </a:prstGeom>
          <a:noFill/>
          <a:ln/>
        </p:spPr>
        <p:txBody>
          <a:bodyPr wrap="square" rtlCol="0" anchor="ctr"/>
          <a:lstStyle/>
          <a:p>
            <a:pPr marL="0" indent="0" algn="ctr">
              <a:buNone/>
            </a:pPr>
            <a:r>
              <a:rPr lang="en-US" sz="1300" dirty="0">
                <a:solidFill>
                  <a:srgbClr val="1B1F3B"/>
                </a:solidFill>
                <a:latin typeface="Calibri" pitchFamily="34" charset="0"/>
                <a:ea typeface="Calibri" pitchFamily="34" charset="-122"/>
                <a:cs typeface="Calibri" pitchFamily="34" charset="-120"/>
              </a:rPr>
              <a:t>Mr. Manoj Sagar</a:t>
            </a:r>
            <a:endParaRPr lang="en-US" sz="1300" dirty="0"/>
          </a:p>
        </p:txBody>
      </p:sp>
      <p:sp>
        <p:nvSpPr>
          <p:cNvPr id="16" name="Text 14"/>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7" name="Text 15"/>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Learning Objectives</a:t>
            </a:r>
            <a:endParaRPr lang="en-US" sz="3200" dirty="0"/>
          </a:p>
        </p:txBody>
      </p:sp>
      <p:sp>
        <p:nvSpPr>
          <p:cNvPr id="3" name="Text 1"/>
          <p:cNvSpPr/>
          <p:nvPr/>
        </p:nvSpPr>
        <p:spPr>
          <a:xfrm>
            <a:off x="640080" y="1463040"/>
            <a:ext cx="694944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Explain the basic operational concept of a computer — how instructions and data actually move.</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Describe the instruction cycle: Fetch → Decode → Execute.</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Identify the role of the Program Counter, Instruction Register, MAR, and MBR.</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Define a bus and distinguish between address, data, and control buses.</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Compare single-bus and multiple-bus organizations.</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Explain processor–memory communication: read and write operations.</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Differentiate synchronous vs asynchronous data transfer, and understand DMA and bus arbitration.</a:t>
            </a:r>
            <a:endParaRPr lang="en-US" sz="1550" dirty="0"/>
          </a:p>
        </p:txBody>
      </p:sp>
      <p:sp>
        <p:nvSpPr>
          <p:cNvPr id="4" name="Shape 2"/>
          <p:cNvSpPr/>
          <p:nvPr/>
        </p:nvSpPr>
        <p:spPr>
          <a:xfrm>
            <a:off x="8229600" y="1645920"/>
            <a:ext cx="914400" cy="914400"/>
          </a:xfrm>
          <a:prstGeom prst="ellipse">
            <a:avLst/>
          </a:prstGeom>
          <a:solidFill>
            <a:srgbClr val="E8871E"/>
          </a:solidFill>
          <a:ln/>
        </p:spPr>
      </p:sp>
      <p:sp>
        <p:nvSpPr>
          <p:cNvPr id="5" name="Text 3"/>
          <p:cNvSpPr/>
          <p:nvPr/>
        </p:nvSpPr>
        <p:spPr>
          <a:xfrm>
            <a:off x="8229600" y="1645920"/>
            <a:ext cx="91440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Shape 4"/>
          <p:cNvSpPr/>
          <p:nvPr/>
        </p:nvSpPr>
        <p:spPr>
          <a:xfrm>
            <a:off x="9509760" y="1645920"/>
            <a:ext cx="914400" cy="914400"/>
          </a:xfrm>
          <a:prstGeom prst="ellipse">
            <a:avLst/>
          </a:prstGeom>
          <a:solidFill>
            <a:srgbClr val="1E2761"/>
          </a:solidFill>
          <a:ln/>
        </p:spPr>
      </p:sp>
      <p:sp>
        <p:nvSpPr>
          <p:cNvPr id="7" name="Text 5"/>
          <p:cNvSpPr/>
          <p:nvPr/>
        </p:nvSpPr>
        <p:spPr>
          <a:xfrm>
            <a:off x="9509760" y="1645920"/>
            <a:ext cx="91440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Shape 6"/>
          <p:cNvSpPr/>
          <p:nvPr/>
        </p:nvSpPr>
        <p:spPr>
          <a:xfrm>
            <a:off x="8229600" y="2834640"/>
            <a:ext cx="914400" cy="914400"/>
          </a:xfrm>
          <a:prstGeom prst="ellipse">
            <a:avLst/>
          </a:prstGeom>
          <a:solidFill>
            <a:srgbClr val="1E2761"/>
          </a:solidFill>
          <a:ln/>
        </p:spPr>
      </p:sp>
      <p:sp>
        <p:nvSpPr>
          <p:cNvPr id="9" name="Text 7"/>
          <p:cNvSpPr/>
          <p:nvPr/>
        </p:nvSpPr>
        <p:spPr>
          <a:xfrm>
            <a:off x="8229600" y="2834640"/>
            <a:ext cx="91440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0" name="Shape 8"/>
          <p:cNvSpPr/>
          <p:nvPr/>
        </p:nvSpPr>
        <p:spPr>
          <a:xfrm>
            <a:off x="9509760" y="2834640"/>
            <a:ext cx="914400" cy="914400"/>
          </a:xfrm>
          <a:prstGeom prst="ellipse">
            <a:avLst/>
          </a:prstGeom>
          <a:solidFill>
            <a:srgbClr val="E8871E"/>
          </a:solidFill>
          <a:ln/>
        </p:spPr>
      </p:sp>
      <p:sp>
        <p:nvSpPr>
          <p:cNvPr id="11" name="Text 9"/>
          <p:cNvSpPr/>
          <p:nvPr/>
        </p:nvSpPr>
        <p:spPr>
          <a:xfrm>
            <a:off x="9509760" y="2834640"/>
            <a:ext cx="91440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2" name="Text 10"/>
          <p:cNvSpPr/>
          <p:nvPr/>
        </p:nvSpPr>
        <p:spPr>
          <a:xfrm>
            <a:off x="7955280" y="4023360"/>
            <a:ext cx="3657600" cy="1645920"/>
          </a:xfrm>
          <a:prstGeom prst="rect">
            <a:avLst/>
          </a:prstGeom>
          <a:noFill/>
          <a:ln/>
        </p:spPr>
        <p:txBody>
          <a:bodyPr wrap="square" rtlCol="0" anchor="ctr"/>
          <a:lstStyle/>
          <a:p>
            <a:pPr marL="0" indent="0" algn="l">
              <a:buNone/>
            </a:pPr>
            <a:r>
              <a:rPr lang="en-US" sz="1300" i="1" dirty="0">
                <a:solidFill>
                  <a:srgbClr val="1E2761"/>
                </a:solidFill>
                <a:latin typeface="Calibri" pitchFamily="34" charset="0"/>
                <a:ea typeface="Calibri" pitchFamily="34" charset="-122"/>
                <a:cs typeface="Calibri" pitchFamily="34" charset="-120"/>
              </a:rPr>
              <a:t>By the end of this hour, you will be</a:t>
            </a:r>
            <a:endParaRPr lang="en-US" sz="1300" dirty="0"/>
          </a:p>
          <a:p>
            <a:pPr marL="0" indent="0" algn="l">
              <a:buNone/>
            </a:pPr>
            <a:r>
              <a:rPr lang="en-US" sz="1300" i="1" dirty="0">
                <a:solidFill>
                  <a:srgbClr val="1E2761"/>
                </a:solidFill>
                <a:latin typeface="Calibri" pitchFamily="34" charset="0"/>
                <a:ea typeface="Calibri" pitchFamily="34" charset="-122"/>
                <a:cs typeface="Calibri" pitchFamily="34" charset="-120"/>
              </a:rPr>
              <a:t>able to trace exactly how the CPU</a:t>
            </a:r>
            <a:endParaRPr lang="en-US" sz="1300" dirty="0"/>
          </a:p>
          <a:p>
            <a:pPr marL="0" indent="0" algn="l">
              <a:buNone/>
            </a:pPr>
            <a:r>
              <a:rPr lang="en-US" sz="1300" i="1" dirty="0">
                <a:solidFill>
                  <a:srgbClr val="1E2761"/>
                </a:solidFill>
                <a:latin typeface="Calibri" pitchFamily="34" charset="0"/>
                <a:ea typeface="Calibri" pitchFamily="34" charset="-122"/>
                <a:cs typeface="Calibri" pitchFamily="34" charset="-120"/>
              </a:rPr>
              <a:t>fetches and moves every byte of</a:t>
            </a:r>
            <a:endParaRPr lang="en-US" sz="1300" dirty="0"/>
          </a:p>
          <a:p>
            <a:pPr marL="0" indent="0" algn="l">
              <a:buNone/>
            </a:pPr>
            <a:r>
              <a:rPr lang="en-US" sz="1300" i="1" dirty="0">
                <a:solidFill>
                  <a:srgbClr val="1E2761"/>
                </a:solidFill>
                <a:latin typeface="Calibri" pitchFamily="34" charset="0"/>
                <a:ea typeface="Calibri" pitchFamily="34" charset="-122"/>
                <a:cs typeface="Calibri" pitchFamily="34" charset="-120"/>
              </a:rPr>
              <a:t>data in a running program.</a:t>
            </a:r>
            <a:endParaRPr lang="en-US" sz="1300" dirty="0"/>
          </a:p>
        </p:txBody>
      </p:sp>
      <p:sp>
        <p:nvSpPr>
          <p:cNvPr id="13" name="Text 11"/>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4" name="Text 12"/>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Icebreaker: Let's Warm Up</a:t>
            </a:r>
            <a:endParaRPr lang="en-US" sz="3200" dirty="0"/>
          </a:p>
        </p:txBody>
      </p:sp>
      <p:sp>
        <p:nvSpPr>
          <p:cNvPr id="3" name="Shape 1"/>
          <p:cNvSpPr/>
          <p:nvPr/>
        </p:nvSpPr>
        <p:spPr>
          <a:xfrm>
            <a:off x="640080" y="1463040"/>
            <a:ext cx="10881360" cy="4480560"/>
          </a:xfrm>
          <a:prstGeom prst="roundRect">
            <a:avLst>
              <a:gd name="adj" fmla="val 2041"/>
            </a:avLst>
          </a:prstGeom>
          <a:solidFill>
            <a:srgbClr val="24306E"/>
          </a:solidFill>
          <a:ln/>
        </p:spPr>
      </p:sp>
      <p:sp>
        <p:nvSpPr>
          <p:cNvPr id="4" name="Text 2"/>
          <p:cNvSpPr/>
          <p:nvPr/>
        </p:nvSpPr>
        <p:spPr>
          <a:xfrm>
            <a:off x="1005840" y="1737360"/>
            <a:ext cx="10149840" cy="3840480"/>
          </a:xfrm>
          <a:prstGeom prst="rect">
            <a:avLst/>
          </a:prstGeom>
          <a:noFill/>
          <a:ln/>
        </p:spPr>
        <p:txBody>
          <a:bodyPr wrap="square" rtlCol="0" anchor="ctr"/>
          <a:lstStyle/>
          <a:p>
            <a:pPr marL="342900" indent="-342900">
              <a:lnSpc>
                <a:spcPct val="115000"/>
              </a:lnSpc>
              <a:spcAft>
                <a:spcPts val="1800"/>
              </a:spcAft>
              <a:buSzPct val="100000"/>
              <a:buChar char="●"/>
            </a:pPr>
            <a:r>
              <a:rPr lang="en-US" sz="1600" dirty="0">
                <a:solidFill>
                  <a:srgbClr val="FFFFFF"/>
                </a:solidFill>
                <a:latin typeface="Calibri" pitchFamily="34" charset="0"/>
                <a:ea typeface="Calibri" pitchFamily="34" charset="-122"/>
                <a:cs typeface="Calibri" pitchFamily="34" charset="-120"/>
              </a:rPr>
              <a:t>Q1. When you copy a file from a pen drive to your laptop, what do you think is physically happening inside the computer?</a:t>
            </a:r>
            <a:endParaRPr lang="en-US" sz="1600" dirty="0"/>
          </a:p>
          <a:p>
            <a:pPr marL="342900" indent="-342900">
              <a:lnSpc>
                <a:spcPct val="115000"/>
              </a:lnSpc>
              <a:spcAft>
                <a:spcPts val="1800"/>
              </a:spcAft>
              <a:buSzPct val="100000"/>
              <a:buChar char="●"/>
            </a:pPr>
            <a:r>
              <a:rPr lang="en-US" sz="1600" dirty="0">
                <a:solidFill>
                  <a:srgbClr val="FFFFFF"/>
                </a:solidFill>
                <a:latin typeface="Calibri" pitchFamily="34" charset="0"/>
                <a:ea typeface="Calibri" pitchFamily="34" charset="-122"/>
                <a:cs typeface="Calibri" pitchFamily="34" charset="-120"/>
              </a:rPr>
              <a:t>Q2. Have you ever heard the term 'USB bus' or 'data bus'? What do you imagine a 'bus' means inside a computer?</a:t>
            </a:r>
            <a:endParaRPr lang="en-US" sz="1600" dirty="0"/>
          </a:p>
          <a:p>
            <a:pPr marL="342900" indent="-342900">
              <a:lnSpc>
                <a:spcPct val="115000"/>
              </a:lnSpc>
              <a:spcAft>
                <a:spcPts val="1800"/>
              </a:spcAft>
              <a:buSzPct val="100000"/>
              <a:buChar char="●"/>
            </a:pPr>
            <a:r>
              <a:rPr lang="en-US" sz="1600" dirty="0">
                <a:solidFill>
                  <a:srgbClr val="FFFFFF"/>
                </a:solidFill>
                <a:latin typeface="Calibri" pitchFamily="34" charset="0"/>
                <a:ea typeface="Calibri" pitchFamily="34" charset="-122"/>
                <a:cs typeface="Calibri" pitchFamily="34" charset="-120"/>
              </a:rPr>
              <a:t>Q3. Show of hands — who has opened a laptop or PC cabinet and seen the actual circuit board (motherboard)?</a:t>
            </a:r>
            <a:endParaRPr lang="en-US" sz="1600" dirty="0"/>
          </a:p>
          <a:p>
            <a:pPr marL="342900" indent="-342900">
              <a:lnSpc>
                <a:spcPct val="115000"/>
              </a:lnSpc>
              <a:spcAft>
                <a:spcPts val="1800"/>
              </a:spcAft>
              <a:buSzPct val="100000"/>
              <a:buChar char="●"/>
            </a:pPr>
            <a:r>
              <a:rPr lang="en-US" sz="1600" dirty="0">
                <a:solidFill>
                  <a:srgbClr val="FFFFFF"/>
                </a:solidFill>
                <a:latin typeface="Calibri" pitchFamily="34" charset="0"/>
                <a:ea typeface="Calibri" pitchFamily="34" charset="-122"/>
                <a:cs typeface="Calibri" pitchFamily="34" charset="-120"/>
              </a:rPr>
              <a:t>Q4. If the CPU is the 'brain', what do you think memory (RAM) is, and how do you think they 'talk' to each other?</a:t>
            </a:r>
            <a:endParaRPr lang="en-US" sz="1600" dirty="0"/>
          </a:p>
        </p:txBody>
      </p:sp>
      <p:sp>
        <p:nvSpPr>
          <p:cNvPr id="5" name="Text 3"/>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Why This Topic Matters</a:t>
            </a:r>
            <a:endParaRPr lang="en-US" sz="3200" dirty="0"/>
          </a:p>
        </p:txBody>
      </p:sp>
      <p:sp>
        <p:nvSpPr>
          <p:cNvPr id="3" name="Text 1"/>
          <p:cNvSpPr/>
          <p:nvPr/>
        </p:nvSpPr>
        <p:spPr>
          <a:xfrm>
            <a:off x="640080" y="1554480"/>
            <a:ext cx="658368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Every single instruction your code runs — in Python, C, Java — eventually becomes a fetch-decode-execute cycle on real hardware.</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Slow programs, RAM upgrades, and 'why is my laptop lagging' all trace back to how fast the CPU and memory can talk over the bus.</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Modern tech buzzwords — PCIe, USB, DDR RAM, SSD NVMe — are literally different bus and data-transfer designs.</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Understanding this is the foundation for later topics: pipelining, cache memory, I/O systems, and computer architecture design.</a:t>
            </a:r>
            <a:endParaRPr lang="en-US" sz="1600" dirty="0"/>
          </a:p>
        </p:txBody>
      </p:sp>
      <p:sp>
        <p:nvSpPr>
          <p:cNvPr id="4" name="Shape 2"/>
          <p:cNvSpPr/>
          <p:nvPr/>
        </p:nvSpPr>
        <p:spPr>
          <a:xfrm>
            <a:off x="7863840" y="1737360"/>
            <a:ext cx="3657600" cy="914400"/>
          </a:xfrm>
          <a:prstGeom prst="roundRect">
            <a:avLst>
              <a:gd name="adj" fmla="val 8000"/>
            </a:avLst>
          </a:prstGeom>
          <a:solidFill>
            <a:srgbClr val="CADCFC"/>
          </a:solidFill>
          <a:ln w="12700">
            <a:solidFill>
              <a:srgbClr val="1E2761"/>
            </a:solidFill>
            <a:prstDash val="solid"/>
          </a:ln>
        </p:spPr>
      </p:sp>
      <p:sp>
        <p:nvSpPr>
          <p:cNvPr id="5" name="Text 3"/>
          <p:cNvSpPr/>
          <p:nvPr/>
        </p:nvSpPr>
        <p:spPr>
          <a:xfrm>
            <a:off x="7863840" y="1737360"/>
            <a:ext cx="3657600" cy="91440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CPU</a:t>
            </a:r>
            <a:endParaRPr lang="en-US" sz="1600" dirty="0"/>
          </a:p>
        </p:txBody>
      </p:sp>
      <p:sp>
        <p:nvSpPr>
          <p:cNvPr id="6" name="Shape 4"/>
          <p:cNvSpPr/>
          <p:nvPr/>
        </p:nvSpPr>
        <p:spPr>
          <a:xfrm>
            <a:off x="7863840" y="3931920"/>
            <a:ext cx="3657600" cy="914400"/>
          </a:xfrm>
          <a:prstGeom prst="roundRect">
            <a:avLst>
              <a:gd name="adj" fmla="val 8000"/>
            </a:avLst>
          </a:prstGeom>
          <a:solidFill>
            <a:srgbClr val="CADCFC"/>
          </a:solidFill>
          <a:ln w="12700">
            <a:solidFill>
              <a:srgbClr val="1E2761"/>
            </a:solidFill>
            <a:prstDash val="solid"/>
          </a:ln>
        </p:spPr>
      </p:sp>
      <p:sp>
        <p:nvSpPr>
          <p:cNvPr id="7" name="Text 5"/>
          <p:cNvSpPr/>
          <p:nvPr/>
        </p:nvSpPr>
        <p:spPr>
          <a:xfrm>
            <a:off x="7863840" y="3931920"/>
            <a:ext cx="3657600" cy="914400"/>
          </a:xfrm>
          <a:prstGeom prst="rect">
            <a:avLst/>
          </a:prstGeom>
          <a:noFill/>
          <a:ln/>
        </p:spPr>
        <p:txBody>
          <a:bodyPr wrap="square" rtlCol="0" anchor="ctr"/>
          <a:lstStyle/>
          <a:p>
            <a:pPr marL="0" indent="0" algn="ctr">
              <a:buNone/>
            </a:pPr>
            <a:r>
              <a:rPr lang="en-US" sz="1600" b="1" dirty="0">
                <a:solidFill>
                  <a:srgbClr val="1E2761"/>
                </a:solidFill>
                <a:latin typeface="Calibri" pitchFamily="34" charset="0"/>
                <a:ea typeface="Calibri" pitchFamily="34" charset="-122"/>
                <a:cs typeface="Calibri" pitchFamily="34" charset="-120"/>
              </a:rPr>
              <a:t>Memory (RAM)</a:t>
            </a:r>
            <a:endParaRPr lang="en-US" sz="1600" dirty="0"/>
          </a:p>
        </p:txBody>
      </p:sp>
      <p:sp>
        <p:nvSpPr>
          <p:cNvPr id="8" name="Shape 6"/>
          <p:cNvSpPr/>
          <p:nvPr/>
        </p:nvSpPr>
        <p:spPr>
          <a:xfrm>
            <a:off x="9692640" y="2651760"/>
            <a:ext cx="0" cy="1280160"/>
          </a:xfrm>
          <a:prstGeom prst="line">
            <a:avLst/>
          </a:prstGeom>
          <a:noFill/>
          <a:ln w="28575">
            <a:solidFill>
              <a:srgbClr val="E8871E"/>
            </a:solidFill>
            <a:prstDash val="solid"/>
            <a:tailEnd type="triangle"/>
          </a:ln>
        </p:spPr>
      </p:sp>
      <p:sp>
        <p:nvSpPr>
          <p:cNvPr id="9" name="Shape 7"/>
          <p:cNvSpPr/>
          <p:nvPr/>
        </p:nvSpPr>
        <p:spPr>
          <a:xfrm flipV="1">
            <a:off x="9418320" y="2651760"/>
            <a:ext cx="0" cy="1280160"/>
          </a:xfrm>
          <a:prstGeom prst="line">
            <a:avLst/>
          </a:prstGeom>
          <a:noFill/>
          <a:ln w="28575">
            <a:solidFill>
              <a:srgbClr val="E8871E"/>
            </a:solidFill>
            <a:prstDash val="solid"/>
            <a:tailEnd type="triangle"/>
          </a:ln>
        </p:spPr>
      </p:sp>
      <p:sp>
        <p:nvSpPr>
          <p:cNvPr id="10" name="Text 8"/>
          <p:cNvSpPr/>
          <p:nvPr/>
        </p:nvSpPr>
        <p:spPr>
          <a:xfrm>
            <a:off x="7863840" y="2926080"/>
            <a:ext cx="3657600" cy="365760"/>
          </a:xfrm>
          <a:prstGeom prst="rect">
            <a:avLst/>
          </a:prstGeom>
          <a:noFill/>
          <a:ln/>
        </p:spPr>
        <p:txBody>
          <a:bodyPr wrap="square" rtlCol="0" anchor="ctr"/>
          <a:lstStyle/>
          <a:p>
            <a:pPr marL="0" indent="0" algn="ctr">
              <a:buNone/>
            </a:pPr>
            <a:r>
              <a:rPr lang="en-US" sz="1100" i="1" dirty="0">
                <a:solidFill>
                  <a:srgbClr val="E8871E"/>
                </a:solidFill>
                <a:latin typeface="Calibri" pitchFamily="34" charset="0"/>
                <a:ea typeface="Calibri" pitchFamily="34" charset="-122"/>
                <a:cs typeface="Calibri" pitchFamily="34" charset="-120"/>
              </a:rPr>
              <a:t>the "bus" — today's topic</a:t>
            </a:r>
            <a:endParaRPr lang="en-US" sz="1100" dirty="0"/>
          </a:p>
        </p:txBody>
      </p:sp>
      <p:sp>
        <p:nvSpPr>
          <p:cNvPr id="11" name="Text 9"/>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2" name="Text 1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Quick Recap: Basic Computer Components</a:t>
            </a:r>
            <a:endParaRPr lang="en-US" sz="3200" dirty="0"/>
          </a:p>
        </p:txBody>
      </p:sp>
      <p:sp>
        <p:nvSpPr>
          <p:cNvPr id="3" name="Text 1"/>
          <p:cNvSpPr/>
          <p:nvPr/>
        </p:nvSpPr>
        <p:spPr>
          <a:xfrm>
            <a:off x="640080" y="1554480"/>
            <a:ext cx="603504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CPU (Central Processing Unit): the brain — fetches, decodes, and executes instructions.</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Main Memory: stores instructions and data currently in use (RAM).</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I/O Devices: keyboard, monitor, disk — how the computer talks to the outside world.</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Interconnection: the pathway that lets these three talk to each other — this is what we build on today.</a:t>
            </a:r>
            <a:endParaRPr lang="en-US" sz="1600" dirty="0"/>
          </a:p>
        </p:txBody>
      </p:sp>
      <p:sp>
        <p:nvSpPr>
          <p:cNvPr id="4" name="Shape 2"/>
          <p:cNvSpPr/>
          <p:nvPr/>
        </p:nvSpPr>
        <p:spPr>
          <a:xfrm>
            <a:off x="7223760" y="1554480"/>
            <a:ext cx="2194560" cy="1005840"/>
          </a:xfrm>
          <a:prstGeom prst="roundRect">
            <a:avLst>
              <a:gd name="adj" fmla="val 7273"/>
            </a:avLst>
          </a:prstGeom>
          <a:solidFill>
            <a:srgbClr val="1E2761"/>
          </a:solidFill>
          <a:ln w="12700">
            <a:solidFill>
              <a:srgbClr val="1E2761"/>
            </a:solidFill>
            <a:prstDash val="solid"/>
          </a:ln>
        </p:spPr>
      </p:sp>
      <p:sp>
        <p:nvSpPr>
          <p:cNvPr id="5" name="Text 3"/>
          <p:cNvSpPr/>
          <p:nvPr/>
        </p:nvSpPr>
        <p:spPr>
          <a:xfrm>
            <a:off x="7223760" y="1554480"/>
            <a:ext cx="2194560" cy="10058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CPU</a:t>
            </a:r>
            <a:endParaRPr lang="en-US" sz="1500" dirty="0"/>
          </a:p>
        </p:txBody>
      </p:sp>
      <p:sp>
        <p:nvSpPr>
          <p:cNvPr id="6" name="Shape 4"/>
          <p:cNvSpPr/>
          <p:nvPr/>
        </p:nvSpPr>
        <p:spPr>
          <a:xfrm>
            <a:off x="9784080" y="1554480"/>
            <a:ext cx="2194560" cy="1005840"/>
          </a:xfrm>
          <a:prstGeom prst="roundRect">
            <a:avLst>
              <a:gd name="adj" fmla="val 7273"/>
            </a:avLst>
          </a:prstGeom>
          <a:solidFill>
            <a:srgbClr val="1E2761"/>
          </a:solidFill>
          <a:ln w="12700">
            <a:solidFill>
              <a:srgbClr val="1E2761"/>
            </a:solidFill>
            <a:prstDash val="solid"/>
          </a:ln>
        </p:spPr>
      </p:sp>
      <p:sp>
        <p:nvSpPr>
          <p:cNvPr id="7" name="Text 5"/>
          <p:cNvSpPr/>
          <p:nvPr/>
        </p:nvSpPr>
        <p:spPr>
          <a:xfrm>
            <a:off x="9784080" y="1554480"/>
            <a:ext cx="2194560" cy="10058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Memory</a:t>
            </a:r>
            <a:endParaRPr lang="en-US" sz="1500" dirty="0"/>
          </a:p>
        </p:txBody>
      </p:sp>
      <p:sp>
        <p:nvSpPr>
          <p:cNvPr id="8" name="Shape 6"/>
          <p:cNvSpPr/>
          <p:nvPr/>
        </p:nvSpPr>
        <p:spPr>
          <a:xfrm>
            <a:off x="8503920" y="3200400"/>
            <a:ext cx="2194560" cy="1005840"/>
          </a:xfrm>
          <a:prstGeom prst="roundRect">
            <a:avLst>
              <a:gd name="adj" fmla="val 7273"/>
            </a:avLst>
          </a:prstGeom>
          <a:solidFill>
            <a:srgbClr val="1E2761"/>
          </a:solidFill>
          <a:ln w="12700">
            <a:solidFill>
              <a:srgbClr val="1E2761"/>
            </a:solidFill>
            <a:prstDash val="solid"/>
          </a:ln>
        </p:spPr>
      </p:sp>
      <p:sp>
        <p:nvSpPr>
          <p:cNvPr id="9" name="Text 7"/>
          <p:cNvSpPr/>
          <p:nvPr/>
        </p:nvSpPr>
        <p:spPr>
          <a:xfrm>
            <a:off x="8503920" y="3200400"/>
            <a:ext cx="2194560" cy="10058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I/O Devices</a:t>
            </a:r>
            <a:endParaRPr lang="en-US" sz="1500" dirty="0"/>
          </a:p>
        </p:txBody>
      </p:sp>
      <p:sp>
        <p:nvSpPr>
          <p:cNvPr id="10" name="Shape 8"/>
          <p:cNvSpPr/>
          <p:nvPr/>
        </p:nvSpPr>
        <p:spPr>
          <a:xfrm>
            <a:off x="8321040" y="2560320"/>
            <a:ext cx="731520" cy="640080"/>
          </a:xfrm>
          <a:prstGeom prst="line">
            <a:avLst/>
          </a:prstGeom>
          <a:noFill/>
          <a:ln w="28575">
            <a:solidFill>
              <a:srgbClr val="E8871E"/>
            </a:solidFill>
            <a:prstDash val="solid"/>
            <a:tailEnd type="triangle"/>
          </a:ln>
        </p:spPr>
      </p:sp>
      <p:sp>
        <p:nvSpPr>
          <p:cNvPr id="11" name="Shape 9"/>
          <p:cNvSpPr/>
          <p:nvPr/>
        </p:nvSpPr>
        <p:spPr>
          <a:xfrm flipH="1">
            <a:off x="10149840" y="2560320"/>
            <a:ext cx="731520" cy="640080"/>
          </a:xfrm>
          <a:prstGeom prst="line">
            <a:avLst/>
          </a:prstGeom>
          <a:noFill/>
          <a:ln w="28575">
            <a:solidFill>
              <a:srgbClr val="E8871E"/>
            </a:solidFill>
            <a:prstDash val="solid"/>
            <a:tailEnd type="triangle"/>
          </a:ln>
        </p:spPr>
      </p:sp>
      <p:sp>
        <p:nvSpPr>
          <p:cNvPr id="12" name="Shape 10"/>
          <p:cNvSpPr/>
          <p:nvPr/>
        </p:nvSpPr>
        <p:spPr>
          <a:xfrm>
            <a:off x="9418320" y="2057400"/>
            <a:ext cx="365760" cy="0"/>
          </a:xfrm>
          <a:prstGeom prst="line">
            <a:avLst/>
          </a:prstGeom>
          <a:noFill/>
          <a:ln w="28575">
            <a:solidFill>
              <a:srgbClr val="E8871E"/>
            </a:solidFill>
            <a:prstDash val="solid"/>
            <a:tailEnd type="triangle"/>
          </a:ln>
        </p:spPr>
      </p:sp>
      <p:sp>
        <p:nvSpPr>
          <p:cNvPr id="13" name="Text 11"/>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4" name="Text 12"/>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Basic Operational Concept — Overview</a:t>
            </a:r>
            <a:endParaRPr lang="en-US" sz="3200" dirty="0"/>
          </a:p>
        </p:txBody>
      </p:sp>
      <p:sp>
        <p:nvSpPr>
          <p:cNvPr id="3" name="Text 1"/>
          <p:cNvSpPr/>
          <p:nvPr/>
        </p:nvSpPr>
        <p:spPr>
          <a:xfrm>
            <a:off x="640080" y="1554480"/>
            <a:ext cx="1088136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700" dirty="0">
                <a:solidFill>
                  <a:srgbClr val="1B1F3B"/>
                </a:solidFill>
                <a:latin typeface="Calibri" pitchFamily="34" charset="0"/>
                <a:ea typeface="Calibri" pitchFamily="34" charset="-122"/>
                <a:cs typeface="Calibri" pitchFamily="34" charset="-120"/>
              </a:rPr>
              <a:t>A computer executes a program by repeatedly performing a simple cycle: get the next instruction, figure out what it means, then do it.</a:t>
            </a:r>
            <a:endParaRPr lang="en-US" sz="1700" dirty="0"/>
          </a:p>
          <a:p>
            <a:pPr marL="342900" indent="-342900" algn="l">
              <a:lnSpc>
                <a:spcPct val="110000"/>
              </a:lnSpc>
              <a:spcAft>
                <a:spcPts val="1200"/>
              </a:spcAft>
              <a:buSzPct val="100000"/>
              <a:buChar char="▪"/>
            </a:pPr>
            <a:r>
              <a:rPr lang="en-US" sz="1700" dirty="0">
                <a:solidFill>
                  <a:srgbClr val="1B1F3B"/>
                </a:solidFill>
                <a:latin typeface="Calibri" pitchFamily="34" charset="0"/>
                <a:ea typeface="Calibri" pitchFamily="34" charset="-122"/>
                <a:cs typeface="Calibri" pitchFamily="34" charset="-120"/>
              </a:rPr>
              <a:t>This is called the Instruction Cycle, and it never stops as long as the CPU is powered and running.</a:t>
            </a:r>
            <a:endParaRPr lang="en-US" sz="1700" dirty="0"/>
          </a:p>
          <a:p>
            <a:pPr marL="342900" indent="-342900" algn="l">
              <a:lnSpc>
                <a:spcPct val="110000"/>
              </a:lnSpc>
              <a:spcAft>
                <a:spcPts val="1200"/>
              </a:spcAft>
              <a:buSzPct val="100000"/>
              <a:buChar char="▪"/>
            </a:pPr>
            <a:r>
              <a:rPr lang="en-US" sz="1700" dirty="0">
                <a:solidFill>
                  <a:srgbClr val="1B1F3B"/>
                </a:solidFill>
                <a:latin typeface="Calibri" pitchFamily="34" charset="0"/>
                <a:ea typeface="Calibri" pitchFamily="34" charset="-122"/>
                <a:cs typeface="Calibri" pitchFamily="34" charset="-120"/>
              </a:rPr>
              <a:t>Every operation — from 'a = b + c' to opening a browser — is broken down into millions of these tiny cycles.</a:t>
            </a:r>
            <a:endParaRPr lang="en-US" sz="1700" dirty="0"/>
          </a:p>
          <a:p>
            <a:pPr marL="342900" indent="-342900" algn="l">
              <a:lnSpc>
                <a:spcPct val="110000"/>
              </a:lnSpc>
              <a:spcAft>
                <a:spcPts val="1200"/>
              </a:spcAft>
              <a:buSzPct val="100000"/>
              <a:buChar char="▪"/>
            </a:pPr>
            <a:r>
              <a:rPr lang="en-US" sz="1700" dirty="0">
                <a:solidFill>
                  <a:srgbClr val="1B1F3B"/>
                </a:solidFill>
                <a:latin typeface="Calibri" pitchFamily="34" charset="0"/>
                <a:ea typeface="Calibri" pitchFamily="34" charset="-122"/>
                <a:cs typeface="Calibri" pitchFamily="34" charset="-120"/>
              </a:rPr>
              <a:t>To perform this cycle, the CPU must repeatedly communicate with memory — this is where buses come in.</a:t>
            </a:r>
            <a:endParaRPr lang="en-US" sz="1700" dirty="0"/>
          </a:p>
        </p:txBody>
      </p:sp>
      <p:sp>
        <p:nvSpPr>
          <p:cNvPr id="4" name="Text 2"/>
          <p:cNvSpPr/>
          <p:nvPr/>
        </p:nvSpPr>
        <p:spPr>
          <a:xfrm>
            <a:off x="822960" y="4846320"/>
            <a:ext cx="10515600" cy="1005840"/>
          </a:xfrm>
          <a:prstGeom prst="rect">
            <a:avLst/>
          </a:prstGeom>
          <a:noFill/>
          <a:ln/>
        </p:spPr>
        <p:txBody>
          <a:bodyPr wrap="square" rtlCol="0" anchor="ctr"/>
          <a:lstStyle/>
          <a:p>
            <a:pPr marL="0" indent="0" algn="ctr">
              <a:buNone/>
            </a:pPr>
            <a:r>
              <a:rPr lang="en-US" sz="1800" i="1" dirty="0">
                <a:solidFill>
                  <a:srgbClr val="1E2761"/>
                </a:solidFill>
                <a:latin typeface="Cambria" pitchFamily="34" charset="0"/>
                <a:ea typeface="Cambria" pitchFamily="34" charset="-122"/>
                <a:cs typeface="Cambria" pitchFamily="34" charset="-120"/>
              </a:rPr>
              <a:t>“A CPU is not smart on its own — it is fast at doing one very simple thing, over and over: fetch, decode, execute.”</a:t>
            </a:r>
            <a:endParaRPr lang="en-US" sz="1800" dirty="0"/>
          </a:p>
        </p:txBody>
      </p:sp>
      <p:sp>
        <p:nvSpPr>
          <p:cNvPr id="5" name="Text 3"/>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The Instruction Cycle: Fetch → Decode → Execute</a:t>
            </a:r>
            <a:endParaRPr lang="en-US" sz="3200" dirty="0"/>
          </a:p>
        </p:txBody>
      </p:sp>
      <p:sp>
        <p:nvSpPr>
          <p:cNvPr id="3" name="Shape 1"/>
          <p:cNvSpPr/>
          <p:nvPr/>
        </p:nvSpPr>
        <p:spPr>
          <a:xfrm>
            <a:off x="5029200" y="1234440"/>
            <a:ext cx="2011680" cy="1005840"/>
          </a:xfrm>
          <a:prstGeom prst="roundRect">
            <a:avLst>
              <a:gd name="adj" fmla="val 7273"/>
            </a:avLst>
          </a:prstGeom>
          <a:solidFill>
            <a:srgbClr val="1E2761"/>
          </a:solidFill>
          <a:ln w="12700">
            <a:solidFill>
              <a:srgbClr val="1E2761"/>
            </a:solidFill>
            <a:prstDash val="solid"/>
          </a:ln>
        </p:spPr>
      </p:sp>
      <p:sp>
        <p:nvSpPr>
          <p:cNvPr id="4" name="Text 2"/>
          <p:cNvSpPr/>
          <p:nvPr/>
        </p:nvSpPr>
        <p:spPr>
          <a:xfrm>
            <a:off x="5029200" y="1234440"/>
            <a:ext cx="2011680" cy="10058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FETCH</a:t>
            </a:r>
            <a:endParaRPr lang="en-US" sz="1600" dirty="0"/>
          </a:p>
        </p:txBody>
      </p:sp>
      <p:sp>
        <p:nvSpPr>
          <p:cNvPr id="5" name="Text 3"/>
          <p:cNvSpPr/>
          <p:nvPr/>
        </p:nvSpPr>
        <p:spPr>
          <a:xfrm>
            <a:off x="5029200" y="2286000"/>
            <a:ext cx="2011680" cy="548640"/>
          </a:xfrm>
          <a:prstGeom prst="rect">
            <a:avLst/>
          </a:prstGeom>
          <a:noFill/>
          <a:ln/>
        </p:spPr>
        <p:txBody>
          <a:bodyPr wrap="square" rtlCol="0" anchor="ctr"/>
          <a:lstStyle/>
          <a:p>
            <a:pPr marL="0" indent="0" algn="ctr">
              <a:buNone/>
            </a:pPr>
            <a:r>
              <a:rPr lang="en-US" sz="1050" dirty="0">
                <a:solidFill>
                  <a:srgbClr val="1B1F3B"/>
                </a:solidFill>
                <a:latin typeface="Calibri" pitchFamily="34" charset="0"/>
                <a:ea typeface="Calibri" pitchFamily="34" charset="-122"/>
                <a:cs typeface="Calibri" pitchFamily="34" charset="-120"/>
              </a:rPr>
              <a:t>Get instruction</a:t>
            </a:r>
            <a:endParaRPr lang="en-US" sz="1050" dirty="0"/>
          </a:p>
          <a:p>
            <a:pPr marL="0" indent="0" algn="ctr">
              <a:buNone/>
            </a:pPr>
            <a:r>
              <a:rPr lang="en-US" sz="1050" dirty="0">
                <a:solidFill>
                  <a:srgbClr val="1B1F3B"/>
                </a:solidFill>
                <a:latin typeface="Calibri" pitchFamily="34" charset="0"/>
                <a:ea typeface="Calibri" pitchFamily="34" charset="-122"/>
                <a:cs typeface="Calibri" pitchFamily="34" charset="-120"/>
              </a:rPr>
              <a:t>from memory</a:t>
            </a:r>
            <a:endParaRPr lang="en-US" sz="1050" dirty="0"/>
          </a:p>
        </p:txBody>
      </p:sp>
      <p:sp>
        <p:nvSpPr>
          <p:cNvPr id="6" name="Shape 4"/>
          <p:cNvSpPr/>
          <p:nvPr/>
        </p:nvSpPr>
        <p:spPr>
          <a:xfrm>
            <a:off x="6850555" y="4389120"/>
            <a:ext cx="2011680" cy="1005840"/>
          </a:xfrm>
          <a:prstGeom prst="roundRect">
            <a:avLst>
              <a:gd name="adj" fmla="val 7273"/>
            </a:avLst>
          </a:prstGeom>
          <a:solidFill>
            <a:srgbClr val="1E2761"/>
          </a:solidFill>
          <a:ln w="12700">
            <a:solidFill>
              <a:srgbClr val="1E2761"/>
            </a:solidFill>
            <a:prstDash val="solid"/>
          </a:ln>
        </p:spPr>
      </p:sp>
      <p:sp>
        <p:nvSpPr>
          <p:cNvPr id="7" name="Text 5"/>
          <p:cNvSpPr/>
          <p:nvPr/>
        </p:nvSpPr>
        <p:spPr>
          <a:xfrm>
            <a:off x="6850555" y="4389120"/>
            <a:ext cx="2011680" cy="10058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DECODE</a:t>
            </a:r>
            <a:endParaRPr lang="en-US" sz="1600" dirty="0"/>
          </a:p>
        </p:txBody>
      </p:sp>
      <p:sp>
        <p:nvSpPr>
          <p:cNvPr id="8" name="Text 6"/>
          <p:cNvSpPr/>
          <p:nvPr/>
        </p:nvSpPr>
        <p:spPr>
          <a:xfrm>
            <a:off x="6850555" y="5440680"/>
            <a:ext cx="2011680" cy="548640"/>
          </a:xfrm>
          <a:prstGeom prst="rect">
            <a:avLst/>
          </a:prstGeom>
          <a:noFill/>
          <a:ln/>
        </p:spPr>
        <p:txBody>
          <a:bodyPr wrap="square" rtlCol="0" anchor="ctr"/>
          <a:lstStyle/>
          <a:p>
            <a:pPr marL="0" indent="0" algn="ctr">
              <a:buNone/>
            </a:pPr>
            <a:r>
              <a:rPr lang="en-US" sz="1050" dirty="0">
                <a:solidFill>
                  <a:srgbClr val="1B1F3B"/>
                </a:solidFill>
                <a:latin typeface="Calibri" pitchFamily="34" charset="0"/>
                <a:ea typeface="Calibri" pitchFamily="34" charset="-122"/>
                <a:cs typeface="Calibri" pitchFamily="34" charset="-120"/>
              </a:rPr>
              <a:t>Interpret what</a:t>
            </a:r>
            <a:endParaRPr lang="en-US" sz="1050" dirty="0"/>
          </a:p>
          <a:p>
            <a:pPr marL="0" indent="0" algn="ctr">
              <a:buNone/>
            </a:pPr>
            <a:r>
              <a:rPr lang="en-US" sz="1050" dirty="0">
                <a:solidFill>
                  <a:srgbClr val="1B1F3B"/>
                </a:solidFill>
                <a:latin typeface="Calibri" pitchFamily="34" charset="0"/>
                <a:ea typeface="Calibri" pitchFamily="34" charset="-122"/>
                <a:cs typeface="Calibri" pitchFamily="34" charset="-120"/>
              </a:rPr>
              <a:t>the instruction means</a:t>
            </a:r>
            <a:endParaRPr lang="en-US" sz="1050" dirty="0"/>
          </a:p>
        </p:txBody>
      </p:sp>
      <p:sp>
        <p:nvSpPr>
          <p:cNvPr id="9" name="Shape 7"/>
          <p:cNvSpPr/>
          <p:nvPr/>
        </p:nvSpPr>
        <p:spPr>
          <a:xfrm>
            <a:off x="3207845" y="4389120"/>
            <a:ext cx="2011680" cy="1005840"/>
          </a:xfrm>
          <a:prstGeom prst="roundRect">
            <a:avLst>
              <a:gd name="adj" fmla="val 7273"/>
            </a:avLst>
          </a:prstGeom>
          <a:solidFill>
            <a:srgbClr val="1E2761"/>
          </a:solidFill>
          <a:ln w="12700">
            <a:solidFill>
              <a:srgbClr val="1E2761"/>
            </a:solidFill>
            <a:prstDash val="solid"/>
          </a:ln>
        </p:spPr>
      </p:sp>
      <p:sp>
        <p:nvSpPr>
          <p:cNvPr id="10" name="Text 8"/>
          <p:cNvSpPr/>
          <p:nvPr/>
        </p:nvSpPr>
        <p:spPr>
          <a:xfrm>
            <a:off x="3207845" y="4389120"/>
            <a:ext cx="2011680" cy="100584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EXECUTE</a:t>
            </a:r>
            <a:endParaRPr lang="en-US" sz="1600" dirty="0"/>
          </a:p>
        </p:txBody>
      </p:sp>
      <p:sp>
        <p:nvSpPr>
          <p:cNvPr id="11" name="Text 9"/>
          <p:cNvSpPr/>
          <p:nvPr/>
        </p:nvSpPr>
        <p:spPr>
          <a:xfrm>
            <a:off x="3207845" y="5440680"/>
            <a:ext cx="2011680" cy="548640"/>
          </a:xfrm>
          <a:prstGeom prst="rect">
            <a:avLst/>
          </a:prstGeom>
          <a:noFill/>
          <a:ln/>
        </p:spPr>
        <p:txBody>
          <a:bodyPr wrap="square" rtlCol="0" anchor="ctr"/>
          <a:lstStyle/>
          <a:p>
            <a:pPr marL="0" indent="0" algn="ctr">
              <a:buNone/>
            </a:pPr>
            <a:r>
              <a:rPr lang="en-US" sz="1050" dirty="0">
                <a:solidFill>
                  <a:srgbClr val="1B1F3B"/>
                </a:solidFill>
                <a:latin typeface="Calibri" pitchFamily="34" charset="0"/>
                <a:ea typeface="Calibri" pitchFamily="34" charset="-122"/>
                <a:cs typeface="Calibri" pitchFamily="34" charset="-120"/>
              </a:rPr>
              <a:t>Perform the</a:t>
            </a:r>
            <a:endParaRPr lang="en-US" sz="1050" dirty="0"/>
          </a:p>
          <a:p>
            <a:pPr marL="0" indent="0" algn="ctr">
              <a:buNone/>
            </a:pPr>
            <a:r>
              <a:rPr lang="en-US" sz="1050" dirty="0">
                <a:solidFill>
                  <a:srgbClr val="1B1F3B"/>
                </a:solidFill>
                <a:latin typeface="Calibri" pitchFamily="34" charset="0"/>
                <a:ea typeface="Calibri" pitchFamily="34" charset="-122"/>
                <a:cs typeface="Calibri" pitchFamily="34" charset="-120"/>
              </a:rPr>
              <a:t>operation</a:t>
            </a:r>
            <a:endParaRPr lang="en-US" sz="1050" dirty="0"/>
          </a:p>
        </p:txBody>
      </p:sp>
      <p:sp>
        <p:nvSpPr>
          <p:cNvPr id="12" name="Shape 10"/>
          <p:cNvSpPr/>
          <p:nvPr/>
        </p:nvSpPr>
        <p:spPr>
          <a:xfrm>
            <a:off x="6537960" y="2148840"/>
            <a:ext cx="632635" cy="2560320"/>
          </a:xfrm>
          <a:prstGeom prst="line">
            <a:avLst/>
          </a:prstGeom>
          <a:noFill/>
          <a:ln w="28575">
            <a:solidFill>
              <a:srgbClr val="E8871E"/>
            </a:solidFill>
            <a:prstDash val="solid"/>
            <a:tailEnd type="triangle"/>
          </a:ln>
        </p:spPr>
      </p:sp>
      <p:sp>
        <p:nvSpPr>
          <p:cNvPr id="13" name="Shape 11"/>
          <p:cNvSpPr/>
          <p:nvPr/>
        </p:nvSpPr>
        <p:spPr>
          <a:xfrm flipH="1">
            <a:off x="4762325" y="5394960"/>
            <a:ext cx="2545431" cy="0"/>
          </a:xfrm>
          <a:prstGeom prst="line">
            <a:avLst/>
          </a:prstGeom>
          <a:noFill/>
          <a:ln w="28575">
            <a:solidFill>
              <a:srgbClr val="E8871E"/>
            </a:solidFill>
            <a:prstDash val="solid"/>
            <a:tailEnd type="triangle"/>
          </a:ln>
        </p:spPr>
      </p:sp>
      <p:sp>
        <p:nvSpPr>
          <p:cNvPr id="14" name="Shape 12"/>
          <p:cNvSpPr/>
          <p:nvPr/>
        </p:nvSpPr>
        <p:spPr>
          <a:xfrm flipV="1">
            <a:off x="4899485" y="2148840"/>
            <a:ext cx="632635" cy="2560320"/>
          </a:xfrm>
          <a:prstGeom prst="line">
            <a:avLst/>
          </a:prstGeom>
          <a:noFill/>
          <a:ln w="28575">
            <a:solidFill>
              <a:srgbClr val="E8871E"/>
            </a:solidFill>
            <a:prstDash val="solid"/>
            <a:tailEnd type="triangle"/>
          </a:ln>
        </p:spPr>
      </p:sp>
      <p:sp>
        <p:nvSpPr>
          <p:cNvPr id="15" name="Text 13"/>
          <p:cNvSpPr/>
          <p:nvPr/>
        </p:nvSpPr>
        <p:spPr>
          <a:xfrm>
            <a:off x="5212080" y="3566160"/>
            <a:ext cx="1645920" cy="640080"/>
          </a:xfrm>
          <a:prstGeom prst="rect">
            <a:avLst/>
          </a:prstGeom>
          <a:noFill/>
          <a:ln/>
        </p:spPr>
        <p:txBody>
          <a:bodyPr wrap="square" rtlCol="0" anchor="ctr"/>
          <a:lstStyle/>
          <a:p>
            <a:pPr marL="0" indent="0" algn="ctr">
              <a:buNone/>
            </a:pPr>
            <a:r>
              <a:rPr lang="en-US" sz="1000" i="1" dirty="0">
                <a:solidFill>
                  <a:srgbClr val="6B7280"/>
                </a:solidFill>
                <a:latin typeface="Calibri" pitchFamily="34" charset="0"/>
                <a:ea typeface="Calibri" pitchFamily="34" charset="-122"/>
                <a:cs typeface="Calibri" pitchFamily="34" charset="-120"/>
              </a:rPr>
              <a:t>Repeats continuously</a:t>
            </a:r>
            <a:endParaRPr lang="en-US" sz="1000" dirty="0"/>
          </a:p>
          <a:p>
            <a:pPr marL="0" indent="0" algn="ctr">
              <a:buNone/>
            </a:pPr>
            <a:r>
              <a:rPr lang="en-US" sz="1000" i="1" dirty="0">
                <a:solidFill>
                  <a:srgbClr val="6B7280"/>
                </a:solidFill>
                <a:latin typeface="Calibri" pitchFamily="34" charset="0"/>
                <a:ea typeface="Calibri" pitchFamily="34" charset="-122"/>
                <a:cs typeface="Calibri" pitchFamily="34" charset="-120"/>
              </a:rPr>
              <a:t>while the CPU runs</a:t>
            </a:r>
            <a:endParaRPr lang="en-US" sz="1000" dirty="0"/>
          </a:p>
        </p:txBody>
      </p:sp>
      <p:sp>
        <p:nvSpPr>
          <p:cNvPr id="16" name="Text 14"/>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7" name="Text 15"/>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Fetch–Decode–Execute — In Detail</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Fetch: CPU sends the address in the Program Counter (PC) to memory over the address bus; memory returns the instruction over the data bus.</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Decode: The Control Unit interprets the instruction's opcode — 'is this ADD, LOAD, JUMP...?'</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Execute: The ALU or control circuitry performs the actual operation; results may be written back to a register or memory.</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After Execute, PC is updated to point to the next instruction, and the cycle repeats.</a:t>
            </a:r>
            <a:endParaRPr lang="en-US" sz="165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Key Registers Involved</a:t>
            </a:r>
            <a:endParaRPr lang="en-US" sz="3200" dirty="0"/>
          </a:p>
        </p:txBody>
      </p:sp>
      <p:sp>
        <p:nvSpPr>
          <p:cNvPr id="3" name="Shape 1"/>
          <p:cNvSpPr/>
          <p:nvPr/>
        </p:nvSpPr>
        <p:spPr>
          <a:xfrm>
            <a:off x="731520" y="1554480"/>
            <a:ext cx="5486400" cy="4297680"/>
          </a:xfrm>
          <a:prstGeom prst="roundRect">
            <a:avLst>
              <a:gd name="adj" fmla="val 1702"/>
            </a:avLst>
          </a:prstGeom>
          <a:solidFill>
            <a:srgbClr val="CADCFC"/>
          </a:solidFill>
          <a:ln w="12700">
            <a:solidFill>
              <a:srgbClr val="1E2761"/>
            </a:solidFill>
            <a:prstDash val="solid"/>
          </a:ln>
        </p:spPr>
      </p:sp>
      <p:sp>
        <p:nvSpPr>
          <p:cNvPr id="4" name="Text 2"/>
          <p:cNvSpPr/>
          <p:nvPr/>
        </p:nvSpPr>
        <p:spPr>
          <a:xfrm>
            <a:off x="731520" y="1554480"/>
            <a:ext cx="5486400" cy="4297680"/>
          </a:xfrm>
          <a:prstGeom prst="rect">
            <a:avLst/>
          </a:prstGeom>
          <a:noFill/>
          <a:ln/>
        </p:spPr>
        <p:txBody>
          <a:bodyPr wrap="square" rtlCol="0" anchor="ctr"/>
          <a:lstStyle/>
          <a:p>
            <a:pPr marL="0" indent="0" algn="ctr">
              <a:buNone/>
            </a:pPr>
            <a:endParaRPr lang="en-US" sz="1300" dirty="0"/>
          </a:p>
        </p:txBody>
      </p:sp>
      <p:sp>
        <p:nvSpPr>
          <p:cNvPr id="5" name="Text 3"/>
          <p:cNvSpPr/>
          <p:nvPr/>
        </p:nvSpPr>
        <p:spPr>
          <a:xfrm>
            <a:off x="731520" y="1691640"/>
            <a:ext cx="5486400" cy="365760"/>
          </a:xfrm>
          <a:prstGeom prst="rect">
            <a:avLst/>
          </a:prstGeom>
          <a:noFill/>
          <a:ln/>
        </p:spPr>
        <p:txBody>
          <a:bodyPr wrap="square" rtlCol="0" anchor="ctr"/>
          <a:lstStyle/>
          <a:p>
            <a:pPr marL="0" indent="0" algn="ctr">
              <a:buNone/>
            </a:pPr>
            <a:r>
              <a:rPr lang="en-US" sz="1400" b="1" dirty="0">
                <a:solidFill>
                  <a:srgbClr val="1E2761"/>
                </a:solidFill>
                <a:latin typeface="Calibri" pitchFamily="34" charset="0"/>
                <a:ea typeface="Calibri" pitchFamily="34" charset="-122"/>
                <a:cs typeface="Calibri" pitchFamily="34" charset="-120"/>
              </a:rPr>
              <a:t>Inside the CPU</a:t>
            </a:r>
            <a:endParaRPr lang="en-US" sz="1400" dirty="0"/>
          </a:p>
        </p:txBody>
      </p:sp>
      <p:sp>
        <p:nvSpPr>
          <p:cNvPr id="6" name="Shape 4"/>
          <p:cNvSpPr/>
          <p:nvPr/>
        </p:nvSpPr>
        <p:spPr>
          <a:xfrm>
            <a:off x="1005840" y="2194560"/>
            <a:ext cx="640080" cy="640080"/>
          </a:xfrm>
          <a:prstGeom prst="ellipse">
            <a:avLst/>
          </a:prstGeom>
          <a:solidFill>
            <a:srgbClr val="1E2761"/>
          </a:solidFill>
          <a:ln/>
        </p:spPr>
      </p:sp>
      <p:sp>
        <p:nvSpPr>
          <p:cNvPr id="7" name="Text 5"/>
          <p:cNvSpPr/>
          <p:nvPr/>
        </p:nvSpPr>
        <p:spPr>
          <a:xfrm>
            <a:off x="1005840" y="2194560"/>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PC</a:t>
            </a:r>
            <a:endParaRPr lang="en-US" sz="1400" dirty="0"/>
          </a:p>
        </p:txBody>
      </p:sp>
      <p:sp>
        <p:nvSpPr>
          <p:cNvPr id="8" name="Text 6"/>
          <p:cNvSpPr/>
          <p:nvPr/>
        </p:nvSpPr>
        <p:spPr>
          <a:xfrm>
            <a:off x="1828800" y="2148840"/>
            <a:ext cx="4206240" cy="73152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Program Counter — holds the address of the NEXT instruction to fetch</a:t>
            </a:r>
            <a:endParaRPr lang="en-US" sz="1150" dirty="0"/>
          </a:p>
        </p:txBody>
      </p:sp>
      <p:sp>
        <p:nvSpPr>
          <p:cNvPr id="9" name="Shape 7"/>
          <p:cNvSpPr/>
          <p:nvPr/>
        </p:nvSpPr>
        <p:spPr>
          <a:xfrm>
            <a:off x="1005840" y="3017520"/>
            <a:ext cx="640080" cy="640080"/>
          </a:xfrm>
          <a:prstGeom prst="ellipse">
            <a:avLst/>
          </a:prstGeom>
          <a:solidFill>
            <a:srgbClr val="1E2761"/>
          </a:solidFill>
          <a:ln/>
        </p:spPr>
      </p:sp>
      <p:sp>
        <p:nvSpPr>
          <p:cNvPr id="10" name="Text 8"/>
          <p:cNvSpPr/>
          <p:nvPr/>
        </p:nvSpPr>
        <p:spPr>
          <a:xfrm>
            <a:off x="1005840" y="3017520"/>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IR</a:t>
            </a:r>
            <a:endParaRPr lang="en-US" sz="1400" dirty="0"/>
          </a:p>
        </p:txBody>
      </p:sp>
      <p:sp>
        <p:nvSpPr>
          <p:cNvPr id="11" name="Text 9"/>
          <p:cNvSpPr/>
          <p:nvPr/>
        </p:nvSpPr>
        <p:spPr>
          <a:xfrm>
            <a:off x="1828800" y="2971800"/>
            <a:ext cx="4206240" cy="73152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Instruction Register — holds the instruction currently being decoded/executed</a:t>
            </a:r>
            <a:endParaRPr lang="en-US" sz="1150" dirty="0"/>
          </a:p>
        </p:txBody>
      </p:sp>
      <p:sp>
        <p:nvSpPr>
          <p:cNvPr id="12" name="Shape 10"/>
          <p:cNvSpPr/>
          <p:nvPr/>
        </p:nvSpPr>
        <p:spPr>
          <a:xfrm>
            <a:off x="1005840" y="3840480"/>
            <a:ext cx="640080" cy="640080"/>
          </a:xfrm>
          <a:prstGeom prst="ellipse">
            <a:avLst/>
          </a:prstGeom>
          <a:solidFill>
            <a:srgbClr val="1E2761"/>
          </a:solidFill>
          <a:ln/>
        </p:spPr>
      </p:sp>
      <p:sp>
        <p:nvSpPr>
          <p:cNvPr id="13" name="Text 11"/>
          <p:cNvSpPr/>
          <p:nvPr/>
        </p:nvSpPr>
        <p:spPr>
          <a:xfrm>
            <a:off x="1005840" y="3840480"/>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MAR</a:t>
            </a:r>
            <a:endParaRPr lang="en-US" sz="1400" dirty="0"/>
          </a:p>
        </p:txBody>
      </p:sp>
      <p:sp>
        <p:nvSpPr>
          <p:cNvPr id="14" name="Text 12"/>
          <p:cNvSpPr/>
          <p:nvPr/>
        </p:nvSpPr>
        <p:spPr>
          <a:xfrm>
            <a:off x="1828800" y="3794760"/>
            <a:ext cx="4206240" cy="73152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Memory Address Register — holds the address to be sent to memory</a:t>
            </a:r>
            <a:endParaRPr lang="en-US" sz="1150" dirty="0"/>
          </a:p>
        </p:txBody>
      </p:sp>
      <p:sp>
        <p:nvSpPr>
          <p:cNvPr id="15" name="Shape 13"/>
          <p:cNvSpPr/>
          <p:nvPr/>
        </p:nvSpPr>
        <p:spPr>
          <a:xfrm>
            <a:off x="1005840" y="4663440"/>
            <a:ext cx="640080" cy="640080"/>
          </a:xfrm>
          <a:prstGeom prst="ellipse">
            <a:avLst/>
          </a:prstGeom>
          <a:solidFill>
            <a:srgbClr val="1E2761"/>
          </a:solidFill>
          <a:ln/>
        </p:spPr>
      </p:sp>
      <p:sp>
        <p:nvSpPr>
          <p:cNvPr id="16" name="Text 14"/>
          <p:cNvSpPr/>
          <p:nvPr/>
        </p:nvSpPr>
        <p:spPr>
          <a:xfrm>
            <a:off x="1005840" y="4663440"/>
            <a:ext cx="640080" cy="6400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MBR</a:t>
            </a:r>
            <a:endParaRPr lang="en-US" sz="1400" dirty="0"/>
          </a:p>
        </p:txBody>
      </p:sp>
      <p:sp>
        <p:nvSpPr>
          <p:cNvPr id="17" name="Text 15"/>
          <p:cNvSpPr/>
          <p:nvPr/>
        </p:nvSpPr>
        <p:spPr>
          <a:xfrm>
            <a:off x="1828800" y="4617720"/>
            <a:ext cx="4206240" cy="731520"/>
          </a:xfrm>
          <a:prstGeom prst="rect">
            <a:avLst/>
          </a:prstGeom>
          <a:noFill/>
          <a:ln/>
        </p:spPr>
        <p:txBody>
          <a:bodyPr wrap="square" rtlCol="0" anchor="ctr"/>
          <a:lstStyle/>
          <a:p>
            <a:pPr marL="0" indent="0">
              <a:buNone/>
            </a:pPr>
            <a:r>
              <a:rPr lang="en-US" sz="1150" dirty="0">
                <a:solidFill>
                  <a:srgbClr val="1B1F3B"/>
                </a:solidFill>
                <a:latin typeface="Calibri" pitchFamily="34" charset="0"/>
                <a:ea typeface="Calibri" pitchFamily="34" charset="-122"/>
                <a:cs typeface="Calibri" pitchFamily="34" charset="-120"/>
              </a:rPr>
              <a:t>Memory Buffer Register (MDR) — holds data being transferred to/from memory</a:t>
            </a:r>
            <a:endParaRPr lang="en-US" sz="1150" dirty="0"/>
          </a:p>
        </p:txBody>
      </p:sp>
      <p:sp>
        <p:nvSpPr>
          <p:cNvPr id="18" name="Shape 16"/>
          <p:cNvSpPr/>
          <p:nvPr/>
        </p:nvSpPr>
        <p:spPr>
          <a:xfrm>
            <a:off x="6583680" y="1554480"/>
            <a:ext cx="4846320" cy="4297680"/>
          </a:xfrm>
          <a:prstGeom prst="roundRect">
            <a:avLst>
              <a:gd name="adj" fmla="val 1702"/>
            </a:avLst>
          </a:prstGeom>
          <a:solidFill>
            <a:srgbClr val="1E2761"/>
          </a:solidFill>
          <a:ln w="12700">
            <a:solidFill>
              <a:srgbClr val="1E2761"/>
            </a:solidFill>
            <a:prstDash val="solid"/>
          </a:ln>
        </p:spPr>
      </p:sp>
      <p:sp>
        <p:nvSpPr>
          <p:cNvPr id="19" name="Text 17"/>
          <p:cNvSpPr/>
          <p:nvPr/>
        </p:nvSpPr>
        <p:spPr>
          <a:xfrm>
            <a:off x="6583680" y="1554480"/>
            <a:ext cx="4846320" cy="4297680"/>
          </a:xfrm>
          <a:prstGeom prst="rect">
            <a:avLst/>
          </a:prstGeom>
          <a:noFill/>
          <a:ln/>
        </p:spPr>
        <p:txBody>
          <a:bodyPr wrap="square" rtlCol="0" anchor="ctr"/>
          <a:lstStyle/>
          <a:p>
            <a:pPr marL="0" indent="0" algn="ctr">
              <a:buNone/>
            </a:pPr>
            <a:endParaRPr lang="en-US" sz="1300" dirty="0"/>
          </a:p>
        </p:txBody>
      </p:sp>
      <p:sp>
        <p:nvSpPr>
          <p:cNvPr id="20" name="Text 18"/>
          <p:cNvSpPr/>
          <p:nvPr/>
        </p:nvSpPr>
        <p:spPr>
          <a:xfrm>
            <a:off x="6858000" y="1737360"/>
            <a:ext cx="429768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How they interact during Fetch</a:t>
            </a:r>
            <a:endParaRPr lang="en-US" sz="1300" dirty="0"/>
          </a:p>
        </p:txBody>
      </p:sp>
      <p:sp>
        <p:nvSpPr>
          <p:cNvPr id="21" name="Text 19"/>
          <p:cNvSpPr/>
          <p:nvPr/>
        </p:nvSpPr>
        <p:spPr>
          <a:xfrm>
            <a:off x="6858000" y="2194560"/>
            <a:ext cx="4297680" cy="3291840"/>
          </a:xfrm>
          <a:prstGeom prst="rect">
            <a:avLst/>
          </a:prstGeom>
          <a:noFill/>
          <a:ln/>
        </p:spPr>
        <p:txBody>
          <a:bodyPr wrap="square" rtlCol="0" anchor="ctr"/>
          <a:lstStyle/>
          <a:p>
            <a:pPr marL="0" indent="0">
              <a:spcAft>
                <a:spcPts val="1000"/>
              </a:spcAft>
              <a:buNone/>
            </a:pPr>
            <a:r>
              <a:rPr lang="en-US" sz="1250" dirty="0">
                <a:solidFill>
                  <a:srgbClr val="CADCFC"/>
                </a:solidFill>
                <a:latin typeface="Calibri" pitchFamily="34" charset="0"/>
                <a:ea typeface="Calibri" pitchFamily="34" charset="-122"/>
                <a:cs typeface="Calibri" pitchFamily="34" charset="-120"/>
              </a:rPr>
              <a:t>1. PC's address is copied into MAR</a:t>
            </a:r>
            <a:endParaRPr lang="en-US" sz="1250" dirty="0"/>
          </a:p>
          <a:p>
            <a:pPr marL="0" indent="0">
              <a:spcAft>
                <a:spcPts val="1000"/>
              </a:spcAft>
              <a:buNone/>
            </a:pPr>
            <a:r>
              <a:rPr lang="en-US" sz="1250" dirty="0">
                <a:solidFill>
                  <a:srgbClr val="CADCFC"/>
                </a:solidFill>
                <a:latin typeface="Calibri" pitchFamily="34" charset="0"/>
                <a:ea typeface="Calibri" pitchFamily="34" charset="-122"/>
                <a:cs typeface="Calibri" pitchFamily="34" charset="-120"/>
              </a:rPr>
              <a:t>2. MAR's address goes out on the address bus</a:t>
            </a:r>
            <a:endParaRPr lang="en-US" sz="1250" dirty="0"/>
          </a:p>
          <a:p>
            <a:pPr marL="0" indent="0">
              <a:spcAft>
                <a:spcPts val="1000"/>
              </a:spcAft>
              <a:buNone/>
            </a:pPr>
            <a:r>
              <a:rPr lang="en-US" sz="1250" dirty="0">
                <a:solidFill>
                  <a:srgbClr val="CADCFC"/>
                </a:solidFill>
                <a:latin typeface="Calibri" pitchFamily="34" charset="0"/>
                <a:ea typeface="Calibri" pitchFamily="34" charset="-122"/>
                <a:cs typeface="Calibri" pitchFamily="34" charset="-120"/>
              </a:rPr>
              <a:t>3. Memory places the instruction on the data bus</a:t>
            </a:r>
            <a:endParaRPr lang="en-US" sz="1250" dirty="0"/>
          </a:p>
          <a:p>
            <a:pPr marL="0" indent="0">
              <a:spcAft>
                <a:spcPts val="1000"/>
              </a:spcAft>
              <a:buNone/>
            </a:pPr>
            <a:r>
              <a:rPr lang="en-US" sz="1250" dirty="0">
                <a:solidFill>
                  <a:srgbClr val="CADCFC"/>
                </a:solidFill>
                <a:latin typeface="Calibri" pitchFamily="34" charset="0"/>
                <a:ea typeface="Calibri" pitchFamily="34" charset="-122"/>
                <a:cs typeface="Calibri" pitchFamily="34" charset="-120"/>
              </a:rPr>
              <a:t>4. Instruction is loaded into MBR, then into IR</a:t>
            </a:r>
            <a:endParaRPr lang="en-US" sz="1250" dirty="0"/>
          </a:p>
          <a:p>
            <a:pPr marL="0" indent="0">
              <a:spcAft>
                <a:spcPts val="1000"/>
              </a:spcAft>
              <a:buNone/>
            </a:pPr>
            <a:r>
              <a:rPr lang="en-US" sz="1250" dirty="0">
                <a:solidFill>
                  <a:srgbClr val="CADCFC"/>
                </a:solidFill>
                <a:latin typeface="Calibri" pitchFamily="34" charset="0"/>
                <a:ea typeface="Calibri" pitchFamily="34" charset="-122"/>
                <a:cs typeface="Calibri" pitchFamily="34" charset="-120"/>
              </a:rPr>
              <a:t>5. PC increments to point to the next instruction</a:t>
            </a:r>
            <a:endParaRPr lang="en-US" sz="1250" dirty="0"/>
          </a:p>
        </p:txBody>
      </p:sp>
      <p:sp>
        <p:nvSpPr>
          <p:cNvPr id="22" name="Text 20"/>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23" name="Text 21"/>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Why We Need an Interconnection Structure</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CPU, memory, and I/O devices are separate physical units — they need a shared 'communication highway' to exchange data.</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Wiring every device directly to every other device (point-to-point) becomes impossibly complex as devices increase.</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The solution: a common shared pathway called a BUS — all units connect to it and communicate over it.</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This is exactly like a school WhatsApp group vs texting every classmate individually — one shared channel, many participants.</a:t>
            </a:r>
            <a:endParaRPr lang="en-US" sz="165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What is a Bus?</a:t>
            </a:r>
            <a:endParaRPr lang="en-US" sz="3200" dirty="0"/>
          </a:p>
        </p:txBody>
      </p:sp>
      <p:sp>
        <p:nvSpPr>
          <p:cNvPr id="3" name="Text 1"/>
          <p:cNvSpPr/>
          <p:nvPr/>
        </p:nvSpPr>
        <p:spPr>
          <a:xfrm>
            <a:off x="640080" y="1554480"/>
            <a:ext cx="630936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A bus is a shared set of wires/lines that connects two or more devices for the purpose of transferring data.</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Only one device can meaningfully use the bus at a time (in a simple shared-bus system).</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A bus carries three broad types of information: addresses, data, and control signals.</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Buses can be internal (within the CPU) or external (connecting CPU, memory, and I/O).</a:t>
            </a:r>
            <a:endParaRPr lang="en-US" sz="1600" dirty="0"/>
          </a:p>
        </p:txBody>
      </p:sp>
      <p:sp>
        <p:nvSpPr>
          <p:cNvPr id="4" name="Shape 2"/>
          <p:cNvSpPr/>
          <p:nvPr/>
        </p:nvSpPr>
        <p:spPr>
          <a:xfrm>
            <a:off x="7315200" y="1828800"/>
            <a:ext cx="1463040" cy="822960"/>
          </a:xfrm>
          <a:prstGeom prst="roundRect">
            <a:avLst>
              <a:gd name="adj" fmla="val 8889"/>
            </a:avLst>
          </a:prstGeom>
          <a:solidFill>
            <a:srgbClr val="1E2761"/>
          </a:solidFill>
          <a:ln w="12700">
            <a:solidFill>
              <a:srgbClr val="1E2761"/>
            </a:solidFill>
            <a:prstDash val="solid"/>
          </a:ln>
        </p:spPr>
      </p:sp>
      <p:sp>
        <p:nvSpPr>
          <p:cNvPr id="5" name="Text 3"/>
          <p:cNvSpPr/>
          <p:nvPr/>
        </p:nvSpPr>
        <p:spPr>
          <a:xfrm>
            <a:off x="7315200" y="1828800"/>
            <a:ext cx="146304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CPU</a:t>
            </a:r>
            <a:endParaRPr lang="en-US" sz="1300" dirty="0"/>
          </a:p>
        </p:txBody>
      </p:sp>
      <p:sp>
        <p:nvSpPr>
          <p:cNvPr id="6" name="Shape 4"/>
          <p:cNvSpPr/>
          <p:nvPr/>
        </p:nvSpPr>
        <p:spPr>
          <a:xfrm>
            <a:off x="7315200" y="3291840"/>
            <a:ext cx="1463040" cy="822960"/>
          </a:xfrm>
          <a:prstGeom prst="roundRect">
            <a:avLst>
              <a:gd name="adj" fmla="val 8889"/>
            </a:avLst>
          </a:prstGeom>
          <a:solidFill>
            <a:srgbClr val="1E2761"/>
          </a:solidFill>
          <a:ln w="12700">
            <a:solidFill>
              <a:srgbClr val="1E2761"/>
            </a:solidFill>
            <a:prstDash val="solid"/>
          </a:ln>
        </p:spPr>
      </p:sp>
      <p:sp>
        <p:nvSpPr>
          <p:cNvPr id="7" name="Text 5"/>
          <p:cNvSpPr/>
          <p:nvPr/>
        </p:nvSpPr>
        <p:spPr>
          <a:xfrm>
            <a:off x="7315200" y="3291840"/>
            <a:ext cx="1463040" cy="8229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Memory</a:t>
            </a:r>
            <a:endParaRPr lang="en-US" sz="1200" dirty="0"/>
          </a:p>
        </p:txBody>
      </p:sp>
      <p:sp>
        <p:nvSpPr>
          <p:cNvPr id="8" name="Shape 6"/>
          <p:cNvSpPr/>
          <p:nvPr/>
        </p:nvSpPr>
        <p:spPr>
          <a:xfrm>
            <a:off x="7315200" y="4754880"/>
            <a:ext cx="1463040" cy="822960"/>
          </a:xfrm>
          <a:prstGeom prst="roundRect">
            <a:avLst>
              <a:gd name="adj" fmla="val 8889"/>
            </a:avLst>
          </a:prstGeom>
          <a:solidFill>
            <a:srgbClr val="1E2761"/>
          </a:solidFill>
          <a:ln w="12700">
            <a:solidFill>
              <a:srgbClr val="1E2761"/>
            </a:solidFill>
            <a:prstDash val="solid"/>
          </a:ln>
        </p:spPr>
      </p:sp>
      <p:sp>
        <p:nvSpPr>
          <p:cNvPr id="9" name="Text 7"/>
          <p:cNvSpPr/>
          <p:nvPr/>
        </p:nvSpPr>
        <p:spPr>
          <a:xfrm>
            <a:off x="7315200" y="4754880"/>
            <a:ext cx="146304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I/O</a:t>
            </a:r>
            <a:endParaRPr lang="en-US" sz="1300" dirty="0"/>
          </a:p>
        </p:txBody>
      </p:sp>
      <p:sp>
        <p:nvSpPr>
          <p:cNvPr id="10" name="Shape 8"/>
          <p:cNvSpPr/>
          <p:nvPr/>
        </p:nvSpPr>
        <p:spPr>
          <a:xfrm>
            <a:off x="9235440" y="1828800"/>
            <a:ext cx="0" cy="3749040"/>
          </a:xfrm>
          <a:prstGeom prst="line">
            <a:avLst/>
          </a:prstGeom>
          <a:noFill/>
          <a:ln w="50800">
            <a:solidFill>
              <a:srgbClr val="E8871E"/>
            </a:solidFill>
            <a:prstDash val="solid"/>
          </a:ln>
        </p:spPr>
      </p:sp>
      <p:sp>
        <p:nvSpPr>
          <p:cNvPr id="11" name="Shape 9"/>
          <p:cNvSpPr/>
          <p:nvPr/>
        </p:nvSpPr>
        <p:spPr>
          <a:xfrm>
            <a:off x="8778240" y="2240280"/>
            <a:ext cx="457200" cy="0"/>
          </a:xfrm>
          <a:prstGeom prst="line">
            <a:avLst/>
          </a:prstGeom>
          <a:noFill/>
          <a:ln w="28575">
            <a:solidFill>
              <a:srgbClr val="E8871E"/>
            </a:solidFill>
            <a:prstDash val="solid"/>
            <a:tailEnd type="triangle"/>
          </a:ln>
        </p:spPr>
      </p:sp>
      <p:sp>
        <p:nvSpPr>
          <p:cNvPr id="12" name="Shape 10"/>
          <p:cNvSpPr/>
          <p:nvPr/>
        </p:nvSpPr>
        <p:spPr>
          <a:xfrm>
            <a:off x="8778240" y="3703320"/>
            <a:ext cx="457200" cy="0"/>
          </a:xfrm>
          <a:prstGeom prst="line">
            <a:avLst/>
          </a:prstGeom>
          <a:noFill/>
          <a:ln w="28575">
            <a:solidFill>
              <a:srgbClr val="E8871E"/>
            </a:solidFill>
            <a:prstDash val="solid"/>
            <a:tailEnd type="triangle"/>
          </a:ln>
        </p:spPr>
      </p:sp>
      <p:sp>
        <p:nvSpPr>
          <p:cNvPr id="13" name="Shape 11"/>
          <p:cNvSpPr/>
          <p:nvPr/>
        </p:nvSpPr>
        <p:spPr>
          <a:xfrm>
            <a:off x="8778240" y="5166360"/>
            <a:ext cx="457200" cy="0"/>
          </a:xfrm>
          <a:prstGeom prst="line">
            <a:avLst/>
          </a:prstGeom>
          <a:noFill/>
          <a:ln w="28575">
            <a:solidFill>
              <a:srgbClr val="E8871E"/>
            </a:solidFill>
            <a:prstDash val="solid"/>
            <a:tailEnd type="triangle"/>
          </a:ln>
        </p:spPr>
      </p:sp>
      <p:sp>
        <p:nvSpPr>
          <p:cNvPr id="14" name="Text 12"/>
          <p:cNvSpPr/>
          <p:nvPr/>
        </p:nvSpPr>
        <p:spPr>
          <a:xfrm>
            <a:off x="9418320" y="3291840"/>
            <a:ext cx="1371600" cy="82296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shared BUS</a:t>
            </a:r>
            <a:endParaRPr lang="en-US" sz="1200" dirty="0"/>
          </a:p>
        </p:txBody>
      </p:sp>
      <p:sp>
        <p:nvSpPr>
          <p:cNvPr id="15" name="Text 13"/>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6" name="Text 1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The Address Bus</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Carries the memory address (or I/O device address) that the CPU wants to read from or write to.</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Unidirectional in most systems: address flows FROM the CPU TO memory/I/O.</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Width of the address bus determines how much memory the CPU can address — e.g., a 32-bit address bus can address 2^32 locations (4 GB).</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Think of it as writing a house number on an envelope before you can deliver anything to that house.</a:t>
            </a:r>
            <a:endParaRPr lang="en-US" sz="1650" dirty="0"/>
          </a:p>
        </p:txBody>
      </p:sp>
      <p:sp>
        <p:nvSpPr>
          <p:cNvPr id="4" name="Shape 2"/>
          <p:cNvSpPr/>
          <p:nvPr/>
        </p:nvSpPr>
        <p:spPr>
          <a:xfrm>
            <a:off x="914400" y="4102249"/>
            <a:ext cx="3657600" cy="0"/>
          </a:xfrm>
          <a:prstGeom prst="line">
            <a:avLst/>
          </a:prstGeom>
          <a:noFill/>
          <a:ln w="28575">
            <a:solidFill>
              <a:srgbClr val="E8871E"/>
            </a:solidFill>
            <a:prstDash val="solid"/>
            <a:tailEnd type="triangle"/>
          </a:ln>
        </p:spPr>
      </p:sp>
      <p:sp>
        <p:nvSpPr>
          <p:cNvPr id="5" name="Text 3"/>
          <p:cNvSpPr/>
          <p:nvPr/>
        </p:nvSpPr>
        <p:spPr>
          <a:xfrm>
            <a:off x="914400" y="4158727"/>
            <a:ext cx="4572000" cy="36576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CPU → Memory (address only)</a:t>
            </a:r>
            <a:endParaRPr lang="en-US" sz="1100" dirty="0"/>
          </a:p>
        </p:txBody>
      </p:sp>
      <p:sp>
        <p:nvSpPr>
          <p:cNvPr id="6" name="Text 4"/>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7" name="Text 5"/>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The Data Bus</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Carries the actual data being transferred — instructions or operands — between CPU, memory, and I/O.</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Bidirectional: data can flow CPU → memory (write) or memory → CPU (read).</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Width of the data bus (e.g., 8, 16, 32, 64 bits) determines how many bits can move in a single transfer.</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Continuing the postal analogy: the data bus is the actual parcel being delivered, once the address (house number) is known.</a:t>
            </a:r>
            <a:endParaRPr lang="en-US" sz="1650" dirty="0"/>
          </a:p>
        </p:txBody>
      </p:sp>
      <p:sp>
        <p:nvSpPr>
          <p:cNvPr id="4" name="Shape 2"/>
          <p:cNvSpPr/>
          <p:nvPr/>
        </p:nvSpPr>
        <p:spPr>
          <a:xfrm>
            <a:off x="914400" y="3785795"/>
            <a:ext cx="3657600" cy="0"/>
          </a:xfrm>
          <a:prstGeom prst="line">
            <a:avLst/>
          </a:prstGeom>
          <a:noFill/>
          <a:ln w="28575">
            <a:solidFill>
              <a:srgbClr val="E8871E"/>
            </a:solidFill>
            <a:prstDash val="solid"/>
            <a:tailEnd type="triangle"/>
          </a:ln>
        </p:spPr>
      </p:sp>
      <p:sp>
        <p:nvSpPr>
          <p:cNvPr id="5" name="Shape 3"/>
          <p:cNvSpPr/>
          <p:nvPr/>
        </p:nvSpPr>
        <p:spPr>
          <a:xfrm flipH="1">
            <a:off x="932331" y="4250167"/>
            <a:ext cx="3657600" cy="0"/>
          </a:xfrm>
          <a:prstGeom prst="line">
            <a:avLst/>
          </a:prstGeom>
          <a:noFill/>
          <a:ln w="28575">
            <a:solidFill>
              <a:srgbClr val="E8871E"/>
            </a:solidFill>
            <a:prstDash val="solid"/>
            <a:tailEnd type="triangle"/>
          </a:ln>
        </p:spPr>
      </p:sp>
      <p:sp>
        <p:nvSpPr>
          <p:cNvPr id="6" name="Text 4"/>
          <p:cNvSpPr/>
          <p:nvPr/>
        </p:nvSpPr>
        <p:spPr>
          <a:xfrm>
            <a:off x="914400" y="3823443"/>
            <a:ext cx="4572000" cy="365760"/>
          </a:xfrm>
          <a:prstGeom prst="rect">
            <a:avLst/>
          </a:prstGeom>
          <a:noFill/>
          <a:ln/>
        </p:spPr>
        <p:txBody>
          <a:bodyPr wrap="square" rtlCol="0" anchor="ctr"/>
          <a:lstStyle/>
          <a:p>
            <a:pPr marL="0" indent="0">
              <a:buNone/>
            </a:pPr>
            <a:r>
              <a:rPr lang="en-US" sz="1100" dirty="0">
                <a:solidFill>
                  <a:srgbClr val="6B7280"/>
                </a:solidFill>
                <a:latin typeface="Calibri" pitchFamily="34" charset="0"/>
                <a:ea typeface="Calibri" pitchFamily="34" charset="-122"/>
                <a:cs typeface="Calibri" pitchFamily="34" charset="-120"/>
              </a:rPr>
              <a:t>CPU ⇄ Memory (data, both directions)</a:t>
            </a:r>
            <a:endParaRPr lang="en-US" sz="1100" dirty="0"/>
          </a:p>
        </p:txBody>
      </p:sp>
      <p:sp>
        <p:nvSpPr>
          <p:cNvPr id="7" name="Text 5"/>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8" name="Text 6"/>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The Control Bus</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Carries control and timing signals that coordinate the activity on the bus — e.g., Read, Write, Memory-Enable, Bus-Request, Interrupt.</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Tells devices WHAT kind of operation is happening and WHEN it is valid to read or write.</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Without the control bus, address and data lines would be meaningless — no one would know when to act.</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Postal analogy: control signals are like stamping the envelope 'FRAGILE' or 'DELIVER BY HAND' — instructions about how to handle the transfer.</a:t>
            </a:r>
            <a:endParaRPr lang="en-US" sz="1650" dirty="0"/>
          </a:p>
        </p:txBody>
      </p:sp>
      <p:sp>
        <p:nvSpPr>
          <p:cNvPr id="4" name="Shape 2"/>
          <p:cNvSpPr/>
          <p:nvPr/>
        </p:nvSpPr>
        <p:spPr>
          <a:xfrm>
            <a:off x="914400" y="4404359"/>
            <a:ext cx="2377440" cy="548640"/>
          </a:xfrm>
          <a:prstGeom prst="roundRect">
            <a:avLst>
              <a:gd name="adj" fmla="val 13333"/>
            </a:avLst>
          </a:prstGeom>
          <a:solidFill>
            <a:srgbClr val="CADCFC"/>
          </a:solidFill>
          <a:ln w="12700">
            <a:solidFill>
              <a:srgbClr val="1E2761"/>
            </a:solidFill>
            <a:prstDash val="solid"/>
          </a:ln>
        </p:spPr>
      </p:sp>
      <p:sp>
        <p:nvSpPr>
          <p:cNvPr id="5" name="Text 3"/>
          <p:cNvSpPr/>
          <p:nvPr/>
        </p:nvSpPr>
        <p:spPr>
          <a:xfrm>
            <a:off x="914400" y="4404359"/>
            <a:ext cx="2377440" cy="54864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READ</a:t>
            </a:r>
            <a:endParaRPr lang="en-US" sz="1100" dirty="0"/>
          </a:p>
        </p:txBody>
      </p:sp>
      <p:sp>
        <p:nvSpPr>
          <p:cNvPr id="6" name="Shape 4"/>
          <p:cNvSpPr/>
          <p:nvPr/>
        </p:nvSpPr>
        <p:spPr>
          <a:xfrm>
            <a:off x="3566160" y="4404359"/>
            <a:ext cx="2377440" cy="548640"/>
          </a:xfrm>
          <a:prstGeom prst="roundRect">
            <a:avLst>
              <a:gd name="adj" fmla="val 13333"/>
            </a:avLst>
          </a:prstGeom>
          <a:solidFill>
            <a:srgbClr val="CADCFC"/>
          </a:solidFill>
          <a:ln w="12700">
            <a:solidFill>
              <a:srgbClr val="1E2761"/>
            </a:solidFill>
            <a:prstDash val="solid"/>
          </a:ln>
        </p:spPr>
      </p:sp>
      <p:sp>
        <p:nvSpPr>
          <p:cNvPr id="7" name="Text 5"/>
          <p:cNvSpPr/>
          <p:nvPr/>
        </p:nvSpPr>
        <p:spPr>
          <a:xfrm>
            <a:off x="3566160" y="4404359"/>
            <a:ext cx="2377440" cy="54864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WRITE</a:t>
            </a:r>
            <a:endParaRPr lang="en-US" sz="1100" dirty="0"/>
          </a:p>
        </p:txBody>
      </p:sp>
      <p:sp>
        <p:nvSpPr>
          <p:cNvPr id="8" name="Shape 6"/>
          <p:cNvSpPr/>
          <p:nvPr/>
        </p:nvSpPr>
        <p:spPr>
          <a:xfrm>
            <a:off x="6217920" y="4404359"/>
            <a:ext cx="2377440" cy="548640"/>
          </a:xfrm>
          <a:prstGeom prst="roundRect">
            <a:avLst>
              <a:gd name="adj" fmla="val 13333"/>
            </a:avLst>
          </a:prstGeom>
          <a:solidFill>
            <a:srgbClr val="CADCFC"/>
          </a:solidFill>
          <a:ln w="12700">
            <a:solidFill>
              <a:srgbClr val="1E2761"/>
            </a:solidFill>
            <a:prstDash val="solid"/>
          </a:ln>
        </p:spPr>
      </p:sp>
      <p:sp>
        <p:nvSpPr>
          <p:cNvPr id="9" name="Text 7"/>
          <p:cNvSpPr/>
          <p:nvPr/>
        </p:nvSpPr>
        <p:spPr>
          <a:xfrm>
            <a:off x="6217920" y="4404359"/>
            <a:ext cx="2377440" cy="54864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BUS-REQUEST</a:t>
            </a:r>
            <a:endParaRPr lang="en-US" sz="1100" dirty="0"/>
          </a:p>
        </p:txBody>
      </p:sp>
      <p:sp>
        <p:nvSpPr>
          <p:cNvPr id="10" name="Shape 8"/>
          <p:cNvSpPr/>
          <p:nvPr/>
        </p:nvSpPr>
        <p:spPr>
          <a:xfrm>
            <a:off x="8869680" y="4404359"/>
            <a:ext cx="2377440" cy="548640"/>
          </a:xfrm>
          <a:prstGeom prst="roundRect">
            <a:avLst>
              <a:gd name="adj" fmla="val 13333"/>
            </a:avLst>
          </a:prstGeom>
          <a:solidFill>
            <a:srgbClr val="CADCFC"/>
          </a:solidFill>
          <a:ln w="12700">
            <a:solidFill>
              <a:srgbClr val="1E2761"/>
            </a:solidFill>
            <a:prstDash val="solid"/>
          </a:ln>
        </p:spPr>
      </p:sp>
      <p:sp>
        <p:nvSpPr>
          <p:cNvPr id="11" name="Text 9"/>
          <p:cNvSpPr/>
          <p:nvPr/>
        </p:nvSpPr>
        <p:spPr>
          <a:xfrm>
            <a:off x="8869680" y="4404359"/>
            <a:ext cx="2377440" cy="54864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INTERRUPT</a:t>
            </a:r>
            <a:endParaRPr lang="en-US" sz="1100" dirty="0"/>
          </a:p>
        </p:txBody>
      </p:sp>
      <p:sp>
        <p:nvSpPr>
          <p:cNvPr id="12" name="Text 10"/>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3" name="Text 11"/>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Single Bus Organization</a:t>
            </a:r>
            <a:endParaRPr lang="en-US" sz="3200" dirty="0"/>
          </a:p>
        </p:txBody>
      </p:sp>
      <p:sp>
        <p:nvSpPr>
          <p:cNvPr id="3" name="Shape 1"/>
          <p:cNvSpPr/>
          <p:nvPr/>
        </p:nvSpPr>
        <p:spPr>
          <a:xfrm>
            <a:off x="822960" y="1737360"/>
            <a:ext cx="2377440" cy="914400"/>
          </a:xfrm>
          <a:prstGeom prst="roundRect">
            <a:avLst>
              <a:gd name="adj" fmla="val 8000"/>
            </a:avLst>
          </a:prstGeom>
          <a:solidFill>
            <a:srgbClr val="1E2761"/>
          </a:solidFill>
          <a:ln w="12700">
            <a:solidFill>
              <a:srgbClr val="1E2761"/>
            </a:solidFill>
            <a:prstDash val="solid"/>
          </a:ln>
        </p:spPr>
      </p:sp>
      <p:sp>
        <p:nvSpPr>
          <p:cNvPr id="4" name="Text 2"/>
          <p:cNvSpPr/>
          <p:nvPr/>
        </p:nvSpPr>
        <p:spPr>
          <a:xfrm>
            <a:off x="822960" y="1737360"/>
            <a:ext cx="237744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CPU</a:t>
            </a:r>
            <a:endParaRPr lang="en-US" sz="1400" dirty="0"/>
          </a:p>
        </p:txBody>
      </p:sp>
      <p:sp>
        <p:nvSpPr>
          <p:cNvPr id="5" name="Shape 3"/>
          <p:cNvSpPr/>
          <p:nvPr/>
        </p:nvSpPr>
        <p:spPr>
          <a:xfrm>
            <a:off x="3931920" y="1737360"/>
            <a:ext cx="2377440" cy="914400"/>
          </a:xfrm>
          <a:prstGeom prst="roundRect">
            <a:avLst>
              <a:gd name="adj" fmla="val 8000"/>
            </a:avLst>
          </a:prstGeom>
          <a:solidFill>
            <a:srgbClr val="1E2761"/>
          </a:solidFill>
          <a:ln w="12700">
            <a:solidFill>
              <a:srgbClr val="1E2761"/>
            </a:solidFill>
            <a:prstDash val="solid"/>
          </a:ln>
        </p:spPr>
      </p:sp>
      <p:sp>
        <p:nvSpPr>
          <p:cNvPr id="6" name="Text 4"/>
          <p:cNvSpPr/>
          <p:nvPr/>
        </p:nvSpPr>
        <p:spPr>
          <a:xfrm>
            <a:off x="3931920" y="1737360"/>
            <a:ext cx="237744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Memory</a:t>
            </a:r>
            <a:endParaRPr lang="en-US" sz="1400" dirty="0"/>
          </a:p>
        </p:txBody>
      </p:sp>
      <p:sp>
        <p:nvSpPr>
          <p:cNvPr id="7" name="Shape 5"/>
          <p:cNvSpPr/>
          <p:nvPr/>
        </p:nvSpPr>
        <p:spPr>
          <a:xfrm>
            <a:off x="7040880" y="1737360"/>
            <a:ext cx="2377440" cy="914400"/>
          </a:xfrm>
          <a:prstGeom prst="roundRect">
            <a:avLst>
              <a:gd name="adj" fmla="val 8000"/>
            </a:avLst>
          </a:prstGeom>
          <a:solidFill>
            <a:srgbClr val="1E2761"/>
          </a:solidFill>
          <a:ln w="12700">
            <a:solidFill>
              <a:srgbClr val="1E2761"/>
            </a:solidFill>
            <a:prstDash val="solid"/>
          </a:ln>
        </p:spPr>
      </p:sp>
      <p:sp>
        <p:nvSpPr>
          <p:cNvPr id="8" name="Text 6"/>
          <p:cNvSpPr/>
          <p:nvPr/>
        </p:nvSpPr>
        <p:spPr>
          <a:xfrm>
            <a:off x="7040880" y="1737360"/>
            <a:ext cx="2377440" cy="9144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I/O 1</a:t>
            </a:r>
            <a:endParaRPr lang="en-US" sz="1400" dirty="0"/>
          </a:p>
        </p:txBody>
      </p:sp>
      <p:sp>
        <p:nvSpPr>
          <p:cNvPr id="9" name="Shape 7"/>
          <p:cNvSpPr/>
          <p:nvPr/>
        </p:nvSpPr>
        <p:spPr>
          <a:xfrm>
            <a:off x="9601200" y="1737360"/>
            <a:ext cx="1828800" cy="914400"/>
          </a:xfrm>
          <a:prstGeom prst="roundRect">
            <a:avLst>
              <a:gd name="adj" fmla="val 8000"/>
            </a:avLst>
          </a:prstGeom>
          <a:solidFill>
            <a:srgbClr val="1E2761"/>
          </a:solidFill>
          <a:ln w="12700">
            <a:solidFill>
              <a:srgbClr val="1E2761"/>
            </a:solidFill>
            <a:prstDash val="solid"/>
          </a:ln>
        </p:spPr>
      </p:sp>
      <p:sp>
        <p:nvSpPr>
          <p:cNvPr id="10" name="Text 8"/>
          <p:cNvSpPr/>
          <p:nvPr/>
        </p:nvSpPr>
        <p:spPr>
          <a:xfrm>
            <a:off x="9601200" y="1737360"/>
            <a:ext cx="1828800" cy="91440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I/O 2</a:t>
            </a:r>
            <a:endParaRPr lang="en-US" sz="1300" dirty="0"/>
          </a:p>
        </p:txBody>
      </p:sp>
      <p:sp>
        <p:nvSpPr>
          <p:cNvPr id="11" name="Shape 9"/>
          <p:cNvSpPr/>
          <p:nvPr/>
        </p:nvSpPr>
        <p:spPr>
          <a:xfrm>
            <a:off x="822960" y="3063240"/>
            <a:ext cx="10607040" cy="0"/>
          </a:xfrm>
          <a:prstGeom prst="line">
            <a:avLst/>
          </a:prstGeom>
          <a:noFill/>
          <a:ln w="63500">
            <a:solidFill>
              <a:srgbClr val="E8871E"/>
            </a:solidFill>
            <a:prstDash val="solid"/>
          </a:ln>
        </p:spPr>
      </p:sp>
      <p:sp>
        <p:nvSpPr>
          <p:cNvPr id="12" name="Shape 10"/>
          <p:cNvSpPr/>
          <p:nvPr/>
        </p:nvSpPr>
        <p:spPr>
          <a:xfrm>
            <a:off x="2011680" y="2651760"/>
            <a:ext cx="0" cy="411480"/>
          </a:xfrm>
          <a:prstGeom prst="line">
            <a:avLst/>
          </a:prstGeom>
          <a:noFill/>
          <a:ln w="28575">
            <a:solidFill>
              <a:srgbClr val="E8871E"/>
            </a:solidFill>
            <a:prstDash val="solid"/>
            <a:tailEnd type="triangle"/>
          </a:ln>
        </p:spPr>
      </p:sp>
      <p:sp>
        <p:nvSpPr>
          <p:cNvPr id="13" name="Shape 11"/>
          <p:cNvSpPr/>
          <p:nvPr/>
        </p:nvSpPr>
        <p:spPr>
          <a:xfrm>
            <a:off x="5120640" y="2651760"/>
            <a:ext cx="0" cy="411480"/>
          </a:xfrm>
          <a:prstGeom prst="line">
            <a:avLst/>
          </a:prstGeom>
          <a:noFill/>
          <a:ln w="28575">
            <a:solidFill>
              <a:srgbClr val="E8871E"/>
            </a:solidFill>
            <a:prstDash val="solid"/>
            <a:tailEnd type="triangle"/>
          </a:ln>
        </p:spPr>
      </p:sp>
      <p:sp>
        <p:nvSpPr>
          <p:cNvPr id="14" name="Shape 12"/>
          <p:cNvSpPr/>
          <p:nvPr/>
        </p:nvSpPr>
        <p:spPr>
          <a:xfrm>
            <a:off x="8229600" y="2651760"/>
            <a:ext cx="0" cy="411480"/>
          </a:xfrm>
          <a:prstGeom prst="line">
            <a:avLst/>
          </a:prstGeom>
          <a:noFill/>
          <a:ln w="28575">
            <a:solidFill>
              <a:srgbClr val="E8871E"/>
            </a:solidFill>
            <a:prstDash val="solid"/>
            <a:tailEnd type="triangle"/>
          </a:ln>
        </p:spPr>
      </p:sp>
      <p:sp>
        <p:nvSpPr>
          <p:cNvPr id="15" name="Shape 13"/>
          <p:cNvSpPr/>
          <p:nvPr/>
        </p:nvSpPr>
        <p:spPr>
          <a:xfrm>
            <a:off x="10515600" y="2651760"/>
            <a:ext cx="0" cy="411480"/>
          </a:xfrm>
          <a:prstGeom prst="line">
            <a:avLst/>
          </a:prstGeom>
          <a:noFill/>
          <a:ln w="28575">
            <a:solidFill>
              <a:srgbClr val="E8871E"/>
            </a:solidFill>
            <a:prstDash val="solid"/>
            <a:tailEnd type="triangle"/>
          </a:ln>
        </p:spPr>
      </p:sp>
      <p:sp>
        <p:nvSpPr>
          <p:cNvPr id="16" name="Text 14"/>
          <p:cNvSpPr/>
          <p:nvPr/>
        </p:nvSpPr>
        <p:spPr>
          <a:xfrm>
            <a:off x="822960" y="3200400"/>
            <a:ext cx="10607040" cy="365760"/>
          </a:xfrm>
          <a:prstGeom prst="rect">
            <a:avLst/>
          </a:prstGeom>
          <a:noFill/>
          <a:ln/>
        </p:spPr>
        <p:txBody>
          <a:bodyPr wrap="square" rtlCol="0" anchor="ctr"/>
          <a:lstStyle/>
          <a:p>
            <a:pPr marL="0" indent="0" algn="ctr">
              <a:buNone/>
            </a:pPr>
            <a:r>
              <a:rPr lang="en-US" sz="1200" i="1" dirty="0">
                <a:solidFill>
                  <a:srgbClr val="1E2761"/>
                </a:solidFill>
                <a:latin typeface="Calibri" pitchFamily="34" charset="0"/>
                <a:ea typeface="Calibri" pitchFamily="34" charset="-122"/>
                <a:cs typeface="Calibri" pitchFamily="34" charset="-120"/>
              </a:rPr>
              <a:t>single shared bus (address + data + control, time-shared)</a:t>
            </a:r>
            <a:endParaRPr lang="en-US" sz="1200" dirty="0"/>
          </a:p>
        </p:txBody>
      </p:sp>
      <p:sp>
        <p:nvSpPr>
          <p:cNvPr id="17" name="Text 15"/>
          <p:cNvSpPr/>
          <p:nvPr/>
        </p:nvSpPr>
        <p:spPr>
          <a:xfrm>
            <a:off x="640080" y="3749040"/>
            <a:ext cx="10972800" cy="2926080"/>
          </a:xfrm>
          <a:prstGeom prst="rect">
            <a:avLst/>
          </a:prstGeom>
          <a:noFill/>
          <a:ln/>
        </p:spPr>
        <p:txBody>
          <a:bodyPr wrap="square" rtlCol="0" anchor="t"/>
          <a:lstStyle/>
          <a:p>
            <a:pPr marL="342900" indent="-342900" algn="l">
              <a:lnSpc>
                <a:spcPct val="110000"/>
              </a:lnSpc>
              <a:spcAft>
                <a:spcPts val="1200"/>
              </a:spcAft>
              <a:buSzPct val="100000"/>
              <a:buChar char="▪"/>
            </a:pPr>
            <a:r>
              <a:rPr lang="en-US" sz="1450" dirty="0">
                <a:solidFill>
                  <a:srgbClr val="1B1F3B"/>
                </a:solidFill>
                <a:latin typeface="Calibri" pitchFamily="34" charset="0"/>
                <a:ea typeface="Calibri" pitchFamily="34" charset="-122"/>
                <a:cs typeface="Calibri" pitchFamily="34" charset="-120"/>
              </a:rPr>
              <a:t>All units — CPU, memory, I/O — share ONE common bus for address, data, and control.</a:t>
            </a:r>
            <a:endParaRPr lang="en-US" sz="1450" dirty="0"/>
          </a:p>
          <a:p>
            <a:pPr marL="342900" indent="-342900" algn="l">
              <a:lnSpc>
                <a:spcPct val="110000"/>
              </a:lnSpc>
              <a:spcAft>
                <a:spcPts val="1200"/>
              </a:spcAft>
              <a:buSzPct val="100000"/>
              <a:buChar char="▪"/>
            </a:pPr>
            <a:r>
              <a:rPr lang="en-US" sz="1450" dirty="0">
                <a:solidFill>
                  <a:srgbClr val="1B1F3B"/>
                </a:solidFill>
                <a:latin typeface="Calibri" pitchFamily="34" charset="0"/>
                <a:ea typeface="Calibri" pitchFamily="34" charset="-122"/>
                <a:cs typeface="Calibri" pitchFamily="34" charset="-120"/>
              </a:rPr>
              <a:t>Simple and low-cost, uses fewer wires and connectors.</a:t>
            </a:r>
            <a:endParaRPr lang="en-US" sz="1450" dirty="0"/>
          </a:p>
          <a:p>
            <a:pPr marL="342900" indent="-342900" algn="l">
              <a:lnSpc>
                <a:spcPct val="110000"/>
              </a:lnSpc>
              <a:spcAft>
                <a:spcPts val="1200"/>
              </a:spcAft>
              <a:buSzPct val="100000"/>
              <a:buChar char="▪"/>
            </a:pPr>
            <a:r>
              <a:rPr lang="en-US" sz="1450" dirty="0">
                <a:solidFill>
                  <a:srgbClr val="1B1F3B"/>
                </a:solidFill>
                <a:latin typeface="Calibri" pitchFamily="34" charset="0"/>
                <a:ea typeface="Calibri" pitchFamily="34" charset="-122"/>
                <a:cs typeface="Calibri" pitchFamily="34" charset="-120"/>
              </a:rPr>
              <a:t>Only one transfer can happen at a time — devices must take turns (this is called bus arbitration, covered later).</a:t>
            </a:r>
            <a:endParaRPr lang="en-US" sz="1450" dirty="0"/>
          </a:p>
          <a:p>
            <a:pPr marL="342900" indent="-342900" algn="l">
              <a:lnSpc>
                <a:spcPct val="110000"/>
              </a:lnSpc>
              <a:spcAft>
                <a:spcPts val="1200"/>
              </a:spcAft>
              <a:buSzPct val="100000"/>
              <a:buChar char="▪"/>
            </a:pPr>
            <a:r>
              <a:rPr lang="en-US" sz="1450" dirty="0">
                <a:solidFill>
                  <a:srgbClr val="1B1F3B"/>
                </a:solidFill>
                <a:latin typeface="Calibri" pitchFamily="34" charset="0"/>
                <a:ea typeface="Calibri" pitchFamily="34" charset="-122"/>
                <a:cs typeface="Calibri" pitchFamily="34" charset="-120"/>
              </a:rPr>
              <a:t>Can become a bottleneck as more devices are added — everyone is waiting on the same 'highway'.</a:t>
            </a:r>
            <a:endParaRPr lang="en-US" sz="1450" dirty="0"/>
          </a:p>
        </p:txBody>
      </p:sp>
      <p:sp>
        <p:nvSpPr>
          <p:cNvPr id="18" name="Text 16"/>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9" name="Text 17"/>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
        <p:nvSpPr>
          <p:cNvPr id="20" name="Text 18"/>
          <p:cNvSpPr/>
          <p:nvPr/>
        </p:nvSpPr>
        <p:spPr>
          <a:xfrm>
            <a:off x="640080" y="6080760"/>
            <a:ext cx="10911535" cy="320040"/>
          </a:xfrm>
          <a:prstGeom prst="rect">
            <a:avLst/>
          </a:prstGeom>
          <a:noFill/>
          <a:ln/>
        </p:spPr>
        <p:txBody>
          <a:bodyPr wrap="square" rtlCol="0" anchor="ctr"/>
          <a:lstStyle/>
          <a:p>
            <a:pPr marL="0" indent="0" algn="l">
              <a:buNone/>
            </a:pPr>
            <a:r>
              <a:rPr lang="en-US" sz="1000" i="1" dirty="0">
                <a:solidFill>
                  <a:srgbClr val="6B7280"/>
                </a:solidFill>
                <a:latin typeface="Calibri" pitchFamily="34" charset="0"/>
                <a:ea typeface="Calibri" pitchFamily="34" charset="-122"/>
                <a:cs typeface="Calibri" pitchFamily="34" charset="-120"/>
              </a:rPr>
              <a:t>Diagram: four device boxes tapping into one horizontal amber bus line. Animation: pulse the bus line, then highlight one device 'using' it at a time.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Multiple Bus Organization</a:t>
            </a:r>
            <a:endParaRPr lang="en-US" sz="3200" dirty="0"/>
          </a:p>
        </p:txBody>
      </p:sp>
      <p:sp>
        <p:nvSpPr>
          <p:cNvPr id="3" name="Shape 1"/>
          <p:cNvSpPr/>
          <p:nvPr/>
        </p:nvSpPr>
        <p:spPr>
          <a:xfrm>
            <a:off x="4937760" y="1645920"/>
            <a:ext cx="2194560" cy="822960"/>
          </a:xfrm>
          <a:prstGeom prst="roundRect">
            <a:avLst>
              <a:gd name="adj" fmla="val 8889"/>
            </a:avLst>
          </a:prstGeom>
          <a:solidFill>
            <a:srgbClr val="1E2761"/>
          </a:solidFill>
          <a:ln w="12700">
            <a:solidFill>
              <a:srgbClr val="1E2761"/>
            </a:solidFill>
            <a:prstDash val="solid"/>
          </a:ln>
        </p:spPr>
      </p:sp>
      <p:sp>
        <p:nvSpPr>
          <p:cNvPr id="4" name="Text 2"/>
          <p:cNvSpPr/>
          <p:nvPr/>
        </p:nvSpPr>
        <p:spPr>
          <a:xfrm>
            <a:off x="4937760" y="1645920"/>
            <a:ext cx="2194560" cy="8229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CPU</a:t>
            </a:r>
            <a:endParaRPr lang="en-US" sz="1400" dirty="0"/>
          </a:p>
        </p:txBody>
      </p:sp>
      <p:sp>
        <p:nvSpPr>
          <p:cNvPr id="5" name="Shape 3"/>
          <p:cNvSpPr/>
          <p:nvPr/>
        </p:nvSpPr>
        <p:spPr>
          <a:xfrm>
            <a:off x="914400" y="3108960"/>
            <a:ext cx="2377440" cy="822960"/>
          </a:xfrm>
          <a:prstGeom prst="roundRect">
            <a:avLst>
              <a:gd name="adj" fmla="val 8889"/>
            </a:avLst>
          </a:prstGeom>
          <a:solidFill>
            <a:srgbClr val="1E2761"/>
          </a:solidFill>
          <a:ln w="12700">
            <a:solidFill>
              <a:srgbClr val="1E2761"/>
            </a:solidFill>
            <a:prstDash val="solid"/>
          </a:ln>
        </p:spPr>
      </p:sp>
      <p:sp>
        <p:nvSpPr>
          <p:cNvPr id="6" name="Text 4"/>
          <p:cNvSpPr/>
          <p:nvPr/>
        </p:nvSpPr>
        <p:spPr>
          <a:xfrm>
            <a:off x="914400" y="3108960"/>
            <a:ext cx="237744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Memory</a:t>
            </a:r>
            <a:endParaRPr lang="en-US" sz="1300" dirty="0"/>
          </a:p>
        </p:txBody>
      </p:sp>
      <p:sp>
        <p:nvSpPr>
          <p:cNvPr id="7" name="Shape 5"/>
          <p:cNvSpPr/>
          <p:nvPr/>
        </p:nvSpPr>
        <p:spPr>
          <a:xfrm>
            <a:off x="4937760" y="3108960"/>
            <a:ext cx="2194560" cy="822960"/>
          </a:xfrm>
          <a:prstGeom prst="roundRect">
            <a:avLst>
              <a:gd name="adj" fmla="val 8889"/>
            </a:avLst>
          </a:prstGeom>
          <a:solidFill>
            <a:srgbClr val="CADCFC"/>
          </a:solidFill>
          <a:ln w="12700">
            <a:solidFill>
              <a:srgbClr val="1E2761"/>
            </a:solidFill>
            <a:prstDash val="solid"/>
          </a:ln>
        </p:spPr>
      </p:sp>
      <p:sp>
        <p:nvSpPr>
          <p:cNvPr id="8" name="Text 6"/>
          <p:cNvSpPr/>
          <p:nvPr/>
        </p:nvSpPr>
        <p:spPr>
          <a:xfrm>
            <a:off x="4937760" y="3108960"/>
            <a:ext cx="2194560" cy="8229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Cache / Local Bus</a:t>
            </a:r>
            <a:endParaRPr lang="en-US" sz="1100" dirty="0"/>
          </a:p>
        </p:txBody>
      </p:sp>
      <p:sp>
        <p:nvSpPr>
          <p:cNvPr id="9" name="Shape 7"/>
          <p:cNvSpPr/>
          <p:nvPr/>
        </p:nvSpPr>
        <p:spPr>
          <a:xfrm>
            <a:off x="8686800" y="3108960"/>
            <a:ext cx="2468880" cy="822960"/>
          </a:xfrm>
          <a:prstGeom prst="roundRect">
            <a:avLst>
              <a:gd name="adj" fmla="val 8889"/>
            </a:avLst>
          </a:prstGeom>
          <a:solidFill>
            <a:srgbClr val="1E2761"/>
          </a:solidFill>
          <a:ln w="12700">
            <a:solidFill>
              <a:srgbClr val="1E2761"/>
            </a:solidFill>
            <a:prstDash val="solid"/>
          </a:ln>
        </p:spPr>
      </p:sp>
      <p:sp>
        <p:nvSpPr>
          <p:cNvPr id="10" name="Text 8"/>
          <p:cNvSpPr/>
          <p:nvPr/>
        </p:nvSpPr>
        <p:spPr>
          <a:xfrm>
            <a:off x="8686800" y="3108960"/>
            <a:ext cx="246888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I/O Devices</a:t>
            </a:r>
            <a:endParaRPr lang="en-US" sz="1300" dirty="0"/>
          </a:p>
        </p:txBody>
      </p:sp>
      <p:sp>
        <p:nvSpPr>
          <p:cNvPr id="11" name="Shape 9"/>
          <p:cNvSpPr/>
          <p:nvPr/>
        </p:nvSpPr>
        <p:spPr>
          <a:xfrm flipH="1">
            <a:off x="2743200" y="2468880"/>
            <a:ext cx="2743200" cy="640080"/>
          </a:xfrm>
          <a:prstGeom prst="line">
            <a:avLst/>
          </a:prstGeom>
          <a:noFill/>
          <a:ln w="28575">
            <a:solidFill>
              <a:srgbClr val="E8871E"/>
            </a:solidFill>
            <a:prstDash val="solid"/>
            <a:tailEnd type="triangle"/>
          </a:ln>
        </p:spPr>
      </p:sp>
      <p:sp>
        <p:nvSpPr>
          <p:cNvPr id="12" name="Text 10"/>
          <p:cNvSpPr/>
          <p:nvPr/>
        </p:nvSpPr>
        <p:spPr>
          <a:xfrm>
            <a:off x="3017520" y="2697480"/>
            <a:ext cx="1463040" cy="32004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Memory Bus</a:t>
            </a:r>
            <a:endParaRPr lang="en-US" sz="1000" dirty="0"/>
          </a:p>
        </p:txBody>
      </p:sp>
      <p:sp>
        <p:nvSpPr>
          <p:cNvPr id="13" name="Shape 11"/>
          <p:cNvSpPr/>
          <p:nvPr/>
        </p:nvSpPr>
        <p:spPr>
          <a:xfrm>
            <a:off x="6035040" y="2468880"/>
            <a:ext cx="0" cy="640080"/>
          </a:xfrm>
          <a:prstGeom prst="line">
            <a:avLst/>
          </a:prstGeom>
          <a:noFill/>
          <a:ln w="28575">
            <a:solidFill>
              <a:srgbClr val="E8871E"/>
            </a:solidFill>
            <a:prstDash val="solid"/>
            <a:tailEnd type="triangle"/>
          </a:ln>
        </p:spPr>
      </p:sp>
      <p:sp>
        <p:nvSpPr>
          <p:cNvPr id="14" name="Shape 12"/>
          <p:cNvSpPr/>
          <p:nvPr/>
        </p:nvSpPr>
        <p:spPr>
          <a:xfrm>
            <a:off x="7132320" y="3520440"/>
            <a:ext cx="1554480" cy="0"/>
          </a:xfrm>
          <a:prstGeom prst="line">
            <a:avLst/>
          </a:prstGeom>
          <a:noFill/>
          <a:ln w="28575">
            <a:solidFill>
              <a:srgbClr val="E8871E"/>
            </a:solidFill>
            <a:prstDash val="solid"/>
            <a:tailEnd type="triangle"/>
          </a:ln>
        </p:spPr>
      </p:sp>
      <p:sp>
        <p:nvSpPr>
          <p:cNvPr id="15" name="Text 13"/>
          <p:cNvSpPr/>
          <p:nvPr/>
        </p:nvSpPr>
        <p:spPr>
          <a:xfrm>
            <a:off x="7223760" y="3154680"/>
            <a:ext cx="1280160" cy="320040"/>
          </a:xfrm>
          <a:prstGeom prst="rect">
            <a:avLst/>
          </a:prstGeom>
          <a:noFill/>
          <a:ln/>
        </p:spPr>
        <p:txBody>
          <a:bodyPr wrap="square" rtlCol="0" anchor="ctr"/>
          <a:lstStyle/>
          <a:p>
            <a:pPr marL="0" indent="0">
              <a:buNone/>
            </a:pPr>
            <a:r>
              <a:rPr lang="en-US" sz="1000" dirty="0">
                <a:solidFill>
                  <a:srgbClr val="6B7280"/>
                </a:solidFill>
                <a:latin typeface="Calibri" pitchFamily="34" charset="0"/>
                <a:ea typeface="Calibri" pitchFamily="34" charset="-122"/>
                <a:cs typeface="Calibri" pitchFamily="34" charset="-120"/>
              </a:rPr>
              <a:t>I/O Bus</a:t>
            </a:r>
            <a:endParaRPr lang="en-US" sz="1000" dirty="0"/>
          </a:p>
        </p:txBody>
      </p:sp>
      <p:sp>
        <p:nvSpPr>
          <p:cNvPr id="16" name="Text 14"/>
          <p:cNvSpPr/>
          <p:nvPr/>
        </p:nvSpPr>
        <p:spPr>
          <a:xfrm>
            <a:off x="640080" y="4297680"/>
            <a:ext cx="10972800" cy="2377440"/>
          </a:xfrm>
          <a:prstGeom prst="rect">
            <a:avLst/>
          </a:prstGeom>
          <a:noFill/>
          <a:ln/>
        </p:spPr>
        <p:txBody>
          <a:bodyPr wrap="square" rtlCol="0" anchor="t"/>
          <a:lstStyle/>
          <a:p>
            <a:pPr marL="342900" indent="-342900" algn="l">
              <a:lnSpc>
                <a:spcPct val="110000"/>
              </a:lnSpc>
              <a:spcAft>
                <a:spcPts val="1200"/>
              </a:spcAft>
              <a:buSzPct val="100000"/>
              <a:buChar char="▪"/>
            </a:pPr>
            <a:r>
              <a:rPr lang="en-US" sz="1400" dirty="0">
                <a:solidFill>
                  <a:srgbClr val="1B1F3B"/>
                </a:solidFill>
                <a:latin typeface="Calibri" pitchFamily="34" charset="0"/>
                <a:ea typeface="Calibri" pitchFamily="34" charset="-122"/>
                <a:cs typeface="Calibri" pitchFamily="34" charset="-120"/>
              </a:rPr>
              <a:t>Uses SEPARATE buses for different purposes — e.g., a fast memory bus and a slower I/O bus.</a:t>
            </a:r>
            <a:endParaRPr lang="en-US" sz="1400" dirty="0"/>
          </a:p>
          <a:p>
            <a:pPr marL="342900" indent="-342900" algn="l">
              <a:lnSpc>
                <a:spcPct val="110000"/>
              </a:lnSpc>
              <a:spcAft>
                <a:spcPts val="1200"/>
              </a:spcAft>
              <a:buSzPct val="100000"/>
              <a:buChar char="▪"/>
            </a:pPr>
            <a:r>
              <a:rPr lang="en-US" sz="1400" dirty="0">
                <a:solidFill>
                  <a:srgbClr val="1B1F3B"/>
                </a:solidFill>
                <a:latin typeface="Calibri" pitchFamily="34" charset="0"/>
                <a:ea typeface="Calibri" pitchFamily="34" charset="-122"/>
                <a:cs typeface="Calibri" pitchFamily="34" charset="-120"/>
              </a:rPr>
              <a:t>Reduces contention: memory transfers and I/O transfers can, to some extent, happen independently.</a:t>
            </a:r>
            <a:endParaRPr lang="en-US" sz="1400" dirty="0"/>
          </a:p>
          <a:p>
            <a:pPr marL="342900" indent="-342900" algn="l">
              <a:lnSpc>
                <a:spcPct val="110000"/>
              </a:lnSpc>
              <a:spcAft>
                <a:spcPts val="1200"/>
              </a:spcAft>
              <a:buSzPct val="100000"/>
              <a:buChar char="▪"/>
            </a:pPr>
            <a:r>
              <a:rPr lang="en-US" sz="1400" dirty="0">
                <a:solidFill>
                  <a:srgbClr val="1B1F3B"/>
                </a:solidFill>
                <a:latin typeface="Calibri" pitchFamily="34" charset="0"/>
                <a:ea typeface="Calibri" pitchFamily="34" charset="-122"/>
                <a:cs typeface="Calibri" pitchFamily="34" charset="-120"/>
              </a:rPr>
              <a:t>Matches devices of different speeds to buses of appropriate speed — no need to slow memory down to I/O speed.</a:t>
            </a:r>
            <a:endParaRPr lang="en-US" sz="1400" dirty="0"/>
          </a:p>
          <a:p>
            <a:pPr marL="342900" indent="-342900" algn="l">
              <a:lnSpc>
                <a:spcPct val="110000"/>
              </a:lnSpc>
              <a:spcAft>
                <a:spcPts val="1200"/>
              </a:spcAft>
              <a:buSzPct val="100000"/>
              <a:buChar char="▪"/>
            </a:pPr>
            <a:r>
              <a:rPr lang="en-US" sz="1400" dirty="0">
                <a:solidFill>
                  <a:srgbClr val="1B1F3B"/>
                </a:solidFill>
                <a:latin typeface="Calibri" pitchFamily="34" charset="0"/>
                <a:ea typeface="Calibri" pitchFamily="34" charset="-122"/>
                <a:cs typeface="Calibri" pitchFamily="34" charset="-120"/>
              </a:rPr>
              <a:t>More complex and costlier than a single bus, but far more scalable — this is how real modern systems are built.</a:t>
            </a:r>
            <a:endParaRPr lang="en-US" sz="1400" dirty="0"/>
          </a:p>
        </p:txBody>
      </p:sp>
      <p:sp>
        <p:nvSpPr>
          <p:cNvPr id="17" name="Text 15"/>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8" name="Text 16"/>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Processor–Memory Communication — Overview</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700" dirty="0">
                <a:solidFill>
                  <a:srgbClr val="1B1F3B"/>
                </a:solidFill>
                <a:latin typeface="Calibri" pitchFamily="34" charset="0"/>
                <a:ea typeface="Calibri" pitchFamily="34" charset="-122"/>
                <a:cs typeface="Calibri" pitchFamily="34" charset="-120"/>
              </a:rPr>
              <a:t>The CPU communicates with memory through exactly two fundamental operations: READ and WRITE.</a:t>
            </a:r>
            <a:endParaRPr lang="en-US" sz="1700" dirty="0"/>
          </a:p>
          <a:p>
            <a:pPr marL="342900" indent="-342900" algn="l">
              <a:lnSpc>
                <a:spcPct val="110000"/>
              </a:lnSpc>
              <a:spcAft>
                <a:spcPts val="1200"/>
              </a:spcAft>
              <a:buSzPct val="100000"/>
              <a:buChar char="▪"/>
            </a:pPr>
            <a:r>
              <a:rPr lang="en-US" sz="1700" dirty="0">
                <a:solidFill>
                  <a:srgbClr val="1B1F3B"/>
                </a:solidFill>
                <a:latin typeface="Calibri" pitchFamily="34" charset="0"/>
                <a:ea typeface="Calibri" pitchFamily="34" charset="-122"/>
                <a:cs typeface="Calibri" pitchFamily="34" charset="-120"/>
              </a:rPr>
              <a:t>READ: CPU asks memory to send back the data stored at a given address.</a:t>
            </a:r>
            <a:endParaRPr lang="en-US" sz="1700" dirty="0"/>
          </a:p>
          <a:p>
            <a:pPr marL="342900" indent="-342900" algn="l">
              <a:lnSpc>
                <a:spcPct val="110000"/>
              </a:lnSpc>
              <a:spcAft>
                <a:spcPts val="1200"/>
              </a:spcAft>
              <a:buSzPct val="100000"/>
              <a:buChar char="▪"/>
            </a:pPr>
            <a:r>
              <a:rPr lang="en-US" sz="1700" dirty="0">
                <a:solidFill>
                  <a:srgbClr val="1B1F3B"/>
                </a:solidFill>
                <a:latin typeface="Calibri" pitchFamily="34" charset="0"/>
                <a:ea typeface="Calibri" pitchFamily="34" charset="-122"/>
                <a:cs typeface="Calibri" pitchFamily="34" charset="-120"/>
              </a:rPr>
              <a:t>WRITE: CPU sends data to memory to be stored at a given address.</a:t>
            </a:r>
            <a:endParaRPr lang="en-US" sz="1700" dirty="0"/>
          </a:p>
          <a:p>
            <a:pPr marL="342900" indent="-342900" algn="l">
              <a:lnSpc>
                <a:spcPct val="110000"/>
              </a:lnSpc>
              <a:spcAft>
                <a:spcPts val="1200"/>
              </a:spcAft>
              <a:buSzPct val="100000"/>
              <a:buChar char="▪"/>
            </a:pPr>
            <a:r>
              <a:rPr lang="en-US" sz="1700" dirty="0">
                <a:solidFill>
                  <a:srgbClr val="1B1F3B"/>
                </a:solidFill>
                <a:latin typeface="Calibri" pitchFamily="34" charset="0"/>
                <a:ea typeface="Calibri" pitchFamily="34" charset="-122"/>
                <a:cs typeface="Calibri" pitchFamily="34" charset="-120"/>
              </a:rPr>
              <a:t>Every single operation — fetching instructions, loading variables, saving results — reduces to one of these two.</a:t>
            </a:r>
            <a:endParaRPr lang="en-US" sz="170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
        <p:nvSpPr>
          <p:cNvPr id="6" name="Text 4"/>
          <p:cNvSpPr/>
          <p:nvPr/>
        </p:nvSpPr>
        <p:spPr>
          <a:xfrm>
            <a:off x="640080" y="6080760"/>
            <a:ext cx="10911535" cy="320040"/>
          </a:xfrm>
          <a:prstGeom prst="rect">
            <a:avLst/>
          </a:prstGeom>
          <a:noFill/>
          <a:ln/>
        </p:spPr>
        <p:txBody>
          <a:bodyPr wrap="square" rtlCol="0" anchor="ctr"/>
          <a:lstStyle/>
          <a:p>
            <a:pPr marL="0" indent="0" algn="l">
              <a:buNone/>
            </a:pPr>
            <a:r>
              <a:rPr lang="en-US" sz="1000" i="1" dirty="0">
                <a:solidFill>
                  <a:srgbClr val="6B7280"/>
                </a:solidFill>
                <a:latin typeface="Calibri" pitchFamily="34" charset="0"/>
                <a:ea typeface="Calibri" pitchFamily="34" charset="-122"/>
                <a:cs typeface="Calibri" pitchFamily="34" charset="-120"/>
              </a:rPr>
              <a:t>Icons: download-arrow icon for Read, upload-arrow icon for Write, placed side by side. Animation: Read icon and Write icon appear with a brief bounce.</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Memory Read Operation — Step by Step</a:t>
            </a:r>
            <a:endParaRPr lang="en-US" sz="3200" dirty="0"/>
          </a:p>
        </p:txBody>
      </p:sp>
      <p:sp>
        <p:nvSpPr>
          <p:cNvPr id="3" name="Shape 1"/>
          <p:cNvSpPr/>
          <p:nvPr/>
        </p:nvSpPr>
        <p:spPr>
          <a:xfrm>
            <a:off x="731520" y="1554480"/>
            <a:ext cx="502920" cy="502920"/>
          </a:xfrm>
          <a:prstGeom prst="ellipse">
            <a:avLst/>
          </a:prstGeom>
          <a:solidFill>
            <a:srgbClr val="E8871E"/>
          </a:solidFill>
          <a:ln/>
        </p:spPr>
      </p:sp>
      <p:sp>
        <p:nvSpPr>
          <p:cNvPr id="4" name="Text 2"/>
          <p:cNvSpPr/>
          <p:nvPr/>
        </p:nvSpPr>
        <p:spPr>
          <a:xfrm>
            <a:off x="731520" y="155448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463040" y="1508760"/>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CPU places the address of the desired data into MAR.</a:t>
            </a:r>
            <a:endParaRPr lang="en-US" sz="1400" dirty="0"/>
          </a:p>
        </p:txBody>
      </p:sp>
      <p:sp>
        <p:nvSpPr>
          <p:cNvPr id="6" name="Shape 4"/>
          <p:cNvSpPr/>
          <p:nvPr/>
        </p:nvSpPr>
        <p:spPr>
          <a:xfrm>
            <a:off x="731520" y="2267712"/>
            <a:ext cx="502920" cy="502920"/>
          </a:xfrm>
          <a:prstGeom prst="ellipse">
            <a:avLst/>
          </a:prstGeom>
          <a:solidFill>
            <a:srgbClr val="E8871E"/>
          </a:solidFill>
          <a:ln/>
        </p:spPr>
      </p:sp>
      <p:sp>
        <p:nvSpPr>
          <p:cNvPr id="7" name="Text 5"/>
          <p:cNvSpPr/>
          <p:nvPr/>
        </p:nvSpPr>
        <p:spPr>
          <a:xfrm>
            <a:off x="731520" y="2267712"/>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6"/>
          <p:cNvSpPr/>
          <p:nvPr/>
        </p:nvSpPr>
        <p:spPr>
          <a:xfrm>
            <a:off x="1463040" y="2221992"/>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MAR's address is placed on the ADDRESS BUS.</a:t>
            </a:r>
            <a:endParaRPr lang="en-US" sz="1400" dirty="0"/>
          </a:p>
        </p:txBody>
      </p:sp>
      <p:sp>
        <p:nvSpPr>
          <p:cNvPr id="9" name="Shape 7"/>
          <p:cNvSpPr/>
          <p:nvPr/>
        </p:nvSpPr>
        <p:spPr>
          <a:xfrm>
            <a:off x="731520" y="2980944"/>
            <a:ext cx="502920" cy="502920"/>
          </a:xfrm>
          <a:prstGeom prst="ellipse">
            <a:avLst/>
          </a:prstGeom>
          <a:solidFill>
            <a:srgbClr val="E8871E"/>
          </a:solidFill>
          <a:ln/>
        </p:spPr>
      </p:sp>
      <p:sp>
        <p:nvSpPr>
          <p:cNvPr id="10" name="Text 8"/>
          <p:cNvSpPr/>
          <p:nvPr/>
        </p:nvSpPr>
        <p:spPr>
          <a:xfrm>
            <a:off x="731520" y="2980944"/>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p:nvPr/>
        </p:nvSpPr>
        <p:spPr>
          <a:xfrm>
            <a:off x="1463040" y="2935224"/>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CPU activates the READ control line on the CONTROL BUS.</a:t>
            </a:r>
            <a:endParaRPr lang="en-US" sz="1400" dirty="0"/>
          </a:p>
        </p:txBody>
      </p:sp>
      <p:sp>
        <p:nvSpPr>
          <p:cNvPr id="12" name="Shape 10"/>
          <p:cNvSpPr/>
          <p:nvPr/>
        </p:nvSpPr>
        <p:spPr>
          <a:xfrm>
            <a:off x="731520" y="3694176"/>
            <a:ext cx="502920" cy="502920"/>
          </a:xfrm>
          <a:prstGeom prst="ellipse">
            <a:avLst/>
          </a:prstGeom>
          <a:solidFill>
            <a:srgbClr val="E8871E"/>
          </a:solidFill>
          <a:ln/>
        </p:spPr>
      </p:sp>
      <p:sp>
        <p:nvSpPr>
          <p:cNvPr id="13" name="Text 11"/>
          <p:cNvSpPr/>
          <p:nvPr/>
        </p:nvSpPr>
        <p:spPr>
          <a:xfrm>
            <a:off x="731520" y="3694176"/>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12"/>
          <p:cNvSpPr/>
          <p:nvPr/>
        </p:nvSpPr>
        <p:spPr>
          <a:xfrm>
            <a:off x="1463040" y="3648456"/>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Memory decodes the address, locates the data.</a:t>
            </a:r>
            <a:endParaRPr lang="en-US" sz="1400" dirty="0"/>
          </a:p>
        </p:txBody>
      </p:sp>
      <p:sp>
        <p:nvSpPr>
          <p:cNvPr id="15" name="Shape 13"/>
          <p:cNvSpPr/>
          <p:nvPr/>
        </p:nvSpPr>
        <p:spPr>
          <a:xfrm>
            <a:off x="731520" y="4407408"/>
            <a:ext cx="502920" cy="502920"/>
          </a:xfrm>
          <a:prstGeom prst="ellipse">
            <a:avLst/>
          </a:prstGeom>
          <a:solidFill>
            <a:srgbClr val="E8871E"/>
          </a:solidFill>
          <a:ln/>
        </p:spPr>
      </p:sp>
      <p:sp>
        <p:nvSpPr>
          <p:cNvPr id="16" name="Text 14"/>
          <p:cNvSpPr/>
          <p:nvPr/>
        </p:nvSpPr>
        <p:spPr>
          <a:xfrm>
            <a:off x="731520" y="4407408"/>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Text 15"/>
          <p:cNvSpPr/>
          <p:nvPr/>
        </p:nvSpPr>
        <p:spPr>
          <a:xfrm>
            <a:off x="1463040" y="4361688"/>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Memory places the data on the DATA BUS.</a:t>
            </a:r>
            <a:endParaRPr lang="en-US" sz="1400" dirty="0"/>
          </a:p>
        </p:txBody>
      </p:sp>
      <p:sp>
        <p:nvSpPr>
          <p:cNvPr id="18" name="Shape 16"/>
          <p:cNvSpPr/>
          <p:nvPr/>
        </p:nvSpPr>
        <p:spPr>
          <a:xfrm>
            <a:off x="731520" y="5120640"/>
            <a:ext cx="502920" cy="502920"/>
          </a:xfrm>
          <a:prstGeom prst="ellipse">
            <a:avLst/>
          </a:prstGeom>
          <a:solidFill>
            <a:srgbClr val="E8871E"/>
          </a:solidFill>
          <a:ln/>
        </p:spPr>
      </p:sp>
      <p:sp>
        <p:nvSpPr>
          <p:cNvPr id="19" name="Text 17"/>
          <p:cNvSpPr/>
          <p:nvPr/>
        </p:nvSpPr>
        <p:spPr>
          <a:xfrm>
            <a:off x="731520" y="512064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0" name="Text 18"/>
          <p:cNvSpPr/>
          <p:nvPr/>
        </p:nvSpPr>
        <p:spPr>
          <a:xfrm>
            <a:off x="1463040" y="5074920"/>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CPU copies the data from the data bus into MBR, then to its destination register.</a:t>
            </a:r>
            <a:endParaRPr lang="en-US" sz="1400" dirty="0"/>
          </a:p>
        </p:txBody>
      </p:sp>
      <p:sp>
        <p:nvSpPr>
          <p:cNvPr id="21" name="Text 19"/>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22" name="Text 2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
        <p:nvSpPr>
          <p:cNvPr id="23" name="Text 21"/>
          <p:cNvSpPr/>
          <p:nvPr/>
        </p:nvSpPr>
        <p:spPr>
          <a:xfrm>
            <a:off x="640080" y="6080760"/>
            <a:ext cx="10911535" cy="320040"/>
          </a:xfrm>
          <a:prstGeom prst="rect">
            <a:avLst/>
          </a:prstGeom>
          <a:noFill/>
          <a:ln/>
        </p:spPr>
        <p:txBody>
          <a:bodyPr wrap="square" rtlCol="0" anchor="ctr"/>
          <a:lstStyle/>
          <a:p>
            <a:pPr marL="0" indent="0" algn="l">
              <a:buNone/>
            </a:pPr>
            <a:r>
              <a:rPr lang="en-US" sz="1000" i="1" dirty="0">
                <a:solidFill>
                  <a:srgbClr val="6B7280"/>
                </a:solidFill>
                <a:latin typeface="Calibri" pitchFamily="34" charset="0"/>
                <a:ea typeface="Calibri" pitchFamily="34" charset="-122"/>
                <a:cs typeface="Calibri" pitchFamily="34" charset="-120"/>
              </a:rPr>
              <a:t>Layout: numbered vertical step list with amber numbered circles. Animation: wipe-in one step at a time as narrated, so students follow along in real time.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Memory Write Operation — Step by Step</a:t>
            </a:r>
            <a:endParaRPr lang="en-US" sz="3200" dirty="0"/>
          </a:p>
        </p:txBody>
      </p:sp>
      <p:sp>
        <p:nvSpPr>
          <p:cNvPr id="3" name="Shape 1"/>
          <p:cNvSpPr/>
          <p:nvPr/>
        </p:nvSpPr>
        <p:spPr>
          <a:xfrm>
            <a:off x="731520" y="1554480"/>
            <a:ext cx="502920" cy="502920"/>
          </a:xfrm>
          <a:prstGeom prst="ellipse">
            <a:avLst/>
          </a:prstGeom>
          <a:solidFill>
            <a:srgbClr val="1E2761"/>
          </a:solidFill>
          <a:ln/>
        </p:spPr>
      </p:sp>
      <p:sp>
        <p:nvSpPr>
          <p:cNvPr id="4" name="Text 2"/>
          <p:cNvSpPr/>
          <p:nvPr/>
        </p:nvSpPr>
        <p:spPr>
          <a:xfrm>
            <a:off x="731520" y="155448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p:nvPr/>
        </p:nvSpPr>
        <p:spPr>
          <a:xfrm>
            <a:off x="1463040" y="1508760"/>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CPU places the target address into MAR, and the data to be stored into MBR.</a:t>
            </a:r>
            <a:endParaRPr lang="en-US" sz="1400" dirty="0"/>
          </a:p>
        </p:txBody>
      </p:sp>
      <p:sp>
        <p:nvSpPr>
          <p:cNvPr id="6" name="Shape 4"/>
          <p:cNvSpPr/>
          <p:nvPr/>
        </p:nvSpPr>
        <p:spPr>
          <a:xfrm>
            <a:off x="731520" y="2267712"/>
            <a:ext cx="502920" cy="502920"/>
          </a:xfrm>
          <a:prstGeom prst="ellipse">
            <a:avLst/>
          </a:prstGeom>
          <a:solidFill>
            <a:srgbClr val="1E2761"/>
          </a:solidFill>
          <a:ln/>
        </p:spPr>
      </p:sp>
      <p:sp>
        <p:nvSpPr>
          <p:cNvPr id="7" name="Text 5"/>
          <p:cNvSpPr/>
          <p:nvPr/>
        </p:nvSpPr>
        <p:spPr>
          <a:xfrm>
            <a:off x="731520" y="2267712"/>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Text 6"/>
          <p:cNvSpPr/>
          <p:nvPr/>
        </p:nvSpPr>
        <p:spPr>
          <a:xfrm>
            <a:off x="1463040" y="2221992"/>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MAR's address is placed on the ADDRESS BUS.</a:t>
            </a:r>
            <a:endParaRPr lang="en-US" sz="1400" dirty="0"/>
          </a:p>
        </p:txBody>
      </p:sp>
      <p:sp>
        <p:nvSpPr>
          <p:cNvPr id="9" name="Shape 7"/>
          <p:cNvSpPr/>
          <p:nvPr/>
        </p:nvSpPr>
        <p:spPr>
          <a:xfrm>
            <a:off x="731520" y="2980944"/>
            <a:ext cx="502920" cy="502920"/>
          </a:xfrm>
          <a:prstGeom prst="ellipse">
            <a:avLst/>
          </a:prstGeom>
          <a:solidFill>
            <a:srgbClr val="1E2761"/>
          </a:solidFill>
          <a:ln/>
        </p:spPr>
      </p:sp>
      <p:sp>
        <p:nvSpPr>
          <p:cNvPr id="10" name="Text 8"/>
          <p:cNvSpPr/>
          <p:nvPr/>
        </p:nvSpPr>
        <p:spPr>
          <a:xfrm>
            <a:off x="731520" y="2980944"/>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Text 9"/>
          <p:cNvSpPr/>
          <p:nvPr/>
        </p:nvSpPr>
        <p:spPr>
          <a:xfrm>
            <a:off x="1463040" y="2935224"/>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MBR's data is placed on the DATA BUS.</a:t>
            </a:r>
            <a:endParaRPr lang="en-US" sz="1400" dirty="0"/>
          </a:p>
        </p:txBody>
      </p:sp>
      <p:sp>
        <p:nvSpPr>
          <p:cNvPr id="12" name="Shape 10"/>
          <p:cNvSpPr/>
          <p:nvPr/>
        </p:nvSpPr>
        <p:spPr>
          <a:xfrm>
            <a:off x="731520" y="3694176"/>
            <a:ext cx="502920" cy="502920"/>
          </a:xfrm>
          <a:prstGeom prst="ellipse">
            <a:avLst/>
          </a:prstGeom>
          <a:solidFill>
            <a:srgbClr val="1E2761"/>
          </a:solidFill>
          <a:ln/>
        </p:spPr>
      </p:sp>
      <p:sp>
        <p:nvSpPr>
          <p:cNvPr id="13" name="Text 11"/>
          <p:cNvSpPr/>
          <p:nvPr/>
        </p:nvSpPr>
        <p:spPr>
          <a:xfrm>
            <a:off x="731520" y="3694176"/>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Text 12"/>
          <p:cNvSpPr/>
          <p:nvPr/>
        </p:nvSpPr>
        <p:spPr>
          <a:xfrm>
            <a:off x="1463040" y="3648456"/>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CPU activates the WRITE control line on the CONTROL BUS.</a:t>
            </a:r>
            <a:endParaRPr lang="en-US" sz="1400" dirty="0"/>
          </a:p>
        </p:txBody>
      </p:sp>
      <p:sp>
        <p:nvSpPr>
          <p:cNvPr id="15" name="Shape 13"/>
          <p:cNvSpPr/>
          <p:nvPr/>
        </p:nvSpPr>
        <p:spPr>
          <a:xfrm>
            <a:off x="731520" y="4407408"/>
            <a:ext cx="502920" cy="502920"/>
          </a:xfrm>
          <a:prstGeom prst="ellipse">
            <a:avLst/>
          </a:prstGeom>
          <a:solidFill>
            <a:srgbClr val="1E2761"/>
          </a:solidFill>
          <a:ln/>
        </p:spPr>
      </p:sp>
      <p:sp>
        <p:nvSpPr>
          <p:cNvPr id="16" name="Text 14"/>
          <p:cNvSpPr/>
          <p:nvPr/>
        </p:nvSpPr>
        <p:spPr>
          <a:xfrm>
            <a:off x="731520" y="4407408"/>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7" name="Text 15"/>
          <p:cNvSpPr/>
          <p:nvPr/>
        </p:nvSpPr>
        <p:spPr>
          <a:xfrm>
            <a:off x="1463040" y="4361688"/>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Memory decodes the address and stores the data from the data bus into that location.</a:t>
            </a:r>
            <a:endParaRPr lang="en-US" sz="1400" dirty="0"/>
          </a:p>
        </p:txBody>
      </p:sp>
      <p:sp>
        <p:nvSpPr>
          <p:cNvPr id="18" name="Shape 16"/>
          <p:cNvSpPr/>
          <p:nvPr/>
        </p:nvSpPr>
        <p:spPr>
          <a:xfrm>
            <a:off x="731520" y="5120640"/>
            <a:ext cx="502920" cy="502920"/>
          </a:xfrm>
          <a:prstGeom prst="ellipse">
            <a:avLst/>
          </a:prstGeom>
          <a:solidFill>
            <a:srgbClr val="1E2761"/>
          </a:solidFill>
          <a:ln/>
        </p:spPr>
      </p:sp>
      <p:sp>
        <p:nvSpPr>
          <p:cNvPr id="19" name="Text 17"/>
          <p:cNvSpPr/>
          <p:nvPr/>
        </p:nvSpPr>
        <p:spPr>
          <a:xfrm>
            <a:off x="731520" y="5120640"/>
            <a:ext cx="502920" cy="50292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0" name="Text 18"/>
          <p:cNvSpPr/>
          <p:nvPr/>
        </p:nvSpPr>
        <p:spPr>
          <a:xfrm>
            <a:off x="1463040" y="5074920"/>
            <a:ext cx="9966960" cy="594360"/>
          </a:xfrm>
          <a:prstGeom prst="rect">
            <a:avLst/>
          </a:prstGeom>
          <a:noFill/>
          <a:ln/>
        </p:spPr>
        <p:txBody>
          <a:bodyPr wrap="square" rtlCol="0" anchor="ctr"/>
          <a:lstStyle/>
          <a:p>
            <a:pPr marL="0" indent="0">
              <a:buNone/>
            </a:pPr>
            <a:r>
              <a:rPr lang="en-US" sz="1400" dirty="0">
                <a:solidFill>
                  <a:srgbClr val="1B1F3B"/>
                </a:solidFill>
                <a:latin typeface="Calibri" pitchFamily="34" charset="0"/>
                <a:ea typeface="Calibri" pitchFamily="34" charset="-122"/>
                <a:cs typeface="Calibri" pitchFamily="34" charset="-120"/>
              </a:rPr>
              <a:t>Operation completes; CPU is free to proceed to the next cycle.</a:t>
            </a:r>
            <a:endParaRPr lang="en-US" sz="1400" dirty="0"/>
          </a:p>
        </p:txBody>
      </p:sp>
      <p:sp>
        <p:nvSpPr>
          <p:cNvPr id="21" name="Text 19"/>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22" name="Text 20"/>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
        <p:nvSpPr>
          <p:cNvPr id="23" name="Text 21"/>
          <p:cNvSpPr/>
          <p:nvPr/>
        </p:nvSpPr>
        <p:spPr>
          <a:xfrm>
            <a:off x="640080" y="6080760"/>
            <a:ext cx="10911535" cy="320040"/>
          </a:xfrm>
          <a:prstGeom prst="rect">
            <a:avLst/>
          </a:prstGeom>
          <a:noFill/>
          <a:ln/>
        </p:spPr>
        <p:txBody>
          <a:bodyPr wrap="square" rtlCol="0" anchor="ctr"/>
          <a:lstStyle/>
          <a:p>
            <a:pPr marL="0" indent="0" algn="l">
              <a:buNone/>
            </a:pPr>
            <a:r>
              <a:rPr lang="en-US" sz="1000" i="1" dirty="0">
                <a:solidFill>
                  <a:srgbClr val="6B7280"/>
                </a:solidFill>
                <a:latin typeface="Calibri" pitchFamily="34" charset="0"/>
                <a:ea typeface="Calibri" pitchFamily="34" charset="-122"/>
                <a:cs typeface="Calibri" pitchFamily="34" charset="-120"/>
              </a:rPr>
              <a:t>Layout: mirrors the Read slide but with navy numbered circles instead of amber, to visually distinguish Write from Read. Animation: wipe-in one step at a time.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Worked Example: Memory Read Timing</a:t>
            </a:r>
            <a:endParaRPr lang="en-US" sz="3200" dirty="0"/>
          </a:p>
        </p:txBody>
      </p:sp>
      <p:sp>
        <p:nvSpPr>
          <p:cNvPr id="3" name="Text 1"/>
          <p:cNvSpPr/>
          <p:nvPr/>
        </p:nvSpPr>
        <p:spPr>
          <a:xfrm>
            <a:off x="640080" y="1417320"/>
            <a:ext cx="10881360" cy="548640"/>
          </a:xfrm>
          <a:prstGeom prst="rect">
            <a:avLst/>
          </a:prstGeom>
          <a:noFill/>
          <a:ln/>
        </p:spPr>
        <p:txBody>
          <a:bodyPr wrap="square" rtlCol="0" anchor="ctr"/>
          <a:lstStyle/>
          <a:p>
            <a:pPr marL="0" indent="0">
              <a:buNone/>
            </a:pPr>
            <a:r>
              <a:rPr lang="en-US" sz="1450" i="1" dirty="0">
                <a:solidFill>
                  <a:srgbClr val="1B1F3B"/>
                </a:solidFill>
                <a:latin typeface="Calibri" pitchFamily="34" charset="0"/>
                <a:ea typeface="Calibri" pitchFamily="34" charset="-122"/>
                <a:cs typeface="Calibri" pitchFamily="34" charset="-120"/>
              </a:rPr>
              <a:t>Problem: The CPU wants to read the value stored at address 2050. Trace what happens on each bus, cycle by cycle.</a:t>
            </a:r>
            <a:endParaRPr lang="en-US" sz="1450" dirty="0"/>
          </a:p>
        </p:txBody>
      </p:sp>
      <p:sp>
        <p:nvSpPr>
          <p:cNvPr id="4" name="Shape 2"/>
          <p:cNvSpPr/>
          <p:nvPr/>
        </p:nvSpPr>
        <p:spPr>
          <a:xfrm>
            <a:off x="640080" y="2148840"/>
            <a:ext cx="10881360" cy="566928"/>
          </a:xfrm>
          <a:prstGeom prst="rect">
            <a:avLst/>
          </a:prstGeom>
          <a:solidFill>
            <a:srgbClr val="CADCFC"/>
          </a:solidFill>
          <a:ln/>
        </p:spPr>
      </p:sp>
      <p:sp>
        <p:nvSpPr>
          <p:cNvPr id="5" name="Text 3"/>
          <p:cNvSpPr/>
          <p:nvPr/>
        </p:nvSpPr>
        <p:spPr>
          <a:xfrm>
            <a:off x="822960" y="2148840"/>
            <a:ext cx="109728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t0</a:t>
            </a:r>
            <a:endParaRPr lang="en-US" sz="1300" dirty="0"/>
          </a:p>
        </p:txBody>
      </p:sp>
      <p:sp>
        <p:nvSpPr>
          <p:cNvPr id="6" name="Text 4"/>
          <p:cNvSpPr/>
          <p:nvPr/>
        </p:nvSpPr>
        <p:spPr>
          <a:xfrm>
            <a:off x="2011680" y="2148840"/>
            <a:ext cx="237744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Address Bus</a:t>
            </a:r>
            <a:endParaRPr lang="en-US" sz="1300" dirty="0"/>
          </a:p>
        </p:txBody>
      </p:sp>
      <p:sp>
        <p:nvSpPr>
          <p:cNvPr id="7" name="Text 5"/>
          <p:cNvSpPr/>
          <p:nvPr/>
        </p:nvSpPr>
        <p:spPr>
          <a:xfrm>
            <a:off x="4480560" y="2148840"/>
            <a:ext cx="6858000" cy="566928"/>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2050 (placed by CPU, from MAR)</a:t>
            </a:r>
            <a:endParaRPr lang="en-US" sz="1300" dirty="0"/>
          </a:p>
        </p:txBody>
      </p:sp>
      <p:sp>
        <p:nvSpPr>
          <p:cNvPr id="8" name="Shape 6"/>
          <p:cNvSpPr/>
          <p:nvPr/>
        </p:nvSpPr>
        <p:spPr>
          <a:xfrm>
            <a:off x="640080" y="2715768"/>
            <a:ext cx="10881360" cy="566928"/>
          </a:xfrm>
          <a:prstGeom prst="rect">
            <a:avLst/>
          </a:prstGeom>
          <a:solidFill>
            <a:srgbClr val="FFFFFF"/>
          </a:solidFill>
          <a:ln/>
        </p:spPr>
      </p:sp>
      <p:sp>
        <p:nvSpPr>
          <p:cNvPr id="9" name="Text 7"/>
          <p:cNvSpPr/>
          <p:nvPr/>
        </p:nvSpPr>
        <p:spPr>
          <a:xfrm>
            <a:off x="822960" y="2715768"/>
            <a:ext cx="109728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t0</a:t>
            </a:r>
            <a:endParaRPr lang="en-US" sz="1300" dirty="0"/>
          </a:p>
        </p:txBody>
      </p:sp>
      <p:sp>
        <p:nvSpPr>
          <p:cNvPr id="10" name="Text 8"/>
          <p:cNvSpPr/>
          <p:nvPr/>
        </p:nvSpPr>
        <p:spPr>
          <a:xfrm>
            <a:off x="2011680" y="2715768"/>
            <a:ext cx="237744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Control Bus</a:t>
            </a:r>
            <a:endParaRPr lang="en-US" sz="1300" dirty="0"/>
          </a:p>
        </p:txBody>
      </p:sp>
      <p:sp>
        <p:nvSpPr>
          <p:cNvPr id="11" name="Text 9"/>
          <p:cNvSpPr/>
          <p:nvPr/>
        </p:nvSpPr>
        <p:spPr>
          <a:xfrm>
            <a:off x="4480560" y="2715768"/>
            <a:ext cx="6858000" cy="566928"/>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READ signal asserted</a:t>
            </a:r>
            <a:endParaRPr lang="en-US" sz="1300" dirty="0"/>
          </a:p>
        </p:txBody>
      </p:sp>
      <p:sp>
        <p:nvSpPr>
          <p:cNvPr id="12" name="Shape 10"/>
          <p:cNvSpPr/>
          <p:nvPr/>
        </p:nvSpPr>
        <p:spPr>
          <a:xfrm>
            <a:off x="640080" y="3282696"/>
            <a:ext cx="10881360" cy="566928"/>
          </a:xfrm>
          <a:prstGeom prst="rect">
            <a:avLst/>
          </a:prstGeom>
          <a:solidFill>
            <a:srgbClr val="CADCFC"/>
          </a:solidFill>
          <a:ln/>
        </p:spPr>
      </p:sp>
      <p:sp>
        <p:nvSpPr>
          <p:cNvPr id="13" name="Text 11"/>
          <p:cNvSpPr/>
          <p:nvPr/>
        </p:nvSpPr>
        <p:spPr>
          <a:xfrm>
            <a:off x="822960" y="3282696"/>
            <a:ext cx="109728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t1</a:t>
            </a:r>
            <a:endParaRPr lang="en-US" sz="1300" dirty="0"/>
          </a:p>
        </p:txBody>
      </p:sp>
      <p:sp>
        <p:nvSpPr>
          <p:cNvPr id="14" name="Text 12"/>
          <p:cNvSpPr/>
          <p:nvPr/>
        </p:nvSpPr>
        <p:spPr>
          <a:xfrm>
            <a:off x="2011680" y="3282696"/>
            <a:ext cx="237744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Memory</a:t>
            </a:r>
            <a:endParaRPr lang="en-US" sz="1300" dirty="0"/>
          </a:p>
        </p:txBody>
      </p:sp>
      <p:sp>
        <p:nvSpPr>
          <p:cNvPr id="15" name="Text 13"/>
          <p:cNvSpPr/>
          <p:nvPr/>
        </p:nvSpPr>
        <p:spPr>
          <a:xfrm>
            <a:off x="4480560" y="3282696"/>
            <a:ext cx="6858000" cy="566928"/>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decodes address 2050, accesses storage cell</a:t>
            </a:r>
            <a:endParaRPr lang="en-US" sz="1300" dirty="0"/>
          </a:p>
        </p:txBody>
      </p:sp>
      <p:sp>
        <p:nvSpPr>
          <p:cNvPr id="16" name="Shape 14"/>
          <p:cNvSpPr/>
          <p:nvPr/>
        </p:nvSpPr>
        <p:spPr>
          <a:xfrm>
            <a:off x="640080" y="3849624"/>
            <a:ext cx="10881360" cy="566928"/>
          </a:xfrm>
          <a:prstGeom prst="rect">
            <a:avLst/>
          </a:prstGeom>
          <a:solidFill>
            <a:srgbClr val="FFFFFF"/>
          </a:solidFill>
          <a:ln/>
        </p:spPr>
      </p:sp>
      <p:sp>
        <p:nvSpPr>
          <p:cNvPr id="17" name="Text 15"/>
          <p:cNvSpPr/>
          <p:nvPr/>
        </p:nvSpPr>
        <p:spPr>
          <a:xfrm>
            <a:off x="822960" y="3849624"/>
            <a:ext cx="109728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t2</a:t>
            </a:r>
            <a:endParaRPr lang="en-US" sz="1300" dirty="0"/>
          </a:p>
        </p:txBody>
      </p:sp>
      <p:sp>
        <p:nvSpPr>
          <p:cNvPr id="18" name="Text 16"/>
          <p:cNvSpPr/>
          <p:nvPr/>
        </p:nvSpPr>
        <p:spPr>
          <a:xfrm>
            <a:off x="2011680" y="3849624"/>
            <a:ext cx="237744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Data Bus</a:t>
            </a:r>
            <a:endParaRPr lang="en-US" sz="1300" dirty="0"/>
          </a:p>
        </p:txBody>
      </p:sp>
      <p:sp>
        <p:nvSpPr>
          <p:cNvPr id="19" name="Text 17"/>
          <p:cNvSpPr/>
          <p:nvPr/>
        </p:nvSpPr>
        <p:spPr>
          <a:xfrm>
            <a:off x="4480560" y="3849624"/>
            <a:ext cx="6858000" cy="566928"/>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Memory places value, e.g., 47, on data bus</a:t>
            </a:r>
            <a:endParaRPr lang="en-US" sz="1300" dirty="0"/>
          </a:p>
        </p:txBody>
      </p:sp>
      <p:sp>
        <p:nvSpPr>
          <p:cNvPr id="20" name="Shape 18"/>
          <p:cNvSpPr/>
          <p:nvPr/>
        </p:nvSpPr>
        <p:spPr>
          <a:xfrm>
            <a:off x="640080" y="4416552"/>
            <a:ext cx="10881360" cy="566928"/>
          </a:xfrm>
          <a:prstGeom prst="rect">
            <a:avLst/>
          </a:prstGeom>
          <a:solidFill>
            <a:srgbClr val="CADCFC"/>
          </a:solidFill>
          <a:ln/>
        </p:spPr>
      </p:sp>
      <p:sp>
        <p:nvSpPr>
          <p:cNvPr id="21" name="Text 19"/>
          <p:cNvSpPr/>
          <p:nvPr/>
        </p:nvSpPr>
        <p:spPr>
          <a:xfrm>
            <a:off x="822960" y="4416552"/>
            <a:ext cx="109728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t3</a:t>
            </a:r>
            <a:endParaRPr lang="en-US" sz="1300" dirty="0"/>
          </a:p>
        </p:txBody>
      </p:sp>
      <p:sp>
        <p:nvSpPr>
          <p:cNvPr id="22" name="Text 20"/>
          <p:cNvSpPr/>
          <p:nvPr/>
        </p:nvSpPr>
        <p:spPr>
          <a:xfrm>
            <a:off x="2011680" y="4416552"/>
            <a:ext cx="2377440" cy="566928"/>
          </a:xfrm>
          <a:prstGeom prst="rect">
            <a:avLst/>
          </a:prstGeom>
          <a:noFill/>
          <a:ln/>
        </p:spPr>
        <p:txBody>
          <a:bodyPr wrap="square"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CPU</a:t>
            </a:r>
            <a:endParaRPr lang="en-US" sz="1300" dirty="0"/>
          </a:p>
        </p:txBody>
      </p:sp>
      <p:sp>
        <p:nvSpPr>
          <p:cNvPr id="23" name="Text 21"/>
          <p:cNvSpPr/>
          <p:nvPr/>
        </p:nvSpPr>
        <p:spPr>
          <a:xfrm>
            <a:off x="4480560" y="4416552"/>
            <a:ext cx="6858000" cy="566928"/>
          </a:xfrm>
          <a:prstGeom prst="rect">
            <a:avLst/>
          </a:prstGeom>
          <a:noFill/>
          <a:ln/>
        </p:spPr>
        <p:txBody>
          <a:bodyPr wrap="square" rtlCol="0" anchor="ctr"/>
          <a:lstStyle/>
          <a:p>
            <a:pPr marL="0" indent="0">
              <a:buNone/>
            </a:pPr>
            <a:r>
              <a:rPr lang="en-US" sz="1300" dirty="0">
                <a:solidFill>
                  <a:srgbClr val="1B1F3B"/>
                </a:solidFill>
                <a:latin typeface="Calibri" pitchFamily="34" charset="0"/>
                <a:ea typeface="Calibri" pitchFamily="34" charset="-122"/>
                <a:cs typeface="Calibri" pitchFamily="34" charset="-120"/>
              </a:rPr>
              <a:t>reads 47 from data bus into MBR</a:t>
            </a:r>
            <a:endParaRPr lang="en-US" sz="1300" dirty="0"/>
          </a:p>
        </p:txBody>
      </p:sp>
      <p:sp>
        <p:nvSpPr>
          <p:cNvPr id="24" name="Text 22"/>
          <p:cNvSpPr/>
          <p:nvPr/>
        </p:nvSpPr>
        <p:spPr>
          <a:xfrm>
            <a:off x="640080" y="5120640"/>
            <a:ext cx="10881360" cy="457200"/>
          </a:xfrm>
          <a:prstGeom prst="rect">
            <a:avLst/>
          </a:prstGeom>
          <a:noFill/>
          <a:ln/>
        </p:spPr>
        <p:txBody>
          <a:bodyPr wrap="square" rtlCol="0" anchor="ctr"/>
          <a:lstStyle/>
          <a:p>
            <a:pPr marL="0" indent="0">
              <a:buNone/>
            </a:pPr>
            <a:r>
              <a:rPr lang="en-US" sz="1400" b="1" dirty="0">
                <a:solidFill>
                  <a:srgbClr val="E8871E"/>
                </a:solidFill>
                <a:latin typeface="Calibri" pitchFamily="34" charset="0"/>
                <a:ea typeface="Calibri" pitchFamily="34" charset="-122"/>
                <a:cs typeface="Calibri" pitchFamily="34" charset="-120"/>
              </a:rPr>
              <a:t>Result: CPU now holds the value 47 (originally at memory address 2050) in MBR, ready to use.</a:t>
            </a:r>
            <a:endParaRPr lang="en-US" sz="1400" dirty="0"/>
          </a:p>
        </p:txBody>
      </p:sp>
      <p:sp>
        <p:nvSpPr>
          <p:cNvPr id="25" name="Text 23"/>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26" name="Text 2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Data Transfer Mechanisms — Overview</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So far we assumed devices always respond instantly — in reality, devices vary hugely in speed.</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Data transfer mechanisms define HOW the sender and receiver agree on WHEN data is valid and ready.</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Two broad approaches: Synchronous transfer (shared clock, fixed timing) and Asynchronous transfer (handshaking signals, flexible timing).</a:t>
            </a:r>
            <a:endParaRPr lang="en-US" sz="1650" dirty="0"/>
          </a:p>
          <a:p>
            <a:pPr marL="342900" indent="-342900" algn="l">
              <a:lnSpc>
                <a:spcPct val="110000"/>
              </a:lnSpc>
              <a:spcAft>
                <a:spcPts val="1200"/>
              </a:spcAft>
              <a:buSzPct val="100000"/>
              <a:buChar char="▪"/>
            </a:pPr>
            <a:r>
              <a:rPr lang="en-US" sz="1650" dirty="0">
                <a:solidFill>
                  <a:srgbClr val="1B1F3B"/>
                </a:solidFill>
                <a:latin typeface="Calibri" pitchFamily="34" charset="0"/>
                <a:ea typeface="Calibri" pitchFamily="34" charset="-122"/>
                <a:cs typeface="Calibri" pitchFamily="34" charset="-120"/>
              </a:rPr>
              <a:t>Choosing the right mechanism balances speed, simplicity, and compatibility between fast and slow devices.</a:t>
            </a:r>
            <a:endParaRPr lang="en-US" sz="165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Synchronous Data Transfer</a:t>
            </a:r>
            <a:endParaRPr lang="en-US" sz="3200" dirty="0"/>
          </a:p>
        </p:txBody>
      </p:sp>
      <p:sp>
        <p:nvSpPr>
          <p:cNvPr id="3" name="Text 1"/>
          <p:cNvSpPr/>
          <p:nvPr/>
        </p:nvSpPr>
        <p:spPr>
          <a:xfrm>
            <a:off x="640080" y="1554480"/>
            <a:ext cx="603504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500" dirty="0">
                <a:solidFill>
                  <a:srgbClr val="1B1F3B"/>
                </a:solidFill>
                <a:latin typeface="Calibri" pitchFamily="34" charset="0"/>
                <a:ea typeface="Calibri" pitchFamily="34" charset="-122"/>
                <a:cs typeface="Calibri" pitchFamily="34" charset="-120"/>
              </a:rPr>
              <a:t>All devices on the bus share a common clock signal; data transfer happens at fixed, predetermined time slots.</a:t>
            </a:r>
            <a:endParaRPr lang="en-US" sz="1500" dirty="0"/>
          </a:p>
          <a:p>
            <a:pPr marL="342900" indent="-342900" algn="l">
              <a:lnSpc>
                <a:spcPct val="110000"/>
              </a:lnSpc>
              <a:spcAft>
                <a:spcPts val="1200"/>
              </a:spcAft>
              <a:buSzPct val="100000"/>
              <a:buChar char="▪"/>
            </a:pPr>
            <a:r>
              <a:rPr lang="en-US" sz="1500" dirty="0">
                <a:solidFill>
                  <a:srgbClr val="1B1F3B"/>
                </a:solidFill>
                <a:latin typeface="Calibri" pitchFamily="34" charset="0"/>
                <a:ea typeface="Calibri" pitchFamily="34" charset="-122"/>
                <a:cs typeface="Calibri" pitchFamily="34" charset="-120"/>
              </a:rPr>
              <a:t>Sender places data on the bus; receiver reads it at the next clock edge — no explicit acknowledgment needed.</a:t>
            </a:r>
            <a:endParaRPr lang="en-US" sz="1500" dirty="0"/>
          </a:p>
          <a:p>
            <a:pPr marL="342900" indent="-342900" algn="l">
              <a:lnSpc>
                <a:spcPct val="110000"/>
              </a:lnSpc>
              <a:spcAft>
                <a:spcPts val="1200"/>
              </a:spcAft>
              <a:buSzPct val="100000"/>
              <a:buChar char="▪"/>
            </a:pPr>
            <a:r>
              <a:rPr lang="en-US" sz="1500" dirty="0">
                <a:solidFill>
                  <a:srgbClr val="1B1F3B"/>
                </a:solidFill>
                <a:latin typeface="Calibri" pitchFamily="34" charset="0"/>
                <a:ea typeface="Calibri" pitchFamily="34" charset="-122"/>
                <a:cs typeface="Calibri" pitchFamily="34" charset="-120"/>
              </a:rPr>
              <a:t>Simple to design and fast, since there's no waiting for handshake signals.</a:t>
            </a:r>
            <a:endParaRPr lang="en-US" sz="1500" dirty="0"/>
          </a:p>
          <a:p>
            <a:pPr marL="342900" indent="-342900" algn="l">
              <a:lnSpc>
                <a:spcPct val="110000"/>
              </a:lnSpc>
              <a:spcAft>
                <a:spcPts val="1200"/>
              </a:spcAft>
              <a:buSzPct val="100000"/>
              <a:buChar char="▪"/>
            </a:pPr>
            <a:r>
              <a:rPr lang="en-US" sz="1500" dirty="0">
                <a:solidFill>
                  <a:srgbClr val="1B1F3B"/>
                </a:solidFill>
                <a:latin typeface="Calibri" pitchFamily="34" charset="0"/>
                <a:ea typeface="Calibri" pitchFamily="34" charset="-122"/>
                <a:cs typeface="Calibri" pitchFamily="34" charset="-120"/>
              </a:rPr>
              <a:t>Limitation: every device must operate within the same clock speed — a slow device forces the whole bus to slow down.</a:t>
            </a:r>
            <a:endParaRPr lang="en-US" sz="1500" dirty="0"/>
          </a:p>
        </p:txBody>
      </p:sp>
      <p:sp>
        <p:nvSpPr>
          <p:cNvPr id="4" name="Shape 2"/>
          <p:cNvSpPr/>
          <p:nvPr/>
        </p:nvSpPr>
        <p:spPr>
          <a:xfrm>
            <a:off x="6949440" y="3383280"/>
            <a:ext cx="4206240" cy="0"/>
          </a:xfrm>
          <a:prstGeom prst="line">
            <a:avLst/>
          </a:prstGeom>
          <a:noFill/>
          <a:ln w="12700">
            <a:solidFill>
              <a:srgbClr val="6B7280"/>
            </a:solidFill>
            <a:prstDash val="solid"/>
          </a:ln>
        </p:spPr>
      </p:sp>
      <p:sp>
        <p:nvSpPr>
          <p:cNvPr id="5" name="Shape 3"/>
          <p:cNvSpPr/>
          <p:nvPr/>
        </p:nvSpPr>
        <p:spPr>
          <a:xfrm>
            <a:off x="6949440" y="2743200"/>
            <a:ext cx="0" cy="640080"/>
          </a:xfrm>
          <a:prstGeom prst="line">
            <a:avLst/>
          </a:prstGeom>
          <a:noFill/>
          <a:ln w="31750">
            <a:solidFill>
              <a:srgbClr val="E8871E"/>
            </a:solidFill>
            <a:prstDash val="solid"/>
          </a:ln>
        </p:spPr>
      </p:sp>
      <p:sp>
        <p:nvSpPr>
          <p:cNvPr id="6" name="Shape 4"/>
          <p:cNvSpPr/>
          <p:nvPr/>
        </p:nvSpPr>
        <p:spPr>
          <a:xfrm>
            <a:off x="6949440" y="2743200"/>
            <a:ext cx="548640" cy="0"/>
          </a:xfrm>
          <a:prstGeom prst="line">
            <a:avLst/>
          </a:prstGeom>
          <a:noFill/>
          <a:ln w="31750">
            <a:solidFill>
              <a:srgbClr val="E8871E"/>
            </a:solidFill>
            <a:prstDash val="solid"/>
          </a:ln>
        </p:spPr>
      </p:sp>
      <p:sp>
        <p:nvSpPr>
          <p:cNvPr id="7" name="Shape 5"/>
          <p:cNvSpPr/>
          <p:nvPr/>
        </p:nvSpPr>
        <p:spPr>
          <a:xfrm>
            <a:off x="7498080" y="2743200"/>
            <a:ext cx="0" cy="640080"/>
          </a:xfrm>
          <a:prstGeom prst="line">
            <a:avLst/>
          </a:prstGeom>
          <a:noFill/>
          <a:ln w="31750">
            <a:solidFill>
              <a:srgbClr val="E8871E"/>
            </a:solidFill>
            <a:prstDash val="solid"/>
          </a:ln>
        </p:spPr>
      </p:sp>
      <p:sp>
        <p:nvSpPr>
          <p:cNvPr id="8" name="Shape 6"/>
          <p:cNvSpPr/>
          <p:nvPr/>
        </p:nvSpPr>
        <p:spPr>
          <a:xfrm>
            <a:off x="8001000" y="2743200"/>
            <a:ext cx="0" cy="640080"/>
          </a:xfrm>
          <a:prstGeom prst="line">
            <a:avLst/>
          </a:prstGeom>
          <a:noFill/>
          <a:ln w="31750">
            <a:solidFill>
              <a:srgbClr val="E8871E"/>
            </a:solidFill>
            <a:prstDash val="solid"/>
          </a:ln>
        </p:spPr>
      </p:sp>
      <p:sp>
        <p:nvSpPr>
          <p:cNvPr id="9" name="Shape 7"/>
          <p:cNvSpPr/>
          <p:nvPr/>
        </p:nvSpPr>
        <p:spPr>
          <a:xfrm>
            <a:off x="8001000" y="2743200"/>
            <a:ext cx="548640" cy="0"/>
          </a:xfrm>
          <a:prstGeom prst="line">
            <a:avLst/>
          </a:prstGeom>
          <a:noFill/>
          <a:ln w="31750">
            <a:solidFill>
              <a:srgbClr val="E8871E"/>
            </a:solidFill>
            <a:prstDash val="solid"/>
          </a:ln>
        </p:spPr>
      </p:sp>
      <p:sp>
        <p:nvSpPr>
          <p:cNvPr id="10" name="Shape 8"/>
          <p:cNvSpPr/>
          <p:nvPr/>
        </p:nvSpPr>
        <p:spPr>
          <a:xfrm>
            <a:off x="8549640" y="2743200"/>
            <a:ext cx="0" cy="640080"/>
          </a:xfrm>
          <a:prstGeom prst="line">
            <a:avLst/>
          </a:prstGeom>
          <a:noFill/>
          <a:ln w="31750">
            <a:solidFill>
              <a:srgbClr val="E8871E"/>
            </a:solidFill>
            <a:prstDash val="solid"/>
          </a:ln>
        </p:spPr>
      </p:sp>
      <p:sp>
        <p:nvSpPr>
          <p:cNvPr id="11" name="Shape 9"/>
          <p:cNvSpPr/>
          <p:nvPr/>
        </p:nvSpPr>
        <p:spPr>
          <a:xfrm>
            <a:off x="9052560" y="2743200"/>
            <a:ext cx="0" cy="640080"/>
          </a:xfrm>
          <a:prstGeom prst="line">
            <a:avLst/>
          </a:prstGeom>
          <a:noFill/>
          <a:ln w="31750">
            <a:solidFill>
              <a:srgbClr val="E8871E"/>
            </a:solidFill>
            <a:prstDash val="solid"/>
          </a:ln>
        </p:spPr>
      </p:sp>
      <p:sp>
        <p:nvSpPr>
          <p:cNvPr id="12" name="Shape 10"/>
          <p:cNvSpPr/>
          <p:nvPr/>
        </p:nvSpPr>
        <p:spPr>
          <a:xfrm>
            <a:off x="9052560" y="2743200"/>
            <a:ext cx="548640" cy="0"/>
          </a:xfrm>
          <a:prstGeom prst="line">
            <a:avLst/>
          </a:prstGeom>
          <a:noFill/>
          <a:ln w="31750">
            <a:solidFill>
              <a:srgbClr val="E8871E"/>
            </a:solidFill>
            <a:prstDash val="solid"/>
          </a:ln>
        </p:spPr>
      </p:sp>
      <p:sp>
        <p:nvSpPr>
          <p:cNvPr id="13" name="Shape 11"/>
          <p:cNvSpPr/>
          <p:nvPr/>
        </p:nvSpPr>
        <p:spPr>
          <a:xfrm>
            <a:off x="9601200" y="2743200"/>
            <a:ext cx="0" cy="640080"/>
          </a:xfrm>
          <a:prstGeom prst="line">
            <a:avLst/>
          </a:prstGeom>
          <a:noFill/>
          <a:ln w="31750">
            <a:solidFill>
              <a:srgbClr val="E8871E"/>
            </a:solidFill>
            <a:prstDash val="solid"/>
          </a:ln>
        </p:spPr>
      </p:sp>
      <p:sp>
        <p:nvSpPr>
          <p:cNvPr id="14" name="Shape 12"/>
          <p:cNvSpPr/>
          <p:nvPr/>
        </p:nvSpPr>
        <p:spPr>
          <a:xfrm>
            <a:off x="10149840" y="2743200"/>
            <a:ext cx="0" cy="640080"/>
          </a:xfrm>
          <a:prstGeom prst="line">
            <a:avLst/>
          </a:prstGeom>
          <a:noFill/>
          <a:ln w="31750">
            <a:solidFill>
              <a:srgbClr val="E8871E"/>
            </a:solidFill>
            <a:prstDash val="solid"/>
          </a:ln>
        </p:spPr>
      </p:sp>
      <p:sp>
        <p:nvSpPr>
          <p:cNvPr id="15" name="Shape 13"/>
          <p:cNvSpPr/>
          <p:nvPr/>
        </p:nvSpPr>
        <p:spPr>
          <a:xfrm>
            <a:off x="10149840" y="2743200"/>
            <a:ext cx="548640" cy="0"/>
          </a:xfrm>
          <a:prstGeom prst="line">
            <a:avLst/>
          </a:prstGeom>
          <a:noFill/>
          <a:ln w="31750">
            <a:solidFill>
              <a:srgbClr val="E8871E"/>
            </a:solidFill>
            <a:prstDash val="solid"/>
          </a:ln>
        </p:spPr>
      </p:sp>
      <p:sp>
        <p:nvSpPr>
          <p:cNvPr id="16" name="Shape 14"/>
          <p:cNvSpPr/>
          <p:nvPr/>
        </p:nvSpPr>
        <p:spPr>
          <a:xfrm>
            <a:off x="10698480" y="2743200"/>
            <a:ext cx="0" cy="640080"/>
          </a:xfrm>
          <a:prstGeom prst="line">
            <a:avLst/>
          </a:prstGeom>
          <a:noFill/>
          <a:ln w="31750">
            <a:solidFill>
              <a:srgbClr val="E8871E"/>
            </a:solidFill>
            <a:prstDash val="solid"/>
          </a:ln>
        </p:spPr>
      </p:sp>
      <p:sp>
        <p:nvSpPr>
          <p:cNvPr id="17" name="Text 15"/>
          <p:cNvSpPr/>
          <p:nvPr/>
        </p:nvSpPr>
        <p:spPr>
          <a:xfrm>
            <a:off x="6949440" y="3566160"/>
            <a:ext cx="4206240" cy="457200"/>
          </a:xfrm>
          <a:prstGeom prst="rect">
            <a:avLst/>
          </a:prstGeom>
          <a:noFill/>
          <a:ln/>
        </p:spPr>
        <p:txBody>
          <a:bodyPr wrap="square"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shared clock signal — data sampled on each rising edge</a:t>
            </a:r>
            <a:endParaRPr lang="en-US" sz="1100" dirty="0"/>
          </a:p>
        </p:txBody>
      </p:sp>
      <p:sp>
        <p:nvSpPr>
          <p:cNvPr id="18" name="Text 16"/>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9" name="Text 17"/>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Asynchronous Data Transfer — Handshaking</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No shared clock — instead, sender and receiver use explicit control signals to coordinate: typically 'Ready' and 'Acknowledge'.</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Sender asserts Data-Ready; receiver, once it has read the data, asserts Acknowledge; sender then withdraws the data.</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Flexible — devices of very different speeds can communicate correctly, since transfer waits for actual readiness, not a fixed clock tick.</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Slightly slower than synchronous due to the extra handshake signaling overhead.</a:t>
            </a:r>
            <a:endParaRPr lang="en-US" sz="1550" dirty="0"/>
          </a:p>
        </p:txBody>
      </p:sp>
      <p:sp>
        <p:nvSpPr>
          <p:cNvPr id="4" name="Shape 2"/>
          <p:cNvSpPr/>
          <p:nvPr/>
        </p:nvSpPr>
        <p:spPr>
          <a:xfrm>
            <a:off x="1097280" y="4754880"/>
            <a:ext cx="2011680" cy="731520"/>
          </a:xfrm>
          <a:prstGeom prst="roundRect">
            <a:avLst>
              <a:gd name="adj" fmla="val 10000"/>
            </a:avLst>
          </a:prstGeom>
          <a:solidFill>
            <a:srgbClr val="1E2761"/>
          </a:solidFill>
          <a:ln w="12700">
            <a:solidFill>
              <a:srgbClr val="1E2761"/>
            </a:solidFill>
            <a:prstDash val="solid"/>
          </a:ln>
        </p:spPr>
      </p:sp>
      <p:sp>
        <p:nvSpPr>
          <p:cNvPr id="5" name="Text 3"/>
          <p:cNvSpPr/>
          <p:nvPr/>
        </p:nvSpPr>
        <p:spPr>
          <a:xfrm>
            <a:off x="1097280" y="4754880"/>
            <a:ext cx="2011680" cy="7315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Sender (CPU)</a:t>
            </a:r>
            <a:endParaRPr lang="en-US" sz="1100" dirty="0"/>
          </a:p>
        </p:txBody>
      </p:sp>
      <p:sp>
        <p:nvSpPr>
          <p:cNvPr id="6" name="Shape 4"/>
          <p:cNvSpPr/>
          <p:nvPr/>
        </p:nvSpPr>
        <p:spPr>
          <a:xfrm>
            <a:off x="8138160" y="4754880"/>
            <a:ext cx="2011680" cy="731520"/>
          </a:xfrm>
          <a:prstGeom prst="roundRect">
            <a:avLst>
              <a:gd name="adj" fmla="val 10000"/>
            </a:avLst>
          </a:prstGeom>
          <a:solidFill>
            <a:srgbClr val="1E2761"/>
          </a:solidFill>
          <a:ln w="12700">
            <a:solidFill>
              <a:srgbClr val="1E2761"/>
            </a:solidFill>
            <a:prstDash val="solid"/>
          </a:ln>
        </p:spPr>
      </p:sp>
      <p:sp>
        <p:nvSpPr>
          <p:cNvPr id="7" name="Text 5"/>
          <p:cNvSpPr/>
          <p:nvPr/>
        </p:nvSpPr>
        <p:spPr>
          <a:xfrm>
            <a:off x="8138160" y="4754880"/>
            <a:ext cx="2011680" cy="73152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Receiver (Memory)</a:t>
            </a:r>
            <a:endParaRPr lang="en-US" sz="1050" dirty="0"/>
          </a:p>
        </p:txBody>
      </p:sp>
      <p:sp>
        <p:nvSpPr>
          <p:cNvPr id="8" name="Shape 6"/>
          <p:cNvSpPr/>
          <p:nvPr/>
        </p:nvSpPr>
        <p:spPr>
          <a:xfrm>
            <a:off x="3108960" y="4892040"/>
            <a:ext cx="5029200" cy="0"/>
          </a:xfrm>
          <a:prstGeom prst="line">
            <a:avLst/>
          </a:prstGeom>
          <a:noFill/>
          <a:ln w="28575">
            <a:solidFill>
              <a:srgbClr val="E8871E"/>
            </a:solidFill>
            <a:prstDash val="solid"/>
            <a:tailEnd type="triangle"/>
          </a:ln>
        </p:spPr>
      </p:sp>
      <p:sp>
        <p:nvSpPr>
          <p:cNvPr id="9" name="Text 7"/>
          <p:cNvSpPr/>
          <p:nvPr/>
        </p:nvSpPr>
        <p:spPr>
          <a:xfrm>
            <a:off x="3291840" y="4572000"/>
            <a:ext cx="2194560" cy="320040"/>
          </a:xfrm>
          <a:prstGeom prst="rect">
            <a:avLst/>
          </a:prstGeom>
          <a:noFill/>
          <a:ln/>
        </p:spPr>
        <p:txBody>
          <a:bodyPr wrap="square" rtlCol="0" anchor="ctr"/>
          <a:lstStyle/>
          <a:p>
            <a:pPr marL="0" indent="0">
              <a:buNone/>
            </a:pPr>
            <a:r>
              <a:rPr lang="en-US" sz="1000" dirty="0">
                <a:solidFill>
                  <a:srgbClr val="E8871E"/>
                </a:solidFill>
                <a:latin typeface="Calibri" pitchFamily="34" charset="0"/>
                <a:ea typeface="Calibri" pitchFamily="34" charset="-122"/>
                <a:cs typeface="Calibri" pitchFamily="34" charset="-120"/>
              </a:rPr>
              <a:t>1. Data-Ready</a:t>
            </a:r>
            <a:endParaRPr lang="en-US" sz="1000" dirty="0"/>
          </a:p>
        </p:txBody>
      </p:sp>
      <p:sp>
        <p:nvSpPr>
          <p:cNvPr id="10" name="Shape 8"/>
          <p:cNvSpPr/>
          <p:nvPr/>
        </p:nvSpPr>
        <p:spPr>
          <a:xfrm flipH="1">
            <a:off x="3108960" y="5257800"/>
            <a:ext cx="5029200" cy="0"/>
          </a:xfrm>
          <a:prstGeom prst="line">
            <a:avLst/>
          </a:prstGeom>
          <a:noFill/>
          <a:ln w="28575">
            <a:solidFill>
              <a:srgbClr val="1E2761"/>
            </a:solidFill>
            <a:prstDash val="solid"/>
            <a:tailEnd type="triangle"/>
          </a:ln>
        </p:spPr>
      </p:sp>
      <p:sp>
        <p:nvSpPr>
          <p:cNvPr id="11" name="Text 9"/>
          <p:cNvSpPr/>
          <p:nvPr/>
        </p:nvSpPr>
        <p:spPr>
          <a:xfrm>
            <a:off x="5120640" y="5303520"/>
            <a:ext cx="2194560" cy="320040"/>
          </a:xfrm>
          <a:prstGeom prst="rect">
            <a:avLst/>
          </a:prstGeom>
          <a:noFill/>
          <a:ln/>
        </p:spPr>
        <p:txBody>
          <a:bodyPr wrap="square" rtlCol="0" anchor="ctr"/>
          <a:lstStyle/>
          <a:p>
            <a:pPr marL="0" indent="0">
              <a:buNone/>
            </a:pPr>
            <a:r>
              <a:rPr lang="en-US" sz="1000" dirty="0">
                <a:solidFill>
                  <a:srgbClr val="1E2761"/>
                </a:solidFill>
                <a:latin typeface="Calibri" pitchFamily="34" charset="0"/>
                <a:ea typeface="Calibri" pitchFamily="34" charset="-122"/>
                <a:cs typeface="Calibri" pitchFamily="34" charset="-120"/>
              </a:rPr>
              <a:t>2. Acknowledge</a:t>
            </a:r>
            <a:endParaRPr lang="en-US" sz="1000" dirty="0"/>
          </a:p>
        </p:txBody>
      </p:sp>
      <p:sp>
        <p:nvSpPr>
          <p:cNvPr id="12" name="Text 10"/>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3" name="Text 11"/>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Worked Example: Asynchronous Handshake</a:t>
            </a:r>
            <a:endParaRPr lang="en-US" sz="3200" dirty="0"/>
          </a:p>
        </p:txBody>
      </p:sp>
      <p:sp>
        <p:nvSpPr>
          <p:cNvPr id="3" name="Text 1"/>
          <p:cNvSpPr/>
          <p:nvPr/>
        </p:nvSpPr>
        <p:spPr>
          <a:xfrm>
            <a:off x="640080" y="1417320"/>
            <a:ext cx="10881360" cy="548640"/>
          </a:xfrm>
          <a:prstGeom prst="rect">
            <a:avLst/>
          </a:prstGeom>
          <a:noFill/>
          <a:ln/>
        </p:spPr>
        <p:txBody>
          <a:bodyPr wrap="square" rtlCol="0" anchor="ctr"/>
          <a:lstStyle/>
          <a:p>
            <a:pPr marL="0" indent="0">
              <a:buNone/>
            </a:pPr>
            <a:r>
              <a:rPr lang="en-US" sz="1450" i="1" dirty="0">
                <a:solidFill>
                  <a:srgbClr val="1B1F3B"/>
                </a:solidFill>
                <a:latin typeface="Calibri" pitchFamily="34" charset="0"/>
                <a:ea typeface="Calibri" pitchFamily="34" charset="-122"/>
                <a:cs typeface="Calibri" pitchFamily="34" charset="-120"/>
              </a:rPr>
              <a:t>Problem: CPU wants to send the byte 0x4B to a slow I/O device using asynchronous handshaking. Trace the sequence of signals.</a:t>
            </a:r>
            <a:endParaRPr lang="en-US" sz="1450" dirty="0"/>
          </a:p>
        </p:txBody>
      </p:sp>
      <p:sp>
        <p:nvSpPr>
          <p:cNvPr id="4" name="Shape 2"/>
          <p:cNvSpPr/>
          <p:nvPr/>
        </p:nvSpPr>
        <p:spPr>
          <a:xfrm>
            <a:off x="731520" y="2194560"/>
            <a:ext cx="457200" cy="457200"/>
          </a:xfrm>
          <a:prstGeom prst="ellipse">
            <a:avLst/>
          </a:prstGeom>
          <a:solidFill>
            <a:srgbClr val="E8871E"/>
          </a:solidFill>
          <a:ln/>
        </p:spPr>
      </p:sp>
      <p:sp>
        <p:nvSpPr>
          <p:cNvPr id="5" name="Text 3"/>
          <p:cNvSpPr/>
          <p:nvPr/>
        </p:nvSpPr>
        <p:spPr>
          <a:xfrm>
            <a:off x="731520" y="219456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371600" y="2148840"/>
            <a:ext cx="1005840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CPU places data 0x4B on the data bus.</a:t>
            </a:r>
            <a:endParaRPr lang="en-US" sz="1350" dirty="0"/>
          </a:p>
        </p:txBody>
      </p:sp>
      <p:sp>
        <p:nvSpPr>
          <p:cNvPr id="7" name="Shape 5"/>
          <p:cNvSpPr/>
          <p:nvPr/>
        </p:nvSpPr>
        <p:spPr>
          <a:xfrm>
            <a:off x="731520" y="2852928"/>
            <a:ext cx="457200" cy="457200"/>
          </a:xfrm>
          <a:prstGeom prst="ellipse">
            <a:avLst/>
          </a:prstGeom>
          <a:solidFill>
            <a:srgbClr val="1E2761"/>
          </a:solidFill>
          <a:ln/>
        </p:spPr>
      </p:sp>
      <p:sp>
        <p:nvSpPr>
          <p:cNvPr id="8" name="Text 6"/>
          <p:cNvSpPr/>
          <p:nvPr/>
        </p:nvSpPr>
        <p:spPr>
          <a:xfrm>
            <a:off x="731520" y="2852928"/>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371600" y="2807208"/>
            <a:ext cx="1005840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CPU asserts Data-Ready signal (tells device: data is valid now).</a:t>
            </a:r>
            <a:endParaRPr lang="en-US" sz="1350" dirty="0"/>
          </a:p>
        </p:txBody>
      </p:sp>
      <p:sp>
        <p:nvSpPr>
          <p:cNvPr id="10" name="Shape 8"/>
          <p:cNvSpPr/>
          <p:nvPr/>
        </p:nvSpPr>
        <p:spPr>
          <a:xfrm>
            <a:off x="731520" y="3511296"/>
            <a:ext cx="457200" cy="457200"/>
          </a:xfrm>
          <a:prstGeom prst="ellipse">
            <a:avLst/>
          </a:prstGeom>
          <a:solidFill>
            <a:srgbClr val="E8871E"/>
          </a:solidFill>
          <a:ln/>
        </p:spPr>
      </p:sp>
      <p:sp>
        <p:nvSpPr>
          <p:cNvPr id="11" name="Text 9"/>
          <p:cNvSpPr/>
          <p:nvPr/>
        </p:nvSpPr>
        <p:spPr>
          <a:xfrm>
            <a:off x="731520" y="3511296"/>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371600" y="3465576"/>
            <a:ext cx="1005840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I/O device notices Data-Ready; begins reading 0x4B from the data bus.</a:t>
            </a:r>
            <a:endParaRPr lang="en-US" sz="1350" dirty="0"/>
          </a:p>
        </p:txBody>
      </p:sp>
      <p:sp>
        <p:nvSpPr>
          <p:cNvPr id="13" name="Shape 11"/>
          <p:cNvSpPr/>
          <p:nvPr/>
        </p:nvSpPr>
        <p:spPr>
          <a:xfrm>
            <a:off x="731520" y="4169664"/>
            <a:ext cx="457200" cy="457200"/>
          </a:xfrm>
          <a:prstGeom prst="ellipse">
            <a:avLst/>
          </a:prstGeom>
          <a:solidFill>
            <a:srgbClr val="1E2761"/>
          </a:solidFill>
          <a:ln/>
        </p:spPr>
      </p:sp>
      <p:sp>
        <p:nvSpPr>
          <p:cNvPr id="14" name="Text 12"/>
          <p:cNvSpPr/>
          <p:nvPr/>
        </p:nvSpPr>
        <p:spPr>
          <a:xfrm>
            <a:off x="731520" y="4169664"/>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371600" y="4123944"/>
            <a:ext cx="1005840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Once the device has safely captured the data, it asserts Acknowledge.</a:t>
            </a:r>
            <a:endParaRPr lang="en-US" sz="1350" dirty="0"/>
          </a:p>
        </p:txBody>
      </p:sp>
      <p:sp>
        <p:nvSpPr>
          <p:cNvPr id="16" name="Shape 14"/>
          <p:cNvSpPr/>
          <p:nvPr/>
        </p:nvSpPr>
        <p:spPr>
          <a:xfrm>
            <a:off x="731520" y="4828032"/>
            <a:ext cx="457200" cy="457200"/>
          </a:xfrm>
          <a:prstGeom prst="ellipse">
            <a:avLst/>
          </a:prstGeom>
          <a:solidFill>
            <a:srgbClr val="E8871E"/>
          </a:solidFill>
          <a:ln/>
        </p:spPr>
      </p:sp>
      <p:sp>
        <p:nvSpPr>
          <p:cNvPr id="17" name="Text 15"/>
          <p:cNvSpPr/>
          <p:nvPr/>
        </p:nvSpPr>
        <p:spPr>
          <a:xfrm>
            <a:off x="731520" y="4828032"/>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371600" y="4782312"/>
            <a:ext cx="1005840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CPU sees Acknowledge; it withdraws the data and de-asserts Data-Ready.</a:t>
            </a:r>
            <a:endParaRPr lang="en-US" sz="1350" dirty="0"/>
          </a:p>
        </p:txBody>
      </p:sp>
      <p:sp>
        <p:nvSpPr>
          <p:cNvPr id="19" name="Shape 17"/>
          <p:cNvSpPr/>
          <p:nvPr/>
        </p:nvSpPr>
        <p:spPr>
          <a:xfrm>
            <a:off x="731520" y="5486400"/>
            <a:ext cx="457200" cy="457200"/>
          </a:xfrm>
          <a:prstGeom prst="ellipse">
            <a:avLst/>
          </a:prstGeom>
          <a:solidFill>
            <a:srgbClr val="1E2761"/>
          </a:solidFill>
          <a:ln/>
        </p:spPr>
      </p:sp>
      <p:sp>
        <p:nvSpPr>
          <p:cNvPr id="20" name="Text 18"/>
          <p:cNvSpPr/>
          <p:nvPr/>
        </p:nvSpPr>
        <p:spPr>
          <a:xfrm>
            <a:off x="731520" y="548640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371600" y="5440680"/>
            <a:ext cx="10058400" cy="548640"/>
          </a:xfrm>
          <a:prstGeom prst="rect">
            <a:avLst/>
          </a:prstGeom>
          <a:noFill/>
          <a:ln/>
        </p:spPr>
        <p:txBody>
          <a:bodyPr wrap="square" rtlCol="0" anchor="ctr"/>
          <a:lstStyle/>
          <a:p>
            <a:pPr marL="0" indent="0">
              <a:buNone/>
            </a:pPr>
            <a:r>
              <a:rPr lang="en-US" sz="1350" dirty="0">
                <a:solidFill>
                  <a:srgbClr val="1B1F3B"/>
                </a:solidFill>
                <a:latin typeface="Calibri" pitchFamily="34" charset="0"/>
                <a:ea typeface="Calibri" pitchFamily="34" charset="-122"/>
                <a:cs typeface="Calibri" pitchFamily="34" charset="-120"/>
              </a:rPr>
              <a:t>Device de-asserts Acknowledge — both sides are back to idle, ready for the next transfer.</a:t>
            </a:r>
            <a:endParaRPr lang="en-US" sz="1350" dirty="0"/>
          </a:p>
        </p:txBody>
      </p:sp>
      <p:sp>
        <p:nvSpPr>
          <p:cNvPr id="22" name="Text 20"/>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23" name="Text 21"/>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Direct Memory Access (DMA)</a:t>
            </a:r>
            <a:endParaRPr lang="en-US" sz="3200" dirty="0"/>
          </a:p>
        </p:txBody>
      </p:sp>
      <p:sp>
        <p:nvSpPr>
          <p:cNvPr id="3" name="Text 1"/>
          <p:cNvSpPr/>
          <p:nvPr/>
        </p:nvSpPr>
        <p:spPr>
          <a:xfrm>
            <a:off x="640080" y="1554480"/>
            <a:ext cx="612648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500" dirty="0">
                <a:solidFill>
                  <a:srgbClr val="1B1F3B"/>
                </a:solidFill>
                <a:latin typeface="Calibri" pitchFamily="34" charset="0"/>
                <a:ea typeface="Calibri" pitchFamily="34" charset="-122"/>
                <a:cs typeface="Calibri" pitchFamily="34" charset="-120"/>
              </a:rPr>
              <a:t>Normally, the CPU supervises every single data transfer — this wastes CPU time on repetitive I/O transfers.</a:t>
            </a:r>
            <a:endParaRPr lang="en-US" sz="1500" dirty="0"/>
          </a:p>
          <a:p>
            <a:pPr marL="342900" indent="-342900" algn="l">
              <a:lnSpc>
                <a:spcPct val="110000"/>
              </a:lnSpc>
              <a:spcAft>
                <a:spcPts val="1200"/>
              </a:spcAft>
              <a:buSzPct val="100000"/>
              <a:buChar char="▪"/>
            </a:pPr>
            <a:r>
              <a:rPr lang="en-US" sz="1500" dirty="0">
                <a:solidFill>
                  <a:srgbClr val="1B1F3B"/>
                </a:solidFill>
                <a:latin typeface="Calibri" pitchFamily="34" charset="0"/>
                <a:ea typeface="Calibri" pitchFamily="34" charset="-122"/>
                <a:cs typeface="Calibri" pitchFamily="34" charset="-120"/>
              </a:rPr>
              <a:t>DMA allows a dedicated DMA Controller to transfer data directly between memory and I/O devices, bypassing the CPU.</a:t>
            </a:r>
            <a:endParaRPr lang="en-US" sz="1500" dirty="0"/>
          </a:p>
          <a:p>
            <a:pPr marL="342900" indent="-342900" algn="l">
              <a:lnSpc>
                <a:spcPct val="110000"/>
              </a:lnSpc>
              <a:spcAft>
                <a:spcPts val="1200"/>
              </a:spcAft>
              <a:buSzPct val="100000"/>
              <a:buChar char="▪"/>
            </a:pPr>
            <a:r>
              <a:rPr lang="en-US" sz="1500" dirty="0">
                <a:solidFill>
                  <a:srgbClr val="1B1F3B"/>
                </a:solidFill>
                <a:latin typeface="Calibri" pitchFamily="34" charset="0"/>
                <a:ea typeface="Calibri" pitchFamily="34" charset="-122"/>
                <a:cs typeface="Calibri" pitchFamily="34" charset="-120"/>
              </a:rPr>
              <a:t>CPU only initiates the transfer (tells DMA controller: source, destination, size) then is free to do other work.</a:t>
            </a:r>
            <a:endParaRPr lang="en-US" sz="1500" dirty="0"/>
          </a:p>
          <a:p>
            <a:pPr marL="342900" indent="-342900" algn="l">
              <a:lnSpc>
                <a:spcPct val="110000"/>
              </a:lnSpc>
              <a:spcAft>
                <a:spcPts val="1200"/>
              </a:spcAft>
              <a:buSzPct val="100000"/>
              <a:buChar char="▪"/>
            </a:pPr>
            <a:r>
              <a:rPr lang="en-US" sz="1500" dirty="0">
                <a:solidFill>
                  <a:srgbClr val="1B1F3B"/>
                </a:solidFill>
                <a:latin typeface="Calibri" pitchFamily="34" charset="0"/>
                <a:ea typeface="Calibri" pitchFamily="34" charset="-122"/>
                <a:cs typeface="Calibri" pitchFamily="34" charset="-120"/>
              </a:rPr>
              <a:t>DMA controller signals the CPU (via interrupt) only when the entire transfer is complete.</a:t>
            </a:r>
            <a:endParaRPr lang="en-US" sz="1500" dirty="0"/>
          </a:p>
        </p:txBody>
      </p:sp>
      <p:sp>
        <p:nvSpPr>
          <p:cNvPr id="4" name="Shape 2"/>
          <p:cNvSpPr/>
          <p:nvPr/>
        </p:nvSpPr>
        <p:spPr>
          <a:xfrm>
            <a:off x="7040880" y="1737360"/>
            <a:ext cx="1828800" cy="822960"/>
          </a:xfrm>
          <a:prstGeom prst="roundRect">
            <a:avLst>
              <a:gd name="adj" fmla="val 8889"/>
            </a:avLst>
          </a:prstGeom>
          <a:solidFill>
            <a:srgbClr val="1E2761"/>
          </a:solidFill>
          <a:ln w="12700">
            <a:solidFill>
              <a:srgbClr val="1E2761"/>
            </a:solidFill>
            <a:prstDash val="solid"/>
          </a:ln>
        </p:spPr>
      </p:sp>
      <p:sp>
        <p:nvSpPr>
          <p:cNvPr id="5" name="Text 3"/>
          <p:cNvSpPr/>
          <p:nvPr/>
        </p:nvSpPr>
        <p:spPr>
          <a:xfrm>
            <a:off x="7040880" y="1737360"/>
            <a:ext cx="182880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CPU</a:t>
            </a:r>
            <a:endParaRPr lang="en-US" sz="1300" dirty="0"/>
          </a:p>
        </p:txBody>
      </p:sp>
      <p:sp>
        <p:nvSpPr>
          <p:cNvPr id="6" name="Shape 4"/>
          <p:cNvSpPr/>
          <p:nvPr/>
        </p:nvSpPr>
        <p:spPr>
          <a:xfrm>
            <a:off x="7040880" y="3291840"/>
            <a:ext cx="1828800" cy="822960"/>
          </a:xfrm>
          <a:prstGeom prst="roundRect">
            <a:avLst>
              <a:gd name="adj" fmla="val 8889"/>
            </a:avLst>
          </a:prstGeom>
          <a:solidFill>
            <a:srgbClr val="E8871E"/>
          </a:solidFill>
          <a:ln w="12700">
            <a:solidFill>
              <a:srgbClr val="1E2761"/>
            </a:solidFill>
            <a:prstDash val="solid"/>
          </a:ln>
        </p:spPr>
      </p:sp>
      <p:sp>
        <p:nvSpPr>
          <p:cNvPr id="7" name="Text 5"/>
          <p:cNvSpPr/>
          <p:nvPr/>
        </p:nvSpPr>
        <p:spPr>
          <a:xfrm>
            <a:off x="7040880" y="3291840"/>
            <a:ext cx="1828800" cy="8229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DMA</a:t>
            </a:r>
            <a:endParaRPr lang="en-US" sz="1100" dirty="0"/>
          </a:p>
          <a:p>
            <a:pPr marL="0" indent="0" algn="ctr">
              <a:buNone/>
            </a:pPr>
            <a:r>
              <a:rPr lang="en-US" sz="1100" b="1" dirty="0">
                <a:solidFill>
                  <a:srgbClr val="FFFFFF"/>
                </a:solidFill>
                <a:latin typeface="Calibri" pitchFamily="34" charset="0"/>
                <a:ea typeface="Calibri" pitchFamily="34" charset="-122"/>
                <a:cs typeface="Calibri" pitchFamily="34" charset="-120"/>
              </a:rPr>
              <a:t>Controller</a:t>
            </a:r>
            <a:endParaRPr lang="en-US" sz="1100" dirty="0"/>
          </a:p>
        </p:txBody>
      </p:sp>
      <p:sp>
        <p:nvSpPr>
          <p:cNvPr id="8" name="Shape 6"/>
          <p:cNvSpPr/>
          <p:nvPr/>
        </p:nvSpPr>
        <p:spPr>
          <a:xfrm>
            <a:off x="9692640" y="1737360"/>
            <a:ext cx="1920240" cy="822960"/>
          </a:xfrm>
          <a:prstGeom prst="roundRect">
            <a:avLst>
              <a:gd name="adj" fmla="val 8889"/>
            </a:avLst>
          </a:prstGeom>
          <a:solidFill>
            <a:srgbClr val="1E2761"/>
          </a:solidFill>
          <a:ln w="12700">
            <a:solidFill>
              <a:srgbClr val="1E2761"/>
            </a:solidFill>
            <a:prstDash val="solid"/>
          </a:ln>
        </p:spPr>
      </p:sp>
      <p:sp>
        <p:nvSpPr>
          <p:cNvPr id="9" name="Text 7"/>
          <p:cNvSpPr/>
          <p:nvPr/>
        </p:nvSpPr>
        <p:spPr>
          <a:xfrm>
            <a:off x="9692640" y="1737360"/>
            <a:ext cx="1920240" cy="82296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Memory</a:t>
            </a:r>
            <a:endParaRPr lang="en-US" sz="1300" dirty="0"/>
          </a:p>
        </p:txBody>
      </p:sp>
      <p:sp>
        <p:nvSpPr>
          <p:cNvPr id="10" name="Shape 8"/>
          <p:cNvSpPr/>
          <p:nvPr/>
        </p:nvSpPr>
        <p:spPr>
          <a:xfrm>
            <a:off x="9692640" y="3291840"/>
            <a:ext cx="1920240" cy="822960"/>
          </a:xfrm>
          <a:prstGeom prst="roundRect">
            <a:avLst>
              <a:gd name="adj" fmla="val 8889"/>
            </a:avLst>
          </a:prstGeom>
          <a:solidFill>
            <a:srgbClr val="1E2761"/>
          </a:solidFill>
          <a:ln w="12700">
            <a:solidFill>
              <a:srgbClr val="1E2761"/>
            </a:solidFill>
            <a:prstDash val="solid"/>
          </a:ln>
        </p:spPr>
      </p:sp>
      <p:sp>
        <p:nvSpPr>
          <p:cNvPr id="11" name="Text 9"/>
          <p:cNvSpPr/>
          <p:nvPr/>
        </p:nvSpPr>
        <p:spPr>
          <a:xfrm>
            <a:off x="9692640" y="3291840"/>
            <a:ext cx="1920240" cy="8229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I/O Device</a:t>
            </a:r>
            <a:endParaRPr lang="en-US" sz="1200" dirty="0"/>
          </a:p>
        </p:txBody>
      </p:sp>
      <p:sp>
        <p:nvSpPr>
          <p:cNvPr id="12" name="Shape 10"/>
          <p:cNvSpPr/>
          <p:nvPr/>
        </p:nvSpPr>
        <p:spPr>
          <a:xfrm>
            <a:off x="7680960" y="2560320"/>
            <a:ext cx="0" cy="731520"/>
          </a:xfrm>
          <a:prstGeom prst="line">
            <a:avLst/>
          </a:prstGeom>
          <a:noFill/>
          <a:ln w="28575">
            <a:solidFill>
              <a:srgbClr val="6B7280"/>
            </a:solidFill>
            <a:prstDash val="solid"/>
            <a:tailEnd type="triangle"/>
          </a:ln>
        </p:spPr>
      </p:sp>
      <p:sp>
        <p:nvSpPr>
          <p:cNvPr id="13" name="Text 11"/>
          <p:cNvSpPr/>
          <p:nvPr/>
        </p:nvSpPr>
        <p:spPr>
          <a:xfrm>
            <a:off x="7772400" y="2788920"/>
            <a:ext cx="1097280" cy="27432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initiate</a:t>
            </a:r>
            <a:endParaRPr lang="en-US" sz="900" dirty="0"/>
          </a:p>
        </p:txBody>
      </p:sp>
      <p:sp>
        <p:nvSpPr>
          <p:cNvPr id="14" name="Shape 12"/>
          <p:cNvSpPr/>
          <p:nvPr/>
        </p:nvSpPr>
        <p:spPr>
          <a:xfrm flipV="1">
            <a:off x="8869680" y="2286000"/>
            <a:ext cx="822960" cy="1234440"/>
          </a:xfrm>
          <a:prstGeom prst="line">
            <a:avLst/>
          </a:prstGeom>
          <a:noFill/>
          <a:ln w="28575">
            <a:solidFill>
              <a:srgbClr val="E8871E"/>
            </a:solidFill>
            <a:prstDash val="solid"/>
            <a:tailEnd type="triangle"/>
          </a:ln>
        </p:spPr>
      </p:sp>
      <p:sp>
        <p:nvSpPr>
          <p:cNvPr id="15" name="Shape 13"/>
          <p:cNvSpPr/>
          <p:nvPr/>
        </p:nvSpPr>
        <p:spPr>
          <a:xfrm>
            <a:off x="8869680" y="3703320"/>
            <a:ext cx="822960" cy="0"/>
          </a:xfrm>
          <a:prstGeom prst="line">
            <a:avLst/>
          </a:prstGeom>
          <a:noFill/>
          <a:ln w="28575">
            <a:solidFill>
              <a:srgbClr val="E8871E"/>
            </a:solidFill>
            <a:prstDash val="solid"/>
            <a:tailEnd type="triangle"/>
          </a:ln>
        </p:spPr>
      </p:sp>
      <p:sp>
        <p:nvSpPr>
          <p:cNvPr id="16" name="Text 14"/>
          <p:cNvSpPr/>
          <p:nvPr/>
        </p:nvSpPr>
        <p:spPr>
          <a:xfrm>
            <a:off x="6949440" y="4206240"/>
            <a:ext cx="4663440" cy="365760"/>
          </a:xfrm>
          <a:prstGeom prst="rect">
            <a:avLst/>
          </a:prstGeom>
          <a:noFill/>
          <a:ln/>
        </p:spPr>
        <p:txBody>
          <a:bodyPr wrap="square" rtlCol="0" anchor="ctr"/>
          <a:lstStyle/>
          <a:p>
            <a:pPr marL="0" indent="0">
              <a:buNone/>
            </a:pPr>
            <a:r>
              <a:rPr lang="en-US" sz="1050" i="1" dirty="0">
                <a:solidFill>
                  <a:srgbClr val="E8871E"/>
                </a:solidFill>
                <a:latin typeface="Calibri" pitchFamily="34" charset="0"/>
                <a:ea typeface="Calibri" pitchFamily="34" charset="-122"/>
                <a:cs typeface="Calibri" pitchFamily="34" charset="-120"/>
              </a:rPr>
              <a:t>direct transfer (bypasses CPU)</a:t>
            </a:r>
            <a:endParaRPr lang="en-US" sz="1050" dirty="0"/>
          </a:p>
        </p:txBody>
      </p:sp>
      <p:sp>
        <p:nvSpPr>
          <p:cNvPr id="17" name="Text 15"/>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8" name="Text 16"/>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Bus Arbitration — Why and How</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On a shared bus, multiple devices may want to use it at the same time — but only one can, at any instant.</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Bus Arbitration is the process of deciding which device gets control of the bus next.</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Centralized arbitration: a single bus arbiter (often built into the CPU or a controller) grants access based on requests.</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Distributed arbitration: devices negotiate among themselves using priority logic, without one central controller.</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Common priority schemes: Daisy Chaining, Polling, and Independent Request lines.</a:t>
            </a:r>
            <a:endParaRPr lang="en-US" sz="1550" dirty="0"/>
          </a:p>
        </p:txBody>
      </p:sp>
      <p:sp>
        <p:nvSpPr>
          <p:cNvPr id="4" name="Shape 2"/>
          <p:cNvSpPr/>
          <p:nvPr/>
        </p:nvSpPr>
        <p:spPr>
          <a:xfrm>
            <a:off x="914400" y="5212080"/>
            <a:ext cx="2286000" cy="594360"/>
          </a:xfrm>
          <a:prstGeom prst="roundRect">
            <a:avLst>
              <a:gd name="adj" fmla="val 12308"/>
            </a:avLst>
          </a:prstGeom>
          <a:solidFill>
            <a:srgbClr val="CADCFC"/>
          </a:solidFill>
          <a:ln w="12700">
            <a:solidFill>
              <a:srgbClr val="1E2761"/>
            </a:solidFill>
            <a:prstDash val="solid"/>
          </a:ln>
        </p:spPr>
      </p:sp>
      <p:sp>
        <p:nvSpPr>
          <p:cNvPr id="5" name="Text 3"/>
          <p:cNvSpPr/>
          <p:nvPr/>
        </p:nvSpPr>
        <p:spPr>
          <a:xfrm>
            <a:off x="914400" y="5212080"/>
            <a:ext cx="2286000" cy="5943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Device A</a:t>
            </a:r>
            <a:endParaRPr lang="en-US" sz="1100" dirty="0"/>
          </a:p>
        </p:txBody>
      </p:sp>
      <p:sp>
        <p:nvSpPr>
          <p:cNvPr id="6" name="Shape 4"/>
          <p:cNvSpPr/>
          <p:nvPr/>
        </p:nvSpPr>
        <p:spPr>
          <a:xfrm>
            <a:off x="3657600" y="5212080"/>
            <a:ext cx="2286000" cy="594360"/>
          </a:xfrm>
          <a:prstGeom prst="roundRect">
            <a:avLst>
              <a:gd name="adj" fmla="val 12308"/>
            </a:avLst>
          </a:prstGeom>
          <a:solidFill>
            <a:srgbClr val="CADCFC"/>
          </a:solidFill>
          <a:ln w="12700">
            <a:solidFill>
              <a:srgbClr val="1E2761"/>
            </a:solidFill>
            <a:prstDash val="solid"/>
          </a:ln>
        </p:spPr>
      </p:sp>
      <p:sp>
        <p:nvSpPr>
          <p:cNvPr id="7" name="Text 5"/>
          <p:cNvSpPr/>
          <p:nvPr/>
        </p:nvSpPr>
        <p:spPr>
          <a:xfrm>
            <a:off x="3657600" y="5212080"/>
            <a:ext cx="2286000" cy="5943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Device B</a:t>
            </a:r>
            <a:endParaRPr lang="en-US" sz="1100" dirty="0"/>
          </a:p>
        </p:txBody>
      </p:sp>
      <p:sp>
        <p:nvSpPr>
          <p:cNvPr id="8" name="Shape 6"/>
          <p:cNvSpPr/>
          <p:nvPr/>
        </p:nvSpPr>
        <p:spPr>
          <a:xfrm>
            <a:off x="6400800" y="5212080"/>
            <a:ext cx="2286000" cy="594360"/>
          </a:xfrm>
          <a:prstGeom prst="roundRect">
            <a:avLst>
              <a:gd name="adj" fmla="val 12308"/>
            </a:avLst>
          </a:prstGeom>
          <a:solidFill>
            <a:srgbClr val="CADCFC"/>
          </a:solidFill>
          <a:ln w="12700">
            <a:solidFill>
              <a:srgbClr val="1E2761"/>
            </a:solidFill>
            <a:prstDash val="solid"/>
          </a:ln>
        </p:spPr>
      </p:sp>
      <p:sp>
        <p:nvSpPr>
          <p:cNvPr id="9" name="Text 7"/>
          <p:cNvSpPr/>
          <p:nvPr/>
        </p:nvSpPr>
        <p:spPr>
          <a:xfrm>
            <a:off x="6400800" y="5212080"/>
            <a:ext cx="2286000" cy="594360"/>
          </a:xfrm>
          <a:prstGeom prst="rect">
            <a:avLst/>
          </a:prstGeom>
          <a:noFill/>
          <a:ln/>
        </p:spPr>
        <p:txBody>
          <a:bodyPr wrap="square" rtlCol="0" anchor="ctr"/>
          <a:lstStyle/>
          <a:p>
            <a:pPr marL="0" indent="0" algn="ctr">
              <a:buNone/>
            </a:pPr>
            <a:r>
              <a:rPr lang="en-US" sz="1100" b="1" dirty="0">
                <a:solidFill>
                  <a:srgbClr val="1E2761"/>
                </a:solidFill>
                <a:latin typeface="Calibri" pitchFamily="34" charset="0"/>
                <a:ea typeface="Calibri" pitchFamily="34" charset="-122"/>
                <a:cs typeface="Calibri" pitchFamily="34" charset="-120"/>
              </a:rPr>
              <a:t>Device C</a:t>
            </a:r>
            <a:endParaRPr lang="en-US" sz="1100" dirty="0"/>
          </a:p>
        </p:txBody>
      </p:sp>
      <p:sp>
        <p:nvSpPr>
          <p:cNvPr id="10" name="Shape 8"/>
          <p:cNvSpPr/>
          <p:nvPr/>
        </p:nvSpPr>
        <p:spPr>
          <a:xfrm>
            <a:off x="4937760" y="4206240"/>
            <a:ext cx="2286000" cy="594360"/>
          </a:xfrm>
          <a:prstGeom prst="roundRect">
            <a:avLst>
              <a:gd name="adj" fmla="val 12308"/>
            </a:avLst>
          </a:prstGeom>
          <a:solidFill>
            <a:srgbClr val="E8871E"/>
          </a:solidFill>
          <a:ln w="12700">
            <a:solidFill>
              <a:srgbClr val="1E2761"/>
            </a:solidFill>
            <a:prstDash val="solid"/>
          </a:ln>
        </p:spPr>
      </p:sp>
      <p:sp>
        <p:nvSpPr>
          <p:cNvPr id="11" name="Text 9"/>
          <p:cNvSpPr/>
          <p:nvPr/>
        </p:nvSpPr>
        <p:spPr>
          <a:xfrm>
            <a:off x="4937760" y="4206240"/>
            <a:ext cx="2286000" cy="5943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Bus Arbiter</a:t>
            </a:r>
            <a:endParaRPr lang="en-US" sz="1100" dirty="0"/>
          </a:p>
        </p:txBody>
      </p:sp>
      <p:sp>
        <p:nvSpPr>
          <p:cNvPr id="12" name="Shape 10"/>
          <p:cNvSpPr/>
          <p:nvPr/>
        </p:nvSpPr>
        <p:spPr>
          <a:xfrm flipV="1">
            <a:off x="2057400" y="4800600"/>
            <a:ext cx="3794760" cy="411480"/>
          </a:xfrm>
          <a:prstGeom prst="line">
            <a:avLst/>
          </a:prstGeom>
          <a:noFill/>
          <a:ln w="28575">
            <a:solidFill>
              <a:srgbClr val="6B7280"/>
            </a:solidFill>
            <a:prstDash val="solid"/>
            <a:tailEnd type="triangle"/>
          </a:ln>
        </p:spPr>
      </p:sp>
      <p:sp>
        <p:nvSpPr>
          <p:cNvPr id="13" name="Shape 11"/>
          <p:cNvSpPr/>
          <p:nvPr/>
        </p:nvSpPr>
        <p:spPr>
          <a:xfrm flipV="1">
            <a:off x="4800600" y="4800600"/>
            <a:ext cx="1051560" cy="411480"/>
          </a:xfrm>
          <a:prstGeom prst="line">
            <a:avLst/>
          </a:prstGeom>
          <a:noFill/>
          <a:ln w="28575">
            <a:solidFill>
              <a:srgbClr val="6B7280"/>
            </a:solidFill>
            <a:prstDash val="solid"/>
            <a:tailEnd type="triangle"/>
          </a:ln>
        </p:spPr>
      </p:sp>
      <p:sp>
        <p:nvSpPr>
          <p:cNvPr id="14" name="Shape 12"/>
          <p:cNvSpPr/>
          <p:nvPr/>
        </p:nvSpPr>
        <p:spPr>
          <a:xfrm flipH="1" flipV="1">
            <a:off x="5852160" y="4800600"/>
            <a:ext cx="1691640" cy="411480"/>
          </a:xfrm>
          <a:prstGeom prst="line">
            <a:avLst/>
          </a:prstGeom>
          <a:noFill/>
          <a:ln w="28575">
            <a:solidFill>
              <a:srgbClr val="6B7280"/>
            </a:solidFill>
            <a:prstDash val="solid"/>
            <a:tailEnd type="triangle"/>
          </a:ln>
        </p:spPr>
      </p:sp>
      <p:sp>
        <p:nvSpPr>
          <p:cNvPr id="15" name="Text 13"/>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6" name="Text 1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Real-World Example: Buses in Modern Systems</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PCIe (Peripheral Component Interconnect Express): high-speed bus connecting GPUs, SSDs, network cards to the motherboard.</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USB (Universal Serial Bus): the bus behind every pen drive, mouse, keyboard, and phone charger connection.</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DDR RAM interfaces: a specialized high-speed memory bus optimized purely for CPU-memory communication.</a:t>
            </a:r>
            <a:endParaRPr lang="en-US" sz="1600" dirty="0"/>
          </a:p>
          <a:p>
            <a:pPr marL="342900" indent="-342900" algn="l">
              <a:lnSpc>
                <a:spcPct val="110000"/>
              </a:lnSpc>
              <a:spcAft>
                <a:spcPts val="1200"/>
              </a:spcAft>
              <a:buSzPct val="100000"/>
              <a:buChar char="▪"/>
            </a:pPr>
            <a:r>
              <a:rPr lang="en-US" sz="1600" dirty="0">
                <a:solidFill>
                  <a:srgbClr val="1B1F3B"/>
                </a:solidFill>
                <a:latin typeface="Calibri" pitchFamily="34" charset="0"/>
                <a:ea typeface="Calibri" pitchFamily="34" charset="-122"/>
                <a:cs typeface="Calibri" pitchFamily="34" charset="-120"/>
              </a:rPr>
              <a:t>NVMe SSDs: use PCIe lanes as their data bus, which is why NVMe drives are dramatically faster than older SATA drives.</a:t>
            </a:r>
            <a:endParaRPr lang="en-US" sz="1600" dirty="0"/>
          </a:p>
        </p:txBody>
      </p:sp>
      <p:sp>
        <p:nvSpPr>
          <p:cNvPr id="4" name="Shape 2"/>
          <p:cNvSpPr/>
          <p:nvPr/>
        </p:nvSpPr>
        <p:spPr>
          <a:xfrm>
            <a:off x="822960" y="3946260"/>
            <a:ext cx="2423160" cy="914400"/>
          </a:xfrm>
          <a:prstGeom prst="roundRect">
            <a:avLst>
              <a:gd name="adj" fmla="val 8000"/>
            </a:avLst>
          </a:prstGeom>
          <a:solidFill>
            <a:srgbClr val="1E2761"/>
          </a:solidFill>
          <a:ln w="12700">
            <a:solidFill>
              <a:srgbClr val="1E2761"/>
            </a:solidFill>
            <a:prstDash val="solid"/>
          </a:ln>
        </p:spPr>
      </p:sp>
      <p:sp>
        <p:nvSpPr>
          <p:cNvPr id="5" name="Text 3"/>
          <p:cNvSpPr/>
          <p:nvPr/>
        </p:nvSpPr>
        <p:spPr>
          <a:xfrm>
            <a:off x="822960" y="3946260"/>
            <a:ext cx="2423160" cy="9144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PCIe</a:t>
            </a:r>
            <a:endParaRPr lang="en-US" sz="1500" dirty="0"/>
          </a:p>
        </p:txBody>
      </p:sp>
      <p:sp>
        <p:nvSpPr>
          <p:cNvPr id="6" name="Shape 4"/>
          <p:cNvSpPr/>
          <p:nvPr/>
        </p:nvSpPr>
        <p:spPr>
          <a:xfrm>
            <a:off x="3520440" y="3946260"/>
            <a:ext cx="2423160" cy="914400"/>
          </a:xfrm>
          <a:prstGeom prst="roundRect">
            <a:avLst>
              <a:gd name="adj" fmla="val 8000"/>
            </a:avLst>
          </a:prstGeom>
          <a:solidFill>
            <a:srgbClr val="1E2761"/>
          </a:solidFill>
          <a:ln w="12700">
            <a:solidFill>
              <a:srgbClr val="1E2761"/>
            </a:solidFill>
            <a:prstDash val="solid"/>
          </a:ln>
        </p:spPr>
      </p:sp>
      <p:sp>
        <p:nvSpPr>
          <p:cNvPr id="7" name="Text 5"/>
          <p:cNvSpPr/>
          <p:nvPr/>
        </p:nvSpPr>
        <p:spPr>
          <a:xfrm>
            <a:off x="3520440" y="3946260"/>
            <a:ext cx="2423160" cy="9144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USB</a:t>
            </a:r>
            <a:endParaRPr lang="en-US" sz="1500" dirty="0"/>
          </a:p>
        </p:txBody>
      </p:sp>
      <p:sp>
        <p:nvSpPr>
          <p:cNvPr id="8" name="Shape 6"/>
          <p:cNvSpPr/>
          <p:nvPr/>
        </p:nvSpPr>
        <p:spPr>
          <a:xfrm>
            <a:off x="6217920" y="3946260"/>
            <a:ext cx="2423160" cy="914400"/>
          </a:xfrm>
          <a:prstGeom prst="roundRect">
            <a:avLst>
              <a:gd name="adj" fmla="val 8000"/>
            </a:avLst>
          </a:prstGeom>
          <a:solidFill>
            <a:srgbClr val="1E2761"/>
          </a:solidFill>
          <a:ln w="12700">
            <a:solidFill>
              <a:srgbClr val="1E2761"/>
            </a:solidFill>
            <a:prstDash val="solid"/>
          </a:ln>
        </p:spPr>
      </p:sp>
      <p:sp>
        <p:nvSpPr>
          <p:cNvPr id="9" name="Text 7"/>
          <p:cNvSpPr/>
          <p:nvPr/>
        </p:nvSpPr>
        <p:spPr>
          <a:xfrm>
            <a:off x="6217920" y="3946260"/>
            <a:ext cx="2423160" cy="9144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DDR RAM</a:t>
            </a:r>
            <a:endParaRPr lang="en-US" sz="1500" dirty="0"/>
          </a:p>
        </p:txBody>
      </p:sp>
      <p:sp>
        <p:nvSpPr>
          <p:cNvPr id="10" name="Shape 8"/>
          <p:cNvSpPr/>
          <p:nvPr/>
        </p:nvSpPr>
        <p:spPr>
          <a:xfrm>
            <a:off x="8915400" y="3946260"/>
            <a:ext cx="2423160" cy="914400"/>
          </a:xfrm>
          <a:prstGeom prst="roundRect">
            <a:avLst>
              <a:gd name="adj" fmla="val 8000"/>
            </a:avLst>
          </a:prstGeom>
          <a:solidFill>
            <a:srgbClr val="1E2761"/>
          </a:solidFill>
          <a:ln w="12700">
            <a:solidFill>
              <a:srgbClr val="1E2761"/>
            </a:solidFill>
            <a:prstDash val="solid"/>
          </a:ln>
        </p:spPr>
      </p:sp>
      <p:sp>
        <p:nvSpPr>
          <p:cNvPr id="11" name="Text 9"/>
          <p:cNvSpPr/>
          <p:nvPr/>
        </p:nvSpPr>
        <p:spPr>
          <a:xfrm>
            <a:off x="8915400" y="3946260"/>
            <a:ext cx="2423160" cy="9144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NVMe</a:t>
            </a:r>
            <a:endParaRPr lang="en-US" sz="1500" dirty="0"/>
          </a:p>
        </p:txBody>
      </p:sp>
      <p:sp>
        <p:nvSpPr>
          <p:cNvPr id="12" name="Text 10"/>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3" name="Text 11"/>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Common Misconceptions &amp; Pitfalls</a:t>
            </a:r>
            <a:endParaRPr lang="en-US" sz="3200" dirty="0"/>
          </a:p>
        </p:txBody>
      </p:sp>
      <p:sp>
        <p:nvSpPr>
          <p:cNvPr id="3" name="Shape 1"/>
          <p:cNvSpPr/>
          <p:nvPr/>
        </p:nvSpPr>
        <p:spPr>
          <a:xfrm>
            <a:off x="640080" y="1554480"/>
            <a:ext cx="10881360" cy="1051560"/>
          </a:xfrm>
          <a:prstGeom prst="roundRect">
            <a:avLst>
              <a:gd name="adj" fmla="val 5217"/>
            </a:avLst>
          </a:prstGeom>
          <a:solidFill>
            <a:srgbClr val="CADCFC"/>
          </a:solidFill>
          <a:ln/>
        </p:spPr>
      </p:sp>
      <p:sp>
        <p:nvSpPr>
          <p:cNvPr id="4" name="Text 2"/>
          <p:cNvSpPr/>
          <p:nvPr/>
        </p:nvSpPr>
        <p:spPr>
          <a:xfrm>
            <a:off x="868680" y="1627632"/>
            <a:ext cx="1042416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Myth: 'A bus is a physical cable you can point to.'</a:t>
            </a:r>
            <a:endParaRPr lang="en-US" sz="1250" dirty="0"/>
          </a:p>
        </p:txBody>
      </p:sp>
      <p:sp>
        <p:nvSpPr>
          <p:cNvPr id="5" name="Text 3"/>
          <p:cNvSpPr/>
          <p:nvPr/>
        </p:nvSpPr>
        <p:spPr>
          <a:xfrm>
            <a:off x="868680" y="2057400"/>
            <a:ext cx="10424160" cy="457200"/>
          </a:xfrm>
          <a:prstGeom prst="rect">
            <a:avLst/>
          </a:prstGeom>
          <a:noFill/>
          <a:ln/>
        </p:spPr>
        <p:txBody>
          <a:bodyPr wrap="square" rtlCol="0" anchor="ctr"/>
          <a:lstStyle/>
          <a:p>
            <a:pPr marL="0" indent="0">
              <a:buNone/>
            </a:pPr>
            <a:r>
              <a:rPr lang="en-US" sz="1200" dirty="0">
                <a:solidFill>
                  <a:srgbClr val="1B1F3B"/>
                </a:solidFill>
                <a:latin typeface="Calibri" pitchFamily="34" charset="0"/>
                <a:ea typeface="Calibri" pitchFamily="34" charset="-122"/>
                <a:cs typeface="Calibri" pitchFamily="34" charset="-120"/>
              </a:rPr>
              <a:t>Reality: A bus is a set of shared electrical lines/traces — sometimes visible on a circuit board, sometimes internal to a chip.</a:t>
            </a:r>
            <a:endParaRPr lang="en-US" sz="1200" dirty="0"/>
          </a:p>
        </p:txBody>
      </p:sp>
      <p:sp>
        <p:nvSpPr>
          <p:cNvPr id="6" name="Shape 4"/>
          <p:cNvSpPr/>
          <p:nvPr/>
        </p:nvSpPr>
        <p:spPr>
          <a:xfrm>
            <a:off x="640080" y="2743200"/>
            <a:ext cx="10881360" cy="1051560"/>
          </a:xfrm>
          <a:prstGeom prst="roundRect">
            <a:avLst>
              <a:gd name="adj" fmla="val 5217"/>
            </a:avLst>
          </a:prstGeom>
          <a:solidFill>
            <a:srgbClr val="CADCFC"/>
          </a:solidFill>
          <a:ln/>
        </p:spPr>
      </p:sp>
      <p:sp>
        <p:nvSpPr>
          <p:cNvPr id="7" name="Text 5"/>
          <p:cNvSpPr/>
          <p:nvPr/>
        </p:nvSpPr>
        <p:spPr>
          <a:xfrm>
            <a:off x="868680" y="2816352"/>
            <a:ext cx="1042416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Myth: 'More bus width always means a faster computer.'</a:t>
            </a:r>
            <a:endParaRPr lang="en-US" sz="1250" dirty="0"/>
          </a:p>
        </p:txBody>
      </p:sp>
      <p:sp>
        <p:nvSpPr>
          <p:cNvPr id="8" name="Text 6"/>
          <p:cNvSpPr/>
          <p:nvPr/>
        </p:nvSpPr>
        <p:spPr>
          <a:xfrm>
            <a:off x="868680" y="3246120"/>
            <a:ext cx="10424160" cy="457200"/>
          </a:xfrm>
          <a:prstGeom prst="rect">
            <a:avLst/>
          </a:prstGeom>
          <a:noFill/>
          <a:ln/>
        </p:spPr>
        <p:txBody>
          <a:bodyPr wrap="square" rtlCol="0" anchor="ctr"/>
          <a:lstStyle/>
          <a:p>
            <a:pPr marL="0" indent="0">
              <a:buNone/>
            </a:pPr>
            <a:r>
              <a:rPr lang="en-US" sz="1200" dirty="0">
                <a:solidFill>
                  <a:srgbClr val="1B1F3B"/>
                </a:solidFill>
                <a:latin typeface="Calibri" pitchFamily="34" charset="0"/>
                <a:ea typeface="Calibri" pitchFamily="34" charset="-122"/>
                <a:cs typeface="Calibri" pitchFamily="34" charset="-120"/>
              </a:rPr>
              <a:t>Reality: Width matters, but so does clock speed, protocol overhead, and how devices use the bus.</a:t>
            </a:r>
            <a:endParaRPr lang="en-US" sz="1200" dirty="0"/>
          </a:p>
        </p:txBody>
      </p:sp>
      <p:sp>
        <p:nvSpPr>
          <p:cNvPr id="9" name="Shape 7"/>
          <p:cNvSpPr/>
          <p:nvPr/>
        </p:nvSpPr>
        <p:spPr>
          <a:xfrm>
            <a:off x="640080" y="3931920"/>
            <a:ext cx="10881360" cy="1051560"/>
          </a:xfrm>
          <a:prstGeom prst="roundRect">
            <a:avLst>
              <a:gd name="adj" fmla="val 5217"/>
            </a:avLst>
          </a:prstGeom>
          <a:solidFill>
            <a:srgbClr val="CADCFC"/>
          </a:solidFill>
          <a:ln/>
        </p:spPr>
      </p:sp>
      <p:sp>
        <p:nvSpPr>
          <p:cNvPr id="10" name="Text 8"/>
          <p:cNvSpPr/>
          <p:nvPr/>
        </p:nvSpPr>
        <p:spPr>
          <a:xfrm>
            <a:off x="868680" y="4005072"/>
            <a:ext cx="1042416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Myth: 'Synchronous transfer is always better than asynchronous.'</a:t>
            </a:r>
            <a:endParaRPr lang="en-US" sz="1250" dirty="0"/>
          </a:p>
        </p:txBody>
      </p:sp>
      <p:sp>
        <p:nvSpPr>
          <p:cNvPr id="11" name="Text 9"/>
          <p:cNvSpPr/>
          <p:nvPr/>
        </p:nvSpPr>
        <p:spPr>
          <a:xfrm>
            <a:off x="868680" y="4434840"/>
            <a:ext cx="10424160" cy="457200"/>
          </a:xfrm>
          <a:prstGeom prst="rect">
            <a:avLst/>
          </a:prstGeom>
          <a:noFill/>
          <a:ln/>
        </p:spPr>
        <p:txBody>
          <a:bodyPr wrap="square" rtlCol="0" anchor="ctr"/>
          <a:lstStyle/>
          <a:p>
            <a:pPr marL="0" indent="0">
              <a:buNone/>
            </a:pPr>
            <a:r>
              <a:rPr lang="en-US" sz="1200" dirty="0">
                <a:solidFill>
                  <a:srgbClr val="1B1F3B"/>
                </a:solidFill>
                <a:latin typeface="Calibri" pitchFamily="34" charset="0"/>
                <a:ea typeface="Calibri" pitchFamily="34" charset="-122"/>
                <a:cs typeface="Calibri" pitchFamily="34" charset="-120"/>
              </a:rPr>
              <a:t>Reality: Each has trade-offs; asynchronous is essential when device speeds vary widely.</a:t>
            </a:r>
            <a:endParaRPr lang="en-US" sz="1200" dirty="0"/>
          </a:p>
        </p:txBody>
      </p:sp>
      <p:sp>
        <p:nvSpPr>
          <p:cNvPr id="12" name="Shape 10"/>
          <p:cNvSpPr/>
          <p:nvPr/>
        </p:nvSpPr>
        <p:spPr>
          <a:xfrm>
            <a:off x="640080" y="5120640"/>
            <a:ext cx="10881360" cy="1051560"/>
          </a:xfrm>
          <a:prstGeom prst="roundRect">
            <a:avLst>
              <a:gd name="adj" fmla="val 5217"/>
            </a:avLst>
          </a:prstGeom>
          <a:solidFill>
            <a:srgbClr val="CADCFC"/>
          </a:solidFill>
          <a:ln/>
        </p:spPr>
      </p:sp>
      <p:sp>
        <p:nvSpPr>
          <p:cNvPr id="13" name="Text 11"/>
          <p:cNvSpPr/>
          <p:nvPr/>
        </p:nvSpPr>
        <p:spPr>
          <a:xfrm>
            <a:off x="868680" y="5193792"/>
            <a:ext cx="10424160" cy="411480"/>
          </a:xfrm>
          <a:prstGeom prst="rect">
            <a:avLst/>
          </a:prstGeom>
          <a:noFill/>
          <a:ln/>
        </p:spPr>
        <p:txBody>
          <a:bodyPr wrap="square" rtlCol="0" anchor="ctr"/>
          <a:lstStyle/>
          <a:p>
            <a:pPr marL="0" indent="0">
              <a:buNone/>
            </a:pPr>
            <a:r>
              <a:rPr lang="en-US" sz="1250" b="1" dirty="0">
                <a:solidFill>
                  <a:srgbClr val="1E2761"/>
                </a:solidFill>
                <a:latin typeface="Calibri" pitchFamily="34" charset="0"/>
                <a:ea typeface="Calibri" pitchFamily="34" charset="-122"/>
                <a:cs typeface="Calibri" pitchFamily="34" charset="-120"/>
              </a:rPr>
              <a:t>Myth: 'DMA replaces the CPU entirely for I/O.'</a:t>
            </a:r>
            <a:endParaRPr lang="en-US" sz="1250" dirty="0"/>
          </a:p>
        </p:txBody>
      </p:sp>
      <p:sp>
        <p:nvSpPr>
          <p:cNvPr id="14" name="Text 12"/>
          <p:cNvSpPr/>
          <p:nvPr/>
        </p:nvSpPr>
        <p:spPr>
          <a:xfrm>
            <a:off x="868680" y="5623560"/>
            <a:ext cx="10424160" cy="457200"/>
          </a:xfrm>
          <a:prstGeom prst="rect">
            <a:avLst/>
          </a:prstGeom>
          <a:noFill/>
          <a:ln/>
        </p:spPr>
        <p:txBody>
          <a:bodyPr wrap="square" rtlCol="0" anchor="ctr"/>
          <a:lstStyle/>
          <a:p>
            <a:pPr marL="0" indent="0">
              <a:buNone/>
            </a:pPr>
            <a:r>
              <a:rPr lang="en-US" sz="1200" dirty="0">
                <a:solidFill>
                  <a:srgbClr val="1B1F3B"/>
                </a:solidFill>
                <a:latin typeface="Calibri" pitchFamily="34" charset="0"/>
                <a:ea typeface="Calibri" pitchFamily="34" charset="-122"/>
                <a:cs typeface="Calibri" pitchFamily="34" charset="-120"/>
              </a:rPr>
              <a:t>Reality: DMA only handles the data movement; the CPU still initiates and is notified on completion.</a:t>
            </a:r>
            <a:endParaRPr lang="en-US" sz="1200" dirty="0"/>
          </a:p>
        </p:txBody>
      </p:sp>
      <p:sp>
        <p:nvSpPr>
          <p:cNvPr id="15" name="Text 13"/>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16" name="Text 1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Quick Check: Think–Pair–Share</a:t>
            </a:r>
            <a:endParaRPr lang="en-US" sz="3200" dirty="0"/>
          </a:p>
        </p:txBody>
      </p:sp>
      <p:sp>
        <p:nvSpPr>
          <p:cNvPr id="3" name="Shape 1"/>
          <p:cNvSpPr/>
          <p:nvPr/>
        </p:nvSpPr>
        <p:spPr>
          <a:xfrm>
            <a:off x="640080" y="1554480"/>
            <a:ext cx="10881360" cy="4206240"/>
          </a:xfrm>
          <a:prstGeom prst="roundRect">
            <a:avLst>
              <a:gd name="adj" fmla="val 2174"/>
            </a:avLst>
          </a:prstGeom>
          <a:solidFill>
            <a:srgbClr val="24306E"/>
          </a:solidFill>
          <a:ln/>
        </p:spPr>
      </p:sp>
      <p:sp>
        <p:nvSpPr>
          <p:cNvPr id="4" name="Text 2"/>
          <p:cNvSpPr/>
          <p:nvPr/>
        </p:nvSpPr>
        <p:spPr>
          <a:xfrm>
            <a:off x="1005840" y="1920240"/>
            <a:ext cx="10149840" cy="3474720"/>
          </a:xfrm>
          <a:prstGeom prst="rect">
            <a:avLst/>
          </a:prstGeom>
          <a:noFill/>
          <a:ln/>
        </p:spPr>
        <p:txBody>
          <a:bodyPr wrap="square" rtlCol="0" anchor="ctr"/>
          <a:lstStyle/>
          <a:p>
            <a:pPr marL="0" indent="0">
              <a:lnSpc>
                <a:spcPct val="120000"/>
              </a:lnSpc>
              <a:spcAft>
                <a:spcPts val="1600"/>
              </a:spcAft>
              <a:buNone/>
            </a:pPr>
            <a:r>
              <a:rPr lang="en-US" sz="1700" b="1" dirty="0">
                <a:solidFill>
                  <a:srgbClr val="FFFFFF"/>
                </a:solidFill>
                <a:latin typeface="Calibri" pitchFamily="34" charset="0"/>
                <a:ea typeface="Calibri" pitchFamily="34" charset="-122"/>
                <a:cs typeface="Calibri" pitchFamily="34" charset="-120"/>
              </a:rPr>
              <a:t>In pairs, discuss for 2 minutes:</a:t>
            </a:r>
            <a:endParaRPr lang="en-US" sz="1700" dirty="0"/>
          </a:p>
          <a:p>
            <a:pPr marL="0" indent="0">
              <a:lnSpc>
                <a:spcPct val="120000"/>
              </a:lnSpc>
              <a:spcAft>
                <a:spcPts val="1600"/>
              </a:spcAft>
              <a:buNone/>
            </a:pPr>
            <a:r>
              <a:rPr lang="en-US" sz="1700" dirty="0">
                <a:solidFill>
                  <a:srgbClr val="FFFFFF"/>
                </a:solidFill>
                <a:latin typeface="Calibri" pitchFamily="34" charset="0"/>
                <a:ea typeface="Calibri" pitchFamily="34" charset="-122"/>
                <a:cs typeface="Calibri" pitchFamily="34" charset="-120"/>
              </a:rPr>
              <a:t>• A friend says, “my new laptop has a faster processor, but file transfers from my pen drive still feel slow.” Using today's concepts, explain ONE possible bus-related reason why.</a:t>
            </a:r>
            <a:endParaRPr lang="en-US" sz="1700" dirty="0"/>
          </a:p>
          <a:p>
            <a:pPr marL="0" indent="0">
              <a:lnSpc>
                <a:spcPct val="120000"/>
              </a:lnSpc>
              <a:spcAft>
                <a:spcPts val="1600"/>
              </a:spcAft>
              <a:buNone/>
            </a:pPr>
            <a:r>
              <a:rPr lang="en-US" sz="1700" dirty="0">
                <a:solidFill>
                  <a:srgbClr val="FFFFFF"/>
                </a:solidFill>
                <a:latin typeface="Calibri" pitchFamily="34" charset="0"/>
                <a:ea typeface="Calibri" pitchFamily="34" charset="-122"/>
                <a:cs typeface="Calibri" pitchFamily="34" charset="-120"/>
              </a:rPr>
              <a:t>• Bonus: Is this more likely a bus-width issue, a bus-speed issue, or a data-transfer-mechanism issue?</a:t>
            </a:r>
            <a:endParaRPr lang="en-US" sz="1700" dirty="0"/>
          </a:p>
        </p:txBody>
      </p:sp>
      <p:sp>
        <p:nvSpPr>
          <p:cNvPr id="5" name="Text 3"/>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Summary of Key Points</a:t>
            </a:r>
            <a:endParaRPr lang="en-US" sz="3200" dirty="0"/>
          </a:p>
        </p:txBody>
      </p:sp>
      <p:sp>
        <p:nvSpPr>
          <p:cNvPr id="3" name="Text 1"/>
          <p:cNvSpPr/>
          <p:nvPr/>
        </p:nvSpPr>
        <p:spPr>
          <a:xfrm>
            <a:off x="640080" y="1554480"/>
            <a:ext cx="10972800" cy="4389120"/>
          </a:xfrm>
          <a:prstGeom prst="rect">
            <a:avLst/>
          </a:prstGeom>
          <a:noFill/>
          <a:ln/>
        </p:spPr>
        <p:txBody>
          <a:bodyPr wrap="square" rtlCol="0" anchor="t"/>
          <a:lstStyle/>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The CPU operates on a continuous Fetch → Decode → Execute cycle, coordinated by registers PC, IR, MAR, MBR.</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A bus is a shared communication pathway carrying address, data, and control information.</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Systems may use a single shared bus (simple, cheaper) or multiple buses (faster, more scalable).</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Processor–memory communication happens through Read and Write operations, each a precise sequence of bus activity.</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Data transfer can be Synchronous (shared clock) or Asynchronous (handshaking) — each suited to different needs.</a:t>
            </a:r>
            <a:endParaRPr lang="en-US" sz="1550" dirty="0"/>
          </a:p>
          <a:p>
            <a:pPr marL="342900" indent="-342900" algn="l">
              <a:lnSpc>
                <a:spcPct val="110000"/>
              </a:lnSpc>
              <a:spcAft>
                <a:spcPts val="1200"/>
              </a:spcAft>
              <a:buSzPct val="100000"/>
              <a:buChar char="▪"/>
            </a:pPr>
            <a:r>
              <a:rPr lang="en-US" sz="1550" dirty="0">
                <a:solidFill>
                  <a:srgbClr val="1B1F3B"/>
                </a:solidFill>
                <a:latin typeface="Calibri" pitchFamily="34" charset="0"/>
                <a:ea typeface="Calibri" pitchFamily="34" charset="-122"/>
                <a:cs typeface="Calibri" pitchFamily="34" charset="-120"/>
              </a:rPr>
              <a:t>DMA offloads bulk data transfer from the CPU; Bus Arbitration resolves competing requests for the shared bus.</a:t>
            </a:r>
            <a:endParaRPr lang="en-US" sz="155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Quiz — CSS2257: Basic Operational Concepts &amp; Bus Structures</a:t>
            </a:r>
            <a:endParaRPr lang="en-US" sz="3200" dirty="0"/>
          </a:p>
        </p:txBody>
      </p:sp>
      <p:sp>
        <p:nvSpPr>
          <p:cNvPr id="3" name="Text 1"/>
          <p:cNvSpPr/>
          <p:nvPr/>
        </p:nvSpPr>
        <p:spPr>
          <a:xfrm>
            <a:off x="640080" y="1508760"/>
            <a:ext cx="10972800" cy="4572000"/>
          </a:xfrm>
          <a:prstGeom prst="rect">
            <a:avLst/>
          </a:prstGeom>
          <a:noFill/>
          <a:ln/>
        </p:spPr>
        <p:txBody>
          <a:bodyPr wrap="square" rtlCol="0" anchor="ctr"/>
          <a:lstStyle/>
          <a:p>
            <a:pPr marL="342900" indent="-342900">
              <a:lnSpc>
                <a:spcPct val="115000"/>
              </a:lnSpc>
              <a:spcAft>
                <a:spcPts val="1400"/>
              </a:spcAft>
              <a:buSzPct val="100000"/>
              <a:buChar char="▪"/>
            </a:pPr>
            <a:r>
              <a:rPr lang="en-US" sz="1450" dirty="0">
                <a:solidFill>
                  <a:srgbClr val="1B1F3B"/>
                </a:solidFill>
                <a:latin typeface="Calibri" pitchFamily="34" charset="0"/>
                <a:ea typeface="Calibri" pitchFamily="34" charset="-122"/>
                <a:cs typeface="Calibri" pitchFamily="34" charset="-120"/>
              </a:rPr>
              <a:t>Q1. (MCQ) Which bus carries the memory address the CPU wants to access? (a) Data Bus (b) Address Bus (c) Control Bus (d) System Bus</a:t>
            </a:r>
            <a:endParaRPr lang="en-US" sz="1450" dirty="0"/>
          </a:p>
          <a:p>
            <a:pPr marL="342900" indent="-342900">
              <a:lnSpc>
                <a:spcPct val="115000"/>
              </a:lnSpc>
              <a:spcAft>
                <a:spcPts val="1400"/>
              </a:spcAft>
              <a:buSzPct val="100000"/>
              <a:buChar char="▪"/>
            </a:pPr>
            <a:r>
              <a:rPr lang="en-US" sz="1450" dirty="0">
                <a:solidFill>
                  <a:srgbClr val="1B1F3B"/>
                </a:solidFill>
                <a:latin typeface="Calibri" pitchFamily="34" charset="0"/>
                <a:ea typeface="Calibri" pitchFamily="34" charset="-122"/>
                <a:cs typeface="Calibri" pitchFamily="34" charset="-120"/>
              </a:rPr>
              <a:t>Q2. (True/False) The data bus is unidirectional — it can only carry data from memory to the CPU.</a:t>
            </a:r>
            <a:endParaRPr lang="en-US" sz="1450" dirty="0"/>
          </a:p>
          <a:p>
            <a:pPr marL="342900" indent="-342900">
              <a:lnSpc>
                <a:spcPct val="115000"/>
              </a:lnSpc>
              <a:spcAft>
                <a:spcPts val="1400"/>
              </a:spcAft>
              <a:buSzPct val="100000"/>
              <a:buChar char="▪"/>
            </a:pPr>
            <a:r>
              <a:rPr lang="en-US" sz="1450" dirty="0">
                <a:solidFill>
                  <a:srgbClr val="1B1F3B"/>
                </a:solidFill>
                <a:latin typeface="Calibri" pitchFamily="34" charset="0"/>
                <a:ea typeface="Calibri" pitchFamily="34" charset="-122"/>
                <a:cs typeface="Calibri" pitchFamily="34" charset="-120"/>
              </a:rPr>
              <a:t>Q3. (MCQ) Which register holds the address of the NEXT instruction to be fetched? (a) MBR (b) IR (c) PC (d) MAR</a:t>
            </a:r>
            <a:endParaRPr lang="en-US" sz="1450" dirty="0"/>
          </a:p>
          <a:p>
            <a:pPr marL="342900" indent="-342900">
              <a:lnSpc>
                <a:spcPct val="115000"/>
              </a:lnSpc>
              <a:spcAft>
                <a:spcPts val="1400"/>
              </a:spcAft>
              <a:buSzPct val="100000"/>
              <a:buChar char="▪"/>
            </a:pPr>
            <a:r>
              <a:rPr lang="en-US" sz="1450" dirty="0">
                <a:solidFill>
                  <a:srgbClr val="1B1F3B"/>
                </a:solidFill>
                <a:latin typeface="Calibri" pitchFamily="34" charset="0"/>
                <a:ea typeface="Calibri" pitchFamily="34" charset="-122"/>
                <a:cs typeface="Calibri" pitchFamily="34" charset="-120"/>
              </a:rPr>
              <a:t>Q4. (True/False) In asynchronous data transfer, sender and receiver rely on a shared clock signal.</a:t>
            </a:r>
            <a:endParaRPr lang="en-US" sz="1450" dirty="0"/>
          </a:p>
          <a:p>
            <a:pPr marL="342900" indent="-342900">
              <a:lnSpc>
                <a:spcPct val="115000"/>
              </a:lnSpc>
              <a:spcAft>
                <a:spcPts val="1400"/>
              </a:spcAft>
              <a:buSzPct val="100000"/>
              <a:buChar char="▪"/>
            </a:pPr>
            <a:r>
              <a:rPr lang="en-US" sz="1450" dirty="0">
                <a:solidFill>
                  <a:srgbClr val="1B1F3B"/>
                </a:solidFill>
                <a:latin typeface="Calibri" pitchFamily="34" charset="0"/>
                <a:ea typeface="Calibri" pitchFamily="34" charset="-122"/>
                <a:cs typeface="Calibri" pitchFamily="34" charset="-120"/>
              </a:rPr>
              <a:t>Q5. (Short Answer) Name the two fundamental operations used in processor–memory communication.</a:t>
            </a:r>
            <a:endParaRPr lang="en-US" sz="1450" dirty="0"/>
          </a:p>
          <a:p>
            <a:pPr marL="342900" indent="-342900">
              <a:lnSpc>
                <a:spcPct val="115000"/>
              </a:lnSpc>
              <a:spcAft>
                <a:spcPts val="1400"/>
              </a:spcAft>
              <a:buSzPct val="100000"/>
              <a:buChar char="▪"/>
            </a:pPr>
            <a:r>
              <a:rPr lang="en-US" sz="1450" dirty="0">
                <a:solidFill>
                  <a:srgbClr val="1B1F3B"/>
                </a:solidFill>
                <a:latin typeface="Calibri" pitchFamily="34" charset="0"/>
                <a:ea typeface="Calibri" pitchFamily="34" charset="-122"/>
                <a:cs typeface="Calibri" pitchFamily="34" charset="-120"/>
              </a:rPr>
              <a:t>Q6. (Short Answer) What is the main advantage of DMA over CPU-supervised I/O transfer?</a:t>
            </a:r>
            <a:endParaRPr lang="en-US" sz="145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Quiz Answers — CSS2257</a:t>
            </a:r>
            <a:endParaRPr lang="en-US" sz="3200" dirty="0"/>
          </a:p>
        </p:txBody>
      </p:sp>
      <p:sp>
        <p:nvSpPr>
          <p:cNvPr id="3" name="Text 1"/>
          <p:cNvSpPr/>
          <p:nvPr/>
        </p:nvSpPr>
        <p:spPr>
          <a:xfrm>
            <a:off x="640080" y="1508760"/>
            <a:ext cx="10972800" cy="4572000"/>
          </a:xfrm>
          <a:prstGeom prst="rect">
            <a:avLst/>
          </a:prstGeom>
          <a:noFill/>
          <a:ln/>
        </p:spPr>
        <p:txBody>
          <a:bodyPr wrap="square" rtlCol="0" anchor="ctr"/>
          <a:lstStyle/>
          <a:p>
            <a:pPr marL="342900" indent="-342900">
              <a:lnSpc>
                <a:spcPct val="115000"/>
              </a:lnSpc>
              <a:spcAft>
                <a:spcPts val="1300"/>
              </a:spcAft>
              <a:buSzPct val="100000"/>
              <a:buChar char="▪"/>
            </a:pPr>
            <a:r>
              <a:rPr lang="en-US" sz="1400" dirty="0">
                <a:solidFill>
                  <a:srgbClr val="1B1F3B"/>
                </a:solidFill>
                <a:latin typeface="Calibri" pitchFamily="34" charset="0"/>
                <a:ea typeface="Calibri" pitchFamily="34" charset="-122"/>
                <a:cs typeface="Calibri" pitchFamily="34" charset="-120"/>
              </a:rPr>
              <a:t>A1. (b) Address Bus — it carries the address of the memory location being accessed.</a:t>
            </a:r>
            <a:endParaRPr lang="en-US" sz="1400" dirty="0"/>
          </a:p>
          <a:p>
            <a:pPr marL="342900" indent="-342900">
              <a:lnSpc>
                <a:spcPct val="115000"/>
              </a:lnSpc>
              <a:spcAft>
                <a:spcPts val="1300"/>
              </a:spcAft>
              <a:buSzPct val="100000"/>
              <a:buChar char="▪"/>
            </a:pPr>
            <a:r>
              <a:rPr lang="en-US" sz="1400" dirty="0">
                <a:solidFill>
                  <a:srgbClr val="1B1F3B"/>
                </a:solidFill>
                <a:latin typeface="Calibri" pitchFamily="34" charset="0"/>
                <a:ea typeface="Calibri" pitchFamily="34" charset="-122"/>
                <a:cs typeface="Calibri" pitchFamily="34" charset="-120"/>
              </a:rPr>
              <a:t>A2. False — the data bus is bidirectional; it carries data both to and from the CPU.</a:t>
            </a:r>
            <a:endParaRPr lang="en-US" sz="1400" dirty="0"/>
          </a:p>
          <a:p>
            <a:pPr marL="342900" indent="-342900">
              <a:lnSpc>
                <a:spcPct val="115000"/>
              </a:lnSpc>
              <a:spcAft>
                <a:spcPts val="1300"/>
              </a:spcAft>
              <a:buSzPct val="100000"/>
              <a:buChar char="▪"/>
            </a:pPr>
            <a:r>
              <a:rPr lang="en-US" sz="1400" dirty="0">
                <a:solidFill>
                  <a:srgbClr val="1B1F3B"/>
                </a:solidFill>
                <a:latin typeface="Calibri" pitchFamily="34" charset="0"/>
                <a:ea typeface="Calibri" pitchFamily="34" charset="-122"/>
                <a:cs typeface="Calibri" pitchFamily="34" charset="-120"/>
              </a:rPr>
              <a:t>A3. (c) PC (Program Counter) — always holds the address of the next instruction.</a:t>
            </a:r>
            <a:endParaRPr lang="en-US" sz="1400" dirty="0"/>
          </a:p>
          <a:p>
            <a:pPr marL="342900" indent="-342900">
              <a:lnSpc>
                <a:spcPct val="115000"/>
              </a:lnSpc>
              <a:spcAft>
                <a:spcPts val="1300"/>
              </a:spcAft>
              <a:buSzPct val="100000"/>
              <a:buChar char="▪"/>
            </a:pPr>
            <a:r>
              <a:rPr lang="en-US" sz="1400" dirty="0">
                <a:solidFill>
                  <a:srgbClr val="1B1F3B"/>
                </a:solidFill>
                <a:latin typeface="Calibri" pitchFamily="34" charset="0"/>
                <a:ea typeface="Calibri" pitchFamily="34" charset="-122"/>
                <a:cs typeface="Calibri" pitchFamily="34" charset="-120"/>
              </a:rPr>
              <a:t>A4. False — asynchronous transfer uses handshaking signals (Ready/Acknowledge), not a shared clock.</a:t>
            </a:r>
            <a:endParaRPr lang="en-US" sz="1400" dirty="0"/>
          </a:p>
          <a:p>
            <a:pPr marL="342900" indent="-342900">
              <a:lnSpc>
                <a:spcPct val="115000"/>
              </a:lnSpc>
              <a:spcAft>
                <a:spcPts val="1300"/>
              </a:spcAft>
              <a:buSzPct val="100000"/>
              <a:buChar char="▪"/>
            </a:pPr>
            <a:r>
              <a:rPr lang="en-US" sz="1400" dirty="0">
                <a:solidFill>
                  <a:srgbClr val="1B1F3B"/>
                </a:solidFill>
                <a:latin typeface="Calibri" pitchFamily="34" charset="0"/>
                <a:ea typeface="Calibri" pitchFamily="34" charset="-122"/>
                <a:cs typeface="Calibri" pitchFamily="34" charset="-120"/>
              </a:rPr>
              <a:t>A5. Read and Write — every processor-memory interaction reduces to one of these two operations.</a:t>
            </a:r>
            <a:endParaRPr lang="en-US" sz="1400" dirty="0"/>
          </a:p>
          <a:p>
            <a:pPr marL="342900" indent="-342900">
              <a:lnSpc>
                <a:spcPct val="115000"/>
              </a:lnSpc>
              <a:spcAft>
                <a:spcPts val="1300"/>
              </a:spcAft>
              <a:buSzPct val="100000"/>
              <a:buChar char="▪"/>
            </a:pPr>
            <a:r>
              <a:rPr lang="en-US" sz="1400" dirty="0">
                <a:solidFill>
                  <a:srgbClr val="1B1F3B"/>
                </a:solidFill>
                <a:latin typeface="Calibri" pitchFamily="34" charset="0"/>
                <a:ea typeface="Calibri" pitchFamily="34" charset="-122"/>
                <a:cs typeface="Calibri" pitchFamily="34" charset="-120"/>
              </a:rPr>
              <a:t>A6. DMA frees the CPU from supervising every transfer cycle, letting it do other work while the DMA controller handles bulk data movement directly between memory and I/O.</a:t>
            </a:r>
            <a:endParaRPr lang="en-US" sz="1400" dirty="0"/>
          </a:p>
        </p:txBody>
      </p:sp>
      <p:sp>
        <p:nvSpPr>
          <p:cNvPr id="4" name="Text 2"/>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6B7280"/>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5" name="Text 3"/>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411480"/>
            <a:ext cx="11094415" cy="822960"/>
          </a:xfrm>
          <a:prstGeom prst="rect">
            <a:avLst/>
          </a:prstGeom>
          <a:noFill/>
          <a:ln/>
        </p:spPr>
        <p:txBody>
          <a:bodyPr wrap="square"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Further Reading &amp; What's Next</a:t>
            </a:r>
            <a:endParaRPr lang="en-US" sz="3200" dirty="0"/>
          </a:p>
        </p:txBody>
      </p:sp>
      <p:sp>
        <p:nvSpPr>
          <p:cNvPr id="3" name="Text 1"/>
          <p:cNvSpPr/>
          <p:nvPr/>
        </p:nvSpPr>
        <p:spPr>
          <a:xfrm>
            <a:off x="822960" y="1645920"/>
            <a:ext cx="10515600" cy="4206240"/>
          </a:xfrm>
          <a:prstGeom prst="rect">
            <a:avLst/>
          </a:prstGeom>
          <a:noFill/>
          <a:ln/>
        </p:spPr>
        <p:txBody>
          <a:bodyPr wrap="square" rtlCol="0" anchor="ctr"/>
          <a:lstStyle/>
          <a:p>
            <a:pPr marL="0" indent="0">
              <a:lnSpc>
                <a:spcPct val="115000"/>
              </a:lnSpc>
              <a:spcAft>
                <a:spcPts val="1000"/>
              </a:spcAft>
              <a:buNone/>
            </a:pPr>
            <a:r>
              <a:rPr lang="en-US" sz="1600" b="1" dirty="0">
                <a:solidFill>
                  <a:srgbClr val="E8871E"/>
                </a:solidFill>
                <a:latin typeface="Calibri" pitchFamily="34" charset="0"/>
                <a:ea typeface="Calibri" pitchFamily="34" charset="-122"/>
                <a:cs typeface="Calibri" pitchFamily="34" charset="-120"/>
              </a:rPr>
              <a:t>Recommended Reading:</a:t>
            </a:r>
            <a:endParaRPr lang="en-US" sz="1600" dirty="0"/>
          </a:p>
          <a:p>
            <a:pPr marL="0" indent="0">
              <a:lnSpc>
                <a:spcPct val="115000"/>
              </a:lnSpc>
              <a:spcAft>
                <a:spcPts val="1000"/>
              </a:spcAft>
              <a:buNone/>
            </a:pPr>
            <a:r>
              <a:rPr lang="en-US" sz="1600" dirty="0">
                <a:solidFill>
                  <a:srgbClr val="FFFFFF"/>
                </a:solidFill>
                <a:latin typeface="Calibri" pitchFamily="34" charset="0"/>
                <a:ea typeface="Calibri" pitchFamily="34" charset="-122"/>
                <a:cs typeface="Calibri" pitchFamily="34" charset="-120"/>
              </a:rPr>
              <a:t>• Carl Hamacher, Computer Organization and Embedded Systems — Ch. on Bus Structures</a:t>
            </a:r>
            <a:endParaRPr lang="en-US" sz="1600" dirty="0"/>
          </a:p>
          <a:p>
            <a:pPr marL="0" indent="0">
              <a:lnSpc>
                <a:spcPct val="115000"/>
              </a:lnSpc>
              <a:spcAft>
                <a:spcPts val="1000"/>
              </a:spcAft>
              <a:buNone/>
            </a:pPr>
            <a:r>
              <a:rPr lang="en-US" sz="1600" dirty="0">
                <a:solidFill>
                  <a:srgbClr val="FFFFFF"/>
                </a:solidFill>
                <a:latin typeface="Calibri" pitchFamily="34" charset="0"/>
                <a:ea typeface="Calibri" pitchFamily="34" charset="-122"/>
                <a:cs typeface="Calibri" pitchFamily="34" charset="-120"/>
              </a:rPr>
              <a:t>• William Stallings, Computer Organization and Architecture — Ch. on Interconnection Structures</a:t>
            </a:r>
            <a:endParaRPr lang="en-US" sz="1600" dirty="0"/>
          </a:p>
          <a:p>
            <a:pPr marL="0" indent="0">
              <a:lnSpc>
                <a:spcPct val="115000"/>
              </a:lnSpc>
              <a:spcAft>
                <a:spcPts val="1000"/>
              </a:spcAft>
              <a:buNone/>
            </a:pPr>
            <a:r>
              <a:rPr lang="en-US" sz="1600" dirty="0">
                <a:solidFill>
                  <a:srgbClr val="FFFFFF"/>
                </a:solidFill>
                <a:latin typeface="Calibri" pitchFamily="34" charset="0"/>
                <a:ea typeface="Calibri" pitchFamily="34" charset="-122"/>
                <a:cs typeface="Calibri" pitchFamily="34" charset="-120"/>
              </a:rPr>
              <a:t> </a:t>
            </a:r>
            <a:endParaRPr lang="en-US" sz="1600" dirty="0"/>
          </a:p>
          <a:p>
            <a:pPr marL="0" indent="0">
              <a:lnSpc>
                <a:spcPct val="115000"/>
              </a:lnSpc>
              <a:spcAft>
                <a:spcPts val="1000"/>
              </a:spcAft>
              <a:buNone/>
            </a:pPr>
            <a:r>
              <a:rPr lang="en-US" sz="1600" b="1" dirty="0">
                <a:solidFill>
                  <a:srgbClr val="E8871E"/>
                </a:solidFill>
                <a:latin typeface="Calibri" pitchFamily="34" charset="0"/>
                <a:ea typeface="Calibri" pitchFamily="34" charset="-122"/>
                <a:cs typeface="Calibri" pitchFamily="34" charset="-120"/>
              </a:rPr>
              <a:t>Assignment (due before next class):</a:t>
            </a:r>
            <a:endParaRPr lang="en-US" sz="1600" dirty="0"/>
          </a:p>
          <a:p>
            <a:pPr marL="0" indent="0">
              <a:lnSpc>
                <a:spcPct val="115000"/>
              </a:lnSpc>
              <a:spcAft>
                <a:spcPts val="1000"/>
              </a:spcAft>
              <a:buNone/>
            </a:pPr>
            <a:r>
              <a:rPr lang="en-US" sz="1600" dirty="0">
                <a:solidFill>
                  <a:srgbClr val="FFFFFF"/>
                </a:solidFill>
                <a:latin typeface="Calibri" pitchFamily="34" charset="0"/>
                <a:ea typeface="Calibri" pitchFamily="34" charset="-122"/>
                <a:cs typeface="Calibri" pitchFamily="34" charset="-120"/>
              </a:rPr>
              <a:t>• Draw and label a single-bus system diagram for a simple CPU + Memory + one I/O device.</a:t>
            </a:r>
            <a:endParaRPr lang="en-US" sz="1600" dirty="0"/>
          </a:p>
          <a:p>
            <a:pPr marL="0" indent="0">
              <a:lnSpc>
                <a:spcPct val="115000"/>
              </a:lnSpc>
              <a:spcAft>
                <a:spcPts val="1000"/>
              </a:spcAft>
              <a:buNone/>
            </a:pPr>
            <a:r>
              <a:rPr lang="en-US" sz="1600" dirty="0">
                <a:solidFill>
                  <a:srgbClr val="FFFFFF"/>
                </a:solidFill>
                <a:latin typeface="Calibri" pitchFamily="34" charset="0"/>
                <a:ea typeface="Calibri" pitchFamily="34" charset="-122"/>
                <a:cs typeface="Calibri" pitchFamily="34" charset="-120"/>
              </a:rPr>
              <a:t>• In 150 words, explain why real systems prefer multiple-bus organization over a single shared bus.</a:t>
            </a:r>
            <a:endParaRPr lang="en-US" sz="1600" dirty="0"/>
          </a:p>
        </p:txBody>
      </p:sp>
      <p:sp>
        <p:nvSpPr>
          <p:cNvPr id="4" name="Text 2"/>
          <p:cNvSpPr/>
          <p:nvPr/>
        </p:nvSpPr>
        <p:spPr>
          <a:xfrm>
            <a:off x="822960" y="5852160"/>
            <a:ext cx="10515600" cy="457200"/>
          </a:xfrm>
          <a:prstGeom prst="rect">
            <a:avLst/>
          </a:prstGeom>
          <a:noFill/>
          <a:ln/>
        </p:spPr>
        <p:txBody>
          <a:bodyPr wrap="square" rtlCol="0" anchor="ctr"/>
          <a:lstStyle/>
          <a:p>
            <a:r>
              <a:rPr lang="en-US" sz="1400" i="1" dirty="0">
                <a:solidFill>
                  <a:srgbClr val="CADCFC"/>
                </a:solidFill>
                <a:latin typeface="Calibri" pitchFamily="34" charset="0"/>
                <a:ea typeface="Calibri" pitchFamily="34" charset="-122"/>
                <a:cs typeface="Calibri" pitchFamily="34" charset="-120"/>
              </a:rPr>
              <a:t>Next class: </a:t>
            </a:r>
            <a:r>
              <a:rPr lang="en-IN" sz="1400" i="1" dirty="0">
                <a:solidFill>
                  <a:srgbClr val="CADCFC"/>
                </a:solidFill>
                <a:latin typeface="Calibri" pitchFamily="34" charset="0"/>
                <a:ea typeface="Calibri" pitchFamily="34" charset="-122"/>
                <a:cs typeface="Calibri" pitchFamily="34" charset="-120"/>
              </a:rPr>
              <a:t>Computer systems RISC &amp; CISC 	</a:t>
            </a:r>
          </a:p>
          <a:p>
            <a:pPr marL="0" indent="0">
              <a:buNone/>
            </a:pPr>
            <a:endParaRPr lang="en-US" sz="1400" dirty="0"/>
          </a:p>
        </p:txBody>
      </p:sp>
      <p:sp>
        <p:nvSpPr>
          <p:cNvPr id="5" name="Text 3"/>
          <p:cNvSpPr/>
          <p:nvPr/>
        </p:nvSpPr>
        <p:spPr>
          <a:xfrm>
            <a:off x="457200" y="6473952"/>
            <a:ext cx="11277295" cy="274320"/>
          </a:xfrm>
          <a:prstGeom prst="rect">
            <a:avLst/>
          </a:prstGeom>
          <a:noFill/>
          <a:ln/>
        </p:spPr>
        <p:txBody>
          <a:bodyPr wrap="square" rtlCol="0" anchor="ctr"/>
          <a:lstStyle/>
          <a:p>
            <a:pPr marL="0" indent="0" algn="l">
              <a:buNone/>
            </a:pPr>
            <a:r>
              <a:rPr lang="en-US" sz="900" dirty="0">
                <a:solidFill>
                  <a:srgbClr val="CADCFC"/>
                </a:solidFill>
                <a:latin typeface="Calibri" pitchFamily="34" charset="0"/>
                <a:ea typeface="Calibri" pitchFamily="34" charset="-122"/>
                <a:cs typeface="Calibri" pitchFamily="34" charset="-120"/>
              </a:rPr>
              <a:t>Presidency University  |  Department of AI &amp; Robotics  |  CSS2257 – Computer Organization and Architecture</a:t>
            </a:r>
            <a:endParaRPr lang="en-US" sz="900" dirty="0"/>
          </a:p>
        </p:txBody>
      </p:sp>
      <p:sp>
        <p:nvSpPr>
          <p:cNvPr id="6" name="Text 4"/>
          <p:cNvSpPr/>
          <p:nvPr/>
        </p:nvSpPr>
        <p:spPr>
          <a:xfrm>
            <a:off x="11368735" y="6473952"/>
            <a:ext cx="457200" cy="27432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7010</Words>
  <Application>Microsoft Office PowerPoint</Application>
  <PresentationFormat>Widescreen</PresentationFormat>
  <Paragraphs>446</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Manoj Sagar K - Assistant Professor - SCSE</cp:lastModifiedBy>
  <cp:revision>2</cp:revision>
  <dcterms:created xsi:type="dcterms:W3CDTF">2026-08-06T08:06:25Z</dcterms:created>
  <dcterms:modified xsi:type="dcterms:W3CDTF">2026-08-06T08:21:33Z</dcterms:modified>
</cp:coreProperties>
</file>