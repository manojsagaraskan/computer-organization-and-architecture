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charts/chart1.xml" ContentType="application/vnd.openxmlformats-officedocument.drawingml.chart+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020" autoAdjust="0"/>
    <p:restoredTop sz="94610"/>
  </p:normalViewPr>
  <p:slideViewPr>
    <p:cSldViewPr snapToGrid="0" snapToObjects="1">
      <p:cViewPr>
        <p:scale>
          <a:sx n="91" d="100"/>
          <a:sy n="91" d="100"/>
        </p:scale>
        <p:origin x="53" y="-11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2000" b="0" i="0" u="none" strike="noStrike">
                <a:solidFill>
                  <a:srgbClr val="1B2A4A"/>
                </a:solidFill>
                <a:latin typeface="Arial"/>
              </a:defRPr>
            </a:pPr>
            <a:r>
              <a:rPr sz="2000" b="0" i="0" u="none" strike="noStrike">
                <a:solidFill>
                  <a:srgbClr val="1B2A4A"/>
                </a:solidFill>
                <a:latin typeface="Arial"/>
              </a:rPr>
              <a:t>Transistors per Chip (relative, log-like growth)</a:t>
            </a:r>
          </a:p>
        </c:rich>
      </c:tx>
      <c:overlay val="0"/>
    </c:title>
    <c:autoTitleDeleted val="0"/>
    <c:plotArea>
      <c:layout/>
      <c:lineChart>
        <c:grouping val="standard"/>
        <c:varyColors val="0"/>
        <c:ser>
          <c:idx val="0"/>
          <c:order val="0"/>
          <c:tx>
            <c:strRef>
              <c:f>Sheet1!$B$1</c:f>
              <c:strCache>
                <c:ptCount val="1"/>
                <c:pt idx="0">
                  <c:v>Relative Transistor Count</c:v>
                </c:pt>
              </c:strCache>
            </c:strRef>
          </c:tx>
          <c:spPr>
            <a:ln w="38100" cap="flat">
              <a:solidFill>
                <a:srgbClr val="00D9FF"/>
              </a:solidFill>
              <a:prstDash val="solid"/>
              <a:round/>
            </a:ln>
            <a:effectLst/>
          </c:spPr>
          <c:marker>
            <c:symbol val="circle"/>
            <c:size val="7"/>
            <c:spPr>
              <a:solidFill>
                <a:srgbClr val="00D9FF"/>
              </a:solidFill>
              <a:ln w="9525" cap="flat">
                <a:solidFill>
                  <a:srgbClr val="00D9FF"/>
                </a:solidFill>
                <a:prstDash val="solid"/>
                <a:round/>
              </a:ln>
              <a:effectLst/>
            </c:spPr>
          </c:marker>
          <c:cat>
            <c:strRef>
              <c:f>Sheet1!$A$2:$A$6</c:f>
              <c:strCache>
                <c:ptCount val="5"/>
                <c:pt idx="0">
                  <c:v>1985</c:v>
                </c:pt>
                <c:pt idx="1">
                  <c:v>1995</c:v>
                </c:pt>
                <c:pt idx="2">
                  <c:v>2005</c:v>
                </c:pt>
                <c:pt idx="3">
                  <c:v>2015</c:v>
                </c:pt>
                <c:pt idx="4">
                  <c:v>2025</c:v>
                </c:pt>
              </c:strCache>
            </c:strRef>
          </c:cat>
          <c:val>
            <c:numRef>
              <c:f>Sheet1!$B$2:$B$6</c:f>
              <c:numCache>
                <c:formatCode>General</c:formatCode>
                <c:ptCount val="5"/>
                <c:pt idx="0">
                  <c:v>1</c:v>
                </c:pt>
                <c:pt idx="1">
                  <c:v>32</c:v>
                </c:pt>
                <c:pt idx="2">
                  <c:v>1024</c:v>
                </c:pt>
                <c:pt idx="3">
                  <c:v>16384</c:v>
                </c:pt>
                <c:pt idx="4">
                  <c:v>131072</c:v>
                </c:pt>
              </c:numCache>
            </c:numRef>
          </c:val>
          <c:smooth val="0"/>
          <c:extLst>
            <c:ext xmlns:c16="http://schemas.microsoft.com/office/drawing/2014/chart" uri="{C3380CC4-5D6E-409C-BE32-E72D297353CC}">
              <c16:uniqueId val="{00000000-4BD0-4EFA-9B56-CA8B3B23A497}"/>
            </c:ext>
          </c:extLst>
        </c:ser>
        <c:dLbls>
          <c:showLegendKey val="0"/>
          <c:showVal val="0"/>
          <c:showCatName val="0"/>
          <c:showSerName val="0"/>
          <c:showPercent val="0"/>
          <c:showBubbleSize val="0"/>
        </c:dLbls>
        <c:marker val="1"/>
        <c:smooth val="0"/>
        <c:axId val="2094734554"/>
        <c:axId val="2094734552"/>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2000" b="0" i="0" u="none" strike="noStrike">
                <a:solidFill>
                  <a:srgbClr val="5B6B84"/>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12700" cap="flat">
              <a:solidFill>
                <a:srgbClr val="E0E6EF"/>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2000" b="0" i="0" u="none" strike="noStrike">
                <a:solidFill>
                  <a:srgbClr val="5B6B84"/>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3311911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students warmly. Introduce yourself and the subject: Computer Organization and Architecture, CSS2257. Tell them today's session answers a very practical question: when someone says 'this processor is fast,' what does that actually mean, and how do we measure and improve it? Mention that by the end of the hour they will be able to compute CPU execution time, apply Amdahl's Law, and explain why raw clock speed alone doesn't tell the whole story. Keep energy high and welcoming since this is a foundational, slightly math-heavy topic.</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Briefly orient students to the institutional context. This helps freshers, especially in a large university, know exactly whose class they are in and which department is responsible for the course. Mention that CSS2257 is a core foundational course for understanding how computers actually work at the hardware and organizational level, and that today's topic feeds directly into later modules on pipelining and memory systems.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each objective at a normal pace. Tell students: 'By the end of this class, you should be able to look at two processors' specifications and reason about which is actually faster, not just which has a bigger GHz number.' This sets clear expectations and gives them a mental checklist to track their own understanding as the lecture proceeds.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this as a quick show-of-hands and open floor activity — don't spend more than 4 to 5 minutes here. Ask Q1 and take 2-3 quick verbal responses. For Q2, this is the key one: let 1-2 students describe their experience, and simply say 'hold that thought, we are going to explain exactly why that happens today.' Use their answers to segue: 'So clock speed alone clearly isn't the full story — today we find out what actually determines performance.'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Connect the topic to real life immediately. Ask: 'Who here has argued with a friend about which phone is faster?' This is genuinely the content of today's class. Emphasize that engineers at companies like Intel, ARM, and Apple use precisely the formulas we are about to derive — this isn't abstract theory, it's the actual toolkit used in industry to make billion-dollar design decisions.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with an analogy: response time is how long it takes ONE car to drive from your home to college; throughput is how many cars per hour cross a toll booth. A racing car has great response time (fast for one trip); a well-designed highway with many lanes has great throughput (many cars per hour) even if no single car is exceptionally fast. Both matter, but for different audiences: you personally care about your own task finishing quickly, while a server administrator cares about total jobs completed per hour.</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to the left card and trace the timeline with your hand: start dot, elapsed time, finish dot. Then move to the right card and point out the bars representing separate completed jobs. Ask a quick check-question: 'If I add a second checkout counter at a supermarket, does that improve response time for one customer, or throughput for the whole store, or both?' Let a student answer, then confirm: mainly throughput, since it doesn't speed up any single customer's checkout, but more customers get served per hour.</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master formula students will use throughout the lecture and in the worked examples. Explain the three knobs separately: the number of instructions executed depends on the algorithm and compiler; the cycles needed per instruction depends on the instruction set and how the hardware implements it; and the time per cycle depends on the underlying circuit technology and clock design. Emphasize: to improve performance, you can attack any one of these three factors, and real engineering teams specialize in exactly one of them.</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Draw the square wave on the board too if helpful. Explain that every component inside the CPU — registers, ALU stages, control logic — is synchronised to this beat, similar to musicians following a metronome. Everyone in the orchestra (the different hardware units) acts on the same beat so their actions stay coordinated. State clearly: Clock Cycle Time and Clock Rate are reciprocals of one another; if you know one, you can compute the other by simple division.</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a concrete intuition: not all tasks in daily life take the same time — brushing your teeth is quick, cooking a meal takes longer. Similarly, an ADD instruction might finish in 1 cycle while a memory LOAD might need 4 cycles because it has to travel out to memory. CPI is simply the average, weighted by how often each instruction type appears in the program. Tell students we will compute this precisely in the next two slides with real numbers.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single most important equation of today's class — slow down and make sure everyone copies it down. Walk through each row: IC is decided far away from the hardware, by the algorithm and the compiler generating instructions; CPI is decided by how the instruction set is designed and how the pipeline executes it; Clock Cycle Time is decided by the fabrication process and circuit design, essentially the physics of the chip. Emphasize that these three are NOT independent in practice — improving one can sometimes worsen another, which is exactly why processor design is a balancing act, not a single-variable optimisation.</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 through this on the board step by step, out loud, as shown on the slide. Point out the unit conversion carefully: gigahertz means 10^9 cycles per second, so cycle time is in nanoseconds — a very common place students make arithmetic slips. After reaching 0.4 seconds, ask: 'does this feel like a fast or slow program?' and connect it back to the response-time idea from earlier: 0.4 seconds for 200 million instructions is what real hardware achieves routinely.</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example is deliberately close so students internalise the key lesson: clock rate ALONE never tells you which processor is faster — you must consider CPI together with clock rate. Let students guess before revealing the answer; many will assume 3 GHz automatically wins. Reveal that it's true here, but barely, and CPI could easily have tipped the balance the other way with slightly different numbers. This directly answers the icebreaker question about two devices with different GHz feeling different in speed.</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an analogy: judging a writer purely by 'words typed per minute' rather than the quality or correctness of the essay. A processor with a simpler, weaker instruction set might need to execute many more tiny instructions to do the same job as a smarter instruction set doing it in fewer, richer instructions — so it might report a higher MIPS while actually taking longer in real time. This is a classic exam question, so flag it clearly: MIPS can be misleading and execution time is the gold standard.</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Amdahl's Law as one of the most important laws in all of computer architecture — it applies to parallel processing, caching, virtually any optimisation. State the intuition in plain words before the formula: if only 30% of a program's time can be sped up, then even an INFINITELY fast enhancement to that 30% can only ever reduce total time by at most 30%. The other 70% is untouched and becomes the new bottleneck. This is why architects hunt for the biggest, most common bottleneck first.</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 through each step slowly, and pause on the final result. Ask students: 'we made one part 4 times faster — why isn't the whole program 4 times faster?' Reinforce: the 60% of the program untouched by the FP unit still takes exactly the same time it always did, so it caps the total benefit. This example is a very common exam-style question, so encourage students to practice plugging different fractions and speedups into this same formula.</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the chart and let it speak for itself first — the curve looks almost flat then suddenly explosive, which is the nature of exponential growth. Explain that this exponential transistor growth is the single biggest reason your smartphone today is vastly more capable than room-sized computers from decades ago. Mention, honestly, that the pace has been slowing recently because transistors are now only a few atoms wide, and further miniaturisation faces real physical limits — this sets up the next slide on the power wall.</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pivotal, almost historical moment in computer architecture — make it feel like a turning point in the story. Before the mid-2000s, each new processor generation was mainly just a faster clock. Explain, using a simple analogy, that pushing clock rate is like pressing the accelerator on a car harder and harder: at some point the engine overheats. The industry's clever workaround was to stop trying to make one engine faster and instead add more engines — multiple cores — which is the direct motivation for parallelism, our topic in a few slides.</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Reinforce the metronome/orchestra analogy from earlier: just as a metronome keeps every musician playing in time with each other, the clock keeps every register and logic gate in the CPU updating in a coordinated, predictable rhythm. Explain that if there were no shared clock, one part of the circuit might finish a calculation microseconds before another part expects the result, causing errors — this is why virtually every general-purpose CPU today is a synchronous design built entirely around a common clock signal.</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Reinforce the reciprocal relationship with the two quick numeric examples on the slide — ask students to verify 1/(4×10^9) = 0.25 ns mentally or on paper. When explaining overclocking, connect it back to the power wall: pushing frequency higher generates more heat and, past a point, the circuit's slowest logic path (the 'critical path') simply cannot finish its work within the shortened cycle, producing wrong answers. This is why enthusiast overclockers pair higher clocks with liquid cooling and careful voltage adjustment.</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directly closes the loop on the icebreaker discussion and Worked Example 2. Ask: 'now that we know CPU time depends on three multiplied factors, can anyone explain why two phones with the same GHz might feel different?' Let a student connect it to CPI and instruction count differences between chip architectures (e.g., ARM vs x86 design philosophies, without needing deep detail). Mention SPEC benchmarks as the industry-standard, honest way to compare real performance instead of trusting a single advertised number.</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Frame this as the direct sequel to the power wall story: since we cannot keep raising clock rate, architects instead find ways to do more useful work within every single cycle. Introduce the three flavours at a high level here — we'll take one slide to unpack each in more depth next. Use a kitchen analogy: ILP is one chef doing several prep steps in overlapping order; DLP is one chef chopping ten identical vegetables with one repeated motion; TLP is hiring multiple chefs who cook different dishes independently.</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Draw the classic pipeline staircase diagram on the board: instruction 1 in fetch during cycle 1, instruction 2 enters fetch during cycle 2 while instruction 1 moves to decode, and so on. This is exactly like a car wash assembly line — while one car is being rinsed, the next is already being soaped, and a third is being dried, all simultaneously at different stations. Mention briefly that hazards (data dependencies, branches) can stall the pipeline in practice, but the ideal case shown here captures the core idea perfectly.</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to the four addition rows and stress the word 'simultaneously' — in a scalar processor, these four additions would need four separate instructions and four separate cycles; in SIMD, one instruction and effectively one cycle handles all four. Give a relatable example: applying a brightness filter to a photo means adding the same value to every pixel — SIMD is exactly suited to this kind of repetitive, uniform operation, which is why GPUs (built almost entirely around this idea) excel at graphics and, more recently, AI workloads.</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the quad-core diagram and describe a concrete scenario: while you browse the web on one core, a music app decodes audio on a second core, a background update runs on a third, and antivirus scans on a fourth — all genuinely simultaneous, not just fast switching. Circle back to Amdahl's Law explicitly here: adding more cores only helps the portion of work that can actually be split among them; a program that is mostly one long sequential chain of dependent steps won't benefit much no matter how many cores you add.</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Bring the whole lecture together with a device every student is holding right now. Ask them to picture what happens when they scroll a social media feed: the CPU cores overlap instruction execution internally (ILP), the GPU processes every pixel of the screen in parallel (DLP), and separate cores simultaneously handle the app, background network sync, and audio (TLP) — all while a power-management system juggles clock rate against battery life, tying directly back to the power wall discussion.</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these quickly as a rapid-fire myth-busting round — read the misconception, pause, ask 'true or false?', then reveal the correction. Each one maps directly back to something already taught in this lecture, so use this slide as a review checkpoint as much as a myths list: it naturally tests whether the CPU time equation, Amdahl's Law, MIPS limitations, and the clock/timing relationship have actually landed with students before the quiz.</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this as a genuine think-pair-share: give a full 60 seconds of silent individual thinking time first, resist the urge to rush it. Then let pairs discuss for 60 seconds. Cold-call or ask for volunteers, and guide them to see that doubling clock rate halves cycle time, but doubling CPI cancels that benefit exactly — so CPU time stays unchanged. Use this as a natural bridge into the summary: it's a perfect, concrete illustration of why all three factors in the performance equation must be considered together.</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Recap each bullet briefly in one sentence, connecting it back to the specific slide or example where it was introduced — this repetition genuinely helps retention. Tell students that if they can explain each of these six bullets in their own words to a friend, they have mastered today's material. Let them know the quiz that follows directly tests these exact six ideas, so this is their final review moment before it begins.</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students 4 to 5 minutes to attempt all eight questions individually, on paper or notebook — make clear this is a self-check for understanding, not a graded assessment, so they should answer honestly rather than guess to please you. Encourage them to attempt every question even if unsure, since the goal is to surface what needs revisiting. Walk around the room if possible to see how confidently they're answering, which helps you gauge pacing for the reveal that follows.</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each answer in order, briefly restating the reasoning rather than just reading the answer — e.g., for A4 actually show the division 1/(2.5×10^9) on the board once more. Ask for a show of hands on each question to see how many got it right; this gives you an informal read on which concepts need a quick revisit next class. Close by telling students which points were most commonly missed, and encourage them to note those down for their own revision before the next session.</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the session on a forward-looking note. Briefly describe the assignment idea as an optional but valuable exercise: finding two real processor spec sheets online and reasoning through which is likely faster for a given workload using today's tools, not just marketing numbers. Preview next class briefly — instruction set architecture — and tell students it will build directly on today's IC and CPI concepts. Thank the class and open the floor for any final questions before wrapping up.</a:t>
            </a:r>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7.xml"/><Relationship Id="rId1" Type="http://schemas.openxmlformats.org/officeDocument/2006/relationships/slideLayout" Target="../slideLayouts/slideLayout1.xml"/><Relationship Id="rId4" Type="http://schemas.openxmlformats.org/officeDocument/2006/relationships/chart" Target="../charts/chart1.xml"/></Relationships>
</file>

<file path=ppt/slides/_rels/slide1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2.xml"/><Relationship Id="rId1" Type="http://schemas.openxmlformats.org/officeDocument/2006/relationships/slideLayout" Target="../slideLayouts/slideLayout1.xml"/><Relationship Id="rId5" Type="http://schemas.openxmlformats.org/officeDocument/2006/relationships/image" Target="../media/image5.png"/><Relationship Id="rId4" Type="http://schemas.openxmlformats.org/officeDocument/2006/relationships/image" Target="../media/image3.png"/></Relationships>
</file>

<file path=ppt/slides/_rels/slide2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2A4A"/>
        </a:solidFill>
        <a:effectLst/>
      </p:bgPr>
    </p:bg>
    <p:spTree>
      <p:nvGrpSpPr>
        <p:cNvPr id="1" name=""/>
        <p:cNvGrpSpPr/>
        <p:nvPr/>
      </p:nvGrpSpPr>
      <p:grpSpPr>
        <a:xfrm>
          <a:off x="0" y="0"/>
          <a:ext cx="0" cy="0"/>
          <a:chOff x="0" y="0"/>
          <a:chExt cx="0" cy="0"/>
        </a:xfrm>
      </p:grpSpPr>
      <p:sp>
        <p:nvSpPr>
          <p:cNvPr id="2" name="Shape 0"/>
          <p:cNvSpPr/>
          <p:nvPr/>
        </p:nvSpPr>
        <p:spPr>
          <a:xfrm>
            <a:off x="8778240" y="3291840"/>
            <a:ext cx="5029200" cy="5029200"/>
          </a:xfrm>
          <a:prstGeom prst="ellipse">
            <a:avLst/>
          </a:prstGeom>
          <a:solidFill>
            <a:srgbClr val="233B63"/>
          </a:solidFill>
          <a:ln w="12700">
            <a:solidFill>
              <a:srgbClr val="233B63"/>
            </a:solidFill>
            <a:prstDash val="solid"/>
          </a:ln>
        </p:spPr>
      </p:sp>
      <p:sp>
        <p:nvSpPr>
          <p:cNvPr id="3" name="Shape 1"/>
          <p:cNvSpPr/>
          <p:nvPr/>
        </p:nvSpPr>
        <p:spPr>
          <a:xfrm>
            <a:off x="9692640" y="4206240"/>
            <a:ext cx="3200400" cy="3200400"/>
          </a:xfrm>
          <a:prstGeom prst="ellipse">
            <a:avLst/>
          </a:prstGeom>
          <a:ln w="25400">
            <a:solidFill>
              <a:srgbClr val="00D9FF"/>
            </a:solidFill>
            <a:prstDash val="solid"/>
          </a:ln>
        </p:spPr>
      </p:sp>
      <p:sp>
        <p:nvSpPr>
          <p:cNvPr id="4" name="Shape 2"/>
          <p:cNvSpPr/>
          <p:nvPr/>
        </p:nvSpPr>
        <p:spPr>
          <a:xfrm>
            <a:off x="10332720" y="4846320"/>
            <a:ext cx="1920240" cy="1920240"/>
          </a:xfrm>
          <a:prstGeom prst="ellipse">
            <a:avLst/>
          </a:prstGeom>
          <a:ln w="25400">
            <a:solidFill>
              <a:srgbClr val="00D9FF"/>
            </a:solidFill>
            <a:prstDash val="solid"/>
          </a:ln>
        </p:spPr>
      </p:sp>
      <p:sp>
        <p:nvSpPr>
          <p:cNvPr id="5" name="Shape 3"/>
          <p:cNvSpPr/>
          <p:nvPr/>
        </p:nvSpPr>
        <p:spPr>
          <a:xfrm>
            <a:off x="10835640" y="5349240"/>
            <a:ext cx="914400" cy="914400"/>
          </a:xfrm>
          <a:prstGeom prst="ellipse">
            <a:avLst/>
          </a:prstGeom>
          <a:solidFill>
            <a:srgbClr val="1B2A4A"/>
          </a:solidFill>
          <a:ln w="12700">
            <a:solidFill>
              <a:srgbClr val="1B2A4A"/>
            </a:solidFill>
            <a:prstDash val="solid"/>
          </a:ln>
        </p:spPr>
      </p:sp>
      <p:pic>
        <p:nvPicPr>
          <p:cNvPr id="6" name="Image 0" descr="/home/claude/coa_ppt/icon_clock_white.png"/>
          <p:cNvPicPr>
            <a:picLocks noChangeAspect="1"/>
          </p:cNvPicPr>
          <p:nvPr/>
        </p:nvPicPr>
        <p:blipFill>
          <a:blip r:embed="rId3"/>
          <a:stretch>
            <a:fillRect/>
          </a:stretch>
        </p:blipFill>
        <p:spPr>
          <a:xfrm>
            <a:off x="11073384" y="5586984"/>
            <a:ext cx="438912" cy="438912"/>
          </a:xfrm>
          <a:prstGeom prst="rect">
            <a:avLst/>
          </a:prstGeom>
        </p:spPr>
      </p:pic>
      <p:sp>
        <p:nvSpPr>
          <p:cNvPr id="7" name="Text 4"/>
          <p:cNvSpPr/>
          <p:nvPr/>
        </p:nvSpPr>
        <p:spPr>
          <a:xfrm>
            <a:off x="640080" y="502920"/>
            <a:ext cx="7315200" cy="457200"/>
          </a:xfrm>
          <a:prstGeom prst="rect">
            <a:avLst/>
          </a:prstGeom>
          <a:noFill/>
          <a:ln/>
        </p:spPr>
        <p:txBody>
          <a:bodyPr wrap="square" lIns="0" tIns="0" rIns="0" bIns="0" rtlCol="0" anchor="ctr"/>
          <a:lstStyle/>
          <a:p>
            <a:pPr marL="0" indent="0">
              <a:buNone/>
            </a:pPr>
            <a:r>
              <a:rPr lang="en-US" sz="2000" b="1" dirty="0">
                <a:solidFill>
                  <a:srgbClr val="00D9FF"/>
                </a:solidFill>
                <a:latin typeface="Calibri" pitchFamily="34" charset="0"/>
                <a:ea typeface="Calibri" pitchFamily="34" charset="-122"/>
                <a:cs typeface="Calibri" pitchFamily="34" charset="-120"/>
              </a:rPr>
              <a:t>Presidency University, Bengaluru</a:t>
            </a:r>
            <a:endParaRPr lang="en-US" sz="2000" dirty="0"/>
          </a:p>
        </p:txBody>
      </p:sp>
      <p:sp>
        <p:nvSpPr>
          <p:cNvPr id="8" name="Text 5"/>
          <p:cNvSpPr/>
          <p:nvPr/>
        </p:nvSpPr>
        <p:spPr>
          <a:xfrm>
            <a:off x="640080" y="914400"/>
            <a:ext cx="7315200" cy="822960"/>
          </a:xfrm>
          <a:prstGeom prst="rect">
            <a:avLst/>
          </a:prstGeom>
          <a:noFill/>
          <a:ln/>
        </p:spPr>
        <p:txBody>
          <a:bodyPr wrap="square" lIns="0" tIns="0" rIns="0" bIns="0" rtlCol="0" anchor="ctr"/>
          <a:lstStyle/>
          <a:p>
            <a:pPr marL="0" indent="0">
              <a:lnSpc>
                <a:spcPct val="110000"/>
              </a:lnSpc>
              <a:buNone/>
            </a:pPr>
            <a:r>
              <a:rPr lang="en-US" sz="2000" dirty="0">
                <a:solidFill>
                  <a:srgbClr val="E8EEF7"/>
                </a:solidFill>
                <a:latin typeface="Calibri" pitchFamily="34" charset="0"/>
                <a:ea typeface="Calibri" pitchFamily="34" charset="-122"/>
                <a:cs typeface="Calibri" pitchFamily="34" charset="-120"/>
              </a:rPr>
              <a:t>School of Artificial Intelligence and Advanced Computing</a:t>
            </a:r>
            <a:endParaRPr lang="en-US" sz="2000" dirty="0"/>
          </a:p>
          <a:p>
            <a:pPr marL="0" indent="0">
              <a:lnSpc>
                <a:spcPct val="110000"/>
              </a:lnSpc>
              <a:buNone/>
            </a:pPr>
            <a:r>
              <a:rPr lang="en-US" sz="2000" dirty="0">
                <a:solidFill>
                  <a:srgbClr val="E8EEF7"/>
                </a:solidFill>
                <a:latin typeface="Calibri" pitchFamily="34" charset="0"/>
                <a:ea typeface="Calibri" pitchFamily="34" charset="-122"/>
                <a:cs typeface="Calibri" pitchFamily="34" charset="-120"/>
              </a:rPr>
              <a:t>Department of AI &amp; Robotics</a:t>
            </a:r>
            <a:endParaRPr lang="en-US" sz="2000" dirty="0"/>
          </a:p>
        </p:txBody>
      </p:sp>
      <p:sp>
        <p:nvSpPr>
          <p:cNvPr id="9" name="Text 6"/>
          <p:cNvSpPr/>
          <p:nvPr/>
        </p:nvSpPr>
        <p:spPr>
          <a:xfrm>
            <a:off x="640080" y="2148840"/>
            <a:ext cx="7589520" cy="1600200"/>
          </a:xfrm>
          <a:prstGeom prst="rect">
            <a:avLst/>
          </a:prstGeom>
          <a:noFill/>
          <a:ln/>
        </p:spPr>
        <p:txBody>
          <a:bodyPr wrap="square" lIns="0" tIns="0" rIns="0" bIns="0" rtlCol="0" anchor="ctr"/>
          <a:lstStyle/>
          <a:p>
            <a:pPr marL="0" indent="0">
              <a:lnSpc>
                <a:spcPct val="105000"/>
              </a:lnSpc>
              <a:buNone/>
            </a:pPr>
            <a:r>
              <a:rPr lang="en-US" sz="4000" b="1" dirty="0">
                <a:solidFill>
                  <a:srgbClr val="FFFFFF"/>
                </a:solidFill>
                <a:latin typeface="Cambria" pitchFamily="34" charset="0"/>
                <a:ea typeface="Cambria" pitchFamily="34" charset="-122"/>
                <a:cs typeface="Cambria" pitchFamily="34" charset="-120"/>
              </a:rPr>
              <a:t>Performance, Processor</a:t>
            </a:r>
            <a:endParaRPr lang="en-US" sz="4000" dirty="0"/>
          </a:p>
          <a:p>
            <a:pPr marL="0" indent="0">
              <a:lnSpc>
                <a:spcPct val="105000"/>
              </a:lnSpc>
              <a:buNone/>
            </a:pPr>
            <a:r>
              <a:rPr lang="en-US" sz="4000" b="1" dirty="0">
                <a:solidFill>
                  <a:srgbClr val="FFFFFF"/>
                </a:solidFill>
                <a:latin typeface="Cambria" pitchFamily="34" charset="0"/>
                <a:ea typeface="Cambria" pitchFamily="34" charset="-122"/>
                <a:cs typeface="Cambria" pitchFamily="34" charset="-120"/>
              </a:rPr>
              <a:t>Clock &amp; Parallelism</a:t>
            </a:r>
            <a:endParaRPr lang="en-US" sz="4000" dirty="0"/>
          </a:p>
        </p:txBody>
      </p:sp>
      <p:sp>
        <p:nvSpPr>
          <p:cNvPr id="10" name="Text 7"/>
          <p:cNvSpPr/>
          <p:nvPr/>
        </p:nvSpPr>
        <p:spPr>
          <a:xfrm>
            <a:off x="640080" y="3977640"/>
            <a:ext cx="7132320" cy="822960"/>
          </a:xfrm>
          <a:prstGeom prst="rect">
            <a:avLst/>
          </a:prstGeom>
          <a:noFill/>
          <a:ln/>
        </p:spPr>
        <p:txBody>
          <a:bodyPr wrap="square" lIns="0" tIns="0" rIns="0" bIns="0" rtlCol="0" anchor="ctr"/>
          <a:lstStyle/>
          <a:p>
            <a:pPr marL="0" indent="0">
              <a:buNone/>
            </a:pPr>
            <a:r>
              <a:rPr lang="en-US" sz="2200" i="1" dirty="0">
                <a:solidFill>
                  <a:srgbClr val="00D9FF"/>
                </a:solidFill>
                <a:latin typeface="Calibri" pitchFamily="34" charset="0"/>
                <a:ea typeface="Calibri" pitchFamily="34" charset="-122"/>
                <a:cs typeface="Calibri" pitchFamily="34" charset="-120"/>
              </a:rPr>
              <a:t>Understanding how we measure, express, and improve computer performance</a:t>
            </a:r>
            <a:endParaRPr lang="en-US" sz="2200" dirty="0"/>
          </a:p>
        </p:txBody>
      </p:sp>
      <p:sp>
        <p:nvSpPr>
          <p:cNvPr id="11" name="Text 8"/>
          <p:cNvSpPr/>
          <p:nvPr/>
        </p:nvSpPr>
        <p:spPr>
          <a:xfrm>
            <a:off x="640080" y="5623560"/>
            <a:ext cx="7132320" cy="822960"/>
          </a:xfrm>
          <a:prstGeom prst="rect">
            <a:avLst/>
          </a:prstGeom>
          <a:noFill/>
          <a:ln/>
        </p:spPr>
        <p:txBody>
          <a:bodyPr wrap="square" lIns="0" tIns="0" rIns="0" bIns="0" rtlCol="0" anchor="ctr"/>
          <a:lstStyle/>
          <a:p>
            <a:pPr marL="0" indent="0">
              <a:lnSpc>
                <a:spcPct val="120000"/>
              </a:lnSpc>
              <a:buNone/>
            </a:pPr>
            <a:r>
              <a:rPr lang="en-US" sz="2000" b="1" dirty="0">
                <a:solidFill>
                  <a:srgbClr val="E8EEF7"/>
                </a:solidFill>
                <a:latin typeface="Calibri" pitchFamily="34" charset="0"/>
                <a:ea typeface="Calibri" pitchFamily="34" charset="-122"/>
                <a:cs typeface="Calibri" pitchFamily="34" charset="-120"/>
              </a:rPr>
              <a:t>Computer Organization and Architecture  |  CSS2257
</a:t>
            </a:r>
            <a:endParaRPr lang="en-US" sz="2000" dirty="0"/>
          </a:p>
          <a:p>
            <a:pPr marL="0" indent="0">
              <a:lnSpc>
                <a:spcPct val="120000"/>
              </a:lnSpc>
              <a:buNone/>
            </a:pPr>
            <a:r>
              <a:rPr lang="en-US" sz="2000" dirty="0">
                <a:solidFill>
                  <a:srgbClr val="E8EEF7"/>
                </a:solidFill>
                <a:latin typeface="Calibri" pitchFamily="34" charset="0"/>
                <a:ea typeface="Calibri" pitchFamily="34" charset="-122"/>
                <a:cs typeface="Calibri" pitchFamily="34" charset="-120"/>
              </a:rPr>
              <a:t>Manoj Sagar, Assistant Professor</a:t>
            </a:r>
            <a:endParaRPr lang="en-US" sz="2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88952" cy="1554480"/>
          </a:xfrm>
          <a:prstGeom prst="rect">
            <a:avLst/>
          </a:prstGeom>
          <a:solidFill>
            <a:srgbClr val="1B2A4A"/>
          </a:solidFill>
          <a:ln w="12700">
            <a:solidFill>
              <a:srgbClr val="1B2A4A"/>
            </a:solidFill>
            <a:prstDash val="solid"/>
          </a:ln>
        </p:spPr>
      </p:sp>
      <p:sp>
        <p:nvSpPr>
          <p:cNvPr id="3" name="Text 1"/>
          <p:cNvSpPr/>
          <p:nvPr/>
        </p:nvSpPr>
        <p:spPr>
          <a:xfrm>
            <a:off x="548640" y="411480"/>
            <a:ext cx="9144000" cy="731520"/>
          </a:xfrm>
          <a:prstGeom prst="rect">
            <a:avLst/>
          </a:prstGeom>
          <a:noFill/>
          <a:ln/>
        </p:spPr>
        <p:txBody>
          <a:bodyPr wrap="square" lIns="0" tIns="0" rIns="0" bIns="0"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Presidency University, Bengaluru</a:t>
            </a:r>
            <a:endParaRPr lang="en-US" sz="3000" dirty="0"/>
          </a:p>
        </p:txBody>
      </p:sp>
      <p:sp>
        <p:nvSpPr>
          <p:cNvPr id="4" name="Shape 2"/>
          <p:cNvSpPr/>
          <p:nvPr/>
        </p:nvSpPr>
        <p:spPr>
          <a:xfrm>
            <a:off x="10698480" y="274320"/>
            <a:ext cx="914400" cy="914400"/>
          </a:xfrm>
          <a:prstGeom prst="ellipse">
            <a:avLst/>
          </a:prstGeom>
          <a:solidFill>
            <a:srgbClr val="233B63"/>
          </a:solidFill>
          <a:ln w="12700">
            <a:solidFill>
              <a:srgbClr val="233B63"/>
            </a:solidFill>
            <a:prstDash val="solid"/>
          </a:ln>
        </p:spPr>
      </p:sp>
      <p:pic>
        <p:nvPicPr>
          <p:cNvPr id="5" name="Image 0" descr="/home/claude/coa_ppt/icon_chip_white.png"/>
          <p:cNvPicPr>
            <a:picLocks noChangeAspect="1"/>
          </p:cNvPicPr>
          <p:nvPr/>
        </p:nvPicPr>
        <p:blipFill>
          <a:blip r:embed="rId3"/>
          <a:stretch>
            <a:fillRect/>
          </a:stretch>
        </p:blipFill>
        <p:spPr>
          <a:xfrm>
            <a:off x="10936224" y="512064"/>
            <a:ext cx="438912" cy="438912"/>
          </a:xfrm>
          <a:prstGeom prst="rect">
            <a:avLst/>
          </a:prstGeom>
        </p:spPr>
      </p:pic>
      <p:sp>
        <p:nvSpPr>
          <p:cNvPr id="6" name="Shape 3"/>
          <p:cNvSpPr/>
          <p:nvPr/>
        </p:nvSpPr>
        <p:spPr>
          <a:xfrm>
            <a:off x="548640" y="1965960"/>
            <a:ext cx="11064240" cy="1005840"/>
          </a:xfrm>
          <a:prstGeom prst="roundRect">
            <a:avLst>
              <a:gd name="adj" fmla="val 5455"/>
            </a:avLst>
          </a:prstGeom>
          <a:solidFill>
            <a:srgbClr val="E8EEF7"/>
          </a:solidFill>
          <a:ln w="12700">
            <a:solidFill>
              <a:srgbClr val="E8EEF7"/>
            </a:solidFill>
            <a:prstDash val="solid"/>
          </a:ln>
        </p:spPr>
      </p:sp>
      <p:sp>
        <p:nvSpPr>
          <p:cNvPr id="7" name="Shape 4"/>
          <p:cNvSpPr/>
          <p:nvPr/>
        </p:nvSpPr>
        <p:spPr>
          <a:xfrm>
            <a:off x="777240" y="2121408"/>
            <a:ext cx="713232" cy="713232"/>
          </a:xfrm>
          <a:prstGeom prst="ellipse">
            <a:avLst/>
          </a:prstGeom>
          <a:solidFill>
            <a:srgbClr val="1B2A4A"/>
          </a:solidFill>
          <a:ln w="12700">
            <a:solidFill>
              <a:srgbClr val="1B2A4A"/>
            </a:solidFill>
            <a:prstDash val="solid"/>
          </a:ln>
        </p:spPr>
      </p:sp>
      <p:pic>
        <p:nvPicPr>
          <p:cNvPr id="8" name="Image 1" descr="/home/claude/coa_ppt/icon_layers_white.png"/>
          <p:cNvPicPr>
            <a:picLocks noChangeAspect="1"/>
          </p:cNvPicPr>
          <p:nvPr/>
        </p:nvPicPr>
        <p:blipFill>
          <a:blip r:embed="rId4"/>
          <a:stretch>
            <a:fillRect/>
          </a:stretch>
        </p:blipFill>
        <p:spPr>
          <a:xfrm>
            <a:off x="962680" y="2306848"/>
            <a:ext cx="342351" cy="342351"/>
          </a:xfrm>
          <a:prstGeom prst="rect">
            <a:avLst/>
          </a:prstGeom>
        </p:spPr>
      </p:pic>
      <p:sp>
        <p:nvSpPr>
          <p:cNvPr id="9" name="Text 5"/>
          <p:cNvSpPr/>
          <p:nvPr/>
        </p:nvSpPr>
        <p:spPr>
          <a:xfrm>
            <a:off x="1737360" y="2075688"/>
            <a:ext cx="3657600" cy="365760"/>
          </a:xfrm>
          <a:prstGeom prst="rect">
            <a:avLst/>
          </a:prstGeom>
          <a:noFill/>
          <a:ln/>
        </p:spPr>
        <p:txBody>
          <a:bodyPr wrap="square" lIns="0" tIns="0" rIns="0" bIns="0" rtlCol="0" anchor="ctr"/>
          <a:lstStyle/>
          <a:p>
            <a:pPr marL="0" indent="0">
              <a:buNone/>
            </a:pPr>
            <a:r>
              <a:rPr lang="en-US" sz="2000" b="1" dirty="0">
                <a:solidFill>
                  <a:srgbClr val="5B6B84"/>
                </a:solidFill>
                <a:latin typeface="Calibri" pitchFamily="34" charset="0"/>
                <a:ea typeface="Calibri" pitchFamily="34" charset="-122"/>
                <a:cs typeface="Calibri" pitchFamily="34" charset="-120"/>
              </a:rPr>
              <a:t>SCHOOL</a:t>
            </a:r>
            <a:endParaRPr lang="en-US" sz="2000" dirty="0"/>
          </a:p>
        </p:txBody>
      </p:sp>
      <p:sp>
        <p:nvSpPr>
          <p:cNvPr id="10" name="Text 6"/>
          <p:cNvSpPr/>
          <p:nvPr/>
        </p:nvSpPr>
        <p:spPr>
          <a:xfrm>
            <a:off x="1737360" y="2423160"/>
            <a:ext cx="8778240" cy="457200"/>
          </a:xfrm>
          <a:prstGeom prst="rect">
            <a:avLst/>
          </a:prstGeom>
          <a:noFill/>
          <a:ln/>
        </p:spPr>
        <p:txBody>
          <a:bodyPr wrap="square" lIns="0" tIns="0" rIns="0" bIns="0" rtlCol="0" anchor="ctr"/>
          <a:lstStyle/>
          <a:p>
            <a:pPr marL="0" indent="0">
              <a:buNone/>
            </a:pPr>
            <a:r>
              <a:rPr lang="en-US" sz="2200" dirty="0">
                <a:solidFill>
                  <a:srgbClr val="1B2A4A"/>
                </a:solidFill>
                <a:latin typeface="Calibri" pitchFamily="34" charset="0"/>
                <a:ea typeface="Calibri" pitchFamily="34" charset="-122"/>
                <a:cs typeface="Calibri" pitchFamily="34" charset="-120"/>
              </a:rPr>
              <a:t>School of Artificial Intelligence and Advanced Computing</a:t>
            </a:r>
            <a:endParaRPr lang="en-US" sz="2200" dirty="0"/>
          </a:p>
        </p:txBody>
      </p:sp>
      <p:sp>
        <p:nvSpPr>
          <p:cNvPr id="11" name="Shape 7"/>
          <p:cNvSpPr/>
          <p:nvPr/>
        </p:nvSpPr>
        <p:spPr>
          <a:xfrm>
            <a:off x="548640" y="3136392"/>
            <a:ext cx="11064240" cy="1005840"/>
          </a:xfrm>
          <a:prstGeom prst="roundRect">
            <a:avLst>
              <a:gd name="adj" fmla="val 5455"/>
            </a:avLst>
          </a:prstGeom>
          <a:solidFill>
            <a:srgbClr val="E8EEF7"/>
          </a:solidFill>
          <a:ln w="12700">
            <a:solidFill>
              <a:srgbClr val="E8EEF7"/>
            </a:solidFill>
            <a:prstDash val="solid"/>
          </a:ln>
        </p:spPr>
      </p:sp>
      <p:sp>
        <p:nvSpPr>
          <p:cNvPr id="12" name="Shape 8"/>
          <p:cNvSpPr/>
          <p:nvPr/>
        </p:nvSpPr>
        <p:spPr>
          <a:xfrm>
            <a:off x="777240" y="3291840"/>
            <a:ext cx="713232" cy="713232"/>
          </a:xfrm>
          <a:prstGeom prst="ellipse">
            <a:avLst/>
          </a:prstGeom>
          <a:solidFill>
            <a:srgbClr val="1B2A4A"/>
          </a:solidFill>
          <a:ln w="12700">
            <a:solidFill>
              <a:srgbClr val="1B2A4A"/>
            </a:solidFill>
            <a:prstDash val="solid"/>
          </a:ln>
        </p:spPr>
      </p:sp>
      <p:pic>
        <p:nvPicPr>
          <p:cNvPr id="13" name="Image 2" descr="/home/claude/coa_ppt/icon_network_white.png"/>
          <p:cNvPicPr>
            <a:picLocks noChangeAspect="1"/>
          </p:cNvPicPr>
          <p:nvPr/>
        </p:nvPicPr>
        <p:blipFill>
          <a:blip r:embed="rId5"/>
          <a:stretch>
            <a:fillRect/>
          </a:stretch>
        </p:blipFill>
        <p:spPr>
          <a:xfrm>
            <a:off x="962680" y="3477280"/>
            <a:ext cx="342351" cy="342351"/>
          </a:xfrm>
          <a:prstGeom prst="rect">
            <a:avLst/>
          </a:prstGeom>
        </p:spPr>
      </p:pic>
      <p:sp>
        <p:nvSpPr>
          <p:cNvPr id="14" name="Text 9"/>
          <p:cNvSpPr/>
          <p:nvPr/>
        </p:nvSpPr>
        <p:spPr>
          <a:xfrm>
            <a:off x="1737360" y="3246120"/>
            <a:ext cx="3657600" cy="365760"/>
          </a:xfrm>
          <a:prstGeom prst="rect">
            <a:avLst/>
          </a:prstGeom>
          <a:noFill/>
          <a:ln/>
        </p:spPr>
        <p:txBody>
          <a:bodyPr wrap="square" lIns="0" tIns="0" rIns="0" bIns="0" rtlCol="0" anchor="ctr"/>
          <a:lstStyle/>
          <a:p>
            <a:pPr marL="0" indent="0">
              <a:buNone/>
            </a:pPr>
            <a:r>
              <a:rPr lang="en-US" sz="2000" b="1" dirty="0">
                <a:solidFill>
                  <a:srgbClr val="5B6B84"/>
                </a:solidFill>
                <a:latin typeface="Calibri" pitchFamily="34" charset="0"/>
                <a:ea typeface="Calibri" pitchFamily="34" charset="-122"/>
                <a:cs typeface="Calibri" pitchFamily="34" charset="-120"/>
              </a:rPr>
              <a:t>DEPARTMENT</a:t>
            </a:r>
            <a:endParaRPr lang="en-US" sz="2000" dirty="0"/>
          </a:p>
        </p:txBody>
      </p:sp>
      <p:sp>
        <p:nvSpPr>
          <p:cNvPr id="15" name="Text 10"/>
          <p:cNvSpPr/>
          <p:nvPr/>
        </p:nvSpPr>
        <p:spPr>
          <a:xfrm>
            <a:off x="1737360" y="3593592"/>
            <a:ext cx="8778240" cy="457200"/>
          </a:xfrm>
          <a:prstGeom prst="rect">
            <a:avLst/>
          </a:prstGeom>
          <a:noFill/>
          <a:ln/>
        </p:spPr>
        <p:txBody>
          <a:bodyPr wrap="square" lIns="0" tIns="0" rIns="0" bIns="0" rtlCol="0" anchor="ctr"/>
          <a:lstStyle/>
          <a:p>
            <a:pPr marL="0" indent="0">
              <a:buNone/>
            </a:pPr>
            <a:r>
              <a:rPr lang="en-US" sz="2200" dirty="0">
                <a:solidFill>
                  <a:srgbClr val="1B2A4A"/>
                </a:solidFill>
                <a:latin typeface="Calibri" pitchFamily="34" charset="0"/>
                <a:ea typeface="Calibri" pitchFamily="34" charset="-122"/>
                <a:cs typeface="Calibri" pitchFamily="34" charset="-120"/>
              </a:rPr>
              <a:t>Department of AI &amp; Robotics</a:t>
            </a:r>
            <a:endParaRPr lang="en-US" sz="2200" dirty="0"/>
          </a:p>
        </p:txBody>
      </p:sp>
      <p:sp>
        <p:nvSpPr>
          <p:cNvPr id="16" name="Shape 11"/>
          <p:cNvSpPr/>
          <p:nvPr/>
        </p:nvSpPr>
        <p:spPr>
          <a:xfrm>
            <a:off x="548640" y="4306824"/>
            <a:ext cx="11064240" cy="1005840"/>
          </a:xfrm>
          <a:prstGeom prst="roundRect">
            <a:avLst>
              <a:gd name="adj" fmla="val 5455"/>
            </a:avLst>
          </a:prstGeom>
          <a:solidFill>
            <a:srgbClr val="E8EEF7"/>
          </a:solidFill>
          <a:ln w="12700">
            <a:solidFill>
              <a:srgbClr val="E8EEF7"/>
            </a:solidFill>
            <a:prstDash val="solid"/>
          </a:ln>
        </p:spPr>
      </p:sp>
      <p:sp>
        <p:nvSpPr>
          <p:cNvPr id="17" name="Shape 12"/>
          <p:cNvSpPr/>
          <p:nvPr/>
        </p:nvSpPr>
        <p:spPr>
          <a:xfrm>
            <a:off x="777240" y="4462272"/>
            <a:ext cx="713232" cy="713232"/>
          </a:xfrm>
          <a:prstGeom prst="ellipse">
            <a:avLst/>
          </a:prstGeom>
          <a:solidFill>
            <a:srgbClr val="1B2A4A"/>
          </a:solidFill>
          <a:ln w="12700">
            <a:solidFill>
              <a:srgbClr val="1B2A4A"/>
            </a:solidFill>
            <a:prstDash val="solid"/>
          </a:ln>
        </p:spPr>
      </p:sp>
      <p:pic>
        <p:nvPicPr>
          <p:cNvPr id="18" name="Image 3" descr="/home/claude/coa_ppt/icon_diagram_white.png"/>
          <p:cNvPicPr>
            <a:picLocks noChangeAspect="1"/>
          </p:cNvPicPr>
          <p:nvPr/>
        </p:nvPicPr>
        <p:blipFill>
          <a:blip r:embed="rId6"/>
          <a:stretch>
            <a:fillRect/>
          </a:stretch>
        </p:blipFill>
        <p:spPr>
          <a:xfrm>
            <a:off x="962680" y="4647712"/>
            <a:ext cx="342351" cy="342351"/>
          </a:xfrm>
          <a:prstGeom prst="rect">
            <a:avLst/>
          </a:prstGeom>
        </p:spPr>
      </p:pic>
      <p:sp>
        <p:nvSpPr>
          <p:cNvPr id="19" name="Text 13"/>
          <p:cNvSpPr/>
          <p:nvPr/>
        </p:nvSpPr>
        <p:spPr>
          <a:xfrm>
            <a:off x="1737360" y="4416552"/>
            <a:ext cx="3657600" cy="365760"/>
          </a:xfrm>
          <a:prstGeom prst="rect">
            <a:avLst/>
          </a:prstGeom>
          <a:noFill/>
          <a:ln/>
        </p:spPr>
        <p:txBody>
          <a:bodyPr wrap="square" lIns="0" tIns="0" rIns="0" bIns="0" rtlCol="0" anchor="ctr"/>
          <a:lstStyle/>
          <a:p>
            <a:pPr marL="0" indent="0">
              <a:buNone/>
            </a:pPr>
            <a:r>
              <a:rPr lang="en-US" sz="2000" b="1" dirty="0">
                <a:solidFill>
                  <a:srgbClr val="5B6B84"/>
                </a:solidFill>
                <a:latin typeface="Calibri" pitchFamily="34" charset="0"/>
                <a:ea typeface="Calibri" pitchFamily="34" charset="-122"/>
                <a:cs typeface="Calibri" pitchFamily="34" charset="-120"/>
              </a:rPr>
              <a:t>COURSE</a:t>
            </a:r>
            <a:endParaRPr lang="en-US" sz="2000" dirty="0"/>
          </a:p>
        </p:txBody>
      </p:sp>
      <p:sp>
        <p:nvSpPr>
          <p:cNvPr id="20" name="Text 14"/>
          <p:cNvSpPr/>
          <p:nvPr/>
        </p:nvSpPr>
        <p:spPr>
          <a:xfrm>
            <a:off x="1737360" y="4764024"/>
            <a:ext cx="8778240" cy="457200"/>
          </a:xfrm>
          <a:prstGeom prst="rect">
            <a:avLst/>
          </a:prstGeom>
          <a:noFill/>
          <a:ln/>
        </p:spPr>
        <p:txBody>
          <a:bodyPr wrap="square" lIns="0" tIns="0" rIns="0" bIns="0" rtlCol="0" anchor="ctr"/>
          <a:lstStyle/>
          <a:p>
            <a:pPr marL="0" indent="0">
              <a:buNone/>
            </a:pPr>
            <a:r>
              <a:rPr lang="en-US" sz="2200" dirty="0">
                <a:solidFill>
                  <a:srgbClr val="1B2A4A"/>
                </a:solidFill>
                <a:latin typeface="Calibri" pitchFamily="34" charset="0"/>
                <a:ea typeface="Calibri" pitchFamily="34" charset="-122"/>
                <a:cs typeface="Calibri" pitchFamily="34" charset="-120"/>
              </a:rPr>
              <a:t>Computer Organization and Architecture (CSS2257)</a:t>
            </a:r>
            <a:endParaRPr lang="en-US" sz="2200" dirty="0"/>
          </a:p>
        </p:txBody>
      </p:sp>
      <p:sp>
        <p:nvSpPr>
          <p:cNvPr id="21" name="Shape 15"/>
          <p:cNvSpPr/>
          <p:nvPr/>
        </p:nvSpPr>
        <p:spPr>
          <a:xfrm>
            <a:off x="548640" y="5477256"/>
            <a:ext cx="11064240" cy="1005840"/>
          </a:xfrm>
          <a:prstGeom prst="roundRect">
            <a:avLst>
              <a:gd name="adj" fmla="val 5455"/>
            </a:avLst>
          </a:prstGeom>
          <a:solidFill>
            <a:srgbClr val="E8EEF7"/>
          </a:solidFill>
          <a:ln w="12700">
            <a:solidFill>
              <a:srgbClr val="E8EEF7"/>
            </a:solidFill>
            <a:prstDash val="solid"/>
          </a:ln>
        </p:spPr>
      </p:sp>
      <p:sp>
        <p:nvSpPr>
          <p:cNvPr id="22" name="Shape 16"/>
          <p:cNvSpPr/>
          <p:nvPr/>
        </p:nvSpPr>
        <p:spPr>
          <a:xfrm>
            <a:off x="777240" y="5632704"/>
            <a:ext cx="713232" cy="713232"/>
          </a:xfrm>
          <a:prstGeom prst="ellipse">
            <a:avLst/>
          </a:prstGeom>
          <a:solidFill>
            <a:srgbClr val="1B2A4A"/>
          </a:solidFill>
          <a:ln w="12700">
            <a:solidFill>
              <a:srgbClr val="1B2A4A"/>
            </a:solidFill>
            <a:prstDash val="solid"/>
          </a:ln>
        </p:spPr>
      </p:sp>
      <p:pic>
        <p:nvPicPr>
          <p:cNvPr id="23" name="Image 4" descr="/home/claude/coa_ppt/icon_brain_white.png"/>
          <p:cNvPicPr>
            <a:picLocks noChangeAspect="1"/>
          </p:cNvPicPr>
          <p:nvPr/>
        </p:nvPicPr>
        <p:blipFill>
          <a:blip r:embed="rId7"/>
          <a:stretch>
            <a:fillRect/>
          </a:stretch>
        </p:blipFill>
        <p:spPr>
          <a:xfrm>
            <a:off x="962680" y="5818144"/>
            <a:ext cx="342351" cy="342351"/>
          </a:xfrm>
          <a:prstGeom prst="rect">
            <a:avLst/>
          </a:prstGeom>
        </p:spPr>
      </p:pic>
      <p:sp>
        <p:nvSpPr>
          <p:cNvPr id="24" name="Text 17"/>
          <p:cNvSpPr/>
          <p:nvPr/>
        </p:nvSpPr>
        <p:spPr>
          <a:xfrm>
            <a:off x="1737360" y="5586984"/>
            <a:ext cx="3657600" cy="365760"/>
          </a:xfrm>
          <a:prstGeom prst="rect">
            <a:avLst/>
          </a:prstGeom>
          <a:noFill/>
          <a:ln/>
        </p:spPr>
        <p:txBody>
          <a:bodyPr wrap="square" lIns="0" tIns="0" rIns="0" bIns="0" rtlCol="0" anchor="ctr"/>
          <a:lstStyle/>
          <a:p>
            <a:pPr marL="0" indent="0">
              <a:buNone/>
            </a:pPr>
            <a:r>
              <a:rPr lang="en-US" sz="2000" b="1" dirty="0">
                <a:solidFill>
                  <a:srgbClr val="5B6B84"/>
                </a:solidFill>
                <a:latin typeface="Calibri" pitchFamily="34" charset="0"/>
                <a:ea typeface="Calibri" pitchFamily="34" charset="-122"/>
                <a:cs typeface="Calibri" pitchFamily="34" charset="-120"/>
              </a:rPr>
              <a:t>FACULTY</a:t>
            </a:r>
            <a:endParaRPr lang="en-US" sz="2000" dirty="0"/>
          </a:p>
        </p:txBody>
      </p:sp>
      <p:sp>
        <p:nvSpPr>
          <p:cNvPr id="25" name="Text 18"/>
          <p:cNvSpPr/>
          <p:nvPr/>
        </p:nvSpPr>
        <p:spPr>
          <a:xfrm>
            <a:off x="1737360" y="5934456"/>
            <a:ext cx="8778240" cy="457200"/>
          </a:xfrm>
          <a:prstGeom prst="rect">
            <a:avLst/>
          </a:prstGeom>
          <a:noFill/>
          <a:ln/>
        </p:spPr>
        <p:txBody>
          <a:bodyPr wrap="square" lIns="0" tIns="0" rIns="0" bIns="0" rtlCol="0" anchor="ctr"/>
          <a:lstStyle/>
          <a:p>
            <a:pPr marL="0" indent="0">
              <a:buNone/>
            </a:pPr>
            <a:r>
              <a:rPr lang="en-US" sz="2200" dirty="0">
                <a:solidFill>
                  <a:srgbClr val="1B2A4A"/>
                </a:solidFill>
                <a:latin typeface="Calibri" pitchFamily="34" charset="0"/>
                <a:ea typeface="Calibri" pitchFamily="34" charset="-122"/>
                <a:cs typeface="Calibri" pitchFamily="34" charset="-120"/>
              </a:rPr>
              <a:t>Manoj Sagar, Assistant Professor</a:t>
            </a:r>
            <a:endParaRPr lang="en-US" sz="2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11480"/>
            <a:ext cx="9601200" cy="868680"/>
          </a:xfrm>
          <a:prstGeom prst="rect">
            <a:avLst/>
          </a:prstGeom>
          <a:noFill/>
          <a:ln/>
        </p:spPr>
        <p:txBody>
          <a:bodyPr wrap="square" lIns="0" tIns="0" rIns="0" bIns="0" rtlCol="0" anchor="ctr"/>
          <a:lstStyle/>
          <a:p>
            <a:pPr marL="0" indent="0" algn="l">
              <a:buNone/>
            </a:pPr>
            <a:r>
              <a:rPr lang="en-US" sz="3400" b="1" dirty="0">
                <a:solidFill>
                  <a:srgbClr val="1B2A4A"/>
                </a:solidFill>
                <a:latin typeface="Cambria" pitchFamily="34" charset="0"/>
                <a:ea typeface="Cambria" pitchFamily="34" charset="-122"/>
                <a:cs typeface="Cambria" pitchFamily="34" charset="-120"/>
              </a:rPr>
              <a:t>Learning Objectives</a:t>
            </a:r>
            <a:endParaRPr lang="en-US" sz="3400" dirty="0"/>
          </a:p>
        </p:txBody>
      </p:sp>
      <p:sp>
        <p:nvSpPr>
          <p:cNvPr id="3" name="Shape 1"/>
          <p:cNvSpPr/>
          <p:nvPr/>
        </p:nvSpPr>
        <p:spPr>
          <a:xfrm>
            <a:off x="10607040" y="365760"/>
            <a:ext cx="914400" cy="914400"/>
          </a:xfrm>
          <a:prstGeom prst="ellipse">
            <a:avLst/>
          </a:prstGeom>
          <a:solidFill>
            <a:srgbClr val="1B2A4A"/>
          </a:solidFill>
          <a:ln w="12700">
            <a:solidFill>
              <a:srgbClr val="1B2A4A"/>
            </a:solidFill>
            <a:prstDash val="solid"/>
          </a:ln>
        </p:spPr>
      </p:sp>
      <p:pic>
        <p:nvPicPr>
          <p:cNvPr id="4" name="Image 0" descr="/home/claude/coa_ppt/icon_list_white.png"/>
          <p:cNvPicPr>
            <a:picLocks noChangeAspect="1"/>
          </p:cNvPicPr>
          <p:nvPr/>
        </p:nvPicPr>
        <p:blipFill>
          <a:blip r:embed="rId3"/>
          <a:stretch>
            <a:fillRect/>
          </a:stretch>
        </p:blipFill>
        <p:spPr>
          <a:xfrm>
            <a:off x="10844784" y="603504"/>
            <a:ext cx="438912" cy="438912"/>
          </a:xfrm>
          <a:prstGeom prst="rect">
            <a:avLst/>
          </a:prstGeom>
        </p:spPr>
      </p:pic>
      <p:sp>
        <p:nvSpPr>
          <p:cNvPr id="5" name="Text 2"/>
          <p:cNvSpPr/>
          <p:nvPr/>
        </p:nvSpPr>
        <p:spPr>
          <a:xfrm>
            <a:off x="548640" y="1417320"/>
            <a:ext cx="6675120" cy="4754880"/>
          </a:xfrm>
          <a:prstGeom prst="rect">
            <a:avLst/>
          </a:prstGeom>
          <a:noFill/>
          <a:ln/>
        </p:spPr>
        <p:txBody>
          <a:bodyPr wrap="square" lIns="0" tIns="0" rIns="0" bIns="0" rtlCol="0" anchor="t"/>
          <a:lstStyle/>
          <a:p>
            <a:pPr marL="279400" indent="-279400">
              <a:lnSpc>
                <a:spcPct val="108000"/>
              </a:lnSpc>
              <a:spcAft>
                <a:spcPts val="1600"/>
              </a:spcAft>
              <a:buSzPct val="100000"/>
              <a:buChar char="•"/>
            </a:pPr>
            <a:r>
              <a:rPr lang="en-US" sz="2000" dirty="0">
                <a:solidFill>
                  <a:srgbClr val="1B2A4A"/>
                </a:solidFill>
                <a:latin typeface="Calibri" pitchFamily="34" charset="0"/>
                <a:ea typeface="Calibri" pitchFamily="34" charset="-122"/>
                <a:cs typeface="Calibri" pitchFamily="34" charset="-120"/>
              </a:rPr>
              <a:t>Define computer performance in terms of response time and throughput</a:t>
            </a:r>
            <a:endParaRPr lang="en-US" sz="2000" dirty="0"/>
          </a:p>
          <a:p>
            <a:pPr marL="279400" indent="-279400">
              <a:lnSpc>
                <a:spcPct val="108000"/>
              </a:lnSpc>
              <a:spcAft>
                <a:spcPts val="1600"/>
              </a:spcAft>
              <a:buSzPct val="100000"/>
              <a:buChar char="•"/>
            </a:pPr>
            <a:r>
              <a:rPr lang="en-US" sz="2000" dirty="0">
                <a:solidFill>
                  <a:srgbClr val="1B2A4A"/>
                </a:solidFill>
                <a:latin typeface="Calibri" pitchFamily="34" charset="0"/>
                <a:ea typeface="Calibri" pitchFamily="34" charset="-122"/>
                <a:cs typeface="Calibri" pitchFamily="34" charset="-120"/>
              </a:rPr>
              <a:t>Compute CPU execution time using the Instruction Count, CPI, and Clock Cycle Time equation</a:t>
            </a:r>
            <a:endParaRPr lang="en-US" sz="2000" dirty="0"/>
          </a:p>
          <a:p>
            <a:pPr marL="279400" indent="-279400">
              <a:lnSpc>
                <a:spcPct val="108000"/>
              </a:lnSpc>
              <a:spcAft>
                <a:spcPts val="1600"/>
              </a:spcAft>
              <a:buSzPct val="100000"/>
              <a:buChar char="•"/>
            </a:pPr>
            <a:r>
              <a:rPr lang="en-US" sz="2000" dirty="0">
                <a:solidFill>
                  <a:srgbClr val="1B2A4A"/>
                </a:solidFill>
                <a:latin typeface="Calibri" pitchFamily="34" charset="0"/>
                <a:ea typeface="Calibri" pitchFamily="34" charset="-122"/>
                <a:cs typeface="Calibri" pitchFamily="34" charset="-120"/>
              </a:rPr>
              <a:t>Explain the processor clock: clock rate, cycle time, and their relationship</a:t>
            </a:r>
            <a:endParaRPr lang="en-US" sz="2000" dirty="0"/>
          </a:p>
          <a:p>
            <a:pPr marL="279400" indent="-279400">
              <a:lnSpc>
                <a:spcPct val="108000"/>
              </a:lnSpc>
              <a:spcAft>
                <a:spcPts val="1600"/>
              </a:spcAft>
              <a:buSzPct val="100000"/>
              <a:buChar char="•"/>
            </a:pPr>
            <a:r>
              <a:rPr lang="en-US" sz="2000" dirty="0">
                <a:solidFill>
                  <a:srgbClr val="1B2A4A"/>
                </a:solidFill>
                <a:latin typeface="Calibri" pitchFamily="34" charset="0"/>
                <a:ea typeface="Calibri" pitchFamily="34" charset="-122"/>
                <a:cs typeface="Calibri" pitchFamily="34" charset="-120"/>
              </a:rPr>
              <a:t>State and apply Amdahl's Law to evaluate the benefit of an enhancement</a:t>
            </a:r>
            <a:endParaRPr lang="en-US" sz="2000" dirty="0"/>
          </a:p>
          <a:p>
            <a:pPr marL="279400" indent="-279400">
              <a:lnSpc>
                <a:spcPct val="108000"/>
              </a:lnSpc>
              <a:spcAft>
                <a:spcPts val="1600"/>
              </a:spcAft>
              <a:buSzPct val="100000"/>
              <a:buChar char="•"/>
            </a:pPr>
            <a:r>
              <a:rPr lang="en-US" sz="2000" dirty="0">
                <a:solidFill>
                  <a:srgbClr val="1B2A4A"/>
                </a:solidFill>
                <a:latin typeface="Calibri" pitchFamily="34" charset="0"/>
                <a:ea typeface="Calibri" pitchFamily="34" charset="-122"/>
                <a:cs typeface="Calibri" pitchFamily="34" charset="-120"/>
              </a:rPr>
              <a:t>Describe key technology trends that have shaped modern processor design</a:t>
            </a:r>
            <a:endParaRPr lang="en-US" sz="2000" dirty="0"/>
          </a:p>
          <a:p>
            <a:pPr marL="279400" indent="-279400">
              <a:lnSpc>
                <a:spcPct val="108000"/>
              </a:lnSpc>
              <a:spcAft>
                <a:spcPts val="1600"/>
              </a:spcAft>
              <a:buSzPct val="100000"/>
              <a:buChar char="•"/>
            </a:pPr>
            <a:r>
              <a:rPr lang="en-US" sz="2000" dirty="0">
                <a:solidFill>
                  <a:srgbClr val="1B2A4A"/>
                </a:solidFill>
                <a:latin typeface="Calibri" pitchFamily="34" charset="0"/>
                <a:ea typeface="Calibri" pitchFamily="34" charset="-122"/>
                <a:cs typeface="Calibri" pitchFamily="34" charset="-120"/>
              </a:rPr>
              <a:t>Distinguish between instruction-level, data-level, and thread-level parallelism</a:t>
            </a:r>
            <a:endParaRPr lang="en-US" sz="2000" dirty="0"/>
          </a:p>
        </p:txBody>
      </p:sp>
      <p:sp>
        <p:nvSpPr>
          <p:cNvPr id="6" name="Shape 3"/>
          <p:cNvSpPr/>
          <p:nvPr/>
        </p:nvSpPr>
        <p:spPr>
          <a:xfrm>
            <a:off x="7315200" y="4617720"/>
            <a:ext cx="4434840" cy="1828800"/>
          </a:xfrm>
          <a:prstGeom prst="roundRect">
            <a:avLst>
              <a:gd name="adj" fmla="val 4000"/>
            </a:avLst>
          </a:prstGeom>
          <a:solidFill>
            <a:srgbClr val="E8EEF7"/>
          </a:solidFill>
          <a:ln w="12700">
            <a:solidFill>
              <a:srgbClr val="E8EEF7"/>
            </a:solidFill>
            <a:prstDash val="solid"/>
          </a:ln>
        </p:spPr>
      </p:sp>
      <p:sp>
        <p:nvSpPr>
          <p:cNvPr id="7" name="Text 4"/>
          <p:cNvSpPr/>
          <p:nvPr/>
        </p:nvSpPr>
        <p:spPr>
          <a:xfrm>
            <a:off x="7543800" y="4745736"/>
            <a:ext cx="3977640" cy="1572768"/>
          </a:xfrm>
          <a:prstGeom prst="rect">
            <a:avLst/>
          </a:prstGeom>
          <a:noFill/>
          <a:ln/>
        </p:spPr>
        <p:txBody>
          <a:bodyPr wrap="square" lIns="0" tIns="0" rIns="0" bIns="0" rtlCol="0" anchor="t"/>
          <a:lstStyle/>
          <a:p>
            <a:pPr marL="0" indent="0">
              <a:lnSpc>
                <a:spcPct val="102000"/>
              </a:lnSpc>
              <a:buNone/>
            </a:pPr>
            <a:r>
              <a:rPr lang="en-US" sz="2000" b="1" dirty="0">
                <a:solidFill>
                  <a:srgbClr val="1B2A4A"/>
                </a:solidFill>
                <a:latin typeface="Calibri" pitchFamily="34" charset="0"/>
                <a:ea typeface="Calibri" pitchFamily="34" charset="-122"/>
                <a:cs typeface="Calibri" pitchFamily="34" charset="-120"/>
              </a:rPr>
              <a:t>Visual &amp; Delivery Tip
</a:t>
            </a:r>
            <a:endParaRPr lang="en-US" sz="2000" dirty="0"/>
          </a:p>
          <a:p>
            <a:pPr marL="0" indent="0">
              <a:lnSpc>
                <a:spcPct val="102000"/>
              </a:lnSpc>
              <a:buNone/>
            </a:pPr>
            <a:r>
              <a:rPr lang="en-US" sz="2000" dirty="0">
                <a:solidFill>
                  <a:srgbClr val="5B6B84"/>
                </a:solidFill>
                <a:latin typeface="Calibri" pitchFamily="34" charset="0"/>
                <a:ea typeface="Calibri" pitchFamily="34" charset="-122"/>
                <a:cs typeface="Calibri" pitchFamily="34" charset="-120"/>
              </a:rPr>
              <a:t>Read each objective aloud. Tell students these are exactly the skills tested in today's quiz.</a:t>
            </a:r>
            <a:endParaRPr lang="en-US" sz="2000" dirty="0"/>
          </a:p>
        </p:txBody>
      </p:sp>
      <p:sp>
        <p:nvSpPr>
          <p:cNvPr id="8" name="Text 5"/>
          <p:cNvSpPr/>
          <p:nvPr/>
        </p:nvSpPr>
        <p:spPr>
          <a:xfrm>
            <a:off x="457200" y="6601968"/>
            <a:ext cx="4572000" cy="256032"/>
          </a:xfrm>
          <a:prstGeom prst="rect">
            <a:avLst/>
          </a:prstGeom>
          <a:noFill/>
          <a:ln/>
        </p:spPr>
        <p:txBody>
          <a:bodyPr wrap="square" lIns="0" tIns="0" rIns="0" bIns="0" rtlCol="0" anchor="ctr"/>
          <a:lstStyle/>
          <a:p>
            <a:pPr marL="0" indent="0" algn="l">
              <a:buNone/>
            </a:pPr>
            <a:r>
              <a:rPr lang="en-US" sz="2000" dirty="0">
                <a:solidFill>
                  <a:srgbClr val="5B6B84"/>
                </a:solidFill>
                <a:latin typeface="Calibri" pitchFamily="34" charset="0"/>
                <a:ea typeface="Calibri" pitchFamily="34" charset="-122"/>
                <a:cs typeface="Calibri" pitchFamily="34" charset="-120"/>
              </a:rPr>
              <a:t>Presidency University, Bengaluru</a:t>
            </a:r>
            <a:endParaRPr lang="en-US" sz="2000" dirty="0"/>
          </a:p>
        </p:txBody>
      </p:sp>
      <p:sp>
        <p:nvSpPr>
          <p:cNvPr id="9" name="Text 6"/>
          <p:cNvSpPr/>
          <p:nvPr/>
        </p:nvSpPr>
        <p:spPr>
          <a:xfrm>
            <a:off x="9902952" y="6601968"/>
            <a:ext cx="1828800" cy="256032"/>
          </a:xfrm>
          <a:prstGeom prst="rect">
            <a:avLst/>
          </a:prstGeom>
          <a:noFill/>
          <a:ln/>
        </p:spPr>
        <p:txBody>
          <a:bodyPr wrap="square" lIns="0" tIns="0" rIns="0" bIns="0" rtlCol="0" anchor="ctr"/>
          <a:lstStyle/>
          <a:p>
            <a:pPr marL="0" indent="0" algn="r">
              <a:buNone/>
            </a:pPr>
            <a:r>
              <a:rPr lang="en-US" sz="2000" dirty="0">
                <a:solidFill>
                  <a:srgbClr val="5B6B84"/>
                </a:solidFill>
                <a:latin typeface="Calibri" pitchFamily="34" charset="0"/>
                <a:ea typeface="Calibri" pitchFamily="34" charset="-122"/>
                <a:cs typeface="Calibri" pitchFamily="34" charset="-120"/>
              </a:rPr>
              <a:t>CSS2257</a:t>
            </a:r>
            <a:endParaRPr lang="en-US" sz="2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B2A4A"/>
        </a:solidFill>
        <a:effectLst/>
      </p:bgPr>
    </p:bg>
    <p:spTree>
      <p:nvGrpSpPr>
        <p:cNvPr id="1" name=""/>
        <p:cNvGrpSpPr/>
        <p:nvPr/>
      </p:nvGrpSpPr>
      <p:grpSpPr>
        <a:xfrm>
          <a:off x="0" y="0"/>
          <a:ext cx="0" cy="0"/>
          <a:chOff x="0" y="0"/>
          <a:chExt cx="0" cy="0"/>
        </a:xfrm>
      </p:grpSpPr>
      <p:sp>
        <p:nvSpPr>
          <p:cNvPr id="2" name="Text 0"/>
          <p:cNvSpPr/>
          <p:nvPr/>
        </p:nvSpPr>
        <p:spPr>
          <a:xfrm>
            <a:off x="548640" y="411480"/>
            <a:ext cx="9601200" cy="868680"/>
          </a:xfrm>
          <a:prstGeom prst="rect">
            <a:avLst/>
          </a:prstGeom>
          <a:noFill/>
          <a:ln/>
        </p:spPr>
        <p:txBody>
          <a:bodyPr wrap="square" lIns="0" tIns="0" rIns="0" bIns="0" rtlCol="0" anchor="ctr"/>
          <a:lstStyle/>
          <a:p>
            <a:pPr marL="0" indent="0" algn="l">
              <a:buNone/>
            </a:pPr>
            <a:r>
              <a:rPr lang="en-US" sz="3400" b="1" dirty="0">
                <a:solidFill>
                  <a:srgbClr val="FFFFFF"/>
                </a:solidFill>
                <a:latin typeface="Cambria" pitchFamily="34" charset="0"/>
                <a:ea typeface="Cambria" pitchFamily="34" charset="-122"/>
                <a:cs typeface="Cambria" pitchFamily="34" charset="-120"/>
              </a:rPr>
              <a:t>Quick Icebreaker</a:t>
            </a:r>
            <a:endParaRPr lang="en-US" sz="3400" dirty="0"/>
          </a:p>
        </p:txBody>
      </p:sp>
      <p:sp>
        <p:nvSpPr>
          <p:cNvPr id="3" name="Shape 1"/>
          <p:cNvSpPr/>
          <p:nvPr/>
        </p:nvSpPr>
        <p:spPr>
          <a:xfrm>
            <a:off x="10607040" y="365760"/>
            <a:ext cx="914400" cy="914400"/>
          </a:xfrm>
          <a:prstGeom prst="ellipse">
            <a:avLst/>
          </a:prstGeom>
          <a:solidFill>
            <a:srgbClr val="233B63"/>
          </a:solidFill>
          <a:ln w="12700">
            <a:solidFill>
              <a:srgbClr val="233B63"/>
            </a:solidFill>
            <a:prstDash val="solid"/>
          </a:ln>
        </p:spPr>
      </p:sp>
      <p:pic>
        <p:nvPicPr>
          <p:cNvPr id="4" name="Image 0" descr="/home/claude/coa_ppt/icon_question_white.png"/>
          <p:cNvPicPr>
            <a:picLocks noChangeAspect="1"/>
          </p:cNvPicPr>
          <p:nvPr/>
        </p:nvPicPr>
        <p:blipFill>
          <a:blip r:embed="rId3"/>
          <a:stretch>
            <a:fillRect/>
          </a:stretch>
        </p:blipFill>
        <p:spPr>
          <a:xfrm>
            <a:off x="10844784" y="603504"/>
            <a:ext cx="438912" cy="438912"/>
          </a:xfrm>
          <a:prstGeom prst="rect">
            <a:avLst/>
          </a:prstGeom>
        </p:spPr>
      </p:pic>
      <p:sp>
        <p:nvSpPr>
          <p:cNvPr id="5" name="Shape 2"/>
          <p:cNvSpPr/>
          <p:nvPr/>
        </p:nvSpPr>
        <p:spPr>
          <a:xfrm>
            <a:off x="548640" y="1554480"/>
            <a:ext cx="10881360" cy="1188720"/>
          </a:xfrm>
          <a:prstGeom prst="roundRect">
            <a:avLst>
              <a:gd name="adj" fmla="val 6154"/>
            </a:avLst>
          </a:prstGeom>
          <a:solidFill>
            <a:srgbClr val="233B63"/>
          </a:solidFill>
          <a:ln w="12700">
            <a:solidFill>
              <a:srgbClr val="233B63"/>
            </a:solidFill>
            <a:prstDash val="solid"/>
          </a:ln>
        </p:spPr>
      </p:sp>
      <p:sp>
        <p:nvSpPr>
          <p:cNvPr id="6" name="Text 3"/>
          <p:cNvSpPr/>
          <p:nvPr/>
        </p:nvSpPr>
        <p:spPr>
          <a:xfrm>
            <a:off x="731520" y="1828800"/>
            <a:ext cx="822960" cy="640080"/>
          </a:xfrm>
          <a:prstGeom prst="rect">
            <a:avLst/>
          </a:prstGeom>
          <a:noFill/>
          <a:ln/>
        </p:spPr>
        <p:txBody>
          <a:bodyPr wrap="square" lIns="0" tIns="0" rIns="0" bIns="0" rtlCol="0" anchor="ctr"/>
          <a:lstStyle/>
          <a:p>
            <a:pPr marL="0" indent="0" algn="ctr">
              <a:buNone/>
            </a:pPr>
            <a:r>
              <a:rPr lang="en-US" sz="2800" b="1" dirty="0">
                <a:solidFill>
                  <a:srgbClr val="00D9FF"/>
                </a:solidFill>
                <a:latin typeface="Cambria" pitchFamily="34" charset="0"/>
                <a:ea typeface="Cambria" pitchFamily="34" charset="-122"/>
                <a:cs typeface="Cambria" pitchFamily="34" charset="-120"/>
              </a:rPr>
              <a:t>Q1</a:t>
            </a:r>
            <a:endParaRPr lang="en-US" sz="2800" dirty="0"/>
          </a:p>
        </p:txBody>
      </p:sp>
      <p:sp>
        <p:nvSpPr>
          <p:cNvPr id="7" name="Text 4"/>
          <p:cNvSpPr/>
          <p:nvPr/>
        </p:nvSpPr>
        <p:spPr>
          <a:xfrm>
            <a:off x="1737360" y="1719072"/>
            <a:ext cx="9418320" cy="868680"/>
          </a:xfrm>
          <a:prstGeom prst="rect">
            <a:avLst/>
          </a:prstGeom>
          <a:noFill/>
          <a:ln/>
        </p:spPr>
        <p:txBody>
          <a:bodyPr wrap="square" lIns="0" tIns="0" rIns="0" bIns="0" rtlCol="0" anchor="ctr"/>
          <a:lstStyle/>
          <a:p>
            <a:pPr marL="0" indent="0">
              <a:buNone/>
            </a:pPr>
            <a:r>
              <a:rPr lang="en-US" sz="2200" dirty="0">
                <a:solidFill>
                  <a:srgbClr val="FFFFFF"/>
                </a:solidFill>
                <a:latin typeface="Calibri" pitchFamily="34" charset="0"/>
                <a:ea typeface="Calibri" pitchFamily="34" charset="-122"/>
                <a:cs typeface="Calibri" pitchFamily="34" charset="-120"/>
              </a:rPr>
              <a:t>When you buy a phone or laptop, what specification do you check first — GHz, RAM, or something else?</a:t>
            </a:r>
            <a:endParaRPr lang="en-US" sz="2200" dirty="0"/>
          </a:p>
        </p:txBody>
      </p:sp>
      <p:sp>
        <p:nvSpPr>
          <p:cNvPr id="8" name="Shape 5"/>
          <p:cNvSpPr/>
          <p:nvPr/>
        </p:nvSpPr>
        <p:spPr>
          <a:xfrm>
            <a:off x="548640" y="2971800"/>
            <a:ext cx="10881360" cy="1188720"/>
          </a:xfrm>
          <a:prstGeom prst="roundRect">
            <a:avLst>
              <a:gd name="adj" fmla="val 6154"/>
            </a:avLst>
          </a:prstGeom>
          <a:solidFill>
            <a:srgbClr val="233B63"/>
          </a:solidFill>
          <a:ln w="12700">
            <a:solidFill>
              <a:srgbClr val="233B63"/>
            </a:solidFill>
            <a:prstDash val="solid"/>
          </a:ln>
        </p:spPr>
      </p:sp>
      <p:sp>
        <p:nvSpPr>
          <p:cNvPr id="9" name="Text 6"/>
          <p:cNvSpPr/>
          <p:nvPr/>
        </p:nvSpPr>
        <p:spPr>
          <a:xfrm>
            <a:off x="731520" y="3246120"/>
            <a:ext cx="822960" cy="640080"/>
          </a:xfrm>
          <a:prstGeom prst="rect">
            <a:avLst/>
          </a:prstGeom>
          <a:noFill/>
          <a:ln/>
        </p:spPr>
        <p:txBody>
          <a:bodyPr wrap="square" lIns="0" tIns="0" rIns="0" bIns="0" rtlCol="0" anchor="ctr"/>
          <a:lstStyle/>
          <a:p>
            <a:pPr marL="0" indent="0" algn="ctr">
              <a:buNone/>
            </a:pPr>
            <a:r>
              <a:rPr lang="en-US" sz="2800" b="1" dirty="0">
                <a:solidFill>
                  <a:srgbClr val="00D9FF"/>
                </a:solidFill>
                <a:latin typeface="Cambria" pitchFamily="34" charset="0"/>
                <a:ea typeface="Cambria" pitchFamily="34" charset="-122"/>
                <a:cs typeface="Cambria" pitchFamily="34" charset="-120"/>
              </a:rPr>
              <a:t>Q2</a:t>
            </a:r>
            <a:endParaRPr lang="en-US" sz="2800" dirty="0"/>
          </a:p>
        </p:txBody>
      </p:sp>
      <p:sp>
        <p:nvSpPr>
          <p:cNvPr id="10" name="Text 7"/>
          <p:cNvSpPr/>
          <p:nvPr/>
        </p:nvSpPr>
        <p:spPr>
          <a:xfrm>
            <a:off x="1737360" y="3136392"/>
            <a:ext cx="9418320" cy="868680"/>
          </a:xfrm>
          <a:prstGeom prst="rect">
            <a:avLst/>
          </a:prstGeom>
          <a:noFill/>
          <a:ln/>
        </p:spPr>
        <p:txBody>
          <a:bodyPr wrap="square" lIns="0" tIns="0" rIns="0" bIns="0" rtlCol="0" anchor="ctr"/>
          <a:lstStyle/>
          <a:p>
            <a:pPr marL="0" indent="0">
              <a:buNone/>
            </a:pPr>
            <a:r>
              <a:rPr lang="en-US" sz="2200" dirty="0">
                <a:solidFill>
                  <a:srgbClr val="FFFFFF"/>
                </a:solidFill>
                <a:latin typeface="Calibri" pitchFamily="34" charset="0"/>
                <a:ea typeface="Calibri" pitchFamily="34" charset="-122"/>
                <a:cs typeface="Calibri" pitchFamily="34" charset="-120"/>
              </a:rPr>
              <a:t>Have you ever noticed two phones with the 'same GHz' feeling very different in speed? Why do you think that happens?</a:t>
            </a:r>
            <a:endParaRPr lang="en-US" sz="2200" dirty="0"/>
          </a:p>
        </p:txBody>
      </p:sp>
      <p:sp>
        <p:nvSpPr>
          <p:cNvPr id="11" name="Shape 8"/>
          <p:cNvSpPr/>
          <p:nvPr/>
        </p:nvSpPr>
        <p:spPr>
          <a:xfrm>
            <a:off x="548640" y="4389120"/>
            <a:ext cx="10881360" cy="1188720"/>
          </a:xfrm>
          <a:prstGeom prst="roundRect">
            <a:avLst>
              <a:gd name="adj" fmla="val 6154"/>
            </a:avLst>
          </a:prstGeom>
          <a:solidFill>
            <a:srgbClr val="233B63"/>
          </a:solidFill>
          <a:ln w="12700">
            <a:solidFill>
              <a:srgbClr val="233B63"/>
            </a:solidFill>
            <a:prstDash val="solid"/>
          </a:ln>
        </p:spPr>
      </p:sp>
      <p:sp>
        <p:nvSpPr>
          <p:cNvPr id="12" name="Text 9"/>
          <p:cNvSpPr/>
          <p:nvPr/>
        </p:nvSpPr>
        <p:spPr>
          <a:xfrm>
            <a:off x="731520" y="4663440"/>
            <a:ext cx="822960" cy="640080"/>
          </a:xfrm>
          <a:prstGeom prst="rect">
            <a:avLst/>
          </a:prstGeom>
          <a:noFill/>
          <a:ln/>
        </p:spPr>
        <p:txBody>
          <a:bodyPr wrap="square" lIns="0" tIns="0" rIns="0" bIns="0" rtlCol="0" anchor="ctr"/>
          <a:lstStyle/>
          <a:p>
            <a:pPr marL="0" indent="0" algn="ctr">
              <a:buNone/>
            </a:pPr>
            <a:r>
              <a:rPr lang="en-US" sz="2800" b="1" dirty="0">
                <a:solidFill>
                  <a:srgbClr val="00D9FF"/>
                </a:solidFill>
                <a:latin typeface="Cambria" pitchFamily="34" charset="0"/>
                <a:ea typeface="Cambria" pitchFamily="34" charset="-122"/>
                <a:cs typeface="Cambria" pitchFamily="34" charset="-120"/>
              </a:rPr>
              <a:t>Q3</a:t>
            </a:r>
            <a:endParaRPr lang="en-US" sz="2800" dirty="0"/>
          </a:p>
        </p:txBody>
      </p:sp>
      <p:sp>
        <p:nvSpPr>
          <p:cNvPr id="13" name="Text 10"/>
          <p:cNvSpPr/>
          <p:nvPr/>
        </p:nvSpPr>
        <p:spPr>
          <a:xfrm>
            <a:off x="1737360" y="4553712"/>
            <a:ext cx="9418320" cy="868680"/>
          </a:xfrm>
          <a:prstGeom prst="rect">
            <a:avLst/>
          </a:prstGeom>
          <a:noFill/>
          <a:ln/>
        </p:spPr>
        <p:txBody>
          <a:bodyPr wrap="square" lIns="0" tIns="0" rIns="0" bIns="0" rtlCol="0" anchor="ctr"/>
          <a:lstStyle/>
          <a:p>
            <a:pPr marL="0" indent="0">
              <a:buNone/>
            </a:pPr>
            <a:r>
              <a:rPr lang="en-US" sz="2200" dirty="0">
                <a:solidFill>
                  <a:srgbClr val="FFFFFF"/>
                </a:solidFill>
                <a:latin typeface="Calibri" pitchFamily="34" charset="0"/>
                <a:ea typeface="Calibri" pitchFamily="34" charset="-122"/>
                <a:cs typeface="Calibri" pitchFamily="34" charset="-120"/>
              </a:rPr>
              <a:t>If you could double just ONE part of your laptop to make it feel faster, what would you pick?</a:t>
            </a:r>
            <a:endParaRPr lang="en-US" sz="2200" dirty="0"/>
          </a:p>
        </p:txBody>
      </p:sp>
      <p:sp>
        <p:nvSpPr>
          <p:cNvPr id="14" name="Text 11"/>
          <p:cNvSpPr/>
          <p:nvPr/>
        </p:nvSpPr>
        <p:spPr>
          <a:xfrm>
            <a:off x="457200" y="6601968"/>
            <a:ext cx="4572000" cy="256032"/>
          </a:xfrm>
          <a:prstGeom prst="rect">
            <a:avLst/>
          </a:prstGeom>
          <a:noFill/>
          <a:ln/>
        </p:spPr>
        <p:txBody>
          <a:bodyPr wrap="square" lIns="0" tIns="0" rIns="0" bIns="0" rtlCol="0" anchor="ctr"/>
          <a:lstStyle/>
          <a:p>
            <a:pPr marL="0" indent="0" algn="l">
              <a:buNone/>
            </a:pPr>
            <a:r>
              <a:rPr lang="en-US" sz="2000" dirty="0">
                <a:solidFill>
                  <a:srgbClr val="E8EEF7"/>
                </a:solidFill>
                <a:latin typeface="Calibri" pitchFamily="34" charset="0"/>
                <a:ea typeface="Calibri" pitchFamily="34" charset="-122"/>
                <a:cs typeface="Calibri" pitchFamily="34" charset="-120"/>
              </a:rPr>
              <a:t>Presidency University, Bengaluru</a:t>
            </a:r>
            <a:endParaRPr lang="en-US" sz="2000" dirty="0"/>
          </a:p>
        </p:txBody>
      </p:sp>
      <p:sp>
        <p:nvSpPr>
          <p:cNvPr id="15" name="Text 12"/>
          <p:cNvSpPr/>
          <p:nvPr/>
        </p:nvSpPr>
        <p:spPr>
          <a:xfrm>
            <a:off x="9902952" y="6601968"/>
            <a:ext cx="1828800" cy="256032"/>
          </a:xfrm>
          <a:prstGeom prst="rect">
            <a:avLst/>
          </a:prstGeom>
          <a:noFill/>
          <a:ln/>
        </p:spPr>
        <p:txBody>
          <a:bodyPr wrap="square" lIns="0" tIns="0" rIns="0" bIns="0" rtlCol="0" anchor="ctr"/>
          <a:lstStyle/>
          <a:p>
            <a:pPr marL="0" indent="0" algn="r">
              <a:buNone/>
            </a:pPr>
            <a:r>
              <a:rPr lang="en-US" sz="2000" dirty="0">
                <a:solidFill>
                  <a:srgbClr val="E8EEF7"/>
                </a:solidFill>
                <a:latin typeface="Calibri" pitchFamily="34" charset="0"/>
                <a:ea typeface="Calibri" pitchFamily="34" charset="-122"/>
                <a:cs typeface="Calibri" pitchFamily="34" charset="-120"/>
              </a:rPr>
              <a:t>CSS2257</a:t>
            </a:r>
            <a:endParaRPr lang="en-US" sz="2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11480"/>
            <a:ext cx="9601200" cy="868680"/>
          </a:xfrm>
          <a:prstGeom prst="rect">
            <a:avLst/>
          </a:prstGeom>
          <a:noFill/>
          <a:ln/>
        </p:spPr>
        <p:txBody>
          <a:bodyPr wrap="square" lIns="0" tIns="0" rIns="0" bIns="0" rtlCol="0" anchor="ctr"/>
          <a:lstStyle/>
          <a:p>
            <a:pPr marL="0" indent="0" algn="l">
              <a:buNone/>
            </a:pPr>
            <a:r>
              <a:rPr lang="en-US" sz="3400" b="1" dirty="0">
                <a:solidFill>
                  <a:srgbClr val="1B2A4A"/>
                </a:solidFill>
                <a:latin typeface="Cambria" pitchFamily="34" charset="0"/>
                <a:ea typeface="Cambria" pitchFamily="34" charset="-122"/>
                <a:cs typeface="Cambria" pitchFamily="34" charset="-120"/>
              </a:rPr>
              <a:t>Why This Topic Matters</a:t>
            </a:r>
            <a:endParaRPr lang="en-US" sz="3400" dirty="0"/>
          </a:p>
        </p:txBody>
      </p:sp>
      <p:sp>
        <p:nvSpPr>
          <p:cNvPr id="3" name="Shape 1"/>
          <p:cNvSpPr/>
          <p:nvPr/>
        </p:nvSpPr>
        <p:spPr>
          <a:xfrm>
            <a:off x="10607040" y="365760"/>
            <a:ext cx="914400" cy="914400"/>
          </a:xfrm>
          <a:prstGeom prst="ellipse">
            <a:avLst/>
          </a:prstGeom>
          <a:solidFill>
            <a:srgbClr val="1B2A4A"/>
          </a:solidFill>
          <a:ln w="12700">
            <a:solidFill>
              <a:srgbClr val="1B2A4A"/>
            </a:solidFill>
            <a:prstDash val="solid"/>
          </a:ln>
        </p:spPr>
      </p:sp>
      <p:pic>
        <p:nvPicPr>
          <p:cNvPr id="4" name="Image 0" descr="/home/claude/coa_ppt/icon_bulb_white.png"/>
          <p:cNvPicPr>
            <a:picLocks noChangeAspect="1"/>
          </p:cNvPicPr>
          <p:nvPr/>
        </p:nvPicPr>
        <p:blipFill>
          <a:blip r:embed="rId3"/>
          <a:stretch>
            <a:fillRect/>
          </a:stretch>
        </p:blipFill>
        <p:spPr>
          <a:xfrm>
            <a:off x="10844784" y="603504"/>
            <a:ext cx="438912" cy="438912"/>
          </a:xfrm>
          <a:prstGeom prst="rect">
            <a:avLst/>
          </a:prstGeom>
        </p:spPr>
      </p:pic>
      <p:sp>
        <p:nvSpPr>
          <p:cNvPr id="5" name="Text 2"/>
          <p:cNvSpPr/>
          <p:nvPr/>
        </p:nvSpPr>
        <p:spPr>
          <a:xfrm>
            <a:off x="548640" y="1417320"/>
            <a:ext cx="6675120" cy="4754880"/>
          </a:xfrm>
          <a:prstGeom prst="rect">
            <a:avLst/>
          </a:prstGeom>
          <a:noFill/>
          <a:ln/>
        </p:spPr>
        <p:txBody>
          <a:bodyPr wrap="square" lIns="0" tIns="0" rIns="0" bIns="0" rtlCol="0" anchor="t"/>
          <a:lstStyle/>
          <a:p>
            <a:pPr marL="279400" indent="-279400">
              <a:lnSpc>
                <a:spcPct val="108000"/>
              </a:lnSpc>
              <a:spcAft>
                <a:spcPts val="1400"/>
              </a:spcAft>
              <a:buSzPct val="100000"/>
              <a:buChar char="•"/>
            </a:pPr>
            <a:r>
              <a:rPr lang="en-US" sz="2000" dirty="0">
                <a:solidFill>
                  <a:srgbClr val="1B2A4A"/>
                </a:solidFill>
                <a:latin typeface="Calibri" pitchFamily="34" charset="0"/>
                <a:ea typeface="Calibri" pitchFamily="34" charset="-122"/>
                <a:cs typeface="Calibri" pitchFamily="34" charset="-120"/>
              </a:rPr>
              <a:t>Every purchasing decision — phones, laptops, servers, GPUs — is ultimately a performance decision</a:t>
            </a:r>
            <a:endParaRPr lang="en-US" sz="2000" dirty="0"/>
          </a:p>
          <a:p>
            <a:pPr marL="279400" indent="-279400">
              <a:lnSpc>
                <a:spcPct val="108000"/>
              </a:lnSpc>
              <a:spcAft>
                <a:spcPts val="1400"/>
              </a:spcAft>
              <a:buSzPct val="100000"/>
              <a:buChar char="•"/>
            </a:pPr>
            <a:r>
              <a:rPr lang="en-US" sz="2000" dirty="0">
                <a:solidFill>
                  <a:srgbClr val="1B2A4A"/>
                </a:solidFill>
                <a:latin typeface="Calibri" pitchFamily="34" charset="0"/>
                <a:ea typeface="Calibri" pitchFamily="34" charset="-122"/>
                <a:cs typeface="Calibri" pitchFamily="34" charset="-120"/>
              </a:rPr>
              <a:t>Marketing numbers (GHz, core count) can mislead if you don't know how to interpret them</a:t>
            </a:r>
            <a:endParaRPr lang="en-US" sz="2000" dirty="0"/>
          </a:p>
          <a:p>
            <a:pPr marL="279400" indent="-279400">
              <a:lnSpc>
                <a:spcPct val="108000"/>
              </a:lnSpc>
              <a:spcAft>
                <a:spcPts val="1400"/>
              </a:spcAft>
              <a:buSzPct val="100000"/>
              <a:buChar char="•"/>
            </a:pPr>
            <a:r>
              <a:rPr lang="en-US" sz="2000" dirty="0">
                <a:solidFill>
                  <a:srgbClr val="1B2A4A"/>
                </a:solidFill>
                <a:latin typeface="Calibri" pitchFamily="34" charset="0"/>
                <a:ea typeface="Calibri" pitchFamily="34" charset="-122"/>
                <a:cs typeface="Calibri" pitchFamily="34" charset="-120"/>
              </a:rPr>
              <a:t>Architects use these exact formulas to decide whether a design change is worth the silicon area and power cost</a:t>
            </a:r>
            <a:endParaRPr lang="en-US" sz="2000" dirty="0"/>
          </a:p>
          <a:p>
            <a:pPr marL="279400" indent="-279400">
              <a:lnSpc>
                <a:spcPct val="108000"/>
              </a:lnSpc>
              <a:spcAft>
                <a:spcPts val="1400"/>
              </a:spcAft>
              <a:buSzPct val="100000"/>
              <a:buChar char="•"/>
            </a:pPr>
            <a:r>
              <a:rPr lang="en-US" sz="2000" dirty="0">
                <a:solidFill>
                  <a:srgbClr val="1B2A4A"/>
                </a:solidFill>
                <a:latin typeface="Calibri" pitchFamily="34" charset="0"/>
                <a:ea typeface="Calibri" pitchFamily="34" charset="-122"/>
                <a:cs typeface="Calibri" pitchFamily="34" charset="-120"/>
              </a:rPr>
              <a:t>Cloud companies pay per second of compute — understanding performance directly affects cost engineering</a:t>
            </a:r>
            <a:endParaRPr lang="en-US" sz="2000" dirty="0"/>
          </a:p>
        </p:txBody>
      </p:sp>
      <p:sp>
        <p:nvSpPr>
          <p:cNvPr id="6" name="Shape 3"/>
          <p:cNvSpPr/>
          <p:nvPr/>
        </p:nvSpPr>
        <p:spPr>
          <a:xfrm>
            <a:off x="7315200" y="4617720"/>
            <a:ext cx="4434840" cy="1828800"/>
          </a:xfrm>
          <a:prstGeom prst="roundRect">
            <a:avLst>
              <a:gd name="adj" fmla="val 4000"/>
            </a:avLst>
          </a:prstGeom>
          <a:solidFill>
            <a:srgbClr val="E8EEF7"/>
          </a:solidFill>
          <a:ln w="12700">
            <a:solidFill>
              <a:srgbClr val="E8EEF7"/>
            </a:solidFill>
            <a:prstDash val="solid"/>
          </a:ln>
        </p:spPr>
      </p:sp>
      <p:sp>
        <p:nvSpPr>
          <p:cNvPr id="7" name="Text 4"/>
          <p:cNvSpPr/>
          <p:nvPr/>
        </p:nvSpPr>
        <p:spPr>
          <a:xfrm>
            <a:off x="7543800" y="4745736"/>
            <a:ext cx="3977640" cy="1572768"/>
          </a:xfrm>
          <a:prstGeom prst="rect">
            <a:avLst/>
          </a:prstGeom>
          <a:noFill/>
          <a:ln/>
        </p:spPr>
        <p:txBody>
          <a:bodyPr wrap="square" lIns="0" tIns="0" rIns="0" bIns="0" rtlCol="0" anchor="t"/>
          <a:lstStyle/>
          <a:p>
            <a:pPr marL="0" indent="0">
              <a:lnSpc>
                <a:spcPct val="102000"/>
              </a:lnSpc>
              <a:buNone/>
            </a:pPr>
            <a:r>
              <a:rPr lang="en-US" sz="2000" b="1" dirty="0">
                <a:solidFill>
                  <a:srgbClr val="1B2A4A"/>
                </a:solidFill>
                <a:latin typeface="Calibri" pitchFamily="34" charset="0"/>
                <a:ea typeface="Calibri" pitchFamily="34" charset="-122"/>
                <a:cs typeface="Calibri" pitchFamily="34" charset="-120"/>
              </a:rPr>
              <a:t>Visual &amp; Delivery Tip
</a:t>
            </a:r>
            <a:endParaRPr lang="en-US" sz="2000" dirty="0"/>
          </a:p>
          <a:p>
            <a:pPr marL="0" indent="0">
              <a:lnSpc>
                <a:spcPct val="102000"/>
              </a:lnSpc>
              <a:buNone/>
            </a:pPr>
            <a:r>
              <a:rPr lang="en-US" sz="2000" dirty="0">
                <a:solidFill>
                  <a:srgbClr val="5B6B84"/>
                </a:solidFill>
                <a:latin typeface="Calibri" pitchFamily="34" charset="0"/>
                <a:ea typeface="Calibri" pitchFamily="34" charset="-122"/>
                <a:cs typeface="Calibri" pitchFamily="34" charset="-120"/>
              </a:rPr>
              <a:t>Show two real laptop spec sheets side by side to make the marketing-numbers point concrete.</a:t>
            </a:r>
            <a:endParaRPr lang="en-US" sz="2000" dirty="0"/>
          </a:p>
        </p:txBody>
      </p:sp>
      <p:sp>
        <p:nvSpPr>
          <p:cNvPr id="8" name="Text 5"/>
          <p:cNvSpPr/>
          <p:nvPr/>
        </p:nvSpPr>
        <p:spPr>
          <a:xfrm>
            <a:off x="457200" y="6601968"/>
            <a:ext cx="4572000" cy="256032"/>
          </a:xfrm>
          <a:prstGeom prst="rect">
            <a:avLst/>
          </a:prstGeom>
          <a:noFill/>
          <a:ln/>
        </p:spPr>
        <p:txBody>
          <a:bodyPr wrap="square" lIns="0" tIns="0" rIns="0" bIns="0" rtlCol="0" anchor="ctr"/>
          <a:lstStyle/>
          <a:p>
            <a:pPr marL="0" indent="0" algn="l">
              <a:buNone/>
            </a:pPr>
            <a:r>
              <a:rPr lang="en-US" sz="2000" dirty="0">
                <a:solidFill>
                  <a:srgbClr val="5B6B84"/>
                </a:solidFill>
                <a:latin typeface="Calibri" pitchFamily="34" charset="0"/>
                <a:ea typeface="Calibri" pitchFamily="34" charset="-122"/>
                <a:cs typeface="Calibri" pitchFamily="34" charset="-120"/>
              </a:rPr>
              <a:t>Presidency University, Bengaluru</a:t>
            </a:r>
            <a:endParaRPr lang="en-US" sz="2000" dirty="0"/>
          </a:p>
        </p:txBody>
      </p:sp>
      <p:sp>
        <p:nvSpPr>
          <p:cNvPr id="9" name="Text 6"/>
          <p:cNvSpPr/>
          <p:nvPr/>
        </p:nvSpPr>
        <p:spPr>
          <a:xfrm>
            <a:off x="9902952" y="6601968"/>
            <a:ext cx="1828800" cy="256032"/>
          </a:xfrm>
          <a:prstGeom prst="rect">
            <a:avLst/>
          </a:prstGeom>
          <a:noFill/>
          <a:ln/>
        </p:spPr>
        <p:txBody>
          <a:bodyPr wrap="square" lIns="0" tIns="0" rIns="0" bIns="0" rtlCol="0" anchor="ctr"/>
          <a:lstStyle/>
          <a:p>
            <a:pPr marL="0" indent="0" algn="r">
              <a:buNone/>
            </a:pPr>
            <a:r>
              <a:rPr lang="en-US" sz="2000" dirty="0">
                <a:solidFill>
                  <a:srgbClr val="5B6B84"/>
                </a:solidFill>
                <a:latin typeface="Calibri" pitchFamily="34" charset="0"/>
                <a:ea typeface="Calibri" pitchFamily="34" charset="-122"/>
                <a:cs typeface="Calibri" pitchFamily="34" charset="-120"/>
              </a:rPr>
              <a:t>CSS2257</a:t>
            </a:r>
            <a:endParaRPr lang="en-US" sz="2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11480"/>
            <a:ext cx="9601200" cy="868680"/>
          </a:xfrm>
          <a:prstGeom prst="rect">
            <a:avLst/>
          </a:prstGeom>
          <a:noFill/>
          <a:ln/>
        </p:spPr>
        <p:txBody>
          <a:bodyPr wrap="square" lIns="0" tIns="0" rIns="0" bIns="0" rtlCol="0" anchor="ctr"/>
          <a:lstStyle/>
          <a:p>
            <a:pPr marL="0" indent="0" algn="l">
              <a:buNone/>
            </a:pPr>
            <a:r>
              <a:rPr lang="en-US" sz="3400" b="1" dirty="0">
                <a:solidFill>
                  <a:srgbClr val="1B2A4A"/>
                </a:solidFill>
                <a:latin typeface="Cambria" pitchFamily="34" charset="0"/>
                <a:ea typeface="Cambria" pitchFamily="34" charset="-122"/>
                <a:cs typeface="Cambria" pitchFamily="34" charset="-120"/>
              </a:rPr>
              <a:t>What Do We Mean by “Performance”?</a:t>
            </a:r>
            <a:endParaRPr lang="en-US" sz="3400" dirty="0"/>
          </a:p>
        </p:txBody>
      </p:sp>
      <p:sp>
        <p:nvSpPr>
          <p:cNvPr id="3" name="Shape 1"/>
          <p:cNvSpPr/>
          <p:nvPr/>
        </p:nvSpPr>
        <p:spPr>
          <a:xfrm>
            <a:off x="10607040" y="365760"/>
            <a:ext cx="914400" cy="914400"/>
          </a:xfrm>
          <a:prstGeom prst="ellipse">
            <a:avLst/>
          </a:prstGeom>
          <a:solidFill>
            <a:srgbClr val="1B2A4A"/>
          </a:solidFill>
          <a:ln w="12700">
            <a:solidFill>
              <a:srgbClr val="1B2A4A"/>
            </a:solidFill>
            <a:prstDash val="solid"/>
          </a:ln>
        </p:spPr>
      </p:sp>
      <p:pic>
        <p:nvPicPr>
          <p:cNvPr id="4" name="Image 0" descr="/home/claude/coa_ppt/icon_gauge_white.png"/>
          <p:cNvPicPr>
            <a:picLocks noChangeAspect="1"/>
          </p:cNvPicPr>
          <p:nvPr/>
        </p:nvPicPr>
        <p:blipFill>
          <a:blip r:embed="rId3"/>
          <a:stretch>
            <a:fillRect/>
          </a:stretch>
        </p:blipFill>
        <p:spPr>
          <a:xfrm>
            <a:off x="10844784" y="603504"/>
            <a:ext cx="438912" cy="438912"/>
          </a:xfrm>
          <a:prstGeom prst="rect">
            <a:avLst/>
          </a:prstGeom>
        </p:spPr>
      </p:pic>
      <p:sp>
        <p:nvSpPr>
          <p:cNvPr id="5" name="Text 2"/>
          <p:cNvSpPr/>
          <p:nvPr/>
        </p:nvSpPr>
        <p:spPr>
          <a:xfrm>
            <a:off x="548640" y="1417320"/>
            <a:ext cx="6675120" cy="4754880"/>
          </a:xfrm>
          <a:prstGeom prst="rect">
            <a:avLst/>
          </a:prstGeom>
          <a:noFill/>
          <a:ln/>
        </p:spPr>
        <p:txBody>
          <a:bodyPr wrap="square" lIns="0" tIns="0" rIns="0" bIns="0" rtlCol="0" anchor="t"/>
          <a:lstStyle/>
          <a:p>
            <a:pPr marL="279400" indent="-279400">
              <a:lnSpc>
                <a:spcPct val="108000"/>
              </a:lnSpc>
              <a:spcAft>
                <a:spcPts val="1200"/>
              </a:spcAft>
              <a:buSzPct val="100000"/>
              <a:buChar char="•"/>
            </a:pPr>
            <a:r>
              <a:rPr lang="en-US" sz="2000" dirty="0">
                <a:solidFill>
                  <a:srgbClr val="1B2A4A"/>
                </a:solidFill>
                <a:latin typeface="Calibri" pitchFamily="34" charset="0"/>
                <a:ea typeface="Calibri" pitchFamily="34" charset="-122"/>
                <a:cs typeface="Calibri" pitchFamily="34" charset="-120"/>
              </a:rPr>
              <a:t>Performance is not a single fixed quantity — it depends on what you are measuring and for whom</a:t>
            </a:r>
            <a:endParaRPr lang="en-US" sz="2000" dirty="0"/>
          </a:p>
          <a:p>
            <a:pPr marL="279400" indent="-279400">
              <a:lnSpc>
                <a:spcPct val="108000"/>
              </a:lnSpc>
              <a:spcAft>
                <a:spcPts val="1200"/>
              </a:spcAft>
              <a:buSzPct val="100000"/>
              <a:buChar char="•"/>
            </a:pPr>
            <a:r>
              <a:rPr lang="en-US" sz="2000" b="1" dirty="0">
                <a:solidFill>
                  <a:srgbClr val="1B2A4A"/>
                </a:solidFill>
                <a:latin typeface="Calibri" pitchFamily="34" charset="0"/>
                <a:ea typeface="Calibri" pitchFamily="34" charset="-122"/>
                <a:cs typeface="Calibri" pitchFamily="34" charset="-120"/>
              </a:rPr>
              <a:t>Response Time (Latency)</a:t>
            </a:r>
            <a:endParaRPr lang="en-US" sz="2000" dirty="0"/>
          </a:p>
          <a:p>
            <a:pPr marL="508000" indent="-508000">
              <a:lnSpc>
                <a:spcPct val="108000"/>
              </a:lnSpc>
              <a:spcAft>
                <a:spcPts val="1200"/>
              </a:spcAft>
              <a:buSzPct val="100000"/>
              <a:buChar char="○"/>
            </a:pPr>
            <a:r>
              <a:rPr lang="en-US" sz="2000" dirty="0">
                <a:solidFill>
                  <a:srgbClr val="1B2A4A"/>
                </a:solidFill>
                <a:latin typeface="Calibri" pitchFamily="34" charset="0"/>
                <a:ea typeface="Calibri" pitchFamily="34" charset="-122"/>
                <a:cs typeface="Calibri" pitchFamily="34" charset="-120"/>
              </a:rPr>
              <a:t>Time between the start and completion of one task — matters to an individual user</a:t>
            </a:r>
            <a:endParaRPr lang="en-US" sz="2000" dirty="0"/>
          </a:p>
          <a:p>
            <a:pPr marL="279400" indent="-279400">
              <a:lnSpc>
                <a:spcPct val="108000"/>
              </a:lnSpc>
              <a:spcAft>
                <a:spcPts val="1200"/>
              </a:spcAft>
              <a:buSzPct val="100000"/>
              <a:buChar char="•"/>
            </a:pPr>
            <a:r>
              <a:rPr lang="en-US" sz="2000" b="1" dirty="0">
                <a:solidFill>
                  <a:srgbClr val="1B2A4A"/>
                </a:solidFill>
                <a:latin typeface="Calibri" pitchFamily="34" charset="0"/>
                <a:ea typeface="Calibri" pitchFamily="34" charset="-122"/>
                <a:cs typeface="Calibri" pitchFamily="34" charset="-120"/>
              </a:rPr>
              <a:t>Throughput (Bandwidth)</a:t>
            </a:r>
            <a:endParaRPr lang="en-US" sz="2000" dirty="0"/>
          </a:p>
          <a:p>
            <a:pPr marL="508000" indent="-508000">
              <a:lnSpc>
                <a:spcPct val="108000"/>
              </a:lnSpc>
              <a:spcAft>
                <a:spcPts val="1200"/>
              </a:spcAft>
              <a:buSzPct val="100000"/>
              <a:buChar char="○"/>
            </a:pPr>
            <a:r>
              <a:rPr lang="en-US" sz="2000" dirty="0">
                <a:solidFill>
                  <a:srgbClr val="1B2A4A"/>
                </a:solidFill>
                <a:latin typeface="Calibri" pitchFamily="34" charset="0"/>
                <a:ea typeface="Calibri" pitchFamily="34" charset="-122"/>
                <a:cs typeface="Calibri" pitchFamily="34" charset="-120"/>
              </a:rPr>
              <a:t>Total amount of work done per unit time — matters to a data-centre operator</a:t>
            </a:r>
            <a:endParaRPr lang="en-US" sz="2000" dirty="0"/>
          </a:p>
        </p:txBody>
      </p:sp>
      <p:sp>
        <p:nvSpPr>
          <p:cNvPr id="6" name="Shape 3"/>
          <p:cNvSpPr/>
          <p:nvPr/>
        </p:nvSpPr>
        <p:spPr>
          <a:xfrm>
            <a:off x="7315200" y="4617720"/>
            <a:ext cx="4434840" cy="1828800"/>
          </a:xfrm>
          <a:prstGeom prst="roundRect">
            <a:avLst>
              <a:gd name="adj" fmla="val 4000"/>
            </a:avLst>
          </a:prstGeom>
          <a:solidFill>
            <a:srgbClr val="E8EEF7"/>
          </a:solidFill>
          <a:ln w="12700">
            <a:solidFill>
              <a:srgbClr val="E8EEF7"/>
            </a:solidFill>
            <a:prstDash val="solid"/>
          </a:ln>
        </p:spPr>
      </p:sp>
      <p:sp>
        <p:nvSpPr>
          <p:cNvPr id="7" name="Text 4"/>
          <p:cNvSpPr/>
          <p:nvPr/>
        </p:nvSpPr>
        <p:spPr>
          <a:xfrm>
            <a:off x="7543800" y="4745736"/>
            <a:ext cx="3977640" cy="1572768"/>
          </a:xfrm>
          <a:prstGeom prst="rect">
            <a:avLst/>
          </a:prstGeom>
          <a:noFill/>
          <a:ln/>
        </p:spPr>
        <p:txBody>
          <a:bodyPr wrap="square" lIns="0" tIns="0" rIns="0" bIns="0" rtlCol="0" anchor="t"/>
          <a:lstStyle/>
          <a:p>
            <a:pPr marL="0" indent="0">
              <a:lnSpc>
                <a:spcPct val="102000"/>
              </a:lnSpc>
              <a:buNone/>
            </a:pPr>
            <a:r>
              <a:rPr lang="en-US" sz="2000" b="1" dirty="0">
                <a:solidFill>
                  <a:srgbClr val="1B2A4A"/>
                </a:solidFill>
                <a:latin typeface="Calibri" pitchFamily="34" charset="0"/>
                <a:ea typeface="Calibri" pitchFamily="34" charset="-122"/>
                <a:cs typeface="Calibri" pitchFamily="34" charset="-120"/>
              </a:rPr>
              <a:t>Visual &amp; Delivery Tip
</a:t>
            </a:r>
            <a:endParaRPr lang="en-US" sz="2000" dirty="0"/>
          </a:p>
          <a:p>
            <a:pPr marL="0" indent="0">
              <a:lnSpc>
                <a:spcPct val="102000"/>
              </a:lnSpc>
              <a:buNone/>
            </a:pPr>
            <a:r>
              <a:rPr lang="en-US" sz="2000" dirty="0">
                <a:solidFill>
                  <a:srgbClr val="5B6B84"/>
                </a:solidFill>
                <a:latin typeface="Calibri" pitchFamily="34" charset="0"/>
                <a:ea typeface="Calibri" pitchFamily="34" charset="-122"/>
                <a:cs typeface="Calibri" pitchFamily="34" charset="-120"/>
              </a:rPr>
              <a:t>Icons: stopwatch for response time, stacked bars for throughput. Fade in each definition in turn.</a:t>
            </a:r>
            <a:endParaRPr lang="en-US" sz="2000" dirty="0"/>
          </a:p>
        </p:txBody>
      </p:sp>
      <p:sp>
        <p:nvSpPr>
          <p:cNvPr id="8" name="Text 5"/>
          <p:cNvSpPr/>
          <p:nvPr/>
        </p:nvSpPr>
        <p:spPr>
          <a:xfrm>
            <a:off x="457200" y="6601968"/>
            <a:ext cx="4572000" cy="256032"/>
          </a:xfrm>
          <a:prstGeom prst="rect">
            <a:avLst/>
          </a:prstGeom>
          <a:noFill/>
          <a:ln/>
        </p:spPr>
        <p:txBody>
          <a:bodyPr wrap="square" lIns="0" tIns="0" rIns="0" bIns="0" rtlCol="0" anchor="ctr"/>
          <a:lstStyle/>
          <a:p>
            <a:pPr marL="0" indent="0" algn="l">
              <a:buNone/>
            </a:pPr>
            <a:r>
              <a:rPr lang="en-US" sz="2000" dirty="0">
                <a:solidFill>
                  <a:srgbClr val="5B6B84"/>
                </a:solidFill>
                <a:latin typeface="Calibri" pitchFamily="34" charset="0"/>
                <a:ea typeface="Calibri" pitchFamily="34" charset="-122"/>
                <a:cs typeface="Calibri" pitchFamily="34" charset="-120"/>
              </a:rPr>
              <a:t>Presidency University, Bengaluru</a:t>
            </a:r>
            <a:endParaRPr lang="en-US" sz="2000" dirty="0"/>
          </a:p>
        </p:txBody>
      </p:sp>
      <p:sp>
        <p:nvSpPr>
          <p:cNvPr id="9" name="Text 6"/>
          <p:cNvSpPr/>
          <p:nvPr/>
        </p:nvSpPr>
        <p:spPr>
          <a:xfrm>
            <a:off x="9902952" y="6601968"/>
            <a:ext cx="1828800" cy="256032"/>
          </a:xfrm>
          <a:prstGeom prst="rect">
            <a:avLst/>
          </a:prstGeom>
          <a:noFill/>
          <a:ln/>
        </p:spPr>
        <p:txBody>
          <a:bodyPr wrap="square" lIns="0" tIns="0" rIns="0" bIns="0" rtlCol="0" anchor="ctr"/>
          <a:lstStyle/>
          <a:p>
            <a:pPr marL="0" indent="0" algn="r">
              <a:buNone/>
            </a:pPr>
            <a:r>
              <a:rPr lang="en-US" sz="2000" dirty="0">
                <a:solidFill>
                  <a:srgbClr val="5B6B84"/>
                </a:solidFill>
                <a:latin typeface="Calibri" pitchFamily="34" charset="0"/>
                <a:ea typeface="Calibri" pitchFamily="34" charset="-122"/>
                <a:cs typeface="Calibri" pitchFamily="34" charset="-120"/>
              </a:rPr>
              <a:t>CSS2257</a:t>
            </a:r>
            <a:endParaRPr lang="en-US" sz="2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11480"/>
            <a:ext cx="9601200" cy="868680"/>
          </a:xfrm>
          <a:prstGeom prst="rect">
            <a:avLst/>
          </a:prstGeom>
          <a:noFill/>
          <a:ln/>
        </p:spPr>
        <p:txBody>
          <a:bodyPr wrap="square" lIns="0" tIns="0" rIns="0" bIns="0" rtlCol="0" anchor="ctr"/>
          <a:lstStyle/>
          <a:p>
            <a:pPr marL="0" indent="0" algn="l">
              <a:buNone/>
            </a:pPr>
            <a:r>
              <a:rPr lang="en-US" sz="3400" b="1" dirty="0">
                <a:solidFill>
                  <a:srgbClr val="1B2A4A"/>
                </a:solidFill>
                <a:latin typeface="Cambria" pitchFamily="34" charset="0"/>
                <a:ea typeface="Cambria" pitchFamily="34" charset="-122"/>
                <a:cs typeface="Cambria" pitchFamily="34" charset="-120"/>
              </a:rPr>
              <a:t>Response Time vs. Throughput</a:t>
            </a:r>
            <a:endParaRPr lang="en-US" sz="3400" dirty="0"/>
          </a:p>
        </p:txBody>
      </p:sp>
      <p:sp>
        <p:nvSpPr>
          <p:cNvPr id="3" name="Shape 1"/>
          <p:cNvSpPr/>
          <p:nvPr/>
        </p:nvSpPr>
        <p:spPr>
          <a:xfrm>
            <a:off x="10607040" y="365760"/>
            <a:ext cx="914400" cy="914400"/>
          </a:xfrm>
          <a:prstGeom prst="ellipse">
            <a:avLst/>
          </a:prstGeom>
          <a:solidFill>
            <a:srgbClr val="1B2A4A"/>
          </a:solidFill>
          <a:ln w="12700">
            <a:solidFill>
              <a:srgbClr val="1B2A4A"/>
            </a:solidFill>
            <a:prstDash val="solid"/>
          </a:ln>
        </p:spPr>
      </p:sp>
      <p:pic>
        <p:nvPicPr>
          <p:cNvPr id="4" name="Image 0" descr="/home/claude/coa_ppt/icon_diagram_white.png"/>
          <p:cNvPicPr>
            <a:picLocks noChangeAspect="1"/>
          </p:cNvPicPr>
          <p:nvPr/>
        </p:nvPicPr>
        <p:blipFill>
          <a:blip r:embed="rId3"/>
          <a:stretch>
            <a:fillRect/>
          </a:stretch>
        </p:blipFill>
        <p:spPr>
          <a:xfrm>
            <a:off x="10844784" y="603504"/>
            <a:ext cx="438912" cy="438912"/>
          </a:xfrm>
          <a:prstGeom prst="rect">
            <a:avLst/>
          </a:prstGeom>
        </p:spPr>
      </p:pic>
      <p:sp>
        <p:nvSpPr>
          <p:cNvPr id="5" name="Shape 2"/>
          <p:cNvSpPr/>
          <p:nvPr/>
        </p:nvSpPr>
        <p:spPr>
          <a:xfrm>
            <a:off x="548640" y="1508760"/>
            <a:ext cx="5394960" cy="4617720"/>
          </a:xfrm>
          <a:prstGeom prst="roundRect">
            <a:avLst>
              <a:gd name="adj" fmla="val 1584"/>
            </a:avLst>
          </a:prstGeom>
          <a:solidFill>
            <a:srgbClr val="E8EEF7"/>
          </a:solidFill>
          <a:ln w="12700">
            <a:solidFill>
              <a:srgbClr val="E8EEF7"/>
            </a:solidFill>
            <a:prstDash val="solid"/>
          </a:ln>
        </p:spPr>
      </p:sp>
      <p:sp>
        <p:nvSpPr>
          <p:cNvPr id="6" name="Text 3"/>
          <p:cNvSpPr/>
          <p:nvPr/>
        </p:nvSpPr>
        <p:spPr>
          <a:xfrm>
            <a:off x="822960" y="1737360"/>
            <a:ext cx="4846320" cy="457200"/>
          </a:xfrm>
          <a:prstGeom prst="rect">
            <a:avLst/>
          </a:prstGeom>
          <a:noFill/>
          <a:ln/>
        </p:spPr>
        <p:txBody>
          <a:bodyPr wrap="square" lIns="0" tIns="0" rIns="0" bIns="0" rtlCol="0" anchor="ctr"/>
          <a:lstStyle/>
          <a:p>
            <a:pPr marL="0" indent="0">
              <a:buNone/>
            </a:pPr>
            <a:r>
              <a:rPr lang="en-US" sz="2200" b="1" dirty="0">
                <a:solidFill>
                  <a:srgbClr val="1B2A4A"/>
                </a:solidFill>
                <a:latin typeface="Calibri" pitchFamily="34" charset="0"/>
                <a:ea typeface="Calibri" pitchFamily="34" charset="-122"/>
                <a:cs typeface="Calibri" pitchFamily="34" charset="-120"/>
              </a:rPr>
              <a:t>Response Time</a:t>
            </a:r>
            <a:endParaRPr lang="en-US" sz="2200" dirty="0"/>
          </a:p>
        </p:txBody>
      </p:sp>
      <p:sp>
        <p:nvSpPr>
          <p:cNvPr id="7" name="Shape 4"/>
          <p:cNvSpPr/>
          <p:nvPr/>
        </p:nvSpPr>
        <p:spPr>
          <a:xfrm>
            <a:off x="914400" y="2834640"/>
            <a:ext cx="4663440" cy="0"/>
          </a:xfrm>
          <a:prstGeom prst="line">
            <a:avLst/>
          </a:prstGeom>
          <a:noFill/>
          <a:ln w="38100">
            <a:solidFill>
              <a:srgbClr val="1B2A4A"/>
            </a:solidFill>
            <a:prstDash val="solid"/>
          </a:ln>
        </p:spPr>
      </p:sp>
      <p:sp>
        <p:nvSpPr>
          <p:cNvPr id="8" name="Shape 5"/>
          <p:cNvSpPr/>
          <p:nvPr/>
        </p:nvSpPr>
        <p:spPr>
          <a:xfrm>
            <a:off x="841248" y="2724912"/>
            <a:ext cx="219456" cy="219456"/>
          </a:xfrm>
          <a:prstGeom prst="ellipse">
            <a:avLst/>
          </a:prstGeom>
          <a:solidFill>
            <a:srgbClr val="00D9FF"/>
          </a:solidFill>
          <a:ln w="12700">
            <a:solidFill>
              <a:srgbClr val="00D9FF"/>
            </a:solidFill>
            <a:prstDash val="solid"/>
          </a:ln>
        </p:spPr>
      </p:sp>
      <p:sp>
        <p:nvSpPr>
          <p:cNvPr id="9" name="Shape 6"/>
          <p:cNvSpPr/>
          <p:nvPr/>
        </p:nvSpPr>
        <p:spPr>
          <a:xfrm>
            <a:off x="5394960" y="2724912"/>
            <a:ext cx="219456" cy="219456"/>
          </a:xfrm>
          <a:prstGeom prst="ellipse">
            <a:avLst/>
          </a:prstGeom>
          <a:solidFill>
            <a:srgbClr val="FFB84D"/>
          </a:solidFill>
          <a:ln w="12700">
            <a:solidFill>
              <a:srgbClr val="FFB84D"/>
            </a:solidFill>
            <a:prstDash val="solid"/>
          </a:ln>
        </p:spPr>
      </p:sp>
      <p:sp>
        <p:nvSpPr>
          <p:cNvPr id="10" name="Text 7"/>
          <p:cNvSpPr/>
          <p:nvPr/>
        </p:nvSpPr>
        <p:spPr>
          <a:xfrm>
            <a:off x="640080" y="3017520"/>
            <a:ext cx="1097280" cy="320040"/>
          </a:xfrm>
          <a:prstGeom prst="rect">
            <a:avLst/>
          </a:prstGeom>
          <a:noFill/>
          <a:ln/>
        </p:spPr>
        <p:txBody>
          <a:bodyPr wrap="square" lIns="0" tIns="0" rIns="0" bIns="0" rtlCol="0" anchor="ctr"/>
          <a:lstStyle/>
          <a:p>
            <a:pPr marL="0" indent="0">
              <a:buNone/>
            </a:pPr>
            <a:r>
              <a:rPr lang="en-US" sz="2000" dirty="0">
                <a:solidFill>
                  <a:srgbClr val="5B6B84"/>
                </a:solidFill>
                <a:latin typeface="Calibri" pitchFamily="34" charset="0"/>
                <a:ea typeface="Calibri" pitchFamily="34" charset="-122"/>
                <a:cs typeface="Calibri" pitchFamily="34" charset="-120"/>
              </a:rPr>
              <a:t>Start</a:t>
            </a:r>
            <a:endParaRPr lang="en-US" sz="2000" dirty="0"/>
          </a:p>
        </p:txBody>
      </p:sp>
      <p:sp>
        <p:nvSpPr>
          <p:cNvPr id="11" name="Text 8"/>
          <p:cNvSpPr/>
          <p:nvPr/>
        </p:nvSpPr>
        <p:spPr>
          <a:xfrm>
            <a:off x="4937760" y="3017520"/>
            <a:ext cx="1097280" cy="320040"/>
          </a:xfrm>
          <a:prstGeom prst="rect">
            <a:avLst/>
          </a:prstGeom>
          <a:noFill/>
          <a:ln/>
        </p:spPr>
        <p:txBody>
          <a:bodyPr wrap="square" lIns="0" tIns="0" rIns="0" bIns="0" rtlCol="0" anchor="ctr"/>
          <a:lstStyle/>
          <a:p>
            <a:pPr marL="0" indent="0">
              <a:buNone/>
            </a:pPr>
            <a:r>
              <a:rPr lang="en-US" sz="2000" dirty="0">
                <a:solidFill>
                  <a:srgbClr val="5B6B84"/>
                </a:solidFill>
                <a:latin typeface="Calibri" pitchFamily="34" charset="0"/>
                <a:ea typeface="Calibri" pitchFamily="34" charset="-122"/>
                <a:cs typeface="Calibri" pitchFamily="34" charset="-120"/>
              </a:rPr>
              <a:t>Finish</a:t>
            </a:r>
            <a:endParaRPr lang="en-US" sz="2000" dirty="0"/>
          </a:p>
        </p:txBody>
      </p:sp>
      <p:sp>
        <p:nvSpPr>
          <p:cNvPr id="12" name="Text 9"/>
          <p:cNvSpPr/>
          <p:nvPr/>
        </p:nvSpPr>
        <p:spPr>
          <a:xfrm>
            <a:off x="822960" y="3566160"/>
            <a:ext cx="4846320" cy="1005840"/>
          </a:xfrm>
          <a:prstGeom prst="rect">
            <a:avLst/>
          </a:prstGeom>
          <a:noFill/>
          <a:ln/>
        </p:spPr>
        <p:txBody>
          <a:bodyPr wrap="square" lIns="0" tIns="0" rIns="0" bIns="0" rtlCol="0" anchor="ctr"/>
          <a:lstStyle/>
          <a:p>
            <a:pPr marL="0" indent="0">
              <a:lnSpc>
                <a:spcPct val="110000"/>
              </a:lnSpc>
              <a:buNone/>
            </a:pPr>
            <a:r>
              <a:rPr lang="en-US" sz="2000" dirty="0">
                <a:solidFill>
                  <a:srgbClr val="1B2A4A"/>
                </a:solidFill>
                <a:latin typeface="Calibri" pitchFamily="34" charset="0"/>
                <a:ea typeface="Calibri" pitchFamily="34" charset="-122"/>
                <a:cs typeface="Calibri" pitchFamily="34" charset="-120"/>
              </a:rPr>
              <a:t>One task, one user — minimize the elapsed time from start to finish.</a:t>
            </a:r>
            <a:endParaRPr lang="en-US" sz="2000" dirty="0"/>
          </a:p>
        </p:txBody>
      </p:sp>
      <p:sp>
        <p:nvSpPr>
          <p:cNvPr id="13" name="Text 10"/>
          <p:cNvSpPr/>
          <p:nvPr/>
        </p:nvSpPr>
        <p:spPr>
          <a:xfrm>
            <a:off x="822960" y="5120640"/>
            <a:ext cx="4846320" cy="822960"/>
          </a:xfrm>
          <a:prstGeom prst="rect">
            <a:avLst/>
          </a:prstGeom>
          <a:noFill/>
          <a:ln/>
        </p:spPr>
        <p:txBody>
          <a:bodyPr wrap="square" lIns="0" tIns="0" rIns="0" bIns="0" rtlCol="0" anchor="ctr"/>
          <a:lstStyle/>
          <a:p>
            <a:pPr marL="0" indent="0">
              <a:buNone/>
            </a:pPr>
            <a:r>
              <a:rPr lang="en-US" sz="2000" i="1" dirty="0">
                <a:solidFill>
                  <a:srgbClr val="5B6B84"/>
                </a:solidFill>
                <a:latin typeface="Calibri" pitchFamily="34" charset="0"/>
                <a:ea typeface="Calibri" pitchFamily="34" charset="-122"/>
                <a:cs typeface="Calibri" pitchFamily="34" charset="-120"/>
              </a:rPr>
              <a:t>Example: how long your video call app takes to load</a:t>
            </a:r>
            <a:endParaRPr lang="en-US" sz="2000" dirty="0"/>
          </a:p>
        </p:txBody>
      </p:sp>
      <p:sp>
        <p:nvSpPr>
          <p:cNvPr id="14" name="Shape 11"/>
          <p:cNvSpPr/>
          <p:nvPr/>
        </p:nvSpPr>
        <p:spPr>
          <a:xfrm>
            <a:off x="6217920" y="1508760"/>
            <a:ext cx="5394960" cy="4617720"/>
          </a:xfrm>
          <a:prstGeom prst="roundRect">
            <a:avLst>
              <a:gd name="adj" fmla="val 1584"/>
            </a:avLst>
          </a:prstGeom>
          <a:solidFill>
            <a:srgbClr val="E8EEF7"/>
          </a:solidFill>
          <a:ln w="12700">
            <a:solidFill>
              <a:srgbClr val="E8EEF7"/>
            </a:solidFill>
            <a:prstDash val="solid"/>
          </a:ln>
        </p:spPr>
      </p:sp>
      <p:sp>
        <p:nvSpPr>
          <p:cNvPr id="15" name="Text 12"/>
          <p:cNvSpPr/>
          <p:nvPr/>
        </p:nvSpPr>
        <p:spPr>
          <a:xfrm>
            <a:off x="6492240" y="1737360"/>
            <a:ext cx="4846320" cy="457200"/>
          </a:xfrm>
          <a:prstGeom prst="rect">
            <a:avLst/>
          </a:prstGeom>
          <a:noFill/>
          <a:ln/>
        </p:spPr>
        <p:txBody>
          <a:bodyPr wrap="square" lIns="0" tIns="0" rIns="0" bIns="0" rtlCol="0" anchor="ctr"/>
          <a:lstStyle/>
          <a:p>
            <a:pPr marL="0" indent="0">
              <a:buNone/>
            </a:pPr>
            <a:r>
              <a:rPr lang="en-US" sz="2200" b="1" dirty="0">
                <a:solidFill>
                  <a:srgbClr val="1B2A4A"/>
                </a:solidFill>
                <a:latin typeface="Calibri" pitchFamily="34" charset="0"/>
                <a:ea typeface="Calibri" pitchFamily="34" charset="-122"/>
                <a:cs typeface="Calibri" pitchFamily="34" charset="-120"/>
              </a:rPr>
              <a:t>Throughput</a:t>
            </a:r>
            <a:endParaRPr lang="en-US" sz="2200" dirty="0"/>
          </a:p>
        </p:txBody>
      </p:sp>
      <p:sp>
        <p:nvSpPr>
          <p:cNvPr id="16" name="Shape 13"/>
          <p:cNvSpPr/>
          <p:nvPr/>
        </p:nvSpPr>
        <p:spPr>
          <a:xfrm>
            <a:off x="6583680" y="3200400"/>
            <a:ext cx="502920" cy="548640"/>
          </a:xfrm>
          <a:prstGeom prst="rect">
            <a:avLst/>
          </a:prstGeom>
          <a:solidFill>
            <a:srgbClr val="1B2A4A"/>
          </a:solidFill>
          <a:ln w="12700">
            <a:solidFill>
              <a:srgbClr val="1B2A4A"/>
            </a:solidFill>
            <a:prstDash val="solid"/>
          </a:ln>
        </p:spPr>
      </p:sp>
      <p:sp>
        <p:nvSpPr>
          <p:cNvPr id="17" name="Shape 14"/>
          <p:cNvSpPr/>
          <p:nvPr/>
        </p:nvSpPr>
        <p:spPr>
          <a:xfrm>
            <a:off x="7498080" y="3063240"/>
            <a:ext cx="502920" cy="685800"/>
          </a:xfrm>
          <a:prstGeom prst="rect">
            <a:avLst/>
          </a:prstGeom>
          <a:solidFill>
            <a:srgbClr val="00D9FF"/>
          </a:solidFill>
          <a:ln w="12700">
            <a:solidFill>
              <a:srgbClr val="00D9FF"/>
            </a:solidFill>
            <a:prstDash val="solid"/>
          </a:ln>
        </p:spPr>
      </p:sp>
      <p:sp>
        <p:nvSpPr>
          <p:cNvPr id="18" name="Shape 15"/>
          <p:cNvSpPr/>
          <p:nvPr/>
        </p:nvSpPr>
        <p:spPr>
          <a:xfrm>
            <a:off x="8412480" y="2926080"/>
            <a:ext cx="502920" cy="822960"/>
          </a:xfrm>
          <a:prstGeom prst="rect">
            <a:avLst/>
          </a:prstGeom>
          <a:solidFill>
            <a:srgbClr val="1B2A4A"/>
          </a:solidFill>
          <a:ln w="12700">
            <a:solidFill>
              <a:srgbClr val="1B2A4A"/>
            </a:solidFill>
            <a:prstDash val="solid"/>
          </a:ln>
        </p:spPr>
      </p:sp>
      <p:sp>
        <p:nvSpPr>
          <p:cNvPr id="19" name="Shape 16"/>
          <p:cNvSpPr/>
          <p:nvPr/>
        </p:nvSpPr>
        <p:spPr>
          <a:xfrm>
            <a:off x="9326880" y="3200400"/>
            <a:ext cx="502920" cy="548640"/>
          </a:xfrm>
          <a:prstGeom prst="rect">
            <a:avLst/>
          </a:prstGeom>
          <a:solidFill>
            <a:srgbClr val="00D9FF"/>
          </a:solidFill>
          <a:ln w="12700">
            <a:solidFill>
              <a:srgbClr val="00D9FF"/>
            </a:solidFill>
            <a:prstDash val="solid"/>
          </a:ln>
        </p:spPr>
      </p:sp>
      <p:sp>
        <p:nvSpPr>
          <p:cNvPr id="20" name="Shape 17"/>
          <p:cNvSpPr/>
          <p:nvPr/>
        </p:nvSpPr>
        <p:spPr>
          <a:xfrm>
            <a:off x="10241280" y="3063240"/>
            <a:ext cx="502920" cy="685800"/>
          </a:xfrm>
          <a:prstGeom prst="rect">
            <a:avLst/>
          </a:prstGeom>
          <a:solidFill>
            <a:srgbClr val="1B2A4A"/>
          </a:solidFill>
          <a:ln w="12700">
            <a:solidFill>
              <a:srgbClr val="1B2A4A"/>
            </a:solidFill>
            <a:prstDash val="solid"/>
          </a:ln>
        </p:spPr>
      </p:sp>
      <p:sp>
        <p:nvSpPr>
          <p:cNvPr id="21" name="Shape 18"/>
          <p:cNvSpPr/>
          <p:nvPr/>
        </p:nvSpPr>
        <p:spPr>
          <a:xfrm>
            <a:off x="6492240" y="3337560"/>
            <a:ext cx="4937760" cy="0"/>
          </a:xfrm>
          <a:prstGeom prst="line">
            <a:avLst/>
          </a:prstGeom>
          <a:noFill/>
          <a:ln w="19050">
            <a:solidFill>
              <a:srgbClr val="5B6B84"/>
            </a:solidFill>
            <a:prstDash val="dash"/>
          </a:ln>
        </p:spPr>
      </p:sp>
      <p:sp>
        <p:nvSpPr>
          <p:cNvPr id="22" name="Text 19"/>
          <p:cNvSpPr/>
          <p:nvPr/>
        </p:nvSpPr>
        <p:spPr>
          <a:xfrm>
            <a:off x="6492240" y="3566160"/>
            <a:ext cx="4846320" cy="1005840"/>
          </a:xfrm>
          <a:prstGeom prst="rect">
            <a:avLst/>
          </a:prstGeom>
          <a:noFill/>
          <a:ln/>
        </p:spPr>
        <p:txBody>
          <a:bodyPr wrap="square" lIns="0" tIns="0" rIns="0" bIns="0" rtlCol="0" anchor="ctr"/>
          <a:lstStyle/>
          <a:p>
            <a:pPr marL="0" indent="0">
              <a:lnSpc>
                <a:spcPct val="110000"/>
              </a:lnSpc>
              <a:buNone/>
            </a:pPr>
            <a:r>
              <a:rPr lang="en-US" sz="2000" dirty="0">
                <a:solidFill>
                  <a:srgbClr val="1B2A4A"/>
                </a:solidFill>
                <a:latin typeface="Calibri" pitchFamily="34" charset="0"/>
                <a:ea typeface="Calibri" pitchFamily="34" charset="-122"/>
                <a:cs typeface="Calibri" pitchFamily="34" charset="-120"/>
              </a:rPr>
              <a:t>Many tasks, many users — maximize total work completed per unit time.</a:t>
            </a:r>
            <a:endParaRPr lang="en-US" sz="2000" dirty="0"/>
          </a:p>
        </p:txBody>
      </p:sp>
      <p:sp>
        <p:nvSpPr>
          <p:cNvPr id="23" name="Text 20"/>
          <p:cNvSpPr/>
          <p:nvPr/>
        </p:nvSpPr>
        <p:spPr>
          <a:xfrm>
            <a:off x="6492240" y="5120640"/>
            <a:ext cx="4846320" cy="822960"/>
          </a:xfrm>
          <a:prstGeom prst="rect">
            <a:avLst/>
          </a:prstGeom>
          <a:noFill/>
          <a:ln/>
        </p:spPr>
        <p:txBody>
          <a:bodyPr wrap="square" lIns="0" tIns="0" rIns="0" bIns="0" rtlCol="0" anchor="ctr"/>
          <a:lstStyle/>
          <a:p>
            <a:pPr marL="0" indent="0">
              <a:buNone/>
            </a:pPr>
            <a:r>
              <a:rPr lang="en-US" sz="2000" i="1" dirty="0">
                <a:solidFill>
                  <a:srgbClr val="5B6B84"/>
                </a:solidFill>
                <a:latin typeface="Calibri" pitchFamily="34" charset="0"/>
                <a:ea typeface="Calibri" pitchFamily="34" charset="-122"/>
                <a:cs typeface="Calibri" pitchFamily="34" charset="-120"/>
              </a:rPr>
              <a:t>Example: number of transactions a bank server handles per second</a:t>
            </a:r>
            <a:endParaRPr lang="en-US" sz="2000" dirty="0"/>
          </a:p>
        </p:txBody>
      </p:sp>
      <p:sp>
        <p:nvSpPr>
          <p:cNvPr id="24" name="Text 21"/>
          <p:cNvSpPr/>
          <p:nvPr/>
        </p:nvSpPr>
        <p:spPr>
          <a:xfrm>
            <a:off x="457200" y="6601968"/>
            <a:ext cx="4572000" cy="256032"/>
          </a:xfrm>
          <a:prstGeom prst="rect">
            <a:avLst/>
          </a:prstGeom>
          <a:noFill/>
          <a:ln/>
        </p:spPr>
        <p:txBody>
          <a:bodyPr wrap="square" lIns="0" tIns="0" rIns="0" bIns="0" rtlCol="0" anchor="ctr"/>
          <a:lstStyle/>
          <a:p>
            <a:pPr marL="0" indent="0" algn="l">
              <a:buNone/>
            </a:pPr>
            <a:r>
              <a:rPr lang="en-US" sz="2000" dirty="0">
                <a:solidFill>
                  <a:srgbClr val="5B6B84"/>
                </a:solidFill>
                <a:latin typeface="Calibri" pitchFamily="34" charset="0"/>
                <a:ea typeface="Calibri" pitchFamily="34" charset="-122"/>
                <a:cs typeface="Calibri" pitchFamily="34" charset="-120"/>
              </a:rPr>
              <a:t>Presidency University, Bengaluru</a:t>
            </a:r>
            <a:endParaRPr lang="en-US" sz="2000" dirty="0"/>
          </a:p>
        </p:txBody>
      </p:sp>
      <p:sp>
        <p:nvSpPr>
          <p:cNvPr id="25" name="Text 22"/>
          <p:cNvSpPr/>
          <p:nvPr/>
        </p:nvSpPr>
        <p:spPr>
          <a:xfrm>
            <a:off x="9902952" y="6601968"/>
            <a:ext cx="1828800" cy="256032"/>
          </a:xfrm>
          <a:prstGeom prst="rect">
            <a:avLst/>
          </a:prstGeom>
          <a:noFill/>
          <a:ln/>
        </p:spPr>
        <p:txBody>
          <a:bodyPr wrap="square" lIns="0" tIns="0" rIns="0" bIns="0" rtlCol="0" anchor="ctr"/>
          <a:lstStyle/>
          <a:p>
            <a:pPr marL="0" indent="0" algn="r">
              <a:buNone/>
            </a:pPr>
            <a:r>
              <a:rPr lang="en-US" sz="2000" dirty="0">
                <a:solidFill>
                  <a:srgbClr val="5B6B84"/>
                </a:solidFill>
                <a:latin typeface="Calibri" pitchFamily="34" charset="0"/>
                <a:ea typeface="Calibri" pitchFamily="34" charset="-122"/>
                <a:cs typeface="Calibri" pitchFamily="34" charset="-120"/>
              </a:rPr>
              <a:t>CSS2257</a:t>
            </a:r>
            <a:endParaRPr lang="en-US" sz="2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11480"/>
            <a:ext cx="9601200" cy="868680"/>
          </a:xfrm>
          <a:prstGeom prst="rect">
            <a:avLst/>
          </a:prstGeom>
          <a:noFill/>
          <a:ln/>
        </p:spPr>
        <p:txBody>
          <a:bodyPr wrap="square" lIns="0" tIns="0" rIns="0" bIns="0" rtlCol="0" anchor="ctr"/>
          <a:lstStyle/>
          <a:p>
            <a:pPr marL="0" indent="0" algn="l">
              <a:buNone/>
            </a:pPr>
            <a:r>
              <a:rPr lang="en-US" sz="3400" b="1" dirty="0">
                <a:solidFill>
                  <a:srgbClr val="1B2A4A"/>
                </a:solidFill>
                <a:latin typeface="Cambria" pitchFamily="34" charset="0"/>
                <a:ea typeface="Cambria" pitchFamily="34" charset="-122"/>
                <a:cs typeface="Cambria" pitchFamily="34" charset="-120"/>
              </a:rPr>
              <a:t>Measuring Performance: CPU Execution Time</a:t>
            </a:r>
            <a:endParaRPr lang="en-US" sz="3400" dirty="0"/>
          </a:p>
        </p:txBody>
      </p:sp>
      <p:sp>
        <p:nvSpPr>
          <p:cNvPr id="3" name="Shape 1"/>
          <p:cNvSpPr/>
          <p:nvPr/>
        </p:nvSpPr>
        <p:spPr>
          <a:xfrm>
            <a:off x="10607040" y="365760"/>
            <a:ext cx="914400" cy="914400"/>
          </a:xfrm>
          <a:prstGeom prst="ellipse">
            <a:avLst/>
          </a:prstGeom>
          <a:solidFill>
            <a:srgbClr val="1B2A4A"/>
          </a:solidFill>
          <a:ln w="12700">
            <a:solidFill>
              <a:srgbClr val="1B2A4A"/>
            </a:solidFill>
            <a:prstDash val="solid"/>
          </a:ln>
        </p:spPr>
      </p:sp>
      <p:pic>
        <p:nvPicPr>
          <p:cNvPr id="4" name="Image 0" descr="/home/claude/coa_ppt/icon_chart_white.png"/>
          <p:cNvPicPr>
            <a:picLocks noChangeAspect="1"/>
          </p:cNvPicPr>
          <p:nvPr/>
        </p:nvPicPr>
        <p:blipFill>
          <a:blip r:embed="rId3"/>
          <a:stretch>
            <a:fillRect/>
          </a:stretch>
        </p:blipFill>
        <p:spPr>
          <a:xfrm>
            <a:off x="10844784" y="603504"/>
            <a:ext cx="438912" cy="438912"/>
          </a:xfrm>
          <a:prstGeom prst="rect">
            <a:avLst/>
          </a:prstGeom>
        </p:spPr>
      </p:pic>
      <p:sp>
        <p:nvSpPr>
          <p:cNvPr id="5" name="Text 2"/>
          <p:cNvSpPr/>
          <p:nvPr/>
        </p:nvSpPr>
        <p:spPr>
          <a:xfrm>
            <a:off x="548640" y="1417320"/>
            <a:ext cx="6583680" cy="4754880"/>
          </a:xfrm>
          <a:prstGeom prst="rect">
            <a:avLst/>
          </a:prstGeom>
          <a:noFill/>
          <a:ln/>
        </p:spPr>
        <p:txBody>
          <a:bodyPr wrap="square" lIns="0" tIns="0" rIns="0" bIns="0" rtlCol="0" anchor="t"/>
          <a:lstStyle/>
          <a:p>
            <a:pPr marL="279400" indent="-279400">
              <a:lnSpc>
                <a:spcPct val="108000"/>
              </a:lnSpc>
              <a:spcAft>
                <a:spcPts val="1600"/>
              </a:spcAft>
              <a:buSzPct val="100000"/>
              <a:buChar char="•"/>
            </a:pPr>
            <a:r>
              <a:rPr lang="en-US" sz="2000" dirty="0">
                <a:solidFill>
                  <a:srgbClr val="1B2A4A"/>
                </a:solidFill>
                <a:latin typeface="Calibri" pitchFamily="34" charset="0"/>
                <a:ea typeface="Calibri" pitchFamily="34" charset="-122"/>
                <a:cs typeface="Calibri" pitchFamily="34" charset="-120"/>
              </a:rPr>
              <a:t>The most fundamental performance measure is CPU execution time — the time the CPU spends actually working on a program</a:t>
            </a:r>
            <a:endParaRPr lang="en-US" sz="2000" dirty="0"/>
          </a:p>
          <a:p>
            <a:pPr marL="279400" indent="-279400">
              <a:lnSpc>
                <a:spcPct val="108000"/>
              </a:lnSpc>
              <a:spcAft>
                <a:spcPts val="1600"/>
              </a:spcAft>
              <a:buSzPct val="100000"/>
              <a:buChar char="•"/>
            </a:pPr>
            <a:r>
              <a:rPr lang="en-US" sz="2000" dirty="0">
                <a:solidFill>
                  <a:srgbClr val="1B2A4A"/>
                </a:solidFill>
                <a:latin typeface="Calibri" pitchFamily="34" charset="0"/>
                <a:ea typeface="Calibri" pitchFamily="34" charset="-122"/>
                <a:cs typeface="Calibri" pitchFamily="34" charset="-120"/>
              </a:rPr>
              <a:t>It excludes waiting time for I/O or time-sharing with other programs</a:t>
            </a:r>
            <a:endParaRPr lang="en-US" sz="2000" dirty="0"/>
          </a:p>
          <a:p>
            <a:pPr marL="279400" indent="-279400">
              <a:lnSpc>
                <a:spcPct val="108000"/>
              </a:lnSpc>
              <a:spcAft>
                <a:spcPts val="1600"/>
              </a:spcAft>
              <a:buSzPct val="100000"/>
              <a:buChar char="•"/>
            </a:pPr>
            <a:r>
              <a:rPr lang="en-US" sz="2000" dirty="0">
                <a:solidFill>
                  <a:srgbClr val="1B2A4A"/>
                </a:solidFill>
                <a:latin typeface="Calibri" pitchFamily="34" charset="0"/>
                <a:ea typeface="Calibri" pitchFamily="34" charset="-122"/>
                <a:cs typeface="Calibri" pitchFamily="34" charset="-120"/>
              </a:rPr>
              <a:t>CPU time is influenced by three completely separate factors, controlled by different people: the compiler writer, the ISA designer, and the hardware engineer</a:t>
            </a:r>
            <a:endParaRPr lang="en-US" sz="2000" dirty="0"/>
          </a:p>
        </p:txBody>
      </p:sp>
      <p:sp>
        <p:nvSpPr>
          <p:cNvPr id="6" name="Shape 3"/>
          <p:cNvSpPr/>
          <p:nvPr/>
        </p:nvSpPr>
        <p:spPr>
          <a:xfrm>
            <a:off x="7406640" y="1554480"/>
            <a:ext cx="4297680" cy="2377440"/>
          </a:xfrm>
          <a:prstGeom prst="roundRect">
            <a:avLst>
              <a:gd name="adj" fmla="val 3077"/>
            </a:avLst>
          </a:prstGeom>
          <a:solidFill>
            <a:srgbClr val="1B2A4A"/>
          </a:solidFill>
          <a:ln w="12700">
            <a:solidFill>
              <a:srgbClr val="1B2A4A"/>
            </a:solidFill>
            <a:prstDash val="solid"/>
          </a:ln>
        </p:spPr>
      </p:sp>
      <p:sp>
        <p:nvSpPr>
          <p:cNvPr id="7" name="Text 4"/>
          <p:cNvSpPr/>
          <p:nvPr/>
        </p:nvSpPr>
        <p:spPr>
          <a:xfrm>
            <a:off x="7635240" y="1783080"/>
            <a:ext cx="3840480" cy="457200"/>
          </a:xfrm>
          <a:prstGeom prst="rect">
            <a:avLst/>
          </a:prstGeom>
          <a:noFill/>
          <a:ln/>
        </p:spPr>
        <p:txBody>
          <a:bodyPr wrap="square" lIns="0" tIns="0" rIns="0" bIns="0" rtlCol="0" anchor="ctr"/>
          <a:lstStyle/>
          <a:p>
            <a:pPr marL="0" indent="0">
              <a:buNone/>
            </a:pPr>
            <a:r>
              <a:rPr lang="en-US" sz="2200" b="1" dirty="0">
                <a:solidFill>
                  <a:srgbClr val="00D9FF"/>
                </a:solidFill>
                <a:latin typeface="Cambria" pitchFamily="34" charset="0"/>
                <a:ea typeface="Cambria" pitchFamily="34" charset="-122"/>
                <a:cs typeface="Cambria" pitchFamily="34" charset="-120"/>
              </a:rPr>
              <a:t>CPU Time =</a:t>
            </a:r>
            <a:endParaRPr lang="en-US" sz="2200" dirty="0"/>
          </a:p>
        </p:txBody>
      </p:sp>
      <p:sp>
        <p:nvSpPr>
          <p:cNvPr id="8" name="Text 5"/>
          <p:cNvSpPr/>
          <p:nvPr/>
        </p:nvSpPr>
        <p:spPr>
          <a:xfrm>
            <a:off x="7635240" y="2331720"/>
            <a:ext cx="3840480" cy="1371600"/>
          </a:xfrm>
          <a:prstGeom prst="rect">
            <a:avLst/>
          </a:prstGeom>
          <a:noFill/>
          <a:ln/>
        </p:spPr>
        <p:txBody>
          <a:bodyPr wrap="square" lIns="0" tIns="0" rIns="0" bIns="0" rtlCol="0" anchor="ctr"/>
          <a:lstStyle/>
          <a:p>
            <a:pPr marL="0" indent="0">
              <a:lnSpc>
                <a:spcPct val="130000"/>
              </a:lnSpc>
              <a:buNone/>
            </a:pPr>
            <a:r>
              <a:rPr lang="en-US" sz="2000" b="1" dirty="0">
                <a:solidFill>
                  <a:srgbClr val="FFFFFF"/>
                </a:solidFill>
                <a:latin typeface="Cambria" pitchFamily="34" charset="0"/>
                <a:ea typeface="Cambria" pitchFamily="34" charset="-122"/>
                <a:cs typeface="Cambria" pitchFamily="34" charset="-120"/>
              </a:rPr>
              <a:t>Instructions  ×  Cycles/Instruction  ×  Seconds/Cycle</a:t>
            </a:r>
            <a:endParaRPr lang="en-US" sz="2000" dirty="0"/>
          </a:p>
        </p:txBody>
      </p:sp>
      <p:sp>
        <p:nvSpPr>
          <p:cNvPr id="9" name="Shape 6"/>
          <p:cNvSpPr/>
          <p:nvPr/>
        </p:nvSpPr>
        <p:spPr>
          <a:xfrm>
            <a:off x="7315200" y="4023360"/>
            <a:ext cx="4434840" cy="2103120"/>
          </a:xfrm>
          <a:prstGeom prst="roundRect">
            <a:avLst>
              <a:gd name="adj" fmla="val 3478"/>
            </a:avLst>
          </a:prstGeom>
          <a:solidFill>
            <a:srgbClr val="E8EEF7"/>
          </a:solidFill>
          <a:ln w="12700">
            <a:solidFill>
              <a:srgbClr val="E8EEF7"/>
            </a:solidFill>
            <a:prstDash val="solid"/>
          </a:ln>
        </p:spPr>
      </p:sp>
      <p:sp>
        <p:nvSpPr>
          <p:cNvPr id="10" name="Text 7"/>
          <p:cNvSpPr/>
          <p:nvPr/>
        </p:nvSpPr>
        <p:spPr>
          <a:xfrm>
            <a:off x="7543800" y="4151376"/>
            <a:ext cx="3977640" cy="1847088"/>
          </a:xfrm>
          <a:prstGeom prst="rect">
            <a:avLst/>
          </a:prstGeom>
          <a:noFill/>
          <a:ln/>
        </p:spPr>
        <p:txBody>
          <a:bodyPr wrap="square" lIns="0" tIns="0" rIns="0" bIns="0" rtlCol="0" anchor="t"/>
          <a:lstStyle/>
          <a:p>
            <a:pPr marL="0" indent="0">
              <a:lnSpc>
                <a:spcPct val="102000"/>
              </a:lnSpc>
              <a:buNone/>
            </a:pPr>
            <a:r>
              <a:rPr lang="en-US" sz="2000" b="1" dirty="0">
                <a:solidFill>
                  <a:srgbClr val="1B2A4A"/>
                </a:solidFill>
                <a:latin typeface="Calibri" pitchFamily="34" charset="0"/>
                <a:ea typeface="Calibri" pitchFamily="34" charset="-122"/>
                <a:cs typeface="Calibri" pitchFamily="34" charset="-120"/>
              </a:rPr>
              <a:t>Visual &amp; Delivery Tip
</a:t>
            </a:r>
            <a:endParaRPr lang="en-US" sz="2000" dirty="0"/>
          </a:p>
          <a:p>
            <a:pPr marL="0" indent="0">
              <a:lnSpc>
                <a:spcPct val="102000"/>
              </a:lnSpc>
              <a:buNone/>
            </a:pPr>
            <a:r>
              <a:rPr lang="en-US" sz="2000" dirty="0">
                <a:solidFill>
                  <a:srgbClr val="5B6B84"/>
                </a:solidFill>
                <a:latin typeface="Calibri" pitchFamily="34" charset="0"/>
                <a:ea typeface="Calibri" pitchFamily="34" charset="-122"/>
                <a:cs typeface="Calibri" pitchFamily="34" charset="-120"/>
              </a:rPr>
              <a:t>Draw three interlocking gears — IC, CPI, Clock Cycle Time — to show they multiply together.</a:t>
            </a:r>
            <a:endParaRPr lang="en-US" sz="2000" dirty="0"/>
          </a:p>
        </p:txBody>
      </p:sp>
      <p:sp>
        <p:nvSpPr>
          <p:cNvPr id="11" name="Text 8"/>
          <p:cNvSpPr/>
          <p:nvPr/>
        </p:nvSpPr>
        <p:spPr>
          <a:xfrm>
            <a:off x="457200" y="6601968"/>
            <a:ext cx="4572000" cy="256032"/>
          </a:xfrm>
          <a:prstGeom prst="rect">
            <a:avLst/>
          </a:prstGeom>
          <a:noFill/>
          <a:ln/>
        </p:spPr>
        <p:txBody>
          <a:bodyPr wrap="square" lIns="0" tIns="0" rIns="0" bIns="0" rtlCol="0" anchor="ctr"/>
          <a:lstStyle/>
          <a:p>
            <a:pPr marL="0" indent="0" algn="l">
              <a:buNone/>
            </a:pPr>
            <a:r>
              <a:rPr lang="en-US" sz="2000" dirty="0">
                <a:solidFill>
                  <a:srgbClr val="5B6B84"/>
                </a:solidFill>
                <a:latin typeface="Calibri" pitchFamily="34" charset="0"/>
                <a:ea typeface="Calibri" pitchFamily="34" charset="-122"/>
                <a:cs typeface="Calibri" pitchFamily="34" charset="-120"/>
              </a:rPr>
              <a:t>Presidency University, Bengaluru</a:t>
            </a:r>
            <a:endParaRPr lang="en-US" sz="2000" dirty="0"/>
          </a:p>
        </p:txBody>
      </p:sp>
      <p:sp>
        <p:nvSpPr>
          <p:cNvPr id="12" name="Text 9"/>
          <p:cNvSpPr/>
          <p:nvPr/>
        </p:nvSpPr>
        <p:spPr>
          <a:xfrm>
            <a:off x="9902952" y="6601968"/>
            <a:ext cx="1828800" cy="256032"/>
          </a:xfrm>
          <a:prstGeom prst="rect">
            <a:avLst/>
          </a:prstGeom>
          <a:noFill/>
          <a:ln/>
        </p:spPr>
        <p:txBody>
          <a:bodyPr wrap="square" lIns="0" tIns="0" rIns="0" bIns="0" rtlCol="0" anchor="ctr"/>
          <a:lstStyle/>
          <a:p>
            <a:pPr marL="0" indent="0" algn="r">
              <a:buNone/>
            </a:pPr>
            <a:r>
              <a:rPr lang="en-US" sz="2000" dirty="0">
                <a:solidFill>
                  <a:srgbClr val="5B6B84"/>
                </a:solidFill>
                <a:latin typeface="Calibri" pitchFamily="34" charset="0"/>
                <a:ea typeface="Calibri" pitchFamily="34" charset="-122"/>
                <a:cs typeface="Calibri" pitchFamily="34" charset="-120"/>
              </a:rPr>
              <a:t>CSS2257</a:t>
            </a:r>
            <a:endParaRPr lang="en-US" sz="2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11480"/>
            <a:ext cx="9601200" cy="868680"/>
          </a:xfrm>
          <a:prstGeom prst="rect">
            <a:avLst/>
          </a:prstGeom>
          <a:noFill/>
          <a:ln/>
        </p:spPr>
        <p:txBody>
          <a:bodyPr wrap="square" lIns="0" tIns="0" rIns="0" bIns="0" rtlCol="0" anchor="ctr"/>
          <a:lstStyle/>
          <a:p>
            <a:pPr marL="0" indent="0" algn="l">
              <a:buNone/>
            </a:pPr>
            <a:r>
              <a:rPr lang="en-US" sz="3400" b="1" dirty="0">
                <a:solidFill>
                  <a:srgbClr val="1B2A4A"/>
                </a:solidFill>
                <a:latin typeface="Cambria" pitchFamily="34" charset="0"/>
                <a:ea typeface="Cambria" pitchFamily="34" charset="-122"/>
                <a:cs typeface="Cambria" pitchFamily="34" charset="-120"/>
              </a:rPr>
              <a:t>Clock Cycles and Clock Rate</a:t>
            </a:r>
            <a:endParaRPr lang="en-US" sz="3400" dirty="0"/>
          </a:p>
        </p:txBody>
      </p:sp>
      <p:sp>
        <p:nvSpPr>
          <p:cNvPr id="3" name="Shape 1"/>
          <p:cNvSpPr/>
          <p:nvPr/>
        </p:nvSpPr>
        <p:spPr>
          <a:xfrm>
            <a:off x="10607040" y="365760"/>
            <a:ext cx="914400" cy="914400"/>
          </a:xfrm>
          <a:prstGeom prst="ellipse">
            <a:avLst/>
          </a:prstGeom>
          <a:solidFill>
            <a:srgbClr val="1B2A4A"/>
          </a:solidFill>
          <a:ln w="12700">
            <a:solidFill>
              <a:srgbClr val="1B2A4A"/>
            </a:solidFill>
            <a:prstDash val="solid"/>
          </a:ln>
        </p:spPr>
      </p:sp>
      <p:pic>
        <p:nvPicPr>
          <p:cNvPr id="4" name="Image 0" descr="/home/claude/coa_ppt/icon_clock_white.png"/>
          <p:cNvPicPr>
            <a:picLocks noChangeAspect="1"/>
          </p:cNvPicPr>
          <p:nvPr/>
        </p:nvPicPr>
        <p:blipFill>
          <a:blip r:embed="rId3"/>
          <a:stretch>
            <a:fillRect/>
          </a:stretch>
        </p:blipFill>
        <p:spPr>
          <a:xfrm>
            <a:off x="10844784" y="603504"/>
            <a:ext cx="438912" cy="438912"/>
          </a:xfrm>
          <a:prstGeom prst="rect">
            <a:avLst/>
          </a:prstGeom>
        </p:spPr>
      </p:pic>
      <p:sp>
        <p:nvSpPr>
          <p:cNvPr id="5" name="Text 2"/>
          <p:cNvSpPr/>
          <p:nvPr/>
        </p:nvSpPr>
        <p:spPr>
          <a:xfrm>
            <a:off x="548640" y="1417320"/>
            <a:ext cx="6583680" cy="4754880"/>
          </a:xfrm>
          <a:prstGeom prst="rect">
            <a:avLst/>
          </a:prstGeom>
          <a:noFill/>
          <a:ln/>
        </p:spPr>
        <p:txBody>
          <a:bodyPr wrap="square" lIns="0" tIns="0" rIns="0" bIns="0" rtlCol="0" anchor="t"/>
          <a:lstStyle/>
          <a:p>
            <a:pPr marL="279400" indent="-279400">
              <a:lnSpc>
                <a:spcPct val="108000"/>
              </a:lnSpc>
              <a:spcAft>
                <a:spcPts val="1400"/>
              </a:spcAft>
              <a:buSzPct val="100000"/>
              <a:buChar char="•"/>
            </a:pPr>
            <a:r>
              <a:rPr lang="en-US" sz="2000" dirty="0">
                <a:solidFill>
                  <a:srgbClr val="1B2A4A"/>
                </a:solidFill>
                <a:latin typeface="Calibri" pitchFamily="34" charset="0"/>
                <a:ea typeface="Calibri" pitchFamily="34" charset="-122"/>
                <a:cs typeface="Calibri" pitchFamily="34" charset="-120"/>
              </a:rPr>
              <a:t>A processor's clock is an electronic signal that oscillates between high and low voltage at a fixed rate</a:t>
            </a:r>
            <a:endParaRPr lang="en-US" sz="2000" dirty="0"/>
          </a:p>
          <a:p>
            <a:pPr marL="279400" indent="-279400">
              <a:lnSpc>
                <a:spcPct val="108000"/>
              </a:lnSpc>
              <a:spcAft>
                <a:spcPts val="1400"/>
              </a:spcAft>
              <a:buSzPct val="100000"/>
              <a:buChar char="•"/>
            </a:pPr>
            <a:r>
              <a:rPr lang="en-US" sz="2000" dirty="0">
                <a:solidFill>
                  <a:srgbClr val="1B2A4A"/>
                </a:solidFill>
                <a:latin typeface="Calibri" pitchFamily="34" charset="0"/>
                <a:ea typeface="Calibri" pitchFamily="34" charset="-122"/>
                <a:cs typeface="Calibri" pitchFamily="34" charset="-120"/>
              </a:rPr>
              <a:t>Each tick of this signal is called a clock cycle (or clock tick)</a:t>
            </a:r>
            <a:endParaRPr lang="en-US" sz="2000" dirty="0"/>
          </a:p>
          <a:p>
            <a:pPr marL="279400" indent="-279400">
              <a:lnSpc>
                <a:spcPct val="108000"/>
              </a:lnSpc>
              <a:spcAft>
                <a:spcPts val="1400"/>
              </a:spcAft>
              <a:buSzPct val="100000"/>
              <a:buChar char="•"/>
            </a:pPr>
            <a:r>
              <a:rPr lang="en-US" sz="2000" dirty="0">
                <a:solidFill>
                  <a:srgbClr val="1B2A4A"/>
                </a:solidFill>
                <a:latin typeface="Calibri" pitchFamily="34" charset="0"/>
                <a:ea typeface="Calibri" pitchFamily="34" charset="-122"/>
                <a:cs typeface="Calibri" pitchFamily="34" charset="-120"/>
              </a:rPr>
              <a:t>Clock Rate (frequency) = number of cycles per second, measured in Hertz (Hz)</a:t>
            </a:r>
            <a:endParaRPr lang="en-US" sz="2000" dirty="0"/>
          </a:p>
          <a:p>
            <a:pPr marL="279400" indent="-279400">
              <a:lnSpc>
                <a:spcPct val="108000"/>
              </a:lnSpc>
              <a:spcAft>
                <a:spcPts val="1400"/>
              </a:spcAft>
              <a:buSzPct val="100000"/>
              <a:buChar char="•"/>
            </a:pPr>
            <a:r>
              <a:rPr lang="en-US" sz="2000" dirty="0">
                <a:solidFill>
                  <a:srgbClr val="1B2A4A"/>
                </a:solidFill>
                <a:latin typeface="Calibri" pitchFamily="34" charset="0"/>
                <a:ea typeface="Calibri" pitchFamily="34" charset="-122"/>
                <a:cs typeface="Calibri" pitchFamily="34" charset="-120"/>
              </a:rPr>
              <a:t>A 3.0 GHz processor completes 3 billion clock cycles every second</a:t>
            </a:r>
            <a:endParaRPr lang="en-US" sz="2000" dirty="0"/>
          </a:p>
          <a:p>
            <a:pPr marL="279400" indent="-279400">
              <a:lnSpc>
                <a:spcPct val="108000"/>
              </a:lnSpc>
              <a:spcAft>
                <a:spcPts val="1400"/>
              </a:spcAft>
              <a:buSzPct val="100000"/>
              <a:buChar char="•"/>
            </a:pPr>
            <a:r>
              <a:rPr lang="en-US" sz="2000" dirty="0">
                <a:solidFill>
                  <a:srgbClr val="1B2A4A"/>
                </a:solidFill>
                <a:latin typeface="Calibri" pitchFamily="34" charset="0"/>
                <a:ea typeface="Calibri" pitchFamily="34" charset="-122"/>
                <a:cs typeface="Calibri" pitchFamily="34" charset="-120"/>
              </a:rPr>
              <a:t>Clock Cycle Time = 1 / Clock Rate — the duration of a single cycle</a:t>
            </a:r>
            <a:endParaRPr lang="en-US" sz="2000" dirty="0"/>
          </a:p>
        </p:txBody>
      </p:sp>
      <p:sp>
        <p:nvSpPr>
          <p:cNvPr id="6" name="Shape 3"/>
          <p:cNvSpPr/>
          <p:nvPr/>
        </p:nvSpPr>
        <p:spPr>
          <a:xfrm>
            <a:off x="7406640" y="1600200"/>
            <a:ext cx="4297680" cy="2103120"/>
          </a:xfrm>
          <a:prstGeom prst="roundRect">
            <a:avLst>
              <a:gd name="adj" fmla="val 3478"/>
            </a:avLst>
          </a:prstGeom>
          <a:solidFill>
            <a:srgbClr val="E8EEF7"/>
          </a:solidFill>
          <a:ln w="12700">
            <a:solidFill>
              <a:srgbClr val="E8EEF7"/>
            </a:solidFill>
            <a:prstDash val="solid"/>
          </a:ln>
        </p:spPr>
      </p:sp>
      <p:sp>
        <p:nvSpPr>
          <p:cNvPr id="7" name="Shape 4"/>
          <p:cNvSpPr/>
          <p:nvPr/>
        </p:nvSpPr>
        <p:spPr>
          <a:xfrm>
            <a:off x="7635240" y="2651760"/>
            <a:ext cx="502920" cy="0"/>
          </a:xfrm>
          <a:prstGeom prst="line">
            <a:avLst/>
          </a:prstGeom>
          <a:noFill/>
          <a:ln w="38100">
            <a:solidFill>
              <a:srgbClr val="1B2A4A"/>
            </a:solidFill>
            <a:prstDash val="solid"/>
          </a:ln>
        </p:spPr>
      </p:sp>
      <p:sp>
        <p:nvSpPr>
          <p:cNvPr id="8" name="Shape 5"/>
          <p:cNvSpPr/>
          <p:nvPr/>
        </p:nvSpPr>
        <p:spPr>
          <a:xfrm>
            <a:off x="8138160" y="2651760"/>
            <a:ext cx="0" cy="0"/>
          </a:xfrm>
          <a:prstGeom prst="line">
            <a:avLst/>
          </a:prstGeom>
          <a:noFill/>
          <a:ln w="38100">
            <a:solidFill>
              <a:srgbClr val="1B2A4A"/>
            </a:solidFill>
            <a:prstDash val="solid"/>
          </a:ln>
        </p:spPr>
      </p:sp>
      <p:sp>
        <p:nvSpPr>
          <p:cNvPr id="9" name="Shape 6"/>
          <p:cNvSpPr/>
          <p:nvPr/>
        </p:nvSpPr>
        <p:spPr>
          <a:xfrm>
            <a:off x="8138160" y="2194560"/>
            <a:ext cx="502920" cy="0"/>
          </a:xfrm>
          <a:prstGeom prst="line">
            <a:avLst/>
          </a:prstGeom>
          <a:noFill/>
          <a:ln w="38100">
            <a:solidFill>
              <a:srgbClr val="1B2A4A"/>
            </a:solidFill>
            <a:prstDash val="solid"/>
          </a:ln>
        </p:spPr>
      </p:sp>
      <p:sp>
        <p:nvSpPr>
          <p:cNvPr id="10" name="Shape 7"/>
          <p:cNvSpPr/>
          <p:nvPr/>
        </p:nvSpPr>
        <p:spPr>
          <a:xfrm>
            <a:off x="8641080" y="2194560"/>
            <a:ext cx="0" cy="457200"/>
          </a:xfrm>
          <a:prstGeom prst="line">
            <a:avLst/>
          </a:prstGeom>
          <a:noFill/>
          <a:ln w="38100">
            <a:solidFill>
              <a:srgbClr val="1B2A4A"/>
            </a:solidFill>
            <a:prstDash val="solid"/>
          </a:ln>
        </p:spPr>
      </p:sp>
      <p:sp>
        <p:nvSpPr>
          <p:cNvPr id="11" name="Shape 8"/>
          <p:cNvSpPr/>
          <p:nvPr/>
        </p:nvSpPr>
        <p:spPr>
          <a:xfrm>
            <a:off x="8641080" y="2651760"/>
            <a:ext cx="502920" cy="0"/>
          </a:xfrm>
          <a:prstGeom prst="line">
            <a:avLst/>
          </a:prstGeom>
          <a:noFill/>
          <a:ln w="38100">
            <a:solidFill>
              <a:srgbClr val="1B2A4A"/>
            </a:solidFill>
            <a:prstDash val="solid"/>
          </a:ln>
        </p:spPr>
      </p:sp>
      <p:sp>
        <p:nvSpPr>
          <p:cNvPr id="12" name="Shape 9"/>
          <p:cNvSpPr/>
          <p:nvPr/>
        </p:nvSpPr>
        <p:spPr>
          <a:xfrm>
            <a:off x="9144000" y="2651760"/>
            <a:ext cx="0" cy="0"/>
          </a:xfrm>
          <a:prstGeom prst="line">
            <a:avLst/>
          </a:prstGeom>
          <a:noFill/>
          <a:ln w="38100">
            <a:solidFill>
              <a:srgbClr val="1B2A4A"/>
            </a:solidFill>
            <a:prstDash val="solid"/>
          </a:ln>
        </p:spPr>
      </p:sp>
      <p:sp>
        <p:nvSpPr>
          <p:cNvPr id="13" name="Shape 10"/>
          <p:cNvSpPr/>
          <p:nvPr/>
        </p:nvSpPr>
        <p:spPr>
          <a:xfrm>
            <a:off x="9144000" y="2194560"/>
            <a:ext cx="502920" cy="0"/>
          </a:xfrm>
          <a:prstGeom prst="line">
            <a:avLst/>
          </a:prstGeom>
          <a:noFill/>
          <a:ln w="38100">
            <a:solidFill>
              <a:srgbClr val="1B2A4A"/>
            </a:solidFill>
            <a:prstDash val="solid"/>
          </a:ln>
        </p:spPr>
      </p:sp>
      <p:sp>
        <p:nvSpPr>
          <p:cNvPr id="14" name="Shape 11"/>
          <p:cNvSpPr/>
          <p:nvPr/>
        </p:nvSpPr>
        <p:spPr>
          <a:xfrm>
            <a:off x="9646920" y="2194560"/>
            <a:ext cx="0" cy="457200"/>
          </a:xfrm>
          <a:prstGeom prst="line">
            <a:avLst/>
          </a:prstGeom>
          <a:noFill/>
          <a:ln w="38100">
            <a:solidFill>
              <a:srgbClr val="1B2A4A"/>
            </a:solidFill>
            <a:prstDash val="solid"/>
          </a:ln>
        </p:spPr>
      </p:sp>
      <p:sp>
        <p:nvSpPr>
          <p:cNvPr id="15" name="Shape 12"/>
          <p:cNvSpPr/>
          <p:nvPr/>
        </p:nvSpPr>
        <p:spPr>
          <a:xfrm>
            <a:off x="9646920" y="2651760"/>
            <a:ext cx="502920" cy="0"/>
          </a:xfrm>
          <a:prstGeom prst="line">
            <a:avLst/>
          </a:prstGeom>
          <a:noFill/>
          <a:ln w="38100">
            <a:solidFill>
              <a:srgbClr val="1B2A4A"/>
            </a:solidFill>
            <a:prstDash val="solid"/>
          </a:ln>
        </p:spPr>
      </p:sp>
      <p:sp>
        <p:nvSpPr>
          <p:cNvPr id="16" name="Shape 13"/>
          <p:cNvSpPr/>
          <p:nvPr/>
        </p:nvSpPr>
        <p:spPr>
          <a:xfrm>
            <a:off x="10149840" y="2651760"/>
            <a:ext cx="0" cy="0"/>
          </a:xfrm>
          <a:prstGeom prst="line">
            <a:avLst/>
          </a:prstGeom>
          <a:noFill/>
          <a:ln w="38100">
            <a:solidFill>
              <a:srgbClr val="1B2A4A"/>
            </a:solidFill>
            <a:prstDash val="solid"/>
          </a:ln>
        </p:spPr>
      </p:sp>
      <p:sp>
        <p:nvSpPr>
          <p:cNvPr id="17" name="Shape 14"/>
          <p:cNvSpPr/>
          <p:nvPr/>
        </p:nvSpPr>
        <p:spPr>
          <a:xfrm>
            <a:off x="10149840" y="2194560"/>
            <a:ext cx="502920" cy="0"/>
          </a:xfrm>
          <a:prstGeom prst="line">
            <a:avLst/>
          </a:prstGeom>
          <a:noFill/>
          <a:ln w="38100">
            <a:solidFill>
              <a:srgbClr val="1B2A4A"/>
            </a:solidFill>
            <a:prstDash val="solid"/>
          </a:ln>
        </p:spPr>
      </p:sp>
      <p:sp>
        <p:nvSpPr>
          <p:cNvPr id="18" name="Shape 15"/>
          <p:cNvSpPr/>
          <p:nvPr/>
        </p:nvSpPr>
        <p:spPr>
          <a:xfrm>
            <a:off x="10652760" y="2194560"/>
            <a:ext cx="0" cy="457200"/>
          </a:xfrm>
          <a:prstGeom prst="line">
            <a:avLst/>
          </a:prstGeom>
          <a:noFill/>
          <a:ln w="38100">
            <a:solidFill>
              <a:srgbClr val="1B2A4A"/>
            </a:solidFill>
            <a:prstDash val="solid"/>
          </a:ln>
        </p:spPr>
      </p:sp>
      <p:sp>
        <p:nvSpPr>
          <p:cNvPr id="19" name="Shape 16"/>
          <p:cNvSpPr/>
          <p:nvPr/>
        </p:nvSpPr>
        <p:spPr>
          <a:xfrm>
            <a:off x="10652760" y="2651760"/>
            <a:ext cx="502920" cy="0"/>
          </a:xfrm>
          <a:prstGeom prst="line">
            <a:avLst/>
          </a:prstGeom>
          <a:noFill/>
          <a:ln w="38100">
            <a:solidFill>
              <a:srgbClr val="1B2A4A"/>
            </a:solidFill>
            <a:prstDash val="solid"/>
          </a:ln>
        </p:spPr>
      </p:sp>
      <p:sp>
        <p:nvSpPr>
          <p:cNvPr id="20" name="Text 17"/>
          <p:cNvSpPr/>
          <p:nvPr/>
        </p:nvSpPr>
        <p:spPr>
          <a:xfrm>
            <a:off x="7635240" y="3246120"/>
            <a:ext cx="3840480" cy="365760"/>
          </a:xfrm>
          <a:prstGeom prst="rect">
            <a:avLst/>
          </a:prstGeom>
          <a:noFill/>
          <a:ln/>
        </p:spPr>
        <p:txBody>
          <a:bodyPr wrap="square" lIns="0" tIns="0" rIns="0" bIns="0" rtlCol="0" anchor="ctr"/>
          <a:lstStyle/>
          <a:p>
            <a:pPr marL="0" indent="0">
              <a:buNone/>
            </a:pPr>
            <a:r>
              <a:rPr lang="en-US" sz="2000" dirty="0">
                <a:solidFill>
                  <a:srgbClr val="5B6B84"/>
                </a:solidFill>
                <a:latin typeface="Calibri" pitchFamily="34" charset="0"/>
                <a:ea typeface="Calibri" pitchFamily="34" charset="-122"/>
                <a:cs typeface="Calibri" pitchFamily="34" charset="-120"/>
              </a:rPr>
              <a:t>One Clock Cycle</a:t>
            </a:r>
            <a:endParaRPr lang="en-US" sz="2000" dirty="0"/>
          </a:p>
        </p:txBody>
      </p:sp>
      <p:sp>
        <p:nvSpPr>
          <p:cNvPr id="21" name="Shape 18"/>
          <p:cNvSpPr/>
          <p:nvPr/>
        </p:nvSpPr>
        <p:spPr>
          <a:xfrm>
            <a:off x="7315200" y="3886200"/>
            <a:ext cx="4434840" cy="2194560"/>
          </a:xfrm>
          <a:prstGeom prst="roundRect">
            <a:avLst>
              <a:gd name="adj" fmla="val 3333"/>
            </a:avLst>
          </a:prstGeom>
          <a:solidFill>
            <a:srgbClr val="E8EEF7"/>
          </a:solidFill>
          <a:ln w="12700">
            <a:solidFill>
              <a:srgbClr val="E8EEF7"/>
            </a:solidFill>
            <a:prstDash val="solid"/>
          </a:ln>
        </p:spPr>
      </p:sp>
      <p:sp>
        <p:nvSpPr>
          <p:cNvPr id="22" name="Text 19"/>
          <p:cNvSpPr/>
          <p:nvPr/>
        </p:nvSpPr>
        <p:spPr>
          <a:xfrm>
            <a:off x="7543800" y="4014216"/>
            <a:ext cx="3977640" cy="1938528"/>
          </a:xfrm>
          <a:prstGeom prst="rect">
            <a:avLst/>
          </a:prstGeom>
          <a:noFill/>
          <a:ln/>
        </p:spPr>
        <p:txBody>
          <a:bodyPr wrap="square" lIns="0" tIns="0" rIns="0" bIns="0" rtlCol="0" anchor="t"/>
          <a:lstStyle/>
          <a:p>
            <a:pPr marL="0" indent="0">
              <a:lnSpc>
                <a:spcPct val="102000"/>
              </a:lnSpc>
              <a:buNone/>
            </a:pPr>
            <a:r>
              <a:rPr lang="en-US" sz="2000" b="1" dirty="0">
                <a:solidFill>
                  <a:srgbClr val="1B2A4A"/>
                </a:solidFill>
                <a:latin typeface="Calibri" pitchFamily="34" charset="0"/>
                <a:ea typeface="Calibri" pitchFamily="34" charset="-122"/>
                <a:cs typeface="Calibri" pitchFamily="34" charset="-120"/>
              </a:rPr>
              <a:t>Visual &amp; Delivery Tip
</a:t>
            </a:r>
            <a:endParaRPr lang="en-US" sz="2000" dirty="0"/>
          </a:p>
          <a:p>
            <a:pPr marL="0" indent="0">
              <a:lnSpc>
                <a:spcPct val="102000"/>
              </a:lnSpc>
              <a:buNone/>
            </a:pPr>
            <a:r>
              <a:rPr lang="en-US" sz="2000" dirty="0">
                <a:solidFill>
                  <a:srgbClr val="5B6B84"/>
                </a:solidFill>
                <a:latin typeface="Calibri" pitchFamily="34" charset="0"/>
                <a:ea typeface="Calibri" pitchFamily="34" charset="-122"/>
                <a:cs typeface="Calibri" pitchFamily="34" charset="-120"/>
              </a:rPr>
              <a:t>Highlight one full high-low cycle on the wave and label its duration as the Clock Cycle Time.</a:t>
            </a:r>
            <a:endParaRPr lang="en-US" sz="2000" dirty="0"/>
          </a:p>
        </p:txBody>
      </p:sp>
      <p:sp>
        <p:nvSpPr>
          <p:cNvPr id="23" name="Text 20"/>
          <p:cNvSpPr/>
          <p:nvPr/>
        </p:nvSpPr>
        <p:spPr>
          <a:xfrm>
            <a:off x="457200" y="6601968"/>
            <a:ext cx="4572000" cy="256032"/>
          </a:xfrm>
          <a:prstGeom prst="rect">
            <a:avLst/>
          </a:prstGeom>
          <a:noFill/>
          <a:ln/>
        </p:spPr>
        <p:txBody>
          <a:bodyPr wrap="square" lIns="0" tIns="0" rIns="0" bIns="0" rtlCol="0" anchor="ctr"/>
          <a:lstStyle/>
          <a:p>
            <a:pPr marL="0" indent="0" algn="l">
              <a:buNone/>
            </a:pPr>
            <a:r>
              <a:rPr lang="en-US" sz="2000" dirty="0">
                <a:solidFill>
                  <a:srgbClr val="5B6B84"/>
                </a:solidFill>
                <a:latin typeface="Calibri" pitchFamily="34" charset="0"/>
                <a:ea typeface="Calibri" pitchFamily="34" charset="-122"/>
                <a:cs typeface="Calibri" pitchFamily="34" charset="-120"/>
              </a:rPr>
              <a:t>Presidency University, Bengaluru</a:t>
            </a:r>
            <a:endParaRPr lang="en-US" sz="2000" dirty="0"/>
          </a:p>
        </p:txBody>
      </p:sp>
      <p:sp>
        <p:nvSpPr>
          <p:cNvPr id="24" name="Text 21"/>
          <p:cNvSpPr/>
          <p:nvPr/>
        </p:nvSpPr>
        <p:spPr>
          <a:xfrm>
            <a:off x="9902952" y="6601968"/>
            <a:ext cx="1828800" cy="256032"/>
          </a:xfrm>
          <a:prstGeom prst="rect">
            <a:avLst/>
          </a:prstGeom>
          <a:noFill/>
          <a:ln/>
        </p:spPr>
        <p:txBody>
          <a:bodyPr wrap="square" lIns="0" tIns="0" rIns="0" bIns="0" rtlCol="0" anchor="ctr"/>
          <a:lstStyle/>
          <a:p>
            <a:pPr marL="0" indent="0" algn="r">
              <a:buNone/>
            </a:pPr>
            <a:r>
              <a:rPr lang="en-US" sz="2000" dirty="0">
                <a:solidFill>
                  <a:srgbClr val="5B6B84"/>
                </a:solidFill>
                <a:latin typeface="Calibri" pitchFamily="34" charset="0"/>
                <a:ea typeface="Calibri" pitchFamily="34" charset="-122"/>
                <a:cs typeface="Calibri" pitchFamily="34" charset="-120"/>
              </a:rPr>
              <a:t>CSS2257</a:t>
            </a:r>
            <a:endParaRPr lang="en-US" sz="2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11480"/>
            <a:ext cx="9601200" cy="868680"/>
          </a:xfrm>
          <a:prstGeom prst="rect">
            <a:avLst/>
          </a:prstGeom>
          <a:noFill/>
          <a:ln/>
        </p:spPr>
        <p:txBody>
          <a:bodyPr wrap="square" lIns="0" tIns="0" rIns="0" bIns="0" rtlCol="0" anchor="ctr"/>
          <a:lstStyle/>
          <a:p>
            <a:pPr marL="0" indent="0" algn="l">
              <a:buNone/>
            </a:pPr>
            <a:r>
              <a:rPr lang="en-US" sz="3400" b="1" dirty="0">
                <a:solidFill>
                  <a:srgbClr val="1B2A4A"/>
                </a:solidFill>
                <a:latin typeface="Cambria" pitchFamily="34" charset="0"/>
                <a:ea typeface="Cambria" pitchFamily="34" charset="-122"/>
                <a:cs typeface="Cambria" pitchFamily="34" charset="-120"/>
              </a:rPr>
              <a:t>CPI — Cycles Per Instruction</a:t>
            </a:r>
            <a:endParaRPr lang="en-US" sz="3400" dirty="0"/>
          </a:p>
        </p:txBody>
      </p:sp>
      <p:sp>
        <p:nvSpPr>
          <p:cNvPr id="3" name="Shape 1"/>
          <p:cNvSpPr/>
          <p:nvPr/>
        </p:nvSpPr>
        <p:spPr>
          <a:xfrm>
            <a:off x="10607040" y="365760"/>
            <a:ext cx="914400" cy="914400"/>
          </a:xfrm>
          <a:prstGeom prst="ellipse">
            <a:avLst/>
          </a:prstGeom>
          <a:solidFill>
            <a:srgbClr val="1B2A4A"/>
          </a:solidFill>
          <a:ln w="12700">
            <a:solidFill>
              <a:srgbClr val="1B2A4A"/>
            </a:solidFill>
            <a:prstDash val="solid"/>
          </a:ln>
        </p:spPr>
      </p:sp>
      <p:pic>
        <p:nvPicPr>
          <p:cNvPr id="4" name="Image 0" descr="/home/claude/coa_ppt/icon_diagram_white.png"/>
          <p:cNvPicPr>
            <a:picLocks noChangeAspect="1"/>
          </p:cNvPicPr>
          <p:nvPr/>
        </p:nvPicPr>
        <p:blipFill>
          <a:blip r:embed="rId3"/>
          <a:stretch>
            <a:fillRect/>
          </a:stretch>
        </p:blipFill>
        <p:spPr>
          <a:xfrm>
            <a:off x="10844784" y="603504"/>
            <a:ext cx="438912" cy="438912"/>
          </a:xfrm>
          <a:prstGeom prst="rect">
            <a:avLst/>
          </a:prstGeom>
        </p:spPr>
      </p:pic>
      <p:sp>
        <p:nvSpPr>
          <p:cNvPr id="5" name="Text 2"/>
          <p:cNvSpPr/>
          <p:nvPr/>
        </p:nvSpPr>
        <p:spPr>
          <a:xfrm>
            <a:off x="548640" y="1417320"/>
            <a:ext cx="11064240" cy="4754880"/>
          </a:xfrm>
          <a:prstGeom prst="rect">
            <a:avLst/>
          </a:prstGeom>
          <a:noFill/>
          <a:ln/>
        </p:spPr>
        <p:txBody>
          <a:bodyPr wrap="square" lIns="0" tIns="0" rIns="0" bIns="0" rtlCol="0" anchor="t"/>
          <a:lstStyle/>
          <a:p>
            <a:pPr marL="279400" indent="-279400">
              <a:lnSpc>
                <a:spcPct val="108000"/>
              </a:lnSpc>
              <a:spcAft>
                <a:spcPts val="1400"/>
              </a:spcAft>
              <a:buSzPct val="100000"/>
              <a:buChar char="•"/>
            </a:pPr>
            <a:r>
              <a:rPr lang="en-US" sz="2000" dirty="0">
                <a:solidFill>
                  <a:srgbClr val="1B2A4A"/>
                </a:solidFill>
                <a:latin typeface="Calibri" pitchFamily="34" charset="0"/>
                <a:ea typeface="Calibri" pitchFamily="34" charset="-122"/>
                <a:cs typeface="Calibri" pitchFamily="34" charset="-120"/>
              </a:rPr>
              <a:t>Not every instruction takes the same number of clock cycles — a memory load may take more cycles than a simple addition</a:t>
            </a:r>
            <a:endParaRPr lang="en-US" sz="2000" dirty="0"/>
          </a:p>
          <a:p>
            <a:pPr marL="279400" indent="-279400">
              <a:lnSpc>
                <a:spcPct val="108000"/>
              </a:lnSpc>
              <a:spcAft>
                <a:spcPts val="1400"/>
              </a:spcAft>
              <a:buSzPct val="100000"/>
              <a:buChar char="•"/>
            </a:pPr>
            <a:r>
              <a:rPr lang="en-US" sz="2000" dirty="0">
                <a:solidFill>
                  <a:srgbClr val="1B2A4A"/>
                </a:solidFill>
                <a:latin typeface="Calibri" pitchFamily="34" charset="0"/>
                <a:ea typeface="Calibri" pitchFamily="34" charset="-122"/>
                <a:cs typeface="Calibri" pitchFamily="34" charset="-120"/>
              </a:rPr>
              <a:t>CPI = average number of clock cycles used per instruction, for a given program on a given machine</a:t>
            </a:r>
            <a:endParaRPr lang="en-US" sz="2000" dirty="0"/>
          </a:p>
          <a:p>
            <a:pPr marL="279400" indent="-279400">
              <a:lnSpc>
                <a:spcPct val="108000"/>
              </a:lnSpc>
              <a:spcAft>
                <a:spcPts val="1400"/>
              </a:spcAft>
              <a:buSzPct val="100000"/>
              <a:buChar char="•"/>
            </a:pPr>
            <a:r>
              <a:rPr lang="en-US" sz="2000" dirty="0">
                <a:solidFill>
                  <a:srgbClr val="1B2A4A"/>
                </a:solidFill>
                <a:latin typeface="Calibri" pitchFamily="34" charset="0"/>
                <a:ea typeface="Calibri" pitchFamily="34" charset="-122"/>
                <a:cs typeface="Calibri" pitchFamily="34" charset="-120"/>
              </a:rPr>
              <a:t>CPI depends on the instruction mix (what kinds of instructions the program actually uses) and the hardware implementation</a:t>
            </a:r>
            <a:endParaRPr lang="en-US" sz="2000" dirty="0"/>
          </a:p>
          <a:p>
            <a:pPr marL="279400" indent="-279400">
              <a:lnSpc>
                <a:spcPct val="108000"/>
              </a:lnSpc>
              <a:spcAft>
                <a:spcPts val="1400"/>
              </a:spcAft>
              <a:buSzPct val="100000"/>
              <a:buChar char="•"/>
            </a:pPr>
            <a:r>
              <a:rPr lang="en-US" sz="2000" dirty="0">
                <a:solidFill>
                  <a:srgbClr val="1B2A4A"/>
                </a:solidFill>
                <a:latin typeface="Calibri" pitchFamily="34" charset="0"/>
                <a:ea typeface="Calibri" pitchFamily="34" charset="-122"/>
                <a:cs typeface="Calibri" pitchFamily="34" charset="-120"/>
              </a:rPr>
              <a:t>If a program uses several instruction classes, overall CPI is the weighted average across all classes</a:t>
            </a:r>
            <a:endParaRPr lang="en-US" sz="2000" dirty="0"/>
          </a:p>
        </p:txBody>
      </p:sp>
      <p:sp>
        <p:nvSpPr>
          <p:cNvPr id="6" name="Text 3"/>
          <p:cNvSpPr/>
          <p:nvPr/>
        </p:nvSpPr>
        <p:spPr>
          <a:xfrm>
            <a:off x="457200" y="6601968"/>
            <a:ext cx="4572000" cy="256032"/>
          </a:xfrm>
          <a:prstGeom prst="rect">
            <a:avLst/>
          </a:prstGeom>
          <a:noFill/>
          <a:ln/>
        </p:spPr>
        <p:txBody>
          <a:bodyPr wrap="square" lIns="0" tIns="0" rIns="0" bIns="0" rtlCol="0" anchor="ctr"/>
          <a:lstStyle/>
          <a:p>
            <a:pPr marL="0" indent="0" algn="l">
              <a:buNone/>
            </a:pPr>
            <a:r>
              <a:rPr lang="en-US" sz="2000" dirty="0">
                <a:solidFill>
                  <a:srgbClr val="5B6B84"/>
                </a:solidFill>
                <a:latin typeface="Calibri" pitchFamily="34" charset="0"/>
                <a:ea typeface="Calibri" pitchFamily="34" charset="-122"/>
                <a:cs typeface="Calibri" pitchFamily="34" charset="-120"/>
              </a:rPr>
              <a:t>Presidency University, Bengaluru</a:t>
            </a:r>
            <a:endParaRPr lang="en-US" sz="2000" dirty="0"/>
          </a:p>
        </p:txBody>
      </p:sp>
      <p:sp>
        <p:nvSpPr>
          <p:cNvPr id="7" name="Text 4"/>
          <p:cNvSpPr/>
          <p:nvPr/>
        </p:nvSpPr>
        <p:spPr>
          <a:xfrm>
            <a:off x="9902952" y="6601968"/>
            <a:ext cx="1828800" cy="256032"/>
          </a:xfrm>
          <a:prstGeom prst="rect">
            <a:avLst/>
          </a:prstGeom>
          <a:noFill/>
          <a:ln/>
        </p:spPr>
        <p:txBody>
          <a:bodyPr wrap="square" lIns="0" tIns="0" rIns="0" bIns="0" rtlCol="0" anchor="ctr"/>
          <a:lstStyle/>
          <a:p>
            <a:pPr marL="0" indent="0" algn="r">
              <a:buNone/>
            </a:pPr>
            <a:r>
              <a:rPr lang="en-US" sz="2000" dirty="0">
                <a:solidFill>
                  <a:srgbClr val="5B6B84"/>
                </a:solidFill>
                <a:latin typeface="Calibri" pitchFamily="34" charset="0"/>
                <a:ea typeface="Calibri" pitchFamily="34" charset="-122"/>
                <a:cs typeface="Calibri" pitchFamily="34" charset="-120"/>
              </a:rPr>
              <a:t>CSS2257</a:t>
            </a:r>
            <a:endParaRPr lang="en-US" sz="2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B2A4A"/>
        </a:solidFill>
        <a:effectLst/>
      </p:bgPr>
    </p:bg>
    <p:spTree>
      <p:nvGrpSpPr>
        <p:cNvPr id="1" name=""/>
        <p:cNvGrpSpPr/>
        <p:nvPr/>
      </p:nvGrpSpPr>
      <p:grpSpPr>
        <a:xfrm>
          <a:off x="0" y="0"/>
          <a:ext cx="0" cy="0"/>
          <a:chOff x="0" y="0"/>
          <a:chExt cx="0" cy="0"/>
        </a:xfrm>
      </p:grpSpPr>
      <p:sp>
        <p:nvSpPr>
          <p:cNvPr id="2" name="Text 0"/>
          <p:cNvSpPr/>
          <p:nvPr/>
        </p:nvSpPr>
        <p:spPr>
          <a:xfrm>
            <a:off x="548640" y="411480"/>
            <a:ext cx="9601200" cy="868680"/>
          </a:xfrm>
          <a:prstGeom prst="rect">
            <a:avLst/>
          </a:prstGeom>
          <a:noFill/>
          <a:ln/>
        </p:spPr>
        <p:txBody>
          <a:bodyPr wrap="square" lIns="0" tIns="0" rIns="0" bIns="0" rtlCol="0" anchor="ctr"/>
          <a:lstStyle/>
          <a:p>
            <a:pPr marL="0" indent="0" algn="l">
              <a:buNone/>
            </a:pPr>
            <a:r>
              <a:rPr lang="en-US" sz="3400" b="1" dirty="0">
                <a:solidFill>
                  <a:srgbClr val="FFFFFF"/>
                </a:solidFill>
                <a:latin typeface="Cambria" pitchFamily="34" charset="0"/>
                <a:ea typeface="Cambria" pitchFamily="34" charset="-122"/>
                <a:cs typeface="Cambria" pitchFamily="34" charset="-120"/>
              </a:rPr>
              <a:t>Putting It Together — The Performance Equation</a:t>
            </a:r>
            <a:endParaRPr lang="en-US" sz="3400" dirty="0"/>
          </a:p>
        </p:txBody>
      </p:sp>
      <p:sp>
        <p:nvSpPr>
          <p:cNvPr id="3" name="Shape 1"/>
          <p:cNvSpPr/>
          <p:nvPr/>
        </p:nvSpPr>
        <p:spPr>
          <a:xfrm>
            <a:off x="10607040" y="365760"/>
            <a:ext cx="914400" cy="914400"/>
          </a:xfrm>
          <a:prstGeom prst="ellipse">
            <a:avLst/>
          </a:prstGeom>
          <a:solidFill>
            <a:srgbClr val="233B63"/>
          </a:solidFill>
          <a:ln w="12700">
            <a:solidFill>
              <a:srgbClr val="233B63"/>
            </a:solidFill>
            <a:prstDash val="solid"/>
          </a:ln>
        </p:spPr>
      </p:sp>
      <p:pic>
        <p:nvPicPr>
          <p:cNvPr id="4" name="Image 0" descr="/home/claude/coa_ppt/icon_bolt_white.png"/>
          <p:cNvPicPr>
            <a:picLocks noChangeAspect="1"/>
          </p:cNvPicPr>
          <p:nvPr/>
        </p:nvPicPr>
        <p:blipFill>
          <a:blip r:embed="rId3"/>
          <a:stretch>
            <a:fillRect/>
          </a:stretch>
        </p:blipFill>
        <p:spPr>
          <a:xfrm>
            <a:off x="10844784" y="603504"/>
            <a:ext cx="438912" cy="438912"/>
          </a:xfrm>
          <a:prstGeom prst="rect">
            <a:avLst/>
          </a:prstGeom>
        </p:spPr>
      </p:pic>
      <p:sp>
        <p:nvSpPr>
          <p:cNvPr id="5" name="Shape 2"/>
          <p:cNvSpPr/>
          <p:nvPr/>
        </p:nvSpPr>
        <p:spPr>
          <a:xfrm>
            <a:off x="1280160" y="1737360"/>
            <a:ext cx="9601200" cy="1371600"/>
          </a:xfrm>
          <a:prstGeom prst="roundRect">
            <a:avLst>
              <a:gd name="adj" fmla="val 6667"/>
            </a:avLst>
          </a:prstGeom>
          <a:solidFill>
            <a:srgbClr val="233B63"/>
          </a:solidFill>
          <a:ln w="19050">
            <a:solidFill>
              <a:srgbClr val="00D9FF"/>
            </a:solidFill>
            <a:prstDash val="solid"/>
          </a:ln>
        </p:spPr>
      </p:sp>
      <p:sp>
        <p:nvSpPr>
          <p:cNvPr id="6" name="Text 3"/>
          <p:cNvSpPr/>
          <p:nvPr/>
        </p:nvSpPr>
        <p:spPr>
          <a:xfrm>
            <a:off x="1463040" y="1965960"/>
            <a:ext cx="9235440" cy="914400"/>
          </a:xfrm>
          <a:prstGeom prst="rect">
            <a:avLst/>
          </a:prstGeom>
          <a:noFill/>
          <a:ln/>
        </p:spPr>
        <p:txBody>
          <a:bodyPr wrap="square" lIns="0" tIns="0" rIns="0" bIns="0" rtlCol="0" anchor="ctr"/>
          <a:lstStyle/>
          <a:p>
            <a:pPr marL="0" indent="0" algn="ctr">
              <a:buNone/>
            </a:pPr>
            <a:r>
              <a:rPr lang="en-US" sz="3200" b="1" dirty="0">
                <a:solidFill>
                  <a:srgbClr val="00D9FF"/>
                </a:solidFill>
                <a:latin typeface="Cambria" pitchFamily="34" charset="0"/>
                <a:ea typeface="Cambria" pitchFamily="34" charset="-122"/>
                <a:cs typeface="Cambria" pitchFamily="34" charset="-120"/>
              </a:rPr>
              <a:t>CPU Time  =  IC  ×  CPI  ×  Clock Cycle Time</a:t>
            </a:r>
            <a:endParaRPr lang="en-US" sz="3200" dirty="0"/>
          </a:p>
        </p:txBody>
      </p:sp>
      <p:sp>
        <p:nvSpPr>
          <p:cNvPr id="7" name="Shape 4"/>
          <p:cNvSpPr/>
          <p:nvPr/>
        </p:nvSpPr>
        <p:spPr>
          <a:xfrm>
            <a:off x="1280160" y="3429000"/>
            <a:ext cx="9601200" cy="868680"/>
          </a:xfrm>
          <a:prstGeom prst="roundRect">
            <a:avLst>
              <a:gd name="adj" fmla="val 6316"/>
            </a:avLst>
          </a:prstGeom>
          <a:solidFill>
            <a:srgbClr val="24365C"/>
          </a:solidFill>
          <a:ln w="12700">
            <a:solidFill>
              <a:srgbClr val="24365C"/>
            </a:solidFill>
            <a:prstDash val="solid"/>
          </a:ln>
        </p:spPr>
      </p:sp>
      <p:sp>
        <p:nvSpPr>
          <p:cNvPr id="8" name="Text 5"/>
          <p:cNvSpPr/>
          <p:nvPr/>
        </p:nvSpPr>
        <p:spPr>
          <a:xfrm>
            <a:off x="1463040" y="3557016"/>
            <a:ext cx="1280160" cy="640080"/>
          </a:xfrm>
          <a:prstGeom prst="rect">
            <a:avLst/>
          </a:prstGeom>
          <a:noFill/>
          <a:ln/>
        </p:spPr>
        <p:txBody>
          <a:bodyPr wrap="square" lIns="0" tIns="0" rIns="0" bIns="0" rtlCol="0" anchor="ctr"/>
          <a:lstStyle/>
          <a:p>
            <a:pPr marL="0" indent="0">
              <a:buNone/>
            </a:pPr>
            <a:r>
              <a:rPr lang="en-US" sz="2400" b="1" dirty="0">
                <a:solidFill>
                  <a:srgbClr val="00D9FF"/>
                </a:solidFill>
                <a:latin typeface="Cambria" pitchFamily="34" charset="0"/>
                <a:ea typeface="Cambria" pitchFamily="34" charset="-122"/>
                <a:cs typeface="Cambria" pitchFamily="34" charset="-120"/>
              </a:rPr>
              <a:t>IC</a:t>
            </a:r>
            <a:endParaRPr lang="en-US" sz="2400" dirty="0"/>
          </a:p>
        </p:txBody>
      </p:sp>
      <p:sp>
        <p:nvSpPr>
          <p:cNvPr id="9" name="Text 6"/>
          <p:cNvSpPr/>
          <p:nvPr/>
        </p:nvSpPr>
        <p:spPr>
          <a:xfrm>
            <a:off x="2834640" y="3557016"/>
            <a:ext cx="3566160" cy="640080"/>
          </a:xfrm>
          <a:prstGeom prst="rect">
            <a:avLst/>
          </a:prstGeom>
          <a:noFill/>
          <a:ln/>
        </p:spPr>
        <p:txBody>
          <a:bodyPr wrap="square" lIns="0" tIns="0" rIns="0" bIns="0"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Instruction Count</a:t>
            </a:r>
            <a:endParaRPr lang="en-US" sz="2000" dirty="0"/>
          </a:p>
        </p:txBody>
      </p:sp>
      <p:sp>
        <p:nvSpPr>
          <p:cNvPr id="10" name="Text 7"/>
          <p:cNvSpPr/>
          <p:nvPr/>
        </p:nvSpPr>
        <p:spPr>
          <a:xfrm>
            <a:off x="6492240" y="3557016"/>
            <a:ext cx="4206240" cy="640080"/>
          </a:xfrm>
          <a:prstGeom prst="rect">
            <a:avLst/>
          </a:prstGeom>
          <a:noFill/>
          <a:ln/>
        </p:spPr>
        <p:txBody>
          <a:bodyPr wrap="square" lIns="0" tIns="0" rIns="0" bIns="0" rtlCol="0" anchor="ctr"/>
          <a:lstStyle/>
          <a:p>
            <a:pPr marL="0" indent="0">
              <a:buNone/>
            </a:pPr>
            <a:r>
              <a:rPr lang="en-US" sz="2000" dirty="0">
                <a:solidFill>
                  <a:srgbClr val="E8EEF7"/>
                </a:solidFill>
                <a:latin typeface="Calibri" pitchFamily="34" charset="0"/>
                <a:ea typeface="Calibri" pitchFamily="34" charset="-122"/>
                <a:cs typeface="Calibri" pitchFamily="34" charset="-120"/>
              </a:rPr>
              <a:t>Set by the algorithm &amp; compiler</a:t>
            </a:r>
            <a:endParaRPr lang="en-US" sz="2000" dirty="0"/>
          </a:p>
        </p:txBody>
      </p:sp>
      <p:sp>
        <p:nvSpPr>
          <p:cNvPr id="11" name="Shape 8"/>
          <p:cNvSpPr/>
          <p:nvPr/>
        </p:nvSpPr>
        <p:spPr>
          <a:xfrm>
            <a:off x="1280160" y="4434840"/>
            <a:ext cx="9601200" cy="868680"/>
          </a:xfrm>
          <a:prstGeom prst="roundRect">
            <a:avLst>
              <a:gd name="adj" fmla="val 6316"/>
            </a:avLst>
          </a:prstGeom>
          <a:solidFill>
            <a:srgbClr val="24365C"/>
          </a:solidFill>
          <a:ln w="12700">
            <a:solidFill>
              <a:srgbClr val="24365C"/>
            </a:solidFill>
            <a:prstDash val="solid"/>
          </a:ln>
        </p:spPr>
      </p:sp>
      <p:sp>
        <p:nvSpPr>
          <p:cNvPr id="12" name="Text 9"/>
          <p:cNvSpPr/>
          <p:nvPr/>
        </p:nvSpPr>
        <p:spPr>
          <a:xfrm>
            <a:off x="1463040" y="4562856"/>
            <a:ext cx="1280160" cy="640080"/>
          </a:xfrm>
          <a:prstGeom prst="rect">
            <a:avLst/>
          </a:prstGeom>
          <a:noFill/>
          <a:ln/>
        </p:spPr>
        <p:txBody>
          <a:bodyPr wrap="square" lIns="0" tIns="0" rIns="0" bIns="0" rtlCol="0" anchor="ctr"/>
          <a:lstStyle/>
          <a:p>
            <a:pPr marL="0" indent="0">
              <a:buNone/>
            </a:pPr>
            <a:r>
              <a:rPr lang="en-US" sz="2400" b="1" dirty="0">
                <a:solidFill>
                  <a:srgbClr val="00D9FF"/>
                </a:solidFill>
                <a:latin typeface="Cambria" pitchFamily="34" charset="0"/>
                <a:ea typeface="Cambria" pitchFamily="34" charset="-122"/>
                <a:cs typeface="Cambria" pitchFamily="34" charset="-120"/>
              </a:rPr>
              <a:t>CPI</a:t>
            </a:r>
            <a:endParaRPr lang="en-US" sz="2400" dirty="0"/>
          </a:p>
        </p:txBody>
      </p:sp>
      <p:sp>
        <p:nvSpPr>
          <p:cNvPr id="13" name="Text 10"/>
          <p:cNvSpPr/>
          <p:nvPr/>
        </p:nvSpPr>
        <p:spPr>
          <a:xfrm>
            <a:off x="2834640" y="4562856"/>
            <a:ext cx="3566160" cy="640080"/>
          </a:xfrm>
          <a:prstGeom prst="rect">
            <a:avLst/>
          </a:prstGeom>
          <a:noFill/>
          <a:ln/>
        </p:spPr>
        <p:txBody>
          <a:bodyPr wrap="square" lIns="0" tIns="0" rIns="0" bIns="0"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Cycles per Instruction</a:t>
            </a:r>
            <a:endParaRPr lang="en-US" sz="2000" dirty="0"/>
          </a:p>
        </p:txBody>
      </p:sp>
      <p:sp>
        <p:nvSpPr>
          <p:cNvPr id="14" name="Text 11"/>
          <p:cNvSpPr/>
          <p:nvPr/>
        </p:nvSpPr>
        <p:spPr>
          <a:xfrm>
            <a:off x="6492240" y="4562856"/>
            <a:ext cx="4206240" cy="640080"/>
          </a:xfrm>
          <a:prstGeom prst="rect">
            <a:avLst/>
          </a:prstGeom>
          <a:noFill/>
          <a:ln/>
        </p:spPr>
        <p:txBody>
          <a:bodyPr wrap="square" lIns="0" tIns="0" rIns="0" bIns="0" rtlCol="0" anchor="ctr"/>
          <a:lstStyle/>
          <a:p>
            <a:pPr marL="0" indent="0">
              <a:buNone/>
            </a:pPr>
            <a:r>
              <a:rPr lang="en-US" sz="2000" dirty="0">
                <a:solidFill>
                  <a:srgbClr val="E8EEF7"/>
                </a:solidFill>
                <a:latin typeface="Calibri" pitchFamily="34" charset="0"/>
                <a:ea typeface="Calibri" pitchFamily="34" charset="-122"/>
                <a:cs typeface="Calibri" pitchFamily="34" charset="-120"/>
              </a:rPr>
              <a:t>Set by the ISA &amp; microarchitecture</a:t>
            </a:r>
            <a:endParaRPr lang="en-US" sz="2000" dirty="0"/>
          </a:p>
        </p:txBody>
      </p:sp>
      <p:sp>
        <p:nvSpPr>
          <p:cNvPr id="15" name="Shape 12"/>
          <p:cNvSpPr/>
          <p:nvPr/>
        </p:nvSpPr>
        <p:spPr>
          <a:xfrm>
            <a:off x="1280160" y="5440680"/>
            <a:ext cx="9601200" cy="868680"/>
          </a:xfrm>
          <a:prstGeom prst="roundRect">
            <a:avLst>
              <a:gd name="adj" fmla="val 6316"/>
            </a:avLst>
          </a:prstGeom>
          <a:solidFill>
            <a:srgbClr val="24365C"/>
          </a:solidFill>
          <a:ln w="12700">
            <a:solidFill>
              <a:srgbClr val="24365C"/>
            </a:solidFill>
            <a:prstDash val="solid"/>
          </a:ln>
        </p:spPr>
      </p:sp>
      <p:sp>
        <p:nvSpPr>
          <p:cNvPr id="16" name="Text 13"/>
          <p:cNvSpPr/>
          <p:nvPr/>
        </p:nvSpPr>
        <p:spPr>
          <a:xfrm>
            <a:off x="1463040" y="5568696"/>
            <a:ext cx="1280160" cy="640080"/>
          </a:xfrm>
          <a:prstGeom prst="rect">
            <a:avLst/>
          </a:prstGeom>
          <a:noFill/>
          <a:ln/>
        </p:spPr>
        <p:txBody>
          <a:bodyPr wrap="square" lIns="0" tIns="0" rIns="0" bIns="0" rtlCol="0" anchor="ctr"/>
          <a:lstStyle/>
          <a:p>
            <a:pPr marL="0" indent="0">
              <a:buNone/>
            </a:pPr>
            <a:r>
              <a:rPr lang="en-US" sz="2400" b="1" dirty="0">
                <a:solidFill>
                  <a:srgbClr val="00D9FF"/>
                </a:solidFill>
                <a:latin typeface="Cambria" pitchFamily="34" charset="0"/>
                <a:ea typeface="Cambria" pitchFamily="34" charset="-122"/>
                <a:cs typeface="Cambria" pitchFamily="34" charset="-120"/>
              </a:rPr>
              <a:t>CCT</a:t>
            </a:r>
            <a:endParaRPr lang="en-US" sz="2400" dirty="0"/>
          </a:p>
        </p:txBody>
      </p:sp>
      <p:sp>
        <p:nvSpPr>
          <p:cNvPr id="17" name="Text 14"/>
          <p:cNvSpPr/>
          <p:nvPr/>
        </p:nvSpPr>
        <p:spPr>
          <a:xfrm>
            <a:off x="2834640" y="5568696"/>
            <a:ext cx="3566160" cy="640080"/>
          </a:xfrm>
          <a:prstGeom prst="rect">
            <a:avLst/>
          </a:prstGeom>
          <a:noFill/>
          <a:ln/>
        </p:spPr>
        <p:txBody>
          <a:bodyPr wrap="square" lIns="0" tIns="0" rIns="0" bIns="0"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Clock Cycle Time</a:t>
            </a:r>
            <a:endParaRPr lang="en-US" sz="2000" dirty="0"/>
          </a:p>
        </p:txBody>
      </p:sp>
      <p:sp>
        <p:nvSpPr>
          <p:cNvPr id="18" name="Text 15"/>
          <p:cNvSpPr/>
          <p:nvPr/>
        </p:nvSpPr>
        <p:spPr>
          <a:xfrm>
            <a:off x="6492240" y="5568696"/>
            <a:ext cx="4206240" cy="640080"/>
          </a:xfrm>
          <a:prstGeom prst="rect">
            <a:avLst/>
          </a:prstGeom>
          <a:noFill/>
          <a:ln/>
        </p:spPr>
        <p:txBody>
          <a:bodyPr wrap="square" lIns="0" tIns="0" rIns="0" bIns="0" rtlCol="0" anchor="ctr"/>
          <a:lstStyle/>
          <a:p>
            <a:pPr marL="0" indent="0">
              <a:buNone/>
            </a:pPr>
            <a:r>
              <a:rPr lang="en-US" sz="2000" dirty="0">
                <a:solidFill>
                  <a:srgbClr val="E8EEF7"/>
                </a:solidFill>
                <a:latin typeface="Calibri" pitchFamily="34" charset="0"/>
                <a:ea typeface="Calibri" pitchFamily="34" charset="-122"/>
                <a:cs typeface="Calibri" pitchFamily="34" charset="-120"/>
              </a:rPr>
              <a:t>Set by fabrication technology &amp; circuit design</a:t>
            </a:r>
            <a:endParaRPr lang="en-US" sz="2000" dirty="0"/>
          </a:p>
        </p:txBody>
      </p:sp>
      <p:sp>
        <p:nvSpPr>
          <p:cNvPr id="19" name="Text 16"/>
          <p:cNvSpPr/>
          <p:nvPr/>
        </p:nvSpPr>
        <p:spPr>
          <a:xfrm>
            <a:off x="457200" y="6601968"/>
            <a:ext cx="4572000" cy="256032"/>
          </a:xfrm>
          <a:prstGeom prst="rect">
            <a:avLst/>
          </a:prstGeom>
          <a:noFill/>
          <a:ln/>
        </p:spPr>
        <p:txBody>
          <a:bodyPr wrap="square" lIns="0" tIns="0" rIns="0" bIns="0" rtlCol="0" anchor="ctr"/>
          <a:lstStyle/>
          <a:p>
            <a:pPr marL="0" indent="0" algn="l">
              <a:buNone/>
            </a:pPr>
            <a:r>
              <a:rPr lang="en-US" sz="2000" dirty="0">
                <a:solidFill>
                  <a:srgbClr val="E8EEF7"/>
                </a:solidFill>
                <a:latin typeface="Calibri" pitchFamily="34" charset="0"/>
                <a:ea typeface="Calibri" pitchFamily="34" charset="-122"/>
                <a:cs typeface="Calibri" pitchFamily="34" charset="-120"/>
              </a:rPr>
              <a:t>Presidency University, Bengaluru</a:t>
            </a:r>
            <a:endParaRPr lang="en-US" sz="2000" dirty="0"/>
          </a:p>
        </p:txBody>
      </p:sp>
      <p:sp>
        <p:nvSpPr>
          <p:cNvPr id="20" name="Text 17"/>
          <p:cNvSpPr/>
          <p:nvPr/>
        </p:nvSpPr>
        <p:spPr>
          <a:xfrm>
            <a:off x="9902952" y="6601968"/>
            <a:ext cx="1828800" cy="256032"/>
          </a:xfrm>
          <a:prstGeom prst="rect">
            <a:avLst/>
          </a:prstGeom>
          <a:noFill/>
          <a:ln/>
        </p:spPr>
        <p:txBody>
          <a:bodyPr wrap="square" lIns="0" tIns="0" rIns="0" bIns="0" rtlCol="0" anchor="ctr"/>
          <a:lstStyle/>
          <a:p>
            <a:pPr marL="0" indent="0" algn="r">
              <a:buNone/>
            </a:pPr>
            <a:r>
              <a:rPr lang="en-US" sz="2000" dirty="0">
                <a:solidFill>
                  <a:srgbClr val="E8EEF7"/>
                </a:solidFill>
                <a:latin typeface="Calibri" pitchFamily="34" charset="0"/>
                <a:ea typeface="Calibri" pitchFamily="34" charset="-122"/>
                <a:cs typeface="Calibri" pitchFamily="34" charset="-120"/>
              </a:rPr>
              <a:t>CSS2257</a:t>
            </a:r>
            <a:endParaRPr lang="en-US" sz="2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11480"/>
            <a:ext cx="9601200" cy="868680"/>
          </a:xfrm>
          <a:prstGeom prst="rect">
            <a:avLst/>
          </a:prstGeom>
          <a:noFill/>
          <a:ln/>
        </p:spPr>
        <p:txBody>
          <a:bodyPr wrap="square" lIns="0" tIns="0" rIns="0" bIns="0" rtlCol="0" anchor="ctr"/>
          <a:lstStyle/>
          <a:p>
            <a:pPr marL="0" indent="0" algn="l">
              <a:buNone/>
            </a:pPr>
            <a:r>
              <a:rPr lang="en-US" sz="3400" b="1" dirty="0">
                <a:solidFill>
                  <a:srgbClr val="1B2A4A"/>
                </a:solidFill>
                <a:latin typeface="Cambria" pitchFamily="34" charset="0"/>
                <a:ea typeface="Cambria" pitchFamily="34" charset="-122"/>
                <a:cs typeface="Cambria" pitchFamily="34" charset="-120"/>
              </a:rPr>
              <a:t>Worked Example 1 — Computing CPU Time</a:t>
            </a:r>
            <a:endParaRPr lang="en-US" sz="3400" dirty="0"/>
          </a:p>
        </p:txBody>
      </p:sp>
      <p:sp>
        <p:nvSpPr>
          <p:cNvPr id="3" name="Shape 1"/>
          <p:cNvSpPr/>
          <p:nvPr/>
        </p:nvSpPr>
        <p:spPr>
          <a:xfrm>
            <a:off x="10607040" y="365760"/>
            <a:ext cx="914400" cy="914400"/>
          </a:xfrm>
          <a:prstGeom prst="ellipse">
            <a:avLst/>
          </a:prstGeom>
          <a:solidFill>
            <a:srgbClr val="1B2A4A"/>
          </a:solidFill>
          <a:ln w="12700">
            <a:solidFill>
              <a:srgbClr val="1B2A4A"/>
            </a:solidFill>
            <a:prstDash val="solid"/>
          </a:ln>
        </p:spPr>
      </p:sp>
      <p:pic>
        <p:nvPicPr>
          <p:cNvPr id="4" name="Image 0" descr="/home/claude/coa_ppt/icon_gauge_white.png"/>
          <p:cNvPicPr>
            <a:picLocks noChangeAspect="1"/>
          </p:cNvPicPr>
          <p:nvPr/>
        </p:nvPicPr>
        <p:blipFill>
          <a:blip r:embed="rId3"/>
          <a:stretch>
            <a:fillRect/>
          </a:stretch>
        </p:blipFill>
        <p:spPr>
          <a:xfrm>
            <a:off x="10844784" y="603504"/>
            <a:ext cx="438912" cy="438912"/>
          </a:xfrm>
          <a:prstGeom prst="rect">
            <a:avLst/>
          </a:prstGeom>
        </p:spPr>
      </p:pic>
      <p:sp>
        <p:nvSpPr>
          <p:cNvPr id="5" name="Shape 2"/>
          <p:cNvSpPr/>
          <p:nvPr/>
        </p:nvSpPr>
        <p:spPr>
          <a:xfrm>
            <a:off x="548640" y="1325880"/>
            <a:ext cx="11064240" cy="685800"/>
          </a:xfrm>
          <a:prstGeom prst="roundRect">
            <a:avLst>
              <a:gd name="adj" fmla="val 8000"/>
            </a:avLst>
          </a:prstGeom>
          <a:solidFill>
            <a:srgbClr val="1B2A4A"/>
          </a:solidFill>
          <a:ln w="12700">
            <a:solidFill>
              <a:srgbClr val="1B2A4A"/>
            </a:solidFill>
            <a:prstDash val="solid"/>
          </a:ln>
        </p:spPr>
      </p:sp>
      <p:sp>
        <p:nvSpPr>
          <p:cNvPr id="6" name="Text 3"/>
          <p:cNvSpPr/>
          <p:nvPr/>
        </p:nvSpPr>
        <p:spPr>
          <a:xfrm>
            <a:off x="777240" y="1371600"/>
            <a:ext cx="10607040" cy="594360"/>
          </a:xfrm>
          <a:prstGeom prst="rect">
            <a:avLst/>
          </a:prstGeom>
          <a:noFill/>
          <a:ln/>
        </p:spPr>
        <p:txBody>
          <a:bodyPr wrap="square" lIns="0" tIns="0" rIns="0" bIns="0"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A program runs 200 million instructions. The processor has CPI = 2 and a clock rate of 1 GHz. Find CPU time.</a:t>
            </a:r>
            <a:endParaRPr lang="en-US" sz="2000" dirty="0"/>
          </a:p>
        </p:txBody>
      </p:sp>
      <p:sp>
        <p:nvSpPr>
          <p:cNvPr id="7" name="Shape 4"/>
          <p:cNvSpPr/>
          <p:nvPr/>
        </p:nvSpPr>
        <p:spPr>
          <a:xfrm>
            <a:off x="548640" y="2240280"/>
            <a:ext cx="11064240" cy="777240"/>
          </a:xfrm>
          <a:prstGeom prst="roundRect">
            <a:avLst>
              <a:gd name="adj" fmla="val 7059"/>
            </a:avLst>
          </a:prstGeom>
          <a:solidFill>
            <a:srgbClr val="E8EEF7"/>
          </a:solidFill>
          <a:ln w="12700">
            <a:solidFill>
              <a:srgbClr val="E8EEF7"/>
            </a:solidFill>
            <a:prstDash val="solid"/>
          </a:ln>
        </p:spPr>
      </p:sp>
      <p:sp>
        <p:nvSpPr>
          <p:cNvPr id="8" name="Shape 5"/>
          <p:cNvSpPr/>
          <p:nvPr/>
        </p:nvSpPr>
        <p:spPr>
          <a:xfrm>
            <a:off x="685800" y="2395728"/>
            <a:ext cx="457200" cy="457200"/>
          </a:xfrm>
          <a:prstGeom prst="ellipse">
            <a:avLst/>
          </a:prstGeom>
          <a:solidFill>
            <a:srgbClr val="1B2A4A"/>
          </a:solidFill>
          <a:ln w="12700">
            <a:solidFill>
              <a:srgbClr val="1B2A4A"/>
            </a:solidFill>
            <a:prstDash val="solid"/>
          </a:ln>
        </p:spPr>
      </p:sp>
      <p:sp>
        <p:nvSpPr>
          <p:cNvPr id="9" name="Text 6"/>
          <p:cNvSpPr/>
          <p:nvPr/>
        </p:nvSpPr>
        <p:spPr>
          <a:xfrm>
            <a:off x="685800" y="2395728"/>
            <a:ext cx="457200" cy="457200"/>
          </a:xfrm>
          <a:prstGeom prst="rect">
            <a:avLst/>
          </a:prstGeom>
          <a:noFill/>
          <a:ln/>
        </p:spPr>
        <p:txBody>
          <a:bodyPr wrap="square" lIns="0" tIns="0" rIns="0" bIns="0" rtlCol="0" anchor="ctr"/>
          <a:lstStyle/>
          <a:p>
            <a:pPr marL="0" indent="0" algn="ctr">
              <a:buNone/>
            </a:pPr>
            <a:r>
              <a:rPr lang="en-US" sz="2000" b="1" dirty="0">
                <a:solidFill>
                  <a:srgbClr val="FFFFFF"/>
                </a:solidFill>
                <a:latin typeface="Cambria" pitchFamily="34" charset="0"/>
                <a:ea typeface="Cambria" pitchFamily="34" charset="-122"/>
                <a:cs typeface="Cambria" pitchFamily="34" charset="-120"/>
              </a:rPr>
              <a:t>1</a:t>
            </a:r>
            <a:endParaRPr lang="en-US" sz="2000" dirty="0"/>
          </a:p>
        </p:txBody>
      </p:sp>
      <p:sp>
        <p:nvSpPr>
          <p:cNvPr id="10" name="Text 7"/>
          <p:cNvSpPr/>
          <p:nvPr/>
        </p:nvSpPr>
        <p:spPr>
          <a:xfrm>
            <a:off x="1280160" y="2313432"/>
            <a:ext cx="10149840" cy="640080"/>
          </a:xfrm>
          <a:prstGeom prst="rect">
            <a:avLst/>
          </a:prstGeom>
          <a:noFill/>
          <a:ln/>
        </p:spPr>
        <p:txBody>
          <a:bodyPr wrap="square" lIns="0" tIns="0" rIns="0" bIns="0" rtlCol="0" anchor="ctr"/>
          <a:lstStyle/>
          <a:p>
            <a:pPr marL="0" indent="0">
              <a:buNone/>
            </a:pPr>
            <a:r>
              <a:rPr lang="en-US" sz="2000" dirty="0">
                <a:solidFill>
                  <a:srgbClr val="1B2A4A"/>
                </a:solidFill>
                <a:latin typeface="Calibri" pitchFamily="34" charset="0"/>
                <a:ea typeface="Calibri" pitchFamily="34" charset="-122"/>
                <a:cs typeface="Calibri" pitchFamily="34" charset="-120"/>
              </a:rPr>
              <a:t>Identify knowns: IC = 200 × 10⁶, CPI = 2, Clock Rate = 1 × 10⁹ Hz</a:t>
            </a:r>
            <a:endParaRPr lang="en-US" sz="2000" dirty="0"/>
          </a:p>
        </p:txBody>
      </p:sp>
      <p:sp>
        <p:nvSpPr>
          <p:cNvPr id="11" name="Shape 8"/>
          <p:cNvSpPr/>
          <p:nvPr/>
        </p:nvSpPr>
        <p:spPr>
          <a:xfrm>
            <a:off x="548640" y="3136392"/>
            <a:ext cx="11064240" cy="777240"/>
          </a:xfrm>
          <a:prstGeom prst="roundRect">
            <a:avLst>
              <a:gd name="adj" fmla="val 7059"/>
            </a:avLst>
          </a:prstGeom>
          <a:solidFill>
            <a:srgbClr val="E8EEF7"/>
          </a:solidFill>
          <a:ln w="12700">
            <a:solidFill>
              <a:srgbClr val="E8EEF7"/>
            </a:solidFill>
            <a:prstDash val="solid"/>
          </a:ln>
        </p:spPr>
      </p:sp>
      <p:sp>
        <p:nvSpPr>
          <p:cNvPr id="12" name="Shape 9"/>
          <p:cNvSpPr/>
          <p:nvPr/>
        </p:nvSpPr>
        <p:spPr>
          <a:xfrm>
            <a:off x="685800" y="3291840"/>
            <a:ext cx="457200" cy="457200"/>
          </a:xfrm>
          <a:prstGeom prst="ellipse">
            <a:avLst/>
          </a:prstGeom>
          <a:solidFill>
            <a:srgbClr val="1B2A4A"/>
          </a:solidFill>
          <a:ln w="12700">
            <a:solidFill>
              <a:srgbClr val="1B2A4A"/>
            </a:solidFill>
            <a:prstDash val="solid"/>
          </a:ln>
        </p:spPr>
      </p:sp>
      <p:sp>
        <p:nvSpPr>
          <p:cNvPr id="13" name="Text 10"/>
          <p:cNvSpPr/>
          <p:nvPr/>
        </p:nvSpPr>
        <p:spPr>
          <a:xfrm>
            <a:off x="685800" y="3291840"/>
            <a:ext cx="457200" cy="457200"/>
          </a:xfrm>
          <a:prstGeom prst="rect">
            <a:avLst/>
          </a:prstGeom>
          <a:noFill/>
          <a:ln/>
        </p:spPr>
        <p:txBody>
          <a:bodyPr wrap="square" lIns="0" tIns="0" rIns="0" bIns="0" rtlCol="0" anchor="ctr"/>
          <a:lstStyle/>
          <a:p>
            <a:pPr marL="0" indent="0" algn="ctr">
              <a:buNone/>
            </a:pPr>
            <a:r>
              <a:rPr lang="en-US" sz="2000" b="1" dirty="0">
                <a:solidFill>
                  <a:srgbClr val="FFFFFF"/>
                </a:solidFill>
                <a:latin typeface="Cambria" pitchFamily="34" charset="0"/>
                <a:ea typeface="Cambria" pitchFamily="34" charset="-122"/>
                <a:cs typeface="Cambria" pitchFamily="34" charset="-120"/>
              </a:rPr>
              <a:t>2</a:t>
            </a:r>
            <a:endParaRPr lang="en-US" sz="2000" dirty="0"/>
          </a:p>
        </p:txBody>
      </p:sp>
      <p:sp>
        <p:nvSpPr>
          <p:cNvPr id="14" name="Text 11"/>
          <p:cNvSpPr/>
          <p:nvPr/>
        </p:nvSpPr>
        <p:spPr>
          <a:xfrm>
            <a:off x="1280160" y="3209544"/>
            <a:ext cx="10149840" cy="640080"/>
          </a:xfrm>
          <a:prstGeom prst="rect">
            <a:avLst/>
          </a:prstGeom>
          <a:noFill/>
          <a:ln/>
        </p:spPr>
        <p:txBody>
          <a:bodyPr wrap="square" lIns="0" tIns="0" rIns="0" bIns="0" rtlCol="0" anchor="ctr"/>
          <a:lstStyle/>
          <a:p>
            <a:pPr marL="0" indent="0">
              <a:buNone/>
            </a:pPr>
            <a:r>
              <a:rPr lang="en-US" sz="2000" dirty="0">
                <a:solidFill>
                  <a:srgbClr val="1B2A4A"/>
                </a:solidFill>
                <a:latin typeface="Calibri" pitchFamily="34" charset="0"/>
                <a:ea typeface="Calibri" pitchFamily="34" charset="-122"/>
                <a:cs typeface="Calibri" pitchFamily="34" charset="-120"/>
              </a:rPr>
              <a:t>Find Clock Cycle Time: CCT = 1 / Clock Rate = 1 / (1×10⁹) = 1 nanosecond</a:t>
            </a:r>
            <a:endParaRPr lang="en-US" sz="2000" dirty="0"/>
          </a:p>
        </p:txBody>
      </p:sp>
      <p:sp>
        <p:nvSpPr>
          <p:cNvPr id="15" name="Shape 12"/>
          <p:cNvSpPr/>
          <p:nvPr/>
        </p:nvSpPr>
        <p:spPr>
          <a:xfrm>
            <a:off x="548640" y="4032504"/>
            <a:ext cx="11064240" cy="777240"/>
          </a:xfrm>
          <a:prstGeom prst="roundRect">
            <a:avLst>
              <a:gd name="adj" fmla="val 7059"/>
            </a:avLst>
          </a:prstGeom>
          <a:solidFill>
            <a:srgbClr val="E8EEF7"/>
          </a:solidFill>
          <a:ln w="12700">
            <a:solidFill>
              <a:srgbClr val="E8EEF7"/>
            </a:solidFill>
            <a:prstDash val="solid"/>
          </a:ln>
        </p:spPr>
      </p:sp>
      <p:sp>
        <p:nvSpPr>
          <p:cNvPr id="16" name="Shape 13"/>
          <p:cNvSpPr/>
          <p:nvPr/>
        </p:nvSpPr>
        <p:spPr>
          <a:xfrm>
            <a:off x="685800" y="4187952"/>
            <a:ext cx="457200" cy="457200"/>
          </a:xfrm>
          <a:prstGeom prst="ellipse">
            <a:avLst/>
          </a:prstGeom>
          <a:solidFill>
            <a:srgbClr val="1B2A4A"/>
          </a:solidFill>
          <a:ln w="12700">
            <a:solidFill>
              <a:srgbClr val="1B2A4A"/>
            </a:solidFill>
            <a:prstDash val="solid"/>
          </a:ln>
        </p:spPr>
      </p:sp>
      <p:sp>
        <p:nvSpPr>
          <p:cNvPr id="17" name="Text 14"/>
          <p:cNvSpPr/>
          <p:nvPr/>
        </p:nvSpPr>
        <p:spPr>
          <a:xfrm>
            <a:off x="685800" y="4187952"/>
            <a:ext cx="457200" cy="457200"/>
          </a:xfrm>
          <a:prstGeom prst="rect">
            <a:avLst/>
          </a:prstGeom>
          <a:noFill/>
          <a:ln/>
        </p:spPr>
        <p:txBody>
          <a:bodyPr wrap="square" lIns="0" tIns="0" rIns="0" bIns="0" rtlCol="0" anchor="ctr"/>
          <a:lstStyle/>
          <a:p>
            <a:pPr marL="0" indent="0" algn="ctr">
              <a:buNone/>
            </a:pPr>
            <a:r>
              <a:rPr lang="en-US" sz="2000" b="1" dirty="0">
                <a:solidFill>
                  <a:srgbClr val="FFFFFF"/>
                </a:solidFill>
                <a:latin typeface="Cambria" pitchFamily="34" charset="0"/>
                <a:ea typeface="Cambria" pitchFamily="34" charset="-122"/>
                <a:cs typeface="Cambria" pitchFamily="34" charset="-120"/>
              </a:rPr>
              <a:t>3</a:t>
            </a:r>
            <a:endParaRPr lang="en-US" sz="2000" dirty="0"/>
          </a:p>
        </p:txBody>
      </p:sp>
      <p:sp>
        <p:nvSpPr>
          <p:cNvPr id="18" name="Text 15"/>
          <p:cNvSpPr/>
          <p:nvPr/>
        </p:nvSpPr>
        <p:spPr>
          <a:xfrm>
            <a:off x="1280160" y="4105656"/>
            <a:ext cx="10149840" cy="640080"/>
          </a:xfrm>
          <a:prstGeom prst="rect">
            <a:avLst/>
          </a:prstGeom>
          <a:noFill/>
          <a:ln/>
        </p:spPr>
        <p:txBody>
          <a:bodyPr wrap="square" lIns="0" tIns="0" rIns="0" bIns="0" rtlCol="0" anchor="ctr"/>
          <a:lstStyle/>
          <a:p>
            <a:pPr marL="0" indent="0">
              <a:buNone/>
            </a:pPr>
            <a:r>
              <a:rPr lang="en-US" sz="2000" dirty="0">
                <a:solidFill>
                  <a:srgbClr val="1B2A4A"/>
                </a:solidFill>
                <a:latin typeface="Calibri" pitchFamily="34" charset="0"/>
                <a:ea typeface="Calibri" pitchFamily="34" charset="-122"/>
                <a:cs typeface="Calibri" pitchFamily="34" charset="-120"/>
              </a:rPr>
              <a:t>Apply the formula: CPU Time = IC × CPI × CCT</a:t>
            </a:r>
            <a:endParaRPr lang="en-US" sz="2000" dirty="0"/>
          </a:p>
        </p:txBody>
      </p:sp>
      <p:sp>
        <p:nvSpPr>
          <p:cNvPr id="19" name="Shape 16"/>
          <p:cNvSpPr/>
          <p:nvPr/>
        </p:nvSpPr>
        <p:spPr>
          <a:xfrm>
            <a:off x="548640" y="4928616"/>
            <a:ext cx="11064240" cy="777240"/>
          </a:xfrm>
          <a:prstGeom prst="roundRect">
            <a:avLst>
              <a:gd name="adj" fmla="val 7059"/>
            </a:avLst>
          </a:prstGeom>
          <a:solidFill>
            <a:srgbClr val="E8EEF7"/>
          </a:solidFill>
          <a:ln w="12700">
            <a:solidFill>
              <a:srgbClr val="E8EEF7"/>
            </a:solidFill>
            <a:prstDash val="solid"/>
          </a:ln>
        </p:spPr>
      </p:sp>
      <p:sp>
        <p:nvSpPr>
          <p:cNvPr id="20" name="Shape 17"/>
          <p:cNvSpPr/>
          <p:nvPr/>
        </p:nvSpPr>
        <p:spPr>
          <a:xfrm>
            <a:off x="685800" y="5084064"/>
            <a:ext cx="457200" cy="457200"/>
          </a:xfrm>
          <a:prstGeom prst="ellipse">
            <a:avLst/>
          </a:prstGeom>
          <a:solidFill>
            <a:srgbClr val="1B2A4A"/>
          </a:solidFill>
          <a:ln w="12700">
            <a:solidFill>
              <a:srgbClr val="1B2A4A"/>
            </a:solidFill>
            <a:prstDash val="solid"/>
          </a:ln>
        </p:spPr>
      </p:sp>
      <p:sp>
        <p:nvSpPr>
          <p:cNvPr id="21" name="Text 18"/>
          <p:cNvSpPr/>
          <p:nvPr/>
        </p:nvSpPr>
        <p:spPr>
          <a:xfrm>
            <a:off x="685800" y="5084064"/>
            <a:ext cx="457200" cy="457200"/>
          </a:xfrm>
          <a:prstGeom prst="rect">
            <a:avLst/>
          </a:prstGeom>
          <a:noFill/>
          <a:ln/>
        </p:spPr>
        <p:txBody>
          <a:bodyPr wrap="square" lIns="0" tIns="0" rIns="0" bIns="0" rtlCol="0" anchor="ctr"/>
          <a:lstStyle/>
          <a:p>
            <a:pPr marL="0" indent="0" algn="ctr">
              <a:buNone/>
            </a:pPr>
            <a:r>
              <a:rPr lang="en-US" sz="2000" b="1" dirty="0">
                <a:solidFill>
                  <a:srgbClr val="FFFFFF"/>
                </a:solidFill>
                <a:latin typeface="Cambria" pitchFamily="34" charset="0"/>
                <a:ea typeface="Cambria" pitchFamily="34" charset="-122"/>
                <a:cs typeface="Cambria" pitchFamily="34" charset="-120"/>
              </a:rPr>
              <a:t>4</a:t>
            </a:r>
            <a:endParaRPr lang="en-US" sz="2000" dirty="0"/>
          </a:p>
        </p:txBody>
      </p:sp>
      <p:sp>
        <p:nvSpPr>
          <p:cNvPr id="22" name="Text 19"/>
          <p:cNvSpPr/>
          <p:nvPr/>
        </p:nvSpPr>
        <p:spPr>
          <a:xfrm>
            <a:off x="1280160" y="5001768"/>
            <a:ext cx="10149840" cy="640080"/>
          </a:xfrm>
          <a:prstGeom prst="rect">
            <a:avLst/>
          </a:prstGeom>
          <a:noFill/>
          <a:ln/>
        </p:spPr>
        <p:txBody>
          <a:bodyPr wrap="square" lIns="0" tIns="0" rIns="0" bIns="0" rtlCol="0" anchor="ctr"/>
          <a:lstStyle/>
          <a:p>
            <a:pPr marL="0" indent="0">
              <a:buNone/>
            </a:pPr>
            <a:r>
              <a:rPr lang="en-US" sz="2000" dirty="0">
                <a:solidFill>
                  <a:srgbClr val="1B2A4A"/>
                </a:solidFill>
                <a:latin typeface="Calibri" pitchFamily="34" charset="0"/>
                <a:ea typeface="Calibri" pitchFamily="34" charset="-122"/>
                <a:cs typeface="Calibri" pitchFamily="34" charset="-120"/>
              </a:rPr>
              <a:t>Substitute: CPU Time = (200×10⁶) × 2 × (1×10⁻⁹) seconds</a:t>
            </a:r>
            <a:endParaRPr lang="en-US" sz="2000" dirty="0"/>
          </a:p>
        </p:txBody>
      </p:sp>
      <p:sp>
        <p:nvSpPr>
          <p:cNvPr id="23" name="Shape 20"/>
          <p:cNvSpPr/>
          <p:nvPr/>
        </p:nvSpPr>
        <p:spPr>
          <a:xfrm>
            <a:off x="548640" y="5824728"/>
            <a:ext cx="11064240" cy="777240"/>
          </a:xfrm>
          <a:prstGeom prst="roundRect">
            <a:avLst>
              <a:gd name="adj" fmla="val 7059"/>
            </a:avLst>
          </a:prstGeom>
          <a:solidFill>
            <a:srgbClr val="E8EEF7"/>
          </a:solidFill>
          <a:ln w="12700">
            <a:solidFill>
              <a:srgbClr val="E8EEF7"/>
            </a:solidFill>
            <a:prstDash val="solid"/>
          </a:ln>
        </p:spPr>
      </p:sp>
      <p:sp>
        <p:nvSpPr>
          <p:cNvPr id="24" name="Shape 21"/>
          <p:cNvSpPr/>
          <p:nvPr/>
        </p:nvSpPr>
        <p:spPr>
          <a:xfrm>
            <a:off x="685800" y="5980176"/>
            <a:ext cx="457200" cy="457200"/>
          </a:xfrm>
          <a:prstGeom prst="ellipse">
            <a:avLst/>
          </a:prstGeom>
          <a:solidFill>
            <a:srgbClr val="1B2A4A"/>
          </a:solidFill>
          <a:ln w="12700">
            <a:solidFill>
              <a:srgbClr val="1B2A4A"/>
            </a:solidFill>
            <a:prstDash val="solid"/>
          </a:ln>
        </p:spPr>
      </p:sp>
      <p:sp>
        <p:nvSpPr>
          <p:cNvPr id="25" name="Text 22"/>
          <p:cNvSpPr/>
          <p:nvPr/>
        </p:nvSpPr>
        <p:spPr>
          <a:xfrm>
            <a:off x="685800" y="5980176"/>
            <a:ext cx="457200" cy="457200"/>
          </a:xfrm>
          <a:prstGeom prst="rect">
            <a:avLst/>
          </a:prstGeom>
          <a:noFill/>
          <a:ln/>
        </p:spPr>
        <p:txBody>
          <a:bodyPr wrap="square" lIns="0" tIns="0" rIns="0" bIns="0" rtlCol="0" anchor="ctr"/>
          <a:lstStyle/>
          <a:p>
            <a:pPr marL="0" indent="0" algn="ctr">
              <a:buNone/>
            </a:pPr>
            <a:r>
              <a:rPr lang="en-US" sz="2000" b="1" dirty="0">
                <a:solidFill>
                  <a:srgbClr val="FFFFFF"/>
                </a:solidFill>
                <a:latin typeface="Cambria" pitchFamily="34" charset="0"/>
                <a:ea typeface="Cambria" pitchFamily="34" charset="-122"/>
                <a:cs typeface="Cambria" pitchFamily="34" charset="-120"/>
              </a:rPr>
              <a:t>5</a:t>
            </a:r>
            <a:endParaRPr lang="en-US" sz="2000" dirty="0"/>
          </a:p>
        </p:txBody>
      </p:sp>
      <p:sp>
        <p:nvSpPr>
          <p:cNvPr id="26" name="Text 23"/>
          <p:cNvSpPr/>
          <p:nvPr/>
        </p:nvSpPr>
        <p:spPr>
          <a:xfrm>
            <a:off x="1280160" y="5897880"/>
            <a:ext cx="10149840" cy="640080"/>
          </a:xfrm>
          <a:prstGeom prst="rect">
            <a:avLst/>
          </a:prstGeom>
          <a:noFill/>
          <a:ln/>
        </p:spPr>
        <p:txBody>
          <a:bodyPr wrap="square" lIns="0" tIns="0" rIns="0" bIns="0" rtlCol="0" anchor="ctr"/>
          <a:lstStyle/>
          <a:p>
            <a:pPr marL="0" indent="0">
              <a:buNone/>
            </a:pPr>
            <a:r>
              <a:rPr lang="en-US" sz="2000" dirty="0">
                <a:solidFill>
                  <a:srgbClr val="1B2A4A"/>
                </a:solidFill>
                <a:latin typeface="Calibri" pitchFamily="34" charset="0"/>
                <a:ea typeface="Calibri" pitchFamily="34" charset="-122"/>
                <a:cs typeface="Calibri" pitchFamily="34" charset="-120"/>
              </a:rPr>
              <a:t>Compute: CPU Time = 400 × 10⁻³ s = 0.4 seconds</a:t>
            </a:r>
            <a:endParaRPr lang="en-US" sz="2000" dirty="0"/>
          </a:p>
        </p:txBody>
      </p:sp>
      <p:sp>
        <p:nvSpPr>
          <p:cNvPr id="27" name="Text 24"/>
          <p:cNvSpPr/>
          <p:nvPr/>
        </p:nvSpPr>
        <p:spPr>
          <a:xfrm>
            <a:off x="457200" y="6601968"/>
            <a:ext cx="4572000" cy="256032"/>
          </a:xfrm>
          <a:prstGeom prst="rect">
            <a:avLst/>
          </a:prstGeom>
          <a:noFill/>
          <a:ln/>
        </p:spPr>
        <p:txBody>
          <a:bodyPr wrap="square" lIns="0" tIns="0" rIns="0" bIns="0" rtlCol="0" anchor="ctr"/>
          <a:lstStyle/>
          <a:p>
            <a:pPr marL="0" indent="0" algn="l">
              <a:buNone/>
            </a:pPr>
            <a:r>
              <a:rPr lang="en-US" sz="2000" dirty="0">
                <a:solidFill>
                  <a:srgbClr val="5B6B84"/>
                </a:solidFill>
                <a:latin typeface="Calibri" pitchFamily="34" charset="0"/>
                <a:ea typeface="Calibri" pitchFamily="34" charset="-122"/>
                <a:cs typeface="Calibri" pitchFamily="34" charset="-120"/>
              </a:rPr>
              <a:t>Presidency University, Bengaluru</a:t>
            </a:r>
            <a:endParaRPr lang="en-US" sz="2000" dirty="0"/>
          </a:p>
        </p:txBody>
      </p:sp>
      <p:sp>
        <p:nvSpPr>
          <p:cNvPr id="28" name="Text 25"/>
          <p:cNvSpPr/>
          <p:nvPr/>
        </p:nvSpPr>
        <p:spPr>
          <a:xfrm>
            <a:off x="9902952" y="6601968"/>
            <a:ext cx="1828800" cy="256032"/>
          </a:xfrm>
          <a:prstGeom prst="rect">
            <a:avLst/>
          </a:prstGeom>
          <a:noFill/>
          <a:ln/>
        </p:spPr>
        <p:txBody>
          <a:bodyPr wrap="square" lIns="0" tIns="0" rIns="0" bIns="0" rtlCol="0" anchor="ctr"/>
          <a:lstStyle/>
          <a:p>
            <a:pPr marL="0" indent="0" algn="r">
              <a:buNone/>
            </a:pPr>
            <a:r>
              <a:rPr lang="en-US" sz="2000" dirty="0">
                <a:solidFill>
                  <a:srgbClr val="5B6B84"/>
                </a:solidFill>
                <a:latin typeface="Calibri" pitchFamily="34" charset="0"/>
                <a:ea typeface="Calibri" pitchFamily="34" charset="-122"/>
                <a:cs typeface="Calibri" pitchFamily="34" charset="-120"/>
              </a:rPr>
              <a:t>CSS2257</a:t>
            </a:r>
            <a:endParaRPr lang="en-US" sz="2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11480"/>
            <a:ext cx="9601200" cy="868680"/>
          </a:xfrm>
          <a:prstGeom prst="rect">
            <a:avLst/>
          </a:prstGeom>
          <a:noFill/>
          <a:ln/>
        </p:spPr>
        <p:txBody>
          <a:bodyPr wrap="square" lIns="0" tIns="0" rIns="0" bIns="0" rtlCol="0" anchor="ctr"/>
          <a:lstStyle/>
          <a:p>
            <a:pPr marL="0" indent="0" algn="l">
              <a:buNone/>
            </a:pPr>
            <a:r>
              <a:rPr lang="en-US" sz="3400" b="1" dirty="0">
                <a:solidFill>
                  <a:srgbClr val="1B2A4A"/>
                </a:solidFill>
                <a:latin typeface="Cambria" pitchFamily="34" charset="0"/>
                <a:ea typeface="Cambria" pitchFamily="34" charset="-122"/>
                <a:cs typeface="Cambria" pitchFamily="34" charset="-120"/>
              </a:rPr>
              <a:t>Worked Example 2 — Comparing Two Processors</a:t>
            </a:r>
            <a:endParaRPr lang="en-US" sz="3400" dirty="0"/>
          </a:p>
        </p:txBody>
      </p:sp>
      <p:sp>
        <p:nvSpPr>
          <p:cNvPr id="3" name="Shape 1"/>
          <p:cNvSpPr/>
          <p:nvPr/>
        </p:nvSpPr>
        <p:spPr>
          <a:xfrm>
            <a:off x="10607040" y="365760"/>
            <a:ext cx="914400" cy="914400"/>
          </a:xfrm>
          <a:prstGeom prst="ellipse">
            <a:avLst/>
          </a:prstGeom>
          <a:solidFill>
            <a:srgbClr val="1B2A4A"/>
          </a:solidFill>
          <a:ln w="12700">
            <a:solidFill>
              <a:srgbClr val="1B2A4A"/>
            </a:solidFill>
            <a:prstDash val="solid"/>
          </a:ln>
        </p:spPr>
      </p:sp>
      <p:pic>
        <p:nvPicPr>
          <p:cNvPr id="4" name="Image 0" descr="/home/claude/coa_ppt/icon_diagram_white.png"/>
          <p:cNvPicPr>
            <a:picLocks noChangeAspect="1"/>
          </p:cNvPicPr>
          <p:nvPr/>
        </p:nvPicPr>
        <p:blipFill>
          <a:blip r:embed="rId3"/>
          <a:stretch>
            <a:fillRect/>
          </a:stretch>
        </p:blipFill>
        <p:spPr>
          <a:xfrm>
            <a:off x="10844784" y="603504"/>
            <a:ext cx="438912" cy="438912"/>
          </a:xfrm>
          <a:prstGeom prst="rect">
            <a:avLst/>
          </a:prstGeom>
        </p:spPr>
      </p:pic>
      <p:sp>
        <p:nvSpPr>
          <p:cNvPr id="5" name="Shape 2"/>
          <p:cNvSpPr/>
          <p:nvPr/>
        </p:nvSpPr>
        <p:spPr>
          <a:xfrm>
            <a:off x="548640" y="1325880"/>
            <a:ext cx="11064240" cy="822960"/>
          </a:xfrm>
          <a:prstGeom prst="roundRect">
            <a:avLst>
              <a:gd name="adj" fmla="val 6667"/>
            </a:avLst>
          </a:prstGeom>
          <a:solidFill>
            <a:srgbClr val="1B2A4A"/>
          </a:solidFill>
          <a:ln w="12700">
            <a:solidFill>
              <a:srgbClr val="1B2A4A"/>
            </a:solidFill>
            <a:prstDash val="solid"/>
          </a:ln>
        </p:spPr>
      </p:sp>
      <p:sp>
        <p:nvSpPr>
          <p:cNvPr id="6" name="Text 3"/>
          <p:cNvSpPr/>
          <p:nvPr/>
        </p:nvSpPr>
        <p:spPr>
          <a:xfrm>
            <a:off x="777240" y="1371600"/>
            <a:ext cx="10607040" cy="731520"/>
          </a:xfrm>
          <a:prstGeom prst="rect">
            <a:avLst/>
          </a:prstGeom>
          <a:noFill/>
          <a:ln/>
        </p:spPr>
        <p:txBody>
          <a:bodyPr wrap="square" lIns="0" tIns="0" rIns="0" bIns="0" rtlCol="0" anchor="ctr"/>
          <a:lstStyle/>
          <a:p>
            <a:pPr marL="0" indent="0">
              <a:lnSpc>
                <a:spcPct val="110000"/>
              </a:lnSpc>
              <a:buNone/>
            </a:pPr>
            <a:r>
              <a:rPr lang="en-US" sz="2000" b="1" dirty="0">
                <a:solidFill>
                  <a:srgbClr val="FFFFFF"/>
                </a:solidFill>
                <a:latin typeface="Calibri" pitchFamily="34" charset="0"/>
                <a:ea typeface="Calibri" pitchFamily="34" charset="-122"/>
                <a:cs typeface="Calibri" pitchFamily="34" charset="-120"/>
              </a:rPr>
              <a:t>Processor A: 2 GHz clock, CPI = 1.5.   Processor B: 3 GHz clock, CPI = 2.2.</a:t>
            </a:r>
            <a:endParaRPr lang="en-US" sz="2000" dirty="0"/>
          </a:p>
          <a:p>
            <a:pPr marL="0" indent="0">
              <a:lnSpc>
                <a:spcPct val="110000"/>
              </a:lnSpc>
              <a:buNone/>
            </a:pPr>
            <a:r>
              <a:rPr lang="en-US" sz="2000" b="1" dirty="0">
                <a:solidFill>
                  <a:srgbClr val="FFFFFF"/>
                </a:solidFill>
                <a:latin typeface="Calibri" pitchFamily="34" charset="0"/>
                <a:ea typeface="Calibri" pitchFamily="34" charset="-122"/>
                <a:cs typeface="Calibri" pitchFamily="34" charset="-120"/>
              </a:rPr>
              <a:t>Same program, same instruction count. Which is faster?</a:t>
            </a:r>
            <a:endParaRPr lang="en-US" sz="2000" dirty="0"/>
          </a:p>
        </p:txBody>
      </p:sp>
      <p:sp>
        <p:nvSpPr>
          <p:cNvPr id="7" name="Shape 4"/>
          <p:cNvSpPr/>
          <p:nvPr/>
        </p:nvSpPr>
        <p:spPr>
          <a:xfrm>
            <a:off x="548640" y="2377440"/>
            <a:ext cx="5349240" cy="3566160"/>
          </a:xfrm>
          <a:prstGeom prst="roundRect">
            <a:avLst>
              <a:gd name="adj" fmla="val 2051"/>
            </a:avLst>
          </a:prstGeom>
          <a:solidFill>
            <a:srgbClr val="E8EEF7"/>
          </a:solidFill>
          <a:ln w="12700">
            <a:solidFill>
              <a:srgbClr val="E8EEF7"/>
            </a:solidFill>
            <a:prstDash val="solid"/>
          </a:ln>
        </p:spPr>
      </p:sp>
      <p:sp>
        <p:nvSpPr>
          <p:cNvPr id="8" name="Text 5"/>
          <p:cNvSpPr/>
          <p:nvPr/>
        </p:nvSpPr>
        <p:spPr>
          <a:xfrm>
            <a:off x="822960" y="2560320"/>
            <a:ext cx="4754880" cy="457200"/>
          </a:xfrm>
          <a:prstGeom prst="rect">
            <a:avLst/>
          </a:prstGeom>
          <a:noFill/>
          <a:ln/>
        </p:spPr>
        <p:txBody>
          <a:bodyPr wrap="square" lIns="0" tIns="0" rIns="0" bIns="0" rtlCol="0" anchor="ctr"/>
          <a:lstStyle/>
          <a:p>
            <a:pPr marL="0" indent="0">
              <a:buNone/>
            </a:pPr>
            <a:r>
              <a:rPr lang="en-US" sz="2200" b="1" dirty="0">
                <a:solidFill>
                  <a:srgbClr val="1B2A4A"/>
                </a:solidFill>
                <a:latin typeface="Calibri" pitchFamily="34" charset="0"/>
                <a:ea typeface="Calibri" pitchFamily="34" charset="-122"/>
                <a:cs typeface="Calibri" pitchFamily="34" charset="-120"/>
              </a:rPr>
              <a:t>Processor A</a:t>
            </a:r>
            <a:endParaRPr lang="en-US" sz="2200" dirty="0"/>
          </a:p>
        </p:txBody>
      </p:sp>
      <p:sp>
        <p:nvSpPr>
          <p:cNvPr id="9" name="Text 6"/>
          <p:cNvSpPr/>
          <p:nvPr/>
        </p:nvSpPr>
        <p:spPr>
          <a:xfrm>
            <a:off x="822960" y="3108960"/>
            <a:ext cx="4754880" cy="2651760"/>
          </a:xfrm>
          <a:prstGeom prst="rect">
            <a:avLst/>
          </a:prstGeom>
          <a:noFill/>
          <a:ln/>
        </p:spPr>
        <p:txBody>
          <a:bodyPr wrap="square" lIns="0" tIns="0" rIns="0" bIns="0" rtlCol="0" anchor="ctr"/>
          <a:lstStyle/>
          <a:p>
            <a:pPr marL="0" indent="0">
              <a:lnSpc>
                <a:spcPct val="135000"/>
              </a:lnSpc>
              <a:buNone/>
            </a:pPr>
            <a:r>
              <a:rPr lang="en-US" sz="2000" dirty="0">
                <a:solidFill>
                  <a:srgbClr val="1B2A4A"/>
                </a:solidFill>
                <a:latin typeface="Calibri" pitchFamily="34" charset="0"/>
                <a:ea typeface="Calibri" pitchFamily="34" charset="-122"/>
                <a:cs typeface="Calibri" pitchFamily="34" charset="-120"/>
              </a:rPr>
              <a:t>CCT = 1 / 2×10⁹ = 0.5 ns
</a:t>
            </a:r>
            <a:endParaRPr lang="en-US" sz="2000" dirty="0"/>
          </a:p>
          <a:p>
            <a:pPr marL="0" indent="0">
              <a:lnSpc>
                <a:spcPct val="135000"/>
              </a:lnSpc>
              <a:buNone/>
            </a:pPr>
            <a:r>
              <a:rPr lang="en-US" sz="2000" dirty="0">
                <a:solidFill>
                  <a:srgbClr val="1B2A4A"/>
                </a:solidFill>
                <a:latin typeface="Calibri" pitchFamily="34" charset="0"/>
                <a:ea typeface="Calibri" pitchFamily="34" charset="-122"/>
                <a:cs typeface="Calibri" pitchFamily="34" charset="-120"/>
              </a:rPr>
              <a:t>CPU Time ∝ CPI × CCT
</a:t>
            </a:r>
            <a:endParaRPr lang="en-US" sz="2000" dirty="0"/>
          </a:p>
          <a:p>
            <a:pPr marL="0" indent="0">
              <a:lnSpc>
                <a:spcPct val="135000"/>
              </a:lnSpc>
              <a:buNone/>
            </a:pPr>
            <a:r>
              <a:rPr lang="en-US" sz="2000" dirty="0">
                <a:solidFill>
                  <a:srgbClr val="1B2A4A"/>
                </a:solidFill>
                <a:latin typeface="Calibri" pitchFamily="34" charset="0"/>
                <a:ea typeface="Calibri" pitchFamily="34" charset="-122"/>
                <a:cs typeface="Calibri" pitchFamily="34" charset="-120"/>
              </a:rPr>
              <a:t>= 1.5 × 0.5 ns = 0.75 ns per instruction</a:t>
            </a:r>
            <a:endParaRPr lang="en-US" sz="2000" dirty="0"/>
          </a:p>
        </p:txBody>
      </p:sp>
      <p:sp>
        <p:nvSpPr>
          <p:cNvPr id="10" name="Shape 7"/>
          <p:cNvSpPr/>
          <p:nvPr/>
        </p:nvSpPr>
        <p:spPr>
          <a:xfrm>
            <a:off x="6263640" y="2377440"/>
            <a:ext cx="5349240" cy="3566160"/>
          </a:xfrm>
          <a:prstGeom prst="roundRect">
            <a:avLst>
              <a:gd name="adj" fmla="val 2051"/>
            </a:avLst>
          </a:prstGeom>
          <a:solidFill>
            <a:srgbClr val="E8EEF7"/>
          </a:solidFill>
          <a:ln w="12700">
            <a:solidFill>
              <a:srgbClr val="E8EEF7"/>
            </a:solidFill>
            <a:prstDash val="solid"/>
          </a:ln>
        </p:spPr>
      </p:sp>
      <p:sp>
        <p:nvSpPr>
          <p:cNvPr id="11" name="Text 8"/>
          <p:cNvSpPr/>
          <p:nvPr/>
        </p:nvSpPr>
        <p:spPr>
          <a:xfrm>
            <a:off x="6537960" y="2560320"/>
            <a:ext cx="4754880" cy="457200"/>
          </a:xfrm>
          <a:prstGeom prst="rect">
            <a:avLst/>
          </a:prstGeom>
          <a:noFill/>
          <a:ln/>
        </p:spPr>
        <p:txBody>
          <a:bodyPr wrap="square" lIns="0" tIns="0" rIns="0" bIns="0" rtlCol="0" anchor="ctr"/>
          <a:lstStyle/>
          <a:p>
            <a:pPr marL="0" indent="0">
              <a:buNone/>
            </a:pPr>
            <a:r>
              <a:rPr lang="en-US" sz="2200" b="1" dirty="0">
                <a:solidFill>
                  <a:srgbClr val="1B2A4A"/>
                </a:solidFill>
                <a:latin typeface="Calibri" pitchFamily="34" charset="0"/>
                <a:ea typeface="Calibri" pitchFamily="34" charset="-122"/>
                <a:cs typeface="Calibri" pitchFamily="34" charset="-120"/>
              </a:rPr>
              <a:t>Processor B</a:t>
            </a:r>
            <a:endParaRPr lang="en-US" sz="2200" dirty="0"/>
          </a:p>
        </p:txBody>
      </p:sp>
      <p:sp>
        <p:nvSpPr>
          <p:cNvPr id="12" name="Text 9"/>
          <p:cNvSpPr/>
          <p:nvPr/>
        </p:nvSpPr>
        <p:spPr>
          <a:xfrm>
            <a:off x="6537960" y="3108960"/>
            <a:ext cx="4754880" cy="2651760"/>
          </a:xfrm>
          <a:prstGeom prst="rect">
            <a:avLst/>
          </a:prstGeom>
          <a:noFill/>
          <a:ln/>
        </p:spPr>
        <p:txBody>
          <a:bodyPr wrap="square" lIns="0" tIns="0" rIns="0" bIns="0" rtlCol="0" anchor="ctr"/>
          <a:lstStyle/>
          <a:p>
            <a:pPr marL="0" indent="0">
              <a:lnSpc>
                <a:spcPct val="135000"/>
              </a:lnSpc>
              <a:buNone/>
            </a:pPr>
            <a:r>
              <a:rPr lang="en-US" sz="2000" dirty="0">
                <a:solidFill>
                  <a:srgbClr val="1B2A4A"/>
                </a:solidFill>
                <a:latin typeface="Calibri" pitchFamily="34" charset="0"/>
                <a:ea typeface="Calibri" pitchFamily="34" charset="-122"/>
                <a:cs typeface="Calibri" pitchFamily="34" charset="-120"/>
              </a:rPr>
              <a:t>CCT = 1 / 3×10⁹ = 0.333 ns
</a:t>
            </a:r>
            <a:endParaRPr lang="en-US" sz="2000" dirty="0"/>
          </a:p>
          <a:p>
            <a:pPr marL="0" indent="0">
              <a:lnSpc>
                <a:spcPct val="135000"/>
              </a:lnSpc>
              <a:buNone/>
            </a:pPr>
            <a:r>
              <a:rPr lang="en-US" sz="2000" dirty="0">
                <a:solidFill>
                  <a:srgbClr val="1B2A4A"/>
                </a:solidFill>
                <a:latin typeface="Calibri" pitchFamily="34" charset="0"/>
                <a:ea typeface="Calibri" pitchFamily="34" charset="-122"/>
                <a:cs typeface="Calibri" pitchFamily="34" charset="-120"/>
              </a:rPr>
              <a:t>CPU Time ∝ CPI × CCT
</a:t>
            </a:r>
            <a:endParaRPr lang="en-US" sz="2000" dirty="0"/>
          </a:p>
          <a:p>
            <a:pPr marL="0" indent="0">
              <a:lnSpc>
                <a:spcPct val="135000"/>
              </a:lnSpc>
              <a:buNone/>
            </a:pPr>
            <a:r>
              <a:rPr lang="en-US" sz="2000" dirty="0">
                <a:solidFill>
                  <a:srgbClr val="1B2A4A"/>
                </a:solidFill>
                <a:latin typeface="Calibri" pitchFamily="34" charset="0"/>
                <a:ea typeface="Calibri" pitchFamily="34" charset="-122"/>
                <a:cs typeface="Calibri" pitchFamily="34" charset="-120"/>
              </a:rPr>
              <a:t>= 2.2 × 0.333 ns = 0.73 ns per instruction</a:t>
            </a:r>
            <a:endParaRPr lang="en-US" sz="2000" dirty="0"/>
          </a:p>
        </p:txBody>
      </p:sp>
      <p:sp>
        <p:nvSpPr>
          <p:cNvPr id="13" name="Shape 10"/>
          <p:cNvSpPr/>
          <p:nvPr/>
        </p:nvSpPr>
        <p:spPr>
          <a:xfrm>
            <a:off x="548640" y="5989320"/>
            <a:ext cx="11064240" cy="685800"/>
          </a:xfrm>
          <a:prstGeom prst="roundRect">
            <a:avLst>
              <a:gd name="adj" fmla="val 8000"/>
            </a:avLst>
          </a:prstGeom>
          <a:solidFill>
            <a:srgbClr val="FFB84D"/>
          </a:solidFill>
          <a:ln w="12700">
            <a:solidFill>
              <a:srgbClr val="FFB84D"/>
            </a:solidFill>
            <a:prstDash val="solid"/>
          </a:ln>
        </p:spPr>
      </p:sp>
      <p:sp>
        <p:nvSpPr>
          <p:cNvPr id="14" name="Text 11"/>
          <p:cNvSpPr/>
          <p:nvPr/>
        </p:nvSpPr>
        <p:spPr>
          <a:xfrm>
            <a:off x="731520" y="5989320"/>
            <a:ext cx="10698480" cy="685800"/>
          </a:xfrm>
          <a:prstGeom prst="rect">
            <a:avLst/>
          </a:prstGeom>
          <a:noFill/>
          <a:ln/>
        </p:spPr>
        <p:txBody>
          <a:bodyPr wrap="square" lIns="0" tIns="0" rIns="0" bIns="0" rtlCol="0" anchor="ctr"/>
          <a:lstStyle/>
          <a:p>
            <a:pPr marL="0" indent="0">
              <a:buNone/>
            </a:pPr>
            <a:r>
              <a:rPr lang="en-US" sz="2000" b="1" dirty="0">
                <a:solidFill>
                  <a:srgbClr val="1B2A4A"/>
                </a:solidFill>
                <a:latin typeface="Calibri" pitchFamily="34" charset="0"/>
                <a:ea typeface="Calibri" pitchFamily="34" charset="-122"/>
                <a:cs typeface="Calibri" pitchFamily="34" charset="-120"/>
              </a:rPr>
              <a:t>Result: Processor B is (very slightly) faster per instruction — despite a much lower CPI advantage for A, B's higher clock rate wins out.</a:t>
            </a:r>
            <a:endParaRPr lang="en-US" sz="2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11480"/>
            <a:ext cx="9601200" cy="868680"/>
          </a:xfrm>
          <a:prstGeom prst="rect">
            <a:avLst/>
          </a:prstGeom>
          <a:noFill/>
          <a:ln/>
        </p:spPr>
        <p:txBody>
          <a:bodyPr wrap="square" lIns="0" tIns="0" rIns="0" bIns="0" rtlCol="0" anchor="ctr"/>
          <a:lstStyle/>
          <a:p>
            <a:pPr marL="0" indent="0" algn="l">
              <a:buNone/>
            </a:pPr>
            <a:r>
              <a:rPr lang="en-US" sz="3400" b="1" dirty="0">
                <a:solidFill>
                  <a:srgbClr val="1B2A4A"/>
                </a:solidFill>
                <a:latin typeface="Cambria" pitchFamily="34" charset="0"/>
                <a:ea typeface="Cambria" pitchFamily="34" charset="-122"/>
                <a:cs typeface="Cambria" pitchFamily="34" charset="-120"/>
              </a:rPr>
              <a:t>MIPS — A Tempting but Flawed Shortcut</a:t>
            </a:r>
            <a:endParaRPr lang="en-US" sz="3400" dirty="0"/>
          </a:p>
        </p:txBody>
      </p:sp>
      <p:sp>
        <p:nvSpPr>
          <p:cNvPr id="3" name="Shape 1"/>
          <p:cNvSpPr/>
          <p:nvPr/>
        </p:nvSpPr>
        <p:spPr>
          <a:xfrm>
            <a:off x="10607040" y="365760"/>
            <a:ext cx="914400" cy="914400"/>
          </a:xfrm>
          <a:prstGeom prst="ellipse">
            <a:avLst/>
          </a:prstGeom>
          <a:solidFill>
            <a:srgbClr val="1B2A4A"/>
          </a:solidFill>
          <a:ln w="12700">
            <a:solidFill>
              <a:srgbClr val="1B2A4A"/>
            </a:solidFill>
            <a:prstDash val="solid"/>
          </a:ln>
        </p:spPr>
      </p:sp>
      <p:pic>
        <p:nvPicPr>
          <p:cNvPr id="4" name="Image 0" descr="/home/claude/coa_ppt/icon_warning_white.png"/>
          <p:cNvPicPr>
            <a:picLocks noChangeAspect="1"/>
          </p:cNvPicPr>
          <p:nvPr/>
        </p:nvPicPr>
        <p:blipFill>
          <a:blip r:embed="rId3"/>
          <a:stretch>
            <a:fillRect/>
          </a:stretch>
        </p:blipFill>
        <p:spPr>
          <a:xfrm>
            <a:off x="10844784" y="603504"/>
            <a:ext cx="438912" cy="438912"/>
          </a:xfrm>
          <a:prstGeom prst="rect">
            <a:avLst/>
          </a:prstGeom>
        </p:spPr>
      </p:pic>
      <p:sp>
        <p:nvSpPr>
          <p:cNvPr id="5" name="Text 2"/>
          <p:cNvSpPr/>
          <p:nvPr/>
        </p:nvSpPr>
        <p:spPr>
          <a:xfrm>
            <a:off x="548640" y="1417320"/>
            <a:ext cx="11064240" cy="4754880"/>
          </a:xfrm>
          <a:prstGeom prst="rect">
            <a:avLst/>
          </a:prstGeom>
          <a:noFill/>
          <a:ln/>
        </p:spPr>
        <p:txBody>
          <a:bodyPr wrap="square" lIns="0" tIns="0" rIns="0" bIns="0" rtlCol="0" anchor="t"/>
          <a:lstStyle/>
          <a:p>
            <a:pPr marL="279400" indent="-279400">
              <a:lnSpc>
                <a:spcPct val="108000"/>
              </a:lnSpc>
              <a:spcAft>
                <a:spcPts val="1000"/>
              </a:spcAft>
              <a:buSzPct val="100000"/>
              <a:buChar char="•"/>
            </a:pPr>
            <a:r>
              <a:rPr lang="en-US" sz="2000" dirty="0">
                <a:solidFill>
                  <a:srgbClr val="1B2A4A"/>
                </a:solidFill>
                <a:latin typeface="Calibri" pitchFamily="34" charset="0"/>
                <a:ea typeface="Calibri" pitchFamily="34" charset="-122"/>
                <a:cs typeface="Calibri" pitchFamily="34" charset="-120"/>
              </a:rPr>
              <a:t>MIPS = Millions of Instructions Per Second = Instruction Count / (CPU Time × 10⁶)</a:t>
            </a:r>
            <a:endParaRPr lang="en-US" sz="2000" dirty="0"/>
          </a:p>
          <a:p>
            <a:pPr marL="279400" indent="-279400">
              <a:lnSpc>
                <a:spcPct val="108000"/>
              </a:lnSpc>
              <a:spcAft>
                <a:spcPts val="1000"/>
              </a:spcAft>
              <a:buSzPct val="100000"/>
              <a:buChar char="•"/>
            </a:pPr>
            <a:r>
              <a:rPr lang="en-US" sz="2000" dirty="0">
                <a:solidFill>
                  <a:srgbClr val="1B2A4A"/>
                </a:solidFill>
                <a:latin typeface="Calibri" pitchFamily="34" charset="0"/>
                <a:ea typeface="Calibri" pitchFamily="34" charset="-122"/>
                <a:cs typeface="Calibri" pitchFamily="34" charset="-120"/>
              </a:rPr>
              <a:t>Appears simple: bigger MIPS looks like it should mean 'faster'</a:t>
            </a:r>
            <a:endParaRPr lang="en-US" sz="2000" dirty="0"/>
          </a:p>
          <a:p>
            <a:pPr marL="279400" indent="-279400">
              <a:lnSpc>
                <a:spcPct val="108000"/>
              </a:lnSpc>
              <a:spcAft>
                <a:spcPts val="1000"/>
              </a:spcAft>
              <a:buSzPct val="100000"/>
              <a:buChar char="•"/>
            </a:pPr>
            <a:r>
              <a:rPr lang="en-US" sz="2000" b="1" dirty="0">
                <a:solidFill>
                  <a:srgbClr val="1B2A4A"/>
                </a:solidFill>
                <a:latin typeface="Calibri" pitchFamily="34" charset="0"/>
                <a:ea typeface="Calibri" pitchFamily="34" charset="-122"/>
                <a:cs typeface="Calibri" pitchFamily="34" charset="-120"/>
              </a:rPr>
              <a:t>Problem 1:</a:t>
            </a:r>
            <a:endParaRPr lang="en-US" sz="2000" dirty="0"/>
          </a:p>
          <a:p>
            <a:pPr marL="508000" indent="-508000">
              <a:lnSpc>
                <a:spcPct val="108000"/>
              </a:lnSpc>
              <a:spcAft>
                <a:spcPts val="1000"/>
              </a:spcAft>
              <a:buSzPct val="100000"/>
              <a:buChar char="○"/>
            </a:pPr>
            <a:r>
              <a:rPr lang="en-US" sz="2000" dirty="0">
                <a:solidFill>
                  <a:srgbClr val="1B2A4A"/>
                </a:solidFill>
                <a:latin typeface="Calibri" pitchFamily="34" charset="0"/>
                <a:ea typeface="Calibri" pitchFamily="34" charset="-122"/>
                <a:cs typeface="Calibri" pitchFamily="34" charset="-120"/>
              </a:rPr>
              <a:t>MIPS ignores what the instructions actually do — a processor with a weak instruction set may need MORE instructions to do the same job</a:t>
            </a:r>
            <a:endParaRPr lang="en-US" sz="2000" dirty="0"/>
          </a:p>
          <a:p>
            <a:pPr marL="279400" indent="-279400">
              <a:lnSpc>
                <a:spcPct val="108000"/>
              </a:lnSpc>
              <a:spcAft>
                <a:spcPts val="1000"/>
              </a:spcAft>
              <a:buSzPct val="100000"/>
              <a:buChar char="•"/>
            </a:pPr>
            <a:r>
              <a:rPr lang="en-US" sz="2000" b="1" dirty="0">
                <a:solidFill>
                  <a:srgbClr val="1B2A4A"/>
                </a:solidFill>
                <a:latin typeface="Calibri" pitchFamily="34" charset="0"/>
                <a:ea typeface="Calibri" pitchFamily="34" charset="-122"/>
                <a:cs typeface="Calibri" pitchFamily="34" charset="-120"/>
              </a:rPr>
              <a:t>Problem 2:</a:t>
            </a:r>
            <a:endParaRPr lang="en-US" sz="2000" dirty="0"/>
          </a:p>
          <a:p>
            <a:pPr marL="508000" indent="-508000">
              <a:lnSpc>
                <a:spcPct val="108000"/>
              </a:lnSpc>
              <a:spcAft>
                <a:spcPts val="1000"/>
              </a:spcAft>
              <a:buSzPct val="100000"/>
              <a:buChar char="○"/>
            </a:pPr>
            <a:r>
              <a:rPr lang="en-US" sz="2000" dirty="0">
                <a:solidFill>
                  <a:srgbClr val="1B2A4A"/>
                </a:solidFill>
                <a:latin typeface="Calibri" pitchFamily="34" charset="0"/>
                <a:ea typeface="Calibri" pitchFamily="34" charset="-122"/>
                <a:cs typeface="Calibri" pitchFamily="34" charset="-120"/>
              </a:rPr>
              <a:t>MIPS can vary across programs on the same machine, so it is not a single fixed rating</a:t>
            </a:r>
            <a:endParaRPr lang="en-US" sz="2000" dirty="0"/>
          </a:p>
          <a:p>
            <a:pPr marL="279400" indent="-279400">
              <a:lnSpc>
                <a:spcPct val="108000"/>
              </a:lnSpc>
              <a:spcAft>
                <a:spcPts val="1000"/>
              </a:spcAft>
              <a:buSzPct val="100000"/>
              <a:buChar char="•"/>
            </a:pPr>
            <a:r>
              <a:rPr lang="en-US" sz="2000" dirty="0">
                <a:solidFill>
                  <a:srgbClr val="1B2A4A"/>
                </a:solidFill>
                <a:latin typeface="Calibri" pitchFamily="34" charset="0"/>
                <a:ea typeface="Calibri" pitchFamily="34" charset="-122"/>
                <a:cs typeface="Calibri" pitchFamily="34" charset="-120"/>
              </a:rPr>
              <a:t>Takeaway: always prefer actual execution time for a real workload over a single marketing number</a:t>
            </a:r>
            <a:endParaRPr lang="en-US" sz="2000" dirty="0"/>
          </a:p>
        </p:txBody>
      </p:sp>
      <p:sp>
        <p:nvSpPr>
          <p:cNvPr id="6" name="Text 3"/>
          <p:cNvSpPr/>
          <p:nvPr/>
        </p:nvSpPr>
        <p:spPr>
          <a:xfrm>
            <a:off x="457200" y="6601968"/>
            <a:ext cx="4572000" cy="256032"/>
          </a:xfrm>
          <a:prstGeom prst="rect">
            <a:avLst/>
          </a:prstGeom>
          <a:noFill/>
          <a:ln/>
        </p:spPr>
        <p:txBody>
          <a:bodyPr wrap="square" lIns="0" tIns="0" rIns="0" bIns="0" rtlCol="0" anchor="ctr"/>
          <a:lstStyle/>
          <a:p>
            <a:pPr marL="0" indent="0" algn="l">
              <a:buNone/>
            </a:pPr>
            <a:r>
              <a:rPr lang="en-US" sz="2000" dirty="0">
                <a:solidFill>
                  <a:srgbClr val="5B6B84"/>
                </a:solidFill>
                <a:latin typeface="Calibri" pitchFamily="34" charset="0"/>
                <a:ea typeface="Calibri" pitchFamily="34" charset="-122"/>
                <a:cs typeface="Calibri" pitchFamily="34" charset="-120"/>
              </a:rPr>
              <a:t>Presidency University, Bengaluru</a:t>
            </a:r>
            <a:endParaRPr lang="en-US" sz="2000" dirty="0"/>
          </a:p>
        </p:txBody>
      </p:sp>
      <p:sp>
        <p:nvSpPr>
          <p:cNvPr id="7" name="Text 4"/>
          <p:cNvSpPr/>
          <p:nvPr/>
        </p:nvSpPr>
        <p:spPr>
          <a:xfrm>
            <a:off x="9902952" y="6601968"/>
            <a:ext cx="1828800" cy="256032"/>
          </a:xfrm>
          <a:prstGeom prst="rect">
            <a:avLst/>
          </a:prstGeom>
          <a:noFill/>
          <a:ln/>
        </p:spPr>
        <p:txBody>
          <a:bodyPr wrap="square" lIns="0" tIns="0" rIns="0" bIns="0" rtlCol="0" anchor="ctr"/>
          <a:lstStyle/>
          <a:p>
            <a:pPr marL="0" indent="0" algn="r">
              <a:buNone/>
            </a:pPr>
            <a:r>
              <a:rPr lang="en-US" sz="2000" dirty="0">
                <a:solidFill>
                  <a:srgbClr val="5B6B84"/>
                </a:solidFill>
                <a:latin typeface="Calibri" pitchFamily="34" charset="0"/>
                <a:ea typeface="Calibri" pitchFamily="34" charset="-122"/>
                <a:cs typeface="Calibri" pitchFamily="34" charset="-120"/>
              </a:rPr>
              <a:t>CSS2257</a:t>
            </a:r>
            <a:endParaRPr lang="en-US" sz="2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11480"/>
            <a:ext cx="9601200" cy="868680"/>
          </a:xfrm>
          <a:prstGeom prst="rect">
            <a:avLst/>
          </a:prstGeom>
          <a:noFill/>
          <a:ln/>
        </p:spPr>
        <p:txBody>
          <a:bodyPr wrap="square" lIns="0" tIns="0" rIns="0" bIns="0" rtlCol="0" anchor="ctr"/>
          <a:lstStyle/>
          <a:p>
            <a:pPr marL="0" indent="0" algn="l">
              <a:buNone/>
            </a:pPr>
            <a:r>
              <a:rPr lang="en-US" sz="3400" b="1" dirty="0">
                <a:solidFill>
                  <a:srgbClr val="1B2A4A"/>
                </a:solidFill>
                <a:latin typeface="Cambria" pitchFamily="34" charset="0"/>
                <a:ea typeface="Cambria" pitchFamily="34" charset="-122"/>
                <a:cs typeface="Cambria" pitchFamily="34" charset="-120"/>
              </a:rPr>
              <a:t>Amdahl's Law — The Law of Diminishing Returns</a:t>
            </a:r>
            <a:endParaRPr lang="en-US" sz="3400" dirty="0"/>
          </a:p>
        </p:txBody>
      </p:sp>
      <p:sp>
        <p:nvSpPr>
          <p:cNvPr id="3" name="Shape 1"/>
          <p:cNvSpPr/>
          <p:nvPr/>
        </p:nvSpPr>
        <p:spPr>
          <a:xfrm>
            <a:off x="10607040" y="365760"/>
            <a:ext cx="914400" cy="914400"/>
          </a:xfrm>
          <a:prstGeom prst="ellipse">
            <a:avLst/>
          </a:prstGeom>
          <a:solidFill>
            <a:srgbClr val="1B2A4A"/>
          </a:solidFill>
          <a:ln w="12700">
            <a:solidFill>
              <a:srgbClr val="1B2A4A"/>
            </a:solidFill>
            <a:prstDash val="solid"/>
          </a:ln>
        </p:spPr>
      </p:sp>
      <p:pic>
        <p:nvPicPr>
          <p:cNvPr id="4" name="Image 0" descr="/home/claude/coa_ppt/icon_chart_white.png"/>
          <p:cNvPicPr>
            <a:picLocks noChangeAspect="1"/>
          </p:cNvPicPr>
          <p:nvPr/>
        </p:nvPicPr>
        <p:blipFill>
          <a:blip r:embed="rId3"/>
          <a:stretch>
            <a:fillRect/>
          </a:stretch>
        </p:blipFill>
        <p:spPr>
          <a:xfrm>
            <a:off x="10844784" y="603504"/>
            <a:ext cx="438912" cy="438912"/>
          </a:xfrm>
          <a:prstGeom prst="rect">
            <a:avLst/>
          </a:prstGeom>
        </p:spPr>
      </p:pic>
      <p:sp>
        <p:nvSpPr>
          <p:cNvPr id="5" name="Text 2"/>
          <p:cNvSpPr/>
          <p:nvPr/>
        </p:nvSpPr>
        <p:spPr>
          <a:xfrm>
            <a:off x="548640" y="1417320"/>
            <a:ext cx="11064240" cy="4754880"/>
          </a:xfrm>
          <a:prstGeom prst="rect">
            <a:avLst/>
          </a:prstGeom>
          <a:noFill/>
          <a:ln/>
        </p:spPr>
        <p:txBody>
          <a:bodyPr wrap="square" lIns="0" tIns="0" rIns="0" bIns="0" rtlCol="0" anchor="t"/>
          <a:lstStyle/>
          <a:p>
            <a:pPr marL="279400" indent="-279400">
              <a:lnSpc>
                <a:spcPct val="108000"/>
              </a:lnSpc>
              <a:spcAft>
                <a:spcPts val="1400"/>
              </a:spcAft>
              <a:buSzPct val="100000"/>
              <a:buChar char="•"/>
            </a:pPr>
            <a:r>
              <a:rPr lang="en-US" sz="2000" dirty="0">
                <a:solidFill>
                  <a:srgbClr val="1B2A4A"/>
                </a:solidFill>
                <a:latin typeface="Calibri" pitchFamily="34" charset="0"/>
                <a:ea typeface="Calibri" pitchFamily="34" charset="-122"/>
                <a:cs typeface="Calibri" pitchFamily="34" charset="-120"/>
              </a:rPr>
              <a:t>Real programs are a mix of a part you CAN speed up (enhanceable) and a part you CANNOT (unaffected)</a:t>
            </a:r>
            <a:endParaRPr lang="en-US" sz="2000" dirty="0"/>
          </a:p>
          <a:p>
            <a:pPr marL="279400" indent="-279400">
              <a:lnSpc>
                <a:spcPct val="108000"/>
              </a:lnSpc>
              <a:spcAft>
                <a:spcPts val="1400"/>
              </a:spcAft>
              <a:buSzPct val="100000"/>
              <a:buChar char="•"/>
            </a:pPr>
            <a:r>
              <a:rPr lang="en-US" sz="2000" dirty="0">
                <a:solidFill>
                  <a:srgbClr val="1B2A4A"/>
                </a:solidFill>
                <a:latin typeface="Calibri" pitchFamily="34" charset="0"/>
                <a:ea typeface="Calibri" pitchFamily="34" charset="-122"/>
                <a:cs typeface="Calibri" pitchFamily="34" charset="-120"/>
              </a:rPr>
              <a:t>Amdahl's Law tells you the maximum overall speedup possible, given the fraction of time an enhancement affects</a:t>
            </a:r>
            <a:endParaRPr lang="en-US" sz="2000" dirty="0"/>
          </a:p>
          <a:p>
            <a:pPr marL="279400" indent="-279400">
              <a:lnSpc>
                <a:spcPct val="108000"/>
              </a:lnSpc>
              <a:spcAft>
                <a:spcPts val="1400"/>
              </a:spcAft>
              <a:buSzPct val="100000"/>
              <a:buChar char="•"/>
            </a:pPr>
            <a:r>
              <a:rPr lang="en-US" sz="2000" dirty="0">
                <a:solidFill>
                  <a:srgbClr val="1B2A4A"/>
                </a:solidFill>
                <a:latin typeface="Calibri" pitchFamily="34" charset="0"/>
                <a:ea typeface="Calibri" pitchFamily="34" charset="-122"/>
                <a:cs typeface="Calibri" pitchFamily="34" charset="-120"/>
              </a:rPr>
              <a:t>Key insight: the benefit of any enhancement is limited by the fraction of execution time it can actually affect</a:t>
            </a:r>
            <a:endParaRPr lang="en-US" sz="2000" dirty="0"/>
          </a:p>
        </p:txBody>
      </p:sp>
      <p:sp>
        <p:nvSpPr>
          <p:cNvPr id="6" name="Shape 3"/>
          <p:cNvSpPr/>
          <p:nvPr/>
        </p:nvSpPr>
        <p:spPr>
          <a:xfrm>
            <a:off x="731520" y="3931920"/>
            <a:ext cx="10698480" cy="960120"/>
          </a:xfrm>
          <a:prstGeom prst="roundRect">
            <a:avLst>
              <a:gd name="adj" fmla="val 9524"/>
            </a:avLst>
          </a:prstGeom>
          <a:solidFill>
            <a:srgbClr val="1B2A4A"/>
          </a:solidFill>
          <a:ln w="12700">
            <a:solidFill>
              <a:srgbClr val="1B2A4A"/>
            </a:solidFill>
            <a:prstDash val="solid"/>
          </a:ln>
        </p:spPr>
      </p:sp>
      <p:sp>
        <p:nvSpPr>
          <p:cNvPr id="7" name="Text 4"/>
          <p:cNvSpPr/>
          <p:nvPr/>
        </p:nvSpPr>
        <p:spPr>
          <a:xfrm>
            <a:off x="914400" y="3931920"/>
            <a:ext cx="10332720" cy="960120"/>
          </a:xfrm>
          <a:prstGeom prst="rect">
            <a:avLst/>
          </a:prstGeom>
          <a:noFill/>
          <a:ln/>
        </p:spPr>
        <p:txBody>
          <a:bodyPr wrap="square" lIns="0" tIns="0" rIns="0" bIns="0" rtlCol="0" anchor="ctr"/>
          <a:lstStyle/>
          <a:p>
            <a:pPr marL="0" indent="0" algn="ctr">
              <a:buNone/>
            </a:pPr>
            <a:r>
              <a:rPr lang="en-US" sz="1900" b="1" dirty="0">
                <a:solidFill>
                  <a:srgbClr val="00D9FF"/>
                </a:solidFill>
                <a:latin typeface="Cambria" pitchFamily="34" charset="0"/>
                <a:ea typeface="Cambria" pitchFamily="34" charset="-122"/>
                <a:cs typeface="Cambria" pitchFamily="34" charset="-120"/>
              </a:rPr>
              <a:t>Speedup </a:t>
            </a:r>
            <a:r>
              <a:rPr lang="en-US" sz="1100" b="1" i="1" dirty="0">
                <a:solidFill>
                  <a:srgbClr val="00D9FF"/>
                </a:solidFill>
                <a:latin typeface="Cambria" pitchFamily="34" charset="0"/>
                <a:ea typeface="Cambria" pitchFamily="34" charset="-122"/>
                <a:cs typeface="Cambria" pitchFamily="34" charset="-120"/>
              </a:rPr>
              <a:t>overall</a:t>
            </a:r>
            <a:r>
              <a:rPr lang="en-US" sz="1900" b="1" dirty="0">
                <a:solidFill>
                  <a:srgbClr val="FFFFFF"/>
                </a:solidFill>
                <a:latin typeface="Cambria" pitchFamily="34" charset="0"/>
                <a:ea typeface="Cambria" pitchFamily="34" charset="-122"/>
                <a:cs typeface="Cambria" pitchFamily="34" charset="-120"/>
              </a:rPr>
              <a:t>  =  1 / [ (1 − Fraction </a:t>
            </a:r>
            <a:r>
              <a:rPr lang="en-US" sz="1100" b="1" i="1" dirty="0">
                <a:solidFill>
                  <a:srgbClr val="E8EEF7"/>
                </a:solidFill>
                <a:latin typeface="Cambria" pitchFamily="34" charset="0"/>
                <a:ea typeface="Cambria" pitchFamily="34" charset="-122"/>
                <a:cs typeface="Cambria" pitchFamily="34" charset="-120"/>
              </a:rPr>
              <a:t>enhanced</a:t>
            </a:r>
            <a:r>
              <a:rPr lang="en-US" sz="1900" b="1" dirty="0">
                <a:solidFill>
                  <a:srgbClr val="FFFFFF"/>
                </a:solidFill>
                <a:latin typeface="Cambria" pitchFamily="34" charset="0"/>
                <a:ea typeface="Cambria" pitchFamily="34" charset="-122"/>
                <a:cs typeface="Cambria" pitchFamily="34" charset="-120"/>
              </a:rPr>
              <a:t>) + (Fraction </a:t>
            </a:r>
            <a:r>
              <a:rPr lang="en-US" sz="1100" b="1" i="1" dirty="0">
                <a:solidFill>
                  <a:srgbClr val="E8EEF7"/>
                </a:solidFill>
                <a:latin typeface="Cambria" pitchFamily="34" charset="0"/>
                <a:ea typeface="Cambria" pitchFamily="34" charset="-122"/>
                <a:cs typeface="Cambria" pitchFamily="34" charset="-120"/>
              </a:rPr>
              <a:t>enhanced</a:t>
            </a:r>
            <a:r>
              <a:rPr lang="en-US" sz="1900" b="1" dirty="0">
                <a:solidFill>
                  <a:srgbClr val="FFFFFF"/>
                </a:solidFill>
                <a:latin typeface="Cambria" pitchFamily="34" charset="0"/>
                <a:ea typeface="Cambria" pitchFamily="34" charset="-122"/>
                <a:cs typeface="Cambria" pitchFamily="34" charset="-120"/>
              </a:rPr>
              <a:t> / Speedup </a:t>
            </a:r>
            <a:r>
              <a:rPr lang="en-US" sz="1100" b="1" i="1" dirty="0">
                <a:solidFill>
                  <a:srgbClr val="E8EEF7"/>
                </a:solidFill>
                <a:latin typeface="Cambria" pitchFamily="34" charset="0"/>
                <a:ea typeface="Cambria" pitchFamily="34" charset="-122"/>
                <a:cs typeface="Cambria" pitchFamily="34" charset="-120"/>
              </a:rPr>
              <a:t>enhanced</a:t>
            </a:r>
            <a:r>
              <a:rPr lang="en-US" sz="1900" b="1" dirty="0">
                <a:solidFill>
                  <a:srgbClr val="FFFFFF"/>
                </a:solidFill>
                <a:latin typeface="Cambria" pitchFamily="34" charset="0"/>
                <a:ea typeface="Cambria" pitchFamily="34" charset="-122"/>
                <a:cs typeface="Cambria" pitchFamily="34" charset="-120"/>
              </a:rPr>
              <a:t>) ]</a:t>
            </a:r>
            <a:endParaRPr lang="en-US" sz="1900" dirty="0"/>
          </a:p>
        </p:txBody>
      </p:sp>
      <p:sp>
        <p:nvSpPr>
          <p:cNvPr id="8" name="Shape 5"/>
          <p:cNvSpPr/>
          <p:nvPr/>
        </p:nvSpPr>
        <p:spPr>
          <a:xfrm>
            <a:off x="731520" y="5120640"/>
            <a:ext cx="10698480" cy="1371600"/>
          </a:xfrm>
          <a:prstGeom prst="roundRect">
            <a:avLst>
              <a:gd name="adj" fmla="val 5333"/>
            </a:avLst>
          </a:prstGeom>
          <a:solidFill>
            <a:srgbClr val="E8EEF7"/>
          </a:solidFill>
          <a:ln w="12700">
            <a:solidFill>
              <a:srgbClr val="E8EEF7"/>
            </a:solidFill>
            <a:prstDash val="solid"/>
          </a:ln>
        </p:spPr>
      </p:sp>
      <p:sp>
        <p:nvSpPr>
          <p:cNvPr id="9" name="Text 6"/>
          <p:cNvSpPr/>
          <p:nvPr/>
        </p:nvSpPr>
        <p:spPr>
          <a:xfrm>
            <a:off x="960120" y="5248656"/>
            <a:ext cx="10241280" cy="1115568"/>
          </a:xfrm>
          <a:prstGeom prst="rect">
            <a:avLst/>
          </a:prstGeom>
          <a:noFill/>
          <a:ln/>
        </p:spPr>
        <p:txBody>
          <a:bodyPr wrap="square" lIns="0" tIns="0" rIns="0" bIns="0" rtlCol="0" anchor="t"/>
          <a:lstStyle/>
          <a:p>
            <a:pPr marL="0" indent="0">
              <a:lnSpc>
                <a:spcPct val="102000"/>
              </a:lnSpc>
              <a:buNone/>
            </a:pPr>
            <a:r>
              <a:rPr lang="en-US" sz="2000" b="1" dirty="0">
                <a:solidFill>
                  <a:srgbClr val="1B2A4A"/>
                </a:solidFill>
                <a:latin typeface="Calibri" pitchFamily="34" charset="0"/>
                <a:ea typeface="Calibri" pitchFamily="34" charset="-122"/>
                <a:cs typeface="Calibri" pitchFamily="34" charset="-120"/>
              </a:rPr>
              <a:t>Visual &amp; Delivery Tip
</a:t>
            </a:r>
            <a:endParaRPr lang="en-US" sz="2000" dirty="0"/>
          </a:p>
          <a:p>
            <a:pPr marL="0" indent="0">
              <a:lnSpc>
                <a:spcPct val="102000"/>
              </a:lnSpc>
              <a:buNone/>
            </a:pPr>
            <a:r>
              <a:rPr lang="en-US" sz="2000" dirty="0">
                <a:solidFill>
                  <a:srgbClr val="5B6B84"/>
                </a:solidFill>
                <a:latin typeface="Calibri" pitchFamily="34" charset="0"/>
                <a:ea typeface="Calibri" pitchFamily="34" charset="-122"/>
                <a:cs typeface="Calibri" pitchFamily="34" charset="-120"/>
              </a:rPr>
              <a:t>Draw a pie chart: an 'improvable' slice and a 'fixed' slice, to show why gains cap out.</a:t>
            </a:r>
            <a:endParaRPr lang="en-US" sz="2000" dirty="0"/>
          </a:p>
        </p:txBody>
      </p:sp>
      <p:sp>
        <p:nvSpPr>
          <p:cNvPr id="10" name="Text 7"/>
          <p:cNvSpPr/>
          <p:nvPr/>
        </p:nvSpPr>
        <p:spPr>
          <a:xfrm>
            <a:off x="457200" y="6601968"/>
            <a:ext cx="4572000" cy="256032"/>
          </a:xfrm>
          <a:prstGeom prst="rect">
            <a:avLst/>
          </a:prstGeom>
          <a:noFill/>
          <a:ln/>
        </p:spPr>
        <p:txBody>
          <a:bodyPr wrap="square" lIns="0" tIns="0" rIns="0" bIns="0" rtlCol="0" anchor="ctr"/>
          <a:lstStyle/>
          <a:p>
            <a:pPr marL="0" indent="0" algn="l">
              <a:buNone/>
            </a:pPr>
            <a:r>
              <a:rPr lang="en-US" sz="2000" dirty="0">
                <a:solidFill>
                  <a:srgbClr val="5B6B84"/>
                </a:solidFill>
                <a:latin typeface="Calibri" pitchFamily="34" charset="0"/>
                <a:ea typeface="Calibri" pitchFamily="34" charset="-122"/>
                <a:cs typeface="Calibri" pitchFamily="34" charset="-120"/>
              </a:rPr>
              <a:t>Presidency University, Bengaluru</a:t>
            </a:r>
            <a:endParaRPr lang="en-US" sz="2000" dirty="0"/>
          </a:p>
        </p:txBody>
      </p:sp>
      <p:sp>
        <p:nvSpPr>
          <p:cNvPr id="11" name="Text 8"/>
          <p:cNvSpPr/>
          <p:nvPr/>
        </p:nvSpPr>
        <p:spPr>
          <a:xfrm>
            <a:off x="9902952" y="6601968"/>
            <a:ext cx="1828800" cy="256032"/>
          </a:xfrm>
          <a:prstGeom prst="rect">
            <a:avLst/>
          </a:prstGeom>
          <a:noFill/>
          <a:ln/>
        </p:spPr>
        <p:txBody>
          <a:bodyPr wrap="square" lIns="0" tIns="0" rIns="0" bIns="0" rtlCol="0" anchor="ctr"/>
          <a:lstStyle/>
          <a:p>
            <a:pPr marL="0" indent="0" algn="r">
              <a:buNone/>
            </a:pPr>
            <a:r>
              <a:rPr lang="en-US" sz="2000" dirty="0">
                <a:solidFill>
                  <a:srgbClr val="5B6B84"/>
                </a:solidFill>
                <a:latin typeface="Calibri" pitchFamily="34" charset="0"/>
                <a:ea typeface="Calibri" pitchFamily="34" charset="-122"/>
                <a:cs typeface="Calibri" pitchFamily="34" charset="-120"/>
              </a:rPr>
              <a:t>CSS2257</a:t>
            </a:r>
            <a:endParaRPr lang="en-US" sz="2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11480"/>
            <a:ext cx="9601200" cy="868680"/>
          </a:xfrm>
          <a:prstGeom prst="rect">
            <a:avLst/>
          </a:prstGeom>
          <a:noFill/>
          <a:ln/>
        </p:spPr>
        <p:txBody>
          <a:bodyPr wrap="square" lIns="0" tIns="0" rIns="0" bIns="0" rtlCol="0" anchor="ctr"/>
          <a:lstStyle/>
          <a:p>
            <a:pPr marL="0" indent="0" algn="l">
              <a:buNone/>
            </a:pPr>
            <a:r>
              <a:rPr lang="en-US" sz="3400" b="1" dirty="0">
                <a:solidFill>
                  <a:srgbClr val="1B2A4A"/>
                </a:solidFill>
                <a:latin typeface="Cambria" pitchFamily="34" charset="0"/>
                <a:ea typeface="Cambria" pitchFamily="34" charset="-122"/>
                <a:cs typeface="Cambria" pitchFamily="34" charset="-120"/>
              </a:rPr>
              <a:t>Amdahl's Law — Worked Example</a:t>
            </a:r>
            <a:endParaRPr lang="en-US" sz="3400" dirty="0"/>
          </a:p>
        </p:txBody>
      </p:sp>
      <p:sp>
        <p:nvSpPr>
          <p:cNvPr id="3" name="Shape 1"/>
          <p:cNvSpPr/>
          <p:nvPr/>
        </p:nvSpPr>
        <p:spPr>
          <a:xfrm>
            <a:off x="10607040" y="365760"/>
            <a:ext cx="914400" cy="914400"/>
          </a:xfrm>
          <a:prstGeom prst="ellipse">
            <a:avLst/>
          </a:prstGeom>
          <a:solidFill>
            <a:srgbClr val="1B2A4A"/>
          </a:solidFill>
          <a:ln w="12700">
            <a:solidFill>
              <a:srgbClr val="1B2A4A"/>
            </a:solidFill>
            <a:prstDash val="solid"/>
          </a:ln>
        </p:spPr>
      </p:sp>
      <p:pic>
        <p:nvPicPr>
          <p:cNvPr id="4" name="Image 0" descr="/home/claude/coa_ppt/icon_chart_white.png"/>
          <p:cNvPicPr>
            <a:picLocks noChangeAspect="1"/>
          </p:cNvPicPr>
          <p:nvPr/>
        </p:nvPicPr>
        <p:blipFill>
          <a:blip r:embed="rId3"/>
          <a:stretch>
            <a:fillRect/>
          </a:stretch>
        </p:blipFill>
        <p:spPr>
          <a:xfrm>
            <a:off x="10844784" y="603504"/>
            <a:ext cx="438912" cy="438912"/>
          </a:xfrm>
          <a:prstGeom prst="rect">
            <a:avLst/>
          </a:prstGeom>
        </p:spPr>
      </p:pic>
      <p:sp>
        <p:nvSpPr>
          <p:cNvPr id="5" name="Shape 2"/>
          <p:cNvSpPr/>
          <p:nvPr/>
        </p:nvSpPr>
        <p:spPr>
          <a:xfrm>
            <a:off x="548640" y="1325880"/>
            <a:ext cx="11064240" cy="685800"/>
          </a:xfrm>
          <a:prstGeom prst="roundRect">
            <a:avLst>
              <a:gd name="adj" fmla="val 8000"/>
            </a:avLst>
          </a:prstGeom>
          <a:solidFill>
            <a:srgbClr val="1B2A4A"/>
          </a:solidFill>
          <a:ln w="12700">
            <a:solidFill>
              <a:srgbClr val="1B2A4A"/>
            </a:solidFill>
            <a:prstDash val="solid"/>
          </a:ln>
        </p:spPr>
      </p:sp>
      <p:sp>
        <p:nvSpPr>
          <p:cNvPr id="6" name="Text 3"/>
          <p:cNvSpPr/>
          <p:nvPr/>
        </p:nvSpPr>
        <p:spPr>
          <a:xfrm>
            <a:off x="777240" y="1371600"/>
            <a:ext cx="10607040" cy="594360"/>
          </a:xfrm>
          <a:prstGeom prst="rect">
            <a:avLst/>
          </a:prstGeom>
          <a:noFill/>
          <a:ln/>
        </p:spPr>
        <p:txBody>
          <a:bodyPr wrap="square" lIns="0" tIns="0" rIns="0" bIns="0"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A new floating-point unit makes floating-point operations 4× faster. FP operations account for 40% of execution time. Find the overall speedup.</a:t>
            </a:r>
            <a:endParaRPr lang="en-US" sz="2000" dirty="0"/>
          </a:p>
        </p:txBody>
      </p:sp>
      <p:sp>
        <p:nvSpPr>
          <p:cNvPr id="7" name="Shape 4"/>
          <p:cNvSpPr/>
          <p:nvPr/>
        </p:nvSpPr>
        <p:spPr>
          <a:xfrm>
            <a:off x="548640" y="2240280"/>
            <a:ext cx="11064240" cy="777240"/>
          </a:xfrm>
          <a:prstGeom prst="roundRect">
            <a:avLst>
              <a:gd name="adj" fmla="val 7059"/>
            </a:avLst>
          </a:prstGeom>
          <a:solidFill>
            <a:srgbClr val="E8EEF7"/>
          </a:solidFill>
          <a:ln w="12700">
            <a:solidFill>
              <a:srgbClr val="E8EEF7"/>
            </a:solidFill>
            <a:prstDash val="solid"/>
          </a:ln>
        </p:spPr>
      </p:sp>
      <p:sp>
        <p:nvSpPr>
          <p:cNvPr id="8" name="Shape 5"/>
          <p:cNvSpPr/>
          <p:nvPr/>
        </p:nvSpPr>
        <p:spPr>
          <a:xfrm>
            <a:off x="685800" y="2395728"/>
            <a:ext cx="457200" cy="457200"/>
          </a:xfrm>
          <a:prstGeom prst="ellipse">
            <a:avLst/>
          </a:prstGeom>
          <a:solidFill>
            <a:srgbClr val="1B2A4A"/>
          </a:solidFill>
          <a:ln w="12700">
            <a:solidFill>
              <a:srgbClr val="1B2A4A"/>
            </a:solidFill>
            <a:prstDash val="solid"/>
          </a:ln>
        </p:spPr>
      </p:sp>
      <p:sp>
        <p:nvSpPr>
          <p:cNvPr id="9" name="Text 6"/>
          <p:cNvSpPr/>
          <p:nvPr/>
        </p:nvSpPr>
        <p:spPr>
          <a:xfrm>
            <a:off x="685800" y="2395728"/>
            <a:ext cx="457200" cy="457200"/>
          </a:xfrm>
          <a:prstGeom prst="rect">
            <a:avLst/>
          </a:prstGeom>
          <a:noFill/>
          <a:ln/>
        </p:spPr>
        <p:txBody>
          <a:bodyPr wrap="square" lIns="0" tIns="0" rIns="0" bIns="0" rtlCol="0" anchor="ctr"/>
          <a:lstStyle/>
          <a:p>
            <a:pPr marL="0" indent="0" algn="ctr">
              <a:buNone/>
            </a:pPr>
            <a:r>
              <a:rPr lang="en-US" sz="2000" b="1" dirty="0">
                <a:solidFill>
                  <a:srgbClr val="FFFFFF"/>
                </a:solidFill>
                <a:latin typeface="Cambria" pitchFamily="34" charset="0"/>
                <a:ea typeface="Cambria" pitchFamily="34" charset="-122"/>
                <a:cs typeface="Cambria" pitchFamily="34" charset="-120"/>
              </a:rPr>
              <a:t>1</a:t>
            </a:r>
            <a:endParaRPr lang="en-US" sz="2000" dirty="0"/>
          </a:p>
        </p:txBody>
      </p:sp>
      <p:sp>
        <p:nvSpPr>
          <p:cNvPr id="10" name="Text 7"/>
          <p:cNvSpPr/>
          <p:nvPr/>
        </p:nvSpPr>
        <p:spPr>
          <a:xfrm>
            <a:off x="1280160" y="2313432"/>
            <a:ext cx="10149840" cy="640080"/>
          </a:xfrm>
          <a:prstGeom prst="rect">
            <a:avLst/>
          </a:prstGeom>
          <a:noFill/>
          <a:ln/>
        </p:spPr>
        <p:txBody>
          <a:bodyPr wrap="square" lIns="0" tIns="0" rIns="0" bIns="0" rtlCol="0" anchor="ctr"/>
          <a:lstStyle/>
          <a:p>
            <a:pPr marL="0" indent="0">
              <a:buNone/>
            </a:pPr>
            <a:r>
              <a:rPr lang="en-US" sz="2000" dirty="0">
                <a:solidFill>
                  <a:srgbClr val="1B2A4A"/>
                </a:solidFill>
                <a:latin typeface="Calibri" pitchFamily="34" charset="0"/>
                <a:ea typeface="Calibri" pitchFamily="34" charset="-122"/>
                <a:cs typeface="Calibri" pitchFamily="34" charset="-120"/>
              </a:rPr>
              <a:t>Fraction enhanced = 0.40,  Speedup of enhanced part = 4</a:t>
            </a:r>
            <a:endParaRPr lang="en-US" sz="2000" dirty="0"/>
          </a:p>
        </p:txBody>
      </p:sp>
      <p:sp>
        <p:nvSpPr>
          <p:cNvPr id="11" name="Shape 8"/>
          <p:cNvSpPr/>
          <p:nvPr/>
        </p:nvSpPr>
        <p:spPr>
          <a:xfrm>
            <a:off x="548640" y="3136392"/>
            <a:ext cx="11064240" cy="777240"/>
          </a:xfrm>
          <a:prstGeom prst="roundRect">
            <a:avLst>
              <a:gd name="adj" fmla="val 7059"/>
            </a:avLst>
          </a:prstGeom>
          <a:solidFill>
            <a:srgbClr val="E8EEF7"/>
          </a:solidFill>
          <a:ln w="12700">
            <a:solidFill>
              <a:srgbClr val="E8EEF7"/>
            </a:solidFill>
            <a:prstDash val="solid"/>
          </a:ln>
        </p:spPr>
      </p:sp>
      <p:sp>
        <p:nvSpPr>
          <p:cNvPr id="12" name="Shape 9"/>
          <p:cNvSpPr/>
          <p:nvPr/>
        </p:nvSpPr>
        <p:spPr>
          <a:xfrm>
            <a:off x="685800" y="3291840"/>
            <a:ext cx="457200" cy="457200"/>
          </a:xfrm>
          <a:prstGeom prst="ellipse">
            <a:avLst/>
          </a:prstGeom>
          <a:solidFill>
            <a:srgbClr val="1B2A4A"/>
          </a:solidFill>
          <a:ln w="12700">
            <a:solidFill>
              <a:srgbClr val="1B2A4A"/>
            </a:solidFill>
            <a:prstDash val="solid"/>
          </a:ln>
        </p:spPr>
      </p:sp>
      <p:sp>
        <p:nvSpPr>
          <p:cNvPr id="13" name="Text 10"/>
          <p:cNvSpPr/>
          <p:nvPr/>
        </p:nvSpPr>
        <p:spPr>
          <a:xfrm>
            <a:off x="685800" y="3291840"/>
            <a:ext cx="457200" cy="457200"/>
          </a:xfrm>
          <a:prstGeom prst="rect">
            <a:avLst/>
          </a:prstGeom>
          <a:noFill/>
          <a:ln/>
        </p:spPr>
        <p:txBody>
          <a:bodyPr wrap="square" lIns="0" tIns="0" rIns="0" bIns="0" rtlCol="0" anchor="ctr"/>
          <a:lstStyle/>
          <a:p>
            <a:pPr marL="0" indent="0" algn="ctr">
              <a:buNone/>
            </a:pPr>
            <a:r>
              <a:rPr lang="en-US" sz="2000" b="1" dirty="0">
                <a:solidFill>
                  <a:srgbClr val="FFFFFF"/>
                </a:solidFill>
                <a:latin typeface="Cambria" pitchFamily="34" charset="0"/>
                <a:ea typeface="Cambria" pitchFamily="34" charset="-122"/>
                <a:cs typeface="Cambria" pitchFamily="34" charset="-120"/>
              </a:rPr>
              <a:t>2</a:t>
            </a:r>
            <a:endParaRPr lang="en-US" sz="2000" dirty="0"/>
          </a:p>
        </p:txBody>
      </p:sp>
      <p:sp>
        <p:nvSpPr>
          <p:cNvPr id="14" name="Text 11"/>
          <p:cNvSpPr/>
          <p:nvPr/>
        </p:nvSpPr>
        <p:spPr>
          <a:xfrm>
            <a:off x="1280160" y="3209544"/>
            <a:ext cx="10149840" cy="640080"/>
          </a:xfrm>
          <a:prstGeom prst="rect">
            <a:avLst/>
          </a:prstGeom>
          <a:noFill/>
          <a:ln/>
        </p:spPr>
        <p:txBody>
          <a:bodyPr wrap="square" lIns="0" tIns="0" rIns="0" bIns="0" rtlCol="0" anchor="ctr"/>
          <a:lstStyle/>
          <a:p>
            <a:pPr marL="0" indent="0">
              <a:buNone/>
            </a:pPr>
            <a:r>
              <a:rPr lang="en-US" sz="2000" dirty="0">
                <a:solidFill>
                  <a:srgbClr val="1B2A4A"/>
                </a:solidFill>
                <a:latin typeface="Calibri" pitchFamily="34" charset="0"/>
                <a:ea typeface="Calibri" pitchFamily="34" charset="-122"/>
                <a:cs typeface="Calibri" pitchFamily="34" charset="-120"/>
              </a:rPr>
              <a:t>Unaffected fraction = 1 − 0.40 = 0.60</a:t>
            </a:r>
            <a:endParaRPr lang="en-US" sz="2000" dirty="0"/>
          </a:p>
        </p:txBody>
      </p:sp>
      <p:sp>
        <p:nvSpPr>
          <p:cNvPr id="15" name="Shape 12"/>
          <p:cNvSpPr/>
          <p:nvPr/>
        </p:nvSpPr>
        <p:spPr>
          <a:xfrm>
            <a:off x="548640" y="4032504"/>
            <a:ext cx="11064240" cy="777240"/>
          </a:xfrm>
          <a:prstGeom prst="roundRect">
            <a:avLst>
              <a:gd name="adj" fmla="val 7059"/>
            </a:avLst>
          </a:prstGeom>
          <a:solidFill>
            <a:srgbClr val="E8EEF7"/>
          </a:solidFill>
          <a:ln w="12700">
            <a:solidFill>
              <a:srgbClr val="E8EEF7"/>
            </a:solidFill>
            <a:prstDash val="solid"/>
          </a:ln>
        </p:spPr>
      </p:sp>
      <p:sp>
        <p:nvSpPr>
          <p:cNvPr id="16" name="Shape 13"/>
          <p:cNvSpPr/>
          <p:nvPr/>
        </p:nvSpPr>
        <p:spPr>
          <a:xfrm>
            <a:off x="685800" y="4187952"/>
            <a:ext cx="457200" cy="457200"/>
          </a:xfrm>
          <a:prstGeom prst="ellipse">
            <a:avLst/>
          </a:prstGeom>
          <a:solidFill>
            <a:srgbClr val="1B2A4A"/>
          </a:solidFill>
          <a:ln w="12700">
            <a:solidFill>
              <a:srgbClr val="1B2A4A"/>
            </a:solidFill>
            <a:prstDash val="solid"/>
          </a:ln>
        </p:spPr>
      </p:sp>
      <p:sp>
        <p:nvSpPr>
          <p:cNvPr id="17" name="Text 14"/>
          <p:cNvSpPr/>
          <p:nvPr/>
        </p:nvSpPr>
        <p:spPr>
          <a:xfrm>
            <a:off x="685800" y="4187952"/>
            <a:ext cx="457200" cy="457200"/>
          </a:xfrm>
          <a:prstGeom prst="rect">
            <a:avLst/>
          </a:prstGeom>
          <a:noFill/>
          <a:ln/>
        </p:spPr>
        <p:txBody>
          <a:bodyPr wrap="square" lIns="0" tIns="0" rIns="0" bIns="0" rtlCol="0" anchor="ctr"/>
          <a:lstStyle/>
          <a:p>
            <a:pPr marL="0" indent="0" algn="ctr">
              <a:buNone/>
            </a:pPr>
            <a:r>
              <a:rPr lang="en-US" sz="2000" b="1" dirty="0">
                <a:solidFill>
                  <a:srgbClr val="FFFFFF"/>
                </a:solidFill>
                <a:latin typeface="Cambria" pitchFamily="34" charset="0"/>
                <a:ea typeface="Cambria" pitchFamily="34" charset="-122"/>
                <a:cs typeface="Cambria" pitchFamily="34" charset="-120"/>
              </a:rPr>
              <a:t>3</a:t>
            </a:r>
            <a:endParaRPr lang="en-US" sz="2000" dirty="0"/>
          </a:p>
        </p:txBody>
      </p:sp>
      <p:sp>
        <p:nvSpPr>
          <p:cNvPr id="18" name="Text 15"/>
          <p:cNvSpPr/>
          <p:nvPr/>
        </p:nvSpPr>
        <p:spPr>
          <a:xfrm>
            <a:off x="1280160" y="4105656"/>
            <a:ext cx="10149840" cy="640080"/>
          </a:xfrm>
          <a:prstGeom prst="rect">
            <a:avLst/>
          </a:prstGeom>
          <a:noFill/>
          <a:ln/>
        </p:spPr>
        <p:txBody>
          <a:bodyPr wrap="square" lIns="0" tIns="0" rIns="0" bIns="0" rtlCol="0" anchor="ctr"/>
          <a:lstStyle/>
          <a:p>
            <a:pPr marL="0" indent="0">
              <a:buNone/>
            </a:pPr>
            <a:r>
              <a:rPr lang="en-US" sz="2000" dirty="0">
                <a:solidFill>
                  <a:srgbClr val="1B2A4A"/>
                </a:solidFill>
                <a:latin typeface="Calibri" pitchFamily="34" charset="0"/>
                <a:ea typeface="Calibri" pitchFamily="34" charset="-122"/>
                <a:cs typeface="Calibri" pitchFamily="34" charset="-120"/>
              </a:rPr>
              <a:t>Denominator = 0.60 + (0.40 / 4) = 0.60 + 0.10 = 0.70</a:t>
            </a:r>
            <a:endParaRPr lang="en-US" sz="2000" dirty="0"/>
          </a:p>
        </p:txBody>
      </p:sp>
      <p:sp>
        <p:nvSpPr>
          <p:cNvPr id="19" name="Shape 16"/>
          <p:cNvSpPr/>
          <p:nvPr/>
        </p:nvSpPr>
        <p:spPr>
          <a:xfrm>
            <a:off x="548640" y="4928616"/>
            <a:ext cx="11064240" cy="777240"/>
          </a:xfrm>
          <a:prstGeom prst="roundRect">
            <a:avLst>
              <a:gd name="adj" fmla="val 7059"/>
            </a:avLst>
          </a:prstGeom>
          <a:solidFill>
            <a:srgbClr val="E8EEF7"/>
          </a:solidFill>
          <a:ln w="12700">
            <a:solidFill>
              <a:srgbClr val="E8EEF7"/>
            </a:solidFill>
            <a:prstDash val="solid"/>
          </a:ln>
        </p:spPr>
      </p:sp>
      <p:sp>
        <p:nvSpPr>
          <p:cNvPr id="20" name="Shape 17"/>
          <p:cNvSpPr/>
          <p:nvPr/>
        </p:nvSpPr>
        <p:spPr>
          <a:xfrm>
            <a:off x="685800" y="5084064"/>
            <a:ext cx="457200" cy="457200"/>
          </a:xfrm>
          <a:prstGeom prst="ellipse">
            <a:avLst/>
          </a:prstGeom>
          <a:solidFill>
            <a:srgbClr val="1B2A4A"/>
          </a:solidFill>
          <a:ln w="12700">
            <a:solidFill>
              <a:srgbClr val="1B2A4A"/>
            </a:solidFill>
            <a:prstDash val="solid"/>
          </a:ln>
        </p:spPr>
      </p:sp>
      <p:sp>
        <p:nvSpPr>
          <p:cNvPr id="21" name="Text 18"/>
          <p:cNvSpPr/>
          <p:nvPr/>
        </p:nvSpPr>
        <p:spPr>
          <a:xfrm>
            <a:off x="685800" y="5084064"/>
            <a:ext cx="457200" cy="457200"/>
          </a:xfrm>
          <a:prstGeom prst="rect">
            <a:avLst/>
          </a:prstGeom>
          <a:noFill/>
          <a:ln/>
        </p:spPr>
        <p:txBody>
          <a:bodyPr wrap="square" lIns="0" tIns="0" rIns="0" bIns="0" rtlCol="0" anchor="ctr"/>
          <a:lstStyle/>
          <a:p>
            <a:pPr marL="0" indent="0" algn="ctr">
              <a:buNone/>
            </a:pPr>
            <a:r>
              <a:rPr lang="en-US" sz="2000" b="1" dirty="0">
                <a:solidFill>
                  <a:srgbClr val="FFFFFF"/>
                </a:solidFill>
                <a:latin typeface="Cambria" pitchFamily="34" charset="0"/>
                <a:ea typeface="Cambria" pitchFamily="34" charset="-122"/>
                <a:cs typeface="Cambria" pitchFamily="34" charset="-120"/>
              </a:rPr>
              <a:t>4</a:t>
            </a:r>
            <a:endParaRPr lang="en-US" sz="2000" dirty="0"/>
          </a:p>
        </p:txBody>
      </p:sp>
      <p:sp>
        <p:nvSpPr>
          <p:cNvPr id="22" name="Text 19"/>
          <p:cNvSpPr/>
          <p:nvPr/>
        </p:nvSpPr>
        <p:spPr>
          <a:xfrm>
            <a:off x="1280160" y="5001768"/>
            <a:ext cx="10149840" cy="640080"/>
          </a:xfrm>
          <a:prstGeom prst="rect">
            <a:avLst/>
          </a:prstGeom>
          <a:noFill/>
          <a:ln/>
        </p:spPr>
        <p:txBody>
          <a:bodyPr wrap="square" lIns="0" tIns="0" rIns="0" bIns="0" rtlCol="0" anchor="ctr"/>
          <a:lstStyle/>
          <a:p>
            <a:pPr marL="0" indent="0">
              <a:buNone/>
            </a:pPr>
            <a:r>
              <a:rPr lang="en-US" sz="2000" dirty="0">
                <a:solidFill>
                  <a:srgbClr val="1B2A4A"/>
                </a:solidFill>
                <a:latin typeface="Calibri" pitchFamily="34" charset="0"/>
                <a:ea typeface="Calibri" pitchFamily="34" charset="-122"/>
                <a:cs typeface="Calibri" pitchFamily="34" charset="-120"/>
              </a:rPr>
              <a:t>Overall Speedup = 1 / 0.70 = 1.43×</a:t>
            </a:r>
            <a:endParaRPr lang="en-US" sz="2000" dirty="0"/>
          </a:p>
        </p:txBody>
      </p:sp>
      <p:sp>
        <p:nvSpPr>
          <p:cNvPr id="23" name="Shape 20"/>
          <p:cNvSpPr/>
          <p:nvPr/>
        </p:nvSpPr>
        <p:spPr>
          <a:xfrm>
            <a:off x="548640" y="5806440"/>
            <a:ext cx="11064240" cy="658368"/>
          </a:xfrm>
          <a:prstGeom prst="roundRect">
            <a:avLst>
              <a:gd name="adj" fmla="val 8333"/>
            </a:avLst>
          </a:prstGeom>
          <a:solidFill>
            <a:srgbClr val="FFB84D"/>
          </a:solidFill>
          <a:ln w="12700">
            <a:solidFill>
              <a:srgbClr val="FFB84D"/>
            </a:solidFill>
            <a:prstDash val="solid"/>
          </a:ln>
        </p:spPr>
      </p:sp>
      <p:sp>
        <p:nvSpPr>
          <p:cNvPr id="24" name="Text 21"/>
          <p:cNvSpPr/>
          <p:nvPr/>
        </p:nvSpPr>
        <p:spPr>
          <a:xfrm>
            <a:off x="731520" y="5806440"/>
            <a:ext cx="10698480" cy="658368"/>
          </a:xfrm>
          <a:prstGeom prst="rect">
            <a:avLst/>
          </a:prstGeom>
          <a:noFill/>
          <a:ln/>
        </p:spPr>
        <p:txBody>
          <a:bodyPr wrap="square" lIns="0" tIns="0" rIns="0" bIns="0" rtlCol="0" anchor="ctr"/>
          <a:lstStyle/>
          <a:p>
            <a:pPr marL="0" indent="0">
              <a:buNone/>
            </a:pPr>
            <a:r>
              <a:rPr lang="en-US" sz="2000" b="1" dirty="0">
                <a:solidFill>
                  <a:srgbClr val="1B2A4A"/>
                </a:solidFill>
                <a:latin typeface="Calibri" pitchFamily="34" charset="0"/>
                <a:ea typeface="Calibri" pitchFamily="34" charset="-122"/>
                <a:cs typeface="Calibri" pitchFamily="34" charset="-120"/>
              </a:rPr>
              <a:t>Even a 4× local speedup on 40% of the program yields only 1.43× overall — this is Amdahl's Law in action.</a:t>
            </a:r>
            <a:endParaRPr lang="en-US" sz="2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11480"/>
            <a:ext cx="9601200" cy="868680"/>
          </a:xfrm>
          <a:prstGeom prst="rect">
            <a:avLst/>
          </a:prstGeom>
          <a:noFill/>
          <a:ln/>
        </p:spPr>
        <p:txBody>
          <a:bodyPr wrap="square" lIns="0" tIns="0" rIns="0" bIns="0" rtlCol="0" anchor="ctr"/>
          <a:lstStyle/>
          <a:p>
            <a:pPr marL="0" indent="0" algn="l">
              <a:buNone/>
            </a:pPr>
            <a:r>
              <a:rPr lang="en-US" sz="3400" b="1" dirty="0">
                <a:solidFill>
                  <a:srgbClr val="1B2A4A"/>
                </a:solidFill>
                <a:latin typeface="Cambria" pitchFamily="34" charset="0"/>
                <a:ea typeface="Cambria" pitchFamily="34" charset="-122"/>
                <a:cs typeface="Cambria" pitchFamily="34" charset="-120"/>
              </a:rPr>
              <a:t>Technology Trends — Moore's Law</a:t>
            </a:r>
            <a:endParaRPr lang="en-US" sz="3400" dirty="0"/>
          </a:p>
        </p:txBody>
      </p:sp>
      <p:sp>
        <p:nvSpPr>
          <p:cNvPr id="3" name="Shape 1"/>
          <p:cNvSpPr/>
          <p:nvPr/>
        </p:nvSpPr>
        <p:spPr>
          <a:xfrm>
            <a:off x="10607040" y="365760"/>
            <a:ext cx="914400" cy="914400"/>
          </a:xfrm>
          <a:prstGeom prst="ellipse">
            <a:avLst/>
          </a:prstGeom>
          <a:solidFill>
            <a:srgbClr val="1B2A4A"/>
          </a:solidFill>
          <a:ln w="12700">
            <a:solidFill>
              <a:srgbClr val="1B2A4A"/>
            </a:solidFill>
            <a:prstDash val="solid"/>
          </a:ln>
        </p:spPr>
      </p:sp>
      <p:pic>
        <p:nvPicPr>
          <p:cNvPr id="4" name="Image 0" descr="/home/claude/coa_ppt/icon_chip_white.png"/>
          <p:cNvPicPr>
            <a:picLocks noChangeAspect="1"/>
          </p:cNvPicPr>
          <p:nvPr/>
        </p:nvPicPr>
        <p:blipFill>
          <a:blip r:embed="rId3"/>
          <a:stretch>
            <a:fillRect/>
          </a:stretch>
        </p:blipFill>
        <p:spPr>
          <a:xfrm>
            <a:off x="10844784" y="603504"/>
            <a:ext cx="438912" cy="438912"/>
          </a:xfrm>
          <a:prstGeom prst="rect">
            <a:avLst/>
          </a:prstGeom>
        </p:spPr>
      </p:pic>
      <p:sp>
        <p:nvSpPr>
          <p:cNvPr id="5" name="Text 2"/>
          <p:cNvSpPr/>
          <p:nvPr/>
        </p:nvSpPr>
        <p:spPr>
          <a:xfrm>
            <a:off x="548640" y="1417320"/>
            <a:ext cx="6126480" cy="4754880"/>
          </a:xfrm>
          <a:prstGeom prst="rect">
            <a:avLst/>
          </a:prstGeom>
          <a:noFill/>
          <a:ln/>
        </p:spPr>
        <p:txBody>
          <a:bodyPr wrap="square" lIns="0" tIns="0" rIns="0" bIns="0" rtlCol="0" anchor="t"/>
          <a:lstStyle/>
          <a:p>
            <a:pPr marL="279400" indent="-279400">
              <a:lnSpc>
                <a:spcPct val="108000"/>
              </a:lnSpc>
              <a:spcAft>
                <a:spcPts val="1400"/>
              </a:spcAft>
              <a:buSzPct val="100000"/>
              <a:buChar char="•"/>
            </a:pPr>
            <a:r>
              <a:rPr lang="en-US" sz="2000" dirty="0">
                <a:solidFill>
                  <a:srgbClr val="1B2A4A"/>
                </a:solidFill>
                <a:latin typeface="Calibri" pitchFamily="34" charset="0"/>
                <a:ea typeface="Calibri" pitchFamily="34" charset="-122"/>
                <a:cs typeface="Calibri" pitchFamily="34" charset="-120"/>
              </a:rPr>
              <a:t>Gordon Moore (1965) observed that the number of transistors on a chip roughly doubles every 1–2 years</a:t>
            </a:r>
            <a:endParaRPr lang="en-US" sz="2000" dirty="0"/>
          </a:p>
          <a:p>
            <a:pPr marL="279400" indent="-279400">
              <a:lnSpc>
                <a:spcPct val="108000"/>
              </a:lnSpc>
              <a:spcAft>
                <a:spcPts val="1400"/>
              </a:spcAft>
              <a:buSzPct val="100000"/>
              <a:buChar char="•"/>
            </a:pPr>
            <a:r>
              <a:rPr lang="en-US" sz="2000" dirty="0">
                <a:solidFill>
                  <a:srgbClr val="1B2A4A"/>
                </a:solidFill>
                <a:latin typeface="Calibri" pitchFamily="34" charset="0"/>
                <a:ea typeface="Calibri" pitchFamily="34" charset="-122"/>
                <a:cs typeface="Calibri" pitchFamily="34" charset="-120"/>
              </a:rPr>
              <a:t>This is an empirical industry trend, not a law of physics — sustained through decades of fabrication innovation</a:t>
            </a:r>
            <a:endParaRPr lang="en-US" sz="2000" dirty="0"/>
          </a:p>
          <a:p>
            <a:pPr marL="279400" indent="-279400">
              <a:lnSpc>
                <a:spcPct val="108000"/>
              </a:lnSpc>
              <a:spcAft>
                <a:spcPts val="1400"/>
              </a:spcAft>
              <a:buSzPct val="100000"/>
              <a:buChar char="•"/>
            </a:pPr>
            <a:r>
              <a:rPr lang="en-US" sz="2000" dirty="0">
                <a:solidFill>
                  <a:srgbClr val="1B2A4A"/>
                </a:solidFill>
                <a:latin typeface="Calibri" pitchFamily="34" charset="0"/>
                <a:ea typeface="Calibri" pitchFamily="34" charset="-122"/>
                <a:cs typeface="Calibri" pitchFamily="34" charset="-120"/>
              </a:rPr>
              <a:t>More transistors historically enabled: more cache, more cores, wider pipelines, smarter branch prediction</a:t>
            </a:r>
            <a:endParaRPr lang="en-US" sz="2000" dirty="0"/>
          </a:p>
          <a:p>
            <a:pPr marL="279400" indent="-279400">
              <a:lnSpc>
                <a:spcPct val="108000"/>
              </a:lnSpc>
              <a:spcAft>
                <a:spcPts val="1400"/>
              </a:spcAft>
              <a:buSzPct val="100000"/>
              <a:buChar char="•"/>
            </a:pPr>
            <a:r>
              <a:rPr lang="en-US" sz="2000" dirty="0">
                <a:solidFill>
                  <a:srgbClr val="1B2A4A"/>
                </a:solidFill>
                <a:latin typeface="Calibri" pitchFamily="34" charset="0"/>
                <a:ea typeface="Calibri" pitchFamily="34" charset="-122"/>
                <a:cs typeface="Calibri" pitchFamily="34" charset="-120"/>
              </a:rPr>
              <a:t>Growth has slowed in recent years as transistors approach atomic-scale physical limits</a:t>
            </a:r>
            <a:endParaRPr lang="en-US" sz="2000" dirty="0"/>
          </a:p>
        </p:txBody>
      </p:sp>
      <p:graphicFrame>
        <p:nvGraphicFramePr>
          <p:cNvPr id="6" name="Chart 0"/>
          <p:cNvGraphicFramePr/>
          <p:nvPr/>
        </p:nvGraphicFramePr>
        <p:xfrm>
          <a:off x="6949440" y="1508760"/>
          <a:ext cx="4663440" cy="4480560"/>
        </p:xfrm>
        <a:graphic>
          <a:graphicData uri="http://schemas.openxmlformats.org/drawingml/2006/chart">
            <c:chart xmlns:c="http://schemas.openxmlformats.org/drawingml/2006/chart" xmlns:r="http://schemas.openxmlformats.org/officeDocument/2006/relationships" r:id="rId4"/>
          </a:graphicData>
        </a:graphic>
      </p:graphicFrame>
      <p:sp>
        <p:nvSpPr>
          <p:cNvPr id="7" name="Text 3"/>
          <p:cNvSpPr/>
          <p:nvPr/>
        </p:nvSpPr>
        <p:spPr>
          <a:xfrm>
            <a:off x="457200" y="6601968"/>
            <a:ext cx="4572000" cy="256032"/>
          </a:xfrm>
          <a:prstGeom prst="rect">
            <a:avLst/>
          </a:prstGeom>
          <a:noFill/>
          <a:ln/>
        </p:spPr>
        <p:txBody>
          <a:bodyPr wrap="square" lIns="0" tIns="0" rIns="0" bIns="0" rtlCol="0" anchor="ctr"/>
          <a:lstStyle/>
          <a:p>
            <a:pPr marL="0" indent="0" algn="l">
              <a:buNone/>
            </a:pPr>
            <a:r>
              <a:rPr lang="en-US" sz="2000" dirty="0">
                <a:solidFill>
                  <a:srgbClr val="5B6B84"/>
                </a:solidFill>
                <a:latin typeface="Calibri" pitchFamily="34" charset="0"/>
                <a:ea typeface="Calibri" pitchFamily="34" charset="-122"/>
                <a:cs typeface="Calibri" pitchFamily="34" charset="-120"/>
              </a:rPr>
              <a:t>Presidency University, Bengaluru</a:t>
            </a:r>
            <a:endParaRPr lang="en-US" sz="2000" dirty="0"/>
          </a:p>
        </p:txBody>
      </p:sp>
      <p:sp>
        <p:nvSpPr>
          <p:cNvPr id="8" name="Text 4"/>
          <p:cNvSpPr/>
          <p:nvPr/>
        </p:nvSpPr>
        <p:spPr>
          <a:xfrm>
            <a:off x="9902952" y="6601968"/>
            <a:ext cx="1828800" cy="256032"/>
          </a:xfrm>
          <a:prstGeom prst="rect">
            <a:avLst/>
          </a:prstGeom>
          <a:noFill/>
          <a:ln/>
        </p:spPr>
        <p:txBody>
          <a:bodyPr wrap="square" lIns="0" tIns="0" rIns="0" bIns="0" rtlCol="0" anchor="ctr"/>
          <a:lstStyle/>
          <a:p>
            <a:pPr marL="0" indent="0" algn="r">
              <a:buNone/>
            </a:pPr>
            <a:r>
              <a:rPr lang="en-US" sz="2000" dirty="0">
                <a:solidFill>
                  <a:srgbClr val="5B6B84"/>
                </a:solidFill>
                <a:latin typeface="Calibri" pitchFamily="34" charset="0"/>
                <a:ea typeface="Calibri" pitchFamily="34" charset="-122"/>
                <a:cs typeface="Calibri" pitchFamily="34" charset="-120"/>
              </a:rPr>
              <a:t>CSS2257</a:t>
            </a:r>
            <a:endParaRPr lang="en-US" sz="2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11480"/>
            <a:ext cx="9601200" cy="868680"/>
          </a:xfrm>
          <a:prstGeom prst="rect">
            <a:avLst/>
          </a:prstGeom>
          <a:noFill/>
          <a:ln/>
        </p:spPr>
        <p:txBody>
          <a:bodyPr wrap="square" lIns="0" tIns="0" rIns="0" bIns="0" rtlCol="0" anchor="ctr"/>
          <a:lstStyle/>
          <a:p>
            <a:pPr marL="0" indent="0" algn="l">
              <a:buNone/>
            </a:pPr>
            <a:r>
              <a:rPr lang="en-US" sz="3400" b="1" dirty="0">
                <a:solidFill>
                  <a:srgbClr val="1B2A4A"/>
                </a:solidFill>
                <a:latin typeface="Cambria" pitchFamily="34" charset="0"/>
                <a:ea typeface="Cambria" pitchFamily="34" charset="-122"/>
                <a:cs typeface="Cambria" pitchFamily="34" charset="-120"/>
              </a:rPr>
              <a:t>Technology Trends — The Power Wall</a:t>
            </a:r>
            <a:endParaRPr lang="en-US" sz="3400" dirty="0"/>
          </a:p>
        </p:txBody>
      </p:sp>
      <p:sp>
        <p:nvSpPr>
          <p:cNvPr id="3" name="Shape 1"/>
          <p:cNvSpPr/>
          <p:nvPr/>
        </p:nvSpPr>
        <p:spPr>
          <a:xfrm>
            <a:off x="10607040" y="365760"/>
            <a:ext cx="914400" cy="914400"/>
          </a:xfrm>
          <a:prstGeom prst="ellipse">
            <a:avLst/>
          </a:prstGeom>
          <a:solidFill>
            <a:srgbClr val="1B2A4A"/>
          </a:solidFill>
          <a:ln w="12700">
            <a:solidFill>
              <a:srgbClr val="1B2A4A"/>
            </a:solidFill>
            <a:prstDash val="solid"/>
          </a:ln>
        </p:spPr>
      </p:sp>
      <p:pic>
        <p:nvPicPr>
          <p:cNvPr id="4" name="Image 0" descr="/home/claude/coa_ppt/icon_bolt_white.png"/>
          <p:cNvPicPr>
            <a:picLocks noChangeAspect="1"/>
          </p:cNvPicPr>
          <p:nvPr/>
        </p:nvPicPr>
        <p:blipFill>
          <a:blip r:embed="rId3"/>
          <a:stretch>
            <a:fillRect/>
          </a:stretch>
        </p:blipFill>
        <p:spPr>
          <a:xfrm>
            <a:off x="10844784" y="603504"/>
            <a:ext cx="438912" cy="438912"/>
          </a:xfrm>
          <a:prstGeom prst="rect">
            <a:avLst/>
          </a:prstGeom>
        </p:spPr>
      </p:pic>
      <p:sp>
        <p:nvSpPr>
          <p:cNvPr id="5" name="Text 2"/>
          <p:cNvSpPr/>
          <p:nvPr/>
        </p:nvSpPr>
        <p:spPr>
          <a:xfrm>
            <a:off x="548640" y="1417320"/>
            <a:ext cx="11064240" cy="4754880"/>
          </a:xfrm>
          <a:prstGeom prst="rect">
            <a:avLst/>
          </a:prstGeom>
          <a:noFill/>
          <a:ln/>
        </p:spPr>
        <p:txBody>
          <a:bodyPr wrap="square" lIns="0" tIns="0" rIns="0" bIns="0" rtlCol="0" anchor="t"/>
          <a:lstStyle/>
          <a:p>
            <a:pPr marL="279400" indent="-279400">
              <a:lnSpc>
                <a:spcPct val="108000"/>
              </a:lnSpc>
              <a:spcAft>
                <a:spcPts val="1400"/>
              </a:spcAft>
              <a:buSzPct val="100000"/>
              <a:buChar char="•"/>
            </a:pPr>
            <a:r>
              <a:rPr lang="en-US" sz="2000" dirty="0">
                <a:solidFill>
                  <a:srgbClr val="1B2A4A"/>
                </a:solidFill>
                <a:latin typeface="Calibri" pitchFamily="34" charset="0"/>
                <a:ea typeface="Calibri" pitchFamily="34" charset="-122"/>
                <a:cs typeface="Calibri" pitchFamily="34" charset="-120"/>
              </a:rPr>
              <a:t>For decades, faster clock rates were the primary way to boost performance</a:t>
            </a:r>
            <a:endParaRPr lang="en-US" sz="2000" dirty="0"/>
          </a:p>
          <a:p>
            <a:pPr marL="279400" indent="-279400">
              <a:lnSpc>
                <a:spcPct val="108000"/>
              </a:lnSpc>
              <a:spcAft>
                <a:spcPts val="1400"/>
              </a:spcAft>
              <a:buSzPct val="100000"/>
              <a:buChar char="•"/>
            </a:pPr>
            <a:r>
              <a:rPr lang="en-US" sz="2000" dirty="0">
                <a:solidFill>
                  <a:srgbClr val="1B2A4A"/>
                </a:solidFill>
                <a:latin typeface="Calibri" pitchFamily="34" charset="0"/>
                <a:ea typeface="Calibri" pitchFamily="34" charset="-122"/>
                <a:cs typeface="Calibri" pitchFamily="34" charset="-120"/>
              </a:rPr>
              <a:t>But power consumption grows roughly with the square of voltage and linearly with frequency — pushing clock rate higher makes chips run very hot</a:t>
            </a:r>
            <a:endParaRPr lang="en-US" sz="2000" dirty="0"/>
          </a:p>
          <a:p>
            <a:pPr marL="279400" indent="-279400">
              <a:lnSpc>
                <a:spcPct val="108000"/>
              </a:lnSpc>
              <a:spcAft>
                <a:spcPts val="1400"/>
              </a:spcAft>
              <a:buSzPct val="100000"/>
              <a:buChar char="•"/>
            </a:pPr>
            <a:r>
              <a:rPr lang="en-US" sz="2000" dirty="0">
                <a:solidFill>
                  <a:srgbClr val="1B2A4A"/>
                </a:solidFill>
                <a:latin typeface="Calibri" pitchFamily="34" charset="0"/>
                <a:ea typeface="Calibri" pitchFamily="34" charset="-122"/>
                <a:cs typeface="Calibri" pitchFamily="34" charset="-120"/>
              </a:rPr>
              <a:t>Around the mid-2000s, industry hit the “power wall”: clock rates plateaued near 3–5 GHz because cooling could not keep up</a:t>
            </a:r>
            <a:endParaRPr lang="en-US" sz="2000" dirty="0"/>
          </a:p>
          <a:p>
            <a:pPr marL="279400" indent="-279400">
              <a:lnSpc>
                <a:spcPct val="108000"/>
              </a:lnSpc>
              <a:spcAft>
                <a:spcPts val="1400"/>
              </a:spcAft>
              <a:buSzPct val="100000"/>
              <a:buChar char="•"/>
            </a:pPr>
            <a:r>
              <a:rPr lang="en-US" sz="2000" dirty="0">
                <a:solidFill>
                  <a:srgbClr val="1B2A4A"/>
                </a:solidFill>
                <a:latin typeface="Calibri" pitchFamily="34" charset="0"/>
                <a:ea typeface="Calibri" pitchFamily="34" charset="-122"/>
                <a:cs typeface="Calibri" pitchFamily="34" charset="-120"/>
              </a:rPr>
              <a:t>This forced a fundamental shift in strategy: instead of one faster core, use multiple cores working together</a:t>
            </a:r>
            <a:endParaRPr lang="en-US" sz="2000" dirty="0"/>
          </a:p>
        </p:txBody>
      </p:sp>
      <p:sp>
        <p:nvSpPr>
          <p:cNvPr id="6" name="Text 3"/>
          <p:cNvSpPr/>
          <p:nvPr/>
        </p:nvSpPr>
        <p:spPr>
          <a:xfrm>
            <a:off x="457200" y="6601968"/>
            <a:ext cx="4572000" cy="256032"/>
          </a:xfrm>
          <a:prstGeom prst="rect">
            <a:avLst/>
          </a:prstGeom>
          <a:noFill/>
          <a:ln/>
        </p:spPr>
        <p:txBody>
          <a:bodyPr wrap="square" lIns="0" tIns="0" rIns="0" bIns="0" rtlCol="0" anchor="ctr"/>
          <a:lstStyle/>
          <a:p>
            <a:pPr marL="0" indent="0" algn="l">
              <a:buNone/>
            </a:pPr>
            <a:r>
              <a:rPr lang="en-US" sz="2000" dirty="0">
                <a:solidFill>
                  <a:srgbClr val="5B6B84"/>
                </a:solidFill>
                <a:latin typeface="Calibri" pitchFamily="34" charset="0"/>
                <a:ea typeface="Calibri" pitchFamily="34" charset="-122"/>
                <a:cs typeface="Calibri" pitchFamily="34" charset="-120"/>
              </a:rPr>
              <a:t>Presidency University, Bengaluru</a:t>
            </a:r>
            <a:endParaRPr lang="en-US" sz="2000" dirty="0"/>
          </a:p>
        </p:txBody>
      </p:sp>
      <p:sp>
        <p:nvSpPr>
          <p:cNvPr id="7" name="Text 4"/>
          <p:cNvSpPr/>
          <p:nvPr/>
        </p:nvSpPr>
        <p:spPr>
          <a:xfrm>
            <a:off x="9902952" y="6601968"/>
            <a:ext cx="1828800" cy="256032"/>
          </a:xfrm>
          <a:prstGeom prst="rect">
            <a:avLst/>
          </a:prstGeom>
          <a:noFill/>
          <a:ln/>
        </p:spPr>
        <p:txBody>
          <a:bodyPr wrap="square" lIns="0" tIns="0" rIns="0" bIns="0" rtlCol="0" anchor="ctr"/>
          <a:lstStyle/>
          <a:p>
            <a:pPr marL="0" indent="0" algn="r">
              <a:buNone/>
            </a:pPr>
            <a:r>
              <a:rPr lang="en-US" sz="2000" dirty="0">
                <a:solidFill>
                  <a:srgbClr val="5B6B84"/>
                </a:solidFill>
                <a:latin typeface="Calibri" pitchFamily="34" charset="0"/>
                <a:ea typeface="Calibri" pitchFamily="34" charset="-122"/>
                <a:cs typeface="Calibri" pitchFamily="34" charset="-120"/>
              </a:rPr>
              <a:t>CSS2257</a:t>
            </a:r>
            <a:endParaRPr lang="en-US" sz="2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11480"/>
            <a:ext cx="9601200" cy="868680"/>
          </a:xfrm>
          <a:prstGeom prst="rect">
            <a:avLst/>
          </a:prstGeom>
          <a:noFill/>
          <a:ln/>
        </p:spPr>
        <p:txBody>
          <a:bodyPr wrap="square" lIns="0" tIns="0" rIns="0" bIns="0" rtlCol="0" anchor="ctr"/>
          <a:lstStyle/>
          <a:p>
            <a:pPr marL="0" indent="0" algn="l">
              <a:buNone/>
            </a:pPr>
            <a:r>
              <a:rPr lang="en-US" sz="3400" b="1" dirty="0">
                <a:solidFill>
                  <a:srgbClr val="1B2A4A"/>
                </a:solidFill>
                <a:latin typeface="Cambria" pitchFamily="34" charset="0"/>
                <a:ea typeface="Cambria" pitchFamily="34" charset="-122"/>
                <a:cs typeface="Cambria" pitchFamily="34" charset="-120"/>
              </a:rPr>
              <a:t>The Processor Clock — A Closer Look</a:t>
            </a:r>
            <a:endParaRPr lang="en-US" sz="3400" dirty="0"/>
          </a:p>
        </p:txBody>
      </p:sp>
      <p:sp>
        <p:nvSpPr>
          <p:cNvPr id="3" name="Shape 1"/>
          <p:cNvSpPr/>
          <p:nvPr/>
        </p:nvSpPr>
        <p:spPr>
          <a:xfrm>
            <a:off x="10607040" y="365760"/>
            <a:ext cx="914400" cy="914400"/>
          </a:xfrm>
          <a:prstGeom prst="ellipse">
            <a:avLst/>
          </a:prstGeom>
          <a:solidFill>
            <a:srgbClr val="1B2A4A"/>
          </a:solidFill>
          <a:ln w="12700">
            <a:solidFill>
              <a:srgbClr val="1B2A4A"/>
            </a:solidFill>
            <a:prstDash val="solid"/>
          </a:ln>
        </p:spPr>
      </p:sp>
      <p:pic>
        <p:nvPicPr>
          <p:cNvPr id="4" name="Image 0" descr="/home/claude/coa_ppt/icon_clock_white.png"/>
          <p:cNvPicPr>
            <a:picLocks noChangeAspect="1"/>
          </p:cNvPicPr>
          <p:nvPr/>
        </p:nvPicPr>
        <p:blipFill>
          <a:blip r:embed="rId3"/>
          <a:stretch>
            <a:fillRect/>
          </a:stretch>
        </p:blipFill>
        <p:spPr>
          <a:xfrm>
            <a:off x="10844784" y="603504"/>
            <a:ext cx="438912" cy="438912"/>
          </a:xfrm>
          <a:prstGeom prst="rect">
            <a:avLst/>
          </a:prstGeom>
        </p:spPr>
      </p:pic>
      <p:sp>
        <p:nvSpPr>
          <p:cNvPr id="5" name="Text 2"/>
          <p:cNvSpPr/>
          <p:nvPr/>
        </p:nvSpPr>
        <p:spPr>
          <a:xfrm>
            <a:off x="548640" y="1417320"/>
            <a:ext cx="11064240" cy="4754880"/>
          </a:xfrm>
          <a:prstGeom prst="rect">
            <a:avLst/>
          </a:prstGeom>
          <a:noFill/>
          <a:ln/>
        </p:spPr>
        <p:txBody>
          <a:bodyPr wrap="square" lIns="0" tIns="0" rIns="0" bIns="0" rtlCol="0" anchor="t"/>
          <a:lstStyle/>
          <a:p>
            <a:pPr marL="279400" indent="-279400">
              <a:lnSpc>
                <a:spcPct val="108000"/>
              </a:lnSpc>
              <a:spcAft>
                <a:spcPts val="1400"/>
              </a:spcAft>
              <a:buSzPct val="100000"/>
              <a:buChar char="•"/>
            </a:pPr>
            <a:r>
              <a:rPr lang="en-US" sz="2000" dirty="0">
                <a:solidFill>
                  <a:srgbClr val="1B2A4A"/>
                </a:solidFill>
                <a:latin typeface="Calibri" pitchFamily="34" charset="0"/>
                <a:ea typeface="Calibri" pitchFamily="34" charset="-122"/>
                <a:cs typeface="Calibri" pitchFamily="34" charset="-120"/>
              </a:rPr>
              <a:t>The clock is generated by a crystal oscillator on the motherboard/chip, producing a stable, repeating electrical signal</a:t>
            </a:r>
            <a:endParaRPr lang="en-US" sz="2000" dirty="0"/>
          </a:p>
          <a:p>
            <a:pPr marL="279400" indent="-279400">
              <a:lnSpc>
                <a:spcPct val="108000"/>
              </a:lnSpc>
              <a:spcAft>
                <a:spcPts val="1400"/>
              </a:spcAft>
              <a:buSzPct val="100000"/>
              <a:buChar char="•"/>
            </a:pPr>
            <a:r>
              <a:rPr lang="en-US" sz="2000" dirty="0">
                <a:solidFill>
                  <a:srgbClr val="1B2A4A"/>
                </a:solidFill>
                <a:latin typeface="Calibri" pitchFamily="34" charset="0"/>
                <a:ea typeface="Calibri" pitchFamily="34" charset="-122"/>
                <a:cs typeface="Calibri" pitchFamily="34" charset="-120"/>
              </a:rPr>
              <a:t>Every register in the CPU updates its value only on a clock edge (typically the rising edge)</a:t>
            </a:r>
            <a:endParaRPr lang="en-US" sz="2000" dirty="0"/>
          </a:p>
          <a:p>
            <a:pPr marL="279400" indent="-279400">
              <a:lnSpc>
                <a:spcPct val="108000"/>
              </a:lnSpc>
              <a:spcAft>
                <a:spcPts val="1400"/>
              </a:spcAft>
              <a:buSzPct val="100000"/>
              <a:buChar char="•"/>
            </a:pPr>
            <a:r>
              <a:rPr lang="en-US" sz="2000" dirty="0">
                <a:solidFill>
                  <a:srgbClr val="1B2A4A"/>
                </a:solidFill>
                <a:latin typeface="Calibri" pitchFamily="34" charset="0"/>
                <a:ea typeface="Calibri" pitchFamily="34" charset="-122"/>
                <a:cs typeface="Calibri" pitchFamily="34" charset="-120"/>
              </a:rPr>
              <a:t>This synchronisation is what makes a CPU a 'synchronous' digital system — all operations march in lockstep</a:t>
            </a:r>
            <a:endParaRPr lang="en-US" sz="2000" dirty="0"/>
          </a:p>
          <a:p>
            <a:pPr marL="279400" indent="-279400">
              <a:lnSpc>
                <a:spcPct val="108000"/>
              </a:lnSpc>
              <a:spcAft>
                <a:spcPts val="1400"/>
              </a:spcAft>
              <a:buSzPct val="100000"/>
              <a:buChar char="•"/>
            </a:pPr>
            <a:r>
              <a:rPr lang="en-US" sz="2000" dirty="0">
                <a:solidFill>
                  <a:srgbClr val="1B2A4A"/>
                </a:solidFill>
                <a:latin typeface="Calibri" pitchFamily="34" charset="0"/>
                <a:ea typeface="Calibri" pitchFamily="34" charset="-122"/>
                <a:cs typeface="Calibri" pitchFamily="34" charset="-120"/>
              </a:rPr>
              <a:t>Without a clock, results from different parts of the circuit could arrive at unpredictable times and corrupt computation</a:t>
            </a:r>
            <a:endParaRPr lang="en-US" sz="2000" dirty="0"/>
          </a:p>
        </p:txBody>
      </p:sp>
      <p:sp>
        <p:nvSpPr>
          <p:cNvPr id="6" name="Text 3"/>
          <p:cNvSpPr/>
          <p:nvPr/>
        </p:nvSpPr>
        <p:spPr>
          <a:xfrm>
            <a:off x="457200" y="6601968"/>
            <a:ext cx="4572000" cy="256032"/>
          </a:xfrm>
          <a:prstGeom prst="rect">
            <a:avLst/>
          </a:prstGeom>
          <a:noFill/>
          <a:ln/>
        </p:spPr>
        <p:txBody>
          <a:bodyPr wrap="square" lIns="0" tIns="0" rIns="0" bIns="0" rtlCol="0" anchor="ctr"/>
          <a:lstStyle/>
          <a:p>
            <a:pPr marL="0" indent="0" algn="l">
              <a:buNone/>
            </a:pPr>
            <a:r>
              <a:rPr lang="en-US" sz="2000" dirty="0">
                <a:solidFill>
                  <a:srgbClr val="5B6B84"/>
                </a:solidFill>
                <a:latin typeface="Calibri" pitchFamily="34" charset="0"/>
                <a:ea typeface="Calibri" pitchFamily="34" charset="-122"/>
                <a:cs typeface="Calibri" pitchFamily="34" charset="-120"/>
              </a:rPr>
              <a:t>Presidency University, Bengaluru</a:t>
            </a:r>
            <a:endParaRPr lang="en-US" sz="2000" dirty="0"/>
          </a:p>
        </p:txBody>
      </p:sp>
      <p:sp>
        <p:nvSpPr>
          <p:cNvPr id="7" name="Text 4"/>
          <p:cNvSpPr/>
          <p:nvPr/>
        </p:nvSpPr>
        <p:spPr>
          <a:xfrm>
            <a:off x="9902952" y="6601968"/>
            <a:ext cx="1828800" cy="256032"/>
          </a:xfrm>
          <a:prstGeom prst="rect">
            <a:avLst/>
          </a:prstGeom>
          <a:noFill/>
          <a:ln/>
        </p:spPr>
        <p:txBody>
          <a:bodyPr wrap="square" lIns="0" tIns="0" rIns="0" bIns="0" rtlCol="0" anchor="ctr"/>
          <a:lstStyle/>
          <a:p>
            <a:pPr marL="0" indent="0" algn="r">
              <a:buNone/>
            </a:pPr>
            <a:r>
              <a:rPr lang="en-US" sz="2000" dirty="0">
                <a:solidFill>
                  <a:srgbClr val="5B6B84"/>
                </a:solidFill>
                <a:latin typeface="Calibri" pitchFamily="34" charset="0"/>
                <a:ea typeface="Calibri" pitchFamily="34" charset="-122"/>
                <a:cs typeface="Calibri" pitchFamily="34" charset="-120"/>
              </a:rPr>
              <a:t>CSS2257</a:t>
            </a:r>
            <a:endParaRPr lang="en-US" sz="2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11480"/>
            <a:ext cx="9601200" cy="868680"/>
          </a:xfrm>
          <a:prstGeom prst="rect">
            <a:avLst/>
          </a:prstGeom>
          <a:noFill/>
          <a:ln/>
        </p:spPr>
        <p:txBody>
          <a:bodyPr wrap="square" lIns="0" tIns="0" rIns="0" bIns="0" rtlCol="0" anchor="ctr"/>
          <a:lstStyle/>
          <a:p>
            <a:pPr marL="0" indent="0" algn="l">
              <a:buNone/>
            </a:pPr>
            <a:r>
              <a:rPr lang="en-US" sz="3400" b="1" dirty="0">
                <a:solidFill>
                  <a:srgbClr val="1B2A4A"/>
                </a:solidFill>
                <a:latin typeface="Cambria" pitchFamily="34" charset="0"/>
                <a:ea typeface="Cambria" pitchFamily="34" charset="-122"/>
                <a:cs typeface="Cambria" pitchFamily="34" charset="-120"/>
              </a:rPr>
              <a:t>Clock Rate, Cycle Time, and Overclocking</a:t>
            </a:r>
            <a:endParaRPr lang="en-US" sz="3400" dirty="0"/>
          </a:p>
        </p:txBody>
      </p:sp>
      <p:sp>
        <p:nvSpPr>
          <p:cNvPr id="3" name="Shape 1"/>
          <p:cNvSpPr/>
          <p:nvPr/>
        </p:nvSpPr>
        <p:spPr>
          <a:xfrm>
            <a:off x="10607040" y="365760"/>
            <a:ext cx="914400" cy="914400"/>
          </a:xfrm>
          <a:prstGeom prst="ellipse">
            <a:avLst/>
          </a:prstGeom>
          <a:solidFill>
            <a:srgbClr val="1B2A4A"/>
          </a:solidFill>
          <a:ln w="12700">
            <a:solidFill>
              <a:srgbClr val="1B2A4A"/>
            </a:solidFill>
            <a:prstDash val="solid"/>
          </a:ln>
        </p:spPr>
      </p:sp>
      <p:pic>
        <p:nvPicPr>
          <p:cNvPr id="4" name="Image 0" descr="/home/claude/coa_ppt/icon_stopwatch_white.png"/>
          <p:cNvPicPr>
            <a:picLocks noChangeAspect="1"/>
          </p:cNvPicPr>
          <p:nvPr/>
        </p:nvPicPr>
        <p:blipFill>
          <a:blip r:embed="rId3"/>
          <a:stretch>
            <a:fillRect/>
          </a:stretch>
        </p:blipFill>
        <p:spPr>
          <a:xfrm>
            <a:off x="10844784" y="603504"/>
            <a:ext cx="438912" cy="438912"/>
          </a:xfrm>
          <a:prstGeom prst="rect">
            <a:avLst/>
          </a:prstGeom>
        </p:spPr>
      </p:pic>
      <p:sp>
        <p:nvSpPr>
          <p:cNvPr id="5" name="Text 2"/>
          <p:cNvSpPr/>
          <p:nvPr/>
        </p:nvSpPr>
        <p:spPr>
          <a:xfrm>
            <a:off x="548640" y="1417320"/>
            <a:ext cx="11064240" cy="4754880"/>
          </a:xfrm>
          <a:prstGeom prst="rect">
            <a:avLst/>
          </a:prstGeom>
          <a:noFill/>
          <a:ln/>
        </p:spPr>
        <p:txBody>
          <a:bodyPr wrap="square" lIns="0" tIns="0" rIns="0" bIns="0" rtlCol="0" anchor="t"/>
          <a:lstStyle/>
          <a:p>
            <a:pPr marL="279400" indent="-279400">
              <a:lnSpc>
                <a:spcPct val="108000"/>
              </a:lnSpc>
              <a:spcAft>
                <a:spcPts val="1200"/>
              </a:spcAft>
              <a:buSzPct val="100000"/>
              <a:buChar char="•"/>
            </a:pPr>
            <a:r>
              <a:rPr lang="en-US" sz="2000" dirty="0">
                <a:solidFill>
                  <a:srgbClr val="1B2A4A"/>
                </a:solidFill>
                <a:latin typeface="Calibri" pitchFamily="34" charset="0"/>
                <a:ea typeface="Calibri" pitchFamily="34" charset="-122"/>
                <a:cs typeface="Calibri" pitchFamily="34" charset="-120"/>
              </a:rPr>
              <a:t>Clock Rate and Clock Cycle Time are reciprocals: Clock Rate = 1 / Clock Cycle Time</a:t>
            </a:r>
            <a:endParaRPr lang="en-US" sz="2000" dirty="0"/>
          </a:p>
          <a:p>
            <a:pPr marL="279400" indent="-279400">
              <a:lnSpc>
                <a:spcPct val="108000"/>
              </a:lnSpc>
              <a:spcAft>
                <a:spcPts val="1200"/>
              </a:spcAft>
              <a:buSzPct val="100000"/>
              <a:buChar char="•"/>
            </a:pPr>
            <a:r>
              <a:rPr lang="en-US" sz="2000" dirty="0">
                <a:solidFill>
                  <a:srgbClr val="1B2A4A"/>
                </a:solidFill>
                <a:latin typeface="Calibri" pitchFamily="34" charset="0"/>
                <a:ea typeface="Calibri" pitchFamily="34" charset="-122"/>
                <a:cs typeface="Calibri" pitchFamily="34" charset="-120"/>
              </a:rPr>
              <a:t>A 4 GHz processor has a cycle time of 0.25 nanoseconds; a 2 GHz processor has 0.5 nanoseconds</a:t>
            </a:r>
            <a:endParaRPr lang="en-US" sz="2000" dirty="0"/>
          </a:p>
          <a:p>
            <a:pPr marL="279400" indent="-279400">
              <a:lnSpc>
                <a:spcPct val="108000"/>
              </a:lnSpc>
              <a:spcAft>
                <a:spcPts val="1200"/>
              </a:spcAft>
              <a:buSzPct val="100000"/>
              <a:buChar char="•"/>
            </a:pPr>
            <a:r>
              <a:rPr lang="en-US" sz="2000" dirty="0">
                <a:solidFill>
                  <a:srgbClr val="1B2A4A"/>
                </a:solidFill>
                <a:latin typeface="Calibri" pitchFamily="34" charset="0"/>
                <a:ea typeface="Calibri" pitchFamily="34" charset="-122"/>
                <a:cs typeface="Calibri" pitchFamily="34" charset="-120"/>
              </a:rPr>
              <a:t>'Overclocking' means running the chip at a higher-than-rated frequency, shortening the cycle time</a:t>
            </a:r>
            <a:endParaRPr lang="en-US" sz="2000" dirty="0"/>
          </a:p>
          <a:p>
            <a:pPr marL="279400" indent="-279400">
              <a:lnSpc>
                <a:spcPct val="108000"/>
              </a:lnSpc>
              <a:spcAft>
                <a:spcPts val="1200"/>
              </a:spcAft>
              <a:buSzPct val="100000"/>
              <a:buChar char="•"/>
            </a:pPr>
            <a:r>
              <a:rPr lang="en-US" sz="2000" dirty="0">
                <a:solidFill>
                  <a:srgbClr val="1B2A4A"/>
                </a:solidFill>
                <a:latin typeface="Calibri" pitchFamily="34" charset="0"/>
                <a:ea typeface="Calibri" pitchFamily="34" charset="-122"/>
                <a:cs typeface="Calibri" pitchFamily="34" charset="-120"/>
              </a:rPr>
              <a:t>Risk: if the cycle becomes shorter than the time signals need to travel through the slowest circuit path, results become incorrect — this is why overclocking needs better cooling and voltage tuning</a:t>
            </a:r>
            <a:endParaRPr lang="en-US" sz="2000" dirty="0"/>
          </a:p>
        </p:txBody>
      </p:sp>
      <p:sp>
        <p:nvSpPr>
          <p:cNvPr id="6" name="Text 3"/>
          <p:cNvSpPr/>
          <p:nvPr/>
        </p:nvSpPr>
        <p:spPr>
          <a:xfrm>
            <a:off x="457200" y="6601968"/>
            <a:ext cx="4572000" cy="256032"/>
          </a:xfrm>
          <a:prstGeom prst="rect">
            <a:avLst/>
          </a:prstGeom>
          <a:noFill/>
          <a:ln/>
        </p:spPr>
        <p:txBody>
          <a:bodyPr wrap="square" lIns="0" tIns="0" rIns="0" bIns="0" rtlCol="0" anchor="ctr"/>
          <a:lstStyle/>
          <a:p>
            <a:pPr marL="0" indent="0" algn="l">
              <a:buNone/>
            </a:pPr>
            <a:r>
              <a:rPr lang="en-US" sz="2000" dirty="0">
                <a:solidFill>
                  <a:srgbClr val="5B6B84"/>
                </a:solidFill>
                <a:latin typeface="Calibri" pitchFamily="34" charset="0"/>
                <a:ea typeface="Calibri" pitchFamily="34" charset="-122"/>
                <a:cs typeface="Calibri" pitchFamily="34" charset="-120"/>
              </a:rPr>
              <a:t>Presidency University, Bengaluru</a:t>
            </a:r>
            <a:endParaRPr lang="en-US" sz="2000" dirty="0"/>
          </a:p>
        </p:txBody>
      </p:sp>
      <p:sp>
        <p:nvSpPr>
          <p:cNvPr id="7" name="Text 4"/>
          <p:cNvSpPr/>
          <p:nvPr/>
        </p:nvSpPr>
        <p:spPr>
          <a:xfrm>
            <a:off x="9902952" y="6601968"/>
            <a:ext cx="1828800" cy="256032"/>
          </a:xfrm>
          <a:prstGeom prst="rect">
            <a:avLst/>
          </a:prstGeom>
          <a:noFill/>
          <a:ln/>
        </p:spPr>
        <p:txBody>
          <a:bodyPr wrap="square" lIns="0" tIns="0" rIns="0" bIns="0" rtlCol="0" anchor="ctr"/>
          <a:lstStyle/>
          <a:p>
            <a:pPr marL="0" indent="0" algn="r">
              <a:buNone/>
            </a:pPr>
            <a:r>
              <a:rPr lang="en-US" sz="2000" dirty="0">
                <a:solidFill>
                  <a:srgbClr val="5B6B84"/>
                </a:solidFill>
                <a:latin typeface="Calibri" pitchFamily="34" charset="0"/>
                <a:ea typeface="Calibri" pitchFamily="34" charset="-122"/>
                <a:cs typeface="Calibri" pitchFamily="34" charset="-120"/>
              </a:rPr>
              <a:t>CSS2257</a:t>
            </a:r>
            <a:endParaRPr lang="en-US" sz="20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11480"/>
            <a:ext cx="9601200" cy="868680"/>
          </a:xfrm>
          <a:prstGeom prst="rect">
            <a:avLst/>
          </a:prstGeom>
          <a:noFill/>
          <a:ln/>
        </p:spPr>
        <p:txBody>
          <a:bodyPr wrap="square" lIns="0" tIns="0" rIns="0" bIns="0" rtlCol="0" anchor="ctr"/>
          <a:lstStyle/>
          <a:p>
            <a:pPr marL="0" indent="0" algn="l">
              <a:buNone/>
            </a:pPr>
            <a:r>
              <a:rPr lang="en-US" sz="3400" b="1" dirty="0">
                <a:solidFill>
                  <a:srgbClr val="1B2A4A"/>
                </a:solidFill>
                <a:latin typeface="Cambria" pitchFamily="34" charset="0"/>
                <a:ea typeface="Cambria" pitchFamily="34" charset="-122"/>
                <a:cs typeface="Cambria" pitchFamily="34" charset="-120"/>
              </a:rPr>
              <a:t>Why Clock Speed Alone Doesn't Decide Performance</a:t>
            </a:r>
            <a:endParaRPr lang="en-US" sz="3400" dirty="0"/>
          </a:p>
        </p:txBody>
      </p:sp>
      <p:sp>
        <p:nvSpPr>
          <p:cNvPr id="3" name="Shape 1"/>
          <p:cNvSpPr/>
          <p:nvPr/>
        </p:nvSpPr>
        <p:spPr>
          <a:xfrm>
            <a:off x="10607040" y="365760"/>
            <a:ext cx="914400" cy="914400"/>
          </a:xfrm>
          <a:prstGeom prst="ellipse">
            <a:avLst/>
          </a:prstGeom>
          <a:solidFill>
            <a:srgbClr val="1B2A4A"/>
          </a:solidFill>
          <a:ln w="12700">
            <a:solidFill>
              <a:srgbClr val="1B2A4A"/>
            </a:solidFill>
            <a:prstDash val="solid"/>
          </a:ln>
        </p:spPr>
      </p:sp>
      <p:pic>
        <p:nvPicPr>
          <p:cNvPr id="4" name="Image 0" descr="/home/claude/coa_ppt/icon_warning_white.png"/>
          <p:cNvPicPr>
            <a:picLocks noChangeAspect="1"/>
          </p:cNvPicPr>
          <p:nvPr/>
        </p:nvPicPr>
        <p:blipFill>
          <a:blip r:embed="rId3"/>
          <a:stretch>
            <a:fillRect/>
          </a:stretch>
        </p:blipFill>
        <p:spPr>
          <a:xfrm>
            <a:off x="10844784" y="603504"/>
            <a:ext cx="438912" cy="438912"/>
          </a:xfrm>
          <a:prstGeom prst="rect">
            <a:avLst/>
          </a:prstGeom>
        </p:spPr>
      </p:pic>
      <p:sp>
        <p:nvSpPr>
          <p:cNvPr id="5" name="Text 2"/>
          <p:cNvSpPr/>
          <p:nvPr/>
        </p:nvSpPr>
        <p:spPr>
          <a:xfrm>
            <a:off x="548640" y="1417320"/>
            <a:ext cx="11064240" cy="4754880"/>
          </a:xfrm>
          <a:prstGeom prst="rect">
            <a:avLst/>
          </a:prstGeom>
          <a:noFill/>
          <a:ln/>
        </p:spPr>
        <p:txBody>
          <a:bodyPr wrap="square" lIns="0" tIns="0" rIns="0" bIns="0" rtlCol="0" anchor="t"/>
          <a:lstStyle/>
          <a:p>
            <a:pPr marL="279400" indent="-279400">
              <a:lnSpc>
                <a:spcPct val="108000"/>
              </a:lnSpc>
              <a:spcAft>
                <a:spcPts val="1400"/>
              </a:spcAft>
              <a:buSzPct val="100000"/>
              <a:buChar char="•"/>
            </a:pPr>
            <a:r>
              <a:rPr lang="en-US" sz="2000" dirty="0">
                <a:solidFill>
                  <a:srgbClr val="1B2A4A"/>
                </a:solidFill>
                <a:latin typeface="Calibri" pitchFamily="34" charset="0"/>
                <a:ea typeface="Calibri" pitchFamily="34" charset="-122"/>
                <a:cs typeface="Calibri" pitchFamily="34" charset="-120"/>
              </a:rPr>
              <a:t>Recall: CPU Time = IC × CPI × Clock Cycle Time — clock rate is only ONE of three multiplied factors</a:t>
            </a:r>
            <a:endParaRPr lang="en-US" sz="2000" dirty="0"/>
          </a:p>
          <a:p>
            <a:pPr marL="279400" indent="-279400">
              <a:lnSpc>
                <a:spcPct val="108000"/>
              </a:lnSpc>
              <a:spcAft>
                <a:spcPts val="1400"/>
              </a:spcAft>
              <a:buSzPct val="100000"/>
              <a:buChar char="•"/>
            </a:pPr>
            <a:r>
              <a:rPr lang="en-US" sz="2000" dirty="0">
                <a:solidFill>
                  <a:srgbClr val="1B2A4A"/>
                </a:solidFill>
                <a:latin typeface="Calibri" pitchFamily="34" charset="0"/>
                <a:ea typeface="Calibri" pitchFamily="34" charset="-122"/>
                <a:cs typeface="Calibri" pitchFamily="34" charset="-120"/>
              </a:rPr>
              <a:t>A high clock rate with a high CPI can lose to a lower clock rate with a low, efficient CPI (Example 2 proved this)</a:t>
            </a:r>
            <a:endParaRPr lang="en-US" sz="2000" dirty="0"/>
          </a:p>
          <a:p>
            <a:pPr marL="279400" indent="-279400">
              <a:lnSpc>
                <a:spcPct val="108000"/>
              </a:lnSpc>
              <a:spcAft>
                <a:spcPts val="1400"/>
              </a:spcAft>
              <a:buSzPct val="100000"/>
              <a:buChar char="•"/>
            </a:pPr>
            <a:r>
              <a:rPr lang="en-US" sz="2000" dirty="0">
                <a:solidFill>
                  <a:srgbClr val="1B2A4A"/>
                </a:solidFill>
                <a:latin typeface="Calibri" pitchFamily="34" charset="0"/>
                <a:ea typeface="Calibri" pitchFamily="34" charset="-122"/>
                <a:cs typeface="Calibri" pitchFamily="34" charset="-120"/>
              </a:rPr>
              <a:t>Different instruction sets need different instruction counts for the same task — IC is not fixed either</a:t>
            </a:r>
            <a:endParaRPr lang="en-US" sz="2000" dirty="0"/>
          </a:p>
          <a:p>
            <a:pPr marL="279400" indent="-279400">
              <a:lnSpc>
                <a:spcPct val="108000"/>
              </a:lnSpc>
              <a:spcAft>
                <a:spcPts val="1400"/>
              </a:spcAft>
              <a:buSzPct val="100000"/>
              <a:buChar char="•"/>
            </a:pPr>
            <a:r>
              <a:rPr lang="en-US" sz="2000" dirty="0">
                <a:solidFill>
                  <a:srgbClr val="1B2A4A"/>
                </a:solidFill>
                <a:latin typeface="Calibri" pitchFamily="34" charset="0"/>
                <a:ea typeface="Calibri" pitchFamily="34" charset="-122"/>
                <a:cs typeface="Calibri" pitchFamily="34" charset="-120"/>
              </a:rPr>
              <a:t>This is exactly why benchmark suites (e.g., SPEC) run real programs rather than trusting a single GHz figure</a:t>
            </a:r>
            <a:endParaRPr lang="en-US" sz="2000" dirty="0"/>
          </a:p>
        </p:txBody>
      </p:sp>
      <p:sp>
        <p:nvSpPr>
          <p:cNvPr id="6" name="Text 3"/>
          <p:cNvSpPr/>
          <p:nvPr/>
        </p:nvSpPr>
        <p:spPr>
          <a:xfrm>
            <a:off x="457200" y="6601968"/>
            <a:ext cx="4572000" cy="256032"/>
          </a:xfrm>
          <a:prstGeom prst="rect">
            <a:avLst/>
          </a:prstGeom>
          <a:noFill/>
          <a:ln/>
        </p:spPr>
        <p:txBody>
          <a:bodyPr wrap="square" lIns="0" tIns="0" rIns="0" bIns="0" rtlCol="0" anchor="ctr"/>
          <a:lstStyle/>
          <a:p>
            <a:pPr marL="0" indent="0" algn="l">
              <a:buNone/>
            </a:pPr>
            <a:r>
              <a:rPr lang="en-US" sz="2000" dirty="0">
                <a:solidFill>
                  <a:srgbClr val="5B6B84"/>
                </a:solidFill>
                <a:latin typeface="Calibri" pitchFamily="34" charset="0"/>
                <a:ea typeface="Calibri" pitchFamily="34" charset="-122"/>
                <a:cs typeface="Calibri" pitchFamily="34" charset="-120"/>
              </a:rPr>
              <a:t>Presidency University, Bengaluru</a:t>
            </a:r>
            <a:endParaRPr lang="en-US" sz="2000" dirty="0"/>
          </a:p>
        </p:txBody>
      </p:sp>
      <p:sp>
        <p:nvSpPr>
          <p:cNvPr id="7" name="Text 4"/>
          <p:cNvSpPr/>
          <p:nvPr/>
        </p:nvSpPr>
        <p:spPr>
          <a:xfrm>
            <a:off x="9902952" y="6601968"/>
            <a:ext cx="1828800" cy="256032"/>
          </a:xfrm>
          <a:prstGeom prst="rect">
            <a:avLst/>
          </a:prstGeom>
          <a:noFill/>
          <a:ln/>
        </p:spPr>
        <p:txBody>
          <a:bodyPr wrap="square" lIns="0" tIns="0" rIns="0" bIns="0" rtlCol="0" anchor="ctr"/>
          <a:lstStyle/>
          <a:p>
            <a:pPr marL="0" indent="0" algn="r">
              <a:buNone/>
            </a:pPr>
            <a:r>
              <a:rPr lang="en-US" sz="2000" dirty="0">
                <a:solidFill>
                  <a:srgbClr val="5B6B84"/>
                </a:solidFill>
                <a:latin typeface="Calibri" pitchFamily="34" charset="0"/>
                <a:ea typeface="Calibri" pitchFamily="34" charset="-122"/>
                <a:cs typeface="Calibri" pitchFamily="34" charset="-120"/>
              </a:rPr>
              <a:t>CSS2257</a:t>
            </a:r>
            <a:endParaRPr lang="en-US" sz="20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1B2A4A"/>
        </a:solidFill>
        <a:effectLst/>
      </p:bgPr>
    </p:bg>
    <p:spTree>
      <p:nvGrpSpPr>
        <p:cNvPr id="1" name=""/>
        <p:cNvGrpSpPr/>
        <p:nvPr/>
      </p:nvGrpSpPr>
      <p:grpSpPr>
        <a:xfrm>
          <a:off x="0" y="0"/>
          <a:ext cx="0" cy="0"/>
          <a:chOff x="0" y="0"/>
          <a:chExt cx="0" cy="0"/>
        </a:xfrm>
      </p:grpSpPr>
      <p:sp>
        <p:nvSpPr>
          <p:cNvPr id="2" name="Text 0"/>
          <p:cNvSpPr/>
          <p:nvPr/>
        </p:nvSpPr>
        <p:spPr>
          <a:xfrm>
            <a:off x="548640" y="411480"/>
            <a:ext cx="9601200" cy="868680"/>
          </a:xfrm>
          <a:prstGeom prst="rect">
            <a:avLst/>
          </a:prstGeom>
          <a:noFill/>
          <a:ln/>
        </p:spPr>
        <p:txBody>
          <a:bodyPr wrap="square" lIns="0" tIns="0" rIns="0" bIns="0" rtlCol="0" anchor="ctr"/>
          <a:lstStyle/>
          <a:p>
            <a:pPr marL="0" indent="0" algn="l">
              <a:buNone/>
            </a:pPr>
            <a:r>
              <a:rPr lang="en-US" sz="3400" b="1" dirty="0">
                <a:solidFill>
                  <a:srgbClr val="FFFFFF"/>
                </a:solidFill>
                <a:latin typeface="Cambria" pitchFamily="34" charset="0"/>
                <a:ea typeface="Cambria" pitchFamily="34" charset="-122"/>
                <a:cs typeface="Cambria" pitchFamily="34" charset="-120"/>
              </a:rPr>
              <a:t>Introduction to Parallelism</a:t>
            </a:r>
            <a:endParaRPr lang="en-US" sz="3400" dirty="0"/>
          </a:p>
        </p:txBody>
      </p:sp>
      <p:sp>
        <p:nvSpPr>
          <p:cNvPr id="3" name="Shape 1"/>
          <p:cNvSpPr/>
          <p:nvPr/>
        </p:nvSpPr>
        <p:spPr>
          <a:xfrm>
            <a:off x="10607040" y="365760"/>
            <a:ext cx="914400" cy="914400"/>
          </a:xfrm>
          <a:prstGeom prst="ellipse">
            <a:avLst/>
          </a:prstGeom>
          <a:solidFill>
            <a:srgbClr val="233B63"/>
          </a:solidFill>
          <a:ln w="12700">
            <a:solidFill>
              <a:srgbClr val="233B63"/>
            </a:solidFill>
            <a:prstDash val="solid"/>
          </a:ln>
        </p:spPr>
      </p:sp>
      <p:pic>
        <p:nvPicPr>
          <p:cNvPr id="4" name="Image 0" descr="/home/claude/coa_ppt/icon_network_white.png"/>
          <p:cNvPicPr>
            <a:picLocks noChangeAspect="1"/>
          </p:cNvPicPr>
          <p:nvPr/>
        </p:nvPicPr>
        <p:blipFill>
          <a:blip r:embed="rId3"/>
          <a:stretch>
            <a:fillRect/>
          </a:stretch>
        </p:blipFill>
        <p:spPr>
          <a:xfrm>
            <a:off x="10844784" y="603504"/>
            <a:ext cx="438912" cy="438912"/>
          </a:xfrm>
          <a:prstGeom prst="rect">
            <a:avLst/>
          </a:prstGeom>
        </p:spPr>
      </p:pic>
      <p:sp>
        <p:nvSpPr>
          <p:cNvPr id="5" name="Text 2"/>
          <p:cNvSpPr/>
          <p:nvPr/>
        </p:nvSpPr>
        <p:spPr>
          <a:xfrm>
            <a:off x="548640" y="1417320"/>
            <a:ext cx="10881360" cy="4754880"/>
          </a:xfrm>
          <a:prstGeom prst="rect">
            <a:avLst/>
          </a:prstGeom>
          <a:noFill/>
          <a:ln/>
        </p:spPr>
        <p:txBody>
          <a:bodyPr wrap="square" lIns="0" tIns="0" rIns="0" bIns="0" rtlCol="0" anchor="t"/>
          <a:lstStyle/>
          <a:p>
            <a:pPr marL="279400" indent="-279400">
              <a:lnSpc>
                <a:spcPct val="108000"/>
              </a:lnSpc>
              <a:spcAft>
                <a:spcPts val="1400"/>
              </a:spcAft>
              <a:buSzPct val="100000"/>
              <a:buChar char="•"/>
            </a:pPr>
            <a:r>
              <a:rPr lang="en-US" sz="2000" dirty="0">
                <a:solidFill>
                  <a:srgbClr val="E8EEF7"/>
                </a:solidFill>
                <a:latin typeface="Calibri" pitchFamily="34" charset="0"/>
                <a:ea typeface="Calibri" pitchFamily="34" charset="-122"/>
                <a:cs typeface="Calibri" pitchFamily="34" charset="-120"/>
              </a:rPr>
              <a:t>Once clock rate hit the power wall, the only path left to more performance was doing MORE WORK PER CYCLE, not faster cycles</a:t>
            </a:r>
            <a:endParaRPr lang="en-US" sz="2000" dirty="0"/>
          </a:p>
          <a:p>
            <a:pPr marL="279400" indent="-279400">
              <a:lnSpc>
                <a:spcPct val="108000"/>
              </a:lnSpc>
              <a:spcAft>
                <a:spcPts val="1400"/>
              </a:spcAft>
              <a:buSzPct val="100000"/>
              <a:buChar char="•"/>
            </a:pPr>
            <a:r>
              <a:rPr lang="en-US" sz="2000" dirty="0">
                <a:solidFill>
                  <a:srgbClr val="E8EEF7"/>
                </a:solidFill>
                <a:latin typeface="Calibri" pitchFamily="34" charset="0"/>
                <a:ea typeface="Calibri" pitchFamily="34" charset="-122"/>
                <a:cs typeface="Calibri" pitchFamily="34" charset="-120"/>
              </a:rPr>
              <a:t>Parallelism = performing multiple operations at the same time instead of one after another</a:t>
            </a:r>
            <a:endParaRPr lang="en-US" sz="2000" dirty="0"/>
          </a:p>
          <a:p>
            <a:pPr marL="279400" indent="-279400">
              <a:lnSpc>
                <a:spcPct val="108000"/>
              </a:lnSpc>
              <a:spcAft>
                <a:spcPts val="1400"/>
              </a:spcAft>
              <a:buSzPct val="100000"/>
              <a:buChar char="•"/>
            </a:pPr>
            <a:r>
              <a:rPr lang="en-US" sz="2000" dirty="0">
                <a:solidFill>
                  <a:srgbClr val="E8EEF7"/>
                </a:solidFill>
                <a:latin typeface="Calibri" pitchFamily="34" charset="0"/>
                <a:ea typeface="Calibri" pitchFamily="34" charset="-122"/>
                <a:cs typeface="Calibri" pitchFamily="34" charset="-120"/>
              </a:rPr>
              <a:t>Three major forms studied in architecture, from finest to coarsest grain:</a:t>
            </a:r>
            <a:endParaRPr lang="en-US" sz="2000" dirty="0"/>
          </a:p>
        </p:txBody>
      </p:sp>
      <p:sp>
        <p:nvSpPr>
          <p:cNvPr id="6" name="Shape 3"/>
          <p:cNvSpPr/>
          <p:nvPr/>
        </p:nvSpPr>
        <p:spPr>
          <a:xfrm>
            <a:off x="548640" y="4251960"/>
            <a:ext cx="3566160" cy="1874520"/>
          </a:xfrm>
          <a:prstGeom prst="roundRect">
            <a:avLst>
              <a:gd name="adj" fmla="val 3902"/>
            </a:avLst>
          </a:prstGeom>
          <a:solidFill>
            <a:srgbClr val="233B63"/>
          </a:solidFill>
          <a:ln w="12700">
            <a:solidFill>
              <a:srgbClr val="233B63"/>
            </a:solidFill>
            <a:prstDash val="solid"/>
          </a:ln>
        </p:spPr>
      </p:sp>
      <p:sp>
        <p:nvSpPr>
          <p:cNvPr id="7" name="Shape 4"/>
          <p:cNvSpPr/>
          <p:nvPr/>
        </p:nvSpPr>
        <p:spPr>
          <a:xfrm>
            <a:off x="1965960" y="4434840"/>
            <a:ext cx="685800" cy="685800"/>
          </a:xfrm>
          <a:prstGeom prst="ellipse">
            <a:avLst/>
          </a:prstGeom>
          <a:solidFill>
            <a:srgbClr val="1B2A4A"/>
          </a:solidFill>
          <a:ln w="12700">
            <a:solidFill>
              <a:srgbClr val="1B2A4A"/>
            </a:solidFill>
            <a:prstDash val="solid"/>
          </a:ln>
        </p:spPr>
      </p:sp>
      <p:pic>
        <p:nvPicPr>
          <p:cNvPr id="8" name="Image 1" descr="/home/claude/coa_ppt/icon_layers_white.png"/>
          <p:cNvPicPr>
            <a:picLocks noChangeAspect="1"/>
          </p:cNvPicPr>
          <p:nvPr/>
        </p:nvPicPr>
        <p:blipFill>
          <a:blip r:embed="rId4"/>
          <a:stretch>
            <a:fillRect/>
          </a:stretch>
        </p:blipFill>
        <p:spPr>
          <a:xfrm>
            <a:off x="2144268" y="4613148"/>
            <a:ext cx="329184" cy="329184"/>
          </a:xfrm>
          <a:prstGeom prst="rect">
            <a:avLst/>
          </a:prstGeom>
        </p:spPr>
      </p:pic>
      <p:sp>
        <p:nvSpPr>
          <p:cNvPr id="9" name="Text 5"/>
          <p:cNvSpPr/>
          <p:nvPr/>
        </p:nvSpPr>
        <p:spPr>
          <a:xfrm>
            <a:off x="731520" y="5193792"/>
            <a:ext cx="3200400" cy="365760"/>
          </a:xfrm>
          <a:prstGeom prst="rect">
            <a:avLst/>
          </a:prstGeom>
          <a:noFill/>
          <a:ln/>
        </p:spPr>
        <p:txBody>
          <a:bodyPr wrap="square" lIns="0" tIns="0" rIns="0" bIns="0" rtlCol="0" anchor="ctr"/>
          <a:lstStyle/>
          <a:p>
            <a:pPr marL="0" indent="0" algn="ctr">
              <a:buNone/>
            </a:pPr>
            <a:r>
              <a:rPr lang="en-US" sz="2000" b="1" dirty="0">
                <a:solidFill>
                  <a:srgbClr val="00D9FF"/>
                </a:solidFill>
                <a:latin typeface="Calibri" pitchFamily="34" charset="0"/>
                <a:ea typeface="Calibri" pitchFamily="34" charset="-122"/>
                <a:cs typeface="Calibri" pitchFamily="34" charset="-120"/>
              </a:rPr>
              <a:t>Instruction-Level (ILP)</a:t>
            </a:r>
            <a:endParaRPr lang="en-US" sz="2000" dirty="0"/>
          </a:p>
        </p:txBody>
      </p:sp>
      <p:sp>
        <p:nvSpPr>
          <p:cNvPr id="10" name="Text 6"/>
          <p:cNvSpPr/>
          <p:nvPr/>
        </p:nvSpPr>
        <p:spPr>
          <a:xfrm>
            <a:off x="731520" y="5559552"/>
            <a:ext cx="3200400" cy="502920"/>
          </a:xfrm>
          <a:prstGeom prst="rect">
            <a:avLst/>
          </a:prstGeom>
          <a:noFill/>
          <a:ln/>
        </p:spPr>
        <p:txBody>
          <a:bodyPr wrap="square" lIns="0" tIns="0" rIns="0" bIns="0" rtlCol="0" anchor="ctr"/>
          <a:lstStyle/>
          <a:p>
            <a:pPr marL="0" indent="0" algn="ctr">
              <a:buNone/>
            </a:pPr>
            <a:r>
              <a:rPr lang="en-US" sz="2000" dirty="0">
                <a:solidFill>
                  <a:srgbClr val="E8EEF7"/>
                </a:solidFill>
                <a:latin typeface="Calibri" pitchFamily="34" charset="0"/>
                <a:ea typeface="Calibri" pitchFamily="34" charset="-122"/>
                <a:cs typeface="Calibri" pitchFamily="34" charset="-120"/>
              </a:rPr>
              <a:t>Overlap multiple instructions within one core</a:t>
            </a:r>
            <a:endParaRPr lang="en-US" sz="2000" dirty="0"/>
          </a:p>
        </p:txBody>
      </p:sp>
      <p:sp>
        <p:nvSpPr>
          <p:cNvPr id="11" name="Shape 7"/>
          <p:cNvSpPr/>
          <p:nvPr/>
        </p:nvSpPr>
        <p:spPr>
          <a:xfrm>
            <a:off x="4343400" y="4251960"/>
            <a:ext cx="3566160" cy="1874520"/>
          </a:xfrm>
          <a:prstGeom prst="roundRect">
            <a:avLst>
              <a:gd name="adj" fmla="val 3902"/>
            </a:avLst>
          </a:prstGeom>
          <a:solidFill>
            <a:srgbClr val="233B63"/>
          </a:solidFill>
          <a:ln w="12700">
            <a:solidFill>
              <a:srgbClr val="233B63"/>
            </a:solidFill>
            <a:prstDash val="solid"/>
          </a:ln>
        </p:spPr>
      </p:sp>
      <p:sp>
        <p:nvSpPr>
          <p:cNvPr id="12" name="Shape 8"/>
          <p:cNvSpPr/>
          <p:nvPr/>
        </p:nvSpPr>
        <p:spPr>
          <a:xfrm>
            <a:off x="5760720" y="4434840"/>
            <a:ext cx="685800" cy="685800"/>
          </a:xfrm>
          <a:prstGeom prst="ellipse">
            <a:avLst/>
          </a:prstGeom>
          <a:solidFill>
            <a:srgbClr val="1B2A4A"/>
          </a:solidFill>
          <a:ln w="12700">
            <a:solidFill>
              <a:srgbClr val="1B2A4A"/>
            </a:solidFill>
            <a:prstDash val="solid"/>
          </a:ln>
        </p:spPr>
      </p:sp>
      <p:pic>
        <p:nvPicPr>
          <p:cNvPr id="13" name="Image 2" descr="/home/claude/coa_ppt/icon_diagram_white.png"/>
          <p:cNvPicPr>
            <a:picLocks noChangeAspect="1"/>
          </p:cNvPicPr>
          <p:nvPr/>
        </p:nvPicPr>
        <p:blipFill>
          <a:blip r:embed="rId5"/>
          <a:stretch>
            <a:fillRect/>
          </a:stretch>
        </p:blipFill>
        <p:spPr>
          <a:xfrm>
            <a:off x="5939028" y="4613148"/>
            <a:ext cx="329184" cy="329184"/>
          </a:xfrm>
          <a:prstGeom prst="rect">
            <a:avLst/>
          </a:prstGeom>
        </p:spPr>
      </p:pic>
      <p:sp>
        <p:nvSpPr>
          <p:cNvPr id="14" name="Text 9"/>
          <p:cNvSpPr/>
          <p:nvPr/>
        </p:nvSpPr>
        <p:spPr>
          <a:xfrm>
            <a:off x="4526280" y="5193792"/>
            <a:ext cx="3200400" cy="365760"/>
          </a:xfrm>
          <a:prstGeom prst="rect">
            <a:avLst/>
          </a:prstGeom>
          <a:noFill/>
          <a:ln/>
        </p:spPr>
        <p:txBody>
          <a:bodyPr wrap="square" lIns="0" tIns="0" rIns="0" bIns="0" rtlCol="0" anchor="ctr"/>
          <a:lstStyle/>
          <a:p>
            <a:pPr marL="0" indent="0" algn="ctr">
              <a:buNone/>
            </a:pPr>
            <a:r>
              <a:rPr lang="en-US" sz="2000" b="1" dirty="0">
                <a:solidFill>
                  <a:srgbClr val="00D9FF"/>
                </a:solidFill>
                <a:latin typeface="Calibri" pitchFamily="34" charset="0"/>
                <a:ea typeface="Calibri" pitchFamily="34" charset="-122"/>
                <a:cs typeface="Calibri" pitchFamily="34" charset="-120"/>
              </a:rPr>
              <a:t>Data-Level (DLP)</a:t>
            </a:r>
            <a:endParaRPr lang="en-US" sz="2000" dirty="0"/>
          </a:p>
        </p:txBody>
      </p:sp>
      <p:sp>
        <p:nvSpPr>
          <p:cNvPr id="15" name="Text 10"/>
          <p:cNvSpPr/>
          <p:nvPr/>
        </p:nvSpPr>
        <p:spPr>
          <a:xfrm>
            <a:off x="4526280" y="5559552"/>
            <a:ext cx="3200400" cy="502920"/>
          </a:xfrm>
          <a:prstGeom prst="rect">
            <a:avLst/>
          </a:prstGeom>
          <a:noFill/>
          <a:ln/>
        </p:spPr>
        <p:txBody>
          <a:bodyPr wrap="square" lIns="0" tIns="0" rIns="0" bIns="0" rtlCol="0" anchor="ctr"/>
          <a:lstStyle/>
          <a:p>
            <a:pPr marL="0" indent="0" algn="ctr">
              <a:buNone/>
            </a:pPr>
            <a:r>
              <a:rPr lang="en-US" sz="2000" dirty="0">
                <a:solidFill>
                  <a:srgbClr val="E8EEF7"/>
                </a:solidFill>
                <a:latin typeface="Calibri" pitchFamily="34" charset="0"/>
                <a:ea typeface="Calibri" pitchFamily="34" charset="-122"/>
                <a:cs typeface="Calibri" pitchFamily="34" charset="-120"/>
              </a:rPr>
              <a:t>Apply one operation to many data items at once</a:t>
            </a:r>
            <a:endParaRPr lang="en-US" sz="2000" dirty="0"/>
          </a:p>
        </p:txBody>
      </p:sp>
      <p:sp>
        <p:nvSpPr>
          <p:cNvPr id="16" name="Shape 11"/>
          <p:cNvSpPr/>
          <p:nvPr/>
        </p:nvSpPr>
        <p:spPr>
          <a:xfrm>
            <a:off x="8138160" y="4251960"/>
            <a:ext cx="3566160" cy="1874520"/>
          </a:xfrm>
          <a:prstGeom prst="roundRect">
            <a:avLst>
              <a:gd name="adj" fmla="val 3902"/>
            </a:avLst>
          </a:prstGeom>
          <a:solidFill>
            <a:srgbClr val="233B63"/>
          </a:solidFill>
          <a:ln w="12700">
            <a:solidFill>
              <a:srgbClr val="233B63"/>
            </a:solidFill>
            <a:prstDash val="solid"/>
          </a:ln>
        </p:spPr>
      </p:sp>
      <p:sp>
        <p:nvSpPr>
          <p:cNvPr id="17" name="Shape 12"/>
          <p:cNvSpPr/>
          <p:nvPr/>
        </p:nvSpPr>
        <p:spPr>
          <a:xfrm>
            <a:off x="9555480" y="4434840"/>
            <a:ext cx="685800" cy="685800"/>
          </a:xfrm>
          <a:prstGeom prst="ellipse">
            <a:avLst/>
          </a:prstGeom>
          <a:solidFill>
            <a:srgbClr val="1B2A4A"/>
          </a:solidFill>
          <a:ln w="12700">
            <a:solidFill>
              <a:srgbClr val="1B2A4A"/>
            </a:solidFill>
            <a:prstDash val="solid"/>
          </a:ln>
        </p:spPr>
      </p:sp>
      <p:pic>
        <p:nvPicPr>
          <p:cNvPr id="18" name="Image 3" descr="/home/claude/coa_ppt/icon_network_white.png"/>
          <p:cNvPicPr>
            <a:picLocks noChangeAspect="1"/>
          </p:cNvPicPr>
          <p:nvPr/>
        </p:nvPicPr>
        <p:blipFill>
          <a:blip r:embed="rId3"/>
          <a:stretch>
            <a:fillRect/>
          </a:stretch>
        </p:blipFill>
        <p:spPr>
          <a:xfrm>
            <a:off x="9733788" y="4613148"/>
            <a:ext cx="329184" cy="329184"/>
          </a:xfrm>
          <a:prstGeom prst="rect">
            <a:avLst/>
          </a:prstGeom>
        </p:spPr>
      </p:pic>
      <p:sp>
        <p:nvSpPr>
          <p:cNvPr id="19" name="Text 13"/>
          <p:cNvSpPr/>
          <p:nvPr/>
        </p:nvSpPr>
        <p:spPr>
          <a:xfrm>
            <a:off x="8321040" y="5193792"/>
            <a:ext cx="3200400" cy="365760"/>
          </a:xfrm>
          <a:prstGeom prst="rect">
            <a:avLst/>
          </a:prstGeom>
          <a:noFill/>
          <a:ln/>
        </p:spPr>
        <p:txBody>
          <a:bodyPr wrap="square" lIns="0" tIns="0" rIns="0" bIns="0" rtlCol="0" anchor="ctr"/>
          <a:lstStyle/>
          <a:p>
            <a:pPr marL="0" indent="0" algn="ctr">
              <a:buNone/>
            </a:pPr>
            <a:r>
              <a:rPr lang="en-US" sz="2000" b="1" dirty="0">
                <a:solidFill>
                  <a:srgbClr val="00D9FF"/>
                </a:solidFill>
                <a:latin typeface="Calibri" pitchFamily="34" charset="0"/>
                <a:ea typeface="Calibri" pitchFamily="34" charset="-122"/>
                <a:cs typeface="Calibri" pitchFamily="34" charset="-120"/>
              </a:rPr>
              <a:t>Thread-Level (TLP)</a:t>
            </a:r>
            <a:endParaRPr lang="en-US" sz="2000" dirty="0"/>
          </a:p>
        </p:txBody>
      </p:sp>
      <p:sp>
        <p:nvSpPr>
          <p:cNvPr id="20" name="Text 14"/>
          <p:cNvSpPr/>
          <p:nvPr/>
        </p:nvSpPr>
        <p:spPr>
          <a:xfrm>
            <a:off x="8321040" y="5559552"/>
            <a:ext cx="3200400" cy="502920"/>
          </a:xfrm>
          <a:prstGeom prst="rect">
            <a:avLst/>
          </a:prstGeom>
          <a:noFill/>
          <a:ln/>
        </p:spPr>
        <p:txBody>
          <a:bodyPr wrap="square" lIns="0" tIns="0" rIns="0" bIns="0" rtlCol="0" anchor="ctr"/>
          <a:lstStyle/>
          <a:p>
            <a:pPr marL="0" indent="0" algn="ctr">
              <a:buNone/>
            </a:pPr>
            <a:r>
              <a:rPr lang="en-US" sz="2000" dirty="0">
                <a:solidFill>
                  <a:srgbClr val="E8EEF7"/>
                </a:solidFill>
                <a:latin typeface="Calibri" pitchFamily="34" charset="0"/>
                <a:ea typeface="Calibri" pitchFamily="34" charset="-122"/>
                <a:cs typeface="Calibri" pitchFamily="34" charset="-120"/>
              </a:rPr>
              <a:t>Run independent threads on separate cores</a:t>
            </a:r>
            <a:endParaRPr lang="en-US" sz="2000" dirty="0"/>
          </a:p>
        </p:txBody>
      </p:sp>
      <p:sp>
        <p:nvSpPr>
          <p:cNvPr id="21" name="Text 15"/>
          <p:cNvSpPr/>
          <p:nvPr/>
        </p:nvSpPr>
        <p:spPr>
          <a:xfrm>
            <a:off x="457200" y="6601968"/>
            <a:ext cx="4572000" cy="256032"/>
          </a:xfrm>
          <a:prstGeom prst="rect">
            <a:avLst/>
          </a:prstGeom>
          <a:noFill/>
          <a:ln/>
        </p:spPr>
        <p:txBody>
          <a:bodyPr wrap="square" lIns="0" tIns="0" rIns="0" bIns="0" rtlCol="0" anchor="ctr"/>
          <a:lstStyle/>
          <a:p>
            <a:pPr marL="0" indent="0" algn="l">
              <a:buNone/>
            </a:pPr>
            <a:r>
              <a:rPr lang="en-US" sz="2000" dirty="0">
                <a:solidFill>
                  <a:srgbClr val="E8EEF7"/>
                </a:solidFill>
                <a:latin typeface="Calibri" pitchFamily="34" charset="0"/>
                <a:ea typeface="Calibri" pitchFamily="34" charset="-122"/>
                <a:cs typeface="Calibri" pitchFamily="34" charset="-120"/>
              </a:rPr>
              <a:t>Presidency University, Bengaluru</a:t>
            </a:r>
            <a:endParaRPr lang="en-US" sz="2000" dirty="0"/>
          </a:p>
        </p:txBody>
      </p:sp>
      <p:sp>
        <p:nvSpPr>
          <p:cNvPr id="22" name="Text 16"/>
          <p:cNvSpPr/>
          <p:nvPr/>
        </p:nvSpPr>
        <p:spPr>
          <a:xfrm>
            <a:off x="9902952" y="6601968"/>
            <a:ext cx="1828800" cy="256032"/>
          </a:xfrm>
          <a:prstGeom prst="rect">
            <a:avLst/>
          </a:prstGeom>
          <a:noFill/>
          <a:ln/>
        </p:spPr>
        <p:txBody>
          <a:bodyPr wrap="square" lIns="0" tIns="0" rIns="0" bIns="0" rtlCol="0" anchor="ctr"/>
          <a:lstStyle/>
          <a:p>
            <a:pPr marL="0" indent="0" algn="r">
              <a:buNone/>
            </a:pPr>
            <a:r>
              <a:rPr lang="en-US" sz="2000" dirty="0">
                <a:solidFill>
                  <a:srgbClr val="E8EEF7"/>
                </a:solidFill>
                <a:latin typeface="Calibri" pitchFamily="34" charset="0"/>
                <a:ea typeface="Calibri" pitchFamily="34" charset="-122"/>
                <a:cs typeface="Calibri" pitchFamily="34" charset="-120"/>
              </a:rPr>
              <a:t>CSS2257</a:t>
            </a:r>
            <a:endParaRPr lang="en-US" sz="20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11480"/>
            <a:ext cx="9601200" cy="868680"/>
          </a:xfrm>
          <a:prstGeom prst="rect">
            <a:avLst/>
          </a:prstGeom>
          <a:noFill/>
          <a:ln/>
        </p:spPr>
        <p:txBody>
          <a:bodyPr wrap="square" lIns="0" tIns="0" rIns="0" bIns="0" rtlCol="0" anchor="ctr"/>
          <a:lstStyle/>
          <a:p>
            <a:pPr marL="0" indent="0" algn="l">
              <a:buNone/>
            </a:pPr>
            <a:r>
              <a:rPr lang="en-US" sz="3400" b="1" dirty="0">
                <a:solidFill>
                  <a:srgbClr val="1B2A4A"/>
                </a:solidFill>
                <a:latin typeface="Cambria" pitchFamily="34" charset="0"/>
                <a:ea typeface="Cambria" pitchFamily="34" charset="-122"/>
                <a:cs typeface="Cambria" pitchFamily="34" charset="-120"/>
              </a:rPr>
              <a:t>Instruction-Level Parallelism — Pipelining</a:t>
            </a:r>
            <a:endParaRPr lang="en-US" sz="3400" dirty="0"/>
          </a:p>
        </p:txBody>
      </p:sp>
      <p:sp>
        <p:nvSpPr>
          <p:cNvPr id="3" name="Shape 1"/>
          <p:cNvSpPr/>
          <p:nvPr/>
        </p:nvSpPr>
        <p:spPr>
          <a:xfrm>
            <a:off x="10607040" y="365760"/>
            <a:ext cx="914400" cy="914400"/>
          </a:xfrm>
          <a:prstGeom prst="ellipse">
            <a:avLst/>
          </a:prstGeom>
          <a:solidFill>
            <a:srgbClr val="1B2A4A"/>
          </a:solidFill>
          <a:ln w="12700">
            <a:solidFill>
              <a:srgbClr val="1B2A4A"/>
            </a:solidFill>
            <a:prstDash val="solid"/>
          </a:ln>
        </p:spPr>
      </p:sp>
      <p:pic>
        <p:nvPicPr>
          <p:cNvPr id="4" name="Image 0" descr="/home/claude/coa_ppt/icon_layers_white.png"/>
          <p:cNvPicPr>
            <a:picLocks noChangeAspect="1"/>
          </p:cNvPicPr>
          <p:nvPr/>
        </p:nvPicPr>
        <p:blipFill>
          <a:blip r:embed="rId3"/>
          <a:stretch>
            <a:fillRect/>
          </a:stretch>
        </p:blipFill>
        <p:spPr>
          <a:xfrm>
            <a:off x="10844784" y="603504"/>
            <a:ext cx="438912" cy="438912"/>
          </a:xfrm>
          <a:prstGeom prst="rect">
            <a:avLst/>
          </a:prstGeom>
        </p:spPr>
      </p:pic>
      <p:sp>
        <p:nvSpPr>
          <p:cNvPr id="5" name="Text 2"/>
          <p:cNvSpPr/>
          <p:nvPr/>
        </p:nvSpPr>
        <p:spPr>
          <a:xfrm>
            <a:off x="548640" y="1417320"/>
            <a:ext cx="11064240" cy="1737360"/>
          </a:xfrm>
          <a:prstGeom prst="rect">
            <a:avLst/>
          </a:prstGeom>
          <a:noFill/>
          <a:ln/>
        </p:spPr>
        <p:txBody>
          <a:bodyPr wrap="square" lIns="0" tIns="0" rIns="0" bIns="0" rtlCol="0" anchor="t"/>
          <a:lstStyle/>
          <a:p>
            <a:pPr marL="279400" indent="-279400">
              <a:lnSpc>
                <a:spcPct val="108000"/>
              </a:lnSpc>
              <a:spcAft>
                <a:spcPts val="1200"/>
              </a:spcAft>
              <a:buSzPct val="100000"/>
              <a:buChar char="•"/>
            </a:pPr>
            <a:r>
              <a:rPr lang="en-US" sz="2000" dirty="0">
                <a:solidFill>
                  <a:srgbClr val="1B2A4A"/>
                </a:solidFill>
                <a:latin typeface="Calibri" pitchFamily="34" charset="0"/>
                <a:ea typeface="Calibri" pitchFamily="34" charset="-122"/>
                <a:cs typeface="Calibri" pitchFamily="34" charset="-120"/>
              </a:rPr>
              <a:t>Pipelining overlaps the execution stages of multiple instructions, like an assembly line</a:t>
            </a:r>
            <a:endParaRPr lang="en-US" sz="2000" dirty="0"/>
          </a:p>
          <a:p>
            <a:pPr marL="279400" indent="-279400">
              <a:lnSpc>
                <a:spcPct val="108000"/>
              </a:lnSpc>
              <a:spcAft>
                <a:spcPts val="1200"/>
              </a:spcAft>
              <a:buSzPct val="100000"/>
              <a:buChar char="•"/>
            </a:pPr>
            <a:r>
              <a:rPr lang="en-US" sz="2000" dirty="0">
                <a:solidFill>
                  <a:srgbClr val="1B2A4A"/>
                </a:solidFill>
                <a:latin typeface="Calibri" pitchFamily="34" charset="0"/>
                <a:ea typeface="Calibri" pitchFamily="34" charset="-122"/>
                <a:cs typeface="Calibri" pitchFamily="34" charset="-120"/>
              </a:rPr>
              <a:t>Classic 5 stages: Fetch → Decode → Execute → Memory Access → Write Back</a:t>
            </a:r>
            <a:endParaRPr lang="en-US" sz="2000" dirty="0"/>
          </a:p>
          <a:p>
            <a:pPr marL="279400" indent="-279400">
              <a:lnSpc>
                <a:spcPct val="108000"/>
              </a:lnSpc>
              <a:spcAft>
                <a:spcPts val="1200"/>
              </a:spcAft>
              <a:buSzPct val="100000"/>
              <a:buChar char="•"/>
            </a:pPr>
            <a:r>
              <a:rPr lang="en-US" sz="2000" dirty="0">
                <a:solidFill>
                  <a:srgbClr val="1B2A4A"/>
                </a:solidFill>
                <a:latin typeface="Calibri" pitchFamily="34" charset="0"/>
                <a:ea typeface="Calibri" pitchFamily="34" charset="-122"/>
                <a:cs typeface="Calibri" pitchFamily="34" charset="-120"/>
              </a:rPr>
              <a:t>While one instruction is being decoded, the next is already being fetched — no cycle is wasted waiting idle</a:t>
            </a:r>
            <a:endParaRPr lang="en-US" sz="2000" dirty="0"/>
          </a:p>
        </p:txBody>
      </p:sp>
      <p:sp>
        <p:nvSpPr>
          <p:cNvPr id="6" name="Shape 3"/>
          <p:cNvSpPr/>
          <p:nvPr/>
        </p:nvSpPr>
        <p:spPr>
          <a:xfrm>
            <a:off x="548640" y="3383280"/>
            <a:ext cx="1920240" cy="777240"/>
          </a:xfrm>
          <a:prstGeom prst="roundRect">
            <a:avLst>
              <a:gd name="adj" fmla="val 7059"/>
            </a:avLst>
          </a:prstGeom>
          <a:solidFill>
            <a:srgbClr val="1B2A4A"/>
          </a:solidFill>
          <a:ln w="12700">
            <a:solidFill>
              <a:srgbClr val="1B2A4A"/>
            </a:solidFill>
            <a:prstDash val="solid"/>
          </a:ln>
        </p:spPr>
      </p:sp>
      <p:sp>
        <p:nvSpPr>
          <p:cNvPr id="7" name="Text 4"/>
          <p:cNvSpPr/>
          <p:nvPr/>
        </p:nvSpPr>
        <p:spPr>
          <a:xfrm>
            <a:off x="548640" y="3383280"/>
            <a:ext cx="1920240" cy="777240"/>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Fetch</a:t>
            </a:r>
            <a:endParaRPr lang="en-US" sz="2000" dirty="0"/>
          </a:p>
        </p:txBody>
      </p:sp>
      <p:sp>
        <p:nvSpPr>
          <p:cNvPr id="8" name="Shape 5"/>
          <p:cNvSpPr/>
          <p:nvPr/>
        </p:nvSpPr>
        <p:spPr>
          <a:xfrm>
            <a:off x="2450592" y="3566160"/>
            <a:ext cx="274320" cy="411480"/>
          </a:xfrm>
          <a:prstGeom prst="rightArrow">
            <a:avLst/>
          </a:prstGeom>
          <a:solidFill>
            <a:srgbClr val="5B6B84"/>
          </a:solidFill>
          <a:ln w="12700">
            <a:solidFill>
              <a:srgbClr val="5B6B84"/>
            </a:solidFill>
            <a:prstDash val="solid"/>
          </a:ln>
        </p:spPr>
      </p:sp>
      <p:sp>
        <p:nvSpPr>
          <p:cNvPr id="9" name="Shape 6"/>
          <p:cNvSpPr/>
          <p:nvPr/>
        </p:nvSpPr>
        <p:spPr>
          <a:xfrm>
            <a:off x="2724912" y="3383280"/>
            <a:ext cx="1920240" cy="777240"/>
          </a:xfrm>
          <a:prstGeom prst="roundRect">
            <a:avLst>
              <a:gd name="adj" fmla="val 7059"/>
            </a:avLst>
          </a:prstGeom>
          <a:solidFill>
            <a:srgbClr val="2E4A78"/>
          </a:solidFill>
          <a:ln w="12700">
            <a:solidFill>
              <a:srgbClr val="2E4A78"/>
            </a:solidFill>
            <a:prstDash val="solid"/>
          </a:ln>
        </p:spPr>
      </p:sp>
      <p:sp>
        <p:nvSpPr>
          <p:cNvPr id="10" name="Text 7"/>
          <p:cNvSpPr/>
          <p:nvPr/>
        </p:nvSpPr>
        <p:spPr>
          <a:xfrm>
            <a:off x="2724912" y="3383280"/>
            <a:ext cx="1920240" cy="777240"/>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Decode</a:t>
            </a:r>
            <a:endParaRPr lang="en-US" sz="2000" dirty="0"/>
          </a:p>
        </p:txBody>
      </p:sp>
      <p:sp>
        <p:nvSpPr>
          <p:cNvPr id="11" name="Shape 8"/>
          <p:cNvSpPr/>
          <p:nvPr/>
        </p:nvSpPr>
        <p:spPr>
          <a:xfrm>
            <a:off x="4626864" y="3566160"/>
            <a:ext cx="274320" cy="411480"/>
          </a:xfrm>
          <a:prstGeom prst="rightArrow">
            <a:avLst/>
          </a:prstGeom>
          <a:solidFill>
            <a:srgbClr val="5B6B84"/>
          </a:solidFill>
          <a:ln w="12700">
            <a:solidFill>
              <a:srgbClr val="5B6B84"/>
            </a:solidFill>
            <a:prstDash val="solid"/>
          </a:ln>
        </p:spPr>
      </p:sp>
      <p:sp>
        <p:nvSpPr>
          <p:cNvPr id="12" name="Shape 9"/>
          <p:cNvSpPr/>
          <p:nvPr/>
        </p:nvSpPr>
        <p:spPr>
          <a:xfrm>
            <a:off x="4901184" y="3383280"/>
            <a:ext cx="1920240" cy="777240"/>
          </a:xfrm>
          <a:prstGeom prst="roundRect">
            <a:avLst>
              <a:gd name="adj" fmla="val 7059"/>
            </a:avLst>
          </a:prstGeom>
          <a:solidFill>
            <a:srgbClr val="00D9FF"/>
          </a:solidFill>
          <a:ln w="12700">
            <a:solidFill>
              <a:srgbClr val="00D9FF"/>
            </a:solidFill>
            <a:prstDash val="solid"/>
          </a:ln>
        </p:spPr>
      </p:sp>
      <p:sp>
        <p:nvSpPr>
          <p:cNvPr id="13" name="Text 10"/>
          <p:cNvSpPr/>
          <p:nvPr/>
        </p:nvSpPr>
        <p:spPr>
          <a:xfrm>
            <a:off x="4901184" y="3383280"/>
            <a:ext cx="1920240" cy="777240"/>
          </a:xfrm>
          <a:prstGeom prst="rect">
            <a:avLst/>
          </a:prstGeom>
          <a:noFill/>
          <a:ln/>
        </p:spPr>
        <p:txBody>
          <a:bodyPr wrap="square" lIns="0" tIns="0" rIns="0" bIns="0" rtlCol="0" anchor="ctr"/>
          <a:lstStyle/>
          <a:p>
            <a:pPr marL="0" indent="0" algn="ctr">
              <a:buNone/>
            </a:pPr>
            <a:r>
              <a:rPr lang="en-US" sz="2000" b="1" dirty="0">
                <a:solidFill>
                  <a:srgbClr val="1B2A4A"/>
                </a:solidFill>
                <a:latin typeface="Calibri" pitchFamily="34" charset="0"/>
                <a:ea typeface="Calibri" pitchFamily="34" charset="-122"/>
                <a:cs typeface="Calibri" pitchFamily="34" charset="-120"/>
              </a:rPr>
              <a:t>Execute</a:t>
            </a:r>
            <a:endParaRPr lang="en-US" sz="2000" dirty="0"/>
          </a:p>
        </p:txBody>
      </p:sp>
      <p:sp>
        <p:nvSpPr>
          <p:cNvPr id="14" name="Shape 11"/>
          <p:cNvSpPr/>
          <p:nvPr/>
        </p:nvSpPr>
        <p:spPr>
          <a:xfrm>
            <a:off x="6803136" y="3566160"/>
            <a:ext cx="274320" cy="411480"/>
          </a:xfrm>
          <a:prstGeom prst="rightArrow">
            <a:avLst/>
          </a:prstGeom>
          <a:solidFill>
            <a:srgbClr val="5B6B84"/>
          </a:solidFill>
          <a:ln w="12700">
            <a:solidFill>
              <a:srgbClr val="5B6B84"/>
            </a:solidFill>
            <a:prstDash val="solid"/>
          </a:ln>
        </p:spPr>
      </p:sp>
      <p:sp>
        <p:nvSpPr>
          <p:cNvPr id="15" name="Shape 12"/>
          <p:cNvSpPr/>
          <p:nvPr/>
        </p:nvSpPr>
        <p:spPr>
          <a:xfrm>
            <a:off x="7077456" y="3383280"/>
            <a:ext cx="1920240" cy="777240"/>
          </a:xfrm>
          <a:prstGeom prst="roundRect">
            <a:avLst>
              <a:gd name="adj" fmla="val 7059"/>
            </a:avLst>
          </a:prstGeom>
          <a:solidFill>
            <a:srgbClr val="2E4A78"/>
          </a:solidFill>
          <a:ln w="12700">
            <a:solidFill>
              <a:srgbClr val="2E4A78"/>
            </a:solidFill>
            <a:prstDash val="solid"/>
          </a:ln>
        </p:spPr>
      </p:sp>
      <p:sp>
        <p:nvSpPr>
          <p:cNvPr id="16" name="Text 13"/>
          <p:cNvSpPr/>
          <p:nvPr/>
        </p:nvSpPr>
        <p:spPr>
          <a:xfrm>
            <a:off x="7077456" y="3383280"/>
            <a:ext cx="1920240" cy="777240"/>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Memory</a:t>
            </a:r>
            <a:endParaRPr lang="en-US" sz="2000" dirty="0"/>
          </a:p>
        </p:txBody>
      </p:sp>
      <p:sp>
        <p:nvSpPr>
          <p:cNvPr id="17" name="Shape 14"/>
          <p:cNvSpPr/>
          <p:nvPr/>
        </p:nvSpPr>
        <p:spPr>
          <a:xfrm>
            <a:off x="8979408" y="3566160"/>
            <a:ext cx="274320" cy="411480"/>
          </a:xfrm>
          <a:prstGeom prst="rightArrow">
            <a:avLst/>
          </a:prstGeom>
          <a:solidFill>
            <a:srgbClr val="5B6B84"/>
          </a:solidFill>
          <a:ln w="12700">
            <a:solidFill>
              <a:srgbClr val="5B6B84"/>
            </a:solidFill>
            <a:prstDash val="solid"/>
          </a:ln>
        </p:spPr>
      </p:sp>
      <p:sp>
        <p:nvSpPr>
          <p:cNvPr id="18" name="Shape 15"/>
          <p:cNvSpPr/>
          <p:nvPr/>
        </p:nvSpPr>
        <p:spPr>
          <a:xfrm>
            <a:off x="9253728" y="3383280"/>
            <a:ext cx="1920240" cy="777240"/>
          </a:xfrm>
          <a:prstGeom prst="roundRect">
            <a:avLst>
              <a:gd name="adj" fmla="val 7059"/>
            </a:avLst>
          </a:prstGeom>
          <a:solidFill>
            <a:srgbClr val="1B2A4A"/>
          </a:solidFill>
          <a:ln w="12700">
            <a:solidFill>
              <a:srgbClr val="1B2A4A"/>
            </a:solidFill>
            <a:prstDash val="solid"/>
          </a:ln>
        </p:spPr>
      </p:sp>
      <p:sp>
        <p:nvSpPr>
          <p:cNvPr id="19" name="Text 16"/>
          <p:cNvSpPr/>
          <p:nvPr/>
        </p:nvSpPr>
        <p:spPr>
          <a:xfrm>
            <a:off x="9253728" y="3383280"/>
            <a:ext cx="1920240" cy="777240"/>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Write Back</a:t>
            </a:r>
            <a:endParaRPr lang="en-US" sz="2000" dirty="0"/>
          </a:p>
        </p:txBody>
      </p:sp>
      <p:sp>
        <p:nvSpPr>
          <p:cNvPr id="20" name="Text 17"/>
          <p:cNvSpPr/>
          <p:nvPr/>
        </p:nvSpPr>
        <p:spPr>
          <a:xfrm>
            <a:off x="548640" y="4434840"/>
            <a:ext cx="11064240" cy="1965960"/>
          </a:xfrm>
          <a:prstGeom prst="rect">
            <a:avLst/>
          </a:prstGeom>
          <a:noFill/>
          <a:ln/>
        </p:spPr>
        <p:txBody>
          <a:bodyPr wrap="square" lIns="0" tIns="0" rIns="0" bIns="0" rtlCol="0" anchor="ctr"/>
          <a:lstStyle/>
          <a:p>
            <a:pPr marL="0" indent="0">
              <a:lnSpc>
                <a:spcPct val="125000"/>
              </a:lnSpc>
              <a:buNone/>
            </a:pPr>
            <a:r>
              <a:rPr lang="en-US" sz="2000" dirty="0">
                <a:solidFill>
                  <a:srgbClr val="1B2A4A"/>
                </a:solidFill>
                <a:latin typeface="Calibri" pitchFamily="34" charset="0"/>
                <a:ea typeface="Calibri" pitchFamily="34" charset="-122"/>
                <a:cs typeface="Calibri" pitchFamily="34" charset="-120"/>
              </a:rPr>
              <a:t>Without pipelining: each instruction finishes fully before the next begins — 4 instructions take 4 × 5 = 20 cycles.</a:t>
            </a:r>
            <a:endParaRPr lang="en-US" sz="2000" dirty="0"/>
          </a:p>
          <a:p>
            <a:pPr marL="0" indent="0">
              <a:lnSpc>
                <a:spcPct val="125000"/>
              </a:lnSpc>
              <a:buNone/>
            </a:pPr>
            <a:r>
              <a:rPr lang="en-US" sz="2000" dirty="0">
                <a:solidFill>
                  <a:srgbClr val="1B2A4A"/>
                </a:solidFill>
                <a:latin typeface="Calibri" pitchFamily="34" charset="0"/>
                <a:ea typeface="Calibri" pitchFamily="34" charset="-122"/>
                <a:cs typeface="Calibri" pitchFamily="34" charset="-120"/>
              </a:rPr>
              <a:t>With pipelining: stages overlap — 4 instructions finish in roughly 5 + (4−1) = 8 cycles, a large speedup.</a:t>
            </a:r>
            <a:endParaRPr lang="en-US" sz="2000" dirty="0"/>
          </a:p>
        </p:txBody>
      </p:sp>
      <p:sp>
        <p:nvSpPr>
          <p:cNvPr id="21" name="Text 18"/>
          <p:cNvSpPr/>
          <p:nvPr/>
        </p:nvSpPr>
        <p:spPr>
          <a:xfrm>
            <a:off x="457200" y="6601968"/>
            <a:ext cx="4572000" cy="256032"/>
          </a:xfrm>
          <a:prstGeom prst="rect">
            <a:avLst/>
          </a:prstGeom>
          <a:noFill/>
          <a:ln/>
        </p:spPr>
        <p:txBody>
          <a:bodyPr wrap="square" lIns="0" tIns="0" rIns="0" bIns="0" rtlCol="0" anchor="ctr"/>
          <a:lstStyle/>
          <a:p>
            <a:pPr marL="0" indent="0" algn="l">
              <a:buNone/>
            </a:pPr>
            <a:r>
              <a:rPr lang="en-US" sz="2000" dirty="0">
                <a:solidFill>
                  <a:srgbClr val="5B6B84"/>
                </a:solidFill>
                <a:latin typeface="Calibri" pitchFamily="34" charset="0"/>
                <a:ea typeface="Calibri" pitchFamily="34" charset="-122"/>
                <a:cs typeface="Calibri" pitchFamily="34" charset="-120"/>
              </a:rPr>
              <a:t>Presidency University, Bengaluru</a:t>
            </a:r>
            <a:endParaRPr lang="en-US" sz="2000" dirty="0"/>
          </a:p>
        </p:txBody>
      </p:sp>
      <p:sp>
        <p:nvSpPr>
          <p:cNvPr id="22" name="Text 19"/>
          <p:cNvSpPr/>
          <p:nvPr/>
        </p:nvSpPr>
        <p:spPr>
          <a:xfrm>
            <a:off x="9902952" y="6601968"/>
            <a:ext cx="1828800" cy="256032"/>
          </a:xfrm>
          <a:prstGeom prst="rect">
            <a:avLst/>
          </a:prstGeom>
          <a:noFill/>
          <a:ln/>
        </p:spPr>
        <p:txBody>
          <a:bodyPr wrap="square" lIns="0" tIns="0" rIns="0" bIns="0" rtlCol="0" anchor="ctr"/>
          <a:lstStyle/>
          <a:p>
            <a:pPr marL="0" indent="0" algn="r">
              <a:buNone/>
            </a:pPr>
            <a:r>
              <a:rPr lang="en-US" sz="2000" dirty="0">
                <a:solidFill>
                  <a:srgbClr val="5B6B84"/>
                </a:solidFill>
                <a:latin typeface="Calibri" pitchFamily="34" charset="0"/>
                <a:ea typeface="Calibri" pitchFamily="34" charset="-122"/>
                <a:cs typeface="Calibri" pitchFamily="34" charset="-120"/>
              </a:rPr>
              <a:t>CSS2257</a:t>
            </a:r>
            <a:endParaRPr lang="en-US" sz="20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11480"/>
            <a:ext cx="9601200" cy="868680"/>
          </a:xfrm>
          <a:prstGeom prst="rect">
            <a:avLst/>
          </a:prstGeom>
          <a:noFill/>
          <a:ln/>
        </p:spPr>
        <p:txBody>
          <a:bodyPr wrap="square" lIns="0" tIns="0" rIns="0" bIns="0" rtlCol="0" anchor="ctr"/>
          <a:lstStyle/>
          <a:p>
            <a:pPr marL="0" indent="0" algn="l">
              <a:buNone/>
            </a:pPr>
            <a:r>
              <a:rPr lang="en-US" sz="3400" b="1" dirty="0">
                <a:solidFill>
                  <a:srgbClr val="1B2A4A"/>
                </a:solidFill>
                <a:latin typeface="Cambria" pitchFamily="34" charset="0"/>
                <a:ea typeface="Cambria" pitchFamily="34" charset="-122"/>
                <a:cs typeface="Cambria" pitchFamily="34" charset="-120"/>
              </a:rPr>
              <a:t>Data-Level Parallelism — SIMD</a:t>
            </a:r>
            <a:endParaRPr lang="en-US" sz="3400" dirty="0"/>
          </a:p>
        </p:txBody>
      </p:sp>
      <p:sp>
        <p:nvSpPr>
          <p:cNvPr id="3" name="Shape 1"/>
          <p:cNvSpPr/>
          <p:nvPr/>
        </p:nvSpPr>
        <p:spPr>
          <a:xfrm>
            <a:off x="10607040" y="365760"/>
            <a:ext cx="914400" cy="914400"/>
          </a:xfrm>
          <a:prstGeom prst="ellipse">
            <a:avLst/>
          </a:prstGeom>
          <a:solidFill>
            <a:srgbClr val="1B2A4A"/>
          </a:solidFill>
          <a:ln w="12700">
            <a:solidFill>
              <a:srgbClr val="1B2A4A"/>
            </a:solidFill>
            <a:prstDash val="solid"/>
          </a:ln>
        </p:spPr>
      </p:sp>
      <p:pic>
        <p:nvPicPr>
          <p:cNvPr id="4" name="Image 0" descr="/home/claude/coa_ppt/icon_diagram_white.png"/>
          <p:cNvPicPr>
            <a:picLocks noChangeAspect="1"/>
          </p:cNvPicPr>
          <p:nvPr/>
        </p:nvPicPr>
        <p:blipFill>
          <a:blip r:embed="rId3"/>
          <a:stretch>
            <a:fillRect/>
          </a:stretch>
        </p:blipFill>
        <p:spPr>
          <a:xfrm>
            <a:off x="10844784" y="603504"/>
            <a:ext cx="438912" cy="438912"/>
          </a:xfrm>
          <a:prstGeom prst="rect">
            <a:avLst/>
          </a:prstGeom>
        </p:spPr>
      </p:pic>
      <p:sp>
        <p:nvSpPr>
          <p:cNvPr id="5" name="Text 2"/>
          <p:cNvSpPr/>
          <p:nvPr/>
        </p:nvSpPr>
        <p:spPr>
          <a:xfrm>
            <a:off x="548640" y="1417320"/>
            <a:ext cx="6492240" cy="4754880"/>
          </a:xfrm>
          <a:prstGeom prst="rect">
            <a:avLst/>
          </a:prstGeom>
          <a:noFill/>
          <a:ln/>
        </p:spPr>
        <p:txBody>
          <a:bodyPr wrap="square" lIns="0" tIns="0" rIns="0" bIns="0" rtlCol="0" anchor="t"/>
          <a:lstStyle/>
          <a:p>
            <a:pPr marL="279400" indent="-279400">
              <a:lnSpc>
                <a:spcPct val="108000"/>
              </a:lnSpc>
              <a:spcAft>
                <a:spcPts val="1400"/>
              </a:spcAft>
              <a:buSzPct val="100000"/>
              <a:buChar char="•"/>
            </a:pPr>
            <a:r>
              <a:rPr lang="en-US" sz="2000" dirty="0">
                <a:solidFill>
                  <a:srgbClr val="1B2A4A"/>
                </a:solidFill>
                <a:latin typeface="Calibri" pitchFamily="34" charset="0"/>
                <a:ea typeface="Calibri" pitchFamily="34" charset="-122"/>
                <a:cs typeface="Calibri" pitchFamily="34" charset="-120"/>
              </a:rPr>
              <a:t>SIMD = Single Instruction, Multiple Data — one instruction operates on several data elements simultaneously</a:t>
            </a:r>
            <a:endParaRPr lang="en-US" sz="2000" dirty="0"/>
          </a:p>
          <a:p>
            <a:pPr marL="279400" indent="-279400">
              <a:lnSpc>
                <a:spcPct val="108000"/>
              </a:lnSpc>
              <a:spcAft>
                <a:spcPts val="1400"/>
              </a:spcAft>
              <a:buSzPct val="100000"/>
              <a:buChar char="•"/>
            </a:pPr>
            <a:r>
              <a:rPr lang="en-US" sz="2000" dirty="0">
                <a:solidFill>
                  <a:srgbClr val="1B2A4A"/>
                </a:solidFill>
                <a:latin typeface="Calibri" pitchFamily="34" charset="0"/>
                <a:ea typeface="Calibri" pitchFamily="34" charset="-122"/>
                <a:cs typeface="Calibri" pitchFamily="34" charset="-120"/>
              </a:rPr>
              <a:t>Common in graphics processing, image filters, and scientific computing where the same operation repeats over large arrays</a:t>
            </a:r>
            <a:endParaRPr lang="en-US" sz="2000" dirty="0"/>
          </a:p>
          <a:p>
            <a:pPr marL="279400" indent="-279400">
              <a:lnSpc>
                <a:spcPct val="108000"/>
              </a:lnSpc>
              <a:spcAft>
                <a:spcPts val="1400"/>
              </a:spcAft>
              <a:buSzPct val="100000"/>
              <a:buChar char="•"/>
            </a:pPr>
            <a:r>
              <a:rPr lang="en-US" sz="2000" dirty="0">
                <a:solidFill>
                  <a:srgbClr val="1B2A4A"/>
                </a:solidFill>
                <a:latin typeface="Calibri" pitchFamily="34" charset="0"/>
                <a:ea typeface="Calibri" pitchFamily="34" charset="-122"/>
                <a:cs typeface="Calibri" pitchFamily="34" charset="-120"/>
              </a:rPr>
              <a:t>Modern CPUs include SIMD extensions (e.g., wide vector units); GPUs take this idea to an extreme with thousands of parallel lanes</a:t>
            </a:r>
            <a:endParaRPr lang="en-US" sz="2000" dirty="0"/>
          </a:p>
        </p:txBody>
      </p:sp>
      <p:sp>
        <p:nvSpPr>
          <p:cNvPr id="6" name="Shape 3"/>
          <p:cNvSpPr/>
          <p:nvPr/>
        </p:nvSpPr>
        <p:spPr>
          <a:xfrm>
            <a:off x="7315200" y="1554480"/>
            <a:ext cx="4343400" cy="4480560"/>
          </a:xfrm>
          <a:prstGeom prst="roundRect">
            <a:avLst>
              <a:gd name="adj" fmla="val 1684"/>
            </a:avLst>
          </a:prstGeom>
          <a:solidFill>
            <a:srgbClr val="E8EEF7"/>
          </a:solidFill>
          <a:ln w="12700">
            <a:solidFill>
              <a:srgbClr val="E8EEF7"/>
            </a:solidFill>
            <a:prstDash val="solid"/>
          </a:ln>
        </p:spPr>
      </p:sp>
      <p:sp>
        <p:nvSpPr>
          <p:cNvPr id="7" name="Text 4"/>
          <p:cNvSpPr/>
          <p:nvPr/>
        </p:nvSpPr>
        <p:spPr>
          <a:xfrm>
            <a:off x="7543800" y="1737360"/>
            <a:ext cx="3886200" cy="548640"/>
          </a:xfrm>
          <a:prstGeom prst="rect">
            <a:avLst/>
          </a:prstGeom>
          <a:noFill/>
          <a:ln/>
        </p:spPr>
        <p:txBody>
          <a:bodyPr wrap="square" lIns="0" tIns="0" rIns="0" bIns="0" rtlCol="0" anchor="ctr"/>
          <a:lstStyle/>
          <a:p>
            <a:pPr marL="0" indent="0">
              <a:buNone/>
            </a:pPr>
            <a:r>
              <a:rPr lang="en-US" sz="2000" b="1" dirty="0">
                <a:solidFill>
                  <a:srgbClr val="1B2A4A"/>
                </a:solidFill>
                <a:latin typeface="Calibri" pitchFamily="34" charset="0"/>
                <a:ea typeface="Calibri" pitchFamily="34" charset="-122"/>
                <a:cs typeface="Calibri" pitchFamily="34" charset="-120"/>
              </a:rPr>
              <a:t>ADD instruction, applied to 4 pairs at once:</a:t>
            </a:r>
            <a:endParaRPr lang="en-US" sz="2000" dirty="0"/>
          </a:p>
        </p:txBody>
      </p:sp>
      <p:sp>
        <p:nvSpPr>
          <p:cNvPr id="8" name="Shape 5"/>
          <p:cNvSpPr/>
          <p:nvPr/>
        </p:nvSpPr>
        <p:spPr>
          <a:xfrm>
            <a:off x="7589520" y="2468880"/>
            <a:ext cx="548640" cy="502920"/>
          </a:xfrm>
          <a:prstGeom prst="rect">
            <a:avLst/>
          </a:prstGeom>
          <a:solidFill>
            <a:srgbClr val="1B2A4A"/>
          </a:solidFill>
          <a:ln w="12700">
            <a:solidFill>
              <a:srgbClr val="1B2A4A"/>
            </a:solidFill>
            <a:prstDash val="solid"/>
          </a:ln>
        </p:spPr>
      </p:sp>
      <p:sp>
        <p:nvSpPr>
          <p:cNvPr id="9" name="Text 6"/>
          <p:cNvSpPr/>
          <p:nvPr/>
        </p:nvSpPr>
        <p:spPr>
          <a:xfrm>
            <a:off x="7589520" y="2468880"/>
            <a:ext cx="548640" cy="502920"/>
          </a:xfrm>
          <a:prstGeom prst="rect">
            <a:avLst/>
          </a:prstGeom>
          <a:noFill/>
          <a:ln/>
        </p:spPr>
        <p:txBody>
          <a:bodyPr wrap="square" lIns="0" tIns="0" rIns="0" bIns="0" rtlCol="0" anchor="ctr"/>
          <a:lstStyle/>
          <a:p>
            <a:pPr marL="0" indent="0" algn="ctr">
              <a:buNone/>
            </a:pPr>
            <a:r>
              <a:rPr lang="en-US" sz="2000" dirty="0">
                <a:solidFill>
                  <a:srgbClr val="FFFFFF"/>
                </a:solidFill>
                <a:latin typeface="Calibri" pitchFamily="34" charset="0"/>
                <a:ea typeface="Calibri" pitchFamily="34" charset="-122"/>
                <a:cs typeface="Calibri" pitchFamily="34" charset="-120"/>
              </a:rPr>
              <a:t>2</a:t>
            </a:r>
            <a:endParaRPr lang="en-US" sz="2000" dirty="0"/>
          </a:p>
        </p:txBody>
      </p:sp>
      <p:sp>
        <p:nvSpPr>
          <p:cNvPr id="10" name="Text 7"/>
          <p:cNvSpPr/>
          <p:nvPr/>
        </p:nvSpPr>
        <p:spPr>
          <a:xfrm>
            <a:off x="8229600" y="2468880"/>
            <a:ext cx="274320" cy="502920"/>
          </a:xfrm>
          <a:prstGeom prst="rect">
            <a:avLst/>
          </a:prstGeom>
          <a:noFill/>
          <a:ln/>
        </p:spPr>
        <p:txBody>
          <a:bodyPr wrap="square" lIns="0" tIns="0" rIns="0" bIns="0" rtlCol="0" anchor="ctr"/>
          <a:lstStyle/>
          <a:p>
            <a:pPr marL="0" indent="0" algn="ctr">
              <a:buNone/>
            </a:pPr>
            <a:r>
              <a:rPr lang="en-US" sz="2000" dirty="0">
                <a:solidFill>
                  <a:srgbClr val="5B6B84"/>
                </a:solidFill>
                <a:latin typeface="Calibri" pitchFamily="34" charset="0"/>
                <a:ea typeface="Calibri" pitchFamily="34" charset="-122"/>
                <a:cs typeface="Calibri" pitchFamily="34" charset="-120"/>
              </a:rPr>
              <a:t>+</a:t>
            </a:r>
            <a:endParaRPr lang="en-US" sz="2000" dirty="0"/>
          </a:p>
        </p:txBody>
      </p:sp>
      <p:sp>
        <p:nvSpPr>
          <p:cNvPr id="11" name="Shape 8"/>
          <p:cNvSpPr/>
          <p:nvPr/>
        </p:nvSpPr>
        <p:spPr>
          <a:xfrm>
            <a:off x="8549640" y="2468880"/>
            <a:ext cx="548640" cy="502920"/>
          </a:xfrm>
          <a:prstGeom prst="rect">
            <a:avLst/>
          </a:prstGeom>
          <a:solidFill>
            <a:srgbClr val="1B2A4A"/>
          </a:solidFill>
          <a:ln w="12700">
            <a:solidFill>
              <a:srgbClr val="1B2A4A"/>
            </a:solidFill>
            <a:prstDash val="solid"/>
          </a:ln>
        </p:spPr>
      </p:sp>
      <p:sp>
        <p:nvSpPr>
          <p:cNvPr id="12" name="Text 9"/>
          <p:cNvSpPr/>
          <p:nvPr/>
        </p:nvSpPr>
        <p:spPr>
          <a:xfrm>
            <a:off x="8549640" y="2468880"/>
            <a:ext cx="548640" cy="502920"/>
          </a:xfrm>
          <a:prstGeom prst="rect">
            <a:avLst/>
          </a:prstGeom>
          <a:noFill/>
          <a:ln/>
        </p:spPr>
        <p:txBody>
          <a:bodyPr wrap="square" lIns="0" tIns="0" rIns="0" bIns="0" rtlCol="0" anchor="ctr"/>
          <a:lstStyle/>
          <a:p>
            <a:pPr marL="0" indent="0" algn="ctr">
              <a:buNone/>
            </a:pPr>
            <a:r>
              <a:rPr lang="en-US" sz="2000" dirty="0">
                <a:solidFill>
                  <a:srgbClr val="FFFFFF"/>
                </a:solidFill>
                <a:latin typeface="Calibri" pitchFamily="34" charset="0"/>
                <a:ea typeface="Calibri" pitchFamily="34" charset="-122"/>
                <a:cs typeface="Calibri" pitchFamily="34" charset="-120"/>
              </a:rPr>
              <a:t>3</a:t>
            </a:r>
            <a:endParaRPr lang="en-US" sz="2000" dirty="0"/>
          </a:p>
        </p:txBody>
      </p:sp>
      <p:sp>
        <p:nvSpPr>
          <p:cNvPr id="13" name="Text 10"/>
          <p:cNvSpPr/>
          <p:nvPr/>
        </p:nvSpPr>
        <p:spPr>
          <a:xfrm>
            <a:off x="9189720" y="2468880"/>
            <a:ext cx="274320" cy="502920"/>
          </a:xfrm>
          <a:prstGeom prst="rect">
            <a:avLst/>
          </a:prstGeom>
          <a:noFill/>
          <a:ln/>
        </p:spPr>
        <p:txBody>
          <a:bodyPr wrap="square" lIns="0" tIns="0" rIns="0" bIns="0" rtlCol="0" anchor="ctr"/>
          <a:lstStyle/>
          <a:p>
            <a:pPr marL="0" indent="0" algn="ctr">
              <a:buNone/>
            </a:pPr>
            <a:r>
              <a:rPr lang="en-US" sz="2000" dirty="0">
                <a:solidFill>
                  <a:srgbClr val="5B6B84"/>
                </a:solidFill>
                <a:latin typeface="Calibri" pitchFamily="34" charset="0"/>
                <a:ea typeface="Calibri" pitchFamily="34" charset="-122"/>
                <a:cs typeface="Calibri" pitchFamily="34" charset="-120"/>
              </a:rPr>
              <a:t>=</a:t>
            </a:r>
            <a:endParaRPr lang="en-US" sz="2000" dirty="0"/>
          </a:p>
        </p:txBody>
      </p:sp>
      <p:sp>
        <p:nvSpPr>
          <p:cNvPr id="14" name="Shape 11"/>
          <p:cNvSpPr/>
          <p:nvPr/>
        </p:nvSpPr>
        <p:spPr>
          <a:xfrm>
            <a:off x="9509760" y="2468880"/>
            <a:ext cx="548640" cy="502920"/>
          </a:xfrm>
          <a:prstGeom prst="rect">
            <a:avLst/>
          </a:prstGeom>
          <a:solidFill>
            <a:srgbClr val="00D9FF"/>
          </a:solidFill>
          <a:ln w="12700">
            <a:solidFill>
              <a:srgbClr val="00D9FF"/>
            </a:solidFill>
            <a:prstDash val="solid"/>
          </a:ln>
        </p:spPr>
      </p:sp>
      <p:sp>
        <p:nvSpPr>
          <p:cNvPr id="15" name="Text 12"/>
          <p:cNvSpPr/>
          <p:nvPr/>
        </p:nvSpPr>
        <p:spPr>
          <a:xfrm>
            <a:off x="9509760" y="2468880"/>
            <a:ext cx="548640" cy="502920"/>
          </a:xfrm>
          <a:prstGeom prst="rect">
            <a:avLst/>
          </a:prstGeom>
          <a:noFill/>
          <a:ln/>
        </p:spPr>
        <p:txBody>
          <a:bodyPr wrap="square" lIns="0" tIns="0" rIns="0" bIns="0" rtlCol="0" anchor="ctr"/>
          <a:lstStyle/>
          <a:p>
            <a:pPr marL="0" indent="0" algn="ctr">
              <a:buNone/>
            </a:pPr>
            <a:r>
              <a:rPr lang="en-US" sz="2000" b="1" dirty="0">
                <a:solidFill>
                  <a:srgbClr val="1B2A4A"/>
                </a:solidFill>
                <a:latin typeface="Calibri" pitchFamily="34" charset="0"/>
                <a:ea typeface="Calibri" pitchFamily="34" charset="-122"/>
                <a:cs typeface="Calibri" pitchFamily="34" charset="-120"/>
              </a:rPr>
              <a:t>5</a:t>
            </a:r>
            <a:endParaRPr lang="en-US" sz="2000" dirty="0"/>
          </a:p>
        </p:txBody>
      </p:sp>
      <p:sp>
        <p:nvSpPr>
          <p:cNvPr id="16" name="Shape 13"/>
          <p:cNvSpPr/>
          <p:nvPr/>
        </p:nvSpPr>
        <p:spPr>
          <a:xfrm>
            <a:off x="7589520" y="3090672"/>
            <a:ext cx="548640" cy="502920"/>
          </a:xfrm>
          <a:prstGeom prst="rect">
            <a:avLst/>
          </a:prstGeom>
          <a:solidFill>
            <a:srgbClr val="1B2A4A"/>
          </a:solidFill>
          <a:ln w="12700">
            <a:solidFill>
              <a:srgbClr val="1B2A4A"/>
            </a:solidFill>
            <a:prstDash val="solid"/>
          </a:ln>
        </p:spPr>
      </p:sp>
      <p:sp>
        <p:nvSpPr>
          <p:cNvPr id="17" name="Text 14"/>
          <p:cNvSpPr/>
          <p:nvPr/>
        </p:nvSpPr>
        <p:spPr>
          <a:xfrm>
            <a:off x="7589520" y="3090672"/>
            <a:ext cx="548640" cy="502920"/>
          </a:xfrm>
          <a:prstGeom prst="rect">
            <a:avLst/>
          </a:prstGeom>
          <a:noFill/>
          <a:ln/>
        </p:spPr>
        <p:txBody>
          <a:bodyPr wrap="square" lIns="0" tIns="0" rIns="0" bIns="0" rtlCol="0" anchor="ctr"/>
          <a:lstStyle/>
          <a:p>
            <a:pPr marL="0" indent="0" algn="ctr">
              <a:buNone/>
            </a:pPr>
            <a:r>
              <a:rPr lang="en-US" sz="2000" dirty="0">
                <a:solidFill>
                  <a:srgbClr val="FFFFFF"/>
                </a:solidFill>
                <a:latin typeface="Calibri" pitchFamily="34" charset="0"/>
                <a:ea typeface="Calibri" pitchFamily="34" charset="-122"/>
                <a:cs typeface="Calibri" pitchFamily="34" charset="-120"/>
              </a:rPr>
              <a:t>5</a:t>
            </a:r>
            <a:endParaRPr lang="en-US" sz="2000" dirty="0"/>
          </a:p>
        </p:txBody>
      </p:sp>
      <p:sp>
        <p:nvSpPr>
          <p:cNvPr id="18" name="Text 15"/>
          <p:cNvSpPr/>
          <p:nvPr/>
        </p:nvSpPr>
        <p:spPr>
          <a:xfrm>
            <a:off x="8229600" y="3090672"/>
            <a:ext cx="274320" cy="502920"/>
          </a:xfrm>
          <a:prstGeom prst="rect">
            <a:avLst/>
          </a:prstGeom>
          <a:noFill/>
          <a:ln/>
        </p:spPr>
        <p:txBody>
          <a:bodyPr wrap="square" lIns="0" tIns="0" rIns="0" bIns="0" rtlCol="0" anchor="ctr"/>
          <a:lstStyle/>
          <a:p>
            <a:pPr marL="0" indent="0" algn="ctr">
              <a:buNone/>
            </a:pPr>
            <a:r>
              <a:rPr lang="en-US" sz="2000" dirty="0">
                <a:solidFill>
                  <a:srgbClr val="5B6B84"/>
                </a:solidFill>
                <a:latin typeface="Calibri" pitchFamily="34" charset="0"/>
                <a:ea typeface="Calibri" pitchFamily="34" charset="-122"/>
                <a:cs typeface="Calibri" pitchFamily="34" charset="-120"/>
              </a:rPr>
              <a:t>+</a:t>
            </a:r>
            <a:endParaRPr lang="en-US" sz="2000" dirty="0"/>
          </a:p>
        </p:txBody>
      </p:sp>
      <p:sp>
        <p:nvSpPr>
          <p:cNvPr id="19" name="Shape 16"/>
          <p:cNvSpPr/>
          <p:nvPr/>
        </p:nvSpPr>
        <p:spPr>
          <a:xfrm>
            <a:off x="8549640" y="3090672"/>
            <a:ext cx="548640" cy="502920"/>
          </a:xfrm>
          <a:prstGeom prst="rect">
            <a:avLst/>
          </a:prstGeom>
          <a:solidFill>
            <a:srgbClr val="1B2A4A"/>
          </a:solidFill>
          <a:ln w="12700">
            <a:solidFill>
              <a:srgbClr val="1B2A4A"/>
            </a:solidFill>
            <a:prstDash val="solid"/>
          </a:ln>
        </p:spPr>
      </p:sp>
      <p:sp>
        <p:nvSpPr>
          <p:cNvPr id="20" name="Text 17"/>
          <p:cNvSpPr/>
          <p:nvPr/>
        </p:nvSpPr>
        <p:spPr>
          <a:xfrm>
            <a:off x="8549640" y="3090672"/>
            <a:ext cx="548640" cy="502920"/>
          </a:xfrm>
          <a:prstGeom prst="rect">
            <a:avLst/>
          </a:prstGeom>
          <a:noFill/>
          <a:ln/>
        </p:spPr>
        <p:txBody>
          <a:bodyPr wrap="square" lIns="0" tIns="0" rIns="0" bIns="0" rtlCol="0" anchor="ctr"/>
          <a:lstStyle/>
          <a:p>
            <a:pPr marL="0" indent="0" algn="ctr">
              <a:buNone/>
            </a:pPr>
            <a:r>
              <a:rPr lang="en-US" sz="2000" dirty="0">
                <a:solidFill>
                  <a:srgbClr val="FFFFFF"/>
                </a:solidFill>
                <a:latin typeface="Calibri" pitchFamily="34" charset="0"/>
                <a:ea typeface="Calibri" pitchFamily="34" charset="-122"/>
                <a:cs typeface="Calibri" pitchFamily="34" charset="-120"/>
              </a:rPr>
              <a:t>4</a:t>
            </a:r>
            <a:endParaRPr lang="en-US" sz="2000" dirty="0"/>
          </a:p>
        </p:txBody>
      </p:sp>
      <p:sp>
        <p:nvSpPr>
          <p:cNvPr id="21" name="Text 18"/>
          <p:cNvSpPr/>
          <p:nvPr/>
        </p:nvSpPr>
        <p:spPr>
          <a:xfrm>
            <a:off x="9189720" y="3090672"/>
            <a:ext cx="274320" cy="502920"/>
          </a:xfrm>
          <a:prstGeom prst="rect">
            <a:avLst/>
          </a:prstGeom>
          <a:noFill/>
          <a:ln/>
        </p:spPr>
        <p:txBody>
          <a:bodyPr wrap="square" lIns="0" tIns="0" rIns="0" bIns="0" rtlCol="0" anchor="ctr"/>
          <a:lstStyle/>
          <a:p>
            <a:pPr marL="0" indent="0" algn="ctr">
              <a:buNone/>
            </a:pPr>
            <a:r>
              <a:rPr lang="en-US" sz="2000" dirty="0">
                <a:solidFill>
                  <a:srgbClr val="5B6B84"/>
                </a:solidFill>
                <a:latin typeface="Calibri" pitchFamily="34" charset="0"/>
                <a:ea typeface="Calibri" pitchFamily="34" charset="-122"/>
                <a:cs typeface="Calibri" pitchFamily="34" charset="-120"/>
              </a:rPr>
              <a:t>=</a:t>
            </a:r>
            <a:endParaRPr lang="en-US" sz="2000" dirty="0"/>
          </a:p>
        </p:txBody>
      </p:sp>
      <p:sp>
        <p:nvSpPr>
          <p:cNvPr id="22" name="Shape 19"/>
          <p:cNvSpPr/>
          <p:nvPr/>
        </p:nvSpPr>
        <p:spPr>
          <a:xfrm>
            <a:off x="9509760" y="3090672"/>
            <a:ext cx="548640" cy="502920"/>
          </a:xfrm>
          <a:prstGeom prst="rect">
            <a:avLst/>
          </a:prstGeom>
          <a:solidFill>
            <a:srgbClr val="00D9FF"/>
          </a:solidFill>
          <a:ln w="12700">
            <a:solidFill>
              <a:srgbClr val="00D9FF"/>
            </a:solidFill>
            <a:prstDash val="solid"/>
          </a:ln>
        </p:spPr>
      </p:sp>
      <p:sp>
        <p:nvSpPr>
          <p:cNvPr id="23" name="Text 20"/>
          <p:cNvSpPr/>
          <p:nvPr/>
        </p:nvSpPr>
        <p:spPr>
          <a:xfrm>
            <a:off x="9509760" y="3090672"/>
            <a:ext cx="548640" cy="502920"/>
          </a:xfrm>
          <a:prstGeom prst="rect">
            <a:avLst/>
          </a:prstGeom>
          <a:noFill/>
          <a:ln/>
        </p:spPr>
        <p:txBody>
          <a:bodyPr wrap="square" lIns="0" tIns="0" rIns="0" bIns="0" rtlCol="0" anchor="ctr"/>
          <a:lstStyle/>
          <a:p>
            <a:pPr marL="0" indent="0" algn="ctr">
              <a:buNone/>
            </a:pPr>
            <a:r>
              <a:rPr lang="en-US" sz="2000" b="1" dirty="0">
                <a:solidFill>
                  <a:srgbClr val="1B2A4A"/>
                </a:solidFill>
                <a:latin typeface="Calibri" pitchFamily="34" charset="0"/>
                <a:ea typeface="Calibri" pitchFamily="34" charset="-122"/>
                <a:cs typeface="Calibri" pitchFamily="34" charset="-120"/>
              </a:rPr>
              <a:t>9</a:t>
            </a:r>
            <a:endParaRPr lang="en-US" sz="2000" dirty="0"/>
          </a:p>
        </p:txBody>
      </p:sp>
      <p:sp>
        <p:nvSpPr>
          <p:cNvPr id="24" name="Shape 21"/>
          <p:cNvSpPr/>
          <p:nvPr/>
        </p:nvSpPr>
        <p:spPr>
          <a:xfrm>
            <a:off x="7589520" y="3712464"/>
            <a:ext cx="548640" cy="502920"/>
          </a:xfrm>
          <a:prstGeom prst="rect">
            <a:avLst/>
          </a:prstGeom>
          <a:solidFill>
            <a:srgbClr val="1B2A4A"/>
          </a:solidFill>
          <a:ln w="12700">
            <a:solidFill>
              <a:srgbClr val="1B2A4A"/>
            </a:solidFill>
            <a:prstDash val="solid"/>
          </a:ln>
        </p:spPr>
      </p:sp>
      <p:sp>
        <p:nvSpPr>
          <p:cNvPr id="25" name="Text 22"/>
          <p:cNvSpPr/>
          <p:nvPr/>
        </p:nvSpPr>
        <p:spPr>
          <a:xfrm>
            <a:off x="7589520" y="3712464"/>
            <a:ext cx="548640" cy="502920"/>
          </a:xfrm>
          <a:prstGeom prst="rect">
            <a:avLst/>
          </a:prstGeom>
          <a:noFill/>
          <a:ln/>
        </p:spPr>
        <p:txBody>
          <a:bodyPr wrap="square" lIns="0" tIns="0" rIns="0" bIns="0" rtlCol="0" anchor="ctr"/>
          <a:lstStyle/>
          <a:p>
            <a:pPr marL="0" indent="0" algn="ctr">
              <a:buNone/>
            </a:pPr>
            <a:r>
              <a:rPr lang="en-US" sz="2000" dirty="0">
                <a:solidFill>
                  <a:srgbClr val="FFFFFF"/>
                </a:solidFill>
                <a:latin typeface="Calibri" pitchFamily="34" charset="0"/>
                <a:ea typeface="Calibri" pitchFamily="34" charset="-122"/>
                <a:cs typeface="Calibri" pitchFamily="34" charset="-120"/>
              </a:rPr>
              <a:t>1</a:t>
            </a:r>
            <a:endParaRPr lang="en-US" sz="2000" dirty="0"/>
          </a:p>
        </p:txBody>
      </p:sp>
      <p:sp>
        <p:nvSpPr>
          <p:cNvPr id="26" name="Text 23"/>
          <p:cNvSpPr/>
          <p:nvPr/>
        </p:nvSpPr>
        <p:spPr>
          <a:xfrm>
            <a:off x="8229600" y="3712464"/>
            <a:ext cx="274320" cy="502920"/>
          </a:xfrm>
          <a:prstGeom prst="rect">
            <a:avLst/>
          </a:prstGeom>
          <a:noFill/>
          <a:ln/>
        </p:spPr>
        <p:txBody>
          <a:bodyPr wrap="square" lIns="0" tIns="0" rIns="0" bIns="0" rtlCol="0" anchor="ctr"/>
          <a:lstStyle/>
          <a:p>
            <a:pPr marL="0" indent="0" algn="ctr">
              <a:buNone/>
            </a:pPr>
            <a:r>
              <a:rPr lang="en-US" sz="2000" dirty="0">
                <a:solidFill>
                  <a:srgbClr val="5B6B84"/>
                </a:solidFill>
                <a:latin typeface="Calibri" pitchFamily="34" charset="0"/>
                <a:ea typeface="Calibri" pitchFamily="34" charset="-122"/>
                <a:cs typeface="Calibri" pitchFamily="34" charset="-120"/>
              </a:rPr>
              <a:t>+</a:t>
            </a:r>
            <a:endParaRPr lang="en-US" sz="2000" dirty="0"/>
          </a:p>
        </p:txBody>
      </p:sp>
      <p:sp>
        <p:nvSpPr>
          <p:cNvPr id="27" name="Shape 24"/>
          <p:cNvSpPr/>
          <p:nvPr/>
        </p:nvSpPr>
        <p:spPr>
          <a:xfrm>
            <a:off x="8549640" y="3712464"/>
            <a:ext cx="548640" cy="502920"/>
          </a:xfrm>
          <a:prstGeom prst="rect">
            <a:avLst/>
          </a:prstGeom>
          <a:solidFill>
            <a:srgbClr val="1B2A4A"/>
          </a:solidFill>
          <a:ln w="12700">
            <a:solidFill>
              <a:srgbClr val="1B2A4A"/>
            </a:solidFill>
            <a:prstDash val="solid"/>
          </a:ln>
        </p:spPr>
      </p:sp>
      <p:sp>
        <p:nvSpPr>
          <p:cNvPr id="28" name="Text 25"/>
          <p:cNvSpPr/>
          <p:nvPr/>
        </p:nvSpPr>
        <p:spPr>
          <a:xfrm>
            <a:off x="8549640" y="3712464"/>
            <a:ext cx="548640" cy="502920"/>
          </a:xfrm>
          <a:prstGeom prst="rect">
            <a:avLst/>
          </a:prstGeom>
          <a:noFill/>
          <a:ln/>
        </p:spPr>
        <p:txBody>
          <a:bodyPr wrap="square" lIns="0" tIns="0" rIns="0" bIns="0" rtlCol="0" anchor="ctr"/>
          <a:lstStyle/>
          <a:p>
            <a:pPr marL="0" indent="0" algn="ctr">
              <a:buNone/>
            </a:pPr>
            <a:r>
              <a:rPr lang="en-US" sz="2000" dirty="0">
                <a:solidFill>
                  <a:srgbClr val="FFFFFF"/>
                </a:solidFill>
                <a:latin typeface="Calibri" pitchFamily="34" charset="0"/>
                <a:ea typeface="Calibri" pitchFamily="34" charset="-122"/>
                <a:cs typeface="Calibri" pitchFamily="34" charset="-120"/>
              </a:rPr>
              <a:t>6</a:t>
            </a:r>
            <a:endParaRPr lang="en-US" sz="2000" dirty="0"/>
          </a:p>
        </p:txBody>
      </p:sp>
      <p:sp>
        <p:nvSpPr>
          <p:cNvPr id="29" name="Text 26"/>
          <p:cNvSpPr/>
          <p:nvPr/>
        </p:nvSpPr>
        <p:spPr>
          <a:xfrm>
            <a:off x="9189720" y="3712464"/>
            <a:ext cx="274320" cy="502920"/>
          </a:xfrm>
          <a:prstGeom prst="rect">
            <a:avLst/>
          </a:prstGeom>
          <a:noFill/>
          <a:ln/>
        </p:spPr>
        <p:txBody>
          <a:bodyPr wrap="square" lIns="0" tIns="0" rIns="0" bIns="0" rtlCol="0" anchor="ctr"/>
          <a:lstStyle/>
          <a:p>
            <a:pPr marL="0" indent="0" algn="ctr">
              <a:buNone/>
            </a:pPr>
            <a:r>
              <a:rPr lang="en-US" sz="2000" dirty="0">
                <a:solidFill>
                  <a:srgbClr val="5B6B84"/>
                </a:solidFill>
                <a:latin typeface="Calibri" pitchFamily="34" charset="0"/>
                <a:ea typeface="Calibri" pitchFamily="34" charset="-122"/>
                <a:cs typeface="Calibri" pitchFamily="34" charset="-120"/>
              </a:rPr>
              <a:t>=</a:t>
            </a:r>
            <a:endParaRPr lang="en-US" sz="2000" dirty="0"/>
          </a:p>
        </p:txBody>
      </p:sp>
      <p:sp>
        <p:nvSpPr>
          <p:cNvPr id="30" name="Shape 27"/>
          <p:cNvSpPr/>
          <p:nvPr/>
        </p:nvSpPr>
        <p:spPr>
          <a:xfrm>
            <a:off x="9509760" y="3712464"/>
            <a:ext cx="548640" cy="502920"/>
          </a:xfrm>
          <a:prstGeom prst="rect">
            <a:avLst/>
          </a:prstGeom>
          <a:solidFill>
            <a:srgbClr val="00D9FF"/>
          </a:solidFill>
          <a:ln w="12700">
            <a:solidFill>
              <a:srgbClr val="00D9FF"/>
            </a:solidFill>
            <a:prstDash val="solid"/>
          </a:ln>
        </p:spPr>
      </p:sp>
      <p:sp>
        <p:nvSpPr>
          <p:cNvPr id="31" name="Text 28"/>
          <p:cNvSpPr/>
          <p:nvPr/>
        </p:nvSpPr>
        <p:spPr>
          <a:xfrm>
            <a:off x="9509760" y="3712464"/>
            <a:ext cx="548640" cy="502920"/>
          </a:xfrm>
          <a:prstGeom prst="rect">
            <a:avLst/>
          </a:prstGeom>
          <a:noFill/>
          <a:ln/>
        </p:spPr>
        <p:txBody>
          <a:bodyPr wrap="square" lIns="0" tIns="0" rIns="0" bIns="0" rtlCol="0" anchor="ctr"/>
          <a:lstStyle/>
          <a:p>
            <a:pPr marL="0" indent="0" algn="ctr">
              <a:buNone/>
            </a:pPr>
            <a:r>
              <a:rPr lang="en-US" sz="2000" b="1" dirty="0">
                <a:solidFill>
                  <a:srgbClr val="1B2A4A"/>
                </a:solidFill>
                <a:latin typeface="Calibri" pitchFamily="34" charset="0"/>
                <a:ea typeface="Calibri" pitchFamily="34" charset="-122"/>
                <a:cs typeface="Calibri" pitchFamily="34" charset="-120"/>
              </a:rPr>
              <a:t>7</a:t>
            </a:r>
            <a:endParaRPr lang="en-US" sz="2000" dirty="0"/>
          </a:p>
        </p:txBody>
      </p:sp>
      <p:sp>
        <p:nvSpPr>
          <p:cNvPr id="32" name="Shape 29"/>
          <p:cNvSpPr/>
          <p:nvPr/>
        </p:nvSpPr>
        <p:spPr>
          <a:xfrm>
            <a:off x="7589520" y="4334256"/>
            <a:ext cx="548640" cy="502920"/>
          </a:xfrm>
          <a:prstGeom prst="rect">
            <a:avLst/>
          </a:prstGeom>
          <a:solidFill>
            <a:srgbClr val="1B2A4A"/>
          </a:solidFill>
          <a:ln w="12700">
            <a:solidFill>
              <a:srgbClr val="1B2A4A"/>
            </a:solidFill>
            <a:prstDash val="solid"/>
          </a:ln>
        </p:spPr>
      </p:sp>
      <p:sp>
        <p:nvSpPr>
          <p:cNvPr id="33" name="Text 30"/>
          <p:cNvSpPr/>
          <p:nvPr/>
        </p:nvSpPr>
        <p:spPr>
          <a:xfrm>
            <a:off x="7589520" y="4334256"/>
            <a:ext cx="548640" cy="502920"/>
          </a:xfrm>
          <a:prstGeom prst="rect">
            <a:avLst/>
          </a:prstGeom>
          <a:noFill/>
          <a:ln/>
        </p:spPr>
        <p:txBody>
          <a:bodyPr wrap="square" lIns="0" tIns="0" rIns="0" bIns="0" rtlCol="0" anchor="ctr"/>
          <a:lstStyle/>
          <a:p>
            <a:pPr marL="0" indent="0" algn="ctr">
              <a:buNone/>
            </a:pPr>
            <a:r>
              <a:rPr lang="en-US" sz="2000" dirty="0">
                <a:solidFill>
                  <a:srgbClr val="FFFFFF"/>
                </a:solidFill>
                <a:latin typeface="Calibri" pitchFamily="34" charset="0"/>
                <a:ea typeface="Calibri" pitchFamily="34" charset="-122"/>
                <a:cs typeface="Calibri" pitchFamily="34" charset="-120"/>
              </a:rPr>
              <a:t>8</a:t>
            </a:r>
            <a:endParaRPr lang="en-US" sz="2000" dirty="0"/>
          </a:p>
        </p:txBody>
      </p:sp>
      <p:sp>
        <p:nvSpPr>
          <p:cNvPr id="34" name="Text 31"/>
          <p:cNvSpPr/>
          <p:nvPr/>
        </p:nvSpPr>
        <p:spPr>
          <a:xfrm>
            <a:off x="8229600" y="4334256"/>
            <a:ext cx="274320" cy="502920"/>
          </a:xfrm>
          <a:prstGeom prst="rect">
            <a:avLst/>
          </a:prstGeom>
          <a:noFill/>
          <a:ln/>
        </p:spPr>
        <p:txBody>
          <a:bodyPr wrap="square" lIns="0" tIns="0" rIns="0" bIns="0" rtlCol="0" anchor="ctr"/>
          <a:lstStyle/>
          <a:p>
            <a:pPr marL="0" indent="0" algn="ctr">
              <a:buNone/>
            </a:pPr>
            <a:r>
              <a:rPr lang="en-US" sz="2000" dirty="0">
                <a:solidFill>
                  <a:srgbClr val="5B6B84"/>
                </a:solidFill>
                <a:latin typeface="Calibri" pitchFamily="34" charset="0"/>
                <a:ea typeface="Calibri" pitchFamily="34" charset="-122"/>
                <a:cs typeface="Calibri" pitchFamily="34" charset="-120"/>
              </a:rPr>
              <a:t>+</a:t>
            </a:r>
            <a:endParaRPr lang="en-US" sz="2000" dirty="0"/>
          </a:p>
        </p:txBody>
      </p:sp>
      <p:sp>
        <p:nvSpPr>
          <p:cNvPr id="35" name="Shape 32"/>
          <p:cNvSpPr/>
          <p:nvPr/>
        </p:nvSpPr>
        <p:spPr>
          <a:xfrm>
            <a:off x="8549640" y="4334256"/>
            <a:ext cx="548640" cy="502920"/>
          </a:xfrm>
          <a:prstGeom prst="rect">
            <a:avLst/>
          </a:prstGeom>
          <a:solidFill>
            <a:srgbClr val="1B2A4A"/>
          </a:solidFill>
          <a:ln w="12700">
            <a:solidFill>
              <a:srgbClr val="1B2A4A"/>
            </a:solidFill>
            <a:prstDash val="solid"/>
          </a:ln>
        </p:spPr>
      </p:sp>
      <p:sp>
        <p:nvSpPr>
          <p:cNvPr id="36" name="Text 33"/>
          <p:cNvSpPr/>
          <p:nvPr/>
        </p:nvSpPr>
        <p:spPr>
          <a:xfrm>
            <a:off x="8549640" y="4334256"/>
            <a:ext cx="548640" cy="502920"/>
          </a:xfrm>
          <a:prstGeom prst="rect">
            <a:avLst/>
          </a:prstGeom>
          <a:noFill/>
          <a:ln/>
        </p:spPr>
        <p:txBody>
          <a:bodyPr wrap="square" lIns="0" tIns="0" rIns="0" bIns="0" rtlCol="0" anchor="ctr"/>
          <a:lstStyle/>
          <a:p>
            <a:pPr marL="0" indent="0" algn="ctr">
              <a:buNone/>
            </a:pPr>
            <a:r>
              <a:rPr lang="en-US" sz="2000" dirty="0">
                <a:solidFill>
                  <a:srgbClr val="FFFFFF"/>
                </a:solidFill>
                <a:latin typeface="Calibri" pitchFamily="34" charset="0"/>
                <a:ea typeface="Calibri" pitchFamily="34" charset="-122"/>
                <a:cs typeface="Calibri" pitchFamily="34" charset="-120"/>
              </a:rPr>
              <a:t>2</a:t>
            </a:r>
            <a:endParaRPr lang="en-US" sz="2000" dirty="0"/>
          </a:p>
        </p:txBody>
      </p:sp>
      <p:sp>
        <p:nvSpPr>
          <p:cNvPr id="37" name="Text 34"/>
          <p:cNvSpPr/>
          <p:nvPr/>
        </p:nvSpPr>
        <p:spPr>
          <a:xfrm>
            <a:off x="9189720" y="4334256"/>
            <a:ext cx="274320" cy="502920"/>
          </a:xfrm>
          <a:prstGeom prst="rect">
            <a:avLst/>
          </a:prstGeom>
          <a:noFill/>
          <a:ln/>
        </p:spPr>
        <p:txBody>
          <a:bodyPr wrap="square" lIns="0" tIns="0" rIns="0" bIns="0" rtlCol="0" anchor="ctr"/>
          <a:lstStyle/>
          <a:p>
            <a:pPr marL="0" indent="0" algn="ctr">
              <a:buNone/>
            </a:pPr>
            <a:r>
              <a:rPr lang="en-US" sz="2000" dirty="0">
                <a:solidFill>
                  <a:srgbClr val="5B6B84"/>
                </a:solidFill>
                <a:latin typeface="Calibri" pitchFamily="34" charset="0"/>
                <a:ea typeface="Calibri" pitchFamily="34" charset="-122"/>
                <a:cs typeface="Calibri" pitchFamily="34" charset="-120"/>
              </a:rPr>
              <a:t>=</a:t>
            </a:r>
            <a:endParaRPr lang="en-US" sz="2000" dirty="0"/>
          </a:p>
        </p:txBody>
      </p:sp>
      <p:sp>
        <p:nvSpPr>
          <p:cNvPr id="38" name="Shape 35"/>
          <p:cNvSpPr/>
          <p:nvPr/>
        </p:nvSpPr>
        <p:spPr>
          <a:xfrm>
            <a:off x="9509760" y="4334256"/>
            <a:ext cx="548640" cy="502920"/>
          </a:xfrm>
          <a:prstGeom prst="rect">
            <a:avLst/>
          </a:prstGeom>
          <a:solidFill>
            <a:srgbClr val="00D9FF"/>
          </a:solidFill>
          <a:ln w="12700">
            <a:solidFill>
              <a:srgbClr val="00D9FF"/>
            </a:solidFill>
            <a:prstDash val="solid"/>
          </a:ln>
        </p:spPr>
      </p:sp>
      <p:sp>
        <p:nvSpPr>
          <p:cNvPr id="39" name="Text 36"/>
          <p:cNvSpPr/>
          <p:nvPr/>
        </p:nvSpPr>
        <p:spPr>
          <a:xfrm>
            <a:off x="9509760" y="4334256"/>
            <a:ext cx="548640" cy="502920"/>
          </a:xfrm>
          <a:prstGeom prst="rect">
            <a:avLst/>
          </a:prstGeom>
          <a:noFill/>
          <a:ln/>
        </p:spPr>
        <p:txBody>
          <a:bodyPr wrap="square" lIns="0" tIns="0" rIns="0" bIns="0" rtlCol="0" anchor="ctr"/>
          <a:lstStyle/>
          <a:p>
            <a:pPr marL="0" indent="0" algn="ctr">
              <a:buNone/>
            </a:pPr>
            <a:r>
              <a:rPr lang="en-US" sz="2000" b="1" dirty="0">
                <a:solidFill>
                  <a:srgbClr val="1B2A4A"/>
                </a:solidFill>
                <a:latin typeface="Calibri" pitchFamily="34" charset="0"/>
                <a:ea typeface="Calibri" pitchFamily="34" charset="-122"/>
                <a:cs typeface="Calibri" pitchFamily="34" charset="-120"/>
              </a:rPr>
              <a:t>10</a:t>
            </a:r>
            <a:endParaRPr lang="en-US" sz="2000" dirty="0"/>
          </a:p>
        </p:txBody>
      </p:sp>
      <p:sp>
        <p:nvSpPr>
          <p:cNvPr id="40" name="Text 37"/>
          <p:cNvSpPr/>
          <p:nvPr/>
        </p:nvSpPr>
        <p:spPr>
          <a:xfrm>
            <a:off x="7543800" y="5074920"/>
            <a:ext cx="3886200" cy="822960"/>
          </a:xfrm>
          <a:prstGeom prst="rect">
            <a:avLst/>
          </a:prstGeom>
          <a:noFill/>
          <a:ln/>
        </p:spPr>
        <p:txBody>
          <a:bodyPr wrap="square" lIns="0" tIns="0" rIns="0" bIns="0" rtlCol="0" anchor="ctr"/>
          <a:lstStyle/>
          <a:p>
            <a:pPr marL="0" indent="0">
              <a:lnSpc>
                <a:spcPct val="115000"/>
              </a:lnSpc>
              <a:buNone/>
            </a:pPr>
            <a:r>
              <a:rPr lang="en-US" sz="2000" i="1" dirty="0">
                <a:solidFill>
                  <a:srgbClr val="5B6B84"/>
                </a:solidFill>
                <a:latin typeface="Calibri" pitchFamily="34" charset="0"/>
                <a:ea typeface="Calibri" pitchFamily="34" charset="-122"/>
                <a:cs typeface="Calibri" pitchFamily="34" charset="-120"/>
              </a:rPr>
              <a:t>All four additions happen in the same clock cycle — not one after another.</a:t>
            </a:r>
            <a:endParaRPr lang="en-US" sz="2000" dirty="0"/>
          </a:p>
        </p:txBody>
      </p:sp>
      <p:sp>
        <p:nvSpPr>
          <p:cNvPr id="41" name="Text 38"/>
          <p:cNvSpPr/>
          <p:nvPr/>
        </p:nvSpPr>
        <p:spPr>
          <a:xfrm>
            <a:off x="457200" y="6601968"/>
            <a:ext cx="4572000" cy="256032"/>
          </a:xfrm>
          <a:prstGeom prst="rect">
            <a:avLst/>
          </a:prstGeom>
          <a:noFill/>
          <a:ln/>
        </p:spPr>
        <p:txBody>
          <a:bodyPr wrap="square" lIns="0" tIns="0" rIns="0" bIns="0" rtlCol="0" anchor="ctr"/>
          <a:lstStyle/>
          <a:p>
            <a:pPr marL="0" indent="0" algn="l">
              <a:buNone/>
            </a:pPr>
            <a:r>
              <a:rPr lang="en-US" sz="2000" dirty="0">
                <a:solidFill>
                  <a:srgbClr val="5B6B84"/>
                </a:solidFill>
                <a:latin typeface="Calibri" pitchFamily="34" charset="0"/>
                <a:ea typeface="Calibri" pitchFamily="34" charset="-122"/>
                <a:cs typeface="Calibri" pitchFamily="34" charset="-120"/>
              </a:rPr>
              <a:t>Presidency University, Bengaluru</a:t>
            </a:r>
            <a:endParaRPr lang="en-US" sz="2000" dirty="0"/>
          </a:p>
        </p:txBody>
      </p:sp>
      <p:sp>
        <p:nvSpPr>
          <p:cNvPr id="42" name="Text 39"/>
          <p:cNvSpPr/>
          <p:nvPr/>
        </p:nvSpPr>
        <p:spPr>
          <a:xfrm>
            <a:off x="9902952" y="6601968"/>
            <a:ext cx="1828800" cy="256032"/>
          </a:xfrm>
          <a:prstGeom prst="rect">
            <a:avLst/>
          </a:prstGeom>
          <a:noFill/>
          <a:ln/>
        </p:spPr>
        <p:txBody>
          <a:bodyPr wrap="square" lIns="0" tIns="0" rIns="0" bIns="0" rtlCol="0" anchor="ctr"/>
          <a:lstStyle/>
          <a:p>
            <a:pPr marL="0" indent="0" algn="r">
              <a:buNone/>
            </a:pPr>
            <a:r>
              <a:rPr lang="en-US" sz="2000" dirty="0">
                <a:solidFill>
                  <a:srgbClr val="5B6B84"/>
                </a:solidFill>
                <a:latin typeface="Calibri" pitchFamily="34" charset="0"/>
                <a:ea typeface="Calibri" pitchFamily="34" charset="-122"/>
                <a:cs typeface="Calibri" pitchFamily="34" charset="-120"/>
              </a:rPr>
              <a:t>CSS2257</a:t>
            </a:r>
            <a:endParaRPr lang="en-US" sz="20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11480"/>
            <a:ext cx="9601200" cy="868680"/>
          </a:xfrm>
          <a:prstGeom prst="rect">
            <a:avLst/>
          </a:prstGeom>
          <a:noFill/>
          <a:ln/>
        </p:spPr>
        <p:txBody>
          <a:bodyPr wrap="square" lIns="0" tIns="0" rIns="0" bIns="0" rtlCol="0" anchor="ctr"/>
          <a:lstStyle/>
          <a:p>
            <a:pPr marL="0" indent="0" algn="l">
              <a:buNone/>
            </a:pPr>
            <a:r>
              <a:rPr lang="en-US" sz="3400" b="1" dirty="0">
                <a:solidFill>
                  <a:srgbClr val="1B2A4A"/>
                </a:solidFill>
                <a:latin typeface="Cambria" pitchFamily="34" charset="0"/>
                <a:ea typeface="Cambria" pitchFamily="34" charset="-122"/>
                <a:cs typeface="Cambria" pitchFamily="34" charset="-120"/>
              </a:rPr>
              <a:t>Thread-Level Parallelism — Multicore</a:t>
            </a:r>
            <a:endParaRPr lang="en-US" sz="3400" dirty="0"/>
          </a:p>
        </p:txBody>
      </p:sp>
      <p:sp>
        <p:nvSpPr>
          <p:cNvPr id="3" name="Shape 1"/>
          <p:cNvSpPr/>
          <p:nvPr/>
        </p:nvSpPr>
        <p:spPr>
          <a:xfrm>
            <a:off x="10607040" y="365760"/>
            <a:ext cx="914400" cy="914400"/>
          </a:xfrm>
          <a:prstGeom prst="ellipse">
            <a:avLst/>
          </a:prstGeom>
          <a:solidFill>
            <a:srgbClr val="1B2A4A"/>
          </a:solidFill>
          <a:ln w="12700">
            <a:solidFill>
              <a:srgbClr val="1B2A4A"/>
            </a:solidFill>
            <a:prstDash val="solid"/>
          </a:ln>
        </p:spPr>
      </p:sp>
      <p:pic>
        <p:nvPicPr>
          <p:cNvPr id="4" name="Image 0" descr="/home/claude/coa_ppt/icon_network_white.png"/>
          <p:cNvPicPr>
            <a:picLocks noChangeAspect="1"/>
          </p:cNvPicPr>
          <p:nvPr/>
        </p:nvPicPr>
        <p:blipFill>
          <a:blip r:embed="rId3"/>
          <a:stretch>
            <a:fillRect/>
          </a:stretch>
        </p:blipFill>
        <p:spPr>
          <a:xfrm>
            <a:off x="10844784" y="603504"/>
            <a:ext cx="438912" cy="438912"/>
          </a:xfrm>
          <a:prstGeom prst="rect">
            <a:avLst/>
          </a:prstGeom>
        </p:spPr>
      </p:pic>
      <p:sp>
        <p:nvSpPr>
          <p:cNvPr id="5" name="Text 2"/>
          <p:cNvSpPr/>
          <p:nvPr/>
        </p:nvSpPr>
        <p:spPr>
          <a:xfrm>
            <a:off x="548640" y="1417320"/>
            <a:ext cx="6492240" cy="4754880"/>
          </a:xfrm>
          <a:prstGeom prst="rect">
            <a:avLst/>
          </a:prstGeom>
          <a:noFill/>
          <a:ln/>
        </p:spPr>
        <p:txBody>
          <a:bodyPr wrap="square" lIns="0" tIns="0" rIns="0" bIns="0" rtlCol="0" anchor="t"/>
          <a:lstStyle/>
          <a:p>
            <a:pPr marL="279400" indent="-279400">
              <a:lnSpc>
                <a:spcPct val="108000"/>
              </a:lnSpc>
              <a:spcAft>
                <a:spcPts val="1200"/>
              </a:spcAft>
              <a:buSzPct val="100000"/>
              <a:buChar char="•"/>
            </a:pPr>
            <a:r>
              <a:rPr lang="en-US" sz="2000" dirty="0">
                <a:solidFill>
                  <a:srgbClr val="1B2A4A"/>
                </a:solidFill>
                <a:latin typeface="Calibri" pitchFamily="34" charset="0"/>
                <a:ea typeface="Calibri" pitchFamily="34" charset="-122"/>
                <a:cs typeface="Calibri" pitchFamily="34" charset="-120"/>
              </a:rPr>
              <a:t>TLP runs separate, largely independent threads or processes on separate processor cores at the same time</a:t>
            </a:r>
            <a:endParaRPr lang="en-US" sz="2000" dirty="0"/>
          </a:p>
          <a:p>
            <a:pPr marL="279400" indent="-279400">
              <a:lnSpc>
                <a:spcPct val="108000"/>
              </a:lnSpc>
              <a:spcAft>
                <a:spcPts val="1200"/>
              </a:spcAft>
              <a:buSzPct val="100000"/>
              <a:buChar char="•"/>
            </a:pPr>
            <a:r>
              <a:rPr lang="en-US" sz="2000" dirty="0">
                <a:solidFill>
                  <a:srgbClr val="1B2A4A"/>
                </a:solidFill>
                <a:latin typeface="Calibri" pitchFamily="34" charset="0"/>
                <a:ea typeface="Calibri" pitchFamily="34" charset="-122"/>
                <a:cs typeface="Calibri" pitchFamily="34" charset="-120"/>
              </a:rPr>
              <a:t>This is the direct architectural response to the power wall: instead of one faster core, place several moderately-fast cores on one chip</a:t>
            </a:r>
            <a:endParaRPr lang="en-US" sz="2000" dirty="0"/>
          </a:p>
          <a:p>
            <a:pPr marL="279400" indent="-279400">
              <a:lnSpc>
                <a:spcPct val="108000"/>
              </a:lnSpc>
              <a:spcAft>
                <a:spcPts val="1200"/>
              </a:spcAft>
              <a:buSzPct val="100000"/>
              <a:buChar char="•"/>
            </a:pPr>
            <a:r>
              <a:rPr lang="en-US" sz="2000" dirty="0">
                <a:solidFill>
                  <a:srgbClr val="1B2A4A"/>
                </a:solidFill>
                <a:latin typeface="Calibri" pitchFamily="34" charset="0"/>
                <a:ea typeface="Calibri" pitchFamily="34" charset="-122"/>
                <a:cs typeface="Calibri" pitchFamily="34" charset="-120"/>
              </a:rPr>
              <a:t>Operating systems schedule different applications — or different parts of the same application — onto different cores</a:t>
            </a:r>
            <a:endParaRPr lang="en-US" sz="2000" dirty="0"/>
          </a:p>
          <a:p>
            <a:pPr marL="279400" indent="-279400">
              <a:lnSpc>
                <a:spcPct val="108000"/>
              </a:lnSpc>
              <a:spcAft>
                <a:spcPts val="1200"/>
              </a:spcAft>
              <a:buSzPct val="100000"/>
              <a:buChar char="•"/>
            </a:pPr>
            <a:r>
              <a:rPr lang="en-US" sz="2000" dirty="0">
                <a:solidFill>
                  <a:srgbClr val="1B2A4A"/>
                </a:solidFill>
                <a:latin typeface="Calibri" pitchFamily="34" charset="0"/>
                <a:ea typeface="Calibri" pitchFamily="34" charset="-122"/>
                <a:cs typeface="Calibri" pitchFamily="34" charset="-120"/>
              </a:rPr>
              <a:t>Speedup from adding cores is governed by Amdahl's Law: the serial (non-parallelisable) portion of a program limits the benefit</a:t>
            </a:r>
            <a:endParaRPr lang="en-US" sz="2000" dirty="0"/>
          </a:p>
        </p:txBody>
      </p:sp>
      <p:sp>
        <p:nvSpPr>
          <p:cNvPr id="6" name="Shape 3"/>
          <p:cNvSpPr/>
          <p:nvPr/>
        </p:nvSpPr>
        <p:spPr>
          <a:xfrm>
            <a:off x="7315200" y="1554480"/>
            <a:ext cx="4343400" cy="4480560"/>
          </a:xfrm>
          <a:prstGeom prst="roundRect">
            <a:avLst>
              <a:gd name="adj" fmla="val 1684"/>
            </a:avLst>
          </a:prstGeom>
          <a:solidFill>
            <a:srgbClr val="1B2A4A"/>
          </a:solidFill>
          <a:ln w="12700">
            <a:solidFill>
              <a:srgbClr val="1B2A4A"/>
            </a:solidFill>
            <a:prstDash val="solid"/>
          </a:ln>
        </p:spPr>
      </p:sp>
      <p:sp>
        <p:nvSpPr>
          <p:cNvPr id="7" name="Text 4"/>
          <p:cNvSpPr/>
          <p:nvPr/>
        </p:nvSpPr>
        <p:spPr>
          <a:xfrm>
            <a:off x="7543800" y="1737360"/>
            <a:ext cx="3886200" cy="457200"/>
          </a:xfrm>
          <a:prstGeom prst="rect">
            <a:avLst/>
          </a:prstGeom>
          <a:noFill/>
          <a:ln/>
        </p:spPr>
        <p:txBody>
          <a:bodyPr wrap="square" lIns="0" tIns="0" rIns="0" bIns="0"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Quad-Core Chip</a:t>
            </a:r>
            <a:endParaRPr lang="en-US" sz="2000" dirty="0"/>
          </a:p>
        </p:txBody>
      </p:sp>
      <p:sp>
        <p:nvSpPr>
          <p:cNvPr id="8" name="Shape 5"/>
          <p:cNvSpPr/>
          <p:nvPr/>
        </p:nvSpPr>
        <p:spPr>
          <a:xfrm>
            <a:off x="7635240" y="2377440"/>
            <a:ext cx="1783080" cy="1417320"/>
          </a:xfrm>
          <a:prstGeom prst="roundRect">
            <a:avLst>
              <a:gd name="adj" fmla="val 3871"/>
            </a:avLst>
          </a:prstGeom>
          <a:solidFill>
            <a:srgbClr val="233B63"/>
          </a:solidFill>
          <a:ln w="12700">
            <a:solidFill>
              <a:srgbClr val="00D9FF"/>
            </a:solidFill>
            <a:prstDash val="solid"/>
          </a:ln>
        </p:spPr>
      </p:sp>
      <p:sp>
        <p:nvSpPr>
          <p:cNvPr id="9" name="Text 6"/>
          <p:cNvSpPr/>
          <p:nvPr/>
        </p:nvSpPr>
        <p:spPr>
          <a:xfrm>
            <a:off x="7635240" y="2514600"/>
            <a:ext cx="1783080" cy="365760"/>
          </a:xfrm>
          <a:prstGeom prst="rect">
            <a:avLst/>
          </a:prstGeom>
          <a:noFill/>
          <a:ln/>
        </p:spPr>
        <p:txBody>
          <a:bodyPr wrap="square" lIns="0" tIns="0" rIns="0" bIns="0" rtlCol="0" anchor="ctr"/>
          <a:lstStyle/>
          <a:p>
            <a:pPr marL="0" indent="0" algn="ctr">
              <a:buNone/>
            </a:pPr>
            <a:r>
              <a:rPr lang="en-US" sz="2000" b="1" dirty="0">
                <a:solidFill>
                  <a:srgbClr val="00D9FF"/>
                </a:solidFill>
                <a:latin typeface="Calibri" pitchFamily="34" charset="0"/>
                <a:ea typeface="Calibri" pitchFamily="34" charset="-122"/>
                <a:cs typeface="Calibri" pitchFamily="34" charset="-120"/>
              </a:rPr>
              <a:t>Core 1</a:t>
            </a:r>
            <a:endParaRPr lang="en-US" sz="2000" dirty="0"/>
          </a:p>
        </p:txBody>
      </p:sp>
      <p:sp>
        <p:nvSpPr>
          <p:cNvPr id="10" name="Text 7"/>
          <p:cNvSpPr/>
          <p:nvPr/>
        </p:nvSpPr>
        <p:spPr>
          <a:xfrm>
            <a:off x="7635240" y="3063240"/>
            <a:ext cx="1783080" cy="365760"/>
          </a:xfrm>
          <a:prstGeom prst="rect">
            <a:avLst/>
          </a:prstGeom>
          <a:noFill/>
          <a:ln/>
        </p:spPr>
        <p:txBody>
          <a:bodyPr wrap="square" lIns="0" tIns="0" rIns="0" bIns="0" rtlCol="0" anchor="ctr"/>
          <a:lstStyle/>
          <a:p>
            <a:pPr marL="0" indent="0" algn="ctr">
              <a:buNone/>
            </a:pPr>
            <a:r>
              <a:rPr lang="en-US" sz="2000" dirty="0">
                <a:solidFill>
                  <a:srgbClr val="E8EEF7"/>
                </a:solidFill>
                <a:latin typeface="Calibri" pitchFamily="34" charset="0"/>
                <a:ea typeface="Calibri" pitchFamily="34" charset="-122"/>
                <a:cs typeface="Calibri" pitchFamily="34" charset="-120"/>
              </a:rPr>
              <a:t>Thread 1</a:t>
            </a:r>
            <a:endParaRPr lang="en-US" sz="2000" dirty="0"/>
          </a:p>
        </p:txBody>
      </p:sp>
      <p:sp>
        <p:nvSpPr>
          <p:cNvPr id="11" name="Shape 8"/>
          <p:cNvSpPr/>
          <p:nvPr/>
        </p:nvSpPr>
        <p:spPr>
          <a:xfrm>
            <a:off x="9372600" y="2377440"/>
            <a:ext cx="1783080" cy="1417320"/>
          </a:xfrm>
          <a:prstGeom prst="roundRect">
            <a:avLst>
              <a:gd name="adj" fmla="val 3871"/>
            </a:avLst>
          </a:prstGeom>
          <a:solidFill>
            <a:srgbClr val="233B63"/>
          </a:solidFill>
          <a:ln w="12700">
            <a:solidFill>
              <a:srgbClr val="00D9FF"/>
            </a:solidFill>
            <a:prstDash val="solid"/>
          </a:ln>
        </p:spPr>
      </p:sp>
      <p:sp>
        <p:nvSpPr>
          <p:cNvPr id="12" name="Text 9"/>
          <p:cNvSpPr/>
          <p:nvPr/>
        </p:nvSpPr>
        <p:spPr>
          <a:xfrm>
            <a:off x="9372600" y="2514600"/>
            <a:ext cx="1783080" cy="365760"/>
          </a:xfrm>
          <a:prstGeom prst="rect">
            <a:avLst/>
          </a:prstGeom>
          <a:noFill/>
          <a:ln/>
        </p:spPr>
        <p:txBody>
          <a:bodyPr wrap="square" lIns="0" tIns="0" rIns="0" bIns="0" rtlCol="0" anchor="ctr"/>
          <a:lstStyle/>
          <a:p>
            <a:pPr marL="0" indent="0" algn="ctr">
              <a:buNone/>
            </a:pPr>
            <a:r>
              <a:rPr lang="en-US" sz="2000" b="1" dirty="0">
                <a:solidFill>
                  <a:srgbClr val="00D9FF"/>
                </a:solidFill>
                <a:latin typeface="Calibri" pitchFamily="34" charset="0"/>
                <a:ea typeface="Calibri" pitchFamily="34" charset="-122"/>
                <a:cs typeface="Calibri" pitchFamily="34" charset="-120"/>
              </a:rPr>
              <a:t>Core 2</a:t>
            </a:r>
            <a:endParaRPr lang="en-US" sz="2000" dirty="0"/>
          </a:p>
        </p:txBody>
      </p:sp>
      <p:sp>
        <p:nvSpPr>
          <p:cNvPr id="13" name="Text 10"/>
          <p:cNvSpPr/>
          <p:nvPr/>
        </p:nvSpPr>
        <p:spPr>
          <a:xfrm>
            <a:off x="9372600" y="3063240"/>
            <a:ext cx="1783080" cy="365760"/>
          </a:xfrm>
          <a:prstGeom prst="rect">
            <a:avLst/>
          </a:prstGeom>
          <a:noFill/>
          <a:ln/>
        </p:spPr>
        <p:txBody>
          <a:bodyPr wrap="square" lIns="0" tIns="0" rIns="0" bIns="0" rtlCol="0" anchor="ctr"/>
          <a:lstStyle/>
          <a:p>
            <a:pPr marL="0" indent="0" algn="ctr">
              <a:buNone/>
            </a:pPr>
            <a:r>
              <a:rPr lang="en-US" sz="2000" dirty="0">
                <a:solidFill>
                  <a:srgbClr val="E8EEF7"/>
                </a:solidFill>
                <a:latin typeface="Calibri" pitchFamily="34" charset="0"/>
                <a:ea typeface="Calibri" pitchFamily="34" charset="-122"/>
                <a:cs typeface="Calibri" pitchFamily="34" charset="-120"/>
              </a:rPr>
              <a:t>Thread 2</a:t>
            </a:r>
            <a:endParaRPr lang="en-US" sz="2000" dirty="0"/>
          </a:p>
        </p:txBody>
      </p:sp>
      <p:sp>
        <p:nvSpPr>
          <p:cNvPr id="14" name="Shape 11"/>
          <p:cNvSpPr/>
          <p:nvPr/>
        </p:nvSpPr>
        <p:spPr>
          <a:xfrm>
            <a:off x="7635240" y="3977640"/>
            <a:ext cx="1783080" cy="1417320"/>
          </a:xfrm>
          <a:prstGeom prst="roundRect">
            <a:avLst>
              <a:gd name="adj" fmla="val 3871"/>
            </a:avLst>
          </a:prstGeom>
          <a:solidFill>
            <a:srgbClr val="233B63"/>
          </a:solidFill>
          <a:ln w="12700">
            <a:solidFill>
              <a:srgbClr val="00D9FF"/>
            </a:solidFill>
            <a:prstDash val="solid"/>
          </a:ln>
        </p:spPr>
      </p:sp>
      <p:sp>
        <p:nvSpPr>
          <p:cNvPr id="15" name="Text 12"/>
          <p:cNvSpPr/>
          <p:nvPr/>
        </p:nvSpPr>
        <p:spPr>
          <a:xfrm>
            <a:off x="7635240" y="4114800"/>
            <a:ext cx="1783080" cy="365760"/>
          </a:xfrm>
          <a:prstGeom prst="rect">
            <a:avLst/>
          </a:prstGeom>
          <a:noFill/>
          <a:ln/>
        </p:spPr>
        <p:txBody>
          <a:bodyPr wrap="square" lIns="0" tIns="0" rIns="0" bIns="0" rtlCol="0" anchor="ctr"/>
          <a:lstStyle/>
          <a:p>
            <a:pPr marL="0" indent="0" algn="ctr">
              <a:buNone/>
            </a:pPr>
            <a:r>
              <a:rPr lang="en-US" sz="2000" b="1" dirty="0">
                <a:solidFill>
                  <a:srgbClr val="00D9FF"/>
                </a:solidFill>
                <a:latin typeface="Calibri" pitchFamily="34" charset="0"/>
                <a:ea typeface="Calibri" pitchFamily="34" charset="-122"/>
                <a:cs typeface="Calibri" pitchFamily="34" charset="-120"/>
              </a:rPr>
              <a:t>Core 3</a:t>
            </a:r>
            <a:endParaRPr lang="en-US" sz="2000" dirty="0"/>
          </a:p>
        </p:txBody>
      </p:sp>
      <p:sp>
        <p:nvSpPr>
          <p:cNvPr id="16" name="Text 13"/>
          <p:cNvSpPr/>
          <p:nvPr/>
        </p:nvSpPr>
        <p:spPr>
          <a:xfrm>
            <a:off x="7635240" y="4663440"/>
            <a:ext cx="1783080" cy="365760"/>
          </a:xfrm>
          <a:prstGeom prst="rect">
            <a:avLst/>
          </a:prstGeom>
          <a:noFill/>
          <a:ln/>
        </p:spPr>
        <p:txBody>
          <a:bodyPr wrap="square" lIns="0" tIns="0" rIns="0" bIns="0" rtlCol="0" anchor="ctr"/>
          <a:lstStyle/>
          <a:p>
            <a:pPr marL="0" indent="0" algn="ctr">
              <a:buNone/>
            </a:pPr>
            <a:r>
              <a:rPr lang="en-US" sz="2000" dirty="0">
                <a:solidFill>
                  <a:srgbClr val="E8EEF7"/>
                </a:solidFill>
                <a:latin typeface="Calibri" pitchFamily="34" charset="0"/>
                <a:ea typeface="Calibri" pitchFamily="34" charset="-122"/>
                <a:cs typeface="Calibri" pitchFamily="34" charset="-120"/>
              </a:rPr>
              <a:t>Thread 3</a:t>
            </a:r>
            <a:endParaRPr lang="en-US" sz="2000" dirty="0"/>
          </a:p>
        </p:txBody>
      </p:sp>
      <p:sp>
        <p:nvSpPr>
          <p:cNvPr id="17" name="Shape 14"/>
          <p:cNvSpPr/>
          <p:nvPr/>
        </p:nvSpPr>
        <p:spPr>
          <a:xfrm>
            <a:off x="9372600" y="3977640"/>
            <a:ext cx="1783080" cy="1417320"/>
          </a:xfrm>
          <a:prstGeom prst="roundRect">
            <a:avLst>
              <a:gd name="adj" fmla="val 3871"/>
            </a:avLst>
          </a:prstGeom>
          <a:solidFill>
            <a:srgbClr val="233B63"/>
          </a:solidFill>
          <a:ln w="12700">
            <a:solidFill>
              <a:srgbClr val="00D9FF"/>
            </a:solidFill>
            <a:prstDash val="solid"/>
          </a:ln>
        </p:spPr>
      </p:sp>
      <p:sp>
        <p:nvSpPr>
          <p:cNvPr id="18" name="Text 15"/>
          <p:cNvSpPr/>
          <p:nvPr/>
        </p:nvSpPr>
        <p:spPr>
          <a:xfrm>
            <a:off x="9372600" y="4114800"/>
            <a:ext cx="1783080" cy="365760"/>
          </a:xfrm>
          <a:prstGeom prst="rect">
            <a:avLst/>
          </a:prstGeom>
          <a:noFill/>
          <a:ln/>
        </p:spPr>
        <p:txBody>
          <a:bodyPr wrap="square" lIns="0" tIns="0" rIns="0" bIns="0" rtlCol="0" anchor="ctr"/>
          <a:lstStyle/>
          <a:p>
            <a:pPr marL="0" indent="0" algn="ctr">
              <a:buNone/>
            </a:pPr>
            <a:r>
              <a:rPr lang="en-US" sz="2000" b="1" dirty="0">
                <a:solidFill>
                  <a:srgbClr val="00D9FF"/>
                </a:solidFill>
                <a:latin typeface="Calibri" pitchFamily="34" charset="0"/>
                <a:ea typeface="Calibri" pitchFamily="34" charset="-122"/>
                <a:cs typeface="Calibri" pitchFamily="34" charset="-120"/>
              </a:rPr>
              <a:t>Core 4</a:t>
            </a:r>
            <a:endParaRPr lang="en-US" sz="2000" dirty="0"/>
          </a:p>
        </p:txBody>
      </p:sp>
      <p:sp>
        <p:nvSpPr>
          <p:cNvPr id="19" name="Text 16"/>
          <p:cNvSpPr/>
          <p:nvPr/>
        </p:nvSpPr>
        <p:spPr>
          <a:xfrm>
            <a:off x="9372600" y="4663440"/>
            <a:ext cx="1783080" cy="365760"/>
          </a:xfrm>
          <a:prstGeom prst="rect">
            <a:avLst/>
          </a:prstGeom>
          <a:noFill/>
          <a:ln/>
        </p:spPr>
        <p:txBody>
          <a:bodyPr wrap="square" lIns="0" tIns="0" rIns="0" bIns="0" rtlCol="0" anchor="ctr"/>
          <a:lstStyle/>
          <a:p>
            <a:pPr marL="0" indent="0" algn="ctr">
              <a:buNone/>
            </a:pPr>
            <a:r>
              <a:rPr lang="en-US" sz="2000" dirty="0">
                <a:solidFill>
                  <a:srgbClr val="E8EEF7"/>
                </a:solidFill>
                <a:latin typeface="Calibri" pitchFamily="34" charset="0"/>
                <a:ea typeface="Calibri" pitchFamily="34" charset="-122"/>
                <a:cs typeface="Calibri" pitchFamily="34" charset="-120"/>
              </a:rPr>
              <a:t>Thread 4</a:t>
            </a:r>
            <a:endParaRPr lang="en-US" sz="2000" dirty="0"/>
          </a:p>
        </p:txBody>
      </p:sp>
      <p:sp>
        <p:nvSpPr>
          <p:cNvPr id="20" name="Text 17"/>
          <p:cNvSpPr/>
          <p:nvPr/>
        </p:nvSpPr>
        <p:spPr>
          <a:xfrm>
            <a:off x="457200" y="6601968"/>
            <a:ext cx="4572000" cy="256032"/>
          </a:xfrm>
          <a:prstGeom prst="rect">
            <a:avLst/>
          </a:prstGeom>
          <a:noFill/>
          <a:ln/>
        </p:spPr>
        <p:txBody>
          <a:bodyPr wrap="square" lIns="0" tIns="0" rIns="0" bIns="0" rtlCol="0" anchor="ctr"/>
          <a:lstStyle/>
          <a:p>
            <a:pPr marL="0" indent="0" algn="l">
              <a:buNone/>
            </a:pPr>
            <a:r>
              <a:rPr lang="en-US" sz="2000" dirty="0">
                <a:solidFill>
                  <a:srgbClr val="5B6B84"/>
                </a:solidFill>
                <a:latin typeface="Calibri" pitchFamily="34" charset="0"/>
                <a:ea typeface="Calibri" pitchFamily="34" charset="-122"/>
                <a:cs typeface="Calibri" pitchFamily="34" charset="-120"/>
              </a:rPr>
              <a:t>Presidency University, Bengaluru</a:t>
            </a:r>
            <a:endParaRPr lang="en-US" sz="2000" dirty="0"/>
          </a:p>
        </p:txBody>
      </p:sp>
      <p:sp>
        <p:nvSpPr>
          <p:cNvPr id="21" name="Text 18"/>
          <p:cNvSpPr/>
          <p:nvPr/>
        </p:nvSpPr>
        <p:spPr>
          <a:xfrm>
            <a:off x="9902952" y="6601968"/>
            <a:ext cx="1828800" cy="256032"/>
          </a:xfrm>
          <a:prstGeom prst="rect">
            <a:avLst/>
          </a:prstGeom>
          <a:noFill/>
          <a:ln/>
        </p:spPr>
        <p:txBody>
          <a:bodyPr wrap="square" lIns="0" tIns="0" rIns="0" bIns="0" rtlCol="0" anchor="ctr"/>
          <a:lstStyle/>
          <a:p>
            <a:pPr marL="0" indent="0" algn="r">
              <a:buNone/>
            </a:pPr>
            <a:r>
              <a:rPr lang="en-US" sz="2000" dirty="0">
                <a:solidFill>
                  <a:srgbClr val="5B6B84"/>
                </a:solidFill>
                <a:latin typeface="Calibri" pitchFamily="34" charset="0"/>
                <a:ea typeface="Calibri" pitchFamily="34" charset="-122"/>
                <a:cs typeface="Calibri" pitchFamily="34" charset="-120"/>
              </a:rPr>
              <a:t>CSS2257</a:t>
            </a:r>
            <a:endParaRPr lang="en-US" sz="20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11480"/>
            <a:ext cx="9601200" cy="868680"/>
          </a:xfrm>
          <a:prstGeom prst="rect">
            <a:avLst/>
          </a:prstGeom>
          <a:noFill/>
          <a:ln/>
        </p:spPr>
        <p:txBody>
          <a:bodyPr wrap="square" lIns="0" tIns="0" rIns="0" bIns="0" rtlCol="0" anchor="ctr"/>
          <a:lstStyle/>
          <a:p>
            <a:pPr marL="0" indent="0" algn="l">
              <a:buNone/>
            </a:pPr>
            <a:r>
              <a:rPr lang="en-US" sz="3400" b="1" dirty="0">
                <a:solidFill>
                  <a:srgbClr val="1B2A4A"/>
                </a:solidFill>
                <a:latin typeface="Cambria" pitchFamily="34" charset="0"/>
                <a:ea typeface="Cambria" pitchFamily="34" charset="-122"/>
                <a:cs typeface="Cambria" pitchFamily="34" charset="-120"/>
              </a:rPr>
              <a:t>Real-World Example — A Smartphone's Chip</a:t>
            </a:r>
            <a:endParaRPr lang="en-US" sz="3400" dirty="0"/>
          </a:p>
        </p:txBody>
      </p:sp>
      <p:sp>
        <p:nvSpPr>
          <p:cNvPr id="3" name="Shape 1"/>
          <p:cNvSpPr/>
          <p:nvPr/>
        </p:nvSpPr>
        <p:spPr>
          <a:xfrm>
            <a:off x="10607040" y="365760"/>
            <a:ext cx="914400" cy="914400"/>
          </a:xfrm>
          <a:prstGeom prst="ellipse">
            <a:avLst/>
          </a:prstGeom>
          <a:solidFill>
            <a:srgbClr val="1B2A4A"/>
          </a:solidFill>
          <a:ln w="12700">
            <a:solidFill>
              <a:srgbClr val="1B2A4A"/>
            </a:solidFill>
            <a:prstDash val="solid"/>
          </a:ln>
        </p:spPr>
      </p:sp>
      <p:pic>
        <p:nvPicPr>
          <p:cNvPr id="4" name="Image 0" descr="/home/claude/coa_ppt/icon_mobile_white.png"/>
          <p:cNvPicPr>
            <a:picLocks noChangeAspect="1"/>
          </p:cNvPicPr>
          <p:nvPr/>
        </p:nvPicPr>
        <p:blipFill>
          <a:blip r:embed="rId3"/>
          <a:stretch>
            <a:fillRect/>
          </a:stretch>
        </p:blipFill>
        <p:spPr>
          <a:xfrm>
            <a:off x="10844784" y="603504"/>
            <a:ext cx="438912" cy="438912"/>
          </a:xfrm>
          <a:prstGeom prst="rect">
            <a:avLst/>
          </a:prstGeom>
        </p:spPr>
      </p:pic>
      <p:sp>
        <p:nvSpPr>
          <p:cNvPr id="5" name="Text 2"/>
          <p:cNvSpPr/>
          <p:nvPr/>
        </p:nvSpPr>
        <p:spPr>
          <a:xfrm>
            <a:off x="548640" y="1417320"/>
            <a:ext cx="11064240" cy="4754880"/>
          </a:xfrm>
          <a:prstGeom prst="rect">
            <a:avLst/>
          </a:prstGeom>
          <a:noFill/>
          <a:ln/>
        </p:spPr>
        <p:txBody>
          <a:bodyPr wrap="square" lIns="0" tIns="0" rIns="0" bIns="0" rtlCol="0" anchor="t"/>
          <a:lstStyle/>
          <a:p>
            <a:pPr marL="279400" indent="-279400">
              <a:lnSpc>
                <a:spcPct val="108000"/>
              </a:lnSpc>
              <a:spcAft>
                <a:spcPts val="1000"/>
              </a:spcAft>
              <a:buSzPct val="100000"/>
              <a:buChar char="•"/>
            </a:pPr>
            <a:r>
              <a:rPr lang="en-US" sz="2000" dirty="0">
                <a:solidFill>
                  <a:srgbClr val="1B2A4A"/>
                </a:solidFill>
                <a:latin typeface="Calibri" pitchFamily="34" charset="0"/>
                <a:ea typeface="Calibri" pitchFamily="34" charset="-122"/>
                <a:cs typeface="Calibri" pitchFamily="34" charset="-120"/>
              </a:rPr>
              <a:t>A modern smartphone System-on-Chip (SoC) uses all three forms of parallelism at once</a:t>
            </a:r>
            <a:endParaRPr lang="en-US" sz="2000" dirty="0"/>
          </a:p>
          <a:p>
            <a:pPr marL="279400" indent="-279400">
              <a:lnSpc>
                <a:spcPct val="108000"/>
              </a:lnSpc>
              <a:spcAft>
                <a:spcPts val="1000"/>
              </a:spcAft>
              <a:buSzPct val="100000"/>
              <a:buChar char="•"/>
            </a:pPr>
            <a:r>
              <a:rPr lang="en-US" sz="2000" b="1" dirty="0">
                <a:solidFill>
                  <a:srgbClr val="1B2A4A"/>
                </a:solidFill>
                <a:latin typeface="Calibri" pitchFamily="34" charset="0"/>
                <a:ea typeface="Calibri" pitchFamily="34" charset="-122"/>
                <a:cs typeface="Calibri" pitchFamily="34" charset="-120"/>
              </a:rPr>
              <a:t>ILP:</a:t>
            </a:r>
            <a:endParaRPr lang="en-US" sz="2000" dirty="0"/>
          </a:p>
          <a:p>
            <a:pPr marL="508000" indent="-508000">
              <a:lnSpc>
                <a:spcPct val="108000"/>
              </a:lnSpc>
              <a:spcAft>
                <a:spcPts val="1000"/>
              </a:spcAft>
              <a:buSzPct val="100000"/>
              <a:buChar char="○"/>
            </a:pPr>
            <a:r>
              <a:rPr lang="en-US" sz="2000" dirty="0">
                <a:solidFill>
                  <a:srgbClr val="1B2A4A"/>
                </a:solidFill>
                <a:latin typeface="Calibri" pitchFamily="34" charset="0"/>
                <a:ea typeface="Calibri" pitchFamily="34" charset="-122"/>
                <a:cs typeface="Calibri" pitchFamily="34" charset="-120"/>
              </a:rPr>
              <a:t>each CPU core pipelines and overlaps its own instructions internally</a:t>
            </a:r>
            <a:endParaRPr lang="en-US" sz="2000" dirty="0"/>
          </a:p>
          <a:p>
            <a:pPr marL="279400" indent="-279400">
              <a:lnSpc>
                <a:spcPct val="108000"/>
              </a:lnSpc>
              <a:spcAft>
                <a:spcPts val="1000"/>
              </a:spcAft>
              <a:buSzPct val="100000"/>
              <a:buChar char="•"/>
            </a:pPr>
            <a:r>
              <a:rPr lang="en-US" sz="2000" b="1" dirty="0">
                <a:solidFill>
                  <a:srgbClr val="1B2A4A"/>
                </a:solidFill>
                <a:latin typeface="Calibri" pitchFamily="34" charset="0"/>
                <a:ea typeface="Calibri" pitchFamily="34" charset="-122"/>
                <a:cs typeface="Calibri" pitchFamily="34" charset="-120"/>
              </a:rPr>
              <a:t>DLP:</a:t>
            </a:r>
            <a:endParaRPr lang="en-US" sz="2000" dirty="0"/>
          </a:p>
          <a:p>
            <a:pPr marL="508000" indent="-508000">
              <a:lnSpc>
                <a:spcPct val="108000"/>
              </a:lnSpc>
              <a:spcAft>
                <a:spcPts val="1000"/>
              </a:spcAft>
              <a:buSzPct val="100000"/>
              <a:buChar char="○"/>
            </a:pPr>
            <a:r>
              <a:rPr lang="en-US" sz="2000" dirty="0">
                <a:solidFill>
                  <a:srgbClr val="1B2A4A"/>
                </a:solidFill>
                <a:latin typeface="Calibri" pitchFamily="34" charset="0"/>
                <a:ea typeface="Calibri" pitchFamily="34" charset="-122"/>
                <a:cs typeface="Calibri" pitchFamily="34" charset="-120"/>
              </a:rPr>
              <a:t>the GPU applies SIMD-style operations across millions of pixels for the display</a:t>
            </a:r>
            <a:endParaRPr lang="en-US" sz="2000" dirty="0"/>
          </a:p>
          <a:p>
            <a:pPr marL="279400" indent="-279400">
              <a:lnSpc>
                <a:spcPct val="108000"/>
              </a:lnSpc>
              <a:spcAft>
                <a:spcPts val="1000"/>
              </a:spcAft>
              <a:buSzPct val="100000"/>
              <a:buChar char="•"/>
            </a:pPr>
            <a:r>
              <a:rPr lang="en-US" sz="2000" b="1" dirty="0">
                <a:solidFill>
                  <a:srgbClr val="1B2A4A"/>
                </a:solidFill>
                <a:latin typeface="Calibri" pitchFamily="34" charset="0"/>
                <a:ea typeface="Calibri" pitchFamily="34" charset="-122"/>
                <a:cs typeface="Calibri" pitchFamily="34" charset="-120"/>
              </a:rPr>
              <a:t>TLP:</a:t>
            </a:r>
            <a:endParaRPr lang="en-US" sz="2000" dirty="0"/>
          </a:p>
          <a:p>
            <a:pPr marL="508000" indent="-508000">
              <a:lnSpc>
                <a:spcPct val="108000"/>
              </a:lnSpc>
              <a:spcAft>
                <a:spcPts val="1000"/>
              </a:spcAft>
              <a:buSzPct val="100000"/>
              <a:buChar char="○"/>
            </a:pPr>
            <a:r>
              <a:rPr lang="en-US" sz="2000" dirty="0">
                <a:solidFill>
                  <a:srgbClr val="1B2A4A"/>
                </a:solidFill>
                <a:latin typeface="Calibri" pitchFamily="34" charset="0"/>
                <a:ea typeface="Calibri" pitchFamily="34" charset="-122"/>
                <a:cs typeface="Calibri" pitchFamily="34" charset="-120"/>
              </a:rPr>
              <a:t>big/little core clusters run different apps and background tasks on separate cores simultaneously, balancing performance and battery life</a:t>
            </a:r>
            <a:endParaRPr lang="en-US" sz="2000" dirty="0"/>
          </a:p>
        </p:txBody>
      </p:sp>
      <p:sp>
        <p:nvSpPr>
          <p:cNvPr id="6" name="Text 3"/>
          <p:cNvSpPr/>
          <p:nvPr/>
        </p:nvSpPr>
        <p:spPr>
          <a:xfrm>
            <a:off x="457200" y="6601968"/>
            <a:ext cx="4572000" cy="256032"/>
          </a:xfrm>
          <a:prstGeom prst="rect">
            <a:avLst/>
          </a:prstGeom>
          <a:noFill/>
          <a:ln/>
        </p:spPr>
        <p:txBody>
          <a:bodyPr wrap="square" lIns="0" tIns="0" rIns="0" bIns="0" rtlCol="0" anchor="ctr"/>
          <a:lstStyle/>
          <a:p>
            <a:pPr marL="0" indent="0" algn="l">
              <a:buNone/>
            </a:pPr>
            <a:r>
              <a:rPr lang="en-US" sz="2000" dirty="0">
                <a:solidFill>
                  <a:srgbClr val="5B6B84"/>
                </a:solidFill>
                <a:latin typeface="Calibri" pitchFamily="34" charset="0"/>
                <a:ea typeface="Calibri" pitchFamily="34" charset="-122"/>
                <a:cs typeface="Calibri" pitchFamily="34" charset="-120"/>
              </a:rPr>
              <a:t>Presidency University, Bengaluru</a:t>
            </a:r>
            <a:endParaRPr lang="en-US" sz="2000" dirty="0"/>
          </a:p>
        </p:txBody>
      </p:sp>
      <p:sp>
        <p:nvSpPr>
          <p:cNvPr id="7" name="Text 4"/>
          <p:cNvSpPr/>
          <p:nvPr/>
        </p:nvSpPr>
        <p:spPr>
          <a:xfrm>
            <a:off x="9902952" y="6601968"/>
            <a:ext cx="1828800" cy="256032"/>
          </a:xfrm>
          <a:prstGeom prst="rect">
            <a:avLst/>
          </a:prstGeom>
          <a:noFill/>
          <a:ln/>
        </p:spPr>
        <p:txBody>
          <a:bodyPr wrap="square" lIns="0" tIns="0" rIns="0" bIns="0" rtlCol="0" anchor="ctr"/>
          <a:lstStyle/>
          <a:p>
            <a:pPr marL="0" indent="0" algn="r">
              <a:buNone/>
            </a:pPr>
            <a:r>
              <a:rPr lang="en-US" sz="2000" dirty="0">
                <a:solidFill>
                  <a:srgbClr val="5B6B84"/>
                </a:solidFill>
                <a:latin typeface="Calibri" pitchFamily="34" charset="0"/>
                <a:ea typeface="Calibri" pitchFamily="34" charset="-122"/>
                <a:cs typeface="Calibri" pitchFamily="34" charset="-120"/>
              </a:rPr>
              <a:t>CSS2257</a:t>
            </a:r>
            <a:endParaRPr lang="en-US" sz="20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1B2A4A"/>
        </a:solidFill>
        <a:effectLst/>
      </p:bgPr>
    </p:bg>
    <p:spTree>
      <p:nvGrpSpPr>
        <p:cNvPr id="1" name=""/>
        <p:cNvGrpSpPr/>
        <p:nvPr/>
      </p:nvGrpSpPr>
      <p:grpSpPr>
        <a:xfrm>
          <a:off x="0" y="0"/>
          <a:ext cx="0" cy="0"/>
          <a:chOff x="0" y="0"/>
          <a:chExt cx="0" cy="0"/>
        </a:xfrm>
      </p:grpSpPr>
      <p:sp>
        <p:nvSpPr>
          <p:cNvPr id="2" name="Text 0"/>
          <p:cNvSpPr/>
          <p:nvPr/>
        </p:nvSpPr>
        <p:spPr>
          <a:xfrm>
            <a:off x="548640" y="411480"/>
            <a:ext cx="9601200" cy="868680"/>
          </a:xfrm>
          <a:prstGeom prst="rect">
            <a:avLst/>
          </a:prstGeom>
          <a:noFill/>
          <a:ln/>
        </p:spPr>
        <p:txBody>
          <a:bodyPr wrap="square" lIns="0" tIns="0" rIns="0" bIns="0" rtlCol="0" anchor="ctr"/>
          <a:lstStyle/>
          <a:p>
            <a:pPr marL="0" indent="0" algn="l">
              <a:buNone/>
            </a:pPr>
            <a:r>
              <a:rPr lang="en-US" sz="3400" b="1" dirty="0">
                <a:solidFill>
                  <a:srgbClr val="FFFFFF"/>
                </a:solidFill>
                <a:latin typeface="Cambria" pitchFamily="34" charset="0"/>
                <a:ea typeface="Cambria" pitchFamily="34" charset="-122"/>
                <a:cs typeface="Cambria" pitchFamily="34" charset="-120"/>
              </a:rPr>
              <a:t>Common Misconceptions &amp; Pitfalls</a:t>
            </a:r>
            <a:endParaRPr lang="en-US" sz="3400" dirty="0"/>
          </a:p>
        </p:txBody>
      </p:sp>
      <p:sp>
        <p:nvSpPr>
          <p:cNvPr id="3" name="Shape 1"/>
          <p:cNvSpPr/>
          <p:nvPr/>
        </p:nvSpPr>
        <p:spPr>
          <a:xfrm>
            <a:off x="10607040" y="365760"/>
            <a:ext cx="914400" cy="914400"/>
          </a:xfrm>
          <a:prstGeom prst="ellipse">
            <a:avLst/>
          </a:prstGeom>
          <a:solidFill>
            <a:srgbClr val="233B63"/>
          </a:solidFill>
          <a:ln w="12700">
            <a:solidFill>
              <a:srgbClr val="233B63"/>
            </a:solidFill>
            <a:prstDash val="solid"/>
          </a:ln>
        </p:spPr>
      </p:sp>
      <p:pic>
        <p:nvPicPr>
          <p:cNvPr id="4" name="Image 0" descr="/home/claude/coa_ppt/icon_warning_white.png"/>
          <p:cNvPicPr>
            <a:picLocks noChangeAspect="1"/>
          </p:cNvPicPr>
          <p:nvPr/>
        </p:nvPicPr>
        <p:blipFill>
          <a:blip r:embed="rId3"/>
          <a:stretch>
            <a:fillRect/>
          </a:stretch>
        </p:blipFill>
        <p:spPr>
          <a:xfrm>
            <a:off x="10844784" y="603504"/>
            <a:ext cx="438912" cy="438912"/>
          </a:xfrm>
          <a:prstGeom prst="rect">
            <a:avLst/>
          </a:prstGeom>
        </p:spPr>
      </p:pic>
      <p:sp>
        <p:nvSpPr>
          <p:cNvPr id="5" name="Shape 2"/>
          <p:cNvSpPr/>
          <p:nvPr/>
        </p:nvSpPr>
        <p:spPr>
          <a:xfrm>
            <a:off x="548640" y="1554480"/>
            <a:ext cx="11064240" cy="1051560"/>
          </a:xfrm>
          <a:prstGeom prst="roundRect">
            <a:avLst>
              <a:gd name="adj" fmla="val 6957"/>
            </a:avLst>
          </a:prstGeom>
          <a:solidFill>
            <a:srgbClr val="233B63"/>
          </a:solidFill>
          <a:ln w="12700">
            <a:solidFill>
              <a:srgbClr val="233B63"/>
            </a:solidFill>
            <a:prstDash val="solid"/>
          </a:ln>
        </p:spPr>
      </p:sp>
      <p:sp>
        <p:nvSpPr>
          <p:cNvPr id="6" name="Text 3"/>
          <p:cNvSpPr/>
          <p:nvPr/>
        </p:nvSpPr>
        <p:spPr>
          <a:xfrm>
            <a:off x="777240" y="1645920"/>
            <a:ext cx="10607040" cy="411480"/>
          </a:xfrm>
          <a:prstGeom prst="rect">
            <a:avLst/>
          </a:prstGeom>
          <a:noFill/>
          <a:ln/>
        </p:spPr>
        <p:txBody>
          <a:bodyPr wrap="square" lIns="0" tIns="0" rIns="0" bIns="0" rtlCol="0" anchor="ctr"/>
          <a:lstStyle/>
          <a:p>
            <a:pPr marL="0" indent="0">
              <a:buNone/>
            </a:pPr>
            <a:r>
              <a:rPr lang="en-US" sz="2000" b="1" dirty="0">
                <a:solidFill>
                  <a:srgbClr val="FFB84D"/>
                </a:solidFill>
                <a:latin typeface="Calibri" pitchFamily="34" charset="0"/>
                <a:ea typeface="Calibri" pitchFamily="34" charset="-122"/>
                <a:cs typeface="Calibri" pitchFamily="34" charset="-120"/>
              </a:rPr>
              <a:t>“Higher GHz always means faster”</a:t>
            </a:r>
            <a:endParaRPr lang="en-US" sz="2000" dirty="0"/>
          </a:p>
        </p:txBody>
      </p:sp>
      <p:sp>
        <p:nvSpPr>
          <p:cNvPr id="7" name="Text 4"/>
          <p:cNvSpPr/>
          <p:nvPr/>
        </p:nvSpPr>
        <p:spPr>
          <a:xfrm>
            <a:off x="777240" y="2084832"/>
            <a:ext cx="10607040" cy="457200"/>
          </a:xfrm>
          <a:prstGeom prst="rect">
            <a:avLst/>
          </a:prstGeom>
          <a:noFill/>
          <a:ln/>
        </p:spPr>
        <p:txBody>
          <a:bodyPr wrap="square" lIns="0" tIns="0" rIns="0" bIns="0" rtlCol="0" anchor="ctr"/>
          <a:lstStyle/>
          <a:p>
            <a:pPr marL="0" indent="0">
              <a:buNone/>
            </a:pPr>
            <a:r>
              <a:rPr lang="en-US" sz="2000" dirty="0">
                <a:solidFill>
                  <a:srgbClr val="E8EEF7"/>
                </a:solidFill>
                <a:latin typeface="Calibri" pitchFamily="34" charset="0"/>
                <a:ea typeface="Calibri" pitchFamily="34" charset="-122"/>
                <a:cs typeface="Calibri" pitchFamily="34" charset="-120"/>
              </a:rPr>
              <a:t>False — CPI and instruction count matter just as much (see Example 2)</a:t>
            </a:r>
            <a:endParaRPr lang="en-US" sz="2000" dirty="0"/>
          </a:p>
        </p:txBody>
      </p:sp>
      <p:sp>
        <p:nvSpPr>
          <p:cNvPr id="8" name="Shape 5"/>
          <p:cNvSpPr/>
          <p:nvPr/>
        </p:nvSpPr>
        <p:spPr>
          <a:xfrm>
            <a:off x="548640" y="2761488"/>
            <a:ext cx="11064240" cy="1051560"/>
          </a:xfrm>
          <a:prstGeom prst="roundRect">
            <a:avLst>
              <a:gd name="adj" fmla="val 6957"/>
            </a:avLst>
          </a:prstGeom>
          <a:solidFill>
            <a:srgbClr val="233B63"/>
          </a:solidFill>
          <a:ln w="12700">
            <a:solidFill>
              <a:srgbClr val="233B63"/>
            </a:solidFill>
            <a:prstDash val="solid"/>
          </a:ln>
        </p:spPr>
      </p:sp>
      <p:sp>
        <p:nvSpPr>
          <p:cNvPr id="9" name="Text 6"/>
          <p:cNvSpPr/>
          <p:nvPr/>
        </p:nvSpPr>
        <p:spPr>
          <a:xfrm>
            <a:off x="777240" y="2852928"/>
            <a:ext cx="10607040" cy="411480"/>
          </a:xfrm>
          <a:prstGeom prst="rect">
            <a:avLst/>
          </a:prstGeom>
          <a:noFill/>
          <a:ln/>
        </p:spPr>
        <p:txBody>
          <a:bodyPr wrap="square" lIns="0" tIns="0" rIns="0" bIns="0" rtlCol="0" anchor="ctr"/>
          <a:lstStyle/>
          <a:p>
            <a:pPr marL="0" indent="0">
              <a:buNone/>
            </a:pPr>
            <a:r>
              <a:rPr lang="en-US" sz="2000" b="1" dirty="0">
                <a:solidFill>
                  <a:srgbClr val="FFB84D"/>
                </a:solidFill>
                <a:latin typeface="Calibri" pitchFamily="34" charset="0"/>
                <a:ea typeface="Calibri" pitchFamily="34" charset="-122"/>
                <a:cs typeface="Calibri" pitchFamily="34" charset="-120"/>
              </a:rPr>
              <a:t>“More cores always means proportionally faster”</a:t>
            </a:r>
            <a:endParaRPr lang="en-US" sz="2000" dirty="0"/>
          </a:p>
        </p:txBody>
      </p:sp>
      <p:sp>
        <p:nvSpPr>
          <p:cNvPr id="10" name="Text 7"/>
          <p:cNvSpPr/>
          <p:nvPr/>
        </p:nvSpPr>
        <p:spPr>
          <a:xfrm>
            <a:off x="777240" y="3291840"/>
            <a:ext cx="10607040" cy="457200"/>
          </a:xfrm>
          <a:prstGeom prst="rect">
            <a:avLst/>
          </a:prstGeom>
          <a:noFill/>
          <a:ln/>
        </p:spPr>
        <p:txBody>
          <a:bodyPr wrap="square" lIns="0" tIns="0" rIns="0" bIns="0" rtlCol="0" anchor="ctr"/>
          <a:lstStyle/>
          <a:p>
            <a:pPr marL="0" indent="0">
              <a:buNone/>
            </a:pPr>
            <a:r>
              <a:rPr lang="en-US" sz="2000" dirty="0">
                <a:solidFill>
                  <a:srgbClr val="E8EEF7"/>
                </a:solidFill>
                <a:latin typeface="Calibri" pitchFamily="34" charset="0"/>
                <a:ea typeface="Calibri" pitchFamily="34" charset="-122"/>
                <a:cs typeface="Calibri" pitchFamily="34" charset="-120"/>
              </a:rPr>
              <a:t>False — Amdahl's Law caps the benefit based on the serial fraction</a:t>
            </a:r>
            <a:endParaRPr lang="en-US" sz="2000" dirty="0"/>
          </a:p>
        </p:txBody>
      </p:sp>
      <p:sp>
        <p:nvSpPr>
          <p:cNvPr id="11" name="Shape 8"/>
          <p:cNvSpPr/>
          <p:nvPr/>
        </p:nvSpPr>
        <p:spPr>
          <a:xfrm>
            <a:off x="548640" y="3968496"/>
            <a:ext cx="11064240" cy="1051560"/>
          </a:xfrm>
          <a:prstGeom prst="roundRect">
            <a:avLst>
              <a:gd name="adj" fmla="val 6957"/>
            </a:avLst>
          </a:prstGeom>
          <a:solidFill>
            <a:srgbClr val="233B63"/>
          </a:solidFill>
          <a:ln w="12700">
            <a:solidFill>
              <a:srgbClr val="233B63"/>
            </a:solidFill>
            <a:prstDash val="solid"/>
          </a:ln>
        </p:spPr>
      </p:sp>
      <p:sp>
        <p:nvSpPr>
          <p:cNvPr id="12" name="Text 9"/>
          <p:cNvSpPr/>
          <p:nvPr/>
        </p:nvSpPr>
        <p:spPr>
          <a:xfrm>
            <a:off x="777240" y="4059936"/>
            <a:ext cx="10607040" cy="411480"/>
          </a:xfrm>
          <a:prstGeom prst="rect">
            <a:avLst/>
          </a:prstGeom>
          <a:noFill/>
          <a:ln/>
        </p:spPr>
        <p:txBody>
          <a:bodyPr wrap="square" lIns="0" tIns="0" rIns="0" bIns="0" rtlCol="0" anchor="ctr"/>
          <a:lstStyle/>
          <a:p>
            <a:pPr marL="0" indent="0">
              <a:buNone/>
            </a:pPr>
            <a:r>
              <a:rPr lang="en-US" sz="2000" b="1" dirty="0">
                <a:solidFill>
                  <a:srgbClr val="FFB84D"/>
                </a:solidFill>
                <a:latin typeface="Calibri" pitchFamily="34" charset="0"/>
                <a:ea typeface="Calibri" pitchFamily="34" charset="-122"/>
                <a:cs typeface="Calibri" pitchFamily="34" charset="-120"/>
              </a:rPr>
              <a:t>“MIPS is a fair way to compare processors”</a:t>
            </a:r>
            <a:endParaRPr lang="en-US" sz="2000" dirty="0"/>
          </a:p>
        </p:txBody>
      </p:sp>
      <p:sp>
        <p:nvSpPr>
          <p:cNvPr id="13" name="Text 10"/>
          <p:cNvSpPr/>
          <p:nvPr/>
        </p:nvSpPr>
        <p:spPr>
          <a:xfrm>
            <a:off x="777240" y="4498848"/>
            <a:ext cx="10607040" cy="457200"/>
          </a:xfrm>
          <a:prstGeom prst="rect">
            <a:avLst/>
          </a:prstGeom>
          <a:noFill/>
          <a:ln/>
        </p:spPr>
        <p:txBody>
          <a:bodyPr wrap="square" lIns="0" tIns="0" rIns="0" bIns="0" rtlCol="0" anchor="ctr"/>
          <a:lstStyle/>
          <a:p>
            <a:pPr marL="0" indent="0">
              <a:buNone/>
            </a:pPr>
            <a:r>
              <a:rPr lang="en-US" sz="2000" dirty="0">
                <a:solidFill>
                  <a:srgbClr val="E8EEF7"/>
                </a:solidFill>
                <a:latin typeface="Calibri" pitchFamily="34" charset="0"/>
                <a:ea typeface="Calibri" pitchFamily="34" charset="-122"/>
                <a:cs typeface="Calibri" pitchFamily="34" charset="-120"/>
              </a:rPr>
              <a:t>Misleading — it ignores instruction quality and varies by program</a:t>
            </a:r>
            <a:endParaRPr lang="en-US" sz="2000" dirty="0"/>
          </a:p>
        </p:txBody>
      </p:sp>
      <p:sp>
        <p:nvSpPr>
          <p:cNvPr id="14" name="Shape 11"/>
          <p:cNvSpPr/>
          <p:nvPr/>
        </p:nvSpPr>
        <p:spPr>
          <a:xfrm>
            <a:off x="548640" y="5175504"/>
            <a:ext cx="11064240" cy="1051560"/>
          </a:xfrm>
          <a:prstGeom prst="roundRect">
            <a:avLst>
              <a:gd name="adj" fmla="val 6957"/>
            </a:avLst>
          </a:prstGeom>
          <a:solidFill>
            <a:srgbClr val="233B63"/>
          </a:solidFill>
          <a:ln w="12700">
            <a:solidFill>
              <a:srgbClr val="233B63"/>
            </a:solidFill>
            <a:prstDash val="solid"/>
          </a:ln>
        </p:spPr>
      </p:sp>
      <p:sp>
        <p:nvSpPr>
          <p:cNvPr id="15" name="Text 12"/>
          <p:cNvSpPr/>
          <p:nvPr/>
        </p:nvSpPr>
        <p:spPr>
          <a:xfrm>
            <a:off x="777240" y="5266944"/>
            <a:ext cx="10607040" cy="411480"/>
          </a:xfrm>
          <a:prstGeom prst="rect">
            <a:avLst/>
          </a:prstGeom>
          <a:noFill/>
          <a:ln/>
        </p:spPr>
        <p:txBody>
          <a:bodyPr wrap="square" lIns="0" tIns="0" rIns="0" bIns="0" rtlCol="0" anchor="ctr"/>
          <a:lstStyle/>
          <a:p>
            <a:pPr marL="0" indent="0">
              <a:buNone/>
            </a:pPr>
            <a:r>
              <a:rPr lang="en-US" sz="2000" b="1" dirty="0">
                <a:solidFill>
                  <a:srgbClr val="FFB84D"/>
                </a:solidFill>
                <a:latin typeface="Calibri" pitchFamily="34" charset="0"/>
                <a:ea typeface="Calibri" pitchFamily="34" charset="-122"/>
                <a:cs typeface="Calibri" pitchFamily="34" charset="-120"/>
              </a:rPr>
              <a:t>“Overclocking is free performance”</a:t>
            </a:r>
            <a:endParaRPr lang="en-US" sz="2000" dirty="0"/>
          </a:p>
        </p:txBody>
      </p:sp>
      <p:sp>
        <p:nvSpPr>
          <p:cNvPr id="16" name="Text 13"/>
          <p:cNvSpPr/>
          <p:nvPr/>
        </p:nvSpPr>
        <p:spPr>
          <a:xfrm>
            <a:off x="777240" y="5705856"/>
            <a:ext cx="10607040" cy="457200"/>
          </a:xfrm>
          <a:prstGeom prst="rect">
            <a:avLst/>
          </a:prstGeom>
          <a:noFill/>
          <a:ln/>
        </p:spPr>
        <p:txBody>
          <a:bodyPr wrap="square" lIns="0" tIns="0" rIns="0" bIns="0" rtlCol="0" anchor="ctr"/>
          <a:lstStyle/>
          <a:p>
            <a:pPr marL="0" indent="0">
              <a:buNone/>
            </a:pPr>
            <a:r>
              <a:rPr lang="en-US" sz="2000" dirty="0">
                <a:solidFill>
                  <a:srgbClr val="E8EEF7"/>
                </a:solidFill>
                <a:latin typeface="Calibri" pitchFamily="34" charset="0"/>
                <a:ea typeface="Calibri" pitchFamily="34" charset="-122"/>
                <a:cs typeface="Calibri" pitchFamily="34" charset="-120"/>
              </a:rPr>
              <a:t>Risky — can violate timing margins and cause incorrect results</a:t>
            </a:r>
            <a:endParaRPr lang="en-US" sz="2000" dirty="0"/>
          </a:p>
        </p:txBody>
      </p:sp>
      <p:sp>
        <p:nvSpPr>
          <p:cNvPr id="17" name="Text 14"/>
          <p:cNvSpPr/>
          <p:nvPr/>
        </p:nvSpPr>
        <p:spPr>
          <a:xfrm>
            <a:off x="457200" y="6601968"/>
            <a:ext cx="4572000" cy="256032"/>
          </a:xfrm>
          <a:prstGeom prst="rect">
            <a:avLst/>
          </a:prstGeom>
          <a:noFill/>
          <a:ln/>
        </p:spPr>
        <p:txBody>
          <a:bodyPr wrap="square" lIns="0" tIns="0" rIns="0" bIns="0" rtlCol="0" anchor="ctr"/>
          <a:lstStyle/>
          <a:p>
            <a:pPr marL="0" indent="0" algn="l">
              <a:buNone/>
            </a:pPr>
            <a:r>
              <a:rPr lang="en-US" sz="2000" dirty="0">
                <a:solidFill>
                  <a:srgbClr val="E8EEF7"/>
                </a:solidFill>
                <a:latin typeface="Calibri" pitchFamily="34" charset="0"/>
                <a:ea typeface="Calibri" pitchFamily="34" charset="-122"/>
                <a:cs typeface="Calibri" pitchFamily="34" charset="-120"/>
              </a:rPr>
              <a:t>Presidency University, Bengaluru</a:t>
            </a:r>
            <a:endParaRPr lang="en-US" sz="2000" dirty="0"/>
          </a:p>
        </p:txBody>
      </p:sp>
      <p:sp>
        <p:nvSpPr>
          <p:cNvPr id="18" name="Text 15"/>
          <p:cNvSpPr/>
          <p:nvPr/>
        </p:nvSpPr>
        <p:spPr>
          <a:xfrm>
            <a:off x="9902952" y="6601968"/>
            <a:ext cx="1828800" cy="256032"/>
          </a:xfrm>
          <a:prstGeom prst="rect">
            <a:avLst/>
          </a:prstGeom>
          <a:noFill/>
          <a:ln/>
        </p:spPr>
        <p:txBody>
          <a:bodyPr wrap="square" lIns="0" tIns="0" rIns="0" bIns="0" rtlCol="0" anchor="ctr"/>
          <a:lstStyle/>
          <a:p>
            <a:pPr marL="0" indent="0" algn="r">
              <a:buNone/>
            </a:pPr>
            <a:r>
              <a:rPr lang="en-US" sz="2000" dirty="0">
                <a:solidFill>
                  <a:srgbClr val="E8EEF7"/>
                </a:solidFill>
                <a:latin typeface="Calibri" pitchFamily="34" charset="0"/>
                <a:ea typeface="Calibri" pitchFamily="34" charset="-122"/>
                <a:cs typeface="Calibri" pitchFamily="34" charset="-120"/>
              </a:rPr>
              <a:t>CSS2257</a:t>
            </a:r>
            <a:endParaRPr lang="en-US" sz="20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11480"/>
            <a:ext cx="9601200" cy="868680"/>
          </a:xfrm>
          <a:prstGeom prst="rect">
            <a:avLst/>
          </a:prstGeom>
          <a:noFill/>
          <a:ln/>
        </p:spPr>
        <p:txBody>
          <a:bodyPr wrap="square" lIns="0" tIns="0" rIns="0" bIns="0" rtlCol="0" anchor="ctr"/>
          <a:lstStyle/>
          <a:p>
            <a:pPr marL="0" indent="0" algn="l">
              <a:buNone/>
            </a:pPr>
            <a:r>
              <a:rPr lang="en-US" sz="3400" b="1" dirty="0">
                <a:solidFill>
                  <a:srgbClr val="1B2A4A"/>
                </a:solidFill>
                <a:latin typeface="Cambria" pitchFamily="34" charset="0"/>
                <a:ea typeface="Cambria" pitchFamily="34" charset="-122"/>
                <a:cs typeface="Cambria" pitchFamily="34" charset="-120"/>
              </a:rPr>
              <a:t>Quick Check — Think, Pair, Share</a:t>
            </a:r>
            <a:endParaRPr lang="en-US" sz="3400" dirty="0"/>
          </a:p>
        </p:txBody>
      </p:sp>
      <p:sp>
        <p:nvSpPr>
          <p:cNvPr id="3" name="Shape 1"/>
          <p:cNvSpPr/>
          <p:nvPr/>
        </p:nvSpPr>
        <p:spPr>
          <a:xfrm>
            <a:off x="10607040" y="365760"/>
            <a:ext cx="914400" cy="914400"/>
          </a:xfrm>
          <a:prstGeom prst="ellipse">
            <a:avLst/>
          </a:prstGeom>
          <a:solidFill>
            <a:srgbClr val="1B2A4A"/>
          </a:solidFill>
          <a:ln w="12700">
            <a:solidFill>
              <a:srgbClr val="1B2A4A"/>
            </a:solidFill>
            <a:prstDash val="solid"/>
          </a:ln>
        </p:spPr>
      </p:sp>
      <p:pic>
        <p:nvPicPr>
          <p:cNvPr id="4" name="Image 0" descr="/home/claude/coa_ppt/icon_brain_white.png"/>
          <p:cNvPicPr>
            <a:picLocks noChangeAspect="1"/>
          </p:cNvPicPr>
          <p:nvPr/>
        </p:nvPicPr>
        <p:blipFill>
          <a:blip r:embed="rId3"/>
          <a:stretch>
            <a:fillRect/>
          </a:stretch>
        </p:blipFill>
        <p:spPr>
          <a:xfrm>
            <a:off x="10844784" y="603504"/>
            <a:ext cx="438912" cy="438912"/>
          </a:xfrm>
          <a:prstGeom prst="rect">
            <a:avLst/>
          </a:prstGeom>
        </p:spPr>
      </p:pic>
      <p:sp>
        <p:nvSpPr>
          <p:cNvPr id="5" name="Shape 2"/>
          <p:cNvSpPr/>
          <p:nvPr/>
        </p:nvSpPr>
        <p:spPr>
          <a:xfrm>
            <a:off x="548640" y="1554480"/>
            <a:ext cx="11064240" cy="1371600"/>
          </a:xfrm>
          <a:prstGeom prst="roundRect">
            <a:avLst>
              <a:gd name="adj" fmla="val 5333"/>
            </a:avLst>
          </a:prstGeom>
          <a:solidFill>
            <a:srgbClr val="E8EEF7"/>
          </a:solidFill>
          <a:ln w="12700">
            <a:solidFill>
              <a:srgbClr val="E8EEF7"/>
            </a:solidFill>
            <a:prstDash val="solid"/>
          </a:ln>
        </p:spPr>
      </p:sp>
      <p:sp>
        <p:nvSpPr>
          <p:cNvPr id="6" name="Text 3"/>
          <p:cNvSpPr/>
          <p:nvPr/>
        </p:nvSpPr>
        <p:spPr>
          <a:xfrm>
            <a:off x="822960" y="1737360"/>
            <a:ext cx="10515600" cy="1005840"/>
          </a:xfrm>
          <a:prstGeom prst="rect">
            <a:avLst/>
          </a:prstGeom>
          <a:noFill/>
          <a:ln/>
        </p:spPr>
        <p:txBody>
          <a:bodyPr wrap="square" lIns="0" tIns="0" rIns="0" bIns="0" rtlCol="0" anchor="ctr"/>
          <a:lstStyle/>
          <a:p>
            <a:pPr marL="0" indent="0">
              <a:lnSpc>
                <a:spcPct val="120000"/>
              </a:lnSpc>
              <a:buNone/>
            </a:pPr>
            <a:r>
              <a:rPr lang="en-US" sz="2200" b="1" dirty="0">
                <a:solidFill>
                  <a:srgbClr val="1B2A4A"/>
                </a:solidFill>
                <a:latin typeface="Calibri" pitchFamily="34" charset="0"/>
                <a:ea typeface="Calibri" pitchFamily="34" charset="-122"/>
                <a:cs typeface="Calibri" pitchFamily="34" charset="-120"/>
              </a:rPr>
              <a:t>A processor's clock rate is doubled, but its CPI also doubles for the same program. What happens to CPU execution time?</a:t>
            </a:r>
            <a:endParaRPr lang="en-US" sz="2200" dirty="0"/>
          </a:p>
        </p:txBody>
      </p:sp>
      <p:sp>
        <p:nvSpPr>
          <p:cNvPr id="7" name="Text 4"/>
          <p:cNvSpPr/>
          <p:nvPr/>
        </p:nvSpPr>
        <p:spPr>
          <a:xfrm>
            <a:off x="548640" y="3246120"/>
            <a:ext cx="7315200" cy="4754880"/>
          </a:xfrm>
          <a:prstGeom prst="rect">
            <a:avLst/>
          </a:prstGeom>
          <a:noFill/>
          <a:ln/>
        </p:spPr>
        <p:txBody>
          <a:bodyPr wrap="square" lIns="0" tIns="0" rIns="0" bIns="0" rtlCol="0" anchor="t"/>
          <a:lstStyle/>
          <a:p>
            <a:pPr marL="279400" indent="-279400">
              <a:lnSpc>
                <a:spcPct val="108000"/>
              </a:lnSpc>
              <a:spcAft>
                <a:spcPts val="1200"/>
              </a:spcAft>
              <a:buSzPct val="100000"/>
              <a:buChar char="•"/>
            </a:pPr>
            <a:r>
              <a:rPr lang="en-US" sz="2000" dirty="0">
                <a:solidFill>
                  <a:srgbClr val="1B2A4A"/>
                </a:solidFill>
                <a:latin typeface="Calibri" pitchFamily="34" charset="0"/>
                <a:ea typeface="Calibri" pitchFamily="34" charset="-122"/>
                <a:cs typeface="Calibri" pitchFamily="34" charset="-120"/>
              </a:rPr>
              <a:t>Take 60 seconds to work this out individually</a:t>
            </a:r>
            <a:endParaRPr lang="en-US" sz="2000" dirty="0"/>
          </a:p>
          <a:p>
            <a:pPr marL="279400" indent="-279400">
              <a:lnSpc>
                <a:spcPct val="108000"/>
              </a:lnSpc>
              <a:spcAft>
                <a:spcPts val="1200"/>
              </a:spcAft>
              <a:buSzPct val="100000"/>
              <a:buChar char="•"/>
            </a:pPr>
            <a:r>
              <a:rPr lang="en-US" sz="2000" dirty="0">
                <a:solidFill>
                  <a:srgbClr val="1B2A4A"/>
                </a:solidFill>
                <a:latin typeface="Calibri" pitchFamily="34" charset="0"/>
                <a:ea typeface="Calibri" pitchFamily="34" charset="-122"/>
                <a:cs typeface="Calibri" pitchFamily="34" charset="-120"/>
              </a:rPr>
              <a:t>Turn to your neighbour and compare your reasoning for 60 seconds</a:t>
            </a:r>
            <a:endParaRPr lang="en-US" sz="2000" dirty="0"/>
          </a:p>
          <a:p>
            <a:pPr marL="279400" indent="-279400">
              <a:lnSpc>
                <a:spcPct val="108000"/>
              </a:lnSpc>
              <a:spcAft>
                <a:spcPts val="1200"/>
              </a:spcAft>
              <a:buSzPct val="100000"/>
              <a:buChar char="•"/>
            </a:pPr>
            <a:r>
              <a:rPr lang="en-US" sz="2000" dirty="0">
                <a:solidFill>
                  <a:srgbClr val="1B2A4A"/>
                </a:solidFill>
                <a:latin typeface="Calibri" pitchFamily="34" charset="0"/>
                <a:ea typeface="Calibri" pitchFamily="34" charset="-122"/>
                <a:cs typeface="Calibri" pitchFamily="34" charset="-120"/>
              </a:rPr>
              <a:t>We'll take 2–3 volunteers to share their answer with the class</a:t>
            </a:r>
            <a:endParaRPr lang="en-US" sz="2000" dirty="0"/>
          </a:p>
        </p:txBody>
      </p:sp>
      <p:sp>
        <p:nvSpPr>
          <p:cNvPr id="8" name="Shape 5"/>
          <p:cNvSpPr/>
          <p:nvPr/>
        </p:nvSpPr>
        <p:spPr>
          <a:xfrm>
            <a:off x="8138160" y="3246120"/>
            <a:ext cx="3474720" cy="2651760"/>
          </a:xfrm>
          <a:prstGeom prst="roundRect">
            <a:avLst>
              <a:gd name="adj" fmla="val 2759"/>
            </a:avLst>
          </a:prstGeom>
          <a:solidFill>
            <a:srgbClr val="1B2A4A"/>
          </a:solidFill>
          <a:ln w="12700">
            <a:solidFill>
              <a:srgbClr val="1B2A4A"/>
            </a:solidFill>
            <a:prstDash val="solid"/>
          </a:ln>
        </p:spPr>
      </p:sp>
      <p:sp>
        <p:nvSpPr>
          <p:cNvPr id="9" name="Text 6"/>
          <p:cNvSpPr/>
          <p:nvPr/>
        </p:nvSpPr>
        <p:spPr>
          <a:xfrm>
            <a:off x="8366760" y="3429000"/>
            <a:ext cx="3017520" cy="365760"/>
          </a:xfrm>
          <a:prstGeom prst="rect">
            <a:avLst/>
          </a:prstGeom>
          <a:noFill/>
          <a:ln/>
        </p:spPr>
        <p:txBody>
          <a:bodyPr wrap="square" lIns="0" tIns="0" rIns="0" bIns="0" rtlCol="0" anchor="ctr"/>
          <a:lstStyle/>
          <a:p>
            <a:pPr marL="0" indent="0">
              <a:buNone/>
            </a:pPr>
            <a:r>
              <a:rPr lang="en-US" sz="2000" b="1" dirty="0">
                <a:solidFill>
                  <a:srgbClr val="00D9FF"/>
                </a:solidFill>
                <a:latin typeface="Calibri" pitchFamily="34" charset="0"/>
                <a:ea typeface="Calibri" pitchFamily="34" charset="-122"/>
                <a:cs typeface="Calibri" pitchFamily="34" charset="-120"/>
              </a:rPr>
              <a:t>Hint</a:t>
            </a:r>
            <a:endParaRPr lang="en-US" sz="2000" dirty="0"/>
          </a:p>
        </p:txBody>
      </p:sp>
      <p:sp>
        <p:nvSpPr>
          <p:cNvPr id="10" name="Text 7"/>
          <p:cNvSpPr/>
          <p:nvPr/>
        </p:nvSpPr>
        <p:spPr>
          <a:xfrm>
            <a:off x="8366760" y="3840480"/>
            <a:ext cx="3017520" cy="1920240"/>
          </a:xfrm>
          <a:prstGeom prst="rect">
            <a:avLst/>
          </a:prstGeom>
          <a:noFill/>
          <a:ln/>
        </p:spPr>
        <p:txBody>
          <a:bodyPr wrap="square" lIns="0" tIns="0" rIns="0" bIns="0" rtlCol="0" anchor="ctr"/>
          <a:lstStyle/>
          <a:p>
            <a:pPr marL="0" indent="0">
              <a:lnSpc>
                <a:spcPct val="120000"/>
              </a:lnSpc>
              <a:buNone/>
            </a:pPr>
            <a:r>
              <a:rPr lang="en-US" sz="2000" dirty="0">
                <a:solidFill>
                  <a:srgbClr val="E8EEF7"/>
                </a:solidFill>
                <a:latin typeface="Calibri" pitchFamily="34" charset="0"/>
                <a:ea typeface="Calibri" pitchFamily="34" charset="-122"/>
                <a:cs typeface="Calibri" pitchFamily="34" charset="-120"/>
              </a:rPr>
              <a:t>Cycle time is halved AND CPI is doubled — substitute both changes into CPU Time = IC × CPI × CCT and see what cancels.</a:t>
            </a:r>
            <a:endParaRPr lang="en-US" sz="2000" dirty="0"/>
          </a:p>
        </p:txBody>
      </p:sp>
      <p:sp>
        <p:nvSpPr>
          <p:cNvPr id="11" name="Text 8"/>
          <p:cNvSpPr/>
          <p:nvPr/>
        </p:nvSpPr>
        <p:spPr>
          <a:xfrm>
            <a:off x="457200" y="6601968"/>
            <a:ext cx="4572000" cy="256032"/>
          </a:xfrm>
          <a:prstGeom prst="rect">
            <a:avLst/>
          </a:prstGeom>
          <a:noFill/>
          <a:ln/>
        </p:spPr>
        <p:txBody>
          <a:bodyPr wrap="square" lIns="0" tIns="0" rIns="0" bIns="0" rtlCol="0" anchor="ctr"/>
          <a:lstStyle/>
          <a:p>
            <a:pPr marL="0" indent="0" algn="l">
              <a:buNone/>
            </a:pPr>
            <a:r>
              <a:rPr lang="en-US" sz="2000" dirty="0">
                <a:solidFill>
                  <a:srgbClr val="5B6B84"/>
                </a:solidFill>
                <a:latin typeface="Calibri" pitchFamily="34" charset="0"/>
                <a:ea typeface="Calibri" pitchFamily="34" charset="-122"/>
                <a:cs typeface="Calibri" pitchFamily="34" charset="-120"/>
              </a:rPr>
              <a:t>Presidency University, Bengaluru</a:t>
            </a:r>
            <a:endParaRPr lang="en-US" sz="2000" dirty="0"/>
          </a:p>
        </p:txBody>
      </p:sp>
      <p:sp>
        <p:nvSpPr>
          <p:cNvPr id="12" name="Text 9"/>
          <p:cNvSpPr/>
          <p:nvPr/>
        </p:nvSpPr>
        <p:spPr>
          <a:xfrm>
            <a:off x="9902952" y="6601968"/>
            <a:ext cx="1828800" cy="256032"/>
          </a:xfrm>
          <a:prstGeom prst="rect">
            <a:avLst/>
          </a:prstGeom>
          <a:noFill/>
          <a:ln/>
        </p:spPr>
        <p:txBody>
          <a:bodyPr wrap="square" lIns="0" tIns="0" rIns="0" bIns="0" rtlCol="0" anchor="ctr"/>
          <a:lstStyle/>
          <a:p>
            <a:pPr marL="0" indent="0" algn="r">
              <a:buNone/>
            </a:pPr>
            <a:r>
              <a:rPr lang="en-US" sz="2000" dirty="0">
                <a:solidFill>
                  <a:srgbClr val="5B6B84"/>
                </a:solidFill>
                <a:latin typeface="Calibri" pitchFamily="34" charset="0"/>
                <a:ea typeface="Calibri" pitchFamily="34" charset="-122"/>
                <a:cs typeface="Calibri" pitchFamily="34" charset="-120"/>
              </a:rPr>
              <a:t>CSS2257</a:t>
            </a:r>
            <a:endParaRPr lang="en-US" sz="20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11480"/>
            <a:ext cx="9601200" cy="868680"/>
          </a:xfrm>
          <a:prstGeom prst="rect">
            <a:avLst/>
          </a:prstGeom>
          <a:noFill/>
          <a:ln/>
        </p:spPr>
        <p:txBody>
          <a:bodyPr wrap="square" lIns="0" tIns="0" rIns="0" bIns="0" rtlCol="0" anchor="ctr"/>
          <a:lstStyle/>
          <a:p>
            <a:pPr marL="0" indent="0" algn="l">
              <a:buNone/>
            </a:pPr>
            <a:r>
              <a:rPr lang="en-US" sz="3400" b="1" dirty="0">
                <a:solidFill>
                  <a:srgbClr val="1B2A4A"/>
                </a:solidFill>
                <a:latin typeface="Cambria" pitchFamily="34" charset="0"/>
                <a:ea typeface="Cambria" pitchFamily="34" charset="-122"/>
                <a:cs typeface="Cambria" pitchFamily="34" charset="-120"/>
              </a:rPr>
              <a:t>Summary of Key Points</a:t>
            </a:r>
            <a:endParaRPr lang="en-US" sz="3400" dirty="0"/>
          </a:p>
        </p:txBody>
      </p:sp>
      <p:sp>
        <p:nvSpPr>
          <p:cNvPr id="3" name="Shape 1"/>
          <p:cNvSpPr/>
          <p:nvPr/>
        </p:nvSpPr>
        <p:spPr>
          <a:xfrm>
            <a:off x="10607040" y="365760"/>
            <a:ext cx="914400" cy="914400"/>
          </a:xfrm>
          <a:prstGeom prst="ellipse">
            <a:avLst/>
          </a:prstGeom>
          <a:solidFill>
            <a:srgbClr val="1B2A4A"/>
          </a:solidFill>
          <a:ln w="12700">
            <a:solidFill>
              <a:srgbClr val="1B2A4A"/>
            </a:solidFill>
            <a:prstDash val="solid"/>
          </a:ln>
        </p:spPr>
      </p:sp>
      <p:pic>
        <p:nvPicPr>
          <p:cNvPr id="4" name="Image 0" descr="/home/claude/coa_ppt/icon_check_white.png"/>
          <p:cNvPicPr>
            <a:picLocks noChangeAspect="1"/>
          </p:cNvPicPr>
          <p:nvPr/>
        </p:nvPicPr>
        <p:blipFill>
          <a:blip r:embed="rId3"/>
          <a:stretch>
            <a:fillRect/>
          </a:stretch>
        </p:blipFill>
        <p:spPr>
          <a:xfrm>
            <a:off x="10844784" y="603504"/>
            <a:ext cx="438912" cy="438912"/>
          </a:xfrm>
          <a:prstGeom prst="rect">
            <a:avLst/>
          </a:prstGeom>
        </p:spPr>
      </p:pic>
      <p:sp>
        <p:nvSpPr>
          <p:cNvPr id="5" name="Text 2"/>
          <p:cNvSpPr/>
          <p:nvPr/>
        </p:nvSpPr>
        <p:spPr>
          <a:xfrm>
            <a:off x="548640" y="1417320"/>
            <a:ext cx="11064240" cy="4754880"/>
          </a:xfrm>
          <a:prstGeom prst="rect">
            <a:avLst/>
          </a:prstGeom>
          <a:noFill/>
          <a:ln/>
        </p:spPr>
        <p:txBody>
          <a:bodyPr wrap="square" lIns="0" tIns="0" rIns="0" bIns="0" rtlCol="0" anchor="t"/>
          <a:lstStyle/>
          <a:p>
            <a:pPr marL="279400" indent="-279400">
              <a:lnSpc>
                <a:spcPct val="108000"/>
              </a:lnSpc>
              <a:spcAft>
                <a:spcPts val="1200"/>
              </a:spcAft>
              <a:buSzPct val="100000"/>
              <a:buChar char="•"/>
            </a:pPr>
            <a:r>
              <a:rPr lang="en-US" sz="2000" dirty="0">
                <a:solidFill>
                  <a:srgbClr val="1B2A4A"/>
                </a:solidFill>
                <a:latin typeface="Calibri" pitchFamily="34" charset="0"/>
                <a:ea typeface="Calibri" pitchFamily="34" charset="-122"/>
                <a:cs typeface="Calibri" pitchFamily="34" charset="-120"/>
              </a:rPr>
              <a:t>Performance means different things: response time for one user, throughput for a whole system</a:t>
            </a:r>
            <a:endParaRPr lang="en-US" sz="2000" dirty="0"/>
          </a:p>
          <a:p>
            <a:pPr marL="279400" indent="-279400">
              <a:lnSpc>
                <a:spcPct val="108000"/>
              </a:lnSpc>
              <a:spcAft>
                <a:spcPts val="1200"/>
              </a:spcAft>
              <a:buSzPct val="100000"/>
              <a:buChar char="•"/>
            </a:pPr>
            <a:r>
              <a:rPr lang="en-US" sz="2000" dirty="0">
                <a:solidFill>
                  <a:srgbClr val="1B2A4A"/>
                </a:solidFill>
                <a:latin typeface="Calibri" pitchFamily="34" charset="0"/>
                <a:ea typeface="Calibri" pitchFamily="34" charset="-122"/>
                <a:cs typeface="Calibri" pitchFamily="34" charset="-120"/>
              </a:rPr>
              <a:t>CPU Time = Instruction Count × CPI × Clock Cycle Time — the master equation of this lecture</a:t>
            </a:r>
            <a:endParaRPr lang="en-US" sz="2000" dirty="0"/>
          </a:p>
          <a:p>
            <a:pPr marL="279400" indent="-279400">
              <a:lnSpc>
                <a:spcPct val="108000"/>
              </a:lnSpc>
              <a:spcAft>
                <a:spcPts val="1200"/>
              </a:spcAft>
              <a:buSzPct val="100000"/>
              <a:buChar char="•"/>
            </a:pPr>
            <a:r>
              <a:rPr lang="en-US" sz="2000" dirty="0">
                <a:solidFill>
                  <a:srgbClr val="1B2A4A"/>
                </a:solidFill>
                <a:latin typeface="Calibri" pitchFamily="34" charset="0"/>
                <a:ea typeface="Calibri" pitchFamily="34" charset="-122"/>
                <a:cs typeface="Calibri" pitchFamily="34" charset="-120"/>
              </a:rPr>
              <a:t>Clock Rate and Clock Cycle Time are reciprocals; the clock synchronises every part of the CPU</a:t>
            </a:r>
            <a:endParaRPr lang="en-US" sz="2000" dirty="0"/>
          </a:p>
          <a:p>
            <a:pPr marL="279400" indent="-279400">
              <a:lnSpc>
                <a:spcPct val="108000"/>
              </a:lnSpc>
              <a:spcAft>
                <a:spcPts val="1200"/>
              </a:spcAft>
              <a:buSzPct val="100000"/>
              <a:buChar char="•"/>
            </a:pPr>
            <a:r>
              <a:rPr lang="en-US" sz="2000" dirty="0">
                <a:solidFill>
                  <a:srgbClr val="1B2A4A"/>
                </a:solidFill>
                <a:latin typeface="Calibri" pitchFamily="34" charset="0"/>
                <a:ea typeface="Calibri" pitchFamily="34" charset="-122"/>
                <a:cs typeface="Calibri" pitchFamily="34" charset="-120"/>
              </a:rPr>
              <a:t>MIPS and raw GHz are misleading shortcuts — always reason with the full performance equation</a:t>
            </a:r>
            <a:endParaRPr lang="en-US" sz="2000" dirty="0"/>
          </a:p>
          <a:p>
            <a:pPr marL="279400" indent="-279400">
              <a:lnSpc>
                <a:spcPct val="108000"/>
              </a:lnSpc>
              <a:spcAft>
                <a:spcPts val="1200"/>
              </a:spcAft>
              <a:buSzPct val="100000"/>
              <a:buChar char="•"/>
            </a:pPr>
            <a:r>
              <a:rPr lang="en-US" sz="2000" dirty="0">
                <a:solidFill>
                  <a:srgbClr val="1B2A4A"/>
                </a:solidFill>
                <a:latin typeface="Calibri" pitchFamily="34" charset="0"/>
                <a:ea typeface="Calibri" pitchFamily="34" charset="-122"/>
                <a:cs typeface="Calibri" pitchFamily="34" charset="-120"/>
              </a:rPr>
              <a:t>Amdahl's Law shows any enhancement's benefit is capped by the fraction of time it affects</a:t>
            </a:r>
            <a:endParaRPr lang="en-US" sz="2000" dirty="0"/>
          </a:p>
          <a:p>
            <a:pPr marL="279400" indent="-279400">
              <a:lnSpc>
                <a:spcPct val="108000"/>
              </a:lnSpc>
              <a:spcAft>
                <a:spcPts val="1200"/>
              </a:spcAft>
              <a:buSzPct val="100000"/>
              <a:buChar char="•"/>
            </a:pPr>
            <a:r>
              <a:rPr lang="en-US" sz="2000" dirty="0">
                <a:solidFill>
                  <a:srgbClr val="1B2A4A"/>
                </a:solidFill>
                <a:latin typeface="Calibri" pitchFamily="34" charset="0"/>
                <a:ea typeface="Calibri" pitchFamily="34" charset="-122"/>
                <a:cs typeface="Calibri" pitchFamily="34" charset="-120"/>
              </a:rPr>
              <a:t>The power wall pushed the industry from 'faster clocks' to 'more parallelism': ILP, DLP, and TLP</a:t>
            </a:r>
            <a:endParaRPr lang="en-US" sz="2000" dirty="0"/>
          </a:p>
        </p:txBody>
      </p:sp>
      <p:sp>
        <p:nvSpPr>
          <p:cNvPr id="6" name="Text 3"/>
          <p:cNvSpPr/>
          <p:nvPr/>
        </p:nvSpPr>
        <p:spPr>
          <a:xfrm>
            <a:off x="457200" y="6601968"/>
            <a:ext cx="4572000" cy="256032"/>
          </a:xfrm>
          <a:prstGeom prst="rect">
            <a:avLst/>
          </a:prstGeom>
          <a:noFill/>
          <a:ln/>
        </p:spPr>
        <p:txBody>
          <a:bodyPr wrap="square" lIns="0" tIns="0" rIns="0" bIns="0" rtlCol="0" anchor="ctr"/>
          <a:lstStyle/>
          <a:p>
            <a:pPr marL="0" indent="0" algn="l">
              <a:buNone/>
            </a:pPr>
            <a:r>
              <a:rPr lang="en-US" sz="2000" dirty="0">
                <a:solidFill>
                  <a:srgbClr val="5B6B84"/>
                </a:solidFill>
                <a:latin typeface="Calibri" pitchFamily="34" charset="0"/>
                <a:ea typeface="Calibri" pitchFamily="34" charset="-122"/>
                <a:cs typeface="Calibri" pitchFamily="34" charset="-120"/>
              </a:rPr>
              <a:t>Presidency University, Bengaluru</a:t>
            </a:r>
            <a:endParaRPr lang="en-US" sz="2000" dirty="0"/>
          </a:p>
        </p:txBody>
      </p:sp>
      <p:sp>
        <p:nvSpPr>
          <p:cNvPr id="7" name="Text 4"/>
          <p:cNvSpPr/>
          <p:nvPr/>
        </p:nvSpPr>
        <p:spPr>
          <a:xfrm>
            <a:off x="9902952" y="6601968"/>
            <a:ext cx="1828800" cy="256032"/>
          </a:xfrm>
          <a:prstGeom prst="rect">
            <a:avLst/>
          </a:prstGeom>
          <a:noFill/>
          <a:ln/>
        </p:spPr>
        <p:txBody>
          <a:bodyPr wrap="square" lIns="0" tIns="0" rIns="0" bIns="0" rtlCol="0" anchor="ctr"/>
          <a:lstStyle/>
          <a:p>
            <a:pPr marL="0" indent="0" algn="r">
              <a:buNone/>
            </a:pPr>
            <a:r>
              <a:rPr lang="en-US" sz="2000" dirty="0">
                <a:solidFill>
                  <a:srgbClr val="5B6B84"/>
                </a:solidFill>
                <a:latin typeface="Calibri" pitchFamily="34" charset="0"/>
                <a:ea typeface="Calibri" pitchFamily="34" charset="-122"/>
                <a:cs typeface="Calibri" pitchFamily="34" charset="-120"/>
              </a:rPr>
              <a:t>CSS2257</a:t>
            </a:r>
            <a:endParaRPr lang="en-US" sz="20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1B2A4A"/>
        </a:solidFill>
        <a:effectLst/>
      </p:bgPr>
    </p:bg>
    <p:spTree>
      <p:nvGrpSpPr>
        <p:cNvPr id="1" name=""/>
        <p:cNvGrpSpPr/>
        <p:nvPr/>
      </p:nvGrpSpPr>
      <p:grpSpPr>
        <a:xfrm>
          <a:off x="0" y="0"/>
          <a:ext cx="0" cy="0"/>
          <a:chOff x="0" y="0"/>
          <a:chExt cx="0" cy="0"/>
        </a:xfrm>
      </p:grpSpPr>
      <p:sp>
        <p:nvSpPr>
          <p:cNvPr id="2" name="Text 0"/>
          <p:cNvSpPr/>
          <p:nvPr/>
        </p:nvSpPr>
        <p:spPr>
          <a:xfrm>
            <a:off x="548640" y="411480"/>
            <a:ext cx="9601200" cy="868680"/>
          </a:xfrm>
          <a:prstGeom prst="rect">
            <a:avLst/>
          </a:prstGeom>
          <a:noFill/>
          <a:ln/>
        </p:spPr>
        <p:txBody>
          <a:bodyPr wrap="square" lIns="0" tIns="0" rIns="0" bIns="0" rtlCol="0" anchor="ctr"/>
          <a:lstStyle/>
          <a:p>
            <a:pPr marL="0" indent="0" algn="l">
              <a:buNone/>
            </a:pPr>
            <a:r>
              <a:rPr lang="en-US" sz="3400" b="1" dirty="0">
                <a:solidFill>
                  <a:srgbClr val="FFFFFF"/>
                </a:solidFill>
                <a:latin typeface="Cambria" pitchFamily="34" charset="0"/>
                <a:ea typeface="Cambria" pitchFamily="34" charset="-122"/>
                <a:cs typeface="Cambria" pitchFamily="34" charset="-120"/>
              </a:rPr>
              <a:t>Quiz — CSS2257</a:t>
            </a:r>
            <a:endParaRPr lang="en-US" sz="3400" dirty="0"/>
          </a:p>
        </p:txBody>
      </p:sp>
      <p:sp>
        <p:nvSpPr>
          <p:cNvPr id="3" name="Shape 1"/>
          <p:cNvSpPr/>
          <p:nvPr/>
        </p:nvSpPr>
        <p:spPr>
          <a:xfrm>
            <a:off x="10607040" y="365760"/>
            <a:ext cx="914400" cy="914400"/>
          </a:xfrm>
          <a:prstGeom prst="ellipse">
            <a:avLst/>
          </a:prstGeom>
          <a:solidFill>
            <a:srgbClr val="233B63"/>
          </a:solidFill>
          <a:ln w="12700">
            <a:solidFill>
              <a:srgbClr val="233B63"/>
            </a:solidFill>
            <a:prstDash val="solid"/>
          </a:ln>
        </p:spPr>
      </p:sp>
      <p:pic>
        <p:nvPicPr>
          <p:cNvPr id="4" name="Image 0" descr="/home/claude/coa_ppt/icon_question_white.png"/>
          <p:cNvPicPr>
            <a:picLocks noChangeAspect="1"/>
          </p:cNvPicPr>
          <p:nvPr/>
        </p:nvPicPr>
        <p:blipFill>
          <a:blip r:embed="rId3"/>
          <a:stretch>
            <a:fillRect/>
          </a:stretch>
        </p:blipFill>
        <p:spPr>
          <a:xfrm>
            <a:off x="10844784" y="603504"/>
            <a:ext cx="438912" cy="438912"/>
          </a:xfrm>
          <a:prstGeom prst="rect">
            <a:avLst/>
          </a:prstGeom>
        </p:spPr>
      </p:pic>
      <p:sp>
        <p:nvSpPr>
          <p:cNvPr id="5" name="Text 2"/>
          <p:cNvSpPr/>
          <p:nvPr/>
        </p:nvSpPr>
        <p:spPr>
          <a:xfrm>
            <a:off x="548640" y="1463040"/>
            <a:ext cx="11064240" cy="4754880"/>
          </a:xfrm>
          <a:prstGeom prst="rect">
            <a:avLst/>
          </a:prstGeom>
          <a:noFill/>
          <a:ln/>
        </p:spPr>
        <p:txBody>
          <a:bodyPr wrap="square" lIns="0" tIns="0" rIns="0" bIns="0" rtlCol="0" anchor="t"/>
          <a:lstStyle/>
          <a:p>
            <a:pPr marL="279400" indent="-279400">
              <a:lnSpc>
                <a:spcPct val="108000"/>
              </a:lnSpc>
              <a:spcAft>
                <a:spcPts val="1000"/>
              </a:spcAft>
              <a:buSzPct val="100000"/>
              <a:buChar char="•"/>
            </a:pPr>
            <a:r>
              <a:rPr lang="en-US" sz="2000" dirty="0">
                <a:solidFill>
                  <a:srgbClr val="FFFFFF"/>
                </a:solidFill>
                <a:latin typeface="Calibri" pitchFamily="34" charset="0"/>
                <a:ea typeface="Calibri" pitchFamily="34" charset="-122"/>
                <a:cs typeface="Calibri" pitchFamily="34" charset="-120"/>
              </a:rPr>
              <a:t>Q1 (T/F): Response time and throughput always improve together.</a:t>
            </a:r>
            <a:endParaRPr lang="en-US" sz="2000" dirty="0"/>
          </a:p>
          <a:p>
            <a:pPr marL="279400" indent="-279400">
              <a:lnSpc>
                <a:spcPct val="108000"/>
              </a:lnSpc>
              <a:spcAft>
                <a:spcPts val="1000"/>
              </a:spcAft>
              <a:buSzPct val="100000"/>
              <a:buChar char="•"/>
            </a:pPr>
            <a:r>
              <a:rPr lang="en-US" sz="2000" dirty="0">
                <a:solidFill>
                  <a:srgbClr val="FFFFFF"/>
                </a:solidFill>
                <a:latin typeface="Calibri" pitchFamily="34" charset="0"/>
                <a:ea typeface="Calibri" pitchFamily="34" charset="-122"/>
                <a:cs typeface="Calibri" pitchFamily="34" charset="-120"/>
              </a:rPr>
              <a:t>Q2 (MCQ): CPU Time equals IC × CPI × ____. (a) MIPS (b) Clock Cycle Time (c) Clock Rate</a:t>
            </a:r>
            <a:endParaRPr lang="en-US" sz="2000" dirty="0"/>
          </a:p>
          <a:p>
            <a:pPr marL="279400" indent="-279400">
              <a:lnSpc>
                <a:spcPct val="108000"/>
              </a:lnSpc>
              <a:spcAft>
                <a:spcPts val="1000"/>
              </a:spcAft>
              <a:buSzPct val="100000"/>
              <a:buChar char="•"/>
            </a:pPr>
            <a:r>
              <a:rPr lang="en-US" sz="2000" dirty="0">
                <a:solidFill>
                  <a:srgbClr val="FFFFFF"/>
                </a:solidFill>
                <a:latin typeface="Calibri" pitchFamily="34" charset="0"/>
                <a:ea typeface="Calibri" pitchFamily="34" charset="-122"/>
                <a:cs typeface="Calibri" pitchFamily="34" charset="-120"/>
              </a:rPr>
              <a:t>Q3 (Short): Define CPI in one sentence.</a:t>
            </a:r>
            <a:endParaRPr lang="en-US" sz="2000" dirty="0"/>
          </a:p>
          <a:p>
            <a:pPr marL="279400" indent="-279400">
              <a:lnSpc>
                <a:spcPct val="108000"/>
              </a:lnSpc>
              <a:spcAft>
                <a:spcPts val="1000"/>
              </a:spcAft>
              <a:buSzPct val="100000"/>
              <a:buChar char="•"/>
            </a:pPr>
            <a:r>
              <a:rPr lang="en-US" sz="2000" dirty="0">
                <a:solidFill>
                  <a:srgbClr val="FFFFFF"/>
                </a:solidFill>
                <a:latin typeface="Calibri" pitchFamily="34" charset="0"/>
                <a:ea typeface="Calibri" pitchFamily="34" charset="-122"/>
                <a:cs typeface="Calibri" pitchFamily="34" charset="-120"/>
              </a:rPr>
              <a:t>Q4 (Calc): Clock rate = 2.5 GHz. What is the clock cycle time?</a:t>
            </a:r>
            <a:endParaRPr lang="en-US" sz="2000" dirty="0"/>
          </a:p>
          <a:p>
            <a:pPr marL="279400" indent="-279400">
              <a:lnSpc>
                <a:spcPct val="108000"/>
              </a:lnSpc>
              <a:spcAft>
                <a:spcPts val="1000"/>
              </a:spcAft>
              <a:buSzPct val="100000"/>
              <a:buChar char="•"/>
            </a:pPr>
            <a:r>
              <a:rPr lang="en-US" sz="2000" dirty="0">
                <a:solidFill>
                  <a:srgbClr val="FFFFFF"/>
                </a:solidFill>
                <a:latin typeface="Calibri" pitchFamily="34" charset="0"/>
                <a:ea typeface="Calibri" pitchFamily="34" charset="-122"/>
                <a:cs typeface="Calibri" pitchFamily="34" charset="-120"/>
              </a:rPr>
              <a:t>Q5 (T/F): A processor with higher MIPS is always the faster processor.</a:t>
            </a:r>
            <a:endParaRPr lang="en-US" sz="2000" dirty="0"/>
          </a:p>
          <a:p>
            <a:pPr marL="279400" indent="-279400">
              <a:lnSpc>
                <a:spcPct val="108000"/>
              </a:lnSpc>
              <a:spcAft>
                <a:spcPts val="1000"/>
              </a:spcAft>
              <a:buSzPct val="100000"/>
              <a:buChar char="•"/>
            </a:pPr>
            <a:r>
              <a:rPr lang="en-US" sz="2000" dirty="0">
                <a:solidFill>
                  <a:srgbClr val="FFFFFF"/>
                </a:solidFill>
                <a:latin typeface="Calibri" pitchFamily="34" charset="0"/>
                <a:ea typeface="Calibri" pitchFamily="34" charset="-122"/>
                <a:cs typeface="Calibri" pitchFamily="34" charset="-120"/>
              </a:rPr>
              <a:t>Q6 (Short): State Amdahl's Law's key limiting idea in your own words.</a:t>
            </a:r>
            <a:endParaRPr lang="en-US" sz="2000" dirty="0"/>
          </a:p>
          <a:p>
            <a:pPr marL="279400" indent="-279400">
              <a:lnSpc>
                <a:spcPct val="108000"/>
              </a:lnSpc>
              <a:spcAft>
                <a:spcPts val="1000"/>
              </a:spcAft>
              <a:buSzPct val="100000"/>
              <a:buChar char="•"/>
            </a:pPr>
            <a:r>
              <a:rPr lang="en-US" sz="2000" dirty="0">
                <a:solidFill>
                  <a:srgbClr val="FFFFFF"/>
                </a:solidFill>
                <a:latin typeface="Calibri" pitchFamily="34" charset="0"/>
                <a:ea typeface="Calibri" pitchFamily="34" charset="-122"/>
                <a:cs typeface="Calibri" pitchFamily="34" charset="-120"/>
              </a:rPr>
              <a:t>Q7 (MCQ): SIMD is an example of — (a) ILP (b) DLP (c) TLP</a:t>
            </a:r>
            <a:endParaRPr lang="en-US" sz="2000" dirty="0"/>
          </a:p>
          <a:p>
            <a:pPr marL="279400" indent="-279400">
              <a:lnSpc>
                <a:spcPct val="108000"/>
              </a:lnSpc>
              <a:spcAft>
                <a:spcPts val="1000"/>
              </a:spcAft>
              <a:buSzPct val="100000"/>
              <a:buChar char="•"/>
            </a:pPr>
            <a:r>
              <a:rPr lang="en-US" sz="2000" dirty="0">
                <a:solidFill>
                  <a:srgbClr val="FFFFFF"/>
                </a:solidFill>
                <a:latin typeface="Calibri" pitchFamily="34" charset="0"/>
                <a:ea typeface="Calibri" pitchFamily="34" charset="-122"/>
                <a:cs typeface="Calibri" pitchFamily="34" charset="-120"/>
              </a:rPr>
              <a:t>Q8 (Short): Why did the industry hit the 'power wall'?</a:t>
            </a:r>
            <a:endParaRPr lang="en-US" sz="2000" dirty="0"/>
          </a:p>
        </p:txBody>
      </p:sp>
      <p:sp>
        <p:nvSpPr>
          <p:cNvPr id="6" name="Text 3"/>
          <p:cNvSpPr/>
          <p:nvPr/>
        </p:nvSpPr>
        <p:spPr>
          <a:xfrm>
            <a:off x="457200" y="6601968"/>
            <a:ext cx="4572000" cy="256032"/>
          </a:xfrm>
          <a:prstGeom prst="rect">
            <a:avLst/>
          </a:prstGeom>
          <a:noFill/>
          <a:ln/>
        </p:spPr>
        <p:txBody>
          <a:bodyPr wrap="square" lIns="0" tIns="0" rIns="0" bIns="0" rtlCol="0" anchor="ctr"/>
          <a:lstStyle/>
          <a:p>
            <a:pPr marL="0" indent="0" algn="l">
              <a:buNone/>
            </a:pPr>
            <a:r>
              <a:rPr lang="en-US" sz="2000" dirty="0">
                <a:solidFill>
                  <a:srgbClr val="E8EEF7"/>
                </a:solidFill>
                <a:latin typeface="Calibri" pitchFamily="34" charset="0"/>
                <a:ea typeface="Calibri" pitchFamily="34" charset="-122"/>
                <a:cs typeface="Calibri" pitchFamily="34" charset="-120"/>
              </a:rPr>
              <a:t>Presidency University, Bengaluru</a:t>
            </a:r>
            <a:endParaRPr lang="en-US" sz="2000" dirty="0"/>
          </a:p>
        </p:txBody>
      </p:sp>
      <p:sp>
        <p:nvSpPr>
          <p:cNvPr id="7" name="Text 4"/>
          <p:cNvSpPr/>
          <p:nvPr/>
        </p:nvSpPr>
        <p:spPr>
          <a:xfrm>
            <a:off x="9902952" y="6601968"/>
            <a:ext cx="1828800" cy="256032"/>
          </a:xfrm>
          <a:prstGeom prst="rect">
            <a:avLst/>
          </a:prstGeom>
          <a:noFill/>
          <a:ln/>
        </p:spPr>
        <p:txBody>
          <a:bodyPr wrap="square" lIns="0" tIns="0" rIns="0" bIns="0" rtlCol="0" anchor="ctr"/>
          <a:lstStyle/>
          <a:p>
            <a:pPr marL="0" indent="0" algn="r">
              <a:buNone/>
            </a:pPr>
            <a:r>
              <a:rPr lang="en-US" sz="2000" dirty="0">
                <a:solidFill>
                  <a:srgbClr val="E8EEF7"/>
                </a:solidFill>
                <a:latin typeface="Calibri" pitchFamily="34" charset="0"/>
                <a:ea typeface="Calibri" pitchFamily="34" charset="-122"/>
                <a:cs typeface="Calibri" pitchFamily="34" charset="-120"/>
              </a:rPr>
              <a:t>CSS2257</a:t>
            </a:r>
            <a:endParaRPr lang="en-US" sz="20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1B2A4A"/>
        </a:solidFill>
        <a:effectLst/>
      </p:bgPr>
    </p:bg>
    <p:spTree>
      <p:nvGrpSpPr>
        <p:cNvPr id="1" name=""/>
        <p:cNvGrpSpPr/>
        <p:nvPr/>
      </p:nvGrpSpPr>
      <p:grpSpPr>
        <a:xfrm>
          <a:off x="0" y="0"/>
          <a:ext cx="0" cy="0"/>
          <a:chOff x="0" y="0"/>
          <a:chExt cx="0" cy="0"/>
        </a:xfrm>
      </p:grpSpPr>
      <p:sp>
        <p:nvSpPr>
          <p:cNvPr id="2" name="Text 0"/>
          <p:cNvSpPr/>
          <p:nvPr/>
        </p:nvSpPr>
        <p:spPr>
          <a:xfrm>
            <a:off x="548640" y="411480"/>
            <a:ext cx="9601200" cy="868680"/>
          </a:xfrm>
          <a:prstGeom prst="rect">
            <a:avLst/>
          </a:prstGeom>
          <a:noFill/>
          <a:ln/>
        </p:spPr>
        <p:txBody>
          <a:bodyPr wrap="square" lIns="0" tIns="0" rIns="0" bIns="0" rtlCol="0" anchor="ctr"/>
          <a:lstStyle/>
          <a:p>
            <a:pPr marL="0" indent="0" algn="l">
              <a:buNone/>
            </a:pPr>
            <a:r>
              <a:rPr lang="en-US" sz="3400" b="1" dirty="0">
                <a:solidFill>
                  <a:srgbClr val="FFFFFF"/>
                </a:solidFill>
                <a:latin typeface="Cambria" pitchFamily="34" charset="0"/>
                <a:ea typeface="Cambria" pitchFamily="34" charset="-122"/>
                <a:cs typeface="Cambria" pitchFamily="34" charset="-120"/>
              </a:rPr>
              <a:t>Quiz Answers — CSS2257</a:t>
            </a:r>
            <a:endParaRPr lang="en-US" sz="3400" dirty="0"/>
          </a:p>
        </p:txBody>
      </p:sp>
      <p:sp>
        <p:nvSpPr>
          <p:cNvPr id="3" name="Shape 1"/>
          <p:cNvSpPr/>
          <p:nvPr/>
        </p:nvSpPr>
        <p:spPr>
          <a:xfrm>
            <a:off x="10607040" y="365760"/>
            <a:ext cx="914400" cy="914400"/>
          </a:xfrm>
          <a:prstGeom prst="ellipse">
            <a:avLst/>
          </a:prstGeom>
          <a:solidFill>
            <a:srgbClr val="233B63"/>
          </a:solidFill>
          <a:ln w="12700">
            <a:solidFill>
              <a:srgbClr val="233B63"/>
            </a:solidFill>
            <a:prstDash val="solid"/>
          </a:ln>
        </p:spPr>
      </p:sp>
      <p:pic>
        <p:nvPicPr>
          <p:cNvPr id="4" name="Image 0" descr="/home/claude/coa_ppt/icon_check_white.png"/>
          <p:cNvPicPr>
            <a:picLocks noChangeAspect="1"/>
          </p:cNvPicPr>
          <p:nvPr/>
        </p:nvPicPr>
        <p:blipFill>
          <a:blip r:embed="rId3"/>
          <a:stretch>
            <a:fillRect/>
          </a:stretch>
        </p:blipFill>
        <p:spPr>
          <a:xfrm>
            <a:off x="10844784" y="603504"/>
            <a:ext cx="438912" cy="438912"/>
          </a:xfrm>
          <a:prstGeom prst="rect">
            <a:avLst/>
          </a:prstGeom>
        </p:spPr>
      </p:pic>
      <p:sp>
        <p:nvSpPr>
          <p:cNvPr id="5" name="Text 2"/>
          <p:cNvSpPr/>
          <p:nvPr/>
        </p:nvSpPr>
        <p:spPr>
          <a:xfrm>
            <a:off x="548640" y="1417320"/>
            <a:ext cx="11064240" cy="4754880"/>
          </a:xfrm>
          <a:prstGeom prst="rect">
            <a:avLst/>
          </a:prstGeom>
          <a:noFill/>
          <a:ln/>
        </p:spPr>
        <p:txBody>
          <a:bodyPr wrap="square" lIns="0" tIns="0" rIns="0" bIns="0" rtlCol="0" anchor="t"/>
          <a:lstStyle/>
          <a:p>
            <a:pPr marL="279400" indent="-279400">
              <a:lnSpc>
                <a:spcPct val="108000"/>
              </a:lnSpc>
              <a:spcAft>
                <a:spcPts val="1000"/>
              </a:spcAft>
              <a:buSzPct val="100000"/>
              <a:buChar char="•"/>
            </a:pPr>
            <a:r>
              <a:rPr lang="en-US" sz="2000" dirty="0">
                <a:solidFill>
                  <a:srgbClr val="E8EEF7"/>
                </a:solidFill>
                <a:latin typeface="Calibri" pitchFamily="34" charset="0"/>
                <a:ea typeface="Calibri" pitchFamily="34" charset="-122"/>
                <a:cs typeface="Calibri" pitchFamily="34" charset="-120"/>
              </a:rPr>
              <a:t>A1: False — an enhancement can raise throughput while response time for an individual task stays the same or worsens.</a:t>
            </a:r>
            <a:endParaRPr lang="en-US" sz="2000" dirty="0"/>
          </a:p>
          <a:p>
            <a:pPr marL="279400" indent="-279400">
              <a:lnSpc>
                <a:spcPct val="108000"/>
              </a:lnSpc>
              <a:spcAft>
                <a:spcPts val="1000"/>
              </a:spcAft>
              <a:buSzPct val="100000"/>
              <a:buChar char="•"/>
            </a:pPr>
            <a:r>
              <a:rPr lang="en-US" sz="2000" dirty="0">
                <a:solidFill>
                  <a:srgbClr val="E8EEF7"/>
                </a:solidFill>
                <a:latin typeface="Calibri" pitchFamily="34" charset="0"/>
                <a:ea typeface="Calibri" pitchFamily="34" charset="-122"/>
                <a:cs typeface="Calibri" pitchFamily="34" charset="-120"/>
              </a:rPr>
              <a:t>A2: (b) Clock Cycle Time — CPU Time = IC × CPI × Clock Cycle Time.</a:t>
            </a:r>
            <a:endParaRPr lang="en-US" sz="2000" dirty="0"/>
          </a:p>
          <a:p>
            <a:pPr marL="279400" indent="-279400">
              <a:lnSpc>
                <a:spcPct val="108000"/>
              </a:lnSpc>
              <a:spcAft>
                <a:spcPts val="1000"/>
              </a:spcAft>
              <a:buSzPct val="100000"/>
              <a:buChar char="•"/>
            </a:pPr>
            <a:r>
              <a:rPr lang="en-US" sz="2000" dirty="0">
                <a:solidFill>
                  <a:srgbClr val="E8EEF7"/>
                </a:solidFill>
                <a:latin typeface="Calibri" pitchFamily="34" charset="0"/>
                <a:ea typeface="Calibri" pitchFamily="34" charset="-122"/>
                <a:cs typeface="Calibri" pitchFamily="34" charset="-120"/>
              </a:rPr>
              <a:t>A3: CPI is the average number of clock cycles used per instruction for a given program on a given machine.</a:t>
            </a:r>
            <a:endParaRPr lang="en-US" sz="2000" dirty="0"/>
          </a:p>
          <a:p>
            <a:pPr marL="279400" indent="-279400">
              <a:lnSpc>
                <a:spcPct val="108000"/>
              </a:lnSpc>
              <a:spcAft>
                <a:spcPts val="1000"/>
              </a:spcAft>
              <a:buSzPct val="100000"/>
              <a:buChar char="•"/>
            </a:pPr>
            <a:r>
              <a:rPr lang="en-US" sz="2000" dirty="0">
                <a:solidFill>
                  <a:srgbClr val="E8EEF7"/>
                </a:solidFill>
                <a:latin typeface="Calibri" pitchFamily="34" charset="0"/>
                <a:ea typeface="Calibri" pitchFamily="34" charset="-122"/>
                <a:cs typeface="Calibri" pitchFamily="34" charset="-120"/>
              </a:rPr>
              <a:t>A4: Clock Cycle Time = 1 / 2.5×10⁹ = 0.4 nanoseconds.</a:t>
            </a:r>
            <a:endParaRPr lang="en-US" sz="2000" dirty="0"/>
          </a:p>
          <a:p>
            <a:pPr marL="279400" indent="-279400">
              <a:lnSpc>
                <a:spcPct val="108000"/>
              </a:lnSpc>
              <a:spcAft>
                <a:spcPts val="1000"/>
              </a:spcAft>
              <a:buSzPct val="100000"/>
              <a:buChar char="•"/>
            </a:pPr>
            <a:r>
              <a:rPr lang="en-US" sz="2000" dirty="0">
                <a:solidFill>
                  <a:srgbClr val="E8EEF7"/>
                </a:solidFill>
                <a:latin typeface="Calibri" pitchFamily="34" charset="0"/>
                <a:ea typeface="Calibri" pitchFamily="34" charset="-122"/>
                <a:cs typeface="Calibri" pitchFamily="34" charset="-120"/>
              </a:rPr>
              <a:t>A5: False — MIPS ignores instruction quality and can vary across programs (see Slide 14).</a:t>
            </a:r>
            <a:endParaRPr lang="en-US" sz="2000" dirty="0"/>
          </a:p>
          <a:p>
            <a:pPr marL="279400" indent="-279400">
              <a:lnSpc>
                <a:spcPct val="108000"/>
              </a:lnSpc>
              <a:spcAft>
                <a:spcPts val="1000"/>
              </a:spcAft>
              <a:buSzPct val="100000"/>
              <a:buChar char="•"/>
            </a:pPr>
            <a:r>
              <a:rPr lang="en-US" sz="2000" dirty="0">
                <a:solidFill>
                  <a:srgbClr val="E8EEF7"/>
                </a:solidFill>
                <a:latin typeface="Calibri" pitchFamily="34" charset="0"/>
                <a:ea typeface="Calibri" pitchFamily="34" charset="-122"/>
                <a:cs typeface="Calibri" pitchFamily="34" charset="-120"/>
              </a:rPr>
              <a:t>A6: The overall speedup from any enhancement is limited by the fraction of execution time it can affect — the untouched portion becomes the bottleneck.</a:t>
            </a:r>
            <a:endParaRPr lang="en-US" sz="2000" dirty="0"/>
          </a:p>
          <a:p>
            <a:pPr marL="279400" indent="-279400">
              <a:lnSpc>
                <a:spcPct val="108000"/>
              </a:lnSpc>
              <a:spcAft>
                <a:spcPts val="1000"/>
              </a:spcAft>
              <a:buSzPct val="100000"/>
              <a:buChar char="•"/>
            </a:pPr>
            <a:r>
              <a:rPr lang="en-US" sz="2000" dirty="0">
                <a:solidFill>
                  <a:srgbClr val="E8EEF7"/>
                </a:solidFill>
                <a:latin typeface="Calibri" pitchFamily="34" charset="0"/>
                <a:ea typeface="Calibri" pitchFamily="34" charset="-122"/>
                <a:cs typeface="Calibri" pitchFamily="34" charset="-120"/>
              </a:rPr>
              <a:t>A7: (b) DLP — SIMD applies one instruction to many data items simultaneously.</a:t>
            </a:r>
            <a:endParaRPr lang="en-US" sz="2000" dirty="0"/>
          </a:p>
          <a:p>
            <a:pPr marL="279400" indent="-279400">
              <a:lnSpc>
                <a:spcPct val="108000"/>
              </a:lnSpc>
              <a:spcAft>
                <a:spcPts val="1000"/>
              </a:spcAft>
              <a:buSzPct val="100000"/>
              <a:buChar char="•"/>
            </a:pPr>
            <a:r>
              <a:rPr lang="en-US" sz="2000" dirty="0">
                <a:solidFill>
                  <a:srgbClr val="E8EEF7"/>
                </a:solidFill>
                <a:latin typeface="Calibri" pitchFamily="34" charset="0"/>
                <a:ea typeface="Calibri" pitchFamily="34" charset="-122"/>
                <a:cs typeface="Calibri" pitchFamily="34" charset="-120"/>
              </a:rPr>
              <a:t>A8: Rising clock rates caused power/heat to grow faster than performance gain, so cooling could no longer keep pace — forcing a shift toward multicore parallelism.</a:t>
            </a:r>
            <a:endParaRPr lang="en-US" sz="2000" dirty="0"/>
          </a:p>
        </p:txBody>
      </p:sp>
      <p:sp>
        <p:nvSpPr>
          <p:cNvPr id="6" name="Text 3"/>
          <p:cNvSpPr/>
          <p:nvPr/>
        </p:nvSpPr>
        <p:spPr>
          <a:xfrm>
            <a:off x="457200" y="6601968"/>
            <a:ext cx="4572000" cy="256032"/>
          </a:xfrm>
          <a:prstGeom prst="rect">
            <a:avLst/>
          </a:prstGeom>
          <a:noFill/>
          <a:ln/>
        </p:spPr>
        <p:txBody>
          <a:bodyPr wrap="square" lIns="0" tIns="0" rIns="0" bIns="0" rtlCol="0" anchor="ctr"/>
          <a:lstStyle/>
          <a:p>
            <a:pPr marL="0" indent="0" algn="l">
              <a:buNone/>
            </a:pPr>
            <a:r>
              <a:rPr lang="en-US" sz="2000" dirty="0">
                <a:solidFill>
                  <a:srgbClr val="E8EEF7"/>
                </a:solidFill>
                <a:latin typeface="Calibri" pitchFamily="34" charset="0"/>
                <a:ea typeface="Calibri" pitchFamily="34" charset="-122"/>
                <a:cs typeface="Calibri" pitchFamily="34" charset="-120"/>
              </a:rPr>
              <a:t>Presidency University, Bengaluru</a:t>
            </a:r>
            <a:endParaRPr lang="en-US" sz="2000" dirty="0"/>
          </a:p>
        </p:txBody>
      </p:sp>
      <p:sp>
        <p:nvSpPr>
          <p:cNvPr id="7" name="Text 4"/>
          <p:cNvSpPr/>
          <p:nvPr/>
        </p:nvSpPr>
        <p:spPr>
          <a:xfrm>
            <a:off x="9902952" y="6601968"/>
            <a:ext cx="1828800" cy="256032"/>
          </a:xfrm>
          <a:prstGeom prst="rect">
            <a:avLst/>
          </a:prstGeom>
          <a:noFill/>
          <a:ln/>
        </p:spPr>
        <p:txBody>
          <a:bodyPr wrap="square" lIns="0" tIns="0" rIns="0" bIns="0" rtlCol="0" anchor="ctr"/>
          <a:lstStyle/>
          <a:p>
            <a:pPr marL="0" indent="0" algn="r">
              <a:buNone/>
            </a:pPr>
            <a:r>
              <a:rPr lang="en-US" sz="2000" dirty="0">
                <a:solidFill>
                  <a:srgbClr val="E8EEF7"/>
                </a:solidFill>
                <a:latin typeface="Calibri" pitchFamily="34" charset="0"/>
                <a:ea typeface="Calibri" pitchFamily="34" charset="-122"/>
                <a:cs typeface="Calibri" pitchFamily="34" charset="-120"/>
              </a:rPr>
              <a:t>CSS2257</a:t>
            </a:r>
            <a:endParaRPr lang="en-US" sz="20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11480"/>
            <a:ext cx="9601200" cy="868680"/>
          </a:xfrm>
          <a:prstGeom prst="rect">
            <a:avLst/>
          </a:prstGeom>
          <a:noFill/>
          <a:ln/>
        </p:spPr>
        <p:txBody>
          <a:bodyPr wrap="square" lIns="0" tIns="0" rIns="0" bIns="0" rtlCol="0" anchor="ctr"/>
          <a:lstStyle/>
          <a:p>
            <a:pPr marL="0" indent="0" algn="l">
              <a:buNone/>
            </a:pPr>
            <a:r>
              <a:rPr lang="en-US" sz="3400" b="1" dirty="0">
                <a:solidFill>
                  <a:srgbClr val="1B2A4A"/>
                </a:solidFill>
                <a:latin typeface="Cambria" pitchFamily="34" charset="0"/>
                <a:ea typeface="Cambria" pitchFamily="34" charset="-122"/>
                <a:cs typeface="Cambria" pitchFamily="34" charset="-120"/>
              </a:rPr>
              <a:t>Further Reading &amp; What's Next</a:t>
            </a:r>
            <a:endParaRPr lang="en-US" sz="3400" dirty="0"/>
          </a:p>
        </p:txBody>
      </p:sp>
      <p:sp>
        <p:nvSpPr>
          <p:cNvPr id="3" name="Shape 1"/>
          <p:cNvSpPr/>
          <p:nvPr/>
        </p:nvSpPr>
        <p:spPr>
          <a:xfrm>
            <a:off x="10607040" y="365760"/>
            <a:ext cx="914400" cy="914400"/>
          </a:xfrm>
          <a:prstGeom prst="ellipse">
            <a:avLst/>
          </a:prstGeom>
          <a:solidFill>
            <a:srgbClr val="1B2A4A"/>
          </a:solidFill>
          <a:ln w="12700">
            <a:solidFill>
              <a:srgbClr val="1B2A4A"/>
            </a:solidFill>
            <a:prstDash val="solid"/>
          </a:ln>
        </p:spPr>
      </p:sp>
      <p:pic>
        <p:nvPicPr>
          <p:cNvPr id="4" name="Image 0" descr="/home/claude/coa_ppt/icon_bulb_white.png"/>
          <p:cNvPicPr>
            <a:picLocks noChangeAspect="1"/>
          </p:cNvPicPr>
          <p:nvPr/>
        </p:nvPicPr>
        <p:blipFill>
          <a:blip r:embed="rId3"/>
          <a:stretch>
            <a:fillRect/>
          </a:stretch>
        </p:blipFill>
        <p:spPr>
          <a:xfrm>
            <a:off x="10844784" y="603504"/>
            <a:ext cx="438912" cy="438912"/>
          </a:xfrm>
          <a:prstGeom prst="rect">
            <a:avLst/>
          </a:prstGeom>
        </p:spPr>
      </p:pic>
      <p:sp>
        <p:nvSpPr>
          <p:cNvPr id="5" name="Text 2"/>
          <p:cNvSpPr/>
          <p:nvPr/>
        </p:nvSpPr>
        <p:spPr>
          <a:xfrm>
            <a:off x="548640" y="1417320"/>
            <a:ext cx="11064240" cy="4754880"/>
          </a:xfrm>
          <a:prstGeom prst="rect">
            <a:avLst/>
          </a:prstGeom>
          <a:noFill/>
          <a:ln/>
        </p:spPr>
        <p:txBody>
          <a:bodyPr wrap="square" lIns="0" tIns="0" rIns="0" bIns="0" rtlCol="0" anchor="t"/>
          <a:lstStyle/>
          <a:p>
            <a:pPr marL="279400" indent="-279400">
              <a:lnSpc>
                <a:spcPct val="108000"/>
              </a:lnSpc>
              <a:spcAft>
                <a:spcPts val="1000"/>
              </a:spcAft>
              <a:buSzPct val="100000"/>
              <a:buChar char="•"/>
            </a:pPr>
            <a:r>
              <a:rPr lang="en-US" sz="2000" b="1" dirty="0">
                <a:solidFill>
                  <a:srgbClr val="1B2A4A"/>
                </a:solidFill>
                <a:latin typeface="Calibri" pitchFamily="34" charset="0"/>
                <a:ea typeface="Calibri" pitchFamily="34" charset="-122"/>
                <a:cs typeface="Calibri" pitchFamily="34" charset="-120"/>
              </a:rPr>
              <a:t>Further Reading</a:t>
            </a:r>
            <a:endParaRPr lang="en-US" sz="2000" dirty="0"/>
          </a:p>
          <a:p>
            <a:pPr marL="508000" indent="-508000">
              <a:lnSpc>
                <a:spcPct val="108000"/>
              </a:lnSpc>
              <a:spcAft>
                <a:spcPts val="1000"/>
              </a:spcAft>
              <a:buSzPct val="100000"/>
              <a:buChar char="○"/>
            </a:pPr>
            <a:r>
              <a:rPr lang="en-US" sz="2000" dirty="0">
                <a:solidFill>
                  <a:srgbClr val="1B2A4A"/>
                </a:solidFill>
                <a:latin typeface="Calibri" pitchFamily="34" charset="0"/>
                <a:ea typeface="Calibri" pitchFamily="34" charset="-122"/>
                <a:cs typeface="Calibri" pitchFamily="34" charset="-120"/>
              </a:rPr>
              <a:t>Hennessy &amp; Patterson, Computer Organization and Design — Chapter on Performance</a:t>
            </a:r>
            <a:endParaRPr lang="en-US" sz="2000" dirty="0"/>
          </a:p>
          <a:p>
            <a:pPr marL="508000" indent="-508000">
              <a:lnSpc>
                <a:spcPct val="108000"/>
              </a:lnSpc>
              <a:spcAft>
                <a:spcPts val="1000"/>
              </a:spcAft>
              <a:buSzPct val="100000"/>
              <a:buChar char="○"/>
            </a:pPr>
            <a:r>
              <a:rPr lang="en-US" sz="2000" dirty="0">
                <a:solidFill>
                  <a:srgbClr val="1B2A4A"/>
                </a:solidFill>
                <a:latin typeface="Calibri" pitchFamily="34" charset="0"/>
                <a:ea typeface="Calibri" pitchFamily="34" charset="-122"/>
                <a:cs typeface="Calibri" pitchFamily="34" charset="-120"/>
              </a:rPr>
              <a:t>Any standard COA textbook chapter covering the CPU performance equation and Amdahl's Law</a:t>
            </a:r>
            <a:endParaRPr lang="en-US" sz="2000" dirty="0"/>
          </a:p>
          <a:p>
            <a:pPr marL="279400" indent="-279400">
              <a:lnSpc>
                <a:spcPct val="108000"/>
              </a:lnSpc>
              <a:spcAft>
                <a:spcPts val="1000"/>
              </a:spcAft>
              <a:buSzPct val="100000"/>
              <a:buChar char="•"/>
            </a:pPr>
            <a:r>
              <a:rPr lang="en-US" sz="2000" b="1" dirty="0">
                <a:solidFill>
                  <a:srgbClr val="1B2A4A"/>
                </a:solidFill>
                <a:latin typeface="Calibri" pitchFamily="34" charset="0"/>
                <a:ea typeface="Calibri" pitchFamily="34" charset="-122"/>
                <a:cs typeface="Calibri" pitchFamily="34" charset="-120"/>
              </a:rPr>
              <a:t>Assignment Idea</a:t>
            </a:r>
            <a:endParaRPr lang="en-US" sz="2000" dirty="0"/>
          </a:p>
          <a:p>
            <a:pPr marL="508000" indent="-508000">
              <a:lnSpc>
                <a:spcPct val="108000"/>
              </a:lnSpc>
              <a:spcAft>
                <a:spcPts val="1000"/>
              </a:spcAft>
              <a:buSzPct val="100000"/>
              <a:buChar char="○"/>
            </a:pPr>
            <a:r>
              <a:rPr lang="en-US" sz="2000" dirty="0">
                <a:solidFill>
                  <a:srgbClr val="1B2A4A"/>
                </a:solidFill>
                <a:latin typeface="Calibri" pitchFamily="34" charset="0"/>
                <a:ea typeface="Calibri" pitchFamily="34" charset="-122"/>
                <a:cs typeface="Calibri" pitchFamily="34" charset="-120"/>
              </a:rPr>
              <a:t>Pick two real processors (from spec sheets online) and estimate which performs better on a hypothetical workload, showing your working</a:t>
            </a:r>
            <a:endParaRPr lang="en-US" sz="2000" dirty="0"/>
          </a:p>
          <a:p>
            <a:pPr marL="279400" indent="-279400">
              <a:lnSpc>
                <a:spcPct val="108000"/>
              </a:lnSpc>
              <a:spcAft>
                <a:spcPts val="1000"/>
              </a:spcAft>
              <a:buSzPct val="100000"/>
              <a:buChar char="•"/>
            </a:pPr>
            <a:r>
              <a:rPr lang="en-US" sz="2000" b="1" dirty="0">
                <a:solidFill>
                  <a:srgbClr val="1B2A4A"/>
                </a:solidFill>
                <a:latin typeface="Calibri" pitchFamily="34" charset="0"/>
                <a:ea typeface="Calibri" pitchFamily="34" charset="-122"/>
                <a:cs typeface="Calibri" pitchFamily="34" charset="-120"/>
              </a:rPr>
              <a:t>What's Next</a:t>
            </a:r>
            <a:endParaRPr lang="en-US" sz="2000" dirty="0"/>
          </a:p>
          <a:p>
            <a:pPr marL="508000" indent="-508000">
              <a:lnSpc>
                <a:spcPct val="108000"/>
              </a:lnSpc>
              <a:spcAft>
                <a:spcPts val="1000"/>
              </a:spcAft>
              <a:buSzPct val="100000"/>
              <a:buChar char="○"/>
            </a:pPr>
            <a:r>
              <a:rPr lang="en-US" sz="2000" dirty="0">
                <a:solidFill>
                  <a:srgbClr val="1B2A4A"/>
                </a:solidFill>
                <a:latin typeface="Calibri" pitchFamily="34" charset="0"/>
                <a:ea typeface="Calibri" pitchFamily="34" charset="-122"/>
                <a:cs typeface="Calibri" pitchFamily="34" charset="-120"/>
              </a:rPr>
              <a:t>Next class: Instruction Set Architecture and how instructions are actually encoded and executed</a:t>
            </a:r>
            <a:endParaRPr lang="en-US" sz="2000" dirty="0"/>
          </a:p>
        </p:txBody>
      </p:sp>
      <p:sp>
        <p:nvSpPr>
          <p:cNvPr id="6" name="Text 3"/>
          <p:cNvSpPr/>
          <p:nvPr/>
        </p:nvSpPr>
        <p:spPr>
          <a:xfrm>
            <a:off x="457200" y="6601968"/>
            <a:ext cx="4572000" cy="256032"/>
          </a:xfrm>
          <a:prstGeom prst="rect">
            <a:avLst/>
          </a:prstGeom>
          <a:noFill/>
          <a:ln/>
        </p:spPr>
        <p:txBody>
          <a:bodyPr wrap="square" lIns="0" tIns="0" rIns="0" bIns="0" rtlCol="0" anchor="ctr"/>
          <a:lstStyle/>
          <a:p>
            <a:pPr marL="0" indent="0" algn="l">
              <a:buNone/>
            </a:pPr>
            <a:r>
              <a:rPr lang="en-US" sz="2000" dirty="0">
                <a:solidFill>
                  <a:srgbClr val="5B6B84"/>
                </a:solidFill>
                <a:latin typeface="Calibri" pitchFamily="34" charset="0"/>
                <a:ea typeface="Calibri" pitchFamily="34" charset="-122"/>
                <a:cs typeface="Calibri" pitchFamily="34" charset="-120"/>
              </a:rPr>
              <a:t>Presidency University, Bengaluru</a:t>
            </a:r>
            <a:endParaRPr lang="en-US" sz="2000" dirty="0"/>
          </a:p>
        </p:txBody>
      </p:sp>
      <p:sp>
        <p:nvSpPr>
          <p:cNvPr id="7" name="Text 4"/>
          <p:cNvSpPr/>
          <p:nvPr/>
        </p:nvSpPr>
        <p:spPr>
          <a:xfrm>
            <a:off x="9902952" y="6601968"/>
            <a:ext cx="1828800" cy="256032"/>
          </a:xfrm>
          <a:prstGeom prst="rect">
            <a:avLst/>
          </a:prstGeom>
          <a:noFill/>
          <a:ln/>
        </p:spPr>
        <p:txBody>
          <a:bodyPr wrap="square" lIns="0" tIns="0" rIns="0" bIns="0" rtlCol="0" anchor="ctr"/>
          <a:lstStyle/>
          <a:p>
            <a:pPr marL="0" indent="0" algn="r">
              <a:buNone/>
            </a:pPr>
            <a:r>
              <a:rPr lang="en-US" sz="2000" dirty="0">
                <a:solidFill>
                  <a:srgbClr val="5B6B84"/>
                </a:solidFill>
                <a:latin typeface="Calibri" pitchFamily="34" charset="0"/>
                <a:ea typeface="Calibri" pitchFamily="34" charset="-122"/>
                <a:cs typeface="Calibri" pitchFamily="34" charset="-120"/>
              </a:rPr>
              <a:t>CSS2257</a:t>
            </a:r>
            <a:endParaRPr lang="en-US" sz="2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6097</Words>
  <Application>Microsoft Office PowerPoint</Application>
  <PresentationFormat>Widescreen</PresentationFormat>
  <Paragraphs>404</Paragraphs>
  <Slides>32</Slides>
  <Notes>32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32</vt:i4>
      </vt:variant>
    </vt:vector>
  </HeadingPairs>
  <TitlesOfParts>
    <vt:vector size="36"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Presidency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Computer Performance, Processor Clock, and Parallelism</dc:title>
  <dc:subject>PptxGenJS Presentation</dc:subject>
  <dc:creator>Manoj Sagar</dc:creator>
  <cp:lastModifiedBy>Manoj Sagar K - Assistant Professor - SCSE</cp:lastModifiedBy>
  <cp:revision>2</cp:revision>
  <dcterms:created xsi:type="dcterms:W3CDTF">2026-08-11T08:04:51Z</dcterms:created>
  <dcterms:modified xsi:type="dcterms:W3CDTF">2026-08-12T09:58:52Z</dcterms:modified>
</cp:coreProperties>
</file>