
<file path=[Content_Types].xml><?xml version="1.0" encoding="utf-8"?>
<Types xmlns="http://schemas.openxmlformats.org/package/2006/content-types">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5"/>
  </p:notesMasterIdLst>
  <p:handoutMasterIdLst>
    <p:handoutMasterId r:id="rId56"/>
  </p:handoutMasterIdLst>
  <p:sldIdLst>
    <p:sldId id="361" r:id="rId5"/>
    <p:sldId id="324" r:id="rId6"/>
    <p:sldId id="327" r:id="rId7"/>
    <p:sldId id="326" r:id="rId8"/>
    <p:sldId id="335" r:id="rId9"/>
    <p:sldId id="356" r:id="rId10"/>
    <p:sldId id="325" r:id="rId11"/>
    <p:sldId id="328" r:id="rId12"/>
    <p:sldId id="334" r:id="rId13"/>
    <p:sldId id="357" r:id="rId14"/>
    <p:sldId id="333" r:id="rId15"/>
    <p:sldId id="332" r:id="rId16"/>
    <p:sldId id="331" r:id="rId17"/>
    <p:sldId id="355" r:id="rId18"/>
    <p:sldId id="342" r:id="rId19"/>
    <p:sldId id="330" r:id="rId20"/>
    <p:sldId id="341" r:id="rId21"/>
    <p:sldId id="358" r:id="rId22"/>
    <p:sldId id="340" r:id="rId23"/>
    <p:sldId id="359" r:id="rId24"/>
    <p:sldId id="339" r:id="rId25"/>
    <p:sldId id="338" r:id="rId26"/>
    <p:sldId id="337" r:id="rId27"/>
    <p:sldId id="336" r:id="rId28"/>
    <p:sldId id="347" r:id="rId29"/>
    <p:sldId id="345" r:id="rId30"/>
    <p:sldId id="360" r:id="rId31"/>
    <p:sldId id="343" r:id="rId32"/>
    <p:sldId id="349" r:id="rId33"/>
    <p:sldId id="350" r:id="rId34"/>
    <p:sldId id="348" r:id="rId35"/>
    <p:sldId id="354" r:id="rId36"/>
    <p:sldId id="380" r:id="rId37"/>
    <p:sldId id="362"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 id="377" r:id="rId51"/>
    <p:sldId id="378" r:id="rId52"/>
    <p:sldId id="379" r:id="rId53"/>
    <p:sldId id="381" r:id="rId54"/>
  </p:sldIdLst>
  <p:sldSz cx="9144000" cy="6858000" type="letter"/>
  <p:notesSz cx="6858000" cy="9144000"/>
  <p:defaultTextStyle>
    <a:defPPr>
      <a:defRPr lang="en-US"/>
    </a:defPPr>
    <a:lvl1pPr algn="l" rtl="0" eaLnBrk="0" fontAlgn="base" hangingPunct="0">
      <a:spcBef>
        <a:spcPct val="0"/>
      </a:spcBef>
      <a:spcAft>
        <a:spcPct val="0"/>
      </a:spcAft>
      <a:defRPr kern="1200">
        <a:solidFill>
          <a:schemeClr val="accent1"/>
        </a:solidFill>
        <a:latin typeface="Arial" charset="0"/>
        <a:ea typeface="+mn-ea"/>
        <a:cs typeface="+mn-cs"/>
      </a:defRPr>
    </a:lvl1pPr>
    <a:lvl2pPr marL="457200" algn="l" rtl="0" eaLnBrk="0" fontAlgn="base" hangingPunct="0">
      <a:spcBef>
        <a:spcPct val="0"/>
      </a:spcBef>
      <a:spcAft>
        <a:spcPct val="0"/>
      </a:spcAft>
      <a:defRPr kern="1200">
        <a:solidFill>
          <a:schemeClr val="accent1"/>
        </a:solidFill>
        <a:latin typeface="Arial" charset="0"/>
        <a:ea typeface="+mn-ea"/>
        <a:cs typeface="+mn-cs"/>
      </a:defRPr>
    </a:lvl2pPr>
    <a:lvl3pPr marL="914400" algn="l" rtl="0" eaLnBrk="0" fontAlgn="base" hangingPunct="0">
      <a:spcBef>
        <a:spcPct val="0"/>
      </a:spcBef>
      <a:spcAft>
        <a:spcPct val="0"/>
      </a:spcAft>
      <a:defRPr kern="1200">
        <a:solidFill>
          <a:schemeClr val="accent1"/>
        </a:solidFill>
        <a:latin typeface="Arial" charset="0"/>
        <a:ea typeface="+mn-ea"/>
        <a:cs typeface="+mn-cs"/>
      </a:defRPr>
    </a:lvl3pPr>
    <a:lvl4pPr marL="1371600" algn="l" rtl="0" eaLnBrk="0" fontAlgn="base" hangingPunct="0">
      <a:spcBef>
        <a:spcPct val="0"/>
      </a:spcBef>
      <a:spcAft>
        <a:spcPct val="0"/>
      </a:spcAft>
      <a:defRPr kern="1200">
        <a:solidFill>
          <a:schemeClr val="accent1"/>
        </a:solidFill>
        <a:latin typeface="Arial" charset="0"/>
        <a:ea typeface="+mn-ea"/>
        <a:cs typeface="+mn-cs"/>
      </a:defRPr>
    </a:lvl4pPr>
    <a:lvl5pPr marL="1828800" algn="l" rtl="0" eaLnBrk="0" fontAlgn="base" hangingPunct="0">
      <a:spcBef>
        <a:spcPct val="0"/>
      </a:spcBef>
      <a:spcAft>
        <a:spcPct val="0"/>
      </a:spcAft>
      <a:defRPr kern="1200">
        <a:solidFill>
          <a:schemeClr val="accent1"/>
        </a:solidFill>
        <a:latin typeface="Arial" charset="0"/>
        <a:ea typeface="+mn-ea"/>
        <a:cs typeface="+mn-cs"/>
      </a:defRPr>
    </a:lvl5pPr>
    <a:lvl6pPr marL="2286000" algn="l" defTabSz="914400" rtl="0" eaLnBrk="1" latinLnBrk="0" hangingPunct="1">
      <a:defRPr kern="1200">
        <a:solidFill>
          <a:schemeClr val="accent1"/>
        </a:solidFill>
        <a:latin typeface="Arial" charset="0"/>
        <a:ea typeface="+mn-ea"/>
        <a:cs typeface="+mn-cs"/>
      </a:defRPr>
    </a:lvl6pPr>
    <a:lvl7pPr marL="2743200" algn="l" defTabSz="914400" rtl="0" eaLnBrk="1" latinLnBrk="0" hangingPunct="1">
      <a:defRPr kern="1200">
        <a:solidFill>
          <a:schemeClr val="accent1"/>
        </a:solidFill>
        <a:latin typeface="Arial" charset="0"/>
        <a:ea typeface="+mn-ea"/>
        <a:cs typeface="+mn-cs"/>
      </a:defRPr>
    </a:lvl7pPr>
    <a:lvl8pPr marL="3200400" algn="l" defTabSz="914400" rtl="0" eaLnBrk="1" latinLnBrk="0" hangingPunct="1">
      <a:defRPr kern="1200">
        <a:solidFill>
          <a:schemeClr val="accent1"/>
        </a:solidFill>
        <a:latin typeface="Arial" charset="0"/>
        <a:ea typeface="+mn-ea"/>
        <a:cs typeface="+mn-cs"/>
      </a:defRPr>
    </a:lvl8pPr>
    <a:lvl9pPr marL="3657600" algn="l" defTabSz="914400" rtl="0" eaLnBrk="1" latinLnBrk="0" hangingPunct="1">
      <a:defRPr kern="1200">
        <a:solidFill>
          <a:schemeClr val="accent1"/>
        </a:solidFill>
        <a:latin typeface="Arial"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2D8B"/>
    <a:srgbClr val="4F520E"/>
    <a:srgbClr val="B1B1B1"/>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79" autoAdjust="0"/>
    <p:restoredTop sz="86355" autoAdjust="0"/>
  </p:normalViewPr>
  <p:slideViewPr>
    <p:cSldViewPr>
      <p:cViewPr varScale="1">
        <p:scale>
          <a:sx n="73" d="100"/>
          <a:sy n="73" d="100"/>
        </p:scale>
        <p:origin x="-1530" y="-90"/>
      </p:cViewPr>
      <p:guideLst>
        <p:guide orient="horz" pos="2160"/>
        <p:guide pos="2880"/>
      </p:guideLst>
    </p:cSldViewPr>
  </p:slideViewPr>
  <p:outlineViewPr>
    <p:cViewPr>
      <p:scale>
        <a:sx n="33" d="100"/>
        <a:sy n="33" d="100"/>
      </p:scale>
      <p:origin x="0" y="-2214"/>
    </p:cViewPr>
  </p:outlineViewPr>
  <p:notesTextViewPr>
    <p:cViewPr>
      <p:scale>
        <a:sx n="100" d="100"/>
        <a:sy n="100" d="100"/>
      </p:scale>
      <p:origin x="0" y="0"/>
    </p:cViewPr>
  </p:notesTextViewPr>
  <p:sorterViewPr>
    <p:cViewPr>
      <p:scale>
        <a:sx n="75" d="100"/>
        <a:sy n="75" d="100"/>
      </p:scale>
      <p:origin x="0" y="-2424"/>
    </p:cViewPr>
  </p:sorterViewPr>
  <p:notesViewPr>
    <p:cSldViewPr>
      <p:cViewPr>
        <p:scale>
          <a:sx n="150" d="100"/>
          <a:sy n="150" d="100"/>
        </p:scale>
        <p:origin x="-714" y="271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95299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0220585"/>
      </p:ext>
    </p:extLst>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C7AC6DB8-D6D2-461C-B161-443BE8E80E11}" type="slidenum">
              <a:rPr lang="ar-SA" altLang="en-US"/>
              <a:pPr/>
              <a:t>34</a:t>
            </a:fld>
            <a:endParaRPr lang="en-US" altLang="en-US"/>
          </a:p>
        </p:txBody>
      </p:sp>
      <p:sp>
        <p:nvSpPr>
          <p:cNvPr id="83970" name="Rectangle 2"/>
          <p:cNvSpPr>
            <a:spLocks noGrp="1" noRot="1" noChangeAspect="1" noChangeArrowheads="1" noTextEdit="1"/>
          </p:cNvSpPr>
          <p:nvPr>
            <p:ph type="sldImg"/>
          </p:nvPr>
        </p:nvSpPr>
        <p:spPr>
          <a:xfrm>
            <a:off x="1371600" y="1143000"/>
            <a:ext cx="4114800" cy="3086100"/>
          </a:xfrm>
          <a:prstGeom prst="rect">
            <a:avLst/>
          </a:prstGeom>
          <a:ln/>
        </p:spPr>
      </p:sp>
      <p:sp>
        <p:nvSpPr>
          <p:cNvPr id="83971"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4028270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A7FEFBA5-127B-4F0C-9C69-9C7B4AA2A77E}" type="slidenum">
              <a:rPr lang="ar-SA" altLang="en-US"/>
              <a:pPr/>
              <a:t>35</a:t>
            </a:fld>
            <a:endParaRPr lang="en-US" altLang="en-US"/>
          </a:p>
        </p:txBody>
      </p:sp>
      <p:sp>
        <p:nvSpPr>
          <p:cNvPr id="87042" name="Rectangle 2"/>
          <p:cNvSpPr>
            <a:spLocks noGrp="1" noRot="1" noChangeAspect="1" noChangeArrowheads="1" noTextEdit="1"/>
          </p:cNvSpPr>
          <p:nvPr>
            <p:ph type="sldImg"/>
          </p:nvPr>
        </p:nvSpPr>
        <p:spPr>
          <a:xfrm>
            <a:off x="1371600" y="1143000"/>
            <a:ext cx="4114800" cy="3086100"/>
          </a:xfrm>
          <a:prstGeom prst="rect">
            <a:avLst/>
          </a:prstGeom>
          <a:ln/>
        </p:spPr>
      </p:sp>
      <p:sp>
        <p:nvSpPr>
          <p:cNvPr id="87043"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4179362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914D343D-B3B8-4DD8-BA7D-2E4FB9321E3B}" type="slidenum">
              <a:rPr lang="ar-SA" altLang="en-US"/>
              <a:pPr/>
              <a:t>36</a:t>
            </a:fld>
            <a:endParaRPr lang="en-US" altLang="en-US"/>
          </a:p>
        </p:txBody>
      </p:sp>
      <p:sp>
        <p:nvSpPr>
          <p:cNvPr id="88066" name="Rectangle 2"/>
          <p:cNvSpPr>
            <a:spLocks noGrp="1" noRot="1" noChangeAspect="1" noChangeArrowheads="1" noTextEdit="1"/>
          </p:cNvSpPr>
          <p:nvPr>
            <p:ph type="sldImg"/>
          </p:nvPr>
        </p:nvSpPr>
        <p:spPr>
          <a:xfrm>
            <a:off x="1371600" y="1143000"/>
            <a:ext cx="4114800" cy="3086100"/>
          </a:xfrm>
          <a:prstGeom prst="rect">
            <a:avLst/>
          </a:prstGeom>
          <a:ln/>
        </p:spPr>
      </p:sp>
      <p:sp>
        <p:nvSpPr>
          <p:cNvPr id="88067"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3708140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0981050A-9E48-4006-8819-7A193A481179}" type="slidenum">
              <a:rPr lang="ar-SA" altLang="en-US"/>
              <a:pPr/>
              <a:t>37</a:t>
            </a:fld>
            <a:endParaRPr lang="en-US" altLang="en-US"/>
          </a:p>
        </p:txBody>
      </p:sp>
      <p:sp>
        <p:nvSpPr>
          <p:cNvPr id="89090" name="Rectangle 2"/>
          <p:cNvSpPr>
            <a:spLocks noGrp="1" noRot="1" noChangeAspect="1" noChangeArrowheads="1" noTextEdit="1"/>
          </p:cNvSpPr>
          <p:nvPr>
            <p:ph type="sldImg"/>
          </p:nvPr>
        </p:nvSpPr>
        <p:spPr>
          <a:xfrm>
            <a:off x="1371600" y="1143000"/>
            <a:ext cx="4114800" cy="3086100"/>
          </a:xfrm>
          <a:prstGeom prst="rect">
            <a:avLst/>
          </a:prstGeom>
          <a:ln/>
        </p:spPr>
      </p:sp>
      <p:sp>
        <p:nvSpPr>
          <p:cNvPr id="89091"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171272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F06F48EC-48FF-49CA-8713-B6600005A620}" type="slidenum">
              <a:rPr lang="ar-SA" altLang="en-US"/>
              <a:pPr/>
              <a:t>38</a:t>
            </a:fld>
            <a:endParaRPr lang="en-US" altLang="en-US"/>
          </a:p>
        </p:txBody>
      </p:sp>
      <p:sp>
        <p:nvSpPr>
          <p:cNvPr id="90114" name="Rectangle 2"/>
          <p:cNvSpPr>
            <a:spLocks noGrp="1" noRot="1" noChangeAspect="1" noChangeArrowheads="1" noTextEdit="1"/>
          </p:cNvSpPr>
          <p:nvPr>
            <p:ph type="sldImg"/>
          </p:nvPr>
        </p:nvSpPr>
        <p:spPr>
          <a:xfrm>
            <a:off x="1371600" y="1143000"/>
            <a:ext cx="4114800" cy="3086100"/>
          </a:xfrm>
          <a:prstGeom prst="rect">
            <a:avLst/>
          </a:prstGeom>
          <a:ln/>
        </p:spPr>
      </p:sp>
      <p:sp>
        <p:nvSpPr>
          <p:cNvPr id="90115"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640602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978AFDDA-CE3C-477B-A51E-D67799C36E2A}" type="slidenum">
              <a:rPr lang="ar-SA" altLang="en-US"/>
              <a:pPr/>
              <a:t>39</a:t>
            </a:fld>
            <a:endParaRPr lang="en-US" altLang="en-US"/>
          </a:p>
        </p:txBody>
      </p:sp>
      <p:sp>
        <p:nvSpPr>
          <p:cNvPr id="91138" name="Rectangle 2"/>
          <p:cNvSpPr>
            <a:spLocks noGrp="1" noRot="1" noChangeAspect="1" noChangeArrowheads="1" noTextEdit="1"/>
          </p:cNvSpPr>
          <p:nvPr>
            <p:ph type="sldImg"/>
          </p:nvPr>
        </p:nvSpPr>
        <p:spPr>
          <a:xfrm>
            <a:off x="1371600" y="1143000"/>
            <a:ext cx="4114800" cy="3086100"/>
          </a:xfrm>
          <a:prstGeom prst="rect">
            <a:avLst/>
          </a:prstGeom>
          <a:ln/>
        </p:spPr>
      </p:sp>
      <p:sp>
        <p:nvSpPr>
          <p:cNvPr id="91139"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3844279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5A803DA6-5FA0-4BCC-90D7-2E648AC000EB}" type="slidenum">
              <a:rPr lang="ar-SA" altLang="en-US"/>
              <a:pPr/>
              <a:t>40</a:t>
            </a:fld>
            <a:endParaRPr lang="en-US" altLang="en-US"/>
          </a:p>
        </p:txBody>
      </p:sp>
      <p:sp>
        <p:nvSpPr>
          <p:cNvPr id="92162" name="Rectangle 2"/>
          <p:cNvSpPr>
            <a:spLocks noGrp="1" noRot="1" noChangeAspect="1" noChangeArrowheads="1" noTextEdit="1"/>
          </p:cNvSpPr>
          <p:nvPr>
            <p:ph type="sldImg"/>
          </p:nvPr>
        </p:nvSpPr>
        <p:spPr>
          <a:xfrm>
            <a:off x="1371600" y="1143000"/>
            <a:ext cx="4114800" cy="3086100"/>
          </a:xfrm>
          <a:prstGeom prst="rect">
            <a:avLst/>
          </a:prstGeom>
          <a:ln/>
        </p:spPr>
      </p:sp>
      <p:sp>
        <p:nvSpPr>
          <p:cNvPr id="92163"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658896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E5A9EF1F-B34A-4171-9617-006636593E4E}" type="slidenum">
              <a:rPr lang="ar-SA" altLang="en-US"/>
              <a:pPr/>
              <a:t>41</a:t>
            </a:fld>
            <a:endParaRPr lang="en-US" altLang="en-US"/>
          </a:p>
        </p:txBody>
      </p:sp>
      <p:sp>
        <p:nvSpPr>
          <p:cNvPr id="93186" name="Rectangle 2"/>
          <p:cNvSpPr>
            <a:spLocks noGrp="1" noRot="1" noChangeAspect="1" noChangeArrowheads="1" noTextEdit="1"/>
          </p:cNvSpPr>
          <p:nvPr>
            <p:ph type="sldImg"/>
          </p:nvPr>
        </p:nvSpPr>
        <p:spPr>
          <a:xfrm>
            <a:off x="1371600" y="1143000"/>
            <a:ext cx="4114800" cy="3086100"/>
          </a:xfrm>
          <a:prstGeom prst="rect">
            <a:avLst/>
          </a:prstGeom>
          <a:ln/>
        </p:spPr>
      </p:sp>
      <p:sp>
        <p:nvSpPr>
          <p:cNvPr id="93187"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2249077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F5741E00-52DD-4BE3-915D-77D9C28E8737}" type="slidenum">
              <a:rPr lang="ar-SA" altLang="en-US"/>
              <a:pPr/>
              <a:t>42</a:t>
            </a:fld>
            <a:endParaRPr lang="en-US" altLang="en-US"/>
          </a:p>
        </p:txBody>
      </p:sp>
      <p:sp>
        <p:nvSpPr>
          <p:cNvPr id="94210" name="Rectangle 2"/>
          <p:cNvSpPr>
            <a:spLocks noGrp="1" noRot="1" noChangeAspect="1" noChangeArrowheads="1" noTextEdit="1"/>
          </p:cNvSpPr>
          <p:nvPr>
            <p:ph type="sldImg"/>
          </p:nvPr>
        </p:nvSpPr>
        <p:spPr>
          <a:xfrm>
            <a:off x="1371600" y="1143000"/>
            <a:ext cx="4114800" cy="3086100"/>
          </a:xfrm>
          <a:prstGeom prst="rect">
            <a:avLst/>
          </a:prstGeom>
          <a:ln/>
        </p:spPr>
      </p:sp>
      <p:sp>
        <p:nvSpPr>
          <p:cNvPr id="94211"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2864877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BA9E2288-A46E-4BB7-A792-D64D4A56069B}" type="slidenum">
              <a:rPr lang="ar-SA" altLang="en-US"/>
              <a:pPr/>
              <a:t>43</a:t>
            </a:fld>
            <a:endParaRPr lang="en-US" altLang="en-US"/>
          </a:p>
        </p:txBody>
      </p:sp>
      <p:sp>
        <p:nvSpPr>
          <p:cNvPr id="95234" name="Rectangle 2"/>
          <p:cNvSpPr>
            <a:spLocks noGrp="1" noRot="1" noChangeAspect="1" noChangeArrowheads="1" noTextEdit="1"/>
          </p:cNvSpPr>
          <p:nvPr>
            <p:ph type="sldImg"/>
          </p:nvPr>
        </p:nvSpPr>
        <p:spPr>
          <a:xfrm>
            <a:off x="1371600" y="1143000"/>
            <a:ext cx="4114800" cy="3086100"/>
          </a:xfrm>
          <a:prstGeom prst="rect">
            <a:avLst/>
          </a:prstGeom>
          <a:ln/>
        </p:spPr>
      </p:sp>
      <p:sp>
        <p:nvSpPr>
          <p:cNvPr id="95235"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1654858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19BAEF9E-227A-4CC2-B923-F82ABE23FD3A}" type="slidenum">
              <a:rPr lang="ar-SA" altLang="en-US"/>
              <a:pPr/>
              <a:t>44</a:t>
            </a:fld>
            <a:endParaRPr lang="en-US" altLang="en-US"/>
          </a:p>
        </p:txBody>
      </p:sp>
      <p:sp>
        <p:nvSpPr>
          <p:cNvPr id="96258" name="Rectangle 2"/>
          <p:cNvSpPr>
            <a:spLocks noGrp="1" noRot="1" noChangeAspect="1" noChangeArrowheads="1" noTextEdit="1"/>
          </p:cNvSpPr>
          <p:nvPr>
            <p:ph type="sldImg"/>
          </p:nvPr>
        </p:nvSpPr>
        <p:spPr>
          <a:xfrm>
            <a:off x="1371600" y="1143000"/>
            <a:ext cx="4114800" cy="3086100"/>
          </a:xfrm>
          <a:prstGeom prst="rect">
            <a:avLst/>
          </a:prstGeom>
          <a:ln/>
        </p:spPr>
      </p:sp>
      <p:sp>
        <p:nvSpPr>
          <p:cNvPr id="96259"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8517680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61210D4C-75EB-444C-A301-38E9DBA73BBD}" type="slidenum">
              <a:rPr lang="ar-SA" altLang="en-US"/>
              <a:pPr/>
              <a:t>45</a:t>
            </a:fld>
            <a:endParaRPr lang="en-US" altLang="en-US"/>
          </a:p>
        </p:txBody>
      </p:sp>
      <p:sp>
        <p:nvSpPr>
          <p:cNvPr id="97282" name="Rectangle 2"/>
          <p:cNvSpPr>
            <a:spLocks noGrp="1" noRot="1" noChangeAspect="1" noChangeArrowheads="1" noTextEdit="1"/>
          </p:cNvSpPr>
          <p:nvPr>
            <p:ph type="sldImg"/>
          </p:nvPr>
        </p:nvSpPr>
        <p:spPr>
          <a:xfrm>
            <a:off x="1371600" y="1143000"/>
            <a:ext cx="4114800" cy="3086100"/>
          </a:xfrm>
          <a:prstGeom prst="rect">
            <a:avLst/>
          </a:prstGeom>
          <a:ln/>
        </p:spPr>
      </p:sp>
      <p:sp>
        <p:nvSpPr>
          <p:cNvPr id="97283"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2388573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9E7C6741-CA6B-4F9E-8004-3B5ABBC11824}" type="slidenum">
              <a:rPr lang="ar-SA" altLang="en-US"/>
              <a:pPr/>
              <a:t>46</a:t>
            </a:fld>
            <a:endParaRPr lang="en-US" altLang="en-US"/>
          </a:p>
        </p:txBody>
      </p:sp>
      <p:sp>
        <p:nvSpPr>
          <p:cNvPr id="98306" name="Rectangle 2"/>
          <p:cNvSpPr>
            <a:spLocks noGrp="1" noRot="1" noChangeAspect="1" noChangeArrowheads="1" noTextEdit="1"/>
          </p:cNvSpPr>
          <p:nvPr>
            <p:ph type="sldImg"/>
          </p:nvPr>
        </p:nvSpPr>
        <p:spPr>
          <a:xfrm>
            <a:off x="1371600" y="1143000"/>
            <a:ext cx="4114800" cy="3086100"/>
          </a:xfrm>
          <a:prstGeom prst="rect">
            <a:avLst/>
          </a:prstGeom>
          <a:ln/>
        </p:spPr>
      </p:sp>
      <p:sp>
        <p:nvSpPr>
          <p:cNvPr id="98307"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3461187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29AD55E5-57FD-44D9-9030-BB78E34D0DE7}" type="slidenum">
              <a:rPr lang="ar-SA" altLang="en-US"/>
              <a:pPr/>
              <a:t>47</a:t>
            </a:fld>
            <a:endParaRPr lang="en-US" altLang="en-US"/>
          </a:p>
        </p:txBody>
      </p:sp>
      <p:sp>
        <p:nvSpPr>
          <p:cNvPr id="99330" name="Rectangle 2"/>
          <p:cNvSpPr>
            <a:spLocks noGrp="1" noRot="1" noChangeAspect="1" noChangeArrowheads="1" noTextEdit="1"/>
          </p:cNvSpPr>
          <p:nvPr>
            <p:ph type="sldImg"/>
          </p:nvPr>
        </p:nvSpPr>
        <p:spPr>
          <a:xfrm>
            <a:off x="1371600" y="1143000"/>
            <a:ext cx="4114800" cy="3086100"/>
          </a:xfrm>
          <a:prstGeom prst="rect">
            <a:avLst/>
          </a:prstGeom>
          <a:ln/>
        </p:spPr>
      </p:sp>
      <p:sp>
        <p:nvSpPr>
          <p:cNvPr id="99331"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41402167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8FD3BCE7-D4C4-4C34-9357-23A3A25D052A}" type="slidenum">
              <a:rPr lang="ar-SA" altLang="en-US"/>
              <a:pPr/>
              <a:t>48</a:t>
            </a:fld>
            <a:endParaRPr lang="en-US" altLang="en-US"/>
          </a:p>
        </p:txBody>
      </p:sp>
      <p:sp>
        <p:nvSpPr>
          <p:cNvPr id="100354" name="Rectangle 2"/>
          <p:cNvSpPr>
            <a:spLocks noGrp="1" noRot="1" noChangeAspect="1" noChangeArrowheads="1" noTextEdit="1"/>
          </p:cNvSpPr>
          <p:nvPr>
            <p:ph type="sldImg"/>
          </p:nvPr>
        </p:nvSpPr>
        <p:spPr>
          <a:xfrm>
            <a:off x="1371600" y="1143000"/>
            <a:ext cx="4114800" cy="3086100"/>
          </a:xfrm>
          <a:prstGeom prst="rect">
            <a:avLst/>
          </a:prstGeom>
          <a:ln/>
        </p:spPr>
      </p:sp>
      <p:sp>
        <p:nvSpPr>
          <p:cNvPr id="100355"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2055994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8787"/>
          </a:xfrm>
          <a:prstGeom prst="rect">
            <a:avLst/>
          </a:prstGeom>
          <a:ln/>
        </p:spPr>
        <p:txBody>
          <a:bodyPr/>
          <a:lstStyle/>
          <a:p>
            <a:fld id="{A03C9C5E-3D96-4FBE-B4DA-9D77DFDAD201}" type="slidenum">
              <a:rPr lang="ar-SA" altLang="en-US"/>
              <a:pPr/>
              <a:t>49</a:t>
            </a:fld>
            <a:endParaRPr lang="en-US" altLang="en-US"/>
          </a:p>
        </p:txBody>
      </p:sp>
      <p:sp>
        <p:nvSpPr>
          <p:cNvPr id="153602" name="Rectangle 2"/>
          <p:cNvSpPr>
            <a:spLocks noGrp="1" noRot="1" noChangeAspect="1" noChangeArrowheads="1" noTextEdit="1"/>
          </p:cNvSpPr>
          <p:nvPr>
            <p:ph type="sldImg"/>
          </p:nvPr>
        </p:nvSpPr>
        <p:spPr>
          <a:xfrm>
            <a:off x="1371600" y="1143000"/>
            <a:ext cx="4114800" cy="3086100"/>
          </a:xfrm>
          <a:prstGeom prst="rect">
            <a:avLst/>
          </a:prstGeom>
          <a:ln/>
        </p:spPr>
      </p:sp>
      <p:sp>
        <p:nvSpPr>
          <p:cNvPr id="153603" name="Rectangle 3"/>
          <p:cNvSpPr>
            <a:spLocks noGrp="1" noChangeArrowheads="1"/>
          </p:cNvSpPr>
          <p:nvPr>
            <p:ph type="body" idx="1"/>
          </p:nvPr>
        </p:nvSpPr>
        <p:spPr>
          <a:xfrm>
            <a:off x="685800" y="4400550"/>
            <a:ext cx="5486400" cy="3600450"/>
          </a:xfrm>
          <a:prstGeom prst="rect">
            <a:avLst/>
          </a:prstGeom>
        </p:spPr>
        <p:txBody>
          <a:bodyPr/>
          <a:lstStyle/>
          <a:p>
            <a:endParaRPr lang="en-US" altLang="en-US"/>
          </a:p>
        </p:txBody>
      </p:sp>
    </p:spTree>
    <p:extLst>
      <p:ext uri="{BB962C8B-B14F-4D97-AF65-F5344CB8AC3E}">
        <p14:creationId xmlns:p14="http://schemas.microsoft.com/office/powerpoint/2010/main" val="2067892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00100" y="393700"/>
            <a:ext cx="4368183" cy="372603"/>
          </a:xfrm>
        </p:spPr>
        <p:txBody>
          <a:bodyPr/>
          <a:lstStyle>
            <a:lvl1pPr>
              <a:defRPr>
                <a:solidFill>
                  <a:schemeClr val="tx1"/>
                </a:solidFill>
              </a:defRPr>
            </a:lvl1pPr>
          </a:lstStyle>
          <a:p>
            <a:r>
              <a:rPr lang="en-US" smtClean="0"/>
              <a:t>Click to edit Master title style</a:t>
            </a:r>
            <a:endParaRPr lang="en-IN"/>
          </a:p>
        </p:txBody>
      </p:sp>
      <p:sp>
        <p:nvSpPr>
          <p:cNvPr id="3" name="Content Placeholder 2"/>
          <p:cNvSpPr>
            <a:spLocks noGrp="1"/>
          </p:cNvSpPr>
          <p:nvPr>
            <p:ph idx="1"/>
          </p:nvPr>
        </p:nvSpPr>
        <p:spPr>
          <a:xfrm>
            <a:off x="685800" y="1143000"/>
            <a:ext cx="7848600" cy="1990288"/>
          </a:xfrm>
        </p:spPr>
        <p:txBody>
          <a:bodyPr/>
          <a:lstStyle>
            <a:lvl2pPr>
              <a:defRPr sz="24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304800"/>
            <a:ext cx="1962150" cy="304800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85800" y="304800"/>
            <a:ext cx="5734050" cy="3048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00100" y="393700"/>
            <a:ext cx="752475" cy="368300"/>
          </a:xfrm>
          <a:prstGeom prst="rect">
            <a:avLst/>
          </a:prstGeom>
          <a:noFill/>
          <a:ln w="12700">
            <a:noFill/>
            <a:miter lim="800000"/>
            <a:headEnd/>
            <a:tailEnd/>
          </a:ln>
        </p:spPr>
        <p:txBody>
          <a:bodyPr vert="horz" wrap="none" lIns="63500" tIns="25400" rIns="63500" bIns="25400" numCol="1" anchor="t" anchorCtr="0" compatLnSpc="1">
            <a:prstTxWarp prst="textNoShape">
              <a:avLst/>
            </a:prstTxWarp>
            <a:spAutoFit/>
          </a:bodyPr>
          <a:lstStyle/>
          <a:p>
            <a:pPr lvl="0"/>
            <a:r>
              <a:rPr lang="en-US" smtClean="0"/>
              <a:t>Title</a:t>
            </a:r>
          </a:p>
        </p:txBody>
      </p:sp>
      <p:sp>
        <p:nvSpPr>
          <p:cNvPr id="1027" name="Rectangle 5"/>
          <p:cNvSpPr>
            <a:spLocks noGrp="1" noChangeArrowheads="1"/>
          </p:cNvSpPr>
          <p:nvPr>
            <p:ph type="body" idx="1"/>
          </p:nvPr>
        </p:nvSpPr>
        <p:spPr bwMode="auto">
          <a:xfrm>
            <a:off x="685800" y="1143000"/>
            <a:ext cx="7848600" cy="2692400"/>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smtClean="0"/>
              <a:t>This is our 1st Level Bullet</a:t>
            </a:r>
          </a:p>
          <a:p>
            <a:pPr lvl="1"/>
            <a:r>
              <a:rPr lang="en-US" smtClean="0"/>
              <a:t>This is our 2nd level bullet</a:t>
            </a:r>
          </a:p>
          <a:p>
            <a:pPr lvl="2"/>
            <a:r>
              <a:rPr lang="en-US" smtClean="0"/>
              <a:t>This is our 3rd level bullet</a:t>
            </a:r>
          </a:p>
          <a:p>
            <a:pPr lvl="0"/>
            <a:r>
              <a:rPr lang="en-US" smtClean="0"/>
              <a:t>This is our next 1st Level Bullet</a:t>
            </a:r>
          </a:p>
          <a:p>
            <a:pPr lvl="1"/>
            <a:r>
              <a:rPr lang="en-US" smtClean="0"/>
              <a:t>This is our 2nd level bullet</a:t>
            </a:r>
          </a:p>
          <a:p>
            <a:pPr lvl="2"/>
            <a:r>
              <a:rPr lang="en-US" smtClean="0"/>
              <a:t>This is our 3rd level bullet</a:t>
            </a:r>
          </a:p>
        </p:txBody>
      </p:sp>
      <p:sp>
        <p:nvSpPr>
          <p:cNvPr id="1030" name="Line 6"/>
          <p:cNvSpPr>
            <a:spLocks noChangeShapeType="1"/>
          </p:cNvSpPr>
          <p:nvPr userDrawn="1"/>
        </p:nvSpPr>
        <p:spPr bwMode="auto">
          <a:xfrm>
            <a:off x="609600" y="990600"/>
            <a:ext cx="8001000" cy="0"/>
          </a:xfrm>
          <a:prstGeom prst="line">
            <a:avLst/>
          </a:prstGeom>
          <a:noFill/>
          <a:ln w="57150" cmpd="thickThin">
            <a:solidFill>
              <a:schemeClr val="tx1"/>
            </a:solidFill>
            <a:round/>
            <a:headEnd/>
            <a:tailEnd/>
          </a:ln>
          <a:effectLst/>
        </p:spPr>
        <p:txBody>
          <a:bodyPr/>
          <a:lstStyle/>
          <a:p>
            <a:pPr>
              <a:defRPr/>
            </a:pPr>
            <a:endParaRPr lang="en-IN"/>
          </a:p>
        </p:txBody>
      </p:sp>
      <p:sp>
        <p:nvSpPr>
          <p:cNvPr id="1031" name="Text Box 7"/>
          <p:cNvSpPr txBox="1">
            <a:spLocks noChangeArrowheads="1"/>
          </p:cNvSpPr>
          <p:nvPr userDrawn="1"/>
        </p:nvSpPr>
        <p:spPr bwMode="auto">
          <a:xfrm>
            <a:off x="6537325" y="6437313"/>
            <a:ext cx="2225675" cy="366712"/>
          </a:xfrm>
          <a:prstGeom prst="rect">
            <a:avLst/>
          </a:prstGeom>
          <a:noFill/>
          <a:ln w="12700">
            <a:noFill/>
            <a:miter lim="800000"/>
            <a:headEnd/>
            <a:tailEnd/>
          </a:ln>
          <a:effectLst/>
        </p:spPr>
        <p:txBody>
          <a:bodyPr>
            <a:spAutoFit/>
          </a:bodyPr>
          <a:lstStyle/>
          <a:p>
            <a:pPr>
              <a:defRPr/>
            </a:pPr>
            <a:endParaRPr lang="en-US"/>
          </a:p>
        </p:txBody>
      </p:sp>
      <p:pic>
        <p:nvPicPr>
          <p:cNvPr id="7"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6096000"/>
            <a:ext cx="914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charset="0"/>
        </a:defRPr>
      </a:lvl2pPr>
      <a:lvl3pPr algn="l" rtl="0" eaLnBrk="0" fontAlgn="base" hangingPunct="0">
        <a:lnSpc>
          <a:spcPct val="87000"/>
        </a:lnSpc>
        <a:spcBef>
          <a:spcPct val="0"/>
        </a:spcBef>
        <a:spcAft>
          <a:spcPct val="0"/>
        </a:spcAft>
        <a:defRPr sz="2400" b="1">
          <a:solidFill>
            <a:schemeClr val="tx2"/>
          </a:solidFill>
          <a:latin typeface="Arial" charset="0"/>
        </a:defRPr>
      </a:lvl3pPr>
      <a:lvl4pPr algn="l" rtl="0" eaLnBrk="0" fontAlgn="base" hangingPunct="0">
        <a:lnSpc>
          <a:spcPct val="87000"/>
        </a:lnSpc>
        <a:spcBef>
          <a:spcPct val="0"/>
        </a:spcBef>
        <a:spcAft>
          <a:spcPct val="0"/>
        </a:spcAft>
        <a:defRPr sz="2400" b="1">
          <a:solidFill>
            <a:schemeClr val="tx2"/>
          </a:solidFill>
          <a:latin typeface="Arial" charset="0"/>
        </a:defRPr>
      </a:lvl4pPr>
      <a:lvl5pPr algn="l" rtl="0" eaLnBrk="0" fontAlgn="base" hangingPunct="0">
        <a:lnSpc>
          <a:spcPct val="87000"/>
        </a:lnSpc>
        <a:spcBef>
          <a:spcPct val="0"/>
        </a:spcBef>
        <a:spcAft>
          <a:spcPct val="0"/>
        </a:spcAft>
        <a:defRPr sz="2400" b="1">
          <a:solidFill>
            <a:schemeClr val="tx2"/>
          </a:solidFill>
          <a:latin typeface="Arial" charset="0"/>
        </a:defRPr>
      </a:lvl5pPr>
      <a:lvl6pPr marL="457200" algn="l" rtl="0" eaLnBrk="0" fontAlgn="base" hangingPunct="0">
        <a:lnSpc>
          <a:spcPct val="87000"/>
        </a:lnSpc>
        <a:spcBef>
          <a:spcPct val="0"/>
        </a:spcBef>
        <a:spcAft>
          <a:spcPct val="0"/>
        </a:spcAft>
        <a:defRPr sz="2400" b="1">
          <a:solidFill>
            <a:schemeClr val="tx2"/>
          </a:solidFill>
          <a:latin typeface="Arial" charset="0"/>
        </a:defRPr>
      </a:lvl6pPr>
      <a:lvl7pPr marL="914400" algn="l" rtl="0" eaLnBrk="0" fontAlgn="base" hangingPunct="0">
        <a:lnSpc>
          <a:spcPct val="87000"/>
        </a:lnSpc>
        <a:spcBef>
          <a:spcPct val="0"/>
        </a:spcBef>
        <a:spcAft>
          <a:spcPct val="0"/>
        </a:spcAft>
        <a:defRPr sz="2400" b="1">
          <a:solidFill>
            <a:schemeClr val="tx2"/>
          </a:solidFill>
          <a:latin typeface="Arial" charset="0"/>
        </a:defRPr>
      </a:lvl7pPr>
      <a:lvl8pPr marL="1371600" algn="l" rtl="0" eaLnBrk="0" fontAlgn="base" hangingPunct="0">
        <a:lnSpc>
          <a:spcPct val="87000"/>
        </a:lnSpc>
        <a:spcBef>
          <a:spcPct val="0"/>
        </a:spcBef>
        <a:spcAft>
          <a:spcPct val="0"/>
        </a:spcAft>
        <a:defRPr sz="2400" b="1">
          <a:solidFill>
            <a:schemeClr val="tx2"/>
          </a:solidFill>
          <a:latin typeface="Arial" charset="0"/>
        </a:defRPr>
      </a:lvl8pPr>
      <a:lvl9pPr marL="1828800" algn="l" rtl="0" eaLnBrk="0" fontAlgn="base" hangingPunct="0">
        <a:lnSpc>
          <a:spcPct val="87000"/>
        </a:lnSpc>
        <a:spcBef>
          <a:spcPct val="0"/>
        </a:spcBef>
        <a:spcAft>
          <a:spcPct val="0"/>
        </a:spcAft>
        <a:defRPr sz="2400" b="1">
          <a:solidFill>
            <a:schemeClr val="tx2"/>
          </a:solidFill>
          <a:latin typeface="Arial" charset="0"/>
        </a:defRPr>
      </a:lvl9pPr>
    </p:titleStyle>
    <p:bodyStyle>
      <a:lvl1pPr marL="203200" indent="-203200" algn="l" rtl="0" eaLnBrk="0" fontAlgn="base" hangingPunct="0">
        <a:lnSpc>
          <a:spcPct val="75000"/>
        </a:lnSpc>
        <a:spcBef>
          <a:spcPct val="65000"/>
        </a:spcBef>
        <a:spcAft>
          <a:spcPct val="0"/>
        </a:spcAft>
        <a:buSzPct val="100000"/>
        <a:buFont typeface="Arial" charset="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Font typeface="Courier New" pitchFamily="49" charset="0"/>
        <a:buChar char="o"/>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Font typeface="Wingdings" pitchFamily="2" charset="2"/>
        <a:buChar char="Ø"/>
        <a:defRPr sz="2400" b="1">
          <a:solidFill>
            <a:schemeClr val="tx1"/>
          </a:solidFill>
          <a:latin typeface="+mn-lt"/>
        </a:defRPr>
      </a:lvl3pPr>
      <a:lvl4pPr marL="1714500" indent="-342900" algn="l" rtl="0" eaLnBrk="0" fontAlgn="base" hangingPunct="0">
        <a:spcBef>
          <a:spcPct val="20000"/>
        </a:spcBef>
        <a:spcAft>
          <a:spcPct val="0"/>
        </a:spcAft>
        <a:buChar char="–"/>
        <a:defRPr sz="2000">
          <a:solidFill>
            <a:schemeClr val="tx1"/>
          </a:solidFill>
          <a:latin typeface="Times New Roman" charset="0"/>
        </a:defRPr>
      </a:lvl4pPr>
      <a:lvl5pPr marL="2171700" indent="-342900" algn="l" rtl="0" eaLnBrk="0" fontAlgn="base" hangingPunct="0">
        <a:spcBef>
          <a:spcPct val="20000"/>
        </a:spcBef>
        <a:spcAft>
          <a:spcPct val="0"/>
        </a:spcAft>
        <a:buChar char="»"/>
        <a:defRPr sz="2000">
          <a:solidFill>
            <a:schemeClr val="tx1"/>
          </a:solidFill>
          <a:latin typeface="Times New Roman" charset="0"/>
        </a:defRPr>
      </a:lvl5pPr>
      <a:lvl6pPr marL="2628900" indent="-342900" algn="l" rtl="0" fontAlgn="base">
        <a:spcBef>
          <a:spcPct val="20000"/>
        </a:spcBef>
        <a:spcAft>
          <a:spcPct val="0"/>
        </a:spcAft>
        <a:buChar char="»"/>
        <a:defRPr sz="2000">
          <a:solidFill>
            <a:schemeClr val="tx1"/>
          </a:solidFill>
          <a:latin typeface="Times New Roman" charset="0"/>
        </a:defRPr>
      </a:lvl6pPr>
      <a:lvl7pPr marL="3086100" indent="-342900" algn="l" rtl="0" fontAlgn="base">
        <a:spcBef>
          <a:spcPct val="20000"/>
        </a:spcBef>
        <a:spcAft>
          <a:spcPct val="0"/>
        </a:spcAft>
        <a:buChar char="»"/>
        <a:defRPr sz="2000">
          <a:solidFill>
            <a:schemeClr val="tx1"/>
          </a:solidFill>
          <a:latin typeface="Times New Roman" charset="0"/>
        </a:defRPr>
      </a:lvl7pPr>
      <a:lvl8pPr marL="3543300" indent="-342900" algn="l" rtl="0" fontAlgn="base">
        <a:spcBef>
          <a:spcPct val="20000"/>
        </a:spcBef>
        <a:spcAft>
          <a:spcPct val="0"/>
        </a:spcAft>
        <a:buChar char="»"/>
        <a:defRPr sz="2000">
          <a:solidFill>
            <a:schemeClr val="tx1"/>
          </a:solidFill>
          <a:latin typeface="Times New Roman" charset="0"/>
        </a:defRPr>
      </a:lvl8pPr>
      <a:lvl9pPr marL="4000500" indent="-342900" algn="l" rtl="0" fontAlgn="base">
        <a:spcBef>
          <a:spcPct val="20000"/>
        </a:spcBef>
        <a:spcAft>
          <a:spcPct val="0"/>
        </a:spcAft>
        <a:buChar char="»"/>
        <a:defRPr sz="2000">
          <a:solidFill>
            <a:schemeClr val="tx1"/>
          </a:solidFill>
          <a:latin typeface="Times New Roman"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p:cNvSpPr>
            <a:spLocks noGrp="1"/>
          </p:cNvSpPr>
          <p:nvPr>
            <p:ph type="ctrTitle"/>
          </p:nvPr>
        </p:nvSpPr>
        <p:spPr>
          <a:xfrm>
            <a:off x="685800" y="1096962"/>
            <a:ext cx="7772400" cy="4541837"/>
          </a:xfrm>
        </p:spPr>
        <p:txBody>
          <a:bodyPr/>
          <a:lstStyle/>
          <a:p>
            <a:pPr eaLnBrk="1" hangingPunct="1"/>
            <a:r>
              <a:rPr lang="en-US" sz="5400" dirty="0">
                <a:latin typeface="Comic Sans MS" panose="030F0702030302020204" pitchFamily="66" charset="0"/>
              </a:rPr>
              <a:t/>
            </a:r>
            <a:br>
              <a:rPr lang="en-US" sz="5400" dirty="0">
                <a:latin typeface="Comic Sans MS" panose="030F0702030302020204" pitchFamily="66" charset="0"/>
              </a:rPr>
            </a:br>
            <a:endParaRPr lang="en-US" sz="5400" dirty="0" smtClean="0">
              <a:latin typeface="Comic Sans MS" panose="030F0702030302020204" pitchFamily="66" charset="0"/>
            </a:endParaRPr>
          </a:p>
        </p:txBody>
      </p:sp>
      <p:sp>
        <p:nvSpPr>
          <p:cNvPr id="6147" name="Subtitle 1"/>
          <p:cNvSpPr>
            <a:spLocks noGrp="1"/>
          </p:cNvSpPr>
          <p:nvPr>
            <p:ph type="subTitle" idx="1"/>
          </p:nvPr>
        </p:nvSpPr>
        <p:spPr>
          <a:xfrm>
            <a:off x="228600" y="1447800"/>
            <a:ext cx="8610600" cy="3932359"/>
          </a:xfrm>
        </p:spPr>
        <p:txBody>
          <a:bodyPr/>
          <a:lstStyle/>
          <a:p>
            <a:pPr eaLnBrk="1" hangingPunct="1"/>
            <a:endParaRPr lang="en-US" sz="2800" dirty="0" smtClean="0">
              <a:solidFill>
                <a:srgbClr val="FF0000"/>
              </a:solidFill>
              <a:latin typeface="Comic Sans MS" panose="030F0702030302020204" pitchFamily="66" charset="0"/>
            </a:endParaRPr>
          </a:p>
          <a:p>
            <a:pPr eaLnBrk="1" hangingPunct="1"/>
            <a:r>
              <a:rPr lang="en-US" sz="3200" dirty="0" smtClean="0">
                <a:solidFill>
                  <a:srgbClr val="FF0000"/>
                </a:solidFill>
                <a:latin typeface="Times New Roman" panose="02020603050405020304" pitchFamily="18" charset="0"/>
                <a:cs typeface="Times New Roman" panose="02020603050405020304" pitchFamily="18" charset="0"/>
              </a:rPr>
              <a:t>Computer Organization and Architecture</a:t>
            </a:r>
            <a:br>
              <a:rPr lang="en-US" sz="3200" dirty="0" smtClean="0">
                <a:solidFill>
                  <a:srgbClr val="FF0000"/>
                </a:solidFill>
                <a:latin typeface="Times New Roman" panose="02020603050405020304" pitchFamily="18" charset="0"/>
                <a:cs typeface="Times New Roman" panose="02020603050405020304" pitchFamily="18" charset="0"/>
              </a:rPr>
            </a:br>
            <a:endParaRPr lang="en-US" sz="3200" dirty="0" smtClean="0">
              <a:solidFill>
                <a:srgbClr val="FF0000"/>
              </a:solidFill>
              <a:latin typeface="Times New Roman" panose="02020603050405020304" pitchFamily="18" charset="0"/>
              <a:cs typeface="Times New Roman" panose="02020603050405020304" pitchFamily="18" charset="0"/>
            </a:endParaRPr>
          </a:p>
          <a:p>
            <a:pPr eaLnBrk="1" hangingPunct="1"/>
            <a:r>
              <a:rPr lang="en-US" sz="3200" dirty="0" smtClean="0">
                <a:solidFill>
                  <a:srgbClr val="FF0000"/>
                </a:solidFill>
                <a:latin typeface="Times New Roman" panose="02020603050405020304" pitchFamily="18" charset="0"/>
                <a:cs typeface="Times New Roman" panose="02020603050405020304" pitchFamily="18" charset="0"/>
              </a:rPr>
              <a:t>CSE 2009    </a:t>
            </a:r>
          </a:p>
          <a:p>
            <a:pPr eaLnBrk="1" hangingPunct="1"/>
            <a:endParaRPr lang="en-US" sz="2800" dirty="0">
              <a:solidFill>
                <a:srgbClr val="FF0000"/>
              </a:solidFill>
              <a:latin typeface="Comic Sans MS" panose="030F0702030302020204" pitchFamily="66" charset="0"/>
            </a:endParaRPr>
          </a:p>
          <a:p>
            <a:pPr eaLnBrk="1" hangingPunct="1"/>
            <a:r>
              <a:rPr lang="en-US" sz="2800" dirty="0" smtClean="0">
                <a:solidFill>
                  <a:srgbClr val="FF0000"/>
                </a:solidFill>
                <a:latin typeface="Comic Sans MS" panose="030F0702030302020204" pitchFamily="66" charset="0"/>
              </a:rPr>
              <a:t> </a:t>
            </a:r>
          </a:p>
          <a:p>
            <a:pPr eaLnBrk="1" hangingPunct="1"/>
            <a:r>
              <a:rPr lang="en-US" sz="2800" u="sng" dirty="0" smtClean="0">
                <a:latin typeface="Times New Roman" panose="02020603050405020304" pitchFamily="18" charset="0"/>
                <a:cs typeface="Times New Roman" panose="02020603050405020304" pitchFamily="18" charset="0"/>
              </a:rPr>
              <a:t>Module-4</a:t>
            </a:r>
            <a:r>
              <a:rPr lang="en-US" sz="2800" dirty="0" smtClean="0">
                <a:latin typeface="Times New Roman" panose="02020603050405020304" pitchFamily="18" charset="0"/>
                <a:cs typeface="Times New Roman" panose="02020603050405020304" pitchFamily="18" charset="0"/>
              </a:rPr>
              <a:t>: Part A- </a:t>
            </a:r>
            <a:r>
              <a:rPr lang="en-US" sz="2800" b="0" dirty="0" smtClean="0">
                <a:latin typeface="Times New Roman" panose="02020603050405020304" pitchFamily="18" charset="0"/>
                <a:cs typeface="Times New Roman" panose="02020603050405020304" pitchFamily="18" charset="0"/>
              </a:rPr>
              <a:t>Basic processing Unit (BPU)</a:t>
            </a:r>
          </a:p>
        </p:txBody>
      </p:sp>
      <p:sp>
        <p:nvSpPr>
          <p:cNvPr id="6148" name="Date Placeholder 3"/>
          <p:cNvSpPr>
            <a:spLocks noGrp="1"/>
          </p:cNvSpPr>
          <p:nvPr>
            <p:ph type="dt" sz="quarter" idx="4294967295"/>
          </p:nvPr>
        </p:nvSpPr>
        <p:spPr bwMode="auto">
          <a:xfrm>
            <a:off x="628650" y="6356350"/>
            <a:ext cx="2057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nSpc>
                <a:spcPct val="100000"/>
              </a:lnSpc>
              <a:spcBef>
                <a:spcPct val="0"/>
              </a:spcBef>
              <a:buFontTx/>
              <a:buNone/>
            </a:pPr>
            <a:fld id="{1A326074-4045-49DF-9E7C-90D88921C518}" type="datetime2">
              <a:rPr lang="en-US" sz="1200" smtClean="0">
                <a:solidFill>
                  <a:srgbClr val="081D58"/>
                </a:solidFill>
                <a:latin typeface="Garamond" panose="02020404030301010803" pitchFamily="18" charset="0"/>
              </a:rPr>
              <a:pPr>
                <a:lnSpc>
                  <a:spcPct val="100000"/>
                </a:lnSpc>
                <a:spcBef>
                  <a:spcPct val="0"/>
                </a:spcBef>
                <a:buFontTx/>
                <a:buNone/>
              </a:pPr>
              <a:t>Tuesday, December 10, 2024</a:t>
            </a:fld>
            <a:endParaRPr lang="en-US" sz="1200" smtClean="0">
              <a:solidFill>
                <a:srgbClr val="081D58"/>
              </a:solidFill>
              <a:latin typeface="Garamond" panose="02020404030301010803" pitchFamily="18" charset="0"/>
            </a:endParaRPr>
          </a:p>
        </p:txBody>
      </p:sp>
      <p:sp>
        <p:nvSpPr>
          <p:cNvPr id="6149" name="Slide Number Placeholder 4"/>
          <p:cNvSpPr>
            <a:spLocks noGrp="1"/>
          </p:cNvSpPr>
          <p:nvPr>
            <p:ph type="sldNum" sz="quarter" idx="4294967295"/>
          </p:nvPr>
        </p:nvSpPr>
        <p:spPr bwMode="auto">
          <a:xfrm>
            <a:off x="7085013" y="6381750"/>
            <a:ext cx="2057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nSpc>
                <a:spcPct val="100000"/>
              </a:lnSpc>
              <a:spcBef>
                <a:spcPct val="0"/>
              </a:spcBef>
              <a:buFontTx/>
              <a:buNone/>
            </a:pPr>
            <a:fld id="{3FFBFCD9-7663-4034-A21E-E641223CB500}" type="slidenum">
              <a:rPr lang="en-US" sz="1600" smtClean="0">
                <a:solidFill>
                  <a:srgbClr val="FFFFFF"/>
                </a:solidFill>
                <a:latin typeface="Franklin Gothic Book" panose="020B0503020102020204" pitchFamily="34" charset="0"/>
              </a:rPr>
              <a:pPr>
                <a:lnSpc>
                  <a:spcPct val="100000"/>
                </a:lnSpc>
                <a:spcBef>
                  <a:spcPct val="0"/>
                </a:spcBef>
                <a:buFontTx/>
                <a:buNone/>
              </a:pPr>
              <a:t>1</a:t>
            </a:fld>
            <a:endParaRPr lang="en-US" sz="1600" smtClean="0">
              <a:solidFill>
                <a:srgbClr val="FFFFFF"/>
              </a:solidFill>
              <a:latin typeface="Franklin Gothic Book" panose="020B0503020102020204" pitchFamily="34" charset="0"/>
            </a:endParaRPr>
          </a:p>
        </p:txBody>
      </p:sp>
      <p:sp>
        <p:nvSpPr>
          <p:cNvPr id="3" name="TextBox 2"/>
          <p:cNvSpPr txBox="1"/>
          <p:nvPr/>
        </p:nvSpPr>
        <p:spPr>
          <a:xfrm>
            <a:off x="628650" y="457200"/>
            <a:ext cx="7905750" cy="692497"/>
          </a:xfrm>
          <a:prstGeom prst="rect">
            <a:avLst/>
          </a:prstGeom>
          <a:noFill/>
        </p:spPr>
        <p:txBody>
          <a:bodyPr wrap="square" rtlCol="0">
            <a:spAutoFit/>
          </a:bodyPr>
          <a:lstStyle/>
          <a:p>
            <a:pPr algn="ctr"/>
            <a:r>
              <a:rPr lang="en-US" sz="2000" b="1" dirty="0">
                <a:solidFill>
                  <a:srgbClr val="002060"/>
                </a:solidFill>
                <a:latin typeface="Times New Roman" panose="02020603050405020304" pitchFamily="18" charset="0"/>
                <a:cs typeface="Times New Roman" panose="02020603050405020304" pitchFamily="18" charset="0"/>
              </a:rPr>
              <a:t>PRESIDENCY UNIVERISTY,  </a:t>
            </a:r>
            <a:r>
              <a:rPr lang="en-US" sz="2000" b="1" dirty="0" smtClean="0">
                <a:solidFill>
                  <a:srgbClr val="002060"/>
                </a:solidFill>
                <a:latin typeface="Times New Roman" panose="02020603050405020304" pitchFamily="18" charset="0"/>
                <a:cs typeface="Times New Roman" panose="02020603050405020304" pitchFamily="18" charset="0"/>
              </a:rPr>
              <a:t>BENGALURU, School </a:t>
            </a:r>
            <a:r>
              <a:rPr lang="en-US" sz="2000" b="1" dirty="0">
                <a:solidFill>
                  <a:srgbClr val="002060"/>
                </a:solidFill>
                <a:latin typeface="Times New Roman" panose="02020603050405020304" pitchFamily="18" charset="0"/>
                <a:cs typeface="Times New Roman" panose="02020603050405020304" pitchFamily="18" charset="0"/>
              </a:rPr>
              <a:t>of Engineering</a:t>
            </a:r>
            <a:endParaRPr lang="en-IN" sz="2000" b="1" dirty="0">
              <a:solidFill>
                <a:srgbClr val="002060"/>
              </a:solidFill>
              <a:latin typeface="Times New Roman" panose="02020603050405020304" pitchFamily="18" charset="0"/>
              <a:cs typeface="Times New Roman" panose="02020603050405020304" pitchFamily="18" charset="0"/>
            </a:endParaRPr>
          </a:p>
          <a:p>
            <a:endParaRPr lang="en-US" sz="1900" b="1" dirty="0">
              <a:solidFill>
                <a:srgbClr val="FC0128"/>
              </a:solidFill>
            </a:endParaRPr>
          </a:p>
        </p:txBody>
      </p:sp>
    </p:spTree>
    <p:extLst>
      <p:ext uri="{BB962C8B-B14F-4D97-AF65-F5344CB8AC3E}">
        <p14:creationId xmlns:p14="http://schemas.microsoft.com/office/powerpoint/2010/main" val="11173106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2</a:t>
            </a:fld>
            <a:endParaRPr lang="en-US" smtClean="0">
              <a:solidFill>
                <a:srgbClr val="FFFFFF"/>
              </a:solidFill>
              <a:latin typeface="Franklin Gothic Book" panose="020B0503020102020204" pitchFamily="34" charset="0"/>
            </a:endParaRPr>
          </a:p>
        </p:txBody>
      </p:sp>
      <p:sp>
        <p:nvSpPr>
          <p:cNvPr id="4" name="Rectangle 3"/>
          <p:cNvSpPr/>
          <p:nvPr/>
        </p:nvSpPr>
        <p:spPr>
          <a:xfrm>
            <a:off x="0" y="1295400"/>
            <a:ext cx="9144000" cy="3272691"/>
          </a:xfrm>
          <a:prstGeom prst="rect">
            <a:avLst/>
          </a:prstGeom>
        </p:spPr>
        <p:txBody>
          <a:bodyPr wrap="square">
            <a:spAutoFit/>
          </a:bodyPr>
          <a:lstStyle/>
          <a:p>
            <a:pPr marL="342900" marR="0" lvl="0" indent="-342900" algn="just">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Processor fetches one instruction at a time, and performs the operation specified.</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Instructions are fetched from successive memory locations until a branch or a jump instruction is encountered.</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Processor keeps track of the address of the memory location containing the next instruction to be fetched using Program Counter (PC</a:t>
            </a: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a:t>
            </a:r>
          </a:p>
          <a:p>
            <a:pPr marL="342900" marR="0" lvl="0" indent="-342900" algn="just">
              <a:spcBef>
                <a:spcPts val="0"/>
              </a:spcBef>
              <a:spcAft>
                <a:spcPts val="0"/>
              </a:spcAft>
              <a:buFont typeface="Symbol" panose="05050102010706020507" pitchFamily="18" charset="2"/>
              <a:buChar char=""/>
            </a:pPr>
            <a:r>
              <a:rPr lang="en-US" sz="1600"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After fetching an instruction, contents of PC are updated to point to the next instruction in the sequence.</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spcBef>
                <a:spcPts val="0"/>
              </a:spcBef>
              <a:spcAft>
                <a:spcPts val="1000"/>
              </a:spcAft>
              <a:buFont typeface="Symbol" panose="05050102010706020507" pitchFamily="18" charset="2"/>
              <a:buChar char=""/>
            </a:pP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Another key register in the processor is the Instruction </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Register (IR</a:t>
            </a: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a:t>
            </a:r>
          </a:p>
          <a:p>
            <a:pPr marL="342900" marR="0" lvl="0" indent="-342900" algn="just">
              <a:spcBef>
                <a:spcPts val="0"/>
              </a:spcBef>
              <a:spcAft>
                <a:spcPts val="1000"/>
              </a:spcAft>
              <a:buFont typeface="Symbol" panose="05050102010706020507" pitchFamily="18" charset="2"/>
              <a:buChar char=""/>
            </a:pPr>
            <a:r>
              <a:rPr lang="en-US" sz="1600" dirty="0" smtClean="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rPr>
              <a:t>Suppose, each instruction comprises 4 bytes, and that is stored in one memory word.</a:t>
            </a:r>
          </a:p>
          <a:p>
            <a:pPr marL="342900" marR="0" lvl="0" indent="-342900" algn="just">
              <a:spcBef>
                <a:spcPts val="0"/>
              </a:spcBef>
              <a:spcAft>
                <a:spcPts val="1000"/>
              </a:spcAft>
              <a:buFont typeface="Symbol" panose="05050102010706020507" pitchFamily="18" charset="2"/>
              <a:buChar char=""/>
            </a:pPr>
            <a:r>
              <a:rPr lang="en-US" sz="1600"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To execute an instruction, processor has to perform the following 3 steps</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5" name="Rectangle 4"/>
          <p:cNvSpPr/>
          <p:nvPr/>
        </p:nvSpPr>
        <p:spPr>
          <a:xfrm>
            <a:off x="148196" y="238532"/>
            <a:ext cx="4597734" cy="622799"/>
          </a:xfrm>
          <a:prstGeom prst="rect">
            <a:avLst/>
          </a:prstGeom>
        </p:spPr>
        <p:txBody>
          <a:bodyPr wrap="none">
            <a:spAutoFit/>
          </a:bodyPr>
          <a:lstStyle/>
          <a:p>
            <a:pPr marL="342900" marR="0" lvl="0" indent="-342900" algn="just">
              <a:lnSpc>
                <a:spcPct val="115000"/>
              </a:lnSpc>
              <a:spcBef>
                <a:spcPts val="1200"/>
              </a:spcBef>
              <a:spcAft>
                <a:spcPts val="1000"/>
              </a:spcAft>
              <a:buFont typeface="Symbol" panose="05050102010706020507" pitchFamily="18" charset="2"/>
              <a:buBlip>
                <a:blip r:embed="rId2"/>
              </a:buBlip>
            </a:pPr>
            <a:r>
              <a:rPr lang="en-US" sz="3200" b="1" u="sng" dirty="0">
                <a:latin typeface="Times New Roman" panose="02020603050405020304" pitchFamily="18" charset="0"/>
                <a:ea typeface="Calibri" panose="020F0502020204030204" pitchFamily="34" charset="0"/>
                <a:cs typeface="Times New Roman" panose="02020603050405020304" pitchFamily="18" charset="0"/>
              </a:rPr>
              <a:t>Fundamental Concepts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19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3</a:t>
            </a:fld>
            <a:endParaRPr lang="en-US" smtClean="0">
              <a:solidFill>
                <a:srgbClr val="FFFFFF"/>
              </a:solidFill>
              <a:latin typeface="Franklin Gothic Book" panose="020B0503020102020204" pitchFamily="34" charset="0"/>
            </a:endParaRPr>
          </a:p>
        </p:txBody>
      </p:sp>
      <p:sp>
        <p:nvSpPr>
          <p:cNvPr id="2" name="Rectangle 1"/>
          <p:cNvSpPr/>
          <p:nvPr/>
        </p:nvSpPr>
        <p:spPr>
          <a:xfrm>
            <a:off x="457744" y="381000"/>
            <a:ext cx="4342856" cy="556434"/>
          </a:xfrm>
          <a:prstGeom prst="rect">
            <a:avLst/>
          </a:prstGeom>
        </p:spPr>
        <p:txBody>
          <a:bodyPr wrap="none">
            <a:spAutoFit/>
          </a:bodyPr>
          <a:lstStyle/>
          <a:p>
            <a:pPr marL="342900" marR="0" lvl="0" indent="-342900" algn="just">
              <a:lnSpc>
                <a:spcPct val="115000"/>
              </a:lnSpc>
              <a:spcBef>
                <a:spcPts val="0"/>
              </a:spcBef>
              <a:spcAft>
                <a:spcPts val="0"/>
              </a:spcAft>
              <a:buFont typeface="Symbol" panose="05050102010706020507" pitchFamily="18" charset="2"/>
              <a:buBlip>
                <a:blip r:embed="rId2"/>
              </a:buBlip>
            </a:pPr>
            <a:r>
              <a:rPr lang="en-US" sz="2800" b="1" u="sng" dirty="0">
                <a:latin typeface="Times New Roman" panose="02020603050405020304" pitchFamily="18" charset="0"/>
                <a:ea typeface="Calibri" panose="020F0502020204030204" pitchFamily="34" charset="0"/>
                <a:cs typeface="Times New Roman" panose="02020603050405020304" pitchFamily="18" charset="0"/>
              </a:rPr>
              <a:t>Executing an Instruction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12879" y="1143000"/>
            <a:ext cx="9144000" cy="6781344"/>
          </a:xfrm>
          <a:prstGeom prst="rect">
            <a:avLst/>
          </a:prstGeom>
        </p:spPr>
        <p:txBody>
          <a:bodyPr wrap="square">
            <a:spAutoFit/>
          </a:bodyPr>
          <a:lstStyle/>
          <a:p>
            <a:pPr marL="342900" marR="0" lvl="0" indent="-342900" algn="just">
              <a:lnSpc>
                <a:spcPct val="150000"/>
              </a:lnSpc>
              <a:spcBef>
                <a:spcPts val="0"/>
              </a:spcBef>
              <a:spcAft>
                <a:spcPts val="0"/>
              </a:spcAft>
              <a:buFont typeface="+mj-lt"/>
              <a:buAutoNum type="arabicPeriod"/>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Fetch the contents of the memory location pointed to by the PC. The contents of this location are loaded into the IR (fetch phase).</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457200" marR="0" indent="457200" algn="ctr">
              <a:lnSpc>
                <a:spcPct val="150000"/>
              </a:lnSpc>
              <a:spcBef>
                <a:spcPts val="0"/>
              </a:spcBef>
              <a:spcAft>
                <a:spcPts val="0"/>
              </a:spcAft>
            </a:pPr>
            <a:r>
              <a:rPr lang="en-IN"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rPr>
              <a:t>IR </a:t>
            </a:r>
            <a:r>
              <a:rPr lang="en-IN"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sym typeface="Wingdings" panose="05000000000000000000" pitchFamily="2" charset="2"/>
              </a:rPr>
              <a:t></a:t>
            </a:r>
            <a:r>
              <a:rPr lang="en-IN"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rPr>
              <a:t>[[PC]]</a:t>
            </a:r>
            <a:endParaRPr lang="en-US" sz="1600" dirty="0">
              <a:solidFill>
                <a:srgbClr val="0070C0"/>
              </a:solidFill>
              <a:latin typeface="Comic Sans MS" panose="030F0702030302020204" pitchFamily="66"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pP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2. Assuming </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that the memory is byte addressable, increment the contents of the PC by 4 (fetch phase).</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457200" marR="0" indent="457200" algn="ctr">
              <a:lnSpc>
                <a:spcPct val="150000"/>
              </a:lnSpc>
              <a:spcBef>
                <a:spcPts val="0"/>
              </a:spcBef>
              <a:spcAft>
                <a:spcPts val="0"/>
              </a:spcAft>
            </a:pPr>
            <a:r>
              <a:rPr lang="en-IN"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rPr>
              <a:t>PC </a:t>
            </a:r>
            <a:r>
              <a:rPr lang="en-IN"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sym typeface="Wingdings" panose="05000000000000000000" pitchFamily="2" charset="2"/>
              </a:rPr>
              <a:t></a:t>
            </a:r>
            <a:r>
              <a:rPr lang="en-IN"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rPr>
              <a:t> [PC] + 4</a:t>
            </a:r>
            <a:endParaRPr lang="en-US" sz="1600" dirty="0">
              <a:solidFill>
                <a:srgbClr val="0070C0"/>
              </a:solidFill>
              <a:latin typeface="Comic Sans MS" panose="030F0702030302020204" pitchFamily="66"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pP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3. Carry </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out the actions specified by the instruction in the IR (execution phase</a:t>
            </a: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a:t>
            </a:r>
          </a:p>
          <a:p>
            <a:pPr marR="0" lvl="0" algn="just">
              <a:lnSpc>
                <a:spcPct val="150000"/>
              </a:lnSpc>
              <a:spcBef>
                <a:spcPts val="0"/>
              </a:spcBef>
              <a:spcAft>
                <a:spcPts val="1000"/>
              </a:spcAft>
            </a:pP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In cases where an instruction occupies more than 1 word, step1 &amp; 2 must be repeated as many times as necessary to fetch the complete instruction.</a:t>
            </a:r>
          </a:p>
          <a:p>
            <a:pPr marR="0" lvl="0" algn="just">
              <a:lnSpc>
                <a:spcPct val="150000"/>
              </a:lnSpc>
              <a:spcBef>
                <a:spcPts val="0"/>
              </a:spcBef>
              <a:spcAft>
                <a:spcPts val="1000"/>
              </a:spcAft>
            </a:pP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These 2 steps are usually referred as </a:t>
            </a:r>
            <a:r>
              <a:rPr lang="en-US" b="1" i="1"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fetch phase </a:t>
            </a: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and  step 3 constitutes </a:t>
            </a:r>
            <a:r>
              <a:rPr lang="en-US" b="1" i="1"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execution phase</a:t>
            </a:r>
          </a:p>
          <a:p>
            <a:pPr marR="0" lvl="0" algn="just">
              <a:lnSpc>
                <a:spcPct val="200000"/>
              </a:lnSpc>
              <a:spcBef>
                <a:spcPts val="0"/>
              </a:spcBef>
              <a:spcAft>
                <a:spcPts val="1000"/>
              </a:spcAft>
            </a:pP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a:p>
            <a:pPr marR="0" lvl="0" algn="just">
              <a:lnSpc>
                <a:spcPct val="200000"/>
              </a:lnSpc>
              <a:spcBef>
                <a:spcPts val="0"/>
              </a:spcBef>
              <a:spcAft>
                <a:spcPts val="1000"/>
              </a:spcAft>
            </a:pPr>
            <a:endParaRPr lang="en-US" sz="1600"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R="0" lvl="0" algn="just">
              <a:lnSpc>
                <a:spcPct val="200000"/>
              </a:lnSpc>
              <a:spcBef>
                <a:spcPts val="0"/>
              </a:spcBef>
              <a:spcAft>
                <a:spcPts val="1000"/>
              </a:spcAft>
            </a:pP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229163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4</a:t>
            </a:fld>
            <a:endParaRPr lang="en-US" smtClean="0">
              <a:solidFill>
                <a:srgbClr val="FFFFFF"/>
              </a:solidFill>
              <a:latin typeface="Franklin Gothic Book" panose="020B0503020102020204" pitchFamily="34" charset="0"/>
            </a:endParaRPr>
          </a:p>
        </p:txBody>
      </p:sp>
      <p:sp>
        <p:nvSpPr>
          <p:cNvPr id="2" name="Rectangle 1"/>
          <p:cNvSpPr/>
          <p:nvPr/>
        </p:nvSpPr>
        <p:spPr>
          <a:xfrm>
            <a:off x="609600" y="228600"/>
            <a:ext cx="6711646" cy="613245"/>
          </a:xfrm>
          <a:prstGeom prst="rect">
            <a:avLst/>
          </a:prstGeom>
        </p:spPr>
        <p:txBody>
          <a:bodyPr wrap="none">
            <a:spAutoFit/>
          </a:bodyPr>
          <a:lstStyle/>
          <a:p>
            <a:pPr marL="342900" marR="0" lvl="0" indent="-342900" algn="just">
              <a:lnSpc>
                <a:spcPct val="115000"/>
              </a:lnSpc>
              <a:spcBef>
                <a:spcPts val="0"/>
              </a:spcBef>
              <a:spcAft>
                <a:spcPts val="1000"/>
              </a:spcAft>
              <a:buFont typeface="Symbol" panose="05050102010706020507" pitchFamily="18" charset="2"/>
              <a:buBlip>
                <a:blip r:embed="rId2"/>
              </a:buBlip>
            </a:pPr>
            <a:r>
              <a:rPr lang="en-US" sz="3200" b="1" u="sng" dirty="0">
                <a:latin typeface="Times New Roman" panose="02020603050405020304" pitchFamily="18" charset="0"/>
                <a:ea typeface="Calibri" panose="020F0502020204030204" pitchFamily="34" charset="0"/>
                <a:cs typeface="Times New Roman" panose="02020603050405020304" pitchFamily="18" charset="0"/>
              </a:rPr>
              <a:t>Processor Organization</a:t>
            </a:r>
            <a:r>
              <a:rPr lang="en-US" sz="2800" b="1" dirty="0">
                <a:latin typeface="Times New Roman" panose="02020603050405020304" pitchFamily="18" charset="0"/>
                <a:ea typeface="Calibri" panose="020F0502020204030204" pitchFamily="34" charset="0"/>
                <a:cs typeface="Times New Roman" panose="02020603050405020304" pitchFamily="18" charset="0"/>
              </a:rPr>
              <a:t> (Single BUS)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0" y="838200"/>
            <a:ext cx="9067800" cy="5509200"/>
          </a:xfrm>
          <a:prstGeom prst="rect">
            <a:avLst/>
          </a:prstGeom>
        </p:spPr>
        <p:txBody>
          <a:bodyPr wrap="square">
            <a:spAutoFit/>
          </a:bodyPr>
          <a:lstStyle/>
          <a:p>
            <a:pPr marL="342900" indent="-342900" algn="just">
              <a:lnSpc>
                <a:spcPct val="200000"/>
              </a:lnSpc>
              <a:spcBef>
                <a:spcPts val="0"/>
              </a:spcBef>
              <a:spcAft>
                <a:spcPts val="0"/>
              </a:spcAft>
              <a:buBlip>
                <a:blip r:embed="rId3"/>
              </a:buBlip>
            </a:pPr>
            <a:r>
              <a:rPr lang="en-US" sz="1600" b="1"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To study these operations in detail, let us see how processor (ALU) and all the registers are </a:t>
            </a:r>
            <a:r>
              <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interconnected via a single common bus</a:t>
            </a:r>
            <a:r>
              <a:rPr lang="en-US" sz="1600"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a:t>
            </a:r>
            <a:endParaRPr lang="en-US" sz="1600" b="1"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Blip>
                <a:blip r:embed="rId3"/>
              </a:buBlip>
            </a:pPr>
            <a:r>
              <a:rPr lang="en-US" sz="1600"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a:t>
            </a:r>
            <a:r>
              <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data and address lines of the external memory bus connected to the internal processor bus via the memory data register, MDR, and the memory address register, MAR respectively.</a:t>
            </a:r>
          </a:p>
          <a:p>
            <a:pPr marL="342900" marR="0" lvl="0" indent="-342900" algn="just">
              <a:lnSpc>
                <a:spcPct val="200000"/>
              </a:lnSpc>
              <a:spcBef>
                <a:spcPts val="0"/>
              </a:spcBef>
              <a:spcAft>
                <a:spcPts val="0"/>
              </a:spcAft>
              <a:buFont typeface="Symbol" panose="05050102010706020507" pitchFamily="18" charset="2"/>
              <a:buChar char=""/>
            </a:pPr>
            <a:r>
              <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Register MDR has two inputs and two outputs.</a:t>
            </a:r>
          </a:p>
          <a:p>
            <a:pPr marL="342900" marR="0" lvl="0" indent="-342900" algn="just">
              <a:lnSpc>
                <a:spcPct val="200000"/>
              </a:lnSpc>
              <a:spcBef>
                <a:spcPts val="0"/>
              </a:spcBef>
              <a:spcAft>
                <a:spcPts val="0"/>
              </a:spcAft>
              <a:buFont typeface="Symbol" panose="05050102010706020507" pitchFamily="18" charset="2"/>
              <a:buChar char=""/>
            </a:pPr>
            <a:r>
              <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Data may be loaded into MDR either from the memory bus or from the internal processor bus.</a:t>
            </a:r>
          </a:p>
          <a:p>
            <a:pPr marL="342900" marR="0" lvl="0" indent="-342900" algn="just">
              <a:lnSpc>
                <a:spcPct val="200000"/>
              </a:lnSpc>
              <a:spcBef>
                <a:spcPts val="0"/>
              </a:spcBef>
              <a:spcAft>
                <a:spcPts val="0"/>
              </a:spcAft>
              <a:buFont typeface="Symbol" panose="05050102010706020507" pitchFamily="18" charset="2"/>
              <a:buChar char=""/>
            </a:pPr>
            <a:r>
              <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data stored in MDR may be placed on either bus.</a:t>
            </a:r>
          </a:p>
          <a:p>
            <a:pPr marL="342900" marR="0" lvl="0" indent="-342900" algn="just">
              <a:lnSpc>
                <a:spcPct val="200000"/>
              </a:lnSpc>
              <a:spcBef>
                <a:spcPts val="0"/>
              </a:spcBef>
              <a:spcAft>
                <a:spcPts val="0"/>
              </a:spcAft>
              <a:buFont typeface="Symbol" panose="05050102010706020507" pitchFamily="18" charset="2"/>
              <a:buChar char=""/>
            </a:pPr>
            <a:r>
              <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input of MAR is connected to the internal bus, and its output is connected to the external bus.</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355749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5</a:t>
            </a:fld>
            <a:endParaRPr lang="en-US" smtClean="0">
              <a:solidFill>
                <a:srgbClr val="FFFFFF"/>
              </a:solidFill>
              <a:latin typeface="Franklin Gothic Book" panose="020B0503020102020204" pitchFamily="34" charset="0"/>
            </a:endParaRPr>
          </a:p>
        </p:txBody>
      </p:sp>
      <p:pic>
        <p:nvPicPr>
          <p:cNvPr id="4" name="Picture 3"/>
          <p:cNvPicPr/>
          <p:nvPr/>
        </p:nvPicPr>
        <p:blipFill>
          <a:blip r:embed="rId2"/>
          <a:srcRect/>
          <a:stretch>
            <a:fillRect/>
          </a:stretch>
        </p:blipFill>
        <p:spPr bwMode="auto">
          <a:xfrm>
            <a:off x="838200" y="7513"/>
            <a:ext cx="7010401" cy="6934200"/>
          </a:xfrm>
          <a:prstGeom prst="rect">
            <a:avLst/>
          </a:prstGeom>
          <a:noFill/>
          <a:ln w="9525">
            <a:noFill/>
            <a:miter lim="800000"/>
            <a:headEnd/>
            <a:tailEnd/>
          </a:ln>
        </p:spPr>
      </p:pic>
      <p:sp>
        <p:nvSpPr>
          <p:cNvPr id="2" name="Rectangle 1"/>
          <p:cNvSpPr/>
          <p:nvPr/>
        </p:nvSpPr>
        <p:spPr>
          <a:xfrm>
            <a:off x="7696201" y="3124198"/>
            <a:ext cx="1523999" cy="2003625"/>
          </a:xfrm>
          <a:prstGeom prst="rect">
            <a:avLst/>
          </a:prstGeom>
        </p:spPr>
        <p:txBody>
          <a:bodyPr wrap="square">
            <a:spAutoFit/>
          </a:bodyPr>
          <a:lstStyle/>
          <a:p>
            <a:pPr marL="0" marR="0" algn="ctr">
              <a:lnSpc>
                <a:spcPct val="115000"/>
              </a:lnSpc>
              <a:spcBef>
                <a:spcPts val="0"/>
              </a:spcBef>
              <a:spcAft>
                <a:spcPts val="1000"/>
              </a:spcAft>
            </a:pPr>
            <a:r>
              <a:rPr lang="en-IN" sz="11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Figure 1:</a:t>
            </a:r>
            <a:r>
              <a:rPr lang="en-IN"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Single-bus Organization of the Data path inside CPU</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572270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4800" y="152400"/>
            <a:ext cx="8534399" cy="6324600"/>
          </a:xfrm>
          <a:prstGeom prst="rect">
            <a:avLst/>
          </a:prstGeom>
        </p:spPr>
      </p:pic>
    </p:spTree>
    <p:extLst>
      <p:ext uri="{BB962C8B-B14F-4D97-AF65-F5344CB8AC3E}">
        <p14:creationId xmlns:p14="http://schemas.microsoft.com/office/powerpoint/2010/main" val="31769183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7</a:t>
            </a:fld>
            <a:endParaRPr lang="en-US" smtClean="0">
              <a:solidFill>
                <a:srgbClr val="FFFFFF"/>
              </a:solidFill>
              <a:latin typeface="Franklin Gothic Book" panose="020B0503020102020204" pitchFamily="34" charset="0"/>
            </a:endParaRPr>
          </a:p>
        </p:txBody>
      </p:sp>
      <p:sp>
        <p:nvSpPr>
          <p:cNvPr id="2" name="Rectangle 1"/>
          <p:cNvSpPr/>
          <p:nvPr/>
        </p:nvSpPr>
        <p:spPr>
          <a:xfrm>
            <a:off x="0" y="889844"/>
            <a:ext cx="9144000" cy="5586145"/>
          </a:xfrm>
          <a:prstGeom prst="rect">
            <a:avLst/>
          </a:prstGeom>
        </p:spPr>
        <p:txBody>
          <a:bodyPr wrap="square">
            <a:spAutoFit/>
          </a:bodyPr>
          <a:lstStyle/>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control lines of the memory bus are connected to the instruction decoder and control logic.</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This unit is responsible for issuing the signals that control the operation of all the units inside the processor and for increasing with the memory bus</a:t>
            </a: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a:t>
            </a:r>
          </a:p>
          <a:p>
            <a:pPr marL="342900" marR="0" lvl="0" indent="-342900" algn="just">
              <a:lnSpc>
                <a:spcPct val="150000"/>
              </a:lnSpc>
              <a:spcBef>
                <a:spcPts val="0"/>
              </a:spcBef>
              <a:spcAft>
                <a:spcPts val="0"/>
              </a:spcAft>
              <a:buFont typeface="Symbol" panose="05050102010706020507" pitchFamily="18" charset="2"/>
              <a:buChar char=""/>
            </a:pPr>
            <a:r>
              <a:rPr lang="en-US" sz="1600"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number &amp; use of the processor registers R0 through R(n-1) vary considerably from one processor to another.</a:t>
            </a:r>
          </a:p>
          <a:p>
            <a:pPr marL="342900" marR="0" lvl="0" indent="-342900" algn="just">
              <a:lnSpc>
                <a:spcPct val="150000"/>
              </a:lnSpc>
              <a:spcBef>
                <a:spcPts val="0"/>
              </a:spcBef>
              <a:spcAft>
                <a:spcPts val="0"/>
              </a:spcAft>
              <a:buFont typeface="Symbol" panose="05050102010706020507" pitchFamily="18" charset="2"/>
              <a:buChar char=""/>
            </a:pPr>
            <a:r>
              <a:rPr lang="en-US" sz="1600"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These registers may be general purpose registers used by the programmer and special purpose registers dedicated for particular purpose used by the processor, such as index registers or stack pointers, etc.</a:t>
            </a:r>
          </a:p>
          <a:p>
            <a:pPr marL="342900" marR="0" lvl="0" indent="-342900" algn="just">
              <a:lnSpc>
                <a:spcPct val="150000"/>
              </a:lnSpc>
              <a:spcBef>
                <a:spcPts val="0"/>
              </a:spcBef>
              <a:spcAft>
                <a:spcPts val="0"/>
              </a:spcAft>
              <a:buFont typeface="Symbol" panose="05050102010706020507" pitchFamily="18" charset="2"/>
              <a:buChar char=""/>
            </a:pPr>
            <a:r>
              <a:rPr lang="en-US" sz="1600"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3 registers Y, Z &amp; TEMP in fig are used by the processor for temporary storage during execution of instruction</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MUX selects either the output of register Y or a constant value 4 to be provided as input A of the ALU.</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constant 4 is used to increment the contents of the program counter.</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090760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8</a:t>
            </a:fld>
            <a:endParaRPr lang="en-US" smtClean="0">
              <a:solidFill>
                <a:srgbClr val="FFFFFF"/>
              </a:solidFill>
              <a:latin typeface="Franklin Gothic Book" panose="020B0503020102020204" pitchFamily="34" charset="0"/>
            </a:endParaRPr>
          </a:p>
        </p:txBody>
      </p:sp>
      <p:sp>
        <p:nvSpPr>
          <p:cNvPr id="3" name="Rectangle 2"/>
          <p:cNvSpPr/>
          <p:nvPr/>
        </p:nvSpPr>
        <p:spPr>
          <a:xfrm>
            <a:off x="0" y="1429190"/>
            <a:ext cx="9144000" cy="3863109"/>
          </a:xfrm>
          <a:prstGeom prst="rect">
            <a:avLst/>
          </a:prstGeom>
        </p:spPr>
        <p:txBody>
          <a:bodyPr wrap="square">
            <a:spAutoFit/>
          </a:bodyPr>
          <a:lstStyle/>
          <a:p>
            <a:pPr marL="0" marR="0" algn="ctr">
              <a:lnSpc>
                <a:spcPct val="115000"/>
              </a:lnSpc>
              <a:spcBef>
                <a:spcPts val="0"/>
              </a:spcBef>
              <a:spcAft>
                <a:spcPts val="1000"/>
              </a:spcAft>
            </a:pPr>
            <a:r>
              <a:rPr lang="en-US" b="1" i="1" u="sng"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With few exceptions, an Instruction can performs </a:t>
            </a:r>
            <a:r>
              <a:rPr lang="en-US" b="1" i="1" u="sng"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some operations like:</a:t>
            </a:r>
            <a:endParaRPr lang="en-US" sz="14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Transfer a word of data from one processor register to another or to the ALU. </a:t>
            </a:r>
            <a:r>
              <a:rPr lang="en-US"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(REGISTER TRANSFERS)</a:t>
            </a:r>
            <a:endParaRPr lang="en-US" sz="14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Perform arithmetic or a logic operation and store the result in a processor register.</a:t>
            </a:r>
            <a:r>
              <a:rPr lang="en-US"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(ARITHMETIC OR LOGIC OPERATION)</a:t>
            </a:r>
            <a:endParaRPr lang="en-US" sz="14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Fetch the contents of a given memory location and load them into a processor register.</a:t>
            </a:r>
            <a:r>
              <a:rPr lang="en-US"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(FETCHING)</a:t>
            </a:r>
            <a:endParaRPr lang="en-US" sz="14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mj-lt"/>
              <a:buAutoNum type="arabicPeriod"/>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Store a word of data from a processor register into a given memory location.</a:t>
            </a:r>
            <a:r>
              <a:rPr lang="en-US"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(STORING)</a:t>
            </a:r>
            <a:endParaRPr lang="en-US" sz="14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4" name="Rectangle 3"/>
          <p:cNvSpPr/>
          <p:nvPr/>
        </p:nvSpPr>
        <p:spPr>
          <a:xfrm>
            <a:off x="838200" y="278824"/>
            <a:ext cx="4884671" cy="622799"/>
          </a:xfrm>
          <a:prstGeom prst="rect">
            <a:avLst/>
          </a:prstGeom>
        </p:spPr>
        <p:txBody>
          <a:bodyPr wrap="none">
            <a:spAutoFit/>
          </a:bodyPr>
          <a:lstStyle/>
          <a:p>
            <a:pPr marL="342900" marR="0" lvl="0" indent="-342900">
              <a:lnSpc>
                <a:spcPct val="115000"/>
              </a:lnSpc>
              <a:spcBef>
                <a:spcPts val="0"/>
              </a:spcBef>
              <a:spcAft>
                <a:spcPts val="1000"/>
              </a:spcAft>
              <a:buFont typeface="Symbol" panose="05050102010706020507" pitchFamily="18" charset="2"/>
              <a:buBlip>
                <a:blip r:embed="rId2"/>
              </a:buBlip>
            </a:pPr>
            <a:r>
              <a:rPr lang="en-US" sz="3200" b="1" u="sng" dirty="0">
                <a:latin typeface="Times New Roman" panose="02020603050405020304" pitchFamily="18" charset="0"/>
                <a:ea typeface="Calibri" panose="020F0502020204030204" pitchFamily="34" charset="0"/>
                <a:cs typeface="Times New Roman" panose="02020603050405020304" pitchFamily="18" charset="0"/>
              </a:rPr>
              <a:t>Executing an Instruction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15454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9</a:t>
            </a:fld>
            <a:endParaRPr lang="en-US" smtClean="0">
              <a:solidFill>
                <a:srgbClr val="FFFFFF"/>
              </a:solidFill>
              <a:latin typeface="Franklin Gothic Book" panose="020B0503020102020204" pitchFamily="34" charset="0"/>
            </a:endParaRPr>
          </a:p>
        </p:txBody>
      </p:sp>
      <p:sp>
        <p:nvSpPr>
          <p:cNvPr id="2" name="Rectangle 1"/>
          <p:cNvSpPr/>
          <p:nvPr/>
        </p:nvSpPr>
        <p:spPr>
          <a:xfrm>
            <a:off x="0" y="1207742"/>
            <a:ext cx="9144000" cy="3664593"/>
          </a:xfrm>
          <a:prstGeom prst="rect">
            <a:avLst/>
          </a:prstGeom>
        </p:spPr>
        <p:txBody>
          <a:bodyPr wrap="square">
            <a:spAutoFit/>
          </a:bodyPr>
          <a:lstStyle/>
          <a:p>
            <a:pPr marL="914400" marR="0" indent="457200">
              <a:lnSpc>
                <a:spcPct val="150000"/>
              </a:lnSpc>
              <a:spcBef>
                <a:spcPts val="0"/>
              </a:spcBef>
              <a:spcAft>
                <a:spcPts val="1000"/>
              </a:spcAft>
            </a:pPr>
            <a:r>
              <a:rPr lang="en-US" sz="20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Example</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MOVE R1, R4</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0" marR="0" indent="228600" algn="just">
              <a:lnSpc>
                <a:spcPct val="115000"/>
              </a:lnSpc>
              <a:spcBef>
                <a:spcPts val="0"/>
              </a:spcBef>
              <a:spcAft>
                <a:spcPts val="0"/>
              </a:spcAft>
            </a:pPr>
            <a:r>
              <a:rPr lang="en-IN" b="1" i="1"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Suppose we wish to transfer the contents of register R1 to register R4. This can be accomplished as follows:</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Enable the output of registers R1 by setting R1</a:t>
            </a:r>
            <a:r>
              <a:rPr lang="en-US" baseline="-25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out</a:t>
            </a: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to 1. This places the contents of R1 on the processor bus.</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Enable the input of register R4 by setting R4</a:t>
            </a:r>
            <a:r>
              <a:rPr lang="en-US" baseline="-25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a:t>
            </a: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to 1. This loads data from the processor bus into register R4.</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50000"/>
              </a:lnSpc>
              <a:spcBef>
                <a:spcPts val="0"/>
              </a:spcBef>
              <a:spcAft>
                <a:spcPts val="0"/>
              </a:spcAft>
            </a:pPr>
            <a:r>
              <a:rPr lang="en-US" b="1"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CONTROL SEQUENCE</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R1</a:t>
            </a:r>
            <a:r>
              <a:rPr lang="en-US" sz="2000" baseline="-25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out</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R4</a:t>
            </a:r>
            <a:r>
              <a:rPr lang="en-US" sz="2000" baseline="-25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a:t>
            </a:r>
            <a:endPar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526785" y="30928"/>
            <a:ext cx="5188215" cy="752065"/>
          </a:xfrm>
          <a:prstGeom prst="rect">
            <a:avLst/>
          </a:prstGeom>
        </p:spPr>
        <p:txBody>
          <a:bodyPr wrap="none">
            <a:spAutoFit/>
          </a:bodyPr>
          <a:lstStyle/>
          <a:p>
            <a:pPr marL="342900" marR="0" lvl="0" indent="-342900" algn="just">
              <a:lnSpc>
                <a:spcPct val="150000"/>
              </a:lnSpc>
              <a:spcBef>
                <a:spcPts val="0"/>
              </a:spcBef>
              <a:spcAft>
                <a:spcPts val="0"/>
              </a:spcAft>
              <a:buFont typeface="+mj-lt"/>
              <a:buAutoNum type="arabicPeriod"/>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REGISTER TRANSFERS</a:t>
            </a:r>
            <a:endParaRPr lang="en-US" sz="24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329161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304800"/>
            <a:ext cx="8382000" cy="6172200"/>
          </a:xfrm>
          <a:prstGeom prst="rect">
            <a:avLst/>
          </a:prstGeom>
        </p:spPr>
      </p:pic>
    </p:spTree>
    <p:extLst>
      <p:ext uri="{BB962C8B-B14F-4D97-AF65-F5344CB8AC3E}">
        <p14:creationId xmlns:p14="http://schemas.microsoft.com/office/powerpoint/2010/main" val="8943459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11</a:t>
            </a:fld>
            <a:endParaRPr lang="en-US" smtClean="0">
              <a:solidFill>
                <a:srgbClr val="FFFFFF"/>
              </a:solidFill>
              <a:latin typeface="Franklin Gothic Book" panose="020B0503020102020204" pitchFamily="34" charset="0"/>
            </a:endParaRPr>
          </a:p>
        </p:txBody>
      </p:sp>
      <p:grpSp>
        <p:nvGrpSpPr>
          <p:cNvPr id="4" name="Group 3"/>
          <p:cNvGrpSpPr>
            <a:grpSpLocks/>
          </p:cNvGrpSpPr>
          <p:nvPr/>
        </p:nvGrpSpPr>
        <p:grpSpPr bwMode="auto">
          <a:xfrm>
            <a:off x="1143000" y="228600"/>
            <a:ext cx="5972855" cy="6443836"/>
            <a:chOff x="2301" y="0"/>
            <a:chExt cx="2060" cy="4469"/>
          </a:xfrm>
        </p:grpSpPr>
        <p:sp>
          <p:nvSpPr>
            <p:cNvPr id="5" name="Freeform 4"/>
            <p:cNvSpPr>
              <a:spLocks/>
            </p:cNvSpPr>
            <p:nvPr/>
          </p:nvSpPr>
          <p:spPr bwMode="auto">
            <a:xfrm>
              <a:off x="4132" y="4181"/>
              <a:ext cx="56" cy="18"/>
            </a:xfrm>
            <a:custGeom>
              <a:avLst/>
              <a:gdLst>
                <a:gd name="T0" fmla="*/ 0 w 6"/>
                <a:gd name="T1" fmla="*/ 18 h 2"/>
                <a:gd name="T2" fmla="*/ 56 w 6"/>
                <a:gd name="T3" fmla="*/ 9 h 2"/>
                <a:gd name="T4" fmla="*/ 0 w 6"/>
                <a:gd name="T5" fmla="*/ 0 h 2"/>
                <a:gd name="T6" fmla="*/ 0 w 6"/>
                <a:gd name="T7" fmla="*/ 9 h 2"/>
                <a:gd name="T8" fmla="*/ 0 w 6"/>
                <a:gd name="T9" fmla="*/ 18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6" name="Freeform 5"/>
            <p:cNvSpPr>
              <a:spLocks/>
            </p:cNvSpPr>
            <p:nvPr/>
          </p:nvSpPr>
          <p:spPr bwMode="auto">
            <a:xfrm>
              <a:off x="4132" y="4181"/>
              <a:ext cx="56" cy="18"/>
            </a:xfrm>
            <a:custGeom>
              <a:avLst/>
              <a:gdLst>
                <a:gd name="T0" fmla="*/ 0 w 56"/>
                <a:gd name="T1" fmla="*/ 18 h 18"/>
                <a:gd name="T2" fmla="*/ 56 w 56"/>
                <a:gd name="T3" fmla="*/ 9 h 18"/>
                <a:gd name="T4" fmla="*/ 0 w 56"/>
                <a:gd name="T5" fmla="*/ 0 h 18"/>
                <a:gd name="T6" fmla="*/ 0 w 56"/>
                <a:gd name="T7" fmla="*/ 9 h 18"/>
                <a:gd name="T8" fmla="*/ 0 w 56"/>
                <a:gd name="T9" fmla="*/ 18 h 18"/>
                <a:gd name="T10" fmla="*/ 0 60000 65536"/>
                <a:gd name="T11" fmla="*/ 0 60000 65536"/>
                <a:gd name="T12" fmla="*/ 0 60000 65536"/>
                <a:gd name="T13" fmla="*/ 0 60000 65536"/>
                <a:gd name="T14" fmla="*/ 0 60000 65536"/>
                <a:gd name="T15" fmla="*/ 0 w 56"/>
                <a:gd name="T16" fmla="*/ 0 h 18"/>
                <a:gd name="T17" fmla="*/ 56 w 56"/>
                <a:gd name="T18" fmla="*/ 18 h 18"/>
              </a:gdLst>
              <a:ahLst/>
              <a:cxnLst>
                <a:cxn ang="T10">
                  <a:pos x="T0" y="T1"/>
                </a:cxn>
                <a:cxn ang="T11">
                  <a:pos x="T2" y="T3"/>
                </a:cxn>
                <a:cxn ang="T12">
                  <a:pos x="T4" y="T5"/>
                </a:cxn>
                <a:cxn ang="T13">
                  <a:pos x="T6" y="T7"/>
                </a:cxn>
                <a:cxn ang="T14">
                  <a:pos x="T8" y="T9"/>
                </a:cxn>
              </a:cxnLst>
              <a:rect l="T15" t="T16" r="T17" b="T18"/>
              <a:pathLst>
                <a:path w="56" h="18">
                  <a:moveTo>
                    <a:pt x="0" y="18"/>
                  </a:moveTo>
                  <a:lnTo>
                    <a:pt x="56" y="9"/>
                  </a:lnTo>
                  <a:lnTo>
                    <a:pt x="0" y="0"/>
                  </a:lnTo>
                  <a:lnTo>
                    <a:pt x="0" y="9"/>
                  </a:lnTo>
                  <a:lnTo>
                    <a:pt x="0" y="18"/>
                  </a:lnTo>
                  <a:close/>
                </a:path>
              </a:pathLst>
            </a:custGeom>
            <a:solidFill>
              <a:srgbClr val="000000"/>
            </a:solidFill>
            <a:ln w="0">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7" name="Line 6"/>
            <p:cNvSpPr>
              <a:spLocks noChangeShapeType="1"/>
            </p:cNvSpPr>
            <p:nvPr/>
          </p:nvSpPr>
          <p:spPr bwMode="auto">
            <a:xfrm flipH="1">
              <a:off x="3937" y="4190"/>
              <a:ext cx="195" cy="1"/>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8" name="Freeform 7"/>
            <p:cNvSpPr>
              <a:spLocks/>
            </p:cNvSpPr>
            <p:nvPr/>
          </p:nvSpPr>
          <p:spPr bwMode="auto">
            <a:xfrm>
              <a:off x="3259" y="3828"/>
              <a:ext cx="18" cy="55"/>
            </a:xfrm>
            <a:custGeom>
              <a:avLst/>
              <a:gdLst>
                <a:gd name="T0" fmla="*/ 0 w 2"/>
                <a:gd name="T1" fmla="*/ 0 h 6"/>
                <a:gd name="T2" fmla="*/ 9 w 2"/>
                <a:gd name="T3" fmla="*/ 55 h 6"/>
                <a:gd name="T4" fmla="*/ 18 w 2"/>
                <a:gd name="T5" fmla="*/ 0 h 6"/>
                <a:gd name="T6" fmla="*/ 9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9" name="Freeform 8"/>
            <p:cNvSpPr>
              <a:spLocks/>
            </p:cNvSpPr>
            <p:nvPr/>
          </p:nvSpPr>
          <p:spPr bwMode="auto">
            <a:xfrm>
              <a:off x="3259" y="3828"/>
              <a:ext cx="18" cy="55"/>
            </a:xfrm>
            <a:custGeom>
              <a:avLst/>
              <a:gdLst>
                <a:gd name="T0" fmla="*/ 0 w 18"/>
                <a:gd name="T1" fmla="*/ 0 h 55"/>
                <a:gd name="T2" fmla="*/ 9 w 18"/>
                <a:gd name="T3" fmla="*/ 55 h 55"/>
                <a:gd name="T4" fmla="*/ 18 w 18"/>
                <a:gd name="T5" fmla="*/ 0 h 55"/>
                <a:gd name="T6" fmla="*/ 9 w 18"/>
                <a:gd name="T7" fmla="*/ 0 h 55"/>
                <a:gd name="T8" fmla="*/ 0 w 18"/>
                <a:gd name="T9" fmla="*/ 0 h 55"/>
                <a:gd name="T10" fmla="*/ 0 60000 65536"/>
                <a:gd name="T11" fmla="*/ 0 60000 65536"/>
                <a:gd name="T12" fmla="*/ 0 60000 65536"/>
                <a:gd name="T13" fmla="*/ 0 60000 65536"/>
                <a:gd name="T14" fmla="*/ 0 60000 65536"/>
                <a:gd name="T15" fmla="*/ 0 w 18"/>
                <a:gd name="T16" fmla="*/ 0 h 55"/>
                <a:gd name="T17" fmla="*/ 18 w 18"/>
                <a:gd name="T18" fmla="*/ 55 h 55"/>
              </a:gdLst>
              <a:ahLst/>
              <a:cxnLst>
                <a:cxn ang="T10">
                  <a:pos x="T0" y="T1"/>
                </a:cxn>
                <a:cxn ang="T11">
                  <a:pos x="T2" y="T3"/>
                </a:cxn>
                <a:cxn ang="T12">
                  <a:pos x="T4" y="T5"/>
                </a:cxn>
                <a:cxn ang="T13">
                  <a:pos x="T6" y="T7"/>
                </a:cxn>
                <a:cxn ang="T14">
                  <a:pos x="T8" y="T9"/>
                </a:cxn>
              </a:cxnLst>
              <a:rect l="T15" t="T16" r="T17" b="T18"/>
              <a:pathLst>
                <a:path w="18" h="55">
                  <a:moveTo>
                    <a:pt x="0" y="0"/>
                  </a:moveTo>
                  <a:lnTo>
                    <a:pt x="9" y="55"/>
                  </a:lnTo>
                  <a:lnTo>
                    <a:pt x="18" y="0"/>
                  </a:lnTo>
                  <a:lnTo>
                    <a:pt x="9" y="0"/>
                  </a:lnTo>
                  <a:lnTo>
                    <a:pt x="0" y="0"/>
                  </a:lnTo>
                  <a:close/>
                </a:path>
              </a:pathLst>
            </a:custGeom>
            <a:solidFill>
              <a:srgbClr val="000000"/>
            </a:solidFill>
            <a:ln w="0">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0" name="Line 9"/>
            <p:cNvSpPr>
              <a:spLocks noChangeShapeType="1"/>
            </p:cNvSpPr>
            <p:nvPr/>
          </p:nvSpPr>
          <p:spPr bwMode="auto">
            <a:xfrm flipV="1">
              <a:off x="3268" y="3735"/>
              <a:ext cx="1" cy="83"/>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11" name="Freeform 10"/>
            <p:cNvSpPr>
              <a:spLocks/>
            </p:cNvSpPr>
            <p:nvPr/>
          </p:nvSpPr>
          <p:spPr bwMode="auto">
            <a:xfrm>
              <a:off x="3482" y="2899"/>
              <a:ext cx="18" cy="65"/>
            </a:xfrm>
            <a:custGeom>
              <a:avLst/>
              <a:gdLst>
                <a:gd name="T0" fmla="*/ 0 w 2"/>
                <a:gd name="T1" fmla="*/ 0 h 7"/>
                <a:gd name="T2" fmla="*/ 9 w 2"/>
                <a:gd name="T3" fmla="*/ 65 h 7"/>
                <a:gd name="T4" fmla="*/ 18 w 2"/>
                <a:gd name="T5" fmla="*/ 0 h 7"/>
                <a:gd name="T6" fmla="*/ 9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2" name="Freeform 11"/>
            <p:cNvSpPr>
              <a:spLocks/>
            </p:cNvSpPr>
            <p:nvPr/>
          </p:nvSpPr>
          <p:spPr bwMode="auto">
            <a:xfrm>
              <a:off x="3482" y="2899"/>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3" name="Freeform 12"/>
            <p:cNvSpPr>
              <a:spLocks/>
            </p:cNvSpPr>
            <p:nvPr/>
          </p:nvSpPr>
          <p:spPr bwMode="auto">
            <a:xfrm>
              <a:off x="3491" y="2824"/>
              <a:ext cx="716" cy="75"/>
            </a:xfrm>
            <a:custGeom>
              <a:avLst/>
              <a:gdLst>
                <a:gd name="T0" fmla="*/ 0 w 77"/>
                <a:gd name="T1" fmla="*/ 75 h 8"/>
                <a:gd name="T2" fmla="*/ 0 w 77"/>
                <a:gd name="T3" fmla="*/ 0 h 8"/>
                <a:gd name="T4" fmla="*/ 716 w 77"/>
                <a:gd name="T5" fmla="*/ 0 h 8"/>
                <a:gd name="T6" fmla="*/ 0 60000 65536"/>
                <a:gd name="T7" fmla="*/ 0 60000 65536"/>
                <a:gd name="T8" fmla="*/ 0 60000 65536"/>
                <a:gd name="T9" fmla="*/ 0 w 77"/>
                <a:gd name="T10" fmla="*/ 0 h 8"/>
                <a:gd name="T11" fmla="*/ 77 w 77"/>
                <a:gd name="T12" fmla="*/ 8 h 8"/>
              </a:gdLst>
              <a:ahLst/>
              <a:cxnLst>
                <a:cxn ang="T6">
                  <a:pos x="T0" y="T1"/>
                </a:cxn>
                <a:cxn ang="T7">
                  <a:pos x="T2" y="T3"/>
                </a:cxn>
                <a:cxn ang="T8">
                  <a:pos x="T4" y="T5"/>
                </a:cxn>
              </a:cxnLst>
              <a:rect l="T9" t="T10" r="T11" b="T12"/>
              <a:pathLst>
                <a:path w="77" h="8">
                  <a:moveTo>
                    <a:pt x="0" y="8"/>
                  </a:moveTo>
                  <a:lnTo>
                    <a:pt x="0" y="0"/>
                  </a:lnTo>
                  <a:lnTo>
                    <a:pt x="77"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4" name="Freeform 13"/>
            <p:cNvSpPr>
              <a:spLocks/>
            </p:cNvSpPr>
            <p:nvPr/>
          </p:nvSpPr>
          <p:spPr bwMode="auto">
            <a:xfrm>
              <a:off x="3259" y="1867"/>
              <a:ext cx="18" cy="56"/>
            </a:xfrm>
            <a:custGeom>
              <a:avLst/>
              <a:gdLst>
                <a:gd name="T0" fmla="*/ 0 w 2"/>
                <a:gd name="T1" fmla="*/ 0 h 6"/>
                <a:gd name="T2" fmla="*/ 9 w 2"/>
                <a:gd name="T3" fmla="*/ 56 h 6"/>
                <a:gd name="T4" fmla="*/ 18 w 2"/>
                <a:gd name="T5" fmla="*/ 0 h 6"/>
                <a:gd name="T6" fmla="*/ 9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5" name="Freeform 14"/>
            <p:cNvSpPr>
              <a:spLocks/>
            </p:cNvSpPr>
            <p:nvPr/>
          </p:nvSpPr>
          <p:spPr bwMode="auto">
            <a:xfrm>
              <a:off x="3259" y="1867"/>
              <a:ext cx="18" cy="56"/>
            </a:xfrm>
            <a:custGeom>
              <a:avLst/>
              <a:gdLst>
                <a:gd name="T0" fmla="*/ 0 w 18"/>
                <a:gd name="T1" fmla="*/ 0 h 56"/>
                <a:gd name="T2" fmla="*/ 9 w 18"/>
                <a:gd name="T3" fmla="*/ 56 h 56"/>
                <a:gd name="T4" fmla="*/ 18 w 18"/>
                <a:gd name="T5" fmla="*/ 0 h 56"/>
                <a:gd name="T6" fmla="*/ 9 w 18"/>
                <a:gd name="T7" fmla="*/ 0 h 56"/>
                <a:gd name="T8" fmla="*/ 0 w 18"/>
                <a:gd name="T9" fmla="*/ 0 h 56"/>
                <a:gd name="T10" fmla="*/ 0 60000 65536"/>
                <a:gd name="T11" fmla="*/ 0 60000 65536"/>
                <a:gd name="T12" fmla="*/ 0 60000 65536"/>
                <a:gd name="T13" fmla="*/ 0 60000 65536"/>
                <a:gd name="T14" fmla="*/ 0 60000 65536"/>
                <a:gd name="T15" fmla="*/ 0 w 18"/>
                <a:gd name="T16" fmla="*/ 0 h 56"/>
                <a:gd name="T17" fmla="*/ 18 w 18"/>
                <a:gd name="T18" fmla="*/ 56 h 56"/>
              </a:gdLst>
              <a:ahLst/>
              <a:cxnLst>
                <a:cxn ang="T10">
                  <a:pos x="T0" y="T1"/>
                </a:cxn>
                <a:cxn ang="T11">
                  <a:pos x="T2" y="T3"/>
                </a:cxn>
                <a:cxn ang="T12">
                  <a:pos x="T4" y="T5"/>
                </a:cxn>
                <a:cxn ang="T13">
                  <a:pos x="T6" y="T7"/>
                </a:cxn>
                <a:cxn ang="T14">
                  <a:pos x="T8" y="T9"/>
                </a:cxn>
              </a:cxnLst>
              <a:rect l="T15" t="T16" r="T17" b="T18"/>
              <a:pathLst>
                <a:path w="18" h="56">
                  <a:moveTo>
                    <a:pt x="0" y="0"/>
                  </a:moveTo>
                  <a:lnTo>
                    <a:pt x="9" y="56"/>
                  </a:lnTo>
                  <a:lnTo>
                    <a:pt x="18" y="0"/>
                  </a:lnTo>
                  <a:lnTo>
                    <a:pt x="9" y="0"/>
                  </a:lnTo>
                  <a:lnTo>
                    <a:pt x="0" y="0"/>
                  </a:lnTo>
                  <a:close/>
                </a:path>
              </a:pathLst>
            </a:custGeom>
            <a:solidFill>
              <a:srgbClr val="000000"/>
            </a:solidFill>
            <a:ln w="0">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6" name="Freeform 15"/>
            <p:cNvSpPr>
              <a:spLocks/>
            </p:cNvSpPr>
            <p:nvPr/>
          </p:nvSpPr>
          <p:spPr bwMode="auto">
            <a:xfrm>
              <a:off x="3268" y="1747"/>
              <a:ext cx="511" cy="120"/>
            </a:xfrm>
            <a:custGeom>
              <a:avLst/>
              <a:gdLst>
                <a:gd name="T0" fmla="*/ 0 w 55"/>
                <a:gd name="T1" fmla="*/ 120 h 13"/>
                <a:gd name="T2" fmla="*/ 0 w 55"/>
                <a:gd name="T3" fmla="*/ 0 h 13"/>
                <a:gd name="T4" fmla="*/ 511 w 55"/>
                <a:gd name="T5" fmla="*/ 0 h 13"/>
                <a:gd name="T6" fmla="*/ 0 60000 65536"/>
                <a:gd name="T7" fmla="*/ 0 60000 65536"/>
                <a:gd name="T8" fmla="*/ 0 60000 65536"/>
                <a:gd name="T9" fmla="*/ 0 w 55"/>
                <a:gd name="T10" fmla="*/ 0 h 13"/>
                <a:gd name="T11" fmla="*/ 55 w 55"/>
                <a:gd name="T12" fmla="*/ 13 h 13"/>
              </a:gdLst>
              <a:ahLst/>
              <a:cxnLst>
                <a:cxn ang="T6">
                  <a:pos x="T0" y="T1"/>
                </a:cxn>
                <a:cxn ang="T7">
                  <a:pos x="T2" y="T3"/>
                </a:cxn>
                <a:cxn ang="T8">
                  <a:pos x="T4" y="T5"/>
                </a:cxn>
              </a:cxnLst>
              <a:rect l="T9" t="T10" r="T11" b="T12"/>
              <a:pathLst>
                <a:path w="55" h="13">
                  <a:moveTo>
                    <a:pt x="0" y="13"/>
                  </a:moveTo>
                  <a:lnTo>
                    <a:pt x="0" y="0"/>
                  </a:lnTo>
                  <a:lnTo>
                    <a:pt x="55"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7" name="Freeform 16"/>
            <p:cNvSpPr>
              <a:spLocks/>
            </p:cNvSpPr>
            <p:nvPr/>
          </p:nvSpPr>
          <p:spPr bwMode="auto">
            <a:xfrm>
              <a:off x="4132" y="1068"/>
              <a:ext cx="56" cy="28"/>
            </a:xfrm>
            <a:custGeom>
              <a:avLst/>
              <a:gdLst>
                <a:gd name="T0" fmla="*/ 0 w 6"/>
                <a:gd name="T1" fmla="*/ 28 h 3"/>
                <a:gd name="T2" fmla="*/ 56 w 6"/>
                <a:gd name="T3" fmla="*/ 9 h 3"/>
                <a:gd name="T4" fmla="*/ 0 w 6"/>
                <a:gd name="T5" fmla="*/ 0 h 3"/>
                <a:gd name="T6" fmla="*/ 0 w 6"/>
                <a:gd name="T7" fmla="*/ 9 h 3"/>
                <a:gd name="T8" fmla="*/ 0 w 6"/>
                <a:gd name="T9" fmla="*/ 28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8" name="Freeform 17"/>
            <p:cNvSpPr>
              <a:spLocks/>
            </p:cNvSpPr>
            <p:nvPr/>
          </p:nvSpPr>
          <p:spPr bwMode="auto">
            <a:xfrm>
              <a:off x="4132" y="1068"/>
              <a:ext cx="56" cy="28"/>
            </a:xfrm>
            <a:custGeom>
              <a:avLst/>
              <a:gdLst>
                <a:gd name="T0" fmla="*/ 0 w 56"/>
                <a:gd name="T1" fmla="*/ 28 h 28"/>
                <a:gd name="T2" fmla="*/ 56 w 56"/>
                <a:gd name="T3" fmla="*/ 10 h 28"/>
                <a:gd name="T4" fmla="*/ 0 w 56"/>
                <a:gd name="T5" fmla="*/ 0 h 28"/>
                <a:gd name="T6" fmla="*/ 0 w 56"/>
                <a:gd name="T7" fmla="*/ 10 h 28"/>
                <a:gd name="T8" fmla="*/ 0 w 56"/>
                <a:gd name="T9" fmla="*/ 28 h 28"/>
                <a:gd name="T10" fmla="*/ 0 60000 65536"/>
                <a:gd name="T11" fmla="*/ 0 60000 65536"/>
                <a:gd name="T12" fmla="*/ 0 60000 65536"/>
                <a:gd name="T13" fmla="*/ 0 60000 65536"/>
                <a:gd name="T14" fmla="*/ 0 60000 65536"/>
                <a:gd name="T15" fmla="*/ 0 w 56"/>
                <a:gd name="T16" fmla="*/ 0 h 28"/>
                <a:gd name="T17" fmla="*/ 56 w 56"/>
                <a:gd name="T18" fmla="*/ 28 h 28"/>
              </a:gdLst>
              <a:ahLst/>
              <a:cxnLst>
                <a:cxn ang="T10">
                  <a:pos x="T0" y="T1"/>
                </a:cxn>
                <a:cxn ang="T11">
                  <a:pos x="T2" y="T3"/>
                </a:cxn>
                <a:cxn ang="T12">
                  <a:pos x="T4" y="T5"/>
                </a:cxn>
                <a:cxn ang="T13">
                  <a:pos x="T6" y="T7"/>
                </a:cxn>
                <a:cxn ang="T14">
                  <a:pos x="T8" y="T9"/>
                </a:cxn>
              </a:cxnLst>
              <a:rect l="T15" t="T16" r="T17" b="T18"/>
              <a:pathLst>
                <a:path w="56" h="28">
                  <a:moveTo>
                    <a:pt x="0" y="28"/>
                  </a:moveTo>
                  <a:lnTo>
                    <a:pt x="56" y="10"/>
                  </a:lnTo>
                  <a:lnTo>
                    <a:pt x="0" y="0"/>
                  </a:lnTo>
                  <a:lnTo>
                    <a:pt x="0" y="10"/>
                  </a:lnTo>
                  <a:lnTo>
                    <a:pt x="0" y="28"/>
                  </a:lnTo>
                  <a:close/>
                </a:path>
              </a:pathLst>
            </a:custGeom>
            <a:solidFill>
              <a:srgbClr val="000000"/>
            </a:solidFill>
            <a:ln w="0">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9" name="Line 18"/>
            <p:cNvSpPr>
              <a:spLocks noChangeShapeType="1"/>
            </p:cNvSpPr>
            <p:nvPr/>
          </p:nvSpPr>
          <p:spPr bwMode="auto">
            <a:xfrm flipH="1">
              <a:off x="3937" y="1078"/>
              <a:ext cx="195" cy="1"/>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20" name="Freeform 19"/>
            <p:cNvSpPr>
              <a:spLocks/>
            </p:cNvSpPr>
            <p:nvPr/>
          </p:nvSpPr>
          <p:spPr bwMode="auto">
            <a:xfrm>
              <a:off x="3259" y="687"/>
              <a:ext cx="18" cy="56"/>
            </a:xfrm>
            <a:custGeom>
              <a:avLst/>
              <a:gdLst>
                <a:gd name="T0" fmla="*/ 0 w 2"/>
                <a:gd name="T1" fmla="*/ 0 h 6"/>
                <a:gd name="T2" fmla="*/ 9 w 2"/>
                <a:gd name="T3" fmla="*/ 56 h 6"/>
                <a:gd name="T4" fmla="*/ 18 w 2"/>
                <a:gd name="T5" fmla="*/ 0 h 6"/>
                <a:gd name="T6" fmla="*/ 9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21" name="Freeform 20"/>
            <p:cNvSpPr>
              <a:spLocks/>
            </p:cNvSpPr>
            <p:nvPr/>
          </p:nvSpPr>
          <p:spPr bwMode="auto">
            <a:xfrm>
              <a:off x="3259" y="687"/>
              <a:ext cx="18" cy="56"/>
            </a:xfrm>
            <a:custGeom>
              <a:avLst/>
              <a:gdLst>
                <a:gd name="T0" fmla="*/ 0 w 18"/>
                <a:gd name="T1" fmla="*/ 0 h 56"/>
                <a:gd name="T2" fmla="*/ 9 w 18"/>
                <a:gd name="T3" fmla="*/ 56 h 56"/>
                <a:gd name="T4" fmla="*/ 18 w 18"/>
                <a:gd name="T5" fmla="*/ 0 h 56"/>
                <a:gd name="T6" fmla="*/ 9 w 18"/>
                <a:gd name="T7" fmla="*/ 0 h 56"/>
                <a:gd name="T8" fmla="*/ 0 w 18"/>
                <a:gd name="T9" fmla="*/ 0 h 56"/>
                <a:gd name="T10" fmla="*/ 0 60000 65536"/>
                <a:gd name="T11" fmla="*/ 0 60000 65536"/>
                <a:gd name="T12" fmla="*/ 0 60000 65536"/>
                <a:gd name="T13" fmla="*/ 0 60000 65536"/>
                <a:gd name="T14" fmla="*/ 0 60000 65536"/>
                <a:gd name="T15" fmla="*/ 0 w 18"/>
                <a:gd name="T16" fmla="*/ 0 h 56"/>
                <a:gd name="T17" fmla="*/ 18 w 18"/>
                <a:gd name="T18" fmla="*/ 56 h 56"/>
              </a:gdLst>
              <a:ahLst/>
              <a:cxnLst>
                <a:cxn ang="T10">
                  <a:pos x="T0" y="T1"/>
                </a:cxn>
                <a:cxn ang="T11">
                  <a:pos x="T2" y="T3"/>
                </a:cxn>
                <a:cxn ang="T12">
                  <a:pos x="T4" y="T5"/>
                </a:cxn>
                <a:cxn ang="T13">
                  <a:pos x="T6" y="T7"/>
                </a:cxn>
                <a:cxn ang="T14">
                  <a:pos x="T8" y="T9"/>
                </a:cxn>
              </a:cxnLst>
              <a:rect l="T15" t="T16" r="T17" b="T18"/>
              <a:pathLst>
                <a:path w="18" h="56">
                  <a:moveTo>
                    <a:pt x="0" y="0"/>
                  </a:moveTo>
                  <a:lnTo>
                    <a:pt x="9" y="56"/>
                  </a:lnTo>
                  <a:lnTo>
                    <a:pt x="18" y="0"/>
                  </a:lnTo>
                  <a:lnTo>
                    <a:pt x="9" y="0"/>
                  </a:lnTo>
                  <a:lnTo>
                    <a:pt x="0" y="0"/>
                  </a:lnTo>
                  <a:close/>
                </a:path>
              </a:pathLst>
            </a:custGeom>
            <a:solidFill>
              <a:srgbClr val="000000"/>
            </a:solidFill>
            <a:ln w="0">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22" name="Freeform 21"/>
            <p:cNvSpPr>
              <a:spLocks/>
            </p:cNvSpPr>
            <p:nvPr/>
          </p:nvSpPr>
          <p:spPr bwMode="auto">
            <a:xfrm>
              <a:off x="3268" y="632"/>
              <a:ext cx="511" cy="55"/>
            </a:xfrm>
            <a:custGeom>
              <a:avLst/>
              <a:gdLst>
                <a:gd name="T0" fmla="*/ 0 w 55"/>
                <a:gd name="T1" fmla="*/ 55 h 6"/>
                <a:gd name="T2" fmla="*/ 0 w 55"/>
                <a:gd name="T3" fmla="*/ 0 h 6"/>
                <a:gd name="T4" fmla="*/ 511 w 55"/>
                <a:gd name="T5" fmla="*/ 0 h 6"/>
                <a:gd name="T6" fmla="*/ 0 60000 65536"/>
                <a:gd name="T7" fmla="*/ 0 60000 65536"/>
                <a:gd name="T8" fmla="*/ 0 60000 65536"/>
                <a:gd name="T9" fmla="*/ 0 w 55"/>
                <a:gd name="T10" fmla="*/ 0 h 6"/>
                <a:gd name="T11" fmla="*/ 55 w 55"/>
                <a:gd name="T12" fmla="*/ 6 h 6"/>
              </a:gdLst>
              <a:ahLst/>
              <a:cxnLst>
                <a:cxn ang="T6">
                  <a:pos x="T0" y="T1"/>
                </a:cxn>
                <a:cxn ang="T7">
                  <a:pos x="T2" y="T3"/>
                </a:cxn>
                <a:cxn ang="T8">
                  <a:pos x="T4" y="T5"/>
                </a:cxn>
              </a:cxnLst>
              <a:rect l="T9" t="T10" r="T11" b="T12"/>
              <a:pathLst>
                <a:path w="55" h="6">
                  <a:moveTo>
                    <a:pt x="0" y="6"/>
                  </a:moveTo>
                  <a:lnTo>
                    <a:pt x="0" y="0"/>
                  </a:lnTo>
                  <a:lnTo>
                    <a:pt x="55"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23" name="Freeform 22"/>
            <p:cNvSpPr>
              <a:spLocks/>
            </p:cNvSpPr>
            <p:nvPr/>
          </p:nvSpPr>
          <p:spPr bwMode="auto">
            <a:xfrm>
              <a:off x="3575" y="4274"/>
              <a:ext cx="278" cy="130"/>
            </a:xfrm>
            <a:custGeom>
              <a:avLst/>
              <a:gdLst>
                <a:gd name="T0" fmla="*/ 0 w 30"/>
                <a:gd name="T1" fmla="*/ 130 h 14"/>
                <a:gd name="T2" fmla="*/ 278 w 30"/>
                <a:gd name="T3" fmla="*/ 130 h 14"/>
                <a:gd name="T4" fmla="*/ 278 w 30"/>
                <a:gd name="T5" fmla="*/ 0 h 14"/>
                <a:gd name="T6" fmla="*/ 0 60000 65536"/>
                <a:gd name="T7" fmla="*/ 0 60000 65536"/>
                <a:gd name="T8" fmla="*/ 0 60000 65536"/>
                <a:gd name="T9" fmla="*/ 0 w 30"/>
                <a:gd name="T10" fmla="*/ 0 h 14"/>
                <a:gd name="T11" fmla="*/ 30 w 30"/>
                <a:gd name="T12" fmla="*/ 14 h 14"/>
              </a:gdLst>
              <a:ahLst/>
              <a:cxnLst>
                <a:cxn ang="T6">
                  <a:pos x="T0" y="T1"/>
                </a:cxn>
                <a:cxn ang="T7">
                  <a:pos x="T2" y="T3"/>
                </a:cxn>
                <a:cxn ang="T8">
                  <a:pos x="T4" y="T5"/>
                </a:cxn>
              </a:cxnLst>
              <a:rect l="T9" t="T10" r="T11" b="T12"/>
              <a:pathLst>
                <a:path w="30" h="14">
                  <a:moveTo>
                    <a:pt x="0" y="14"/>
                  </a:moveTo>
                  <a:lnTo>
                    <a:pt x="30" y="14"/>
                  </a:lnTo>
                  <a:lnTo>
                    <a:pt x="30" y="0"/>
                  </a:lnTo>
                </a:path>
              </a:pathLst>
            </a:cu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24" name="Freeform 23"/>
            <p:cNvSpPr>
              <a:spLocks/>
            </p:cNvSpPr>
            <p:nvPr/>
          </p:nvSpPr>
          <p:spPr bwMode="auto">
            <a:xfrm>
              <a:off x="3268" y="4060"/>
              <a:ext cx="511" cy="130"/>
            </a:xfrm>
            <a:custGeom>
              <a:avLst/>
              <a:gdLst>
                <a:gd name="T0" fmla="*/ 511 w 55"/>
                <a:gd name="T1" fmla="*/ 130 h 14"/>
                <a:gd name="T2" fmla="*/ 0 w 55"/>
                <a:gd name="T3" fmla="*/ 130 h 14"/>
                <a:gd name="T4" fmla="*/ 0 w 55"/>
                <a:gd name="T5" fmla="*/ 0 h 14"/>
                <a:gd name="T6" fmla="*/ 0 60000 65536"/>
                <a:gd name="T7" fmla="*/ 0 60000 65536"/>
                <a:gd name="T8" fmla="*/ 0 60000 65536"/>
                <a:gd name="T9" fmla="*/ 0 w 55"/>
                <a:gd name="T10" fmla="*/ 0 h 14"/>
                <a:gd name="T11" fmla="*/ 55 w 55"/>
                <a:gd name="T12" fmla="*/ 14 h 14"/>
              </a:gdLst>
              <a:ahLst/>
              <a:cxnLst>
                <a:cxn ang="T6">
                  <a:pos x="T0" y="T1"/>
                </a:cxn>
                <a:cxn ang="T7">
                  <a:pos x="T2" y="T3"/>
                </a:cxn>
                <a:cxn ang="T8">
                  <a:pos x="T4" y="T5"/>
                </a:cxn>
              </a:cxnLst>
              <a:rect l="T9" t="T10" r="T11" b="T12"/>
              <a:pathLst>
                <a:path w="55" h="14">
                  <a:moveTo>
                    <a:pt x="55" y="14"/>
                  </a:moveTo>
                  <a:lnTo>
                    <a:pt x="0" y="14"/>
                  </a:lnTo>
                  <a:lnTo>
                    <a:pt x="0"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25" name="Line 24"/>
            <p:cNvSpPr>
              <a:spLocks noChangeShapeType="1"/>
            </p:cNvSpPr>
            <p:nvPr/>
          </p:nvSpPr>
          <p:spPr bwMode="auto">
            <a:xfrm flipH="1">
              <a:off x="3026" y="3651"/>
              <a:ext cx="158" cy="1"/>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26" name="Line 25"/>
            <p:cNvSpPr>
              <a:spLocks noChangeShapeType="1"/>
            </p:cNvSpPr>
            <p:nvPr/>
          </p:nvSpPr>
          <p:spPr bwMode="auto">
            <a:xfrm>
              <a:off x="3268" y="3391"/>
              <a:ext cx="1" cy="186"/>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27" name="Freeform 26"/>
            <p:cNvSpPr>
              <a:spLocks/>
            </p:cNvSpPr>
            <p:nvPr/>
          </p:nvSpPr>
          <p:spPr bwMode="auto">
            <a:xfrm>
              <a:off x="3259" y="2481"/>
              <a:ext cx="18" cy="65"/>
            </a:xfrm>
            <a:custGeom>
              <a:avLst/>
              <a:gdLst>
                <a:gd name="T0" fmla="*/ 0 w 2"/>
                <a:gd name="T1" fmla="*/ 0 h 7"/>
                <a:gd name="T2" fmla="*/ 9 w 2"/>
                <a:gd name="T3" fmla="*/ 65 h 7"/>
                <a:gd name="T4" fmla="*/ 18 w 2"/>
                <a:gd name="T5" fmla="*/ 0 h 7"/>
                <a:gd name="T6" fmla="*/ 9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28" name="Freeform 27"/>
            <p:cNvSpPr>
              <a:spLocks/>
            </p:cNvSpPr>
            <p:nvPr/>
          </p:nvSpPr>
          <p:spPr bwMode="auto">
            <a:xfrm>
              <a:off x="3259" y="2481"/>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29" name="Line 28"/>
            <p:cNvSpPr>
              <a:spLocks noChangeShapeType="1"/>
            </p:cNvSpPr>
            <p:nvPr/>
          </p:nvSpPr>
          <p:spPr bwMode="auto">
            <a:xfrm flipV="1">
              <a:off x="3268" y="2100"/>
              <a:ext cx="1" cy="381"/>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30" name="Line 29"/>
            <p:cNvSpPr>
              <a:spLocks noChangeShapeType="1"/>
            </p:cNvSpPr>
            <p:nvPr/>
          </p:nvSpPr>
          <p:spPr bwMode="auto">
            <a:xfrm flipH="1">
              <a:off x="3937" y="1747"/>
              <a:ext cx="270" cy="1"/>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31" name="Freeform 30"/>
            <p:cNvSpPr>
              <a:spLocks/>
            </p:cNvSpPr>
            <p:nvPr/>
          </p:nvSpPr>
          <p:spPr bwMode="auto">
            <a:xfrm>
              <a:off x="3575" y="1533"/>
              <a:ext cx="278" cy="139"/>
            </a:xfrm>
            <a:custGeom>
              <a:avLst/>
              <a:gdLst>
                <a:gd name="T0" fmla="*/ 0 w 30"/>
                <a:gd name="T1" fmla="*/ 0 h 15"/>
                <a:gd name="T2" fmla="*/ 278 w 30"/>
                <a:gd name="T3" fmla="*/ 0 h 15"/>
                <a:gd name="T4" fmla="*/ 278 w 30"/>
                <a:gd name="T5" fmla="*/ 139 h 15"/>
                <a:gd name="T6" fmla="*/ 0 60000 65536"/>
                <a:gd name="T7" fmla="*/ 0 60000 65536"/>
                <a:gd name="T8" fmla="*/ 0 60000 65536"/>
                <a:gd name="T9" fmla="*/ 0 w 30"/>
                <a:gd name="T10" fmla="*/ 0 h 15"/>
                <a:gd name="T11" fmla="*/ 30 w 30"/>
                <a:gd name="T12" fmla="*/ 15 h 15"/>
              </a:gdLst>
              <a:ahLst/>
              <a:cxnLst>
                <a:cxn ang="T6">
                  <a:pos x="T0" y="T1"/>
                </a:cxn>
                <a:cxn ang="T7">
                  <a:pos x="T2" y="T3"/>
                </a:cxn>
                <a:cxn ang="T8">
                  <a:pos x="T4" y="T5"/>
                </a:cxn>
              </a:cxnLst>
              <a:rect l="T9" t="T10" r="T11" b="T12"/>
              <a:pathLst>
                <a:path w="30" h="15">
                  <a:moveTo>
                    <a:pt x="0" y="0"/>
                  </a:moveTo>
                  <a:lnTo>
                    <a:pt x="30" y="0"/>
                  </a:lnTo>
                  <a:lnTo>
                    <a:pt x="30" y="15"/>
                  </a:lnTo>
                </a:path>
              </a:pathLst>
            </a:cu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32" name="Freeform 31"/>
            <p:cNvSpPr>
              <a:spLocks/>
            </p:cNvSpPr>
            <p:nvPr/>
          </p:nvSpPr>
          <p:spPr bwMode="auto">
            <a:xfrm>
              <a:off x="3575" y="1161"/>
              <a:ext cx="278" cy="130"/>
            </a:xfrm>
            <a:custGeom>
              <a:avLst/>
              <a:gdLst>
                <a:gd name="T0" fmla="*/ 0 w 30"/>
                <a:gd name="T1" fmla="*/ 130 h 14"/>
                <a:gd name="T2" fmla="*/ 278 w 30"/>
                <a:gd name="T3" fmla="*/ 130 h 14"/>
                <a:gd name="T4" fmla="*/ 278 w 30"/>
                <a:gd name="T5" fmla="*/ 0 h 14"/>
                <a:gd name="T6" fmla="*/ 0 60000 65536"/>
                <a:gd name="T7" fmla="*/ 0 60000 65536"/>
                <a:gd name="T8" fmla="*/ 0 60000 65536"/>
                <a:gd name="T9" fmla="*/ 0 w 30"/>
                <a:gd name="T10" fmla="*/ 0 h 14"/>
                <a:gd name="T11" fmla="*/ 30 w 30"/>
                <a:gd name="T12" fmla="*/ 14 h 14"/>
              </a:gdLst>
              <a:ahLst/>
              <a:cxnLst>
                <a:cxn ang="T6">
                  <a:pos x="T0" y="T1"/>
                </a:cxn>
                <a:cxn ang="T7">
                  <a:pos x="T2" y="T3"/>
                </a:cxn>
                <a:cxn ang="T8">
                  <a:pos x="T4" y="T5"/>
                </a:cxn>
              </a:cxnLst>
              <a:rect l="T9" t="T10" r="T11" b="T12"/>
              <a:pathLst>
                <a:path w="30" h="14">
                  <a:moveTo>
                    <a:pt x="0" y="14"/>
                  </a:moveTo>
                  <a:lnTo>
                    <a:pt x="30" y="14"/>
                  </a:lnTo>
                  <a:lnTo>
                    <a:pt x="30" y="0"/>
                  </a:lnTo>
                </a:path>
              </a:pathLst>
            </a:cu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33" name="Freeform 32"/>
            <p:cNvSpPr>
              <a:spLocks/>
            </p:cNvSpPr>
            <p:nvPr/>
          </p:nvSpPr>
          <p:spPr bwMode="auto">
            <a:xfrm>
              <a:off x="3268" y="920"/>
              <a:ext cx="511" cy="158"/>
            </a:xfrm>
            <a:custGeom>
              <a:avLst/>
              <a:gdLst>
                <a:gd name="T0" fmla="*/ 511 w 55"/>
                <a:gd name="T1" fmla="*/ 158 h 17"/>
                <a:gd name="T2" fmla="*/ 0 w 55"/>
                <a:gd name="T3" fmla="*/ 158 h 17"/>
                <a:gd name="T4" fmla="*/ 0 w 55"/>
                <a:gd name="T5" fmla="*/ 0 h 17"/>
                <a:gd name="T6" fmla="*/ 0 60000 65536"/>
                <a:gd name="T7" fmla="*/ 0 60000 65536"/>
                <a:gd name="T8" fmla="*/ 0 60000 65536"/>
                <a:gd name="T9" fmla="*/ 0 w 55"/>
                <a:gd name="T10" fmla="*/ 0 h 17"/>
                <a:gd name="T11" fmla="*/ 55 w 55"/>
                <a:gd name="T12" fmla="*/ 17 h 17"/>
              </a:gdLst>
              <a:ahLst/>
              <a:cxnLst>
                <a:cxn ang="T6">
                  <a:pos x="T0" y="T1"/>
                </a:cxn>
                <a:cxn ang="T7">
                  <a:pos x="T2" y="T3"/>
                </a:cxn>
                <a:cxn ang="T8">
                  <a:pos x="T4" y="T5"/>
                </a:cxn>
              </a:cxnLst>
              <a:rect l="T9" t="T10" r="T11" b="T12"/>
              <a:pathLst>
                <a:path w="55" h="17">
                  <a:moveTo>
                    <a:pt x="55" y="17"/>
                  </a:moveTo>
                  <a:lnTo>
                    <a:pt x="0" y="17"/>
                  </a:lnTo>
                  <a:lnTo>
                    <a:pt x="0"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34" name="Freeform 33"/>
            <p:cNvSpPr>
              <a:spLocks/>
            </p:cNvSpPr>
            <p:nvPr/>
          </p:nvSpPr>
          <p:spPr bwMode="auto">
            <a:xfrm>
              <a:off x="3575" y="390"/>
              <a:ext cx="278" cy="158"/>
            </a:xfrm>
            <a:custGeom>
              <a:avLst/>
              <a:gdLst>
                <a:gd name="T0" fmla="*/ 0 w 30"/>
                <a:gd name="T1" fmla="*/ 0 h 17"/>
                <a:gd name="T2" fmla="*/ 278 w 30"/>
                <a:gd name="T3" fmla="*/ 0 h 17"/>
                <a:gd name="T4" fmla="*/ 278 w 30"/>
                <a:gd name="T5" fmla="*/ 158 h 17"/>
                <a:gd name="T6" fmla="*/ 0 60000 65536"/>
                <a:gd name="T7" fmla="*/ 0 60000 65536"/>
                <a:gd name="T8" fmla="*/ 0 60000 65536"/>
                <a:gd name="T9" fmla="*/ 0 w 30"/>
                <a:gd name="T10" fmla="*/ 0 h 17"/>
                <a:gd name="T11" fmla="*/ 30 w 30"/>
                <a:gd name="T12" fmla="*/ 17 h 17"/>
              </a:gdLst>
              <a:ahLst/>
              <a:cxnLst>
                <a:cxn ang="T6">
                  <a:pos x="T0" y="T1"/>
                </a:cxn>
                <a:cxn ang="T7">
                  <a:pos x="T2" y="T3"/>
                </a:cxn>
                <a:cxn ang="T8">
                  <a:pos x="T4" y="T5"/>
                </a:cxn>
              </a:cxnLst>
              <a:rect l="T9" t="T10" r="T11" b="T12"/>
              <a:pathLst>
                <a:path w="30" h="17">
                  <a:moveTo>
                    <a:pt x="0" y="0"/>
                  </a:moveTo>
                  <a:lnTo>
                    <a:pt x="30" y="0"/>
                  </a:lnTo>
                  <a:lnTo>
                    <a:pt x="30" y="17"/>
                  </a:lnTo>
                </a:path>
              </a:pathLst>
            </a:cu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35" name="Line 34"/>
            <p:cNvSpPr>
              <a:spLocks noChangeShapeType="1"/>
            </p:cNvSpPr>
            <p:nvPr/>
          </p:nvSpPr>
          <p:spPr bwMode="auto">
            <a:xfrm flipH="1">
              <a:off x="3937" y="632"/>
              <a:ext cx="270" cy="1"/>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36" name="Line 35"/>
            <p:cNvSpPr>
              <a:spLocks noChangeShapeType="1"/>
            </p:cNvSpPr>
            <p:nvPr/>
          </p:nvSpPr>
          <p:spPr bwMode="auto">
            <a:xfrm flipH="1">
              <a:off x="3835" y="4162"/>
              <a:ext cx="46" cy="5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37" name="Line 36"/>
            <p:cNvSpPr>
              <a:spLocks noChangeShapeType="1"/>
            </p:cNvSpPr>
            <p:nvPr/>
          </p:nvSpPr>
          <p:spPr bwMode="auto">
            <a:xfrm flipH="1" flipV="1">
              <a:off x="3835" y="4162"/>
              <a:ext cx="46" cy="5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38" name="Rectangle 37"/>
            <p:cNvSpPr>
              <a:spLocks noChangeArrowheads="1"/>
            </p:cNvSpPr>
            <p:nvPr/>
          </p:nvSpPr>
          <p:spPr bwMode="auto">
            <a:xfrm>
              <a:off x="3779" y="4106"/>
              <a:ext cx="158" cy="168"/>
            </a:xfrm>
            <a:prstGeom prst="rect">
              <a:avLst/>
            </a:prstGeom>
            <a:solidFill>
              <a:srgbClr val="B2FFFF"/>
            </a:solidFill>
            <a:ln w="0">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39" name="Rectangle 38"/>
            <p:cNvSpPr>
              <a:spLocks noChangeArrowheads="1"/>
            </p:cNvSpPr>
            <p:nvPr/>
          </p:nvSpPr>
          <p:spPr bwMode="auto">
            <a:xfrm>
              <a:off x="3779" y="4106"/>
              <a:ext cx="158" cy="168"/>
            </a:xfrm>
            <a:prstGeom prst="rect">
              <a:avLst/>
            </a:prstGeom>
            <a:noFill/>
            <a:ln w="14288">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40" name="Line 39"/>
            <p:cNvSpPr>
              <a:spLocks noChangeShapeType="1"/>
            </p:cNvSpPr>
            <p:nvPr/>
          </p:nvSpPr>
          <p:spPr bwMode="auto">
            <a:xfrm flipH="1" flipV="1">
              <a:off x="3835" y="4162"/>
              <a:ext cx="46" cy="5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41" name="Line 40"/>
            <p:cNvSpPr>
              <a:spLocks noChangeShapeType="1"/>
            </p:cNvSpPr>
            <p:nvPr/>
          </p:nvSpPr>
          <p:spPr bwMode="auto">
            <a:xfrm flipH="1">
              <a:off x="3835" y="4162"/>
              <a:ext cx="46" cy="5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42" name="Line 41"/>
            <p:cNvSpPr>
              <a:spLocks noChangeShapeType="1"/>
            </p:cNvSpPr>
            <p:nvPr/>
          </p:nvSpPr>
          <p:spPr bwMode="auto">
            <a:xfrm flipH="1">
              <a:off x="3835" y="1059"/>
              <a:ext cx="46" cy="47"/>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43" name="Line 42"/>
            <p:cNvSpPr>
              <a:spLocks noChangeShapeType="1"/>
            </p:cNvSpPr>
            <p:nvPr/>
          </p:nvSpPr>
          <p:spPr bwMode="auto">
            <a:xfrm flipH="1" flipV="1">
              <a:off x="3835" y="1059"/>
              <a:ext cx="46" cy="47"/>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44" name="Rectangle 43"/>
            <p:cNvSpPr>
              <a:spLocks noChangeArrowheads="1"/>
            </p:cNvSpPr>
            <p:nvPr/>
          </p:nvSpPr>
          <p:spPr bwMode="auto">
            <a:xfrm>
              <a:off x="3779" y="1003"/>
              <a:ext cx="158" cy="158"/>
            </a:xfrm>
            <a:prstGeom prst="rect">
              <a:avLst/>
            </a:prstGeom>
            <a:solidFill>
              <a:srgbClr val="B2FFFF"/>
            </a:solidFill>
            <a:ln w="0">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45" name="Rectangle 44"/>
            <p:cNvSpPr>
              <a:spLocks noChangeArrowheads="1"/>
            </p:cNvSpPr>
            <p:nvPr/>
          </p:nvSpPr>
          <p:spPr bwMode="auto">
            <a:xfrm>
              <a:off x="3779" y="1003"/>
              <a:ext cx="158" cy="158"/>
            </a:xfrm>
            <a:prstGeom prst="rect">
              <a:avLst/>
            </a:prstGeom>
            <a:noFill/>
            <a:ln w="14288">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46" name="Line 45"/>
            <p:cNvSpPr>
              <a:spLocks noChangeShapeType="1"/>
            </p:cNvSpPr>
            <p:nvPr/>
          </p:nvSpPr>
          <p:spPr bwMode="auto">
            <a:xfrm flipH="1" flipV="1">
              <a:off x="3835" y="1059"/>
              <a:ext cx="46" cy="47"/>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47" name="Line 46"/>
            <p:cNvSpPr>
              <a:spLocks noChangeShapeType="1"/>
            </p:cNvSpPr>
            <p:nvPr/>
          </p:nvSpPr>
          <p:spPr bwMode="auto">
            <a:xfrm flipH="1">
              <a:off x="3835" y="1059"/>
              <a:ext cx="46" cy="47"/>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48" name="Line 47"/>
            <p:cNvSpPr>
              <a:spLocks noChangeShapeType="1"/>
            </p:cNvSpPr>
            <p:nvPr/>
          </p:nvSpPr>
          <p:spPr bwMode="auto">
            <a:xfrm>
              <a:off x="3853" y="4274"/>
              <a:ext cx="1" cy="1"/>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49" name="Line 48"/>
            <p:cNvSpPr>
              <a:spLocks noChangeShapeType="1"/>
            </p:cNvSpPr>
            <p:nvPr/>
          </p:nvSpPr>
          <p:spPr bwMode="auto">
            <a:xfrm>
              <a:off x="3853" y="520"/>
              <a:ext cx="1" cy="1"/>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50" name="Rectangle 49"/>
            <p:cNvSpPr>
              <a:spLocks noChangeArrowheads="1"/>
            </p:cNvSpPr>
            <p:nvPr/>
          </p:nvSpPr>
          <p:spPr bwMode="auto">
            <a:xfrm>
              <a:off x="3472" y="2992"/>
              <a:ext cx="35"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B</a:t>
              </a:r>
              <a:endParaRPr lang="en-CA" sz="2400" b="1">
                <a:latin typeface="Times New Roman" pitchFamily="18" charset="0"/>
              </a:endParaRPr>
            </a:p>
          </p:txBody>
        </p:sp>
        <p:sp>
          <p:nvSpPr>
            <p:cNvPr id="51" name="Rectangle 50"/>
            <p:cNvSpPr>
              <a:spLocks noChangeArrowheads="1"/>
            </p:cNvSpPr>
            <p:nvPr/>
          </p:nvSpPr>
          <p:spPr bwMode="auto">
            <a:xfrm>
              <a:off x="3008" y="2992"/>
              <a:ext cx="35"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A</a:t>
              </a:r>
              <a:endParaRPr lang="en-CA" sz="2400" b="1">
                <a:latin typeface="Times New Roman" pitchFamily="18" charset="0"/>
              </a:endParaRPr>
            </a:p>
          </p:txBody>
        </p:sp>
        <p:sp>
          <p:nvSpPr>
            <p:cNvPr id="52" name="Rectangle 51"/>
            <p:cNvSpPr>
              <a:spLocks noChangeArrowheads="1"/>
            </p:cNvSpPr>
            <p:nvPr/>
          </p:nvSpPr>
          <p:spPr bwMode="auto">
            <a:xfrm>
              <a:off x="3240" y="3911"/>
              <a:ext cx="30"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Z</a:t>
              </a:r>
              <a:endParaRPr lang="en-CA" sz="2400" b="1">
                <a:latin typeface="Times New Roman" pitchFamily="18" charset="0"/>
              </a:endParaRPr>
            </a:p>
          </p:txBody>
        </p:sp>
        <p:sp>
          <p:nvSpPr>
            <p:cNvPr id="53" name="Rectangle 52"/>
            <p:cNvSpPr>
              <a:spLocks noChangeArrowheads="1"/>
            </p:cNvSpPr>
            <p:nvPr/>
          </p:nvSpPr>
          <p:spPr bwMode="auto">
            <a:xfrm>
              <a:off x="3184" y="3177"/>
              <a:ext cx="101"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ALU</a:t>
              </a:r>
              <a:endParaRPr lang="en-CA" sz="2400" b="1">
                <a:latin typeface="Times New Roman" pitchFamily="18" charset="0"/>
              </a:endParaRPr>
            </a:p>
          </p:txBody>
        </p:sp>
        <p:sp>
          <p:nvSpPr>
            <p:cNvPr id="54" name="Rectangle 53"/>
            <p:cNvSpPr>
              <a:spLocks noChangeArrowheads="1"/>
            </p:cNvSpPr>
            <p:nvPr/>
          </p:nvSpPr>
          <p:spPr bwMode="auto">
            <a:xfrm>
              <a:off x="2971" y="3893"/>
              <a:ext cx="594" cy="167"/>
            </a:xfrm>
            <a:prstGeom prst="rect">
              <a:avLst/>
            </a:prstGeom>
            <a:noFill/>
            <a:ln w="14288">
              <a:solidFill>
                <a:srgbClr val="000000"/>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55" name="Line 54"/>
            <p:cNvSpPr>
              <a:spLocks noChangeShapeType="1"/>
            </p:cNvSpPr>
            <p:nvPr/>
          </p:nvSpPr>
          <p:spPr bwMode="auto">
            <a:xfrm>
              <a:off x="3853" y="1709"/>
              <a:ext cx="1" cy="1"/>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56" name="Rectangle 55"/>
            <p:cNvSpPr>
              <a:spLocks noChangeArrowheads="1"/>
            </p:cNvSpPr>
            <p:nvPr/>
          </p:nvSpPr>
          <p:spPr bwMode="auto">
            <a:xfrm>
              <a:off x="2971" y="762"/>
              <a:ext cx="594" cy="158"/>
            </a:xfrm>
            <a:prstGeom prst="rect">
              <a:avLst/>
            </a:prstGeom>
            <a:noFill/>
            <a:ln w="14288">
              <a:solidFill>
                <a:srgbClr val="000000"/>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57" name="Rectangle 56"/>
            <p:cNvSpPr>
              <a:spLocks noChangeArrowheads="1"/>
            </p:cNvSpPr>
            <p:nvPr/>
          </p:nvSpPr>
          <p:spPr bwMode="auto">
            <a:xfrm>
              <a:off x="2971" y="1942"/>
              <a:ext cx="594" cy="158"/>
            </a:xfrm>
            <a:prstGeom prst="rect">
              <a:avLst/>
            </a:prstGeom>
            <a:noFill/>
            <a:ln w="14288">
              <a:solidFill>
                <a:srgbClr val="000000"/>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58" name="Line 57"/>
            <p:cNvSpPr>
              <a:spLocks noChangeShapeType="1"/>
            </p:cNvSpPr>
            <p:nvPr/>
          </p:nvSpPr>
          <p:spPr bwMode="auto">
            <a:xfrm flipH="1">
              <a:off x="3835" y="604"/>
              <a:ext cx="46" cy="5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59" name="Line 58"/>
            <p:cNvSpPr>
              <a:spLocks noChangeShapeType="1"/>
            </p:cNvSpPr>
            <p:nvPr/>
          </p:nvSpPr>
          <p:spPr bwMode="auto">
            <a:xfrm flipH="1" flipV="1">
              <a:off x="3835" y="604"/>
              <a:ext cx="46" cy="5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60" name="Rectangle 59"/>
            <p:cNvSpPr>
              <a:spLocks noChangeArrowheads="1"/>
            </p:cNvSpPr>
            <p:nvPr/>
          </p:nvSpPr>
          <p:spPr bwMode="auto">
            <a:xfrm>
              <a:off x="3779" y="548"/>
              <a:ext cx="158" cy="167"/>
            </a:xfrm>
            <a:prstGeom prst="rect">
              <a:avLst/>
            </a:prstGeom>
            <a:solidFill>
              <a:srgbClr val="B2FFFF"/>
            </a:solidFill>
            <a:ln w="0">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61" name="Rectangle 60"/>
            <p:cNvSpPr>
              <a:spLocks noChangeArrowheads="1"/>
            </p:cNvSpPr>
            <p:nvPr/>
          </p:nvSpPr>
          <p:spPr bwMode="auto">
            <a:xfrm>
              <a:off x="3779" y="548"/>
              <a:ext cx="158" cy="167"/>
            </a:xfrm>
            <a:prstGeom prst="rect">
              <a:avLst/>
            </a:prstGeom>
            <a:noFill/>
            <a:ln w="14288">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62" name="Line 61"/>
            <p:cNvSpPr>
              <a:spLocks noChangeShapeType="1"/>
            </p:cNvSpPr>
            <p:nvPr/>
          </p:nvSpPr>
          <p:spPr bwMode="auto">
            <a:xfrm flipH="1" flipV="1">
              <a:off x="3835" y="604"/>
              <a:ext cx="46" cy="5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63" name="Line 62"/>
            <p:cNvSpPr>
              <a:spLocks noChangeShapeType="1"/>
            </p:cNvSpPr>
            <p:nvPr/>
          </p:nvSpPr>
          <p:spPr bwMode="auto">
            <a:xfrm flipH="1">
              <a:off x="3835" y="604"/>
              <a:ext cx="46" cy="5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64" name="Line 63"/>
            <p:cNvSpPr>
              <a:spLocks noChangeShapeType="1"/>
            </p:cNvSpPr>
            <p:nvPr/>
          </p:nvSpPr>
          <p:spPr bwMode="auto">
            <a:xfrm flipH="1">
              <a:off x="3835" y="1728"/>
              <a:ext cx="46" cy="4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65" name="Line 64"/>
            <p:cNvSpPr>
              <a:spLocks noChangeShapeType="1"/>
            </p:cNvSpPr>
            <p:nvPr/>
          </p:nvSpPr>
          <p:spPr bwMode="auto">
            <a:xfrm flipH="1" flipV="1">
              <a:off x="3835" y="1728"/>
              <a:ext cx="46" cy="4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66" name="Rectangle 65"/>
            <p:cNvSpPr>
              <a:spLocks noChangeArrowheads="1"/>
            </p:cNvSpPr>
            <p:nvPr/>
          </p:nvSpPr>
          <p:spPr bwMode="auto">
            <a:xfrm>
              <a:off x="3779" y="1672"/>
              <a:ext cx="158" cy="158"/>
            </a:xfrm>
            <a:prstGeom prst="rect">
              <a:avLst/>
            </a:prstGeom>
            <a:solidFill>
              <a:srgbClr val="B2FFFF"/>
            </a:solidFill>
            <a:ln w="0">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67" name="Rectangle 66"/>
            <p:cNvSpPr>
              <a:spLocks noChangeArrowheads="1"/>
            </p:cNvSpPr>
            <p:nvPr/>
          </p:nvSpPr>
          <p:spPr bwMode="auto">
            <a:xfrm>
              <a:off x="3779" y="1672"/>
              <a:ext cx="158" cy="158"/>
            </a:xfrm>
            <a:prstGeom prst="rect">
              <a:avLst/>
            </a:prstGeom>
            <a:noFill/>
            <a:ln w="14288">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68" name="Line 67"/>
            <p:cNvSpPr>
              <a:spLocks noChangeShapeType="1"/>
            </p:cNvSpPr>
            <p:nvPr/>
          </p:nvSpPr>
          <p:spPr bwMode="auto">
            <a:xfrm flipH="1" flipV="1">
              <a:off x="3835" y="1728"/>
              <a:ext cx="46" cy="4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69" name="Line 68"/>
            <p:cNvSpPr>
              <a:spLocks noChangeShapeType="1"/>
            </p:cNvSpPr>
            <p:nvPr/>
          </p:nvSpPr>
          <p:spPr bwMode="auto">
            <a:xfrm flipH="1">
              <a:off x="3835" y="1728"/>
              <a:ext cx="46" cy="4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70" name="Line 69"/>
            <p:cNvSpPr>
              <a:spLocks noChangeShapeType="1"/>
            </p:cNvSpPr>
            <p:nvPr/>
          </p:nvSpPr>
          <p:spPr bwMode="auto">
            <a:xfrm flipH="1">
              <a:off x="3240" y="3633"/>
              <a:ext cx="56" cy="4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71" name="Line 70"/>
            <p:cNvSpPr>
              <a:spLocks noChangeShapeType="1"/>
            </p:cNvSpPr>
            <p:nvPr/>
          </p:nvSpPr>
          <p:spPr bwMode="auto">
            <a:xfrm flipH="1" flipV="1">
              <a:off x="3240" y="3633"/>
              <a:ext cx="56" cy="4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72" name="Rectangle 71"/>
            <p:cNvSpPr>
              <a:spLocks noChangeArrowheads="1"/>
            </p:cNvSpPr>
            <p:nvPr/>
          </p:nvSpPr>
          <p:spPr bwMode="auto">
            <a:xfrm>
              <a:off x="3184" y="3577"/>
              <a:ext cx="168" cy="158"/>
            </a:xfrm>
            <a:prstGeom prst="rect">
              <a:avLst/>
            </a:prstGeom>
            <a:solidFill>
              <a:srgbClr val="B2FFFF"/>
            </a:solidFill>
            <a:ln w="0">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73" name="Rectangle 72"/>
            <p:cNvSpPr>
              <a:spLocks noChangeArrowheads="1"/>
            </p:cNvSpPr>
            <p:nvPr/>
          </p:nvSpPr>
          <p:spPr bwMode="auto">
            <a:xfrm>
              <a:off x="3184" y="3577"/>
              <a:ext cx="168" cy="158"/>
            </a:xfrm>
            <a:prstGeom prst="rect">
              <a:avLst/>
            </a:prstGeom>
            <a:noFill/>
            <a:ln w="14288">
              <a:solidFill>
                <a:schemeClr val="tx1"/>
              </a:solidFill>
              <a:miter lim="800000"/>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74" name="Line 73"/>
            <p:cNvSpPr>
              <a:spLocks noChangeShapeType="1"/>
            </p:cNvSpPr>
            <p:nvPr/>
          </p:nvSpPr>
          <p:spPr bwMode="auto">
            <a:xfrm flipH="1" flipV="1">
              <a:off x="3240" y="3633"/>
              <a:ext cx="56" cy="4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75" name="Line 74"/>
            <p:cNvSpPr>
              <a:spLocks noChangeShapeType="1"/>
            </p:cNvSpPr>
            <p:nvPr/>
          </p:nvSpPr>
          <p:spPr bwMode="auto">
            <a:xfrm flipH="1">
              <a:off x="3240" y="3633"/>
              <a:ext cx="56" cy="46"/>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76" name="Rectangle 75"/>
            <p:cNvSpPr>
              <a:spLocks noChangeArrowheads="1"/>
            </p:cNvSpPr>
            <p:nvPr/>
          </p:nvSpPr>
          <p:spPr bwMode="auto">
            <a:xfrm>
              <a:off x="3407" y="1476"/>
              <a:ext cx="33"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latin typeface="Nimbus Roman No9 L" charset="0"/>
                </a:rPr>
                <a:t>Y</a:t>
              </a:r>
              <a:endParaRPr lang="en-CA" sz="2400" b="1">
                <a:latin typeface="Times New Roman" pitchFamily="18" charset="0"/>
              </a:endParaRPr>
            </a:p>
          </p:txBody>
        </p:sp>
        <p:sp>
          <p:nvSpPr>
            <p:cNvPr id="77" name="Rectangle 76"/>
            <p:cNvSpPr>
              <a:spLocks noChangeArrowheads="1"/>
            </p:cNvSpPr>
            <p:nvPr/>
          </p:nvSpPr>
          <p:spPr bwMode="auto">
            <a:xfrm>
              <a:off x="3463" y="1514"/>
              <a:ext cx="32" cy="85"/>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800" b="1" i="1">
                  <a:latin typeface="Nimbus Roman No9 L" charset="0"/>
                </a:rPr>
                <a:t>in</a:t>
              </a:r>
              <a:endParaRPr lang="en-CA" sz="2400" b="1">
                <a:latin typeface="Times New Roman" pitchFamily="18" charset="0"/>
              </a:endParaRPr>
            </a:p>
          </p:txBody>
        </p:sp>
        <p:sp>
          <p:nvSpPr>
            <p:cNvPr id="78" name="Rectangle 77"/>
            <p:cNvSpPr>
              <a:spLocks noChangeArrowheads="1"/>
            </p:cNvSpPr>
            <p:nvPr/>
          </p:nvSpPr>
          <p:spPr bwMode="auto">
            <a:xfrm>
              <a:off x="3240" y="1961"/>
              <a:ext cx="33"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Y</a:t>
              </a:r>
              <a:endParaRPr lang="en-CA" sz="2400" b="1">
                <a:latin typeface="Times New Roman" pitchFamily="18" charset="0"/>
              </a:endParaRPr>
            </a:p>
          </p:txBody>
        </p:sp>
        <p:sp>
          <p:nvSpPr>
            <p:cNvPr id="79" name="Rectangle 78"/>
            <p:cNvSpPr>
              <a:spLocks noChangeArrowheads="1"/>
            </p:cNvSpPr>
            <p:nvPr/>
          </p:nvSpPr>
          <p:spPr bwMode="auto">
            <a:xfrm>
              <a:off x="2878" y="3596"/>
              <a:ext cx="30"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latin typeface="Nimbus Roman No9 L" charset="0"/>
                </a:rPr>
                <a:t>Z</a:t>
              </a:r>
              <a:endParaRPr lang="en-CA" sz="2400" b="1">
                <a:latin typeface="Times New Roman" pitchFamily="18" charset="0"/>
              </a:endParaRPr>
            </a:p>
          </p:txBody>
        </p:sp>
        <p:sp>
          <p:nvSpPr>
            <p:cNvPr id="80" name="Rectangle 79"/>
            <p:cNvSpPr>
              <a:spLocks noChangeArrowheads="1"/>
            </p:cNvSpPr>
            <p:nvPr/>
          </p:nvSpPr>
          <p:spPr bwMode="auto">
            <a:xfrm>
              <a:off x="2933" y="3633"/>
              <a:ext cx="32" cy="85"/>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800" b="1" i="1">
                  <a:latin typeface="Nimbus Roman No9 L" charset="0"/>
                </a:rPr>
                <a:t>in</a:t>
              </a:r>
              <a:endParaRPr lang="en-CA" sz="2400" b="1">
                <a:latin typeface="Times New Roman" pitchFamily="18" charset="0"/>
              </a:endParaRPr>
            </a:p>
          </p:txBody>
        </p:sp>
        <p:sp>
          <p:nvSpPr>
            <p:cNvPr id="81" name="Rectangle 80"/>
            <p:cNvSpPr>
              <a:spLocks noChangeArrowheads="1"/>
            </p:cNvSpPr>
            <p:nvPr/>
          </p:nvSpPr>
          <p:spPr bwMode="auto">
            <a:xfrm>
              <a:off x="3379" y="4339"/>
              <a:ext cx="30"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latin typeface="Nimbus Roman No9 L" charset="0"/>
                </a:rPr>
                <a:t>Z</a:t>
              </a:r>
              <a:endParaRPr lang="en-CA" sz="2400" b="1">
                <a:latin typeface="Times New Roman" pitchFamily="18" charset="0"/>
              </a:endParaRPr>
            </a:p>
          </p:txBody>
        </p:sp>
        <p:sp>
          <p:nvSpPr>
            <p:cNvPr id="82" name="Rectangle 81"/>
            <p:cNvSpPr>
              <a:spLocks noChangeArrowheads="1"/>
            </p:cNvSpPr>
            <p:nvPr/>
          </p:nvSpPr>
          <p:spPr bwMode="auto">
            <a:xfrm>
              <a:off x="3435" y="4384"/>
              <a:ext cx="55" cy="85"/>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800" b="1" i="1">
                  <a:latin typeface="Nimbus Roman No9 L" charset="0"/>
                </a:rPr>
                <a:t>out</a:t>
              </a:r>
              <a:endParaRPr lang="en-CA" sz="2400" b="1">
                <a:latin typeface="Times New Roman" pitchFamily="18" charset="0"/>
              </a:endParaRPr>
            </a:p>
          </p:txBody>
        </p:sp>
        <p:sp>
          <p:nvSpPr>
            <p:cNvPr id="83" name="Rectangle 82"/>
            <p:cNvSpPr>
              <a:spLocks noChangeArrowheads="1"/>
            </p:cNvSpPr>
            <p:nvPr/>
          </p:nvSpPr>
          <p:spPr bwMode="auto">
            <a:xfrm>
              <a:off x="3389" y="314"/>
              <a:ext cx="35"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latin typeface="Nimbus Roman No9 L" charset="0"/>
                </a:rPr>
                <a:t>R</a:t>
              </a:r>
              <a:endParaRPr lang="en-CA" sz="2400" b="1">
                <a:latin typeface="Times New Roman" pitchFamily="18" charset="0"/>
              </a:endParaRPr>
            </a:p>
          </p:txBody>
        </p:sp>
        <p:sp>
          <p:nvSpPr>
            <p:cNvPr id="84" name="Rectangle 83"/>
            <p:cNvSpPr>
              <a:spLocks noChangeArrowheads="1"/>
            </p:cNvSpPr>
            <p:nvPr/>
          </p:nvSpPr>
          <p:spPr bwMode="auto">
            <a:xfrm>
              <a:off x="3445" y="314"/>
              <a:ext cx="13"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i="1">
                  <a:latin typeface="Nimbus Roman No9 L" charset="0"/>
                </a:rPr>
                <a:t>i</a:t>
              </a:r>
              <a:endParaRPr lang="en-CA" sz="2400" b="1">
                <a:latin typeface="Times New Roman" pitchFamily="18" charset="0"/>
              </a:endParaRPr>
            </a:p>
          </p:txBody>
        </p:sp>
        <p:sp>
          <p:nvSpPr>
            <p:cNvPr id="85" name="Rectangle 84"/>
            <p:cNvSpPr>
              <a:spLocks noChangeArrowheads="1"/>
            </p:cNvSpPr>
            <p:nvPr/>
          </p:nvSpPr>
          <p:spPr bwMode="auto">
            <a:xfrm>
              <a:off x="3463" y="362"/>
              <a:ext cx="32" cy="85"/>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800" b="1" i="1">
                  <a:latin typeface="Nimbus Roman No9 L" charset="0"/>
                </a:rPr>
                <a:t>in</a:t>
              </a:r>
              <a:endParaRPr lang="en-CA" sz="2400" b="1">
                <a:latin typeface="Times New Roman" pitchFamily="18" charset="0"/>
              </a:endParaRPr>
            </a:p>
          </p:txBody>
        </p:sp>
        <p:sp>
          <p:nvSpPr>
            <p:cNvPr id="86" name="Rectangle 85"/>
            <p:cNvSpPr>
              <a:spLocks noChangeArrowheads="1"/>
            </p:cNvSpPr>
            <p:nvPr/>
          </p:nvSpPr>
          <p:spPr bwMode="auto">
            <a:xfrm>
              <a:off x="3231" y="789"/>
              <a:ext cx="35"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R</a:t>
              </a:r>
              <a:endParaRPr lang="en-CA" sz="2400" b="1">
                <a:latin typeface="Times New Roman" pitchFamily="18" charset="0"/>
              </a:endParaRPr>
            </a:p>
          </p:txBody>
        </p:sp>
        <p:sp>
          <p:nvSpPr>
            <p:cNvPr id="87" name="Rectangle 86"/>
            <p:cNvSpPr>
              <a:spLocks noChangeArrowheads="1"/>
            </p:cNvSpPr>
            <p:nvPr/>
          </p:nvSpPr>
          <p:spPr bwMode="auto">
            <a:xfrm>
              <a:off x="3287" y="789"/>
              <a:ext cx="13"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i="1">
                  <a:solidFill>
                    <a:srgbClr val="000000"/>
                  </a:solidFill>
                  <a:latin typeface="Nimbus Roman No9 L" charset="0"/>
                </a:rPr>
                <a:t>i</a:t>
              </a:r>
              <a:endParaRPr lang="en-CA" sz="2400" b="1">
                <a:latin typeface="Times New Roman" pitchFamily="18" charset="0"/>
              </a:endParaRPr>
            </a:p>
          </p:txBody>
        </p:sp>
        <p:sp>
          <p:nvSpPr>
            <p:cNvPr id="88" name="Rectangle 87"/>
            <p:cNvSpPr>
              <a:spLocks noChangeArrowheads="1"/>
            </p:cNvSpPr>
            <p:nvPr/>
          </p:nvSpPr>
          <p:spPr bwMode="auto">
            <a:xfrm>
              <a:off x="3352" y="1226"/>
              <a:ext cx="35"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latin typeface="Nimbus Roman No9 L" charset="0"/>
                </a:rPr>
                <a:t>R</a:t>
              </a:r>
              <a:endParaRPr lang="en-CA" sz="2400" b="1">
                <a:latin typeface="Times New Roman" pitchFamily="18" charset="0"/>
              </a:endParaRPr>
            </a:p>
          </p:txBody>
        </p:sp>
        <p:sp>
          <p:nvSpPr>
            <p:cNvPr id="89" name="Rectangle 88"/>
            <p:cNvSpPr>
              <a:spLocks noChangeArrowheads="1"/>
            </p:cNvSpPr>
            <p:nvPr/>
          </p:nvSpPr>
          <p:spPr bwMode="auto">
            <a:xfrm>
              <a:off x="3407" y="1226"/>
              <a:ext cx="13"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i="1">
                  <a:latin typeface="Nimbus Roman No9 L" charset="0"/>
                </a:rPr>
                <a:t>i</a:t>
              </a:r>
              <a:endParaRPr lang="en-CA" sz="2400" b="1">
                <a:latin typeface="Times New Roman" pitchFamily="18" charset="0"/>
              </a:endParaRPr>
            </a:p>
          </p:txBody>
        </p:sp>
        <p:sp>
          <p:nvSpPr>
            <p:cNvPr id="90" name="Rectangle 89"/>
            <p:cNvSpPr>
              <a:spLocks noChangeArrowheads="1"/>
            </p:cNvSpPr>
            <p:nvPr/>
          </p:nvSpPr>
          <p:spPr bwMode="auto">
            <a:xfrm>
              <a:off x="3426" y="1263"/>
              <a:ext cx="55" cy="85"/>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800" b="1" i="1">
                  <a:latin typeface="Nimbus Roman No9 L" charset="0"/>
                </a:rPr>
                <a:t>out</a:t>
              </a:r>
              <a:endParaRPr lang="en-CA" sz="2400" b="1">
                <a:latin typeface="Times New Roman" pitchFamily="18" charset="0"/>
              </a:endParaRPr>
            </a:p>
          </p:txBody>
        </p:sp>
        <p:sp>
          <p:nvSpPr>
            <p:cNvPr id="91" name="Freeform 90"/>
            <p:cNvSpPr>
              <a:spLocks/>
            </p:cNvSpPr>
            <p:nvPr/>
          </p:nvSpPr>
          <p:spPr bwMode="auto">
            <a:xfrm>
              <a:off x="4179" y="279"/>
              <a:ext cx="121" cy="93"/>
            </a:xfrm>
            <a:custGeom>
              <a:avLst/>
              <a:gdLst>
                <a:gd name="T0" fmla="*/ 84 w 13"/>
                <a:gd name="T1" fmla="*/ 93 h 10"/>
                <a:gd name="T2" fmla="*/ 121 w 13"/>
                <a:gd name="T3" fmla="*/ 93 h 10"/>
                <a:gd name="T4" fmla="*/ 56 w 13"/>
                <a:gd name="T5" fmla="*/ 0 h 10"/>
                <a:gd name="T6" fmla="*/ 0 w 13"/>
                <a:gd name="T7" fmla="*/ 93 h 10"/>
                <a:gd name="T8" fmla="*/ 28 w 13"/>
                <a:gd name="T9" fmla="*/ 93 h 10"/>
                <a:gd name="T10" fmla="*/ 0 60000 65536"/>
                <a:gd name="T11" fmla="*/ 0 60000 65536"/>
                <a:gd name="T12" fmla="*/ 0 60000 65536"/>
                <a:gd name="T13" fmla="*/ 0 60000 65536"/>
                <a:gd name="T14" fmla="*/ 0 60000 65536"/>
                <a:gd name="T15" fmla="*/ 0 w 13"/>
                <a:gd name="T16" fmla="*/ 0 h 10"/>
                <a:gd name="T17" fmla="*/ 13 w 13"/>
                <a:gd name="T18" fmla="*/ 10 h 10"/>
              </a:gdLst>
              <a:ahLst/>
              <a:cxnLst>
                <a:cxn ang="T10">
                  <a:pos x="T0" y="T1"/>
                </a:cxn>
                <a:cxn ang="T11">
                  <a:pos x="T2" y="T3"/>
                </a:cxn>
                <a:cxn ang="T12">
                  <a:pos x="T4" y="T5"/>
                </a:cxn>
                <a:cxn ang="T13">
                  <a:pos x="T6" y="T7"/>
                </a:cxn>
                <a:cxn ang="T14">
                  <a:pos x="T8" y="T9"/>
                </a:cxn>
              </a:cxnLst>
              <a:rect l="T15" t="T16" r="T17" b="T18"/>
              <a:pathLst>
                <a:path w="13" h="10">
                  <a:moveTo>
                    <a:pt x="9" y="10"/>
                  </a:moveTo>
                  <a:lnTo>
                    <a:pt x="13" y="10"/>
                  </a:lnTo>
                  <a:lnTo>
                    <a:pt x="6" y="0"/>
                  </a:lnTo>
                  <a:lnTo>
                    <a:pt x="0" y="10"/>
                  </a:lnTo>
                  <a:lnTo>
                    <a:pt x="3" y="1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92" name="Line 91"/>
            <p:cNvSpPr>
              <a:spLocks noChangeShapeType="1"/>
            </p:cNvSpPr>
            <p:nvPr/>
          </p:nvSpPr>
          <p:spPr bwMode="auto">
            <a:xfrm flipV="1">
              <a:off x="4207" y="372"/>
              <a:ext cx="1" cy="4004"/>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93" name="Line 92"/>
            <p:cNvSpPr>
              <a:spLocks noChangeShapeType="1"/>
            </p:cNvSpPr>
            <p:nvPr/>
          </p:nvSpPr>
          <p:spPr bwMode="auto">
            <a:xfrm flipV="1">
              <a:off x="4272" y="372"/>
              <a:ext cx="1" cy="4004"/>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94" name="Freeform 93"/>
            <p:cNvSpPr>
              <a:spLocks/>
            </p:cNvSpPr>
            <p:nvPr/>
          </p:nvSpPr>
          <p:spPr bwMode="auto">
            <a:xfrm>
              <a:off x="4179" y="4376"/>
              <a:ext cx="121" cy="83"/>
            </a:xfrm>
            <a:custGeom>
              <a:avLst/>
              <a:gdLst>
                <a:gd name="T0" fmla="*/ 84 w 13"/>
                <a:gd name="T1" fmla="*/ 0 h 9"/>
                <a:gd name="T2" fmla="*/ 121 w 13"/>
                <a:gd name="T3" fmla="*/ 0 h 9"/>
                <a:gd name="T4" fmla="*/ 56 w 13"/>
                <a:gd name="T5" fmla="*/ 83 h 9"/>
                <a:gd name="T6" fmla="*/ 0 w 13"/>
                <a:gd name="T7" fmla="*/ 0 h 9"/>
                <a:gd name="T8" fmla="*/ 28 w 13"/>
                <a:gd name="T9" fmla="*/ 0 h 9"/>
                <a:gd name="T10" fmla="*/ 0 60000 65536"/>
                <a:gd name="T11" fmla="*/ 0 60000 65536"/>
                <a:gd name="T12" fmla="*/ 0 60000 65536"/>
                <a:gd name="T13" fmla="*/ 0 60000 65536"/>
                <a:gd name="T14" fmla="*/ 0 60000 65536"/>
                <a:gd name="T15" fmla="*/ 0 w 13"/>
                <a:gd name="T16" fmla="*/ 0 h 9"/>
                <a:gd name="T17" fmla="*/ 13 w 13"/>
                <a:gd name="T18" fmla="*/ 9 h 9"/>
              </a:gdLst>
              <a:ahLst/>
              <a:cxnLst>
                <a:cxn ang="T10">
                  <a:pos x="T0" y="T1"/>
                </a:cxn>
                <a:cxn ang="T11">
                  <a:pos x="T2" y="T3"/>
                </a:cxn>
                <a:cxn ang="T12">
                  <a:pos x="T4" y="T5"/>
                </a:cxn>
                <a:cxn ang="T13">
                  <a:pos x="T6" y="T7"/>
                </a:cxn>
                <a:cxn ang="T14">
                  <a:pos x="T8" y="T9"/>
                </a:cxn>
              </a:cxnLst>
              <a:rect l="T15" t="T16" r="T17" b="T18"/>
              <a:pathLst>
                <a:path w="13" h="9">
                  <a:moveTo>
                    <a:pt x="9" y="0"/>
                  </a:moveTo>
                  <a:lnTo>
                    <a:pt x="13" y="0"/>
                  </a:lnTo>
                  <a:lnTo>
                    <a:pt x="6" y="9"/>
                  </a:lnTo>
                  <a:lnTo>
                    <a:pt x="0" y="0"/>
                  </a:lnTo>
                  <a:lnTo>
                    <a:pt x="3"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95" name="Freeform 94"/>
            <p:cNvSpPr>
              <a:spLocks/>
            </p:cNvSpPr>
            <p:nvPr/>
          </p:nvSpPr>
          <p:spPr bwMode="auto">
            <a:xfrm>
              <a:off x="2850" y="2973"/>
              <a:ext cx="836" cy="418"/>
            </a:xfrm>
            <a:custGeom>
              <a:avLst/>
              <a:gdLst>
                <a:gd name="T0" fmla="*/ 418 w 90"/>
                <a:gd name="T1" fmla="*/ 46 h 45"/>
                <a:gd name="T2" fmla="*/ 372 w 90"/>
                <a:gd name="T3" fmla="*/ 0 h 45"/>
                <a:gd name="T4" fmla="*/ 0 w 90"/>
                <a:gd name="T5" fmla="*/ 0 h 45"/>
                <a:gd name="T6" fmla="*/ 139 w 90"/>
                <a:gd name="T7" fmla="*/ 418 h 45"/>
                <a:gd name="T8" fmla="*/ 697 w 90"/>
                <a:gd name="T9" fmla="*/ 418 h 45"/>
                <a:gd name="T10" fmla="*/ 836 w 90"/>
                <a:gd name="T11" fmla="*/ 0 h 45"/>
                <a:gd name="T12" fmla="*/ 464 w 90"/>
                <a:gd name="T13" fmla="*/ 0 h 45"/>
                <a:gd name="T14" fmla="*/ 418 w 90"/>
                <a:gd name="T15" fmla="*/ 46 h 45"/>
                <a:gd name="T16" fmla="*/ 0 60000 65536"/>
                <a:gd name="T17" fmla="*/ 0 60000 65536"/>
                <a:gd name="T18" fmla="*/ 0 60000 65536"/>
                <a:gd name="T19" fmla="*/ 0 60000 65536"/>
                <a:gd name="T20" fmla="*/ 0 60000 65536"/>
                <a:gd name="T21" fmla="*/ 0 60000 65536"/>
                <a:gd name="T22" fmla="*/ 0 60000 65536"/>
                <a:gd name="T23" fmla="*/ 0 60000 65536"/>
                <a:gd name="T24" fmla="*/ 0 w 90"/>
                <a:gd name="T25" fmla="*/ 0 h 45"/>
                <a:gd name="T26" fmla="*/ 90 w 90"/>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0" h="45">
                  <a:moveTo>
                    <a:pt x="45" y="5"/>
                  </a:moveTo>
                  <a:lnTo>
                    <a:pt x="40" y="0"/>
                  </a:lnTo>
                  <a:lnTo>
                    <a:pt x="0" y="0"/>
                  </a:lnTo>
                  <a:lnTo>
                    <a:pt x="15" y="45"/>
                  </a:lnTo>
                  <a:lnTo>
                    <a:pt x="75" y="45"/>
                  </a:lnTo>
                  <a:lnTo>
                    <a:pt x="90" y="0"/>
                  </a:lnTo>
                  <a:lnTo>
                    <a:pt x="50" y="0"/>
                  </a:lnTo>
                  <a:lnTo>
                    <a:pt x="45" y="5"/>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96" name="Rectangle 95"/>
            <p:cNvSpPr>
              <a:spLocks noChangeArrowheads="1"/>
            </p:cNvSpPr>
            <p:nvPr/>
          </p:nvSpPr>
          <p:spPr bwMode="auto">
            <a:xfrm>
              <a:off x="4188" y="102"/>
              <a:ext cx="30"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b</a:t>
              </a:r>
              <a:endParaRPr lang="en-CA" sz="2400" b="1">
                <a:latin typeface="Times New Roman" pitchFamily="18" charset="0"/>
              </a:endParaRPr>
            </a:p>
          </p:txBody>
        </p:sp>
        <p:sp>
          <p:nvSpPr>
            <p:cNvPr id="97" name="Rectangle 96"/>
            <p:cNvSpPr>
              <a:spLocks noChangeArrowheads="1"/>
            </p:cNvSpPr>
            <p:nvPr/>
          </p:nvSpPr>
          <p:spPr bwMode="auto">
            <a:xfrm>
              <a:off x="4225" y="102"/>
              <a:ext cx="57"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us</a:t>
              </a:r>
              <a:endParaRPr lang="en-CA" sz="2400" b="1">
                <a:latin typeface="Times New Roman" pitchFamily="18" charset="0"/>
              </a:endParaRPr>
            </a:p>
          </p:txBody>
        </p:sp>
        <p:sp>
          <p:nvSpPr>
            <p:cNvPr id="98" name="Rectangle 97"/>
            <p:cNvSpPr>
              <a:spLocks noChangeArrowheads="1"/>
            </p:cNvSpPr>
            <p:nvPr/>
          </p:nvSpPr>
          <p:spPr bwMode="auto">
            <a:xfrm>
              <a:off x="3937" y="0"/>
              <a:ext cx="424"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Internal processor</a:t>
              </a:r>
              <a:endParaRPr lang="en-CA" sz="2400" b="1">
                <a:latin typeface="Times New Roman" pitchFamily="18" charset="0"/>
              </a:endParaRPr>
            </a:p>
          </p:txBody>
        </p:sp>
        <p:sp>
          <p:nvSpPr>
            <p:cNvPr id="99" name="Rectangle 98"/>
            <p:cNvSpPr>
              <a:spLocks noChangeArrowheads="1"/>
            </p:cNvSpPr>
            <p:nvPr/>
          </p:nvSpPr>
          <p:spPr bwMode="auto">
            <a:xfrm>
              <a:off x="2655" y="2219"/>
              <a:ext cx="252"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solidFill>
                    <a:srgbClr val="000000"/>
                  </a:solidFill>
                  <a:latin typeface="Nimbus Roman No9 L" charset="0"/>
                </a:rPr>
                <a:t>Constant 4</a:t>
              </a:r>
              <a:endParaRPr lang="en-CA" sz="2400" b="1">
                <a:latin typeface="Times New Roman" pitchFamily="18" charset="0"/>
              </a:endParaRPr>
            </a:p>
          </p:txBody>
        </p:sp>
        <p:sp>
          <p:nvSpPr>
            <p:cNvPr id="100" name="Rectangle 99"/>
            <p:cNvSpPr>
              <a:spLocks noChangeArrowheads="1"/>
            </p:cNvSpPr>
            <p:nvPr/>
          </p:nvSpPr>
          <p:spPr bwMode="auto">
            <a:xfrm>
              <a:off x="2952" y="2583"/>
              <a:ext cx="108"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dirty="0">
                  <a:solidFill>
                    <a:srgbClr val="000000"/>
                  </a:solidFill>
                  <a:latin typeface="Nimbus Roman No9 L" charset="0"/>
                </a:rPr>
                <a:t>MUX</a:t>
              </a:r>
              <a:endParaRPr lang="en-CA" sz="2400" b="1" dirty="0">
                <a:latin typeface="Times New Roman" pitchFamily="18" charset="0"/>
              </a:endParaRPr>
            </a:p>
          </p:txBody>
        </p:sp>
        <p:sp>
          <p:nvSpPr>
            <p:cNvPr id="101" name="Line 101"/>
            <p:cNvSpPr>
              <a:spLocks noChangeShapeType="1"/>
            </p:cNvSpPr>
            <p:nvPr/>
          </p:nvSpPr>
          <p:spPr bwMode="auto">
            <a:xfrm>
              <a:off x="2543" y="2638"/>
              <a:ext cx="214" cy="1"/>
            </a:xfrm>
            <a:prstGeom prst="line">
              <a:avLst/>
            </a:prstGeom>
            <a:noFill/>
            <a:ln w="14288">
              <a:solidFill>
                <a:schemeClr val="tx1"/>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102" name="Rectangle 101"/>
            <p:cNvSpPr>
              <a:spLocks noChangeArrowheads="1"/>
            </p:cNvSpPr>
            <p:nvPr/>
          </p:nvSpPr>
          <p:spPr bwMode="auto">
            <a:xfrm>
              <a:off x="2301" y="2573"/>
              <a:ext cx="143" cy="117"/>
            </a:xfrm>
            <a:prstGeom prst="rect">
              <a:avLst/>
            </a:prstGeom>
            <a:noFill/>
            <a:ln w="9525">
              <a:noFill/>
              <a:miter lim="800000"/>
              <a:headEnd/>
              <a:tailEnd/>
            </a:ln>
          </p:spPr>
          <p:txBody>
            <a:bodyPr wrap="none" lIns="0" tIns="0"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CA" sz="1100" b="1">
                  <a:latin typeface="Nimbus Roman No9 L" charset="0"/>
                </a:rPr>
                <a:t>Select</a:t>
              </a:r>
              <a:endParaRPr lang="en-CA" sz="2400" b="1">
                <a:latin typeface="Times New Roman" pitchFamily="18" charset="0"/>
              </a:endParaRPr>
            </a:p>
          </p:txBody>
        </p:sp>
        <p:sp>
          <p:nvSpPr>
            <p:cNvPr id="103" name="Freeform 102"/>
            <p:cNvSpPr>
              <a:spLocks/>
            </p:cNvSpPr>
            <p:nvPr/>
          </p:nvSpPr>
          <p:spPr bwMode="auto">
            <a:xfrm>
              <a:off x="3036" y="2899"/>
              <a:ext cx="18" cy="65"/>
            </a:xfrm>
            <a:custGeom>
              <a:avLst/>
              <a:gdLst>
                <a:gd name="T0" fmla="*/ 0 w 2"/>
                <a:gd name="T1" fmla="*/ 0 h 7"/>
                <a:gd name="T2" fmla="*/ 9 w 2"/>
                <a:gd name="T3" fmla="*/ 65 h 7"/>
                <a:gd name="T4" fmla="*/ 18 w 2"/>
                <a:gd name="T5" fmla="*/ 0 h 7"/>
                <a:gd name="T6" fmla="*/ 9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04" name="Freeform 103"/>
            <p:cNvSpPr>
              <a:spLocks/>
            </p:cNvSpPr>
            <p:nvPr/>
          </p:nvSpPr>
          <p:spPr bwMode="auto">
            <a:xfrm>
              <a:off x="3036" y="2899"/>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05" name="Line 105"/>
            <p:cNvSpPr>
              <a:spLocks noChangeShapeType="1"/>
            </p:cNvSpPr>
            <p:nvPr/>
          </p:nvSpPr>
          <p:spPr bwMode="auto">
            <a:xfrm flipV="1">
              <a:off x="3045" y="2722"/>
              <a:ext cx="1" cy="177"/>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sp>
          <p:nvSpPr>
            <p:cNvPr id="106" name="Freeform 105"/>
            <p:cNvSpPr>
              <a:spLocks/>
            </p:cNvSpPr>
            <p:nvPr/>
          </p:nvSpPr>
          <p:spPr bwMode="auto">
            <a:xfrm>
              <a:off x="2710" y="2555"/>
              <a:ext cx="669" cy="167"/>
            </a:xfrm>
            <a:custGeom>
              <a:avLst/>
              <a:gdLst>
                <a:gd name="T0" fmla="*/ 84 w 72"/>
                <a:gd name="T1" fmla="*/ 167 h 18"/>
                <a:gd name="T2" fmla="*/ 585 w 72"/>
                <a:gd name="T3" fmla="*/ 167 h 18"/>
                <a:gd name="T4" fmla="*/ 669 w 72"/>
                <a:gd name="T5" fmla="*/ 0 h 18"/>
                <a:gd name="T6" fmla="*/ 0 w 72"/>
                <a:gd name="T7" fmla="*/ 0 h 18"/>
                <a:gd name="T8" fmla="*/ 84 w 72"/>
                <a:gd name="T9" fmla="*/ 167 h 18"/>
                <a:gd name="T10" fmla="*/ 0 60000 65536"/>
                <a:gd name="T11" fmla="*/ 0 60000 65536"/>
                <a:gd name="T12" fmla="*/ 0 60000 65536"/>
                <a:gd name="T13" fmla="*/ 0 60000 65536"/>
                <a:gd name="T14" fmla="*/ 0 60000 65536"/>
                <a:gd name="T15" fmla="*/ 0 w 72"/>
                <a:gd name="T16" fmla="*/ 0 h 18"/>
                <a:gd name="T17" fmla="*/ 72 w 72"/>
                <a:gd name="T18" fmla="*/ 18 h 18"/>
              </a:gdLst>
              <a:ahLst/>
              <a:cxnLst>
                <a:cxn ang="T10">
                  <a:pos x="T0" y="T1"/>
                </a:cxn>
                <a:cxn ang="T11">
                  <a:pos x="T2" y="T3"/>
                </a:cxn>
                <a:cxn ang="T12">
                  <a:pos x="T4" y="T5"/>
                </a:cxn>
                <a:cxn ang="T13">
                  <a:pos x="T6" y="T7"/>
                </a:cxn>
                <a:cxn ang="T14">
                  <a:pos x="T8" y="T9"/>
                </a:cxn>
              </a:cxnLst>
              <a:rect l="T15" t="T16" r="T17" b="T18"/>
              <a:pathLst>
                <a:path w="72" h="18">
                  <a:moveTo>
                    <a:pt x="9" y="18"/>
                  </a:moveTo>
                  <a:lnTo>
                    <a:pt x="63" y="18"/>
                  </a:lnTo>
                  <a:lnTo>
                    <a:pt x="72" y="0"/>
                  </a:lnTo>
                  <a:lnTo>
                    <a:pt x="0" y="0"/>
                  </a:lnTo>
                  <a:lnTo>
                    <a:pt x="9" y="18"/>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07" name="Freeform 106"/>
            <p:cNvSpPr>
              <a:spLocks/>
            </p:cNvSpPr>
            <p:nvPr/>
          </p:nvSpPr>
          <p:spPr bwMode="auto">
            <a:xfrm>
              <a:off x="2822" y="2481"/>
              <a:ext cx="18" cy="65"/>
            </a:xfrm>
            <a:custGeom>
              <a:avLst/>
              <a:gdLst>
                <a:gd name="T0" fmla="*/ 0 w 2"/>
                <a:gd name="T1" fmla="*/ 0 h 7"/>
                <a:gd name="T2" fmla="*/ 9 w 2"/>
                <a:gd name="T3" fmla="*/ 65 h 7"/>
                <a:gd name="T4" fmla="*/ 18 w 2"/>
                <a:gd name="T5" fmla="*/ 0 h 7"/>
                <a:gd name="T6" fmla="*/ 9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08" name="Freeform 107"/>
            <p:cNvSpPr>
              <a:spLocks/>
            </p:cNvSpPr>
            <p:nvPr/>
          </p:nvSpPr>
          <p:spPr bwMode="auto">
            <a:xfrm>
              <a:off x="2822" y="2481"/>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US" b="1"/>
            </a:p>
          </p:txBody>
        </p:sp>
        <p:sp>
          <p:nvSpPr>
            <p:cNvPr id="109" name="Line 109"/>
            <p:cNvSpPr>
              <a:spLocks noChangeShapeType="1"/>
            </p:cNvSpPr>
            <p:nvPr/>
          </p:nvSpPr>
          <p:spPr bwMode="auto">
            <a:xfrm flipV="1">
              <a:off x="2831" y="2388"/>
              <a:ext cx="1" cy="93"/>
            </a:xfrm>
            <a:prstGeom prst="line">
              <a:avLst/>
            </a:prstGeom>
            <a:noFill/>
            <a:ln w="14288">
              <a:solidFill>
                <a:srgbClr val="000000"/>
              </a:solidFill>
              <a:round/>
              <a:headEnd/>
              <a:tailEnd/>
            </a:ln>
          </p:spPr>
          <p:txBody>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endParaRPr lang="en-IN" b="1"/>
            </a:p>
          </p:txBody>
        </p:sp>
      </p:grpSp>
    </p:spTree>
    <p:extLst>
      <p:ext uri="{BB962C8B-B14F-4D97-AF65-F5344CB8AC3E}">
        <p14:creationId xmlns:p14="http://schemas.microsoft.com/office/powerpoint/2010/main" val="27825348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12</a:t>
            </a:fld>
            <a:endParaRPr lang="en-US" smtClean="0">
              <a:solidFill>
                <a:srgbClr val="FFFFFF"/>
              </a:solidFill>
              <a:latin typeface="Franklin Gothic Book" panose="020B0503020102020204" pitchFamily="34" charset="0"/>
            </a:endParaRPr>
          </a:p>
        </p:txBody>
      </p:sp>
      <p:sp>
        <p:nvSpPr>
          <p:cNvPr id="2" name="Rectangle 1"/>
          <p:cNvSpPr/>
          <p:nvPr/>
        </p:nvSpPr>
        <p:spPr>
          <a:xfrm>
            <a:off x="0" y="838200"/>
            <a:ext cx="9144000" cy="5355312"/>
          </a:xfrm>
          <a:prstGeom prst="rect">
            <a:avLst/>
          </a:prstGeom>
        </p:spPr>
        <p:txBody>
          <a:bodyPr wrap="square">
            <a:spAutoFit/>
          </a:bodyPr>
          <a:lstStyle/>
          <a:p>
            <a:pPr marL="0" marR="0" algn="just">
              <a:lnSpc>
                <a:spcPct val="150000"/>
              </a:lnSpc>
              <a:spcBef>
                <a:spcPts val="0"/>
              </a:spcBef>
              <a:spcAft>
                <a:spcPts val="0"/>
              </a:spcAft>
            </a:pPr>
            <a:r>
              <a:rPr lang="en-IN" b="1" i="1" u="sng" dirty="0">
                <a:solidFill>
                  <a:srgbClr val="002060"/>
                </a:solidFill>
                <a:latin typeface="Comic Sans MS" panose="030F0702030302020204" pitchFamily="66" charset="0"/>
                <a:ea typeface="Calibri" panose="020F0502020204030204" pitchFamily="34" charset="0"/>
                <a:cs typeface="Times New Roman" panose="02020603050405020304" pitchFamily="18" charset="0"/>
              </a:rPr>
              <a:t>Instruction execution involves a sequence of steps in which data are transferred from one register to another.</a:t>
            </a:r>
            <a:endParaRPr lang="en-US" sz="1600" dirty="0">
              <a:solidFill>
                <a:srgbClr val="002060"/>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For each register two control signals are used to place the contents of that register on the bus or to load the data on the bus into register.(symbolically represented in above figure)</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input and output of register </a:t>
            </a:r>
            <a:r>
              <a:rPr lang="en-US"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R</a:t>
            </a:r>
            <a:r>
              <a:rPr lang="en-US"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i</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are connected to the bus via switches controlled by the signals </a:t>
            </a:r>
            <a:r>
              <a:rPr lang="en-US"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Ri</a:t>
            </a:r>
            <a:r>
              <a:rPr lang="en-US"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in</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and </a:t>
            </a:r>
            <a:r>
              <a:rPr lang="en-US"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Ri</a:t>
            </a:r>
            <a:r>
              <a:rPr lang="en-US"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out</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respectively.</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When </a:t>
            </a:r>
            <a:r>
              <a:rPr lang="en-US"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Ri</a:t>
            </a:r>
            <a:r>
              <a:rPr lang="en-US"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in</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is set to 1, the data on the bus are loaded into </a:t>
            </a:r>
            <a:r>
              <a:rPr lang="en-US"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R</a:t>
            </a:r>
            <a:r>
              <a:rPr lang="en-US"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i</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Similarly, when </a:t>
            </a:r>
            <a:r>
              <a:rPr lang="en-US"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Ri</a:t>
            </a:r>
            <a:r>
              <a:rPr lang="en-US"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out</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is set to 1, the contents of register </a:t>
            </a:r>
            <a:r>
              <a:rPr lang="en-US"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R</a:t>
            </a:r>
            <a:r>
              <a:rPr lang="en-US"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i</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are placed on the bus.</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61571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13</a:t>
            </a:fld>
            <a:endParaRPr lang="en-US" smtClean="0">
              <a:solidFill>
                <a:srgbClr val="FFFFFF"/>
              </a:solidFill>
              <a:latin typeface="Franklin Gothic Book" panose="020B0503020102020204" pitchFamily="34" charset="0"/>
            </a:endParaRPr>
          </a:p>
        </p:txBody>
      </p:sp>
      <p:sp>
        <p:nvSpPr>
          <p:cNvPr id="2" name="Rectangle 1"/>
          <p:cNvSpPr/>
          <p:nvPr/>
        </p:nvSpPr>
        <p:spPr>
          <a:xfrm>
            <a:off x="0" y="985269"/>
            <a:ext cx="9067800" cy="4805931"/>
          </a:xfrm>
          <a:prstGeom prst="rect">
            <a:avLst/>
          </a:prstGeom>
        </p:spPr>
        <p:txBody>
          <a:bodyPr wrap="square">
            <a:spAutoFit/>
          </a:bodyPr>
          <a:lstStyle/>
          <a:p>
            <a:pPr marL="228600" marR="0" algn="just">
              <a:lnSpc>
                <a:spcPct val="115000"/>
              </a:lnSpc>
              <a:spcBef>
                <a:spcPts val="0"/>
              </a:spcBef>
              <a:spcAft>
                <a:spcPts val="0"/>
              </a:spcAft>
            </a:pPr>
            <a:r>
              <a:rPr lang="en-US"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marR="0" indent="228600">
              <a:lnSpc>
                <a:spcPct val="150000"/>
              </a:lnSpc>
              <a:spcBef>
                <a:spcPts val="0"/>
              </a:spcBef>
              <a:spcAft>
                <a:spcPts val="0"/>
              </a:spcAft>
            </a:pP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Example: </a:t>
            </a:r>
            <a:r>
              <a:rPr lang="en-US"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ADD R1, R2, R3</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ALU is a combinational circuit that has no internal storage.</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ALU gets the two operands from MUX and bus. The result is temporarily stored in register Z.</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sequence of operations to add the contents of register R1 to those of R2 and store the result in R3 is shown below:</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0"/>
              </a:spcAft>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15000"/>
              </a:lnSpc>
              <a:spcBef>
                <a:spcPts val="0"/>
              </a:spcBef>
              <a:spcAft>
                <a:spcPts val="0"/>
              </a:spcAft>
            </a:pPr>
            <a:r>
              <a:rPr lang="en-US" b="1"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CONTROL SEQUENCE</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0"/>
              </a:spcAft>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R1</a:t>
            </a:r>
            <a:r>
              <a:rPr lang="en-US" sz="2000" baseline="-25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out</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Y</a:t>
            </a:r>
            <a:r>
              <a:rPr lang="en-US" sz="2000" baseline="-25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R2</a:t>
            </a:r>
            <a:r>
              <a:rPr lang="en-US" sz="2000" baseline="-25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out</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SelectY</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Add, </a:t>
            </a:r>
            <a:r>
              <a:rPr lang="en-US" sz="20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Z</a:t>
            </a:r>
            <a:r>
              <a:rPr lang="en-US" sz="2000" baseline="-250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in</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Z</a:t>
            </a:r>
            <a:r>
              <a:rPr lang="en-US" sz="2000" baseline="-250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out</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R3</a:t>
            </a:r>
            <a:r>
              <a:rPr lang="en-US" sz="2000" baseline="-25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a:t>
            </a:r>
            <a:endPar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160002" y="255839"/>
            <a:ext cx="8488698" cy="490199"/>
          </a:xfrm>
          <a:prstGeom prst="rect">
            <a:avLst/>
          </a:prstGeom>
        </p:spPr>
        <p:txBody>
          <a:bodyPr wrap="square">
            <a:spAutoFit/>
          </a:bodyPr>
          <a:lstStyle/>
          <a:p>
            <a:pPr marR="0" lvl="0" algn="just">
              <a:lnSpc>
                <a:spcPct val="115000"/>
              </a:lnSpc>
              <a:spcBef>
                <a:spcPts val="0"/>
              </a:spcBef>
              <a:spcAft>
                <a:spcPts val="0"/>
              </a:spcAft>
            </a:pPr>
            <a:r>
              <a:rPr lang="en-US" sz="2400" b="1" u="sng"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2. PERFORM </a:t>
            </a:r>
            <a:r>
              <a:rPr lang="en-US" sz="24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AN ARITHMETIC OR LOGIC OPERATION</a:t>
            </a:r>
            <a:endPar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993495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09600" y="228600"/>
            <a:ext cx="8229600" cy="6324600"/>
          </a:xfrm>
          <a:prstGeom prst="rect">
            <a:avLst/>
          </a:prstGeom>
        </p:spPr>
      </p:pic>
    </p:spTree>
    <p:extLst>
      <p:ext uri="{BB962C8B-B14F-4D97-AF65-F5344CB8AC3E}">
        <p14:creationId xmlns:p14="http://schemas.microsoft.com/office/powerpoint/2010/main" val="40657901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15</a:t>
            </a:fld>
            <a:endParaRPr lang="en-US" smtClean="0">
              <a:solidFill>
                <a:srgbClr val="FFFFFF"/>
              </a:solidFill>
              <a:latin typeface="Franklin Gothic Book" panose="020B0503020102020204" pitchFamily="34" charset="0"/>
            </a:endParaRPr>
          </a:p>
        </p:txBody>
      </p:sp>
      <p:sp>
        <p:nvSpPr>
          <p:cNvPr id="2" name="Rectangle 1"/>
          <p:cNvSpPr/>
          <p:nvPr/>
        </p:nvSpPr>
        <p:spPr>
          <a:xfrm>
            <a:off x="357478" y="152400"/>
            <a:ext cx="8176922" cy="830997"/>
          </a:xfrm>
          <a:prstGeom prst="rect">
            <a:avLst/>
          </a:prstGeom>
        </p:spPr>
        <p:txBody>
          <a:bodyPr wrap="square">
            <a:spAutoFit/>
          </a:bodyPr>
          <a:lstStyle/>
          <a:p>
            <a:pPr marR="0" lvl="0">
              <a:lnSpc>
                <a:spcPct val="150000"/>
              </a:lnSpc>
              <a:spcBef>
                <a:spcPts val="0"/>
              </a:spcBef>
              <a:spcAft>
                <a:spcPts val="1000"/>
              </a:spcAft>
            </a:pPr>
            <a:r>
              <a:rPr lang="en-US" sz="3200" b="1" u="sng" dirty="0" smtClean="0">
                <a:latin typeface="Times New Roman" panose="02020603050405020304" pitchFamily="18" charset="0"/>
                <a:ea typeface="Calibri" panose="020F0502020204030204" pitchFamily="34" charset="0"/>
                <a:cs typeface="Times New Roman" panose="02020603050405020304" pitchFamily="18" charset="0"/>
              </a:rPr>
              <a:t>3. F</a:t>
            </a:r>
            <a:r>
              <a:rPr lang="en-US" sz="2800" b="1" u="sng" dirty="0" smtClean="0">
                <a:latin typeface="Times New Roman" panose="02020603050405020304" pitchFamily="18" charset="0"/>
                <a:ea typeface="Calibri" panose="020F0502020204030204" pitchFamily="34" charset="0"/>
                <a:cs typeface="Times New Roman" panose="02020603050405020304" pitchFamily="18" charset="0"/>
              </a:rPr>
              <a:t>ETCHING </a:t>
            </a:r>
            <a:r>
              <a:rPr lang="en-US" sz="2800" b="1" u="sng" dirty="0">
                <a:latin typeface="Times New Roman" panose="02020603050405020304" pitchFamily="18" charset="0"/>
                <a:ea typeface="Calibri" panose="020F0502020204030204" pitchFamily="34" charset="0"/>
                <a:cs typeface="Times New Roman" panose="02020603050405020304" pitchFamily="18" charset="0"/>
              </a:rPr>
              <a:t>A WORD FROM MEMORY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949152" y="1219200"/>
            <a:ext cx="4548040" cy="483017"/>
          </a:xfrm>
          <a:prstGeom prst="rect">
            <a:avLst/>
          </a:prstGeom>
        </p:spPr>
        <p:txBody>
          <a:bodyPr wrap="none">
            <a:spAutoFit/>
          </a:bodyPr>
          <a:lstStyle/>
          <a:p>
            <a:pPr marL="914400" marR="0" indent="457200" algn="just">
              <a:lnSpc>
                <a:spcPct val="115000"/>
              </a:lnSpc>
              <a:spcBef>
                <a:spcPts val="0"/>
              </a:spcBef>
              <a:spcAft>
                <a:spcPts val="0"/>
              </a:spcAft>
            </a:pP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Example: </a:t>
            </a:r>
            <a:r>
              <a:rPr lang="en-IN"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Move</a:t>
            </a:r>
            <a:r>
              <a:rPr lang="en-IN"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(R1), R2</a:t>
            </a:r>
            <a:endParaRPr lang="en-US"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0" y="1877806"/>
            <a:ext cx="8648700" cy="3046988"/>
          </a:xfrm>
          <a:prstGeom prst="rect">
            <a:avLst/>
          </a:prstGeom>
        </p:spPr>
        <p:txBody>
          <a:bodyPr wrap="square">
            <a:spAutoFit/>
          </a:bodyPr>
          <a:lstStyle/>
          <a:p>
            <a:pPr marL="0" marR="0" indent="457200">
              <a:lnSpc>
                <a:spcPct val="150000"/>
              </a:lnSpc>
              <a:spcBef>
                <a:spcPts val="0"/>
              </a:spcBef>
              <a:spcAft>
                <a:spcPts val="0"/>
              </a:spcAft>
            </a:pPr>
            <a:r>
              <a:rPr lang="en-IN" b="1" i="1"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actions needed to execute this instruction are:</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1143000" marR="0" indent="228600">
              <a:lnSpc>
                <a:spcPct val="150000"/>
              </a:lnSpc>
              <a:spcBef>
                <a:spcPts val="0"/>
              </a:spcBef>
              <a:spcAft>
                <a:spcPts val="0"/>
              </a:spcAft>
            </a:pPr>
            <a:r>
              <a:rPr lang="en-US"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MAR </a:t>
            </a: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[R1]</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Start a Read operation on the memory bus</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Wait for the </a:t>
            </a:r>
            <a:r>
              <a:rPr lang="en-US"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MFC(Memory Function Completed) </a:t>
            </a: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response from the memory</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Load MDR from the memory bus</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R2 </a:t>
            </a: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[MDR]</a:t>
            </a:r>
            <a:endPar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666755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16</a:t>
            </a:fld>
            <a:endParaRPr lang="en-US" smtClean="0">
              <a:solidFill>
                <a:srgbClr val="FFFFFF"/>
              </a:solidFill>
              <a:latin typeface="Franklin Gothic Book" panose="020B0503020102020204" pitchFamily="34" charset="0"/>
            </a:endParaRPr>
          </a:p>
        </p:txBody>
      </p:sp>
      <p:pic>
        <p:nvPicPr>
          <p:cNvPr id="4" name="Picture 3"/>
          <p:cNvPicPr/>
          <p:nvPr/>
        </p:nvPicPr>
        <p:blipFill>
          <a:blip r:embed="rId2"/>
          <a:srcRect/>
          <a:stretch>
            <a:fillRect/>
          </a:stretch>
        </p:blipFill>
        <p:spPr bwMode="auto">
          <a:xfrm>
            <a:off x="603250" y="1371600"/>
            <a:ext cx="8045449" cy="3886200"/>
          </a:xfrm>
          <a:prstGeom prst="rect">
            <a:avLst/>
          </a:prstGeom>
          <a:noFill/>
          <a:ln w="9525">
            <a:noFill/>
            <a:miter lim="800000"/>
            <a:headEnd/>
            <a:tailEnd/>
          </a:ln>
        </p:spPr>
      </p:pic>
      <p:sp>
        <p:nvSpPr>
          <p:cNvPr id="2" name="Rectangle 1"/>
          <p:cNvSpPr/>
          <p:nvPr/>
        </p:nvSpPr>
        <p:spPr>
          <a:xfrm>
            <a:off x="76200" y="391924"/>
            <a:ext cx="9144000" cy="446276"/>
          </a:xfrm>
          <a:prstGeom prst="rect">
            <a:avLst/>
          </a:prstGeom>
        </p:spPr>
        <p:txBody>
          <a:bodyPr wrap="square">
            <a:spAutoFit/>
          </a:bodyPr>
          <a:lstStyle/>
          <a:p>
            <a:r>
              <a:rPr lang="en-IN" sz="2300" b="1" u="sng" dirty="0">
                <a:latin typeface="Times New Roman" panose="02020603050405020304" pitchFamily="18" charset="0"/>
                <a:ea typeface="Calibri" panose="020F0502020204030204" pitchFamily="34" charset="0"/>
              </a:rPr>
              <a:t>The connections and control signals for register MDR is shown below:</a:t>
            </a:r>
            <a:endParaRPr lang="en-US" sz="2300" dirty="0"/>
          </a:p>
        </p:txBody>
      </p:sp>
      <p:sp>
        <p:nvSpPr>
          <p:cNvPr id="3" name="Rectangle 2"/>
          <p:cNvSpPr/>
          <p:nvPr/>
        </p:nvSpPr>
        <p:spPr>
          <a:xfrm>
            <a:off x="2689592" y="5227918"/>
            <a:ext cx="3764813" cy="410882"/>
          </a:xfrm>
          <a:prstGeom prst="rect">
            <a:avLst/>
          </a:prstGeom>
        </p:spPr>
        <p:txBody>
          <a:bodyPr wrap="none">
            <a:spAutoFit/>
          </a:bodyPr>
          <a:lstStyle/>
          <a:p>
            <a:pPr marL="0" marR="0" algn="ctr">
              <a:lnSpc>
                <a:spcPct val="115000"/>
              </a:lnSpc>
              <a:spcBef>
                <a:spcPts val="0"/>
              </a:spcBef>
              <a:spcAft>
                <a:spcPts val="1000"/>
              </a:spcAft>
            </a:pPr>
            <a:r>
              <a:rPr lang="en-IN" b="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Figure:</a:t>
            </a:r>
            <a:r>
              <a:rPr lang="en-IN" dirty="0" smtClean="0">
                <a:latin typeface="Times New Roman" panose="02020603050405020304" pitchFamily="18" charset="0"/>
                <a:ea typeface="Calibri" panose="020F0502020204030204" pitchFamily="34" charset="0"/>
                <a:cs typeface="Times New Roman" panose="02020603050405020304" pitchFamily="18" charset="0"/>
              </a:rPr>
              <a:t> </a:t>
            </a:r>
            <a:r>
              <a:rPr lang="en-IN" dirty="0">
                <a:latin typeface="Times New Roman" panose="02020603050405020304" pitchFamily="18" charset="0"/>
                <a:ea typeface="Calibri" panose="020F0502020204030204" pitchFamily="34" charset="0"/>
                <a:cs typeface="Times New Roman" panose="02020603050405020304" pitchFamily="18" charset="0"/>
              </a:rPr>
              <a:t>Connections for register MDR</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60071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17</a:t>
            </a:fld>
            <a:endParaRPr lang="en-US" smtClean="0">
              <a:solidFill>
                <a:srgbClr val="FFFFFF"/>
              </a:solidFill>
              <a:latin typeface="Franklin Gothic Book" panose="020B0503020102020204" pitchFamily="34" charset="0"/>
            </a:endParaRPr>
          </a:p>
        </p:txBody>
      </p:sp>
      <p:sp>
        <p:nvSpPr>
          <p:cNvPr id="2" name="Rectangle 1"/>
          <p:cNvSpPr/>
          <p:nvPr/>
        </p:nvSpPr>
        <p:spPr>
          <a:xfrm>
            <a:off x="110191" y="1629583"/>
            <a:ext cx="4919009" cy="2932085"/>
          </a:xfrm>
          <a:prstGeom prst="rect">
            <a:avLst/>
          </a:prstGeom>
        </p:spPr>
        <p:txBody>
          <a:bodyPr wrap="square">
            <a:spAutoFit/>
          </a:bodyPr>
          <a:lstStyle/>
          <a:p>
            <a:pPr marL="0" marR="0">
              <a:lnSpc>
                <a:spcPct val="115000"/>
              </a:lnSpc>
              <a:spcBef>
                <a:spcPts val="0"/>
              </a:spcBef>
              <a:spcAft>
                <a:spcPts val="1000"/>
              </a:spcAft>
            </a:pPr>
            <a:r>
              <a:rPr lang="en-IN" sz="2800" b="1"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CONTROL SEQUENCE</a:t>
            </a:r>
            <a:endPar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mj-lt"/>
              <a:buAutoNum type="arabicPeriod"/>
            </a:pPr>
            <a:r>
              <a:rPr lang="en-US" sz="3200" dirty="0">
                <a:latin typeface="Times New Roman" panose="02020603050405020304" pitchFamily="18" charset="0"/>
                <a:ea typeface="Calibri" panose="020F0502020204030204" pitchFamily="34" charset="0"/>
                <a:cs typeface="Times New Roman" panose="02020603050405020304" pitchFamily="18" charset="0"/>
              </a:rPr>
              <a:t>R1</a:t>
            </a:r>
            <a:r>
              <a:rPr lang="en-US" sz="3200" baseline="-25000" dirty="0">
                <a:latin typeface="Times New Roman" panose="02020603050405020304" pitchFamily="18" charset="0"/>
                <a:ea typeface="Calibri" panose="020F0502020204030204" pitchFamily="34" charset="0"/>
                <a:cs typeface="Times New Roman" panose="02020603050405020304" pitchFamily="18" charset="0"/>
              </a:rPr>
              <a:t>out</a:t>
            </a:r>
            <a:r>
              <a:rPr lang="en-US" sz="3200" dirty="0">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latin typeface="Times New Roman" panose="02020603050405020304" pitchFamily="18" charset="0"/>
                <a:ea typeface="Calibri" panose="020F0502020204030204" pitchFamily="34" charset="0"/>
                <a:cs typeface="Times New Roman" panose="02020603050405020304" pitchFamily="18" charset="0"/>
              </a:rPr>
              <a:t>MAR</a:t>
            </a:r>
            <a:r>
              <a:rPr lang="en-US" sz="3200" baseline="-25000" dirty="0" err="1">
                <a:latin typeface="Times New Roman" panose="02020603050405020304" pitchFamily="18" charset="0"/>
                <a:ea typeface="Calibri" panose="020F0502020204030204" pitchFamily="34" charset="0"/>
                <a:cs typeface="Times New Roman" panose="02020603050405020304" pitchFamily="18" charset="0"/>
              </a:rPr>
              <a:t>in</a:t>
            </a:r>
            <a:r>
              <a:rPr lang="en-US" sz="3200" dirty="0">
                <a:latin typeface="Times New Roman" panose="02020603050405020304" pitchFamily="18" charset="0"/>
                <a:ea typeface="Calibri" panose="020F0502020204030204" pitchFamily="34" charset="0"/>
                <a:cs typeface="Times New Roman" panose="02020603050405020304" pitchFamily="18" charset="0"/>
              </a:rPr>
              <a:t>, Read</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mj-lt"/>
              <a:buAutoNum type="arabicPeriod"/>
            </a:pPr>
            <a:r>
              <a:rPr lang="en-US" sz="3200" dirty="0" err="1">
                <a:latin typeface="Times New Roman" panose="02020603050405020304" pitchFamily="18" charset="0"/>
                <a:ea typeface="Calibri" panose="020F0502020204030204" pitchFamily="34" charset="0"/>
                <a:cs typeface="Times New Roman" panose="02020603050405020304" pitchFamily="18" charset="0"/>
              </a:rPr>
              <a:t>MDR</a:t>
            </a:r>
            <a:r>
              <a:rPr lang="en-US" sz="3200" baseline="-25000" dirty="0" err="1">
                <a:latin typeface="Times New Roman" panose="02020603050405020304" pitchFamily="18" charset="0"/>
                <a:ea typeface="Calibri" panose="020F0502020204030204" pitchFamily="34" charset="0"/>
                <a:cs typeface="Times New Roman" panose="02020603050405020304" pitchFamily="18" charset="0"/>
              </a:rPr>
              <a:t>inE</a:t>
            </a:r>
            <a:r>
              <a:rPr lang="en-US" sz="3200" dirty="0">
                <a:latin typeface="Times New Roman" panose="02020603050405020304" pitchFamily="18" charset="0"/>
                <a:ea typeface="Calibri" panose="020F0502020204030204" pitchFamily="34" charset="0"/>
                <a:cs typeface="Times New Roman" panose="02020603050405020304" pitchFamily="18" charset="0"/>
              </a:rPr>
              <a:t>, WMFC</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mj-lt"/>
              <a:buAutoNum type="arabicPeriod"/>
            </a:pPr>
            <a:r>
              <a:rPr lang="en-US" sz="3200" dirty="0" err="1">
                <a:latin typeface="Times New Roman" panose="02020603050405020304" pitchFamily="18" charset="0"/>
                <a:ea typeface="Calibri" panose="020F0502020204030204" pitchFamily="34" charset="0"/>
                <a:cs typeface="Times New Roman" panose="02020603050405020304" pitchFamily="18" charset="0"/>
              </a:rPr>
              <a:t>MDR</a:t>
            </a:r>
            <a:r>
              <a:rPr lang="en-US" sz="3200" baseline="-25000" dirty="0" err="1">
                <a:latin typeface="Times New Roman" panose="02020603050405020304" pitchFamily="18" charset="0"/>
                <a:ea typeface="Calibri" panose="020F0502020204030204" pitchFamily="34" charset="0"/>
                <a:cs typeface="Times New Roman" panose="02020603050405020304" pitchFamily="18" charset="0"/>
              </a:rPr>
              <a:t>out</a:t>
            </a:r>
            <a:r>
              <a:rPr lang="en-US" sz="3200" dirty="0">
                <a:latin typeface="Times New Roman" panose="02020603050405020304" pitchFamily="18" charset="0"/>
                <a:ea typeface="Calibri" panose="020F0502020204030204" pitchFamily="34" charset="0"/>
                <a:cs typeface="Times New Roman" panose="02020603050405020304" pitchFamily="18" charset="0"/>
              </a:rPr>
              <a:t>,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R2</a:t>
            </a:r>
            <a:r>
              <a:rPr lang="en-US" sz="3200" baseline="-25000" dirty="0" smtClean="0">
                <a:latin typeface="Times New Roman" panose="02020603050405020304" pitchFamily="18" charset="0"/>
                <a:ea typeface="Calibri" panose="020F0502020204030204" pitchFamily="34" charset="0"/>
                <a:cs typeface="Times New Roman" panose="02020603050405020304" pitchFamily="18" charset="0"/>
              </a:rPr>
              <a:t>in`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rcRect/>
          <a:stretch>
            <a:fillRect/>
          </a:stretch>
        </p:blipFill>
        <p:spPr bwMode="auto">
          <a:xfrm>
            <a:off x="4401670" y="0"/>
            <a:ext cx="4724401" cy="6934200"/>
          </a:xfrm>
          <a:prstGeom prst="rect">
            <a:avLst/>
          </a:prstGeom>
          <a:noFill/>
          <a:ln w="9525">
            <a:noFill/>
            <a:miter lim="800000"/>
            <a:headEnd/>
            <a:tailEnd/>
          </a:ln>
        </p:spPr>
      </p:pic>
    </p:spTree>
    <p:extLst>
      <p:ext uri="{BB962C8B-B14F-4D97-AF65-F5344CB8AC3E}">
        <p14:creationId xmlns:p14="http://schemas.microsoft.com/office/powerpoint/2010/main" val="33368403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09600" y="228600"/>
            <a:ext cx="8001000" cy="6324600"/>
          </a:xfrm>
          <a:prstGeom prst="rect">
            <a:avLst/>
          </a:prstGeom>
        </p:spPr>
      </p:pic>
    </p:spTree>
    <p:extLst>
      <p:ext uri="{BB962C8B-B14F-4D97-AF65-F5344CB8AC3E}">
        <p14:creationId xmlns:p14="http://schemas.microsoft.com/office/powerpoint/2010/main" val="8534953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19</a:t>
            </a:fld>
            <a:endParaRPr lang="en-US" smtClean="0">
              <a:solidFill>
                <a:srgbClr val="FFFFFF"/>
              </a:solidFill>
              <a:latin typeface="Franklin Gothic Book" panose="020B0503020102020204" pitchFamily="34" charset="0"/>
            </a:endParaRPr>
          </a:p>
        </p:txBody>
      </p:sp>
      <p:sp>
        <p:nvSpPr>
          <p:cNvPr id="2" name="Rectangle 1"/>
          <p:cNvSpPr/>
          <p:nvPr/>
        </p:nvSpPr>
        <p:spPr>
          <a:xfrm>
            <a:off x="0" y="1116204"/>
            <a:ext cx="9150350" cy="4499180"/>
          </a:xfrm>
          <a:prstGeom prst="rect">
            <a:avLst/>
          </a:prstGeom>
        </p:spPr>
        <p:txBody>
          <a:bodyPr wrap="square">
            <a:spAutoFit/>
          </a:bodyPr>
          <a:lstStyle/>
          <a:p>
            <a:pPr marL="914400" marR="0" indent="457200" algn="just">
              <a:lnSpc>
                <a:spcPct val="115000"/>
              </a:lnSpc>
              <a:spcBef>
                <a:spcPts val="0"/>
              </a:spcBef>
              <a:spcAft>
                <a:spcPts val="0"/>
              </a:spcAft>
            </a:pPr>
            <a:r>
              <a:rPr lang="en-IN" sz="2000"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Example</a:t>
            </a:r>
            <a:r>
              <a:rPr lang="en-IN" sz="20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t>
            </a:r>
            <a:r>
              <a:rPr lang="en-IN" sz="2000"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Move</a:t>
            </a:r>
            <a:r>
              <a:rPr lang="en-IN"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R2, (R1)</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914400" marR="0" indent="457200" algn="just">
              <a:lnSpc>
                <a:spcPct val="115000"/>
              </a:lnSpc>
              <a:spcBef>
                <a:spcPts val="0"/>
              </a:spcBef>
              <a:spcAft>
                <a:spcPts val="0"/>
              </a:spcAft>
            </a:pPr>
            <a:r>
              <a:rPr lang="en-IN"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Writing a word into a memory location </a:t>
            </a:r>
            <a:endPar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R="0" lvl="0" algn="just">
              <a:spcBef>
                <a:spcPts val="0"/>
              </a:spcBef>
              <a:spcAft>
                <a:spcPts val="0"/>
              </a:spcAft>
            </a:pP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     follows a </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similar procedure.</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desired address is loaded into MAR.</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Then, the data to be written are </a:t>
            </a: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loaded</a:t>
            </a:r>
          </a:p>
          <a:p>
            <a:pPr marR="0" lvl="0" algn="just">
              <a:spcBef>
                <a:spcPts val="0"/>
              </a:spcBef>
              <a:spcAft>
                <a:spcPts val="0"/>
              </a:spcAft>
            </a:pP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      </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into MDR, and a write command is issued.</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IN" sz="2000" b="1" u="sng"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IN" sz="2000" b="1" u="sng"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CONTROL </a:t>
            </a:r>
            <a:r>
              <a:rPr lang="en-IN" sz="2000" b="1" u="sng"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SEQUENCE</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R1</a:t>
            </a:r>
            <a:r>
              <a:rPr lang="en-US" sz="2000" baseline="-250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out</a:t>
            </a:r>
            <a:r>
              <a:rPr lang="en-US" sz="20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t>
            </a:r>
            <a:r>
              <a:rPr lang="en-US" sz="2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MAR</a:t>
            </a:r>
            <a:r>
              <a:rPr lang="en-US" sz="2000"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in</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R2</a:t>
            </a:r>
            <a:r>
              <a:rPr lang="en-US" sz="2000" baseline="-250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out</a:t>
            </a:r>
            <a:r>
              <a:rPr lang="en-US" sz="20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t>
            </a:r>
            <a:r>
              <a:rPr lang="en-US" sz="2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MDR</a:t>
            </a:r>
            <a:r>
              <a:rPr lang="en-US" sz="2000"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in</a:t>
            </a:r>
            <a:r>
              <a:rPr lang="en-US" sz="20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Write</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MDR</a:t>
            </a:r>
            <a:r>
              <a:rPr lang="en-US" sz="2000" baseline="-25000"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outE</a:t>
            </a:r>
            <a:r>
              <a:rPr lang="en-US" sz="2000"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WMFC</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3" name="Rectangle 2"/>
          <p:cNvSpPr/>
          <p:nvPr/>
        </p:nvSpPr>
        <p:spPr>
          <a:xfrm>
            <a:off x="457200" y="76200"/>
            <a:ext cx="8686800" cy="923330"/>
          </a:xfrm>
          <a:prstGeom prst="rect">
            <a:avLst/>
          </a:prstGeom>
        </p:spPr>
        <p:txBody>
          <a:bodyPr wrap="square">
            <a:spAutoFit/>
          </a:bodyPr>
          <a:lstStyle/>
          <a:p>
            <a:pPr marR="0" lvl="0">
              <a:lnSpc>
                <a:spcPct val="150000"/>
              </a:lnSpc>
              <a:spcBef>
                <a:spcPts val="0"/>
              </a:spcBef>
              <a:spcAft>
                <a:spcPts val="1000"/>
              </a:spcAft>
            </a:pPr>
            <a:r>
              <a:rPr lang="en-US" sz="3600" b="1" u="sng"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4. STORING </a:t>
            </a:r>
            <a:r>
              <a:rPr lang="en-US" sz="3200" b="1" u="sng"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 WORD </a:t>
            </a:r>
            <a:r>
              <a:rPr lang="en-US" sz="3200" b="1" u="sng"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Into </a:t>
            </a: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MEMORY</a:t>
            </a:r>
            <a:endParaRPr lang="en-US" sz="28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p:nvPr/>
        </p:nvPicPr>
        <p:blipFill>
          <a:blip r:embed="rId2"/>
          <a:srcRect/>
          <a:stretch>
            <a:fillRect/>
          </a:stretch>
        </p:blipFill>
        <p:spPr bwMode="auto">
          <a:xfrm>
            <a:off x="4883149" y="152400"/>
            <a:ext cx="4267201" cy="6850487"/>
          </a:xfrm>
          <a:prstGeom prst="rect">
            <a:avLst/>
          </a:prstGeom>
          <a:noFill/>
          <a:ln w="9525">
            <a:noFill/>
            <a:miter lim="800000"/>
            <a:headEnd/>
            <a:tailEnd/>
          </a:ln>
        </p:spPr>
      </p:pic>
    </p:spTree>
    <p:extLst>
      <p:ext uri="{BB962C8B-B14F-4D97-AF65-F5344CB8AC3E}">
        <p14:creationId xmlns:p14="http://schemas.microsoft.com/office/powerpoint/2010/main" val="40733439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393700"/>
            <a:ext cx="3135474" cy="372603"/>
          </a:xfrm>
        </p:spPr>
        <p:txBody>
          <a:bodyPr/>
          <a:lstStyle/>
          <a:p>
            <a:r>
              <a:rPr lang="en-US" dirty="0" smtClean="0"/>
              <a:t>Storing into memory</a:t>
            </a:r>
            <a:endParaRPr lang="en-US" dirty="0"/>
          </a:p>
        </p:txBody>
      </p:sp>
      <p:pic>
        <p:nvPicPr>
          <p:cNvPr id="4" name="Picture 3"/>
          <p:cNvPicPr>
            <a:picLocks noChangeAspect="1"/>
          </p:cNvPicPr>
          <p:nvPr/>
        </p:nvPicPr>
        <p:blipFill>
          <a:blip r:embed="rId2"/>
          <a:stretch>
            <a:fillRect/>
          </a:stretch>
        </p:blipFill>
        <p:spPr>
          <a:xfrm>
            <a:off x="609600" y="1219200"/>
            <a:ext cx="7924800" cy="5181600"/>
          </a:xfrm>
          <a:prstGeom prst="rect">
            <a:avLst/>
          </a:prstGeom>
        </p:spPr>
      </p:pic>
    </p:spTree>
    <p:extLst>
      <p:ext uri="{BB962C8B-B14F-4D97-AF65-F5344CB8AC3E}">
        <p14:creationId xmlns:p14="http://schemas.microsoft.com/office/powerpoint/2010/main" val="10637378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21</a:t>
            </a:fld>
            <a:endParaRPr lang="en-US" smtClean="0">
              <a:solidFill>
                <a:srgbClr val="FFFFFF"/>
              </a:solidFill>
              <a:latin typeface="Franklin Gothic Book" panose="020B0503020102020204" pitchFamily="34" charset="0"/>
            </a:endParaRPr>
          </a:p>
        </p:txBody>
      </p:sp>
      <p:sp>
        <p:nvSpPr>
          <p:cNvPr id="2" name="Rectangle 1"/>
          <p:cNvSpPr/>
          <p:nvPr/>
        </p:nvSpPr>
        <p:spPr>
          <a:xfrm>
            <a:off x="0" y="1022896"/>
            <a:ext cx="9144000" cy="4539704"/>
          </a:xfrm>
          <a:prstGeom prst="rect">
            <a:avLst/>
          </a:prstGeom>
        </p:spPr>
        <p:txBody>
          <a:bodyPr wrap="square">
            <a:spAutoFit/>
          </a:bodyPr>
          <a:lstStyle/>
          <a:p>
            <a:pPr marL="0" marR="0" indent="228600" algn="just">
              <a:lnSpc>
                <a:spcPct val="150000"/>
              </a:lnSpc>
              <a:spcBef>
                <a:spcPts val="0"/>
              </a:spcBef>
              <a:spcAft>
                <a:spcPts val="0"/>
              </a:spcAft>
            </a:pPr>
            <a:r>
              <a:rPr lang="en-IN"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Let us now put together the sequence of elementary operations required to execute one instruction.</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Blip>
                <a:blip r:embed="rId2"/>
              </a:buBlip>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Consider the instruction</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1371600" marR="0" indent="457200" algn="just">
              <a:lnSpc>
                <a:spcPct val="115000"/>
              </a:lnSpc>
              <a:spcBef>
                <a:spcPts val="0"/>
              </a:spcBef>
              <a:spcAft>
                <a:spcPts val="0"/>
              </a:spcAft>
            </a:pPr>
            <a:r>
              <a:rPr lang="en-US" sz="2000"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ADD (R3), R1</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1371600" marR="0" indent="457200" algn="just">
              <a:lnSpc>
                <a:spcPct val="115000"/>
              </a:lnSpc>
              <a:spcBef>
                <a:spcPts val="0"/>
              </a:spcBef>
              <a:spcAft>
                <a:spcPts val="0"/>
              </a:spcAft>
            </a:pPr>
            <a:r>
              <a:rPr lang="en-US" sz="2000"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IN"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which adds the contents of memory location provided by R3 to register R1. Executing this instruction requires the following actions:</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Fetch the instruction.</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Fetch the first operand (the contents of the memory location pointed to by R3).</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Perform the addition.</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mj-lt"/>
              <a:buAutoNum type="arabicPeriod"/>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Load the result into R1.</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3" name="Rectangle 2"/>
          <p:cNvSpPr/>
          <p:nvPr/>
        </p:nvSpPr>
        <p:spPr>
          <a:xfrm>
            <a:off x="76200" y="397335"/>
            <a:ext cx="8763000" cy="517065"/>
          </a:xfrm>
          <a:prstGeom prst="rect">
            <a:avLst/>
          </a:prstGeom>
        </p:spPr>
        <p:txBody>
          <a:bodyPr wrap="square">
            <a:spAutoFit/>
          </a:bodyPr>
          <a:lstStyle/>
          <a:p>
            <a:pPr marL="342900" marR="0" lvl="0" indent="-342900" algn="just">
              <a:lnSpc>
                <a:spcPct val="115000"/>
              </a:lnSpc>
              <a:spcBef>
                <a:spcPts val="0"/>
              </a:spcBef>
              <a:spcAft>
                <a:spcPts val="0"/>
              </a:spcAft>
              <a:buFont typeface="Symbol" panose="05050102010706020507" pitchFamily="18" charset="2"/>
              <a:buBlip>
                <a:blip r:embed="rId3"/>
              </a:buBlip>
            </a:pPr>
            <a:r>
              <a:rPr lang="en-US" sz="2400" b="1" u="sng" dirty="0">
                <a:latin typeface="Times New Roman" panose="02020603050405020304" pitchFamily="18" charset="0"/>
                <a:ea typeface="Calibri" panose="020F0502020204030204" pitchFamily="34" charset="0"/>
                <a:cs typeface="Times New Roman" panose="02020603050405020304" pitchFamily="18" charset="0"/>
              </a:rPr>
              <a:t>EXECUTION OF A COMPLETE INSTRUCTION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921726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22</a:t>
            </a:fld>
            <a:endParaRPr lang="en-US" smtClean="0">
              <a:solidFill>
                <a:srgbClr val="FFFFFF"/>
              </a:solidFill>
              <a:latin typeface="Franklin Gothic Book" panose="020B0503020102020204" pitchFamily="34" charset="0"/>
            </a:endParaRPr>
          </a:p>
        </p:txBody>
      </p:sp>
      <p:pic>
        <p:nvPicPr>
          <p:cNvPr id="4" name="Picture 3"/>
          <p:cNvPicPr/>
          <p:nvPr/>
        </p:nvPicPr>
        <p:blipFill>
          <a:blip r:embed="rId2"/>
          <a:srcRect/>
          <a:stretch>
            <a:fillRect/>
          </a:stretch>
        </p:blipFill>
        <p:spPr bwMode="auto">
          <a:xfrm>
            <a:off x="-1143000" y="1936097"/>
            <a:ext cx="5791200" cy="3509962"/>
          </a:xfrm>
          <a:prstGeom prst="rect">
            <a:avLst/>
          </a:prstGeom>
          <a:noFill/>
          <a:ln w="9525">
            <a:noFill/>
            <a:miter lim="800000"/>
            <a:headEnd/>
            <a:tailEnd/>
          </a:ln>
        </p:spPr>
      </p:pic>
      <p:sp>
        <p:nvSpPr>
          <p:cNvPr id="3" name="TextBox 2"/>
          <p:cNvSpPr txBox="1"/>
          <p:nvPr/>
        </p:nvSpPr>
        <p:spPr>
          <a:xfrm>
            <a:off x="152400" y="302239"/>
            <a:ext cx="5105400" cy="707886"/>
          </a:xfrm>
          <a:prstGeom prst="rect">
            <a:avLst/>
          </a:prstGeom>
          <a:noFill/>
        </p:spPr>
        <p:txBody>
          <a:bodyPr wrap="square" rtlCol="0">
            <a:spAutoFit/>
          </a:bodyPr>
          <a:lstStyle/>
          <a:p>
            <a:r>
              <a:rPr lang="en-US" sz="4000" dirty="0" smtClean="0">
                <a:latin typeface="Comic Sans MS" panose="030F0702030302020204" pitchFamily="66" charset="0"/>
              </a:rPr>
              <a:t>Control Sequence</a:t>
            </a:r>
            <a:endParaRPr lang="en-US" sz="4000" dirty="0">
              <a:latin typeface="Comic Sans MS" panose="030F0702030302020204" pitchFamily="66" charset="0"/>
            </a:endParaRPr>
          </a:p>
        </p:txBody>
      </p:sp>
      <p:pic>
        <p:nvPicPr>
          <p:cNvPr id="7" name="Picture 6"/>
          <p:cNvPicPr/>
          <p:nvPr/>
        </p:nvPicPr>
        <p:blipFill>
          <a:blip r:embed="rId3"/>
          <a:srcRect/>
          <a:stretch>
            <a:fillRect/>
          </a:stretch>
        </p:blipFill>
        <p:spPr bwMode="auto">
          <a:xfrm>
            <a:off x="5029200" y="7724"/>
            <a:ext cx="3886201" cy="6934200"/>
          </a:xfrm>
          <a:prstGeom prst="rect">
            <a:avLst/>
          </a:prstGeom>
          <a:noFill/>
          <a:ln w="9525">
            <a:noFill/>
            <a:miter lim="800000"/>
            <a:headEnd/>
            <a:tailEnd/>
          </a:ln>
        </p:spPr>
      </p:pic>
      <p:sp>
        <p:nvSpPr>
          <p:cNvPr id="6" name="TextBox 5"/>
          <p:cNvSpPr txBox="1"/>
          <p:nvPr/>
        </p:nvSpPr>
        <p:spPr>
          <a:xfrm>
            <a:off x="580838" y="1230811"/>
            <a:ext cx="3663950" cy="646331"/>
          </a:xfrm>
          <a:prstGeom prst="rect">
            <a:avLst/>
          </a:prstGeom>
          <a:noFill/>
        </p:spPr>
        <p:txBody>
          <a:bodyPr wrap="square" rtlCol="0">
            <a:spAutoFit/>
          </a:bodyPr>
          <a:lstStyle/>
          <a:p>
            <a:r>
              <a:rPr lang="en-US"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ADD (R3), R1</a:t>
            </a:r>
            <a:endParaRPr lang="en-US" sz="14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763800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23</a:t>
            </a:fld>
            <a:endParaRPr lang="en-US" smtClean="0">
              <a:solidFill>
                <a:srgbClr val="FFFFFF"/>
              </a:solidFill>
              <a:latin typeface="Franklin Gothic Book" panose="020B0503020102020204" pitchFamily="34" charset="0"/>
            </a:endParaRPr>
          </a:p>
        </p:txBody>
      </p:sp>
      <p:sp>
        <p:nvSpPr>
          <p:cNvPr id="2" name="Rectangle 1"/>
          <p:cNvSpPr/>
          <p:nvPr/>
        </p:nvSpPr>
        <p:spPr>
          <a:xfrm>
            <a:off x="-228600" y="0"/>
            <a:ext cx="7696200" cy="954107"/>
          </a:xfrm>
          <a:prstGeom prst="rect">
            <a:avLst/>
          </a:prstGeom>
        </p:spPr>
        <p:txBody>
          <a:bodyPr wrap="square">
            <a:spAutoFit/>
          </a:bodyPr>
          <a:lstStyle/>
          <a:p>
            <a:pPr marL="457200" marR="0" indent="457200" algn="just">
              <a:lnSpc>
                <a:spcPct val="200000"/>
              </a:lnSpc>
              <a:spcBef>
                <a:spcPts val="0"/>
              </a:spcBef>
              <a:spcAft>
                <a:spcPts val="1000"/>
              </a:spcAft>
            </a:pPr>
            <a:r>
              <a:rPr lang="en-US" sz="2800" b="1" i="1" u="sng" dirty="0">
                <a:latin typeface="Times New Roman" panose="02020603050405020304" pitchFamily="18" charset="0"/>
                <a:ea typeface="Calibri" panose="020F0502020204030204" pitchFamily="34" charset="0"/>
                <a:cs typeface="Times New Roman" panose="02020603050405020304" pitchFamily="18" charset="0"/>
              </a:rPr>
              <a:t>Instruction execution proceeds as follows: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0" y="1035859"/>
            <a:ext cx="9144000" cy="4755341"/>
          </a:xfrm>
          <a:prstGeom prst="rect">
            <a:avLst/>
          </a:prstGeom>
        </p:spPr>
        <p:txBody>
          <a:bodyPr wrap="square">
            <a:spAutoFit/>
          </a:bodyPr>
          <a:lstStyle/>
          <a:p>
            <a:pPr marL="457200" marR="0" algn="just">
              <a:lnSpc>
                <a:spcPct val="200000"/>
              </a:lnSpc>
              <a:spcBef>
                <a:spcPts val="1200"/>
              </a:spcBef>
              <a:spcAft>
                <a:spcPts val="0"/>
              </a:spcAft>
            </a:pPr>
            <a:r>
              <a:rPr lang="en-US" b="1" i="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t>
            </a:r>
            <a:r>
              <a:rPr lang="en-US" b="1" dirty="0">
                <a:solidFill>
                  <a:srgbClr val="002060"/>
                </a:solidFill>
                <a:latin typeface="Comic Sans MS" panose="030F0702030302020204" pitchFamily="66" charset="0"/>
                <a:ea typeface="Calibri" panose="020F0502020204030204" pitchFamily="34" charset="0"/>
                <a:cs typeface="Times New Roman" panose="02020603050405020304" pitchFamily="18" charset="0"/>
              </a:rPr>
              <a:t>	</a:t>
            </a:r>
            <a:r>
              <a:rPr lang="en-US" b="1" u="sng" dirty="0">
                <a:solidFill>
                  <a:srgbClr val="002060"/>
                </a:solidFill>
                <a:latin typeface="Comic Sans MS" panose="030F0702030302020204" pitchFamily="66" charset="0"/>
                <a:ea typeface="Calibri" panose="020F0502020204030204" pitchFamily="34" charset="0"/>
                <a:cs typeface="Times New Roman" panose="02020603050405020304" pitchFamily="18" charset="0"/>
              </a:rPr>
              <a:t>FETCH PHASE</a:t>
            </a:r>
            <a:endParaRPr lang="en-US" sz="1600" dirty="0">
              <a:solidFill>
                <a:srgbClr val="002060"/>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In step 1 instruction fetch operation is initiated by loading the contents of the PC into the MAR and sending a read request to the memory.</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select signal is set to select the constant4.</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This value is added to the operand at input B, which is the contents of the PC, and the result is stored in register Z.</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updated value is moved from register Z back into the PC during step 2, while waiting for the memory to respond.</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In step 3, the word fetched from the memory is loaded into the IR.</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b="1" dirty="0">
                <a:solidFill>
                  <a:srgbClr val="FF0000"/>
                </a:solidFill>
                <a:latin typeface="Comic Sans MS" panose="030F0702030302020204" pitchFamily="66" charset="0"/>
                <a:ea typeface="Calibri" panose="020F0502020204030204" pitchFamily="34" charset="0"/>
                <a:cs typeface="Times New Roman" panose="02020603050405020304" pitchFamily="18" charset="0"/>
              </a:rPr>
              <a:t>Steps 1 to 3 constitute the instruction fetch phase, which is the same for all instructions.</a:t>
            </a:r>
            <a:endParaRPr lang="en-US" sz="1600" b="1" dirty="0">
              <a:solidFill>
                <a:srgbClr val="FF0000"/>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37895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24</a:t>
            </a:fld>
            <a:endParaRPr lang="en-US" smtClean="0">
              <a:solidFill>
                <a:srgbClr val="FFFFFF"/>
              </a:solidFill>
              <a:latin typeface="Franklin Gothic Book" panose="020B0503020102020204" pitchFamily="34" charset="0"/>
            </a:endParaRPr>
          </a:p>
        </p:txBody>
      </p:sp>
      <p:sp>
        <p:nvSpPr>
          <p:cNvPr id="2" name="Rectangle 1"/>
          <p:cNvSpPr/>
          <p:nvPr/>
        </p:nvSpPr>
        <p:spPr>
          <a:xfrm>
            <a:off x="0" y="914400"/>
            <a:ext cx="9144000" cy="5447838"/>
          </a:xfrm>
          <a:prstGeom prst="rect">
            <a:avLst/>
          </a:prstGeom>
        </p:spPr>
        <p:txBody>
          <a:bodyPr wrap="square">
            <a:spAutoFit/>
          </a:bodyPr>
          <a:lstStyle/>
          <a:p>
            <a:pPr marL="2057400" marR="0" indent="228600">
              <a:lnSpc>
                <a:spcPct val="150000"/>
              </a:lnSpc>
              <a:spcBef>
                <a:spcPts val="0"/>
              </a:spcBef>
              <a:spcAft>
                <a:spcPts val="0"/>
              </a:spcAft>
            </a:pPr>
            <a:r>
              <a:rPr lang="en-US" b="1" u="sng" dirty="0">
                <a:solidFill>
                  <a:srgbClr val="002060"/>
                </a:solidFill>
                <a:latin typeface="Comic Sans MS" panose="030F0702030302020204" pitchFamily="66" charset="0"/>
                <a:ea typeface="Calibri" panose="020F0502020204030204" pitchFamily="34" charset="0"/>
                <a:cs typeface="Times New Roman" panose="02020603050405020304" pitchFamily="18" charset="0"/>
              </a:rPr>
              <a:t>EXECUTE PHASE</a:t>
            </a:r>
            <a:endParaRPr lang="en-US" sz="1600" dirty="0">
              <a:solidFill>
                <a:srgbClr val="002060"/>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instruction is decoded and the control circuitry activates the control signals for steps 4 through 7, which constitute the execution phase.</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contents of register R3 are transferred to MAR in step 4, and a memory read operation is initiated.</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Then the contents of R1 are transferred to register Y in step 5, to prepare for the addition operation.</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When the read operation is completed, the memory operand is available in register MDR, and the addition operation is performed in step 6.</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addition is performed by ALU and the sum is stored in register Z, and then transferred to R1 in step 7.</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END signal causes a new instruction fetch cycle to begin by returning to step 1.</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904096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25</a:t>
            </a:fld>
            <a:endParaRPr lang="en-US" smtClean="0">
              <a:solidFill>
                <a:srgbClr val="FFFFFF"/>
              </a:solidFill>
              <a:latin typeface="Franklin Gothic Book" panose="020B0503020102020204" pitchFamily="34" charset="0"/>
            </a:endParaRPr>
          </a:p>
        </p:txBody>
      </p:sp>
      <p:sp>
        <p:nvSpPr>
          <p:cNvPr id="2" name="Rectangle 1"/>
          <p:cNvSpPr/>
          <p:nvPr/>
        </p:nvSpPr>
        <p:spPr>
          <a:xfrm>
            <a:off x="0" y="1513091"/>
            <a:ext cx="9144000" cy="1754326"/>
          </a:xfrm>
          <a:prstGeom prst="rect">
            <a:avLst/>
          </a:prstGeom>
        </p:spPr>
        <p:txBody>
          <a:bodyPr wrap="square">
            <a:spAutoFit/>
          </a:bodyPr>
          <a:lstStyle/>
          <a:p>
            <a:pPr marL="0" marR="0" indent="547370" algn="just">
              <a:lnSpc>
                <a:spcPct val="150000"/>
              </a:lnSpc>
              <a:spcBef>
                <a:spcPts val="0"/>
              </a:spcBef>
              <a:spcAft>
                <a:spcPts val="0"/>
              </a:spcAft>
            </a:pPr>
            <a:r>
              <a:rPr lang="en-IN"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This discussion accounts for all control signals in figure5 except </a:t>
            </a:r>
            <a:r>
              <a:rPr lang="en-IN" b="1"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Y</a:t>
            </a:r>
            <a:r>
              <a:rPr lang="en-IN" b="1" baseline="-250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in</a:t>
            </a:r>
            <a:r>
              <a:rPr lang="en-IN"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in step 2. There is no need to copy the updated contents of PC into register Y when executing the Add instruction. But, in branch instructions the updated value of the PC is needed to compute the branch target address. To speed up the execution of branch instructions, this value is copied into register Y in step 2.</a:t>
            </a:r>
            <a:endParaRPr lang="en-US" sz="16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p:cNvSpPr txBox="1"/>
          <p:nvPr/>
        </p:nvSpPr>
        <p:spPr>
          <a:xfrm>
            <a:off x="6934200" y="381000"/>
            <a:ext cx="1447800" cy="523220"/>
          </a:xfrm>
          <a:prstGeom prst="rect">
            <a:avLst/>
          </a:prstGeom>
          <a:noFill/>
        </p:spPr>
        <p:txBody>
          <a:bodyPr wrap="square" rtlCol="0">
            <a:spAutoFit/>
          </a:bodyPr>
          <a:lstStyle/>
          <a:p>
            <a:r>
              <a:rPr lang="en-US" sz="2800" dirty="0" smtClean="0"/>
              <a:t>NOTE</a:t>
            </a:r>
            <a:endParaRPr lang="en-US" sz="2800" dirty="0"/>
          </a:p>
        </p:txBody>
      </p:sp>
    </p:spTree>
    <p:extLst>
      <p:ext uri="{BB962C8B-B14F-4D97-AF65-F5344CB8AC3E}">
        <p14:creationId xmlns:p14="http://schemas.microsoft.com/office/powerpoint/2010/main" val="2390489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26</a:t>
            </a:fld>
            <a:endParaRPr lang="en-US" smtClean="0">
              <a:solidFill>
                <a:srgbClr val="FFFFFF"/>
              </a:solidFill>
              <a:latin typeface="Franklin Gothic Book" panose="020B0503020102020204" pitchFamily="34" charset="0"/>
            </a:endParaRPr>
          </a:p>
        </p:txBody>
      </p:sp>
      <p:sp>
        <p:nvSpPr>
          <p:cNvPr id="2" name="Rectangle 1"/>
          <p:cNvSpPr/>
          <p:nvPr/>
        </p:nvSpPr>
        <p:spPr>
          <a:xfrm>
            <a:off x="134167" y="152400"/>
            <a:ext cx="6184385" cy="669542"/>
          </a:xfrm>
          <a:prstGeom prst="rect">
            <a:avLst/>
          </a:prstGeom>
        </p:spPr>
        <p:txBody>
          <a:bodyPr wrap="none">
            <a:spAutoFit/>
          </a:bodyPr>
          <a:lstStyle/>
          <a:p>
            <a:pPr marL="342900" marR="0" lvl="0" indent="-342900" algn="just">
              <a:lnSpc>
                <a:spcPct val="150000"/>
              </a:lnSpc>
              <a:spcBef>
                <a:spcPts val="0"/>
              </a:spcBef>
              <a:spcAft>
                <a:spcPts val="1000"/>
              </a:spcAft>
              <a:buFont typeface="Symbol" panose="05050102010706020507" pitchFamily="18" charset="2"/>
              <a:buBlip>
                <a:blip r:embed="rId2"/>
              </a:buBlip>
            </a:pPr>
            <a:r>
              <a:rPr lang="en-US" sz="2800" b="1" u="sng" dirty="0">
                <a:latin typeface="Times New Roman" panose="02020603050405020304" pitchFamily="18" charset="0"/>
                <a:ea typeface="Calibri" panose="020F0502020204030204" pitchFamily="34" charset="0"/>
                <a:cs typeface="Times New Roman" panose="02020603050405020304" pitchFamily="18" charset="0"/>
              </a:rPr>
              <a:t>MULTIPLE-BUS ORGANIZATION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0" y="1361472"/>
            <a:ext cx="9144000" cy="3416320"/>
          </a:xfrm>
          <a:prstGeom prst="rect">
            <a:avLst/>
          </a:prstGeom>
        </p:spPr>
        <p:txBody>
          <a:bodyPr wrap="square">
            <a:spAutoFit/>
          </a:bodyPr>
          <a:lstStyle/>
          <a:p>
            <a:pPr marL="342900" marR="0" lvl="0" indent="-342900" algn="just">
              <a:lnSpc>
                <a:spcPct val="20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We used the simple single-bus architecture of figure 1 to illustrate the basic ideas. </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resulting control sequences in figure 5 and 6 are quite long because only one </a:t>
            </a: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data </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item can be transferred over the bus in a clock cycle. </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100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To reduce the number of steps needed, most commercial processors provide multiple internal paths that enable several transfers to take place in parallel.</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87159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p:nvPr/>
        </p:nvPicPr>
        <p:blipFill>
          <a:blip r:embed="rId2"/>
          <a:srcRect/>
          <a:stretch>
            <a:fillRect/>
          </a:stretch>
        </p:blipFill>
        <p:spPr bwMode="auto">
          <a:xfrm>
            <a:off x="118403" y="76858"/>
            <a:ext cx="7958797" cy="6781142"/>
          </a:xfrm>
          <a:prstGeom prst="rect">
            <a:avLst/>
          </a:prstGeom>
          <a:noFill/>
          <a:ln w="9525">
            <a:noFill/>
            <a:miter lim="800000"/>
            <a:headEnd/>
            <a:tailEnd/>
          </a:ln>
        </p:spPr>
      </p:pic>
      <p:sp>
        <p:nvSpPr>
          <p:cNvPr id="5" name="Rectangle 4"/>
          <p:cNvSpPr/>
          <p:nvPr/>
        </p:nvSpPr>
        <p:spPr>
          <a:xfrm>
            <a:off x="7467600" y="3352800"/>
            <a:ext cx="1447800" cy="1369606"/>
          </a:xfrm>
          <a:prstGeom prst="rect">
            <a:avLst/>
          </a:prstGeom>
        </p:spPr>
        <p:txBody>
          <a:bodyPr wrap="square">
            <a:spAutoFit/>
          </a:bodyPr>
          <a:lstStyle/>
          <a:p>
            <a:pPr marL="0" marR="0" algn="ctr">
              <a:spcBef>
                <a:spcPts val="0"/>
              </a:spcBef>
              <a:spcAft>
                <a:spcPts val="0"/>
              </a:spcAft>
            </a:pPr>
            <a:r>
              <a:rPr lang="en-IN" sz="1100" b="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Figure: </a:t>
            </a:r>
          </a:p>
          <a:p>
            <a:pPr marL="0" marR="0" algn="ctr">
              <a:spcBef>
                <a:spcPts val="0"/>
              </a:spcBef>
              <a:spcAft>
                <a:spcPts val="0"/>
              </a:spcAft>
            </a:pPr>
            <a:r>
              <a:rPr lang="en-IN" b="1" dirty="0" smtClean="0">
                <a:latin typeface="Times New Roman" panose="02020603050405020304" pitchFamily="18" charset="0"/>
                <a:ea typeface="Calibri" panose="020F0502020204030204" pitchFamily="34" charset="0"/>
                <a:cs typeface="Times New Roman" panose="02020603050405020304" pitchFamily="18" charset="0"/>
              </a:rPr>
              <a:t>Three-bus </a:t>
            </a:r>
            <a:r>
              <a:rPr lang="en-IN" b="1" dirty="0">
                <a:latin typeface="Times New Roman" panose="02020603050405020304" pitchFamily="18" charset="0"/>
                <a:ea typeface="Calibri" panose="020F0502020204030204" pitchFamily="34" charset="0"/>
                <a:cs typeface="Times New Roman" panose="02020603050405020304" pitchFamily="18" charset="0"/>
              </a:rPr>
              <a:t>organization of the data path</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44640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28</a:t>
            </a:fld>
            <a:endParaRPr lang="en-US" smtClean="0">
              <a:solidFill>
                <a:srgbClr val="FFFFFF"/>
              </a:solidFill>
              <a:latin typeface="Franklin Gothic Book" panose="020B0503020102020204" pitchFamily="34" charset="0"/>
            </a:endParaRPr>
          </a:p>
        </p:txBody>
      </p:sp>
      <p:sp>
        <p:nvSpPr>
          <p:cNvPr id="2" name="Rectangle 1"/>
          <p:cNvSpPr/>
          <p:nvPr/>
        </p:nvSpPr>
        <p:spPr>
          <a:xfrm>
            <a:off x="0" y="906988"/>
            <a:ext cx="8839200" cy="5032340"/>
          </a:xfrm>
          <a:prstGeom prst="rect">
            <a:avLst/>
          </a:prstGeom>
        </p:spPr>
        <p:txBody>
          <a:bodyPr wrap="square">
            <a:spAutoFit/>
          </a:bodyPr>
          <a:lstStyle/>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Figure </a:t>
            </a:r>
            <a:r>
              <a:rPr lang="en-US" dirty="0" smtClean="0">
                <a:solidFill>
                  <a:schemeClr val="tx1"/>
                </a:solidFill>
                <a:latin typeface="Comic Sans MS" panose="030F0702030302020204" pitchFamily="66" charset="0"/>
                <a:ea typeface="Calibri" panose="020F0502020204030204" pitchFamily="34" charset="0"/>
                <a:cs typeface="Times New Roman" panose="02020603050405020304" pitchFamily="18" charset="0"/>
              </a:rPr>
              <a:t>above </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depicts a </a:t>
            </a:r>
            <a:r>
              <a:rPr lang="en-US"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three-bus structure</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used to connect the registers and ALU of a processor. </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All general purpose registers are combined into a single block called the </a:t>
            </a:r>
            <a:r>
              <a:rPr lang="en-US" b="1"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register file</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register file in figure 7 is said to have three ports. There are two outputs, allowing the contents of two different registers </a:t>
            </a:r>
            <a:r>
              <a:rPr lang="en-US" dirty="0">
                <a:solidFill>
                  <a:srgbClr val="00B050"/>
                </a:solidFill>
                <a:latin typeface="Comic Sans MS" panose="030F0702030302020204" pitchFamily="66" charset="0"/>
                <a:ea typeface="Calibri" panose="020F0502020204030204" pitchFamily="34" charset="0"/>
                <a:cs typeface="Times New Roman" panose="02020603050405020304" pitchFamily="18" charset="0"/>
              </a:rPr>
              <a:t>to be accessed simultaneously</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and have their contents placed on buses A and B. The third port allows the data on bus C to be loaded into a third register during the same clock cycle.</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Buses A and B are used to transfer the </a:t>
            </a:r>
            <a:r>
              <a:rPr lang="en-US" dirty="0">
                <a:solidFill>
                  <a:srgbClr val="00B050"/>
                </a:solidFill>
                <a:latin typeface="Comic Sans MS" panose="030F0702030302020204" pitchFamily="66" charset="0"/>
                <a:ea typeface="Calibri" panose="020F0502020204030204" pitchFamily="34" charset="0"/>
                <a:cs typeface="Times New Roman" panose="02020603050405020304" pitchFamily="18" charset="0"/>
              </a:rPr>
              <a:t>source operands </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to the A and B inputs of the ALU, where an arithmetic or logic operations may be performed. </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result is transferred to the </a:t>
            </a:r>
            <a:r>
              <a:rPr lang="en-US" dirty="0">
                <a:solidFill>
                  <a:srgbClr val="00B050"/>
                </a:solidFill>
                <a:latin typeface="Comic Sans MS" panose="030F0702030302020204" pitchFamily="66" charset="0"/>
                <a:ea typeface="Calibri" panose="020F0502020204030204" pitchFamily="34" charset="0"/>
                <a:cs typeface="Times New Roman" panose="02020603050405020304" pitchFamily="18" charset="0"/>
              </a:rPr>
              <a:t>destination over bus C</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5" name="Rectangle 4"/>
          <p:cNvSpPr/>
          <p:nvPr/>
        </p:nvSpPr>
        <p:spPr>
          <a:xfrm>
            <a:off x="134167" y="152400"/>
            <a:ext cx="6184385" cy="669542"/>
          </a:xfrm>
          <a:prstGeom prst="rect">
            <a:avLst/>
          </a:prstGeom>
        </p:spPr>
        <p:txBody>
          <a:bodyPr wrap="none">
            <a:spAutoFit/>
          </a:bodyPr>
          <a:lstStyle/>
          <a:p>
            <a:pPr marL="342900" marR="0" lvl="0" indent="-342900" algn="just">
              <a:lnSpc>
                <a:spcPct val="150000"/>
              </a:lnSpc>
              <a:spcBef>
                <a:spcPts val="0"/>
              </a:spcBef>
              <a:spcAft>
                <a:spcPts val="1000"/>
              </a:spcAft>
              <a:buFont typeface="Symbol" panose="05050102010706020507" pitchFamily="18" charset="2"/>
              <a:buBlip>
                <a:blip r:embed="rId2"/>
              </a:buBlip>
            </a:pPr>
            <a:r>
              <a:rPr lang="en-US" sz="2800" b="1" u="sng" dirty="0">
                <a:latin typeface="Times New Roman" panose="02020603050405020304" pitchFamily="18" charset="0"/>
                <a:ea typeface="Calibri" panose="020F0502020204030204" pitchFamily="34" charset="0"/>
                <a:cs typeface="Times New Roman" panose="02020603050405020304" pitchFamily="18" charset="0"/>
              </a:rPr>
              <a:t>MULTIPLE-BUS ORGANIZATION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735406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29</a:t>
            </a:fld>
            <a:endParaRPr lang="en-US" smtClean="0">
              <a:solidFill>
                <a:srgbClr val="FFFFFF"/>
              </a:solidFill>
              <a:latin typeface="Franklin Gothic Book" panose="020B0503020102020204" pitchFamily="34" charset="0"/>
            </a:endParaRPr>
          </a:p>
        </p:txBody>
      </p:sp>
      <p:sp>
        <p:nvSpPr>
          <p:cNvPr id="2" name="Rectangle 1"/>
          <p:cNvSpPr/>
          <p:nvPr/>
        </p:nvSpPr>
        <p:spPr>
          <a:xfrm>
            <a:off x="0" y="1010483"/>
            <a:ext cx="9144000" cy="5078313"/>
          </a:xfrm>
          <a:prstGeom prst="rect">
            <a:avLst/>
          </a:prstGeom>
        </p:spPr>
        <p:txBody>
          <a:bodyPr wrap="square">
            <a:spAutoFit/>
          </a:bodyPr>
          <a:lstStyle/>
          <a:p>
            <a:pPr marL="342900" marR="0" lvl="0" indent="-342900" algn="just">
              <a:lnSpc>
                <a:spcPct val="20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If needed, the </a:t>
            </a:r>
            <a:r>
              <a:rPr lang="en-US" b="1" dirty="0">
                <a:solidFill>
                  <a:srgbClr val="00B050"/>
                </a:solidFill>
                <a:latin typeface="Comic Sans MS" panose="030F0702030302020204" pitchFamily="66" charset="0"/>
                <a:ea typeface="Calibri" panose="020F0502020204030204" pitchFamily="34" charset="0"/>
                <a:cs typeface="Times New Roman" panose="02020603050405020304" pitchFamily="18" charset="0"/>
              </a:rPr>
              <a:t>ALU may simply pass </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one of its two input operands unmodified to bus C. We will call the ALU control signals for such an operation R=A or R=B.</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Another feature in figure 7 is the introduction of the </a:t>
            </a:r>
            <a:r>
              <a:rPr lang="en-US" b="1" dirty="0" err="1">
                <a:solidFill>
                  <a:srgbClr val="00B050"/>
                </a:solidFill>
                <a:latin typeface="Comic Sans MS" panose="030F0702030302020204" pitchFamily="66" charset="0"/>
                <a:ea typeface="Calibri" panose="020F0502020204030204" pitchFamily="34" charset="0"/>
                <a:cs typeface="Times New Roman" panose="02020603050405020304" pitchFamily="18" charset="0"/>
              </a:rPr>
              <a:t>Incrementer</a:t>
            </a:r>
            <a:r>
              <a:rPr lang="en-US" b="1" dirty="0">
                <a:solidFill>
                  <a:srgbClr val="00B050"/>
                </a:solidFill>
                <a:latin typeface="Comic Sans MS" panose="030F0702030302020204" pitchFamily="66" charset="0"/>
                <a:ea typeface="Calibri" panose="020F0502020204030204" pitchFamily="34" charset="0"/>
                <a:cs typeface="Times New Roman" panose="02020603050405020304" pitchFamily="18" charset="0"/>
              </a:rPr>
              <a:t> unit</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which is used to increment the PC by 4. </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Using the </a:t>
            </a:r>
            <a:r>
              <a:rPr lang="en-US" dirty="0" err="1">
                <a:solidFill>
                  <a:schemeClr val="tx1"/>
                </a:solidFill>
                <a:latin typeface="Comic Sans MS" panose="030F0702030302020204" pitchFamily="66" charset="0"/>
                <a:ea typeface="Calibri" panose="020F0502020204030204" pitchFamily="34" charset="0"/>
                <a:cs typeface="Times New Roman" panose="02020603050405020304" pitchFamily="18" charset="0"/>
              </a:rPr>
              <a:t>Incrementer</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a:t>
            </a:r>
            <a:r>
              <a:rPr lang="en-US" b="1" dirty="0">
                <a:solidFill>
                  <a:srgbClr val="00B050"/>
                </a:solidFill>
                <a:latin typeface="Comic Sans MS" panose="030F0702030302020204" pitchFamily="66" charset="0"/>
                <a:ea typeface="Calibri" panose="020F0502020204030204" pitchFamily="34" charset="0"/>
                <a:cs typeface="Times New Roman" panose="02020603050405020304" pitchFamily="18" charset="0"/>
              </a:rPr>
              <a:t>eliminates the need to add 4</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to the PC using the main ALU.</a:t>
            </a:r>
            <a:endParaRPr lang="en-US" sz="1600" dirty="0">
              <a:solidFill>
                <a:schemeClr val="tx1"/>
              </a:solidFill>
              <a:latin typeface="Comic Sans MS" panose="030F0702030302020204" pitchFamily="66"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1000"/>
              </a:spcAft>
              <a:buFont typeface="Symbol" panose="05050102010706020507" pitchFamily="18" charset="2"/>
              <a:buChar char=""/>
            </a:pP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The source for the </a:t>
            </a:r>
            <a:r>
              <a:rPr lang="en-US" b="1" dirty="0">
                <a:solidFill>
                  <a:srgbClr val="00B050"/>
                </a:solidFill>
                <a:latin typeface="Comic Sans MS" panose="030F0702030302020204" pitchFamily="66" charset="0"/>
                <a:ea typeface="Calibri" panose="020F0502020204030204" pitchFamily="34" charset="0"/>
                <a:cs typeface="Times New Roman" panose="02020603050405020304" pitchFamily="18" charset="0"/>
              </a:rPr>
              <a:t>constant 4 at the ALU input multiplexer is still useful</a:t>
            </a:r>
            <a:r>
              <a:rPr lang="en-US" dirty="0">
                <a:solidFill>
                  <a:schemeClr val="tx1"/>
                </a:solidFill>
                <a:latin typeface="Comic Sans MS" panose="030F0702030302020204" pitchFamily="66" charset="0"/>
                <a:ea typeface="Calibri" panose="020F0502020204030204" pitchFamily="34" charset="0"/>
                <a:cs typeface="Times New Roman" panose="02020603050405020304" pitchFamily="18" charset="0"/>
              </a:rPr>
              <a:t>. It can be used to increment other addresses such as the memory addresses in load multiple and store multiple instructions. </a:t>
            </a:r>
            <a:endParaRPr lang="en-US" sz="1600" dirty="0">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endParaRPr>
          </a:p>
        </p:txBody>
      </p:sp>
      <p:sp>
        <p:nvSpPr>
          <p:cNvPr id="5" name="Rectangle 4"/>
          <p:cNvSpPr/>
          <p:nvPr/>
        </p:nvSpPr>
        <p:spPr>
          <a:xfrm>
            <a:off x="914400" y="152400"/>
            <a:ext cx="1670650" cy="738664"/>
          </a:xfrm>
          <a:prstGeom prst="rect">
            <a:avLst/>
          </a:prstGeom>
        </p:spPr>
        <p:txBody>
          <a:bodyPr wrap="none">
            <a:spAutoFit/>
          </a:bodyPr>
          <a:lstStyle/>
          <a:p>
            <a:pPr marL="342900" marR="0" lvl="0" indent="-342900" algn="just">
              <a:lnSpc>
                <a:spcPct val="150000"/>
              </a:lnSpc>
              <a:spcBef>
                <a:spcPts val="0"/>
              </a:spcBef>
              <a:spcAft>
                <a:spcPts val="1000"/>
              </a:spcAft>
              <a:buFont typeface="Symbol" panose="05050102010706020507" pitchFamily="18" charset="2"/>
              <a:buBlip>
                <a:blip r:embed="rId2"/>
              </a:buBlip>
            </a:pPr>
            <a:r>
              <a:rPr lang="en-US" sz="2800" b="1" u="sng" dirty="0" smtClean="0">
                <a:latin typeface="Times New Roman" panose="02020603050405020304" pitchFamily="18" charset="0"/>
                <a:ea typeface="Calibri" panose="020F0502020204030204" pitchFamily="34" charset="0"/>
                <a:cs typeface="Times New Roman" panose="02020603050405020304" pitchFamily="18" charset="0"/>
              </a:rPr>
              <a:t>Cntd…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83575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30</a:t>
            </a:fld>
            <a:endParaRPr lang="en-US" smtClean="0">
              <a:solidFill>
                <a:srgbClr val="FFFFFF"/>
              </a:solidFill>
              <a:latin typeface="Franklin Gothic Book" panose="020B0503020102020204" pitchFamily="34" charset="0"/>
            </a:endParaRPr>
          </a:p>
        </p:txBody>
      </p:sp>
      <p:pic>
        <p:nvPicPr>
          <p:cNvPr id="4" name="Picture 3"/>
          <p:cNvPicPr/>
          <p:nvPr/>
        </p:nvPicPr>
        <p:blipFill>
          <a:blip r:embed="rId2"/>
          <a:srcRect/>
          <a:stretch>
            <a:fillRect/>
          </a:stretch>
        </p:blipFill>
        <p:spPr bwMode="auto">
          <a:xfrm>
            <a:off x="0" y="1140096"/>
            <a:ext cx="5486400" cy="4419600"/>
          </a:xfrm>
          <a:prstGeom prst="rect">
            <a:avLst/>
          </a:prstGeom>
          <a:noFill/>
          <a:ln w="9525">
            <a:noFill/>
            <a:miter lim="800000"/>
            <a:headEnd/>
            <a:tailEnd/>
          </a:ln>
        </p:spPr>
      </p:pic>
      <p:sp>
        <p:nvSpPr>
          <p:cNvPr id="5" name="TextBox 4"/>
          <p:cNvSpPr txBox="1"/>
          <p:nvPr/>
        </p:nvSpPr>
        <p:spPr>
          <a:xfrm>
            <a:off x="4191000" y="228600"/>
            <a:ext cx="5105400" cy="707886"/>
          </a:xfrm>
          <a:prstGeom prst="rect">
            <a:avLst/>
          </a:prstGeom>
          <a:noFill/>
        </p:spPr>
        <p:txBody>
          <a:bodyPr wrap="square" rtlCol="0">
            <a:spAutoFit/>
          </a:bodyPr>
          <a:lstStyle/>
          <a:p>
            <a:r>
              <a:rPr lang="en-US" sz="4000" dirty="0" smtClean="0">
                <a:latin typeface="Comic Sans MS" panose="030F0702030302020204" pitchFamily="66" charset="0"/>
              </a:rPr>
              <a:t>Control Sequence</a:t>
            </a:r>
            <a:endParaRPr lang="en-US" sz="4000" dirty="0">
              <a:latin typeface="Comic Sans MS" panose="030F0702030302020204" pitchFamily="66" charset="0"/>
            </a:endParaRPr>
          </a:p>
        </p:txBody>
      </p:sp>
      <p:sp>
        <p:nvSpPr>
          <p:cNvPr id="2" name="Rectangle 1"/>
          <p:cNvSpPr/>
          <p:nvPr/>
        </p:nvSpPr>
        <p:spPr>
          <a:xfrm>
            <a:off x="838200" y="5283369"/>
            <a:ext cx="7924800" cy="507831"/>
          </a:xfrm>
          <a:prstGeom prst="rect">
            <a:avLst/>
          </a:prstGeom>
        </p:spPr>
        <p:txBody>
          <a:bodyPr wrap="square">
            <a:spAutoFit/>
          </a:bodyPr>
          <a:lstStyle/>
          <a:p>
            <a:pPr marL="0" marR="0" indent="-408940" algn="ctr">
              <a:lnSpc>
                <a:spcPct val="150000"/>
              </a:lnSpc>
              <a:spcBef>
                <a:spcPts val="0"/>
              </a:spcBef>
              <a:spcAft>
                <a:spcPts val="1000"/>
              </a:spcAft>
              <a:tabLst>
                <a:tab pos="1476375" algn="l"/>
              </a:tabLst>
            </a:pPr>
            <a:r>
              <a:rPr lang="en-US" sz="11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Figure :</a:t>
            </a:r>
            <a:r>
              <a:rPr lang="en-US" b="1" dirty="0" smtClean="0">
                <a:latin typeface="Times New Roman" panose="02020603050405020304" pitchFamily="18" charset="0"/>
                <a:ea typeface="Calibri" panose="020F0502020204030204" pitchFamily="34" charset="0"/>
                <a:cs typeface="Times New Roman" panose="02020603050405020304" pitchFamily="18" charset="0"/>
              </a:rPr>
              <a:t> </a:t>
            </a:r>
            <a:r>
              <a:rPr lang="en-US" b="1" dirty="0">
                <a:latin typeface="Times New Roman" panose="02020603050405020304" pitchFamily="18" charset="0"/>
                <a:ea typeface="Calibri" panose="020F0502020204030204" pitchFamily="34" charset="0"/>
                <a:cs typeface="Times New Roman" panose="02020603050405020304" pitchFamily="18" charset="0"/>
              </a:rPr>
              <a:t>Control sequence for Add R4, R5, R6 using three bus organization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p:cNvSpPr txBox="1"/>
          <p:nvPr/>
        </p:nvSpPr>
        <p:spPr>
          <a:xfrm>
            <a:off x="5334000" y="3415382"/>
            <a:ext cx="3429000" cy="338554"/>
          </a:xfrm>
          <a:prstGeom prst="rect">
            <a:avLst/>
          </a:prstGeom>
          <a:noFill/>
        </p:spPr>
        <p:txBody>
          <a:bodyPr wrap="square" rtlCol="0">
            <a:spAutoFit/>
          </a:bodyPr>
          <a:lstStyle/>
          <a:p>
            <a:r>
              <a:rPr lang="en-US" sz="1600" dirty="0" smtClean="0"/>
              <a:t>//Wait for MEM function to complete</a:t>
            </a:r>
            <a:endParaRPr lang="en-US" sz="1600" dirty="0"/>
          </a:p>
        </p:txBody>
      </p:sp>
      <p:sp>
        <p:nvSpPr>
          <p:cNvPr id="6" name="TextBox 5"/>
          <p:cNvSpPr txBox="1"/>
          <p:nvPr/>
        </p:nvSpPr>
        <p:spPr>
          <a:xfrm>
            <a:off x="5410200" y="3953961"/>
            <a:ext cx="3657600" cy="338554"/>
          </a:xfrm>
          <a:prstGeom prst="rect">
            <a:avLst/>
          </a:prstGeom>
          <a:noFill/>
        </p:spPr>
        <p:txBody>
          <a:bodyPr wrap="square" rtlCol="0">
            <a:spAutoFit/>
          </a:bodyPr>
          <a:lstStyle/>
          <a:p>
            <a:r>
              <a:rPr lang="en-US" sz="1600" dirty="0" smtClean="0"/>
              <a:t>//MDR to IR through input B of ALU</a:t>
            </a:r>
            <a:endParaRPr lang="en-US" sz="1600" dirty="0"/>
          </a:p>
        </p:txBody>
      </p:sp>
      <p:sp>
        <p:nvSpPr>
          <p:cNvPr id="7" name="TextBox 6"/>
          <p:cNvSpPr txBox="1"/>
          <p:nvPr/>
        </p:nvSpPr>
        <p:spPr>
          <a:xfrm>
            <a:off x="5334000" y="2971800"/>
            <a:ext cx="184731" cy="369332"/>
          </a:xfrm>
          <a:prstGeom prst="rect">
            <a:avLst/>
          </a:prstGeom>
          <a:noFill/>
        </p:spPr>
        <p:txBody>
          <a:bodyPr wrap="none" rtlCol="0">
            <a:spAutoFit/>
          </a:bodyPr>
          <a:lstStyle/>
          <a:p>
            <a:endParaRPr lang="en-US" dirty="0"/>
          </a:p>
        </p:txBody>
      </p:sp>
      <p:sp>
        <p:nvSpPr>
          <p:cNvPr id="8" name="TextBox 7"/>
          <p:cNvSpPr txBox="1"/>
          <p:nvPr/>
        </p:nvSpPr>
        <p:spPr>
          <a:xfrm>
            <a:off x="5334000" y="2819400"/>
            <a:ext cx="3314700" cy="369332"/>
          </a:xfrm>
          <a:prstGeom prst="rect">
            <a:avLst/>
          </a:prstGeom>
          <a:noFill/>
        </p:spPr>
        <p:txBody>
          <a:bodyPr wrap="square" rtlCol="0">
            <a:spAutoFit/>
          </a:bodyPr>
          <a:lstStyle/>
          <a:p>
            <a:endParaRPr lang="en-US" dirty="0"/>
          </a:p>
        </p:txBody>
      </p:sp>
      <p:sp>
        <p:nvSpPr>
          <p:cNvPr id="9" name="TextBox 8"/>
          <p:cNvSpPr txBox="1"/>
          <p:nvPr/>
        </p:nvSpPr>
        <p:spPr>
          <a:xfrm>
            <a:off x="5410200" y="2819400"/>
            <a:ext cx="3352800" cy="338554"/>
          </a:xfrm>
          <a:prstGeom prst="rect">
            <a:avLst/>
          </a:prstGeom>
          <a:noFill/>
        </p:spPr>
        <p:txBody>
          <a:bodyPr wrap="square" rtlCol="0">
            <a:spAutoFit/>
          </a:bodyPr>
          <a:lstStyle/>
          <a:p>
            <a:r>
              <a:rPr lang="en-US" sz="1600" dirty="0" smtClean="0"/>
              <a:t>//PC to MAR through </a:t>
            </a:r>
            <a:r>
              <a:rPr lang="en-US" sz="1600" dirty="0" err="1" smtClean="0"/>
              <a:t>i</a:t>
            </a:r>
            <a:r>
              <a:rPr lang="en-US" sz="1600" dirty="0" smtClean="0"/>
              <a:t>/p B of ALU</a:t>
            </a:r>
            <a:endParaRPr lang="en-US" sz="1600" dirty="0"/>
          </a:p>
        </p:txBody>
      </p:sp>
    </p:spTree>
    <p:extLst>
      <p:ext uri="{BB962C8B-B14F-4D97-AF65-F5344CB8AC3E}">
        <p14:creationId xmlns:p14="http://schemas.microsoft.com/office/powerpoint/2010/main" val="41671107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31</a:t>
            </a:fld>
            <a:endParaRPr lang="en-US" smtClean="0">
              <a:solidFill>
                <a:srgbClr val="FFFFFF"/>
              </a:solidFill>
              <a:latin typeface="Franklin Gothic Book" panose="020B0503020102020204" pitchFamily="34" charset="0"/>
            </a:endParaRPr>
          </a:p>
        </p:txBody>
      </p:sp>
      <p:sp>
        <p:nvSpPr>
          <p:cNvPr id="2" name="Rectangle 1"/>
          <p:cNvSpPr/>
          <p:nvPr/>
        </p:nvSpPr>
        <p:spPr>
          <a:xfrm>
            <a:off x="-17929" y="400434"/>
            <a:ext cx="9067800" cy="5790816"/>
          </a:xfrm>
          <a:prstGeom prst="rect">
            <a:avLst/>
          </a:prstGeom>
        </p:spPr>
        <p:txBody>
          <a:bodyPr wrap="square">
            <a:spAutoFit/>
          </a:bodyPr>
          <a:lstStyle/>
          <a:p>
            <a:pPr marL="342900" marR="0" lvl="0" indent="-342900">
              <a:lnSpc>
                <a:spcPct val="115000"/>
              </a:lnSpc>
              <a:spcBef>
                <a:spcPts val="0"/>
              </a:spcBef>
              <a:spcAft>
                <a:spcPts val="1000"/>
              </a:spcAft>
              <a:buFont typeface="Symbol" panose="05050102010706020507" pitchFamily="18" charset="2"/>
              <a:buBlip>
                <a:blip r:embed="rId2"/>
              </a:buBlip>
            </a:pPr>
            <a:r>
              <a:rPr lang="en-US" b="1"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Consider the three operand instruction</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IN"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ADD R4, R5, R6</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control sequence for executing this instruction is given in figure 8. </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 step 1, the contents of the PC are passed through the ALU, using the R=B control signal, and loaded into the MAR to start a memory read operation</a:t>
            </a:r>
            <a:r>
              <a:rPr lang="en-US"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(PC to MAR) </a:t>
            </a:r>
            <a:endParaRPr lang="en-US" sz="16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the same time the PC is incremented by 4. </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 step 2, the processor waits for </a:t>
            </a:r>
            <a:r>
              <a:rPr lang="en-US"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MFC (MEMORY FUNCTION COMPLETE) </a:t>
            </a: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and loads the data received into </a:t>
            </a:r>
            <a:r>
              <a:rPr lang="en-US"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MDR.</a:t>
            </a:r>
          </a:p>
          <a:p>
            <a:pPr marL="342900" marR="0" lvl="0" indent="-342900" algn="just">
              <a:lnSpc>
                <a:spcPct val="150000"/>
              </a:lnSpc>
              <a:spcBef>
                <a:spcPts val="0"/>
              </a:spcBef>
              <a:spcAft>
                <a:spcPts val="0"/>
              </a:spcAft>
              <a:buFont typeface="Symbol" panose="05050102010706020507" pitchFamily="18" charset="2"/>
              <a:buChar char=""/>
            </a:pPr>
            <a:r>
              <a:rPr lang="en-US"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transfers data from </a:t>
            </a:r>
            <a:r>
              <a:rPr lang="en-US" b="1"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MDR </a:t>
            </a:r>
            <a:r>
              <a:rPr lang="en-US"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to IR </a:t>
            </a: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 step 3. </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Symbol" panose="05050102010706020507" pitchFamily="18" charset="2"/>
              <a:buChar char=""/>
            </a:pPr>
            <a:r>
              <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Finally, the execution phase of the instruction requires only one control step to complete, step </a:t>
            </a:r>
            <a:r>
              <a:rPr lang="en-US"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4.</a:t>
            </a:r>
          </a:p>
          <a:p>
            <a:pPr marL="342900" marR="0" lvl="0" indent="-342900" algn="just">
              <a:lnSpc>
                <a:spcPct val="150000"/>
              </a:lnSpc>
              <a:spcBef>
                <a:spcPts val="0"/>
              </a:spcBef>
              <a:spcAft>
                <a:spcPts val="1000"/>
              </a:spcAft>
              <a:buFont typeface="Symbol" panose="05050102010706020507" pitchFamily="18" charset="2"/>
              <a:buChar char=""/>
            </a:pPr>
            <a:r>
              <a:rPr lang="en-IN" b="1" i="1"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By </a:t>
            </a:r>
            <a:r>
              <a:rPr lang="en-IN" b="1"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providing more paths for data transfer a significant reduction in the number of clock cycles needed to execute an instruction is achieved.</a:t>
            </a:r>
            <a:endPar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269798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32</a:t>
            </a:fld>
            <a:endParaRPr lang="en-US" smtClean="0">
              <a:solidFill>
                <a:srgbClr val="FFFFFF"/>
              </a:solidFill>
              <a:latin typeface="Franklin Gothic Book" panose="020B0503020102020204" pitchFamily="34" charset="0"/>
            </a:endParaRPr>
          </a:p>
        </p:txBody>
      </p:sp>
      <p:sp>
        <p:nvSpPr>
          <p:cNvPr id="2" name="TextBox 1"/>
          <p:cNvSpPr txBox="1"/>
          <p:nvPr/>
        </p:nvSpPr>
        <p:spPr>
          <a:xfrm>
            <a:off x="2209800" y="2819400"/>
            <a:ext cx="5562600" cy="553998"/>
          </a:xfrm>
          <a:prstGeom prst="rect">
            <a:avLst/>
          </a:prstGeom>
          <a:noFill/>
        </p:spPr>
        <p:txBody>
          <a:bodyPr wrap="square" rtlCol="0">
            <a:spAutoFit/>
          </a:bodyPr>
          <a:lstStyle/>
          <a:p>
            <a:r>
              <a:rPr lang="en-US" sz="3000" dirty="0" smtClean="0">
                <a:solidFill>
                  <a:schemeClr val="accent2"/>
                </a:solidFill>
                <a:latin typeface="Comic Sans MS" panose="030F0702030302020204" pitchFamily="66" charset="0"/>
              </a:rPr>
              <a:t>END of Module 4 Part A: BPU</a:t>
            </a:r>
            <a:endParaRPr lang="en-US" sz="3000" dirty="0">
              <a:solidFill>
                <a:schemeClr val="accent2"/>
              </a:solidFill>
              <a:latin typeface="Comic Sans MS" panose="030F0702030302020204" pitchFamily="66" charset="0"/>
            </a:endParaRPr>
          </a:p>
        </p:txBody>
      </p:sp>
    </p:spTree>
    <p:extLst>
      <p:ext uri="{BB962C8B-B14F-4D97-AF65-F5344CB8AC3E}">
        <p14:creationId xmlns:p14="http://schemas.microsoft.com/office/powerpoint/2010/main" val="17339517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p:cNvSpPr>
            <a:spLocks noGrp="1"/>
          </p:cNvSpPr>
          <p:nvPr>
            <p:ph type="ctrTitle"/>
          </p:nvPr>
        </p:nvSpPr>
        <p:spPr>
          <a:xfrm>
            <a:off x="685800" y="1096962"/>
            <a:ext cx="7772400" cy="4541837"/>
          </a:xfrm>
        </p:spPr>
        <p:txBody>
          <a:bodyPr/>
          <a:lstStyle/>
          <a:p>
            <a:pPr eaLnBrk="1" hangingPunct="1"/>
            <a:r>
              <a:rPr lang="en-US" sz="5400" dirty="0">
                <a:latin typeface="Comic Sans MS" panose="030F0702030302020204" pitchFamily="66" charset="0"/>
              </a:rPr>
              <a:t/>
            </a:r>
            <a:br>
              <a:rPr lang="en-US" sz="5400" dirty="0">
                <a:latin typeface="Comic Sans MS" panose="030F0702030302020204" pitchFamily="66" charset="0"/>
              </a:rPr>
            </a:br>
            <a:endParaRPr lang="en-US" sz="5400" dirty="0" smtClean="0">
              <a:latin typeface="Comic Sans MS" panose="030F0702030302020204" pitchFamily="66" charset="0"/>
            </a:endParaRPr>
          </a:p>
        </p:txBody>
      </p:sp>
      <p:sp>
        <p:nvSpPr>
          <p:cNvPr id="6147" name="Subtitle 1"/>
          <p:cNvSpPr>
            <a:spLocks noGrp="1"/>
          </p:cNvSpPr>
          <p:nvPr>
            <p:ph type="subTitle" idx="1"/>
          </p:nvPr>
        </p:nvSpPr>
        <p:spPr>
          <a:xfrm>
            <a:off x="228600" y="1447800"/>
            <a:ext cx="8610600" cy="3932359"/>
          </a:xfrm>
        </p:spPr>
        <p:txBody>
          <a:bodyPr/>
          <a:lstStyle/>
          <a:p>
            <a:pPr eaLnBrk="1" hangingPunct="1"/>
            <a:endParaRPr lang="en-US" sz="2800" dirty="0" smtClean="0">
              <a:solidFill>
                <a:srgbClr val="FF0000"/>
              </a:solidFill>
              <a:latin typeface="Comic Sans MS" panose="030F0702030302020204" pitchFamily="66" charset="0"/>
            </a:endParaRPr>
          </a:p>
          <a:p>
            <a:pPr eaLnBrk="1" hangingPunct="1"/>
            <a:r>
              <a:rPr lang="en-US" sz="3200" dirty="0" smtClean="0">
                <a:solidFill>
                  <a:srgbClr val="FF0000"/>
                </a:solidFill>
                <a:latin typeface="Times New Roman" panose="02020603050405020304" pitchFamily="18" charset="0"/>
                <a:cs typeface="Times New Roman" panose="02020603050405020304" pitchFamily="18" charset="0"/>
              </a:rPr>
              <a:t>Computer Organization and Architecture</a:t>
            </a:r>
            <a:br>
              <a:rPr lang="en-US" sz="3200" dirty="0" smtClean="0">
                <a:solidFill>
                  <a:srgbClr val="FF0000"/>
                </a:solidFill>
                <a:latin typeface="Times New Roman" panose="02020603050405020304" pitchFamily="18" charset="0"/>
                <a:cs typeface="Times New Roman" panose="02020603050405020304" pitchFamily="18" charset="0"/>
              </a:rPr>
            </a:br>
            <a:endParaRPr lang="en-US" sz="3200" dirty="0" smtClean="0">
              <a:solidFill>
                <a:srgbClr val="FF0000"/>
              </a:solidFill>
              <a:latin typeface="Times New Roman" panose="02020603050405020304" pitchFamily="18" charset="0"/>
              <a:cs typeface="Times New Roman" panose="02020603050405020304" pitchFamily="18" charset="0"/>
            </a:endParaRPr>
          </a:p>
          <a:p>
            <a:pPr eaLnBrk="1" hangingPunct="1"/>
            <a:r>
              <a:rPr lang="en-US" sz="3200" dirty="0" smtClean="0">
                <a:solidFill>
                  <a:srgbClr val="FF0000"/>
                </a:solidFill>
                <a:latin typeface="Times New Roman" panose="02020603050405020304" pitchFamily="18" charset="0"/>
                <a:cs typeface="Times New Roman" panose="02020603050405020304" pitchFamily="18" charset="0"/>
              </a:rPr>
              <a:t>CSE 2009    </a:t>
            </a:r>
          </a:p>
          <a:p>
            <a:pPr eaLnBrk="1" hangingPunct="1"/>
            <a:endParaRPr lang="en-US" sz="2800" dirty="0">
              <a:solidFill>
                <a:srgbClr val="FF0000"/>
              </a:solidFill>
              <a:latin typeface="Comic Sans MS" panose="030F0702030302020204" pitchFamily="66" charset="0"/>
            </a:endParaRPr>
          </a:p>
          <a:p>
            <a:pPr eaLnBrk="1" hangingPunct="1"/>
            <a:r>
              <a:rPr lang="en-US" sz="2800" dirty="0" smtClean="0">
                <a:solidFill>
                  <a:srgbClr val="FF0000"/>
                </a:solidFill>
                <a:latin typeface="Comic Sans MS" panose="030F0702030302020204" pitchFamily="66" charset="0"/>
              </a:rPr>
              <a:t> </a:t>
            </a:r>
          </a:p>
          <a:p>
            <a:pPr eaLnBrk="1" hangingPunct="1"/>
            <a:r>
              <a:rPr lang="en-US" sz="2800" u="sng" dirty="0" smtClean="0">
                <a:latin typeface="Times New Roman" panose="02020603050405020304" pitchFamily="18" charset="0"/>
                <a:cs typeface="Times New Roman" panose="02020603050405020304" pitchFamily="18" charset="0"/>
              </a:rPr>
              <a:t>Module-4</a:t>
            </a:r>
            <a:r>
              <a:rPr lang="en-US" sz="2800" dirty="0" smtClean="0">
                <a:latin typeface="Times New Roman" panose="02020603050405020304" pitchFamily="18" charset="0"/>
                <a:cs typeface="Times New Roman" panose="02020603050405020304" pitchFamily="18" charset="0"/>
              </a:rPr>
              <a:t>: Part B-</a:t>
            </a:r>
            <a:r>
              <a:rPr lang="en-US" altLang="zh-CN" sz="2800" dirty="0">
                <a:ea typeface="SimSun" pitchFamily="2" charset="-122"/>
              </a:rPr>
              <a:t>Pipelining</a:t>
            </a:r>
            <a:endParaRPr lang="en-US" sz="2800" b="0" dirty="0" smtClean="0">
              <a:latin typeface="Times New Roman" panose="02020603050405020304" pitchFamily="18" charset="0"/>
              <a:cs typeface="Times New Roman" panose="02020603050405020304" pitchFamily="18" charset="0"/>
            </a:endParaRPr>
          </a:p>
        </p:txBody>
      </p:sp>
      <p:sp>
        <p:nvSpPr>
          <p:cNvPr id="6148" name="Date Placeholder 3"/>
          <p:cNvSpPr>
            <a:spLocks noGrp="1"/>
          </p:cNvSpPr>
          <p:nvPr>
            <p:ph type="dt" sz="quarter" idx="4294967295"/>
          </p:nvPr>
        </p:nvSpPr>
        <p:spPr bwMode="auto">
          <a:xfrm>
            <a:off x="628650" y="6356350"/>
            <a:ext cx="2057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nSpc>
                <a:spcPct val="100000"/>
              </a:lnSpc>
              <a:spcBef>
                <a:spcPct val="0"/>
              </a:spcBef>
              <a:buFontTx/>
              <a:buNone/>
            </a:pPr>
            <a:fld id="{1A326074-4045-49DF-9E7C-90D88921C518}" type="datetime2">
              <a:rPr lang="en-US" sz="1200" smtClean="0">
                <a:solidFill>
                  <a:srgbClr val="081D58"/>
                </a:solidFill>
                <a:latin typeface="Garamond" panose="02020404030301010803" pitchFamily="18" charset="0"/>
              </a:rPr>
              <a:pPr>
                <a:lnSpc>
                  <a:spcPct val="100000"/>
                </a:lnSpc>
                <a:spcBef>
                  <a:spcPct val="0"/>
                </a:spcBef>
                <a:buFontTx/>
                <a:buNone/>
              </a:pPr>
              <a:t>Tuesday, December 10, 2024</a:t>
            </a:fld>
            <a:endParaRPr lang="en-US" sz="1200" smtClean="0">
              <a:solidFill>
                <a:srgbClr val="081D58"/>
              </a:solidFill>
              <a:latin typeface="Garamond" panose="02020404030301010803" pitchFamily="18" charset="0"/>
            </a:endParaRPr>
          </a:p>
        </p:txBody>
      </p:sp>
      <p:sp>
        <p:nvSpPr>
          <p:cNvPr id="6149" name="Slide Number Placeholder 4"/>
          <p:cNvSpPr>
            <a:spLocks noGrp="1"/>
          </p:cNvSpPr>
          <p:nvPr>
            <p:ph type="sldNum" sz="quarter" idx="4294967295"/>
          </p:nvPr>
        </p:nvSpPr>
        <p:spPr bwMode="auto">
          <a:xfrm>
            <a:off x="7085013" y="6381750"/>
            <a:ext cx="2057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nSpc>
                <a:spcPct val="100000"/>
              </a:lnSpc>
              <a:spcBef>
                <a:spcPct val="0"/>
              </a:spcBef>
              <a:buFontTx/>
              <a:buNone/>
            </a:pPr>
            <a:fld id="{3FFBFCD9-7663-4034-A21E-E641223CB500}" type="slidenum">
              <a:rPr lang="en-US" sz="1600" smtClean="0">
                <a:solidFill>
                  <a:srgbClr val="FFFFFF"/>
                </a:solidFill>
                <a:latin typeface="Franklin Gothic Book" panose="020B0503020102020204" pitchFamily="34" charset="0"/>
              </a:rPr>
              <a:pPr>
                <a:lnSpc>
                  <a:spcPct val="100000"/>
                </a:lnSpc>
                <a:spcBef>
                  <a:spcPct val="0"/>
                </a:spcBef>
                <a:buFontTx/>
                <a:buNone/>
              </a:pPr>
              <a:t>33</a:t>
            </a:fld>
            <a:endParaRPr lang="en-US" sz="1600" smtClean="0">
              <a:solidFill>
                <a:srgbClr val="FFFFFF"/>
              </a:solidFill>
              <a:latin typeface="Franklin Gothic Book" panose="020B0503020102020204" pitchFamily="34" charset="0"/>
            </a:endParaRPr>
          </a:p>
        </p:txBody>
      </p:sp>
      <p:sp>
        <p:nvSpPr>
          <p:cNvPr id="3" name="TextBox 2"/>
          <p:cNvSpPr txBox="1"/>
          <p:nvPr/>
        </p:nvSpPr>
        <p:spPr>
          <a:xfrm>
            <a:off x="628650" y="457200"/>
            <a:ext cx="7905750" cy="692497"/>
          </a:xfrm>
          <a:prstGeom prst="rect">
            <a:avLst/>
          </a:prstGeom>
          <a:noFill/>
        </p:spPr>
        <p:txBody>
          <a:bodyPr wrap="square" rtlCol="0">
            <a:spAutoFit/>
          </a:bodyPr>
          <a:lstStyle/>
          <a:p>
            <a:pPr algn="ctr"/>
            <a:r>
              <a:rPr lang="en-US" sz="2000" b="1" dirty="0">
                <a:solidFill>
                  <a:srgbClr val="002060"/>
                </a:solidFill>
                <a:latin typeface="Times New Roman" panose="02020603050405020304" pitchFamily="18" charset="0"/>
                <a:cs typeface="Times New Roman" panose="02020603050405020304" pitchFamily="18" charset="0"/>
              </a:rPr>
              <a:t>PRESIDENCY UNIVERISTY,  </a:t>
            </a:r>
            <a:r>
              <a:rPr lang="en-US" sz="2000" b="1" dirty="0" smtClean="0">
                <a:solidFill>
                  <a:srgbClr val="002060"/>
                </a:solidFill>
                <a:latin typeface="Times New Roman" panose="02020603050405020304" pitchFamily="18" charset="0"/>
                <a:cs typeface="Times New Roman" panose="02020603050405020304" pitchFamily="18" charset="0"/>
              </a:rPr>
              <a:t>BENGALURU, School </a:t>
            </a:r>
            <a:r>
              <a:rPr lang="en-US" sz="2000" b="1" dirty="0">
                <a:solidFill>
                  <a:srgbClr val="002060"/>
                </a:solidFill>
                <a:latin typeface="Times New Roman" panose="02020603050405020304" pitchFamily="18" charset="0"/>
                <a:cs typeface="Times New Roman" panose="02020603050405020304" pitchFamily="18" charset="0"/>
              </a:rPr>
              <a:t>of Engineering</a:t>
            </a:r>
            <a:endParaRPr lang="en-IN" sz="2000" b="1" dirty="0">
              <a:solidFill>
                <a:srgbClr val="002060"/>
              </a:solidFill>
              <a:latin typeface="Times New Roman" panose="02020603050405020304" pitchFamily="18" charset="0"/>
              <a:cs typeface="Times New Roman" panose="02020603050405020304" pitchFamily="18" charset="0"/>
            </a:endParaRPr>
          </a:p>
          <a:p>
            <a:endParaRPr lang="en-US" sz="1900" b="1" dirty="0">
              <a:solidFill>
                <a:srgbClr val="FC0128"/>
              </a:solidFill>
            </a:endParaRPr>
          </a:p>
        </p:txBody>
      </p:sp>
    </p:spTree>
    <p:extLst>
      <p:ext uri="{BB962C8B-B14F-4D97-AF65-F5344CB8AC3E}">
        <p14:creationId xmlns:p14="http://schemas.microsoft.com/office/powerpoint/2010/main" val="39095251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09600" y="381000"/>
            <a:ext cx="3577903" cy="372603"/>
          </a:xfrm>
        </p:spPr>
        <p:txBody>
          <a:bodyPr/>
          <a:lstStyle/>
          <a:p>
            <a:r>
              <a:rPr lang="en-US" altLang="zh-CN" dirty="0" smtClean="0">
                <a:ea typeface="SimSun" pitchFamily="2" charset="-122"/>
              </a:rPr>
              <a:t>MODULE 4B. </a:t>
            </a:r>
            <a:r>
              <a:rPr lang="en-US" altLang="zh-CN" dirty="0">
                <a:ea typeface="SimSun" pitchFamily="2" charset="-122"/>
              </a:rPr>
              <a:t>Pipelining</a:t>
            </a:r>
          </a:p>
        </p:txBody>
      </p:sp>
      <p:sp>
        <p:nvSpPr>
          <p:cNvPr id="2" name="Rectangle 1"/>
          <p:cNvSpPr/>
          <p:nvPr/>
        </p:nvSpPr>
        <p:spPr>
          <a:xfrm>
            <a:off x="580623" y="1524000"/>
            <a:ext cx="8001000" cy="923330"/>
          </a:xfrm>
          <a:prstGeom prst="rect">
            <a:avLst/>
          </a:prstGeom>
        </p:spPr>
        <p:txBody>
          <a:bodyPr wrap="square">
            <a:spAutoFit/>
          </a:bodyPr>
          <a:lstStyle/>
          <a:p>
            <a:r>
              <a:rPr lang="en-US" altLang="zh-CN" b="1" dirty="0">
                <a:ea typeface="SimSun" pitchFamily="2" charset="-122"/>
              </a:rPr>
              <a:t>Pipelining is widely used in modern processors.</a:t>
            </a:r>
          </a:p>
          <a:p>
            <a:r>
              <a:rPr lang="en-US" altLang="zh-CN" b="1" dirty="0">
                <a:ea typeface="SimSun" pitchFamily="2" charset="-122"/>
              </a:rPr>
              <a:t>Pipelining improves system performance in terms of throughput.</a:t>
            </a:r>
          </a:p>
          <a:p>
            <a:r>
              <a:rPr lang="en-US" altLang="zh-CN" b="1" dirty="0">
                <a:ea typeface="SimSun" pitchFamily="2" charset="-122"/>
              </a:rPr>
              <a:t>Pipelined organization requires sophisticated compilation techniques.</a:t>
            </a:r>
          </a:p>
        </p:txBody>
      </p:sp>
    </p:spTree>
    <p:extLst>
      <p:ext uri="{BB962C8B-B14F-4D97-AF65-F5344CB8AC3E}">
        <p14:creationId xmlns:p14="http://schemas.microsoft.com/office/powerpoint/2010/main" val="20597987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62000" y="1524000"/>
            <a:ext cx="4368183" cy="372603"/>
          </a:xfrm>
        </p:spPr>
        <p:txBody>
          <a:bodyPr/>
          <a:lstStyle/>
          <a:p>
            <a:r>
              <a:rPr lang="en-US" altLang="zh-CN" dirty="0">
                <a:ea typeface="SimSun" pitchFamily="2" charset="-122"/>
              </a:rPr>
              <a:t>Making the Execution of Programs Faster</a:t>
            </a:r>
          </a:p>
        </p:txBody>
      </p:sp>
      <p:sp>
        <p:nvSpPr>
          <p:cNvPr id="13315" name="Rectangle 3"/>
          <p:cNvSpPr>
            <a:spLocks noGrp="1" noChangeArrowheads="1"/>
          </p:cNvSpPr>
          <p:nvPr>
            <p:ph type="body" idx="1"/>
          </p:nvPr>
        </p:nvSpPr>
        <p:spPr>
          <a:xfrm>
            <a:off x="533400" y="2590800"/>
            <a:ext cx="7848600" cy="1990288"/>
          </a:xfrm>
        </p:spPr>
        <p:txBody>
          <a:bodyPr/>
          <a:lstStyle/>
          <a:p>
            <a:r>
              <a:rPr lang="en-US" altLang="zh-CN" dirty="0">
                <a:ea typeface="SimSun" pitchFamily="2" charset="-122"/>
              </a:rPr>
              <a:t>Use faster circuit technology to build the processor and the main memory.</a:t>
            </a:r>
          </a:p>
          <a:p>
            <a:r>
              <a:rPr lang="en-US" altLang="zh-CN" dirty="0">
                <a:ea typeface="SimSun" pitchFamily="2" charset="-122"/>
              </a:rPr>
              <a:t>Arrange the hardware so that more than one operation can be performed at the same time.</a:t>
            </a:r>
          </a:p>
          <a:p>
            <a:r>
              <a:rPr lang="en-US" altLang="zh-CN" dirty="0">
                <a:ea typeface="SimSun" pitchFamily="2" charset="-122"/>
              </a:rPr>
              <a:t>In the latter way, the number of operations performed per second is increased even though the elapsed time needed to perform any one operation is not changed.</a:t>
            </a:r>
          </a:p>
        </p:txBody>
      </p:sp>
      <p:sp>
        <p:nvSpPr>
          <p:cNvPr id="2" name="Rectangle 1"/>
          <p:cNvSpPr/>
          <p:nvPr/>
        </p:nvSpPr>
        <p:spPr>
          <a:xfrm>
            <a:off x="762000" y="304800"/>
            <a:ext cx="3733800" cy="369332"/>
          </a:xfrm>
          <a:prstGeom prst="rect">
            <a:avLst/>
          </a:prstGeom>
        </p:spPr>
        <p:txBody>
          <a:bodyPr wrap="square">
            <a:spAutoFit/>
          </a:bodyPr>
          <a:lstStyle/>
          <a:p>
            <a:r>
              <a:rPr lang="en-US" altLang="zh-CN" b="1" dirty="0">
                <a:ea typeface="SimSun" pitchFamily="2" charset="-122"/>
              </a:rPr>
              <a:t>Basic Concepts</a:t>
            </a:r>
            <a:endParaRPr lang="en-US" b="1" dirty="0"/>
          </a:p>
        </p:txBody>
      </p:sp>
    </p:spTree>
    <p:extLst>
      <p:ext uri="{BB962C8B-B14F-4D97-AF65-F5344CB8AC3E}">
        <p14:creationId xmlns:p14="http://schemas.microsoft.com/office/powerpoint/2010/main" val="2038395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a:ea typeface="SimSun" pitchFamily="2" charset="-122"/>
              </a:rPr>
              <a:t>Traditional Pipeline Concept</a:t>
            </a:r>
          </a:p>
        </p:txBody>
      </p:sp>
      <p:sp>
        <p:nvSpPr>
          <p:cNvPr id="9219" name="Rectangle 3"/>
          <p:cNvSpPr>
            <a:spLocks noGrp="1" noChangeArrowheads="1"/>
          </p:cNvSpPr>
          <p:nvPr>
            <p:ph type="body" idx="1"/>
          </p:nvPr>
        </p:nvSpPr>
        <p:spPr>
          <a:xfrm>
            <a:off x="687388" y="2076450"/>
            <a:ext cx="7640637" cy="3667125"/>
          </a:xfrm>
          <a:ln/>
          <a:extLst>
            <a:ext uri="{91240B29-F687-4F45-9708-019B960494DF}">
              <a14:hiddenLine xmlns:a14="http://schemas.microsoft.com/office/drawing/2010/main" w="9525">
                <a:solidFill>
                  <a:srgbClr val="000000"/>
                </a:solidFill>
                <a:miter lim="800000"/>
                <a:headEnd/>
                <a:tailEnd/>
              </a14:hiddenLine>
            </a:ext>
          </a:extLst>
        </p:spPr>
        <p:txBody>
          <a:bodyPr lIns="63360" tIns="25560" rIns="63360" bIns="25560"/>
          <a:lstStyle/>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600"/>
              <a:t>Laundry Example</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600"/>
              <a:t>Ann, Brian, Cathy, Dave </a:t>
            </a:r>
            <a:br>
              <a:rPr lang="en-GB" altLang="en-US" sz="2600"/>
            </a:br>
            <a:r>
              <a:rPr lang="en-GB" altLang="en-US" sz="2600"/>
              <a:t>each have one load of clothes </a:t>
            </a:r>
            <a:br>
              <a:rPr lang="en-GB" altLang="en-US" sz="2600"/>
            </a:br>
            <a:r>
              <a:rPr lang="en-GB" altLang="en-US" sz="2600"/>
              <a:t>to wash, dry, and fold</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600"/>
              <a:t>Washer takes 30 minutes</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600"/>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600"/>
              <a:t>Dryer takes 40 minutes</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600"/>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600"/>
              <a:t>“Folder” takes 20 minutes</a:t>
            </a:r>
          </a:p>
        </p:txBody>
      </p:sp>
      <p:grpSp>
        <p:nvGrpSpPr>
          <p:cNvPr id="9220" name="Group 4"/>
          <p:cNvGrpSpPr>
            <a:grpSpLocks/>
          </p:cNvGrpSpPr>
          <p:nvPr/>
        </p:nvGrpSpPr>
        <p:grpSpPr bwMode="auto">
          <a:xfrm>
            <a:off x="6369050" y="4992688"/>
            <a:ext cx="671513" cy="798512"/>
            <a:chOff x="4012" y="2316"/>
            <a:chExt cx="423" cy="503"/>
          </a:xfrm>
        </p:grpSpPr>
        <p:grpSp>
          <p:nvGrpSpPr>
            <p:cNvPr id="9221" name="Group 5"/>
            <p:cNvGrpSpPr>
              <a:grpSpLocks/>
            </p:cNvGrpSpPr>
            <p:nvPr/>
          </p:nvGrpSpPr>
          <p:grpSpPr bwMode="auto">
            <a:xfrm>
              <a:off x="4012" y="2316"/>
              <a:ext cx="423" cy="503"/>
              <a:chOff x="4012" y="2316"/>
              <a:chExt cx="423" cy="503"/>
            </a:xfrm>
          </p:grpSpPr>
          <p:grpSp>
            <p:nvGrpSpPr>
              <p:cNvPr id="9222" name="Group 6"/>
              <p:cNvGrpSpPr>
                <a:grpSpLocks/>
              </p:cNvGrpSpPr>
              <p:nvPr/>
            </p:nvGrpSpPr>
            <p:grpSpPr bwMode="auto">
              <a:xfrm>
                <a:off x="4012" y="2396"/>
                <a:ext cx="423" cy="423"/>
                <a:chOff x="4012" y="2396"/>
                <a:chExt cx="423" cy="423"/>
              </a:xfrm>
            </p:grpSpPr>
            <p:sp>
              <p:nvSpPr>
                <p:cNvPr id="9223" name="Freeform 7"/>
                <p:cNvSpPr>
                  <a:spLocks noChangeArrowheads="1"/>
                </p:cNvSpPr>
                <p:nvPr/>
              </p:nvSpPr>
              <p:spPr bwMode="auto">
                <a:xfrm>
                  <a:off x="4012" y="2396"/>
                  <a:ext cx="424" cy="424"/>
                </a:xfrm>
                <a:custGeom>
                  <a:avLst/>
                  <a:gdLst>
                    <a:gd name="T0" fmla="*/ 0 w 1871"/>
                    <a:gd name="T1" fmla="*/ 1869 h 1870"/>
                    <a:gd name="T2" fmla="*/ 0 w 1871"/>
                    <a:gd name="T3" fmla="*/ 467 h 1870"/>
                    <a:gd name="T4" fmla="*/ 466 w 1871"/>
                    <a:gd name="T5" fmla="*/ 0 h 1870"/>
                    <a:gd name="T6" fmla="*/ 1870 w 1871"/>
                    <a:gd name="T7" fmla="*/ 0 h 1870"/>
                    <a:gd name="T8" fmla="*/ 1870 w 1871"/>
                    <a:gd name="T9" fmla="*/ 1402 h 1870"/>
                    <a:gd name="T10" fmla="*/ 1402 w 1871"/>
                    <a:gd name="T11" fmla="*/ 1869 h 1870"/>
                    <a:gd name="T12" fmla="*/ 0 w 1871"/>
                    <a:gd name="T13" fmla="*/ 1869 h 1870"/>
                  </a:gdLst>
                  <a:ahLst/>
                  <a:cxnLst>
                    <a:cxn ang="0">
                      <a:pos x="T0" y="T1"/>
                    </a:cxn>
                    <a:cxn ang="0">
                      <a:pos x="T2" y="T3"/>
                    </a:cxn>
                    <a:cxn ang="0">
                      <a:pos x="T4" y="T5"/>
                    </a:cxn>
                    <a:cxn ang="0">
                      <a:pos x="T6" y="T7"/>
                    </a:cxn>
                    <a:cxn ang="0">
                      <a:pos x="T8" y="T9"/>
                    </a:cxn>
                    <a:cxn ang="0">
                      <a:pos x="T10" y="T11"/>
                    </a:cxn>
                    <a:cxn ang="0">
                      <a:pos x="T12" y="T13"/>
                    </a:cxn>
                  </a:cxnLst>
                  <a:rect l="0" t="0" r="r" b="b"/>
                  <a:pathLst>
                    <a:path w="1871" h="1870">
                      <a:moveTo>
                        <a:pt x="0" y="1869"/>
                      </a:moveTo>
                      <a:lnTo>
                        <a:pt x="0" y="467"/>
                      </a:lnTo>
                      <a:lnTo>
                        <a:pt x="466" y="0"/>
                      </a:lnTo>
                      <a:lnTo>
                        <a:pt x="1870" y="0"/>
                      </a:lnTo>
                      <a:lnTo>
                        <a:pt x="1870" y="1402"/>
                      </a:lnTo>
                      <a:lnTo>
                        <a:pt x="1402" y="1869"/>
                      </a:lnTo>
                      <a:lnTo>
                        <a:pt x="0" y="1869"/>
                      </a:lnTo>
                    </a:path>
                  </a:pathLst>
                </a:custGeom>
                <a:solidFill>
                  <a:srgbClr val="A2C1FE"/>
                </a:solidFill>
                <a:ln w="12600">
                  <a:solidFill>
                    <a:srgbClr val="000000"/>
                  </a:solidFill>
                  <a:round/>
                  <a:headEnd/>
                  <a:tailEnd/>
                </a:ln>
              </p:spPr>
              <p:txBody>
                <a:bodyPr wrap="none" anchor="ctr"/>
                <a:lstStyle/>
                <a:p>
                  <a:endParaRPr lang="en-IN"/>
                </a:p>
              </p:txBody>
            </p:sp>
            <p:sp>
              <p:nvSpPr>
                <p:cNvPr id="9224" name="Freeform 8"/>
                <p:cNvSpPr>
                  <a:spLocks noChangeArrowheads="1"/>
                </p:cNvSpPr>
                <p:nvPr/>
              </p:nvSpPr>
              <p:spPr bwMode="auto">
                <a:xfrm>
                  <a:off x="4012" y="2396"/>
                  <a:ext cx="424" cy="106"/>
                </a:xfrm>
                <a:custGeom>
                  <a:avLst/>
                  <a:gdLst>
                    <a:gd name="T0" fmla="*/ 0 w 1871"/>
                    <a:gd name="T1" fmla="*/ 467 h 468"/>
                    <a:gd name="T2" fmla="*/ 466 w 1871"/>
                    <a:gd name="T3" fmla="*/ 0 h 468"/>
                    <a:gd name="T4" fmla="*/ 1870 w 1871"/>
                    <a:gd name="T5" fmla="*/ 0 h 468"/>
                    <a:gd name="T6" fmla="*/ 1402 w 1871"/>
                    <a:gd name="T7" fmla="*/ 467 h 468"/>
                    <a:gd name="T8" fmla="*/ 0 w 1871"/>
                    <a:gd name="T9" fmla="*/ 467 h 468"/>
                  </a:gdLst>
                  <a:ahLst/>
                  <a:cxnLst>
                    <a:cxn ang="0">
                      <a:pos x="T0" y="T1"/>
                    </a:cxn>
                    <a:cxn ang="0">
                      <a:pos x="T2" y="T3"/>
                    </a:cxn>
                    <a:cxn ang="0">
                      <a:pos x="T4" y="T5"/>
                    </a:cxn>
                    <a:cxn ang="0">
                      <a:pos x="T6" y="T7"/>
                    </a:cxn>
                    <a:cxn ang="0">
                      <a:pos x="T8" y="T9"/>
                    </a:cxn>
                  </a:cxnLst>
                  <a:rect l="0" t="0" r="r" b="b"/>
                  <a:pathLst>
                    <a:path w="1871" h="468">
                      <a:moveTo>
                        <a:pt x="0" y="467"/>
                      </a:moveTo>
                      <a:lnTo>
                        <a:pt x="466" y="0"/>
                      </a:lnTo>
                      <a:lnTo>
                        <a:pt x="1870" y="0"/>
                      </a:lnTo>
                      <a:lnTo>
                        <a:pt x="1402" y="467"/>
                      </a:lnTo>
                      <a:lnTo>
                        <a:pt x="0" y="467"/>
                      </a:lnTo>
                    </a:path>
                  </a:pathLst>
                </a:custGeom>
                <a:solidFill>
                  <a:srgbClr val="B1D3FF"/>
                </a:solidFill>
                <a:ln w="12600">
                  <a:solidFill>
                    <a:srgbClr val="000000"/>
                  </a:solidFill>
                  <a:round/>
                  <a:headEnd/>
                  <a:tailEnd/>
                </a:ln>
              </p:spPr>
              <p:txBody>
                <a:bodyPr wrap="none" anchor="ctr"/>
                <a:lstStyle/>
                <a:p>
                  <a:endParaRPr lang="en-IN"/>
                </a:p>
              </p:txBody>
            </p:sp>
            <p:sp>
              <p:nvSpPr>
                <p:cNvPr id="9225" name="Freeform 9"/>
                <p:cNvSpPr>
                  <a:spLocks noChangeArrowheads="1"/>
                </p:cNvSpPr>
                <p:nvPr/>
              </p:nvSpPr>
              <p:spPr bwMode="auto">
                <a:xfrm>
                  <a:off x="4330" y="2396"/>
                  <a:ext cx="106" cy="424"/>
                </a:xfrm>
                <a:custGeom>
                  <a:avLst/>
                  <a:gdLst>
                    <a:gd name="T0" fmla="*/ 0 w 469"/>
                    <a:gd name="T1" fmla="*/ 1869 h 1870"/>
                    <a:gd name="T2" fmla="*/ 0 w 469"/>
                    <a:gd name="T3" fmla="*/ 467 h 1870"/>
                    <a:gd name="T4" fmla="*/ 468 w 469"/>
                    <a:gd name="T5" fmla="*/ 0 h 1870"/>
                    <a:gd name="T6" fmla="*/ 468 w 469"/>
                    <a:gd name="T7" fmla="*/ 1402 h 1870"/>
                    <a:gd name="T8" fmla="*/ 0 w 469"/>
                    <a:gd name="T9" fmla="*/ 1869 h 1870"/>
                  </a:gdLst>
                  <a:ahLst/>
                  <a:cxnLst>
                    <a:cxn ang="0">
                      <a:pos x="T0" y="T1"/>
                    </a:cxn>
                    <a:cxn ang="0">
                      <a:pos x="T2" y="T3"/>
                    </a:cxn>
                    <a:cxn ang="0">
                      <a:pos x="T4" y="T5"/>
                    </a:cxn>
                    <a:cxn ang="0">
                      <a:pos x="T6" y="T7"/>
                    </a:cxn>
                    <a:cxn ang="0">
                      <a:pos x="T8" y="T9"/>
                    </a:cxn>
                  </a:cxnLst>
                  <a:rect l="0" t="0" r="r" b="b"/>
                  <a:pathLst>
                    <a:path w="469" h="1870">
                      <a:moveTo>
                        <a:pt x="0" y="1869"/>
                      </a:moveTo>
                      <a:lnTo>
                        <a:pt x="0" y="467"/>
                      </a:lnTo>
                      <a:lnTo>
                        <a:pt x="468" y="0"/>
                      </a:lnTo>
                      <a:lnTo>
                        <a:pt x="468" y="1402"/>
                      </a:lnTo>
                      <a:lnTo>
                        <a:pt x="0" y="1869"/>
                      </a:lnTo>
                    </a:path>
                  </a:pathLst>
                </a:custGeom>
                <a:solidFill>
                  <a:srgbClr val="8BA5DA"/>
                </a:solidFill>
                <a:ln w="12600">
                  <a:solidFill>
                    <a:srgbClr val="000000"/>
                  </a:solidFill>
                  <a:round/>
                  <a:headEnd/>
                  <a:tailEnd/>
                </a:ln>
              </p:spPr>
              <p:txBody>
                <a:bodyPr wrap="none" anchor="ctr"/>
                <a:lstStyle/>
                <a:p>
                  <a:endParaRPr lang="en-IN"/>
                </a:p>
              </p:txBody>
            </p:sp>
          </p:grpSp>
          <p:grpSp>
            <p:nvGrpSpPr>
              <p:cNvPr id="9226" name="Group 10"/>
              <p:cNvGrpSpPr>
                <a:grpSpLocks/>
              </p:cNvGrpSpPr>
              <p:nvPr/>
            </p:nvGrpSpPr>
            <p:grpSpPr bwMode="auto">
              <a:xfrm>
                <a:off x="4108" y="2316"/>
                <a:ext cx="327" cy="87"/>
                <a:chOff x="4108" y="2316"/>
                <a:chExt cx="327" cy="87"/>
              </a:xfrm>
            </p:grpSpPr>
            <p:sp>
              <p:nvSpPr>
                <p:cNvPr id="9227" name="Freeform 11"/>
                <p:cNvSpPr>
                  <a:spLocks noChangeArrowheads="1"/>
                </p:cNvSpPr>
                <p:nvPr/>
              </p:nvSpPr>
              <p:spPr bwMode="auto">
                <a:xfrm>
                  <a:off x="4108" y="2316"/>
                  <a:ext cx="328" cy="88"/>
                </a:xfrm>
                <a:custGeom>
                  <a:avLst/>
                  <a:gdLst>
                    <a:gd name="T0" fmla="*/ 0 w 1448"/>
                    <a:gd name="T1" fmla="*/ 388 h 389"/>
                    <a:gd name="T2" fmla="*/ 0 w 1448"/>
                    <a:gd name="T3" fmla="*/ 96 h 389"/>
                    <a:gd name="T4" fmla="*/ 96 w 1448"/>
                    <a:gd name="T5" fmla="*/ 0 h 389"/>
                    <a:gd name="T6" fmla="*/ 1447 w 1448"/>
                    <a:gd name="T7" fmla="*/ 0 h 389"/>
                    <a:gd name="T8" fmla="*/ 1447 w 1448"/>
                    <a:gd name="T9" fmla="*/ 290 h 389"/>
                    <a:gd name="T10" fmla="*/ 1349 w 1448"/>
                    <a:gd name="T11" fmla="*/ 388 h 389"/>
                    <a:gd name="T12" fmla="*/ 0 w 1448"/>
                    <a:gd name="T13" fmla="*/ 388 h 389"/>
                  </a:gdLst>
                  <a:ahLst/>
                  <a:cxnLst>
                    <a:cxn ang="0">
                      <a:pos x="T0" y="T1"/>
                    </a:cxn>
                    <a:cxn ang="0">
                      <a:pos x="T2" y="T3"/>
                    </a:cxn>
                    <a:cxn ang="0">
                      <a:pos x="T4" y="T5"/>
                    </a:cxn>
                    <a:cxn ang="0">
                      <a:pos x="T6" y="T7"/>
                    </a:cxn>
                    <a:cxn ang="0">
                      <a:pos x="T8" y="T9"/>
                    </a:cxn>
                    <a:cxn ang="0">
                      <a:pos x="T10" y="T11"/>
                    </a:cxn>
                    <a:cxn ang="0">
                      <a:pos x="T12" y="T13"/>
                    </a:cxn>
                  </a:cxnLst>
                  <a:rect l="0" t="0" r="r" b="b"/>
                  <a:pathLst>
                    <a:path w="1448" h="389">
                      <a:moveTo>
                        <a:pt x="0" y="388"/>
                      </a:moveTo>
                      <a:lnTo>
                        <a:pt x="0" y="96"/>
                      </a:lnTo>
                      <a:lnTo>
                        <a:pt x="96" y="0"/>
                      </a:lnTo>
                      <a:lnTo>
                        <a:pt x="1447" y="0"/>
                      </a:lnTo>
                      <a:lnTo>
                        <a:pt x="1447" y="290"/>
                      </a:lnTo>
                      <a:lnTo>
                        <a:pt x="1349" y="388"/>
                      </a:lnTo>
                      <a:lnTo>
                        <a:pt x="0" y="388"/>
                      </a:lnTo>
                    </a:path>
                  </a:pathLst>
                </a:custGeom>
                <a:solidFill>
                  <a:srgbClr val="A2C1FE"/>
                </a:solidFill>
                <a:ln w="12600">
                  <a:solidFill>
                    <a:srgbClr val="000000"/>
                  </a:solidFill>
                  <a:round/>
                  <a:headEnd/>
                  <a:tailEnd/>
                </a:ln>
              </p:spPr>
              <p:txBody>
                <a:bodyPr wrap="none" anchor="ctr"/>
                <a:lstStyle/>
                <a:p>
                  <a:endParaRPr lang="en-IN"/>
                </a:p>
              </p:txBody>
            </p:sp>
            <p:sp>
              <p:nvSpPr>
                <p:cNvPr id="9228" name="Freeform 12"/>
                <p:cNvSpPr>
                  <a:spLocks noChangeArrowheads="1"/>
                </p:cNvSpPr>
                <p:nvPr/>
              </p:nvSpPr>
              <p:spPr bwMode="auto">
                <a:xfrm>
                  <a:off x="4108" y="2316"/>
                  <a:ext cx="328" cy="22"/>
                </a:xfrm>
                <a:custGeom>
                  <a:avLst/>
                  <a:gdLst>
                    <a:gd name="T0" fmla="*/ 0 w 1448"/>
                    <a:gd name="T1" fmla="*/ 96 h 97"/>
                    <a:gd name="T2" fmla="*/ 96 w 1448"/>
                    <a:gd name="T3" fmla="*/ 0 h 97"/>
                    <a:gd name="T4" fmla="*/ 1447 w 1448"/>
                    <a:gd name="T5" fmla="*/ 0 h 97"/>
                    <a:gd name="T6" fmla="*/ 1349 w 1448"/>
                    <a:gd name="T7" fmla="*/ 96 h 97"/>
                    <a:gd name="T8" fmla="*/ 0 w 1448"/>
                    <a:gd name="T9" fmla="*/ 96 h 97"/>
                  </a:gdLst>
                  <a:ahLst/>
                  <a:cxnLst>
                    <a:cxn ang="0">
                      <a:pos x="T0" y="T1"/>
                    </a:cxn>
                    <a:cxn ang="0">
                      <a:pos x="T2" y="T3"/>
                    </a:cxn>
                    <a:cxn ang="0">
                      <a:pos x="T4" y="T5"/>
                    </a:cxn>
                    <a:cxn ang="0">
                      <a:pos x="T6" y="T7"/>
                    </a:cxn>
                    <a:cxn ang="0">
                      <a:pos x="T8" y="T9"/>
                    </a:cxn>
                  </a:cxnLst>
                  <a:rect l="0" t="0" r="r" b="b"/>
                  <a:pathLst>
                    <a:path w="1448" h="97">
                      <a:moveTo>
                        <a:pt x="0" y="96"/>
                      </a:moveTo>
                      <a:lnTo>
                        <a:pt x="96" y="0"/>
                      </a:lnTo>
                      <a:lnTo>
                        <a:pt x="1447" y="0"/>
                      </a:lnTo>
                      <a:lnTo>
                        <a:pt x="1349" y="96"/>
                      </a:lnTo>
                      <a:lnTo>
                        <a:pt x="0" y="96"/>
                      </a:lnTo>
                    </a:path>
                  </a:pathLst>
                </a:custGeom>
                <a:solidFill>
                  <a:srgbClr val="B1D3FF"/>
                </a:solidFill>
                <a:ln w="12600">
                  <a:solidFill>
                    <a:srgbClr val="000000"/>
                  </a:solidFill>
                  <a:round/>
                  <a:headEnd/>
                  <a:tailEnd/>
                </a:ln>
              </p:spPr>
              <p:txBody>
                <a:bodyPr wrap="none" anchor="ctr"/>
                <a:lstStyle/>
                <a:p>
                  <a:endParaRPr lang="en-IN"/>
                </a:p>
              </p:txBody>
            </p:sp>
            <p:sp>
              <p:nvSpPr>
                <p:cNvPr id="9229" name="Freeform 13"/>
                <p:cNvSpPr>
                  <a:spLocks noChangeArrowheads="1"/>
                </p:cNvSpPr>
                <p:nvPr/>
              </p:nvSpPr>
              <p:spPr bwMode="auto">
                <a:xfrm>
                  <a:off x="4414" y="2316"/>
                  <a:ext cx="22" cy="88"/>
                </a:xfrm>
                <a:custGeom>
                  <a:avLst/>
                  <a:gdLst>
                    <a:gd name="T0" fmla="*/ 0 w 99"/>
                    <a:gd name="T1" fmla="*/ 388 h 389"/>
                    <a:gd name="T2" fmla="*/ 0 w 99"/>
                    <a:gd name="T3" fmla="*/ 96 h 389"/>
                    <a:gd name="T4" fmla="*/ 98 w 99"/>
                    <a:gd name="T5" fmla="*/ 0 h 389"/>
                    <a:gd name="T6" fmla="*/ 98 w 99"/>
                    <a:gd name="T7" fmla="*/ 290 h 389"/>
                    <a:gd name="T8" fmla="*/ 0 w 99"/>
                    <a:gd name="T9" fmla="*/ 388 h 389"/>
                  </a:gdLst>
                  <a:ahLst/>
                  <a:cxnLst>
                    <a:cxn ang="0">
                      <a:pos x="T0" y="T1"/>
                    </a:cxn>
                    <a:cxn ang="0">
                      <a:pos x="T2" y="T3"/>
                    </a:cxn>
                    <a:cxn ang="0">
                      <a:pos x="T4" y="T5"/>
                    </a:cxn>
                    <a:cxn ang="0">
                      <a:pos x="T6" y="T7"/>
                    </a:cxn>
                    <a:cxn ang="0">
                      <a:pos x="T8" y="T9"/>
                    </a:cxn>
                  </a:cxnLst>
                  <a:rect l="0" t="0" r="r" b="b"/>
                  <a:pathLst>
                    <a:path w="99" h="389">
                      <a:moveTo>
                        <a:pt x="0" y="388"/>
                      </a:moveTo>
                      <a:lnTo>
                        <a:pt x="0" y="96"/>
                      </a:lnTo>
                      <a:lnTo>
                        <a:pt x="98" y="0"/>
                      </a:lnTo>
                      <a:lnTo>
                        <a:pt x="98" y="290"/>
                      </a:lnTo>
                      <a:lnTo>
                        <a:pt x="0" y="388"/>
                      </a:lnTo>
                    </a:path>
                  </a:pathLst>
                </a:custGeom>
                <a:solidFill>
                  <a:srgbClr val="8BA5DA"/>
                </a:solidFill>
                <a:ln w="12600">
                  <a:solidFill>
                    <a:srgbClr val="000000"/>
                  </a:solidFill>
                  <a:round/>
                  <a:headEnd/>
                  <a:tailEnd/>
                </a:ln>
              </p:spPr>
              <p:txBody>
                <a:bodyPr wrap="none" anchor="ctr"/>
                <a:lstStyle/>
                <a:p>
                  <a:endParaRPr lang="en-IN"/>
                </a:p>
              </p:txBody>
            </p:sp>
          </p:grpSp>
        </p:grpSp>
        <p:sp>
          <p:nvSpPr>
            <p:cNvPr id="9230" name="Oval 14"/>
            <p:cNvSpPr>
              <a:spLocks noChangeArrowheads="1"/>
            </p:cNvSpPr>
            <p:nvPr/>
          </p:nvSpPr>
          <p:spPr bwMode="auto">
            <a:xfrm>
              <a:off x="4140" y="2356"/>
              <a:ext cx="56" cy="32"/>
            </a:xfrm>
            <a:prstGeom prst="ellipse">
              <a:avLst/>
            </a:prstGeom>
            <a:solidFill>
              <a:srgbClr val="FFFFFF"/>
            </a:solidFill>
            <a:ln w="12600">
              <a:solidFill>
                <a:srgbClr val="000000"/>
              </a:solidFill>
              <a:round/>
              <a:headEnd/>
              <a:tailEnd/>
            </a:ln>
          </p:spPr>
          <p:txBody>
            <a:bodyPr wrap="none" anchor="ctr"/>
            <a:lstStyle/>
            <a:p>
              <a:endParaRPr lang="en-IN"/>
            </a:p>
          </p:txBody>
        </p:sp>
        <p:sp>
          <p:nvSpPr>
            <p:cNvPr id="9231" name="Freeform 15"/>
            <p:cNvSpPr>
              <a:spLocks noChangeArrowheads="1"/>
            </p:cNvSpPr>
            <p:nvPr/>
          </p:nvSpPr>
          <p:spPr bwMode="auto">
            <a:xfrm>
              <a:off x="4064" y="2592"/>
              <a:ext cx="224" cy="96"/>
            </a:xfrm>
            <a:custGeom>
              <a:avLst/>
              <a:gdLst>
                <a:gd name="T0" fmla="*/ 123 w 989"/>
                <a:gd name="T1" fmla="*/ 0 h 424"/>
                <a:gd name="T2" fmla="*/ 863 w 989"/>
                <a:gd name="T3" fmla="*/ 0 h 424"/>
                <a:gd name="T4" fmla="*/ 988 w 989"/>
                <a:gd name="T5" fmla="*/ 123 h 424"/>
                <a:gd name="T6" fmla="*/ 988 w 989"/>
                <a:gd name="T7" fmla="*/ 298 h 424"/>
                <a:gd name="T8" fmla="*/ 863 w 989"/>
                <a:gd name="T9" fmla="*/ 423 h 424"/>
                <a:gd name="T10" fmla="*/ 123 w 989"/>
                <a:gd name="T11" fmla="*/ 423 h 424"/>
                <a:gd name="T12" fmla="*/ 0 w 989"/>
                <a:gd name="T13" fmla="*/ 298 h 424"/>
                <a:gd name="T14" fmla="*/ 0 w 989"/>
                <a:gd name="T15" fmla="*/ 123 h 424"/>
                <a:gd name="T16" fmla="*/ 123 w 989"/>
                <a:gd name="T17"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9" h="424">
                  <a:moveTo>
                    <a:pt x="123" y="0"/>
                  </a:moveTo>
                  <a:lnTo>
                    <a:pt x="863" y="0"/>
                  </a:lnTo>
                  <a:lnTo>
                    <a:pt x="988" y="123"/>
                  </a:lnTo>
                  <a:lnTo>
                    <a:pt x="988" y="298"/>
                  </a:lnTo>
                  <a:lnTo>
                    <a:pt x="863" y="423"/>
                  </a:lnTo>
                  <a:lnTo>
                    <a:pt x="123" y="423"/>
                  </a:lnTo>
                  <a:lnTo>
                    <a:pt x="0" y="298"/>
                  </a:lnTo>
                  <a:lnTo>
                    <a:pt x="0" y="123"/>
                  </a:lnTo>
                  <a:lnTo>
                    <a:pt x="123" y="0"/>
                  </a:lnTo>
                </a:path>
              </a:pathLst>
            </a:custGeom>
            <a:solidFill>
              <a:srgbClr val="A2C1FE"/>
            </a:solidFill>
            <a:ln w="25560">
              <a:solidFill>
                <a:srgbClr val="000000"/>
              </a:solidFill>
              <a:round/>
              <a:headEnd/>
              <a:tailEnd/>
            </a:ln>
          </p:spPr>
          <p:txBody>
            <a:bodyPr wrap="none" anchor="ctr"/>
            <a:lstStyle/>
            <a:p>
              <a:endParaRPr lang="en-IN"/>
            </a:p>
          </p:txBody>
        </p:sp>
      </p:grpSp>
      <p:grpSp>
        <p:nvGrpSpPr>
          <p:cNvPr id="9232" name="Group 16"/>
          <p:cNvGrpSpPr>
            <a:grpSpLocks/>
          </p:cNvGrpSpPr>
          <p:nvPr/>
        </p:nvGrpSpPr>
        <p:grpSpPr bwMode="auto">
          <a:xfrm>
            <a:off x="6361113" y="5981700"/>
            <a:ext cx="660400" cy="647700"/>
            <a:chOff x="4007" y="2964"/>
            <a:chExt cx="416" cy="408"/>
          </a:xfrm>
        </p:grpSpPr>
        <p:grpSp>
          <p:nvGrpSpPr>
            <p:cNvPr id="9233" name="Group 17"/>
            <p:cNvGrpSpPr>
              <a:grpSpLocks/>
            </p:cNvGrpSpPr>
            <p:nvPr/>
          </p:nvGrpSpPr>
          <p:grpSpPr bwMode="auto">
            <a:xfrm>
              <a:off x="4009" y="3157"/>
              <a:ext cx="414" cy="215"/>
              <a:chOff x="4009" y="3157"/>
              <a:chExt cx="414" cy="215"/>
            </a:xfrm>
          </p:grpSpPr>
          <p:sp>
            <p:nvSpPr>
              <p:cNvPr id="9234" name="Freeform 18"/>
              <p:cNvSpPr>
                <a:spLocks noChangeArrowheads="1"/>
              </p:cNvSpPr>
              <p:nvPr/>
            </p:nvSpPr>
            <p:spPr bwMode="auto">
              <a:xfrm>
                <a:off x="4211" y="3158"/>
                <a:ext cx="95" cy="215"/>
              </a:xfrm>
              <a:custGeom>
                <a:avLst/>
                <a:gdLst>
                  <a:gd name="T0" fmla="*/ 305 w 421"/>
                  <a:gd name="T1" fmla="*/ 0 h 949"/>
                  <a:gd name="T2" fmla="*/ 420 w 421"/>
                  <a:gd name="T3" fmla="*/ 0 h 949"/>
                  <a:gd name="T4" fmla="*/ 115 w 421"/>
                  <a:gd name="T5" fmla="*/ 948 h 949"/>
                  <a:gd name="T6" fmla="*/ 0 w 421"/>
                  <a:gd name="T7" fmla="*/ 948 h 949"/>
                  <a:gd name="T8" fmla="*/ 305 w 421"/>
                  <a:gd name="T9" fmla="*/ 0 h 949"/>
                </a:gdLst>
                <a:ahLst/>
                <a:cxnLst>
                  <a:cxn ang="0">
                    <a:pos x="T0" y="T1"/>
                  </a:cxn>
                  <a:cxn ang="0">
                    <a:pos x="T2" y="T3"/>
                  </a:cxn>
                  <a:cxn ang="0">
                    <a:pos x="T4" y="T5"/>
                  </a:cxn>
                  <a:cxn ang="0">
                    <a:pos x="T6" y="T7"/>
                  </a:cxn>
                  <a:cxn ang="0">
                    <a:pos x="T8" y="T9"/>
                  </a:cxn>
                </a:cxnLst>
                <a:rect l="0" t="0" r="r" b="b"/>
                <a:pathLst>
                  <a:path w="421" h="949">
                    <a:moveTo>
                      <a:pt x="305" y="0"/>
                    </a:moveTo>
                    <a:lnTo>
                      <a:pt x="420" y="0"/>
                    </a:lnTo>
                    <a:lnTo>
                      <a:pt x="115" y="948"/>
                    </a:lnTo>
                    <a:lnTo>
                      <a:pt x="0" y="948"/>
                    </a:lnTo>
                    <a:lnTo>
                      <a:pt x="305"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9235" name="AutoShape 19"/>
              <p:cNvSpPr>
                <a:spLocks noChangeArrowheads="1"/>
              </p:cNvSpPr>
              <p:nvPr/>
            </p:nvSpPr>
            <p:spPr bwMode="auto">
              <a:xfrm>
                <a:off x="4206" y="3157"/>
                <a:ext cx="218" cy="12"/>
              </a:xfrm>
              <a:prstGeom prst="roundRect">
                <a:avLst>
                  <a:gd name="adj" fmla="val 8333"/>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9236" name="AutoShape 20"/>
              <p:cNvSpPr>
                <a:spLocks noChangeArrowheads="1"/>
              </p:cNvSpPr>
              <p:nvPr/>
            </p:nvSpPr>
            <p:spPr bwMode="auto">
              <a:xfrm>
                <a:off x="4205" y="3249"/>
                <a:ext cx="218" cy="13"/>
              </a:xfrm>
              <a:prstGeom prst="roundRect">
                <a:avLst>
                  <a:gd name="adj" fmla="val 8333"/>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9237" name="AutoShape 21"/>
              <p:cNvSpPr>
                <a:spLocks noChangeArrowheads="1"/>
              </p:cNvSpPr>
              <p:nvPr/>
            </p:nvSpPr>
            <p:spPr bwMode="auto">
              <a:xfrm>
                <a:off x="4009" y="3249"/>
                <a:ext cx="116" cy="13"/>
              </a:xfrm>
              <a:prstGeom prst="roundRect">
                <a:avLst>
                  <a:gd name="adj" fmla="val 8333"/>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nvGrpSpPr>
            <p:cNvPr id="9238" name="Group 22"/>
            <p:cNvGrpSpPr>
              <a:grpSpLocks/>
            </p:cNvGrpSpPr>
            <p:nvPr/>
          </p:nvGrpSpPr>
          <p:grpSpPr bwMode="auto">
            <a:xfrm>
              <a:off x="4007" y="2964"/>
              <a:ext cx="216" cy="408"/>
              <a:chOff x="4007" y="2964"/>
              <a:chExt cx="216" cy="408"/>
            </a:xfrm>
          </p:grpSpPr>
          <p:sp>
            <p:nvSpPr>
              <p:cNvPr id="9239" name="Oval 23"/>
              <p:cNvSpPr>
                <a:spLocks noChangeArrowheads="1"/>
              </p:cNvSpPr>
              <p:nvPr/>
            </p:nvSpPr>
            <p:spPr bwMode="auto">
              <a:xfrm>
                <a:off x="4091" y="2964"/>
                <a:ext cx="56" cy="55"/>
              </a:xfrm>
              <a:prstGeom prst="ellipse">
                <a:avLst/>
              </a:prstGeom>
              <a:solidFill>
                <a:srgbClr val="FC0128"/>
              </a:solidFill>
              <a:ln w="12600">
                <a:solidFill>
                  <a:srgbClr val="000000"/>
                </a:solidFill>
                <a:round/>
                <a:headEnd/>
                <a:tailEnd/>
              </a:ln>
            </p:spPr>
            <p:txBody>
              <a:bodyPr wrap="none" anchor="ctr"/>
              <a:lstStyle/>
              <a:p>
                <a:endParaRPr lang="en-IN"/>
              </a:p>
            </p:txBody>
          </p:sp>
          <p:sp>
            <p:nvSpPr>
              <p:cNvPr id="9240" name="Freeform 24"/>
              <p:cNvSpPr>
                <a:spLocks noChangeArrowheads="1"/>
              </p:cNvSpPr>
              <p:nvPr/>
            </p:nvSpPr>
            <p:spPr bwMode="auto">
              <a:xfrm>
                <a:off x="4007" y="3041"/>
                <a:ext cx="217" cy="332"/>
              </a:xfrm>
              <a:custGeom>
                <a:avLst/>
                <a:gdLst>
                  <a:gd name="T0" fmla="*/ 8 w 958"/>
                  <a:gd name="T1" fmla="*/ 676 h 1463"/>
                  <a:gd name="T2" fmla="*/ 4 w 958"/>
                  <a:gd name="T3" fmla="*/ 693 h 1463"/>
                  <a:gd name="T4" fmla="*/ 0 w 958"/>
                  <a:gd name="T5" fmla="*/ 720 h 1463"/>
                  <a:gd name="T6" fmla="*/ 0 w 958"/>
                  <a:gd name="T7" fmla="*/ 742 h 1463"/>
                  <a:gd name="T8" fmla="*/ 8 w 958"/>
                  <a:gd name="T9" fmla="*/ 768 h 1463"/>
                  <a:gd name="T10" fmla="*/ 22 w 958"/>
                  <a:gd name="T11" fmla="*/ 790 h 1463"/>
                  <a:gd name="T12" fmla="*/ 39 w 958"/>
                  <a:gd name="T13" fmla="*/ 808 h 1463"/>
                  <a:gd name="T14" fmla="*/ 61 w 958"/>
                  <a:gd name="T15" fmla="*/ 821 h 1463"/>
                  <a:gd name="T16" fmla="*/ 75 w 958"/>
                  <a:gd name="T17" fmla="*/ 821 h 1463"/>
                  <a:gd name="T18" fmla="*/ 101 w 958"/>
                  <a:gd name="T19" fmla="*/ 821 h 1463"/>
                  <a:gd name="T20" fmla="*/ 625 w 958"/>
                  <a:gd name="T21" fmla="*/ 1462 h 1463"/>
                  <a:gd name="T22" fmla="*/ 788 w 958"/>
                  <a:gd name="T23" fmla="*/ 702 h 1463"/>
                  <a:gd name="T24" fmla="*/ 784 w 958"/>
                  <a:gd name="T25" fmla="*/ 684 h 1463"/>
                  <a:gd name="T26" fmla="*/ 779 w 958"/>
                  <a:gd name="T27" fmla="*/ 671 h 1463"/>
                  <a:gd name="T28" fmla="*/ 766 w 958"/>
                  <a:gd name="T29" fmla="*/ 658 h 1463"/>
                  <a:gd name="T30" fmla="*/ 753 w 958"/>
                  <a:gd name="T31" fmla="*/ 649 h 1463"/>
                  <a:gd name="T32" fmla="*/ 735 w 958"/>
                  <a:gd name="T33" fmla="*/ 640 h 1463"/>
                  <a:gd name="T34" fmla="*/ 713 w 958"/>
                  <a:gd name="T35" fmla="*/ 640 h 1463"/>
                  <a:gd name="T36" fmla="*/ 696 w 958"/>
                  <a:gd name="T37" fmla="*/ 640 h 1463"/>
                  <a:gd name="T38" fmla="*/ 678 w 958"/>
                  <a:gd name="T39" fmla="*/ 640 h 1463"/>
                  <a:gd name="T40" fmla="*/ 461 w 958"/>
                  <a:gd name="T41" fmla="*/ 370 h 1463"/>
                  <a:gd name="T42" fmla="*/ 891 w 958"/>
                  <a:gd name="T43" fmla="*/ 458 h 1463"/>
                  <a:gd name="T44" fmla="*/ 904 w 958"/>
                  <a:gd name="T45" fmla="*/ 454 h 1463"/>
                  <a:gd name="T46" fmla="*/ 917 w 958"/>
                  <a:gd name="T47" fmla="*/ 454 h 1463"/>
                  <a:gd name="T48" fmla="*/ 935 w 958"/>
                  <a:gd name="T49" fmla="*/ 441 h 1463"/>
                  <a:gd name="T50" fmla="*/ 948 w 958"/>
                  <a:gd name="T51" fmla="*/ 428 h 1463"/>
                  <a:gd name="T52" fmla="*/ 953 w 958"/>
                  <a:gd name="T53" fmla="*/ 410 h 1463"/>
                  <a:gd name="T54" fmla="*/ 957 w 958"/>
                  <a:gd name="T55" fmla="*/ 388 h 1463"/>
                  <a:gd name="T56" fmla="*/ 953 w 958"/>
                  <a:gd name="T57" fmla="*/ 366 h 1463"/>
                  <a:gd name="T58" fmla="*/ 944 w 958"/>
                  <a:gd name="T59" fmla="*/ 348 h 1463"/>
                  <a:gd name="T60" fmla="*/ 931 w 958"/>
                  <a:gd name="T61" fmla="*/ 335 h 1463"/>
                  <a:gd name="T62" fmla="*/ 913 w 958"/>
                  <a:gd name="T63" fmla="*/ 322 h 1463"/>
                  <a:gd name="T64" fmla="*/ 900 w 958"/>
                  <a:gd name="T65" fmla="*/ 317 h 1463"/>
                  <a:gd name="T66" fmla="*/ 607 w 958"/>
                  <a:gd name="T67" fmla="*/ 317 h 1463"/>
                  <a:gd name="T68" fmla="*/ 553 w 958"/>
                  <a:gd name="T69" fmla="*/ 207 h 1463"/>
                  <a:gd name="T70" fmla="*/ 558 w 958"/>
                  <a:gd name="T71" fmla="*/ 180 h 1463"/>
                  <a:gd name="T72" fmla="*/ 562 w 958"/>
                  <a:gd name="T73" fmla="*/ 150 h 1463"/>
                  <a:gd name="T74" fmla="*/ 562 w 958"/>
                  <a:gd name="T75" fmla="*/ 119 h 1463"/>
                  <a:gd name="T76" fmla="*/ 553 w 958"/>
                  <a:gd name="T77" fmla="*/ 92 h 1463"/>
                  <a:gd name="T78" fmla="*/ 545 w 958"/>
                  <a:gd name="T79" fmla="*/ 75 h 1463"/>
                  <a:gd name="T80" fmla="*/ 531 w 958"/>
                  <a:gd name="T81" fmla="*/ 52 h 1463"/>
                  <a:gd name="T82" fmla="*/ 509 w 958"/>
                  <a:gd name="T83" fmla="*/ 35 h 1463"/>
                  <a:gd name="T84" fmla="*/ 487 w 958"/>
                  <a:gd name="T85" fmla="*/ 17 h 1463"/>
                  <a:gd name="T86" fmla="*/ 461 w 958"/>
                  <a:gd name="T87" fmla="*/ 4 h 1463"/>
                  <a:gd name="T88" fmla="*/ 430 w 958"/>
                  <a:gd name="T89" fmla="*/ 0 h 1463"/>
                  <a:gd name="T90" fmla="*/ 403 w 958"/>
                  <a:gd name="T91" fmla="*/ 0 h 1463"/>
                  <a:gd name="T92" fmla="*/ 372 w 958"/>
                  <a:gd name="T93" fmla="*/ 4 h 1463"/>
                  <a:gd name="T94" fmla="*/ 340 w 958"/>
                  <a:gd name="T95" fmla="*/ 13 h 1463"/>
                  <a:gd name="T96" fmla="*/ 310 w 958"/>
                  <a:gd name="T97" fmla="*/ 30 h 1463"/>
                  <a:gd name="T98" fmla="*/ 292 w 958"/>
                  <a:gd name="T99" fmla="*/ 57 h 1463"/>
                  <a:gd name="T100" fmla="*/ 274 w 958"/>
                  <a:gd name="T101" fmla="*/ 83 h 1463"/>
                  <a:gd name="T102" fmla="*/ 261 w 958"/>
                  <a:gd name="T103" fmla="*/ 110 h 1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58" h="1463">
                    <a:moveTo>
                      <a:pt x="261" y="110"/>
                    </a:moveTo>
                    <a:lnTo>
                      <a:pt x="8" y="676"/>
                    </a:lnTo>
                    <a:lnTo>
                      <a:pt x="4" y="684"/>
                    </a:lnTo>
                    <a:lnTo>
                      <a:pt x="4" y="693"/>
                    </a:lnTo>
                    <a:lnTo>
                      <a:pt x="0" y="702"/>
                    </a:lnTo>
                    <a:lnTo>
                      <a:pt x="0" y="720"/>
                    </a:lnTo>
                    <a:lnTo>
                      <a:pt x="0" y="729"/>
                    </a:lnTo>
                    <a:lnTo>
                      <a:pt x="0" y="742"/>
                    </a:lnTo>
                    <a:lnTo>
                      <a:pt x="4" y="755"/>
                    </a:lnTo>
                    <a:lnTo>
                      <a:pt x="8" y="768"/>
                    </a:lnTo>
                    <a:lnTo>
                      <a:pt x="13" y="777"/>
                    </a:lnTo>
                    <a:lnTo>
                      <a:pt x="22" y="790"/>
                    </a:lnTo>
                    <a:lnTo>
                      <a:pt x="30" y="799"/>
                    </a:lnTo>
                    <a:lnTo>
                      <a:pt x="39" y="808"/>
                    </a:lnTo>
                    <a:lnTo>
                      <a:pt x="52" y="812"/>
                    </a:lnTo>
                    <a:lnTo>
                      <a:pt x="61" y="821"/>
                    </a:lnTo>
                    <a:lnTo>
                      <a:pt x="66" y="821"/>
                    </a:lnTo>
                    <a:lnTo>
                      <a:pt x="75" y="821"/>
                    </a:lnTo>
                    <a:lnTo>
                      <a:pt x="88" y="821"/>
                    </a:lnTo>
                    <a:lnTo>
                      <a:pt x="101" y="821"/>
                    </a:lnTo>
                    <a:lnTo>
                      <a:pt x="625" y="821"/>
                    </a:lnTo>
                    <a:lnTo>
                      <a:pt x="625" y="1462"/>
                    </a:lnTo>
                    <a:lnTo>
                      <a:pt x="788" y="1462"/>
                    </a:lnTo>
                    <a:lnTo>
                      <a:pt x="788" y="702"/>
                    </a:lnTo>
                    <a:lnTo>
                      <a:pt x="788" y="693"/>
                    </a:lnTo>
                    <a:lnTo>
                      <a:pt x="784" y="684"/>
                    </a:lnTo>
                    <a:lnTo>
                      <a:pt x="779" y="676"/>
                    </a:lnTo>
                    <a:lnTo>
                      <a:pt x="779" y="671"/>
                    </a:lnTo>
                    <a:lnTo>
                      <a:pt x="775" y="667"/>
                    </a:lnTo>
                    <a:lnTo>
                      <a:pt x="766" y="658"/>
                    </a:lnTo>
                    <a:lnTo>
                      <a:pt x="762" y="654"/>
                    </a:lnTo>
                    <a:lnTo>
                      <a:pt x="753" y="649"/>
                    </a:lnTo>
                    <a:lnTo>
                      <a:pt x="744" y="645"/>
                    </a:lnTo>
                    <a:lnTo>
                      <a:pt x="735" y="640"/>
                    </a:lnTo>
                    <a:lnTo>
                      <a:pt x="727" y="640"/>
                    </a:lnTo>
                    <a:lnTo>
                      <a:pt x="713" y="640"/>
                    </a:lnTo>
                    <a:lnTo>
                      <a:pt x="704" y="640"/>
                    </a:lnTo>
                    <a:lnTo>
                      <a:pt x="696" y="640"/>
                    </a:lnTo>
                    <a:lnTo>
                      <a:pt x="687" y="640"/>
                    </a:lnTo>
                    <a:lnTo>
                      <a:pt x="678" y="640"/>
                    </a:lnTo>
                    <a:lnTo>
                      <a:pt x="377" y="623"/>
                    </a:lnTo>
                    <a:lnTo>
                      <a:pt x="461" y="370"/>
                    </a:lnTo>
                    <a:lnTo>
                      <a:pt x="522" y="458"/>
                    </a:lnTo>
                    <a:lnTo>
                      <a:pt x="891" y="458"/>
                    </a:lnTo>
                    <a:lnTo>
                      <a:pt x="900" y="454"/>
                    </a:lnTo>
                    <a:lnTo>
                      <a:pt x="904" y="454"/>
                    </a:lnTo>
                    <a:lnTo>
                      <a:pt x="913" y="454"/>
                    </a:lnTo>
                    <a:lnTo>
                      <a:pt x="917" y="454"/>
                    </a:lnTo>
                    <a:lnTo>
                      <a:pt x="926" y="445"/>
                    </a:lnTo>
                    <a:lnTo>
                      <a:pt x="935" y="441"/>
                    </a:lnTo>
                    <a:lnTo>
                      <a:pt x="939" y="432"/>
                    </a:lnTo>
                    <a:lnTo>
                      <a:pt x="948" y="428"/>
                    </a:lnTo>
                    <a:lnTo>
                      <a:pt x="953" y="419"/>
                    </a:lnTo>
                    <a:lnTo>
                      <a:pt x="953" y="410"/>
                    </a:lnTo>
                    <a:lnTo>
                      <a:pt x="957" y="401"/>
                    </a:lnTo>
                    <a:lnTo>
                      <a:pt x="957" y="388"/>
                    </a:lnTo>
                    <a:lnTo>
                      <a:pt x="957" y="375"/>
                    </a:lnTo>
                    <a:lnTo>
                      <a:pt x="953" y="366"/>
                    </a:lnTo>
                    <a:lnTo>
                      <a:pt x="948" y="357"/>
                    </a:lnTo>
                    <a:lnTo>
                      <a:pt x="944" y="348"/>
                    </a:lnTo>
                    <a:lnTo>
                      <a:pt x="935" y="339"/>
                    </a:lnTo>
                    <a:lnTo>
                      <a:pt x="931" y="335"/>
                    </a:lnTo>
                    <a:lnTo>
                      <a:pt x="922" y="326"/>
                    </a:lnTo>
                    <a:lnTo>
                      <a:pt x="913" y="322"/>
                    </a:lnTo>
                    <a:lnTo>
                      <a:pt x="909" y="317"/>
                    </a:lnTo>
                    <a:lnTo>
                      <a:pt x="900" y="317"/>
                    </a:lnTo>
                    <a:lnTo>
                      <a:pt x="891" y="317"/>
                    </a:lnTo>
                    <a:lnTo>
                      <a:pt x="607" y="317"/>
                    </a:lnTo>
                    <a:lnTo>
                      <a:pt x="545" y="216"/>
                    </a:lnTo>
                    <a:lnTo>
                      <a:pt x="553" y="207"/>
                    </a:lnTo>
                    <a:lnTo>
                      <a:pt x="558" y="194"/>
                    </a:lnTo>
                    <a:lnTo>
                      <a:pt x="558" y="180"/>
                    </a:lnTo>
                    <a:lnTo>
                      <a:pt x="562" y="167"/>
                    </a:lnTo>
                    <a:lnTo>
                      <a:pt x="562" y="150"/>
                    </a:lnTo>
                    <a:lnTo>
                      <a:pt x="562" y="136"/>
                    </a:lnTo>
                    <a:lnTo>
                      <a:pt x="562" y="119"/>
                    </a:lnTo>
                    <a:lnTo>
                      <a:pt x="558" y="105"/>
                    </a:lnTo>
                    <a:lnTo>
                      <a:pt x="553" y="92"/>
                    </a:lnTo>
                    <a:lnTo>
                      <a:pt x="549" y="88"/>
                    </a:lnTo>
                    <a:lnTo>
                      <a:pt x="545" y="75"/>
                    </a:lnTo>
                    <a:lnTo>
                      <a:pt x="540" y="66"/>
                    </a:lnTo>
                    <a:lnTo>
                      <a:pt x="531" y="52"/>
                    </a:lnTo>
                    <a:lnTo>
                      <a:pt x="522" y="44"/>
                    </a:lnTo>
                    <a:lnTo>
                      <a:pt x="509" y="35"/>
                    </a:lnTo>
                    <a:lnTo>
                      <a:pt x="500" y="26"/>
                    </a:lnTo>
                    <a:lnTo>
                      <a:pt x="487" y="17"/>
                    </a:lnTo>
                    <a:lnTo>
                      <a:pt x="474" y="13"/>
                    </a:lnTo>
                    <a:lnTo>
                      <a:pt x="461" y="4"/>
                    </a:lnTo>
                    <a:lnTo>
                      <a:pt x="443" y="4"/>
                    </a:lnTo>
                    <a:lnTo>
                      <a:pt x="430" y="0"/>
                    </a:lnTo>
                    <a:lnTo>
                      <a:pt x="421" y="0"/>
                    </a:lnTo>
                    <a:lnTo>
                      <a:pt x="403" y="0"/>
                    </a:lnTo>
                    <a:lnTo>
                      <a:pt x="390" y="0"/>
                    </a:lnTo>
                    <a:lnTo>
                      <a:pt x="372" y="4"/>
                    </a:lnTo>
                    <a:lnTo>
                      <a:pt x="358" y="8"/>
                    </a:lnTo>
                    <a:lnTo>
                      <a:pt x="340" y="13"/>
                    </a:lnTo>
                    <a:lnTo>
                      <a:pt x="327" y="22"/>
                    </a:lnTo>
                    <a:lnTo>
                      <a:pt x="310" y="30"/>
                    </a:lnTo>
                    <a:lnTo>
                      <a:pt x="301" y="44"/>
                    </a:lnTo>
                    <a:lnTo>
                      <a:pt x="292" y="57"/>
                    </a:lnTo>
                    <a:lnTo>
                      <a:pt x="283" y="66"/>
                    </a:lnTo>
                    <a:lnTo>
                      <a:pt x="274" y="83"/>
                    </a:lnTo>
                    <a:lnTo>
                      <a:pt x="265" y="92"/>
                    </a:lnTo>
                    <a:lnTo>
                      <a:pt x="261" y="11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nvGrpSpPr>
          <p:cNvPr id="9241" name="Group 25"/>
          <p:cNvGrpSpPr>
            <a:grpSpLocks/>
          </p:cNvGrpSpPr>
          <p:nvPr/>
        </p:nvGrpSpPr>
        <p:grpSpPr bwMode="auto">
          <a:xfrm>
            <a:off x="6381750" y="4078288"/>
            <a:ext cx="671513" cy="798512"/>
            <a:chOff x="4020" y="1580"/>
            <a:chExt cx="423" cy="503"/>
          </a:xfrm>
        </p:grpSpPr>
        <p:grpSp>
          <p:nvGrpSpPr>
            <p:cNvPr id="9242" name="Group 26"/>
            <p:cNvGrpSpPr>
              <a:grpSpLocks/>
            </p:cNvGrpSpPr>
            <p:nvPr/>
          </p:nvGrpSpPr>
          <p:grpSpPr bwMode="auto">
            <a:xfrm>
              <a:off x="4020" y="1580"/>
              <a:ext cx="423" cy="503"/>
              <a:chOff x="4020" y="1580"/>
              <a:chExt cx="423" cy="503"/>
            </a:xfrm>
          </p:grpSpPr>
          <p:grpSp>
            <p:nvGrpSpPr>
              <p:cNvPr id="9243" name="Group 27"/>
              <p:cNvGrpSpPr>
                <a:grpSpLocks/>
              </p:cNvGrpSpPr>
              <p:nvPr/>
            </p:nvGrpSpPr>
            <p:grpSpPr bwMode="auto">
              <a:xfrm>
                <a:off x="4020" y="1580"/>
                <a:ext cx="423" cy="503"/>
                <a:chOff x="4020" y="1580"/>
                <a:chExt cx="423" cy="503"/>
              </a:xfrm>
            </p:grpSpPr>
            <p:grpSp>
              <p:nvGrpSpPr>
                <p:cNvPr id="9244" name="Group 28"/>
                <p:cNvGrpSpPr>
                  <a:grpSpLocks/>
                </p:cNvGrpSpPr>
                <p:nvPr/>
              </p:nvGrpSpPr>
              <p:grpSpPr bwMode="auto">
                <a:xfrm>
                  <a:off x="4020" y="1660"/>
                  <a:ext cx="423" cy="423"/>
                  <a:chOff x="4020" y="1660"/>
                  <a:chExt cx="423" cy="423"/>
                </a:xfrm>
              </p:grpSpPr>
              <p:sp>
                <p:nvSpPr>
                  <p:cNvPr id="9245" name="Freeform 29"/>
                  <p:cNvSpPr>
                    <a:spLocks noChangeArrowheads="1"/>
                  </p:cNvSpPr>
                  <p:nvPr/>
                </p:nvSpPr>
                <p:spPr bwMode="auto">
                  <a:xfrm>
                    <a:off x="4020" y="1660"/>
                    <a:ext cx="424" cy="424"/>
                  </a:xfrm>
                  <a:custGeom>
                    <a:avLst/>
                    <a:gdLst>
                      <a:gd name="T0" fmla="*/ 0 w 1871"/>
                      <a:gd name="T1" fmla="*/ 1870 h 1871"/>
                      <a:gd name="T2" fmla="*/ 0 w 1871"/>
                      <a:gd name="T3" fmla="*/ 466 h 1871"/>
                      <a:gd name="T4" fmla="*/ 466 w 1871"/>
                      <a:gd name="T5" fmla="*/ 0 h 1871"/>
                      <a:gd name="T6" fmla="*/ 1870 w 1871"/>
                      <a:gd name="T7" fmla="*/ 0 h 1871"/>
                      <a:gd name="T8" fmla="*/ 1870 w 1871"/>
                      <a:gd name="T9" fmla="*/ 1402 h 1871"/>
                      <a:gd name="T10" fmla="*/ 1402 w 1871"/>
                      <a:gd name="T11" fmla="*/ 1870 h 1871"/>
                      <a:gd name="T12" fmla="*/ 0 w 1871"/>
                      <a:gd name="T13" fmla="*/ 1870 h 1871"/>
                    </a:gdLst>
                    <a:ahLst/>
                    <a:cxnLst>
                      <a:cxn ang="0">
                        <a:pos x="T0" y="T1"/>
                      </a:cxn>
                      <a:cxn ang="0">
                        <a:pos x="T2" y="T3"/>
                      </a:cxn>
                      <a:cxn ang="0">
                        <a:pos x="T4" y="T5"/>
                      </a:cxn>
                      <a:cxn ang="0">
                        <a:pos x="T6" y="T7"/>
                      </a:cxn>
                      <a:cxn ang="0">
                        <a:pos x="T8" y="T9"/>
                      </a:cxn>
                      <a:cxn ang="0">
                        <a:pos x="T10" y="T11"/>
                      </a:cxn>
                      <a:cxn ang="0">
                        <a:pos x="T12" y="T13"/>
                      </a:cxn>
                    </a:cxnLst>
                    <a:rect l="0" t="0" r="r" b="b"/>
                    <a:pathLst>
                      <a:path w="1871" h="1871">
                        <a:moveTo>
                          <a:pt x="0" y="1870"/>
                        </a:moveTo>
                        <a:lnTo>
                          <a:pt x="0" y="466"/>
                        </a:lnTo>
                        <a:lnTo>
                          <a:pt x="466" y="0"/>
                        </a:lnTo>
                        <a:lnTo>
                          <a:pt x="1870" y="0"/>
                        </a:lnTo>
                        <a:lnTo>
                          <a:pt x="1870" y="1402"/>
                        </a:lnTo>
                        <a:lnTo>
                          <a:pt x="1402" y="1870"/>
                        </a:lnTo>
                        <a:lnTo>
                          <a:pt x="0" y="1870"/>
                        </a:lnTo>
                      </a:path>
                    </a:pathLst>
                  </a:custGeom>
                  <a:solidFill>
                    <a:srgbClr val="F6BF69"/>
                  </a:solidFill>
                  <a:ln w="12600">
                    <a:solidFill>
                      <a:srgbClr val="000000"/>
                    </a:solidFill>
                    <a:round/>
                    <a:headEnd/>
                    <a:tailEnd/>
                  </a:ln>
                </p:spPr>
                <p:txBody>
                  <a:bodyPr wrap="none" anchor="ctr"/>
                  <a:lstStyle/>
                  <a:p>
                    <a:endParaRPr lang="en-IN"/>
                  </a:p>
                </p:txBody>
              </p:sp>
              <p:sp>
                <p:nvSpPr>
                  <p:cNvPr id="9246" name="Freeform 30"/>
                  <p:cNvSpPr>
                    <a:spLocks noChangeArrowheads="1"/>
                  </p:cNvSpPr>
                  <p:nvPr/>
                </p:nvSpPr>
                <p:spPr bwMode="auto">
                  <a:xfrm>
                    <a:off x="4020" y="1660"/>
                    <a:ext cx="424" cy="106"/>
                  </a:xfrm>
                  <a:custGeom>
                    <a:avLst/>
                    <a:gdLst>
                      <a:gd name="T0" fmla="*/ 0 w 1871"/>
                      <a:gd name="T1" fmla="*/ 466 h 467"/>
                      <a:gd name="T2" fmla="*/ 466 w 1871"/>
                      <a:gd name="T3" fmla="*/ 0 h 467"/>
                      <a:gd name="T4" fmla="*/ 1870 w 1871"/>
                      <a:gd name="T5" fmla="*/ 0 h 467"/>
                      <a:gd name="T6" fmla="*/ 1402 w 1871"/>
                      <a:gd name="T7" fmla="*/ 466 h 467"/>
                      <a:gd name="T8" fmla="*/ 0 w 1871"/>
                      <a:gd name="T9" fmla="*/ 466 h 467"/>
                    </a:gdLst>
                    <a:ahLst/>
                    <a:cxnLst>
                      <a:cxn ang="0">
                        <a:pos x="T0" y="T1"/>
                      </a:cxn>
                      <a:cxn ang="0">
                        <a:pos x="T2" y="T3"/>
                      </a:cxn>
                      <a:cxn ang="0">
                        <a:pos x="T4" y="T5"/>
                      </a:cxn>
                      <a:cxn ang="0">
                        <a:pos x="T6" y="T7"/>
                      </a:cxn>
                      <a:cxn ang="0">
                        <a:pos x="T8" y="T9"/>
                      </a:cxn>
                    </a:cxnLst>
                    <a:rect l="0" t="0" r="r" b="b"/>
                    <a:pathLst>
                      <a:path w="1871" h="467">
                        <a:moveTo>
                          <a:pt x="0" y="466"/>
                        </a:moveTo>
                        <a:lnTo>
                          <a:pt x="466" y="0"/>
                        </a:lnTo>
                        <a:lnTo>
                          <a:pt x="1870" y="0"/>
                        </a:lnTo>
                        <a:lnTo>
                          <a:pt x="1402" y="466"/>
                        </a:lnTo>
                        <a:lnTo>
                          <a:pt x="0" y="466"/>
                        </a:lnTo>
                      </a:path>
                    </a:pathLst>
                  </a:custGeom>
                  <a:solidFill>
                    <a:srgbClr val="FFD072"/>
                  </a:solidFill>
                  <a:ln w="12600">
                    <a:solidFill>
                      <a:srgbClr val="000000"/>
                    </a:solidFill>
                    <a:round/>
                    <a:headEnd/>
                    <a:tailEnd/>
                  </a:ln>
                </p:spPr>
                <p:txBody>
                  <a:bodyPr wrap="none" anchor="ctr"/>
                  <a:lstStyle/>
                  <a:p>
                    <a:endParaRPr lang="en-IN"/>
                  </a:p>
                </p:txBody>
              </p:sp>
              <p:sp>
                <p:nvSpPr>
                  <p:cNvPr id="9247" name="Freeform 31"/>
                  <p:cNvSpPr>
                    <a:spLocks noChangeArrowheads="1"/>
                  </p:cNvSpPr>
                  <p:nvPr/>
                </p:nvSpPr>
                <p:spPr bwMode="auto">
                  <a:xfrm>
                    <a:off x="4338" y="1660"/>
                    <a:ext cx="106" cy="424"/>
                  </a:xfrm>
                  <a:custGeom>
                    <a:avLst/>
                    <a:gdLst>
                      <a:gd name="T0" fmla="*/ 0 w 469"/>
                      <a:gd name="T1" fmla="*/ 1870 h 1871"/>
                      <a:gd name="T2" fmla="*/ 0 w 469"/>
                      <a:gd name="T3" fmla="*/ 466 h 1871"/>
                      <a:gd name="T4" fmla="*/ 468 w 469"/>
                      <a:gd name="T5" fmla="*/ 0 h 1871"/>
                      <a:gd name="T6" fmla="*/ 468 w 469"/>
                      <a:gd name="T7" fmla="*/ 1402 h 1871"/>
                      <a:gd name="T8" fmla="*/ 0 w 469"/>
                      <a:gd name="T9" fmla="*/ 1870 h 1871"/>
                    </a:gdLst>
                    <a:ahLst/>
                    <a:cxnLst>
                      <a:cxn ang="0">
                        <a:pos x="T0" y="T1"/>
                      </a:cxn>
                      <a:cxn ang="0">
                        <a:pos x="T2" y="T3"/>
                      </a:cxn>
                      <a:cxn ang="0">
                        <a:pos x="T4" y="T5"/>
                      </a:cxn>
                      <a:cxn ang="0">
                        <a:pos x="T6" y="T7"/>
                      </a:cxn>
                      <a:cxn ang="0">
                        <a:pos x="T8" y="T9"/>
                      </a:cxn>
                    </a:cxnLst>
                    <a:rect l="0" t="0" r="r" b="b"/>
                    <a:pathLst>
                      <a:path w="469" h="1871">
                        <a:moveTo>
                          <a:pt x="0" y="1870"/>
                        </a:moveTo>
                        <a:lnTo>
                          <a:pt x="0" y="466"/>
                        </a:lnTo>
                        <a:lnTo>
                          <a:pt x="468" y="0"/>
                        </a:lnTo>
                        <a:lnTo>
                          <a:pt x="468" y="1402"/>
                        </a:lnTo>
                        <a:lnTo>
                          <a:pt x="0" y="1870"/>
                        </a:lnTo>
                      </a:path>
                    </a:pathLst>
                  </a:custGeom>
                  <a:solidFill>
                    <a:srgbClr val="D3A45A"/>
                  </a:solidFill>
                  <a:ln w="12600">
                    <a:solidFill>
                      <a:srgbClr val="000000"/>
                    </a:solidFill>
                    <a:round/>
                    <a:headEnd/>
                    <a:tailEnd/>
                  </a:ln>
                </p:spPr>
                <p:txBody>
                  <a:bodyPr wrap="none" anchor="ctr"/>
                  <a:lstStyle/>
                  <a:p>
                    <a:endParaRPr lang="en-IN"/>
                  </a:p>
                </p:txBody>
              </p:sp>
            </p:grpSp>
            <p:grpSp>
              <p:nvGrpSpPr>
                <p:cNvPr id="9248" name="Group 32"/>
                <p:cNvGrpSpPr>
                  <a:grpSpLocks/>
                </p:cNvGrpSpPr>
                <p:nvPr/>
              </p:nvGrpSpPr>
              <p:grpSpPr bwMode="auto">
                <a:xfrm>
                  <a:off x="4116" y="1580"/>
                  <a:ext cx="327" cy="87"/>
                  <a:chOff x="4116" y="1580"/>
                  <a:chExt cx="327" cy="87"/>
                </a:xfrm>
              </p:grpSpPr>
              <p:sp>
                <p:nvSpPr>
                  <p:cNvPr id="9249" name="Freeform 33"/>
                  <p:cNvSpPr>
                    <a:spLocks noChangeArrowheads="1"/>
                  </p:cNvSpPr>
                  <p:nvPr/>
                </p:nvSpPr>
                <p:spPr bwMode="auto">
                  <a:xfrm>
                    <a:off x="4116" y="1580"/>
                    <a:ext cx="328" cy="88"/>
                  </a:xfrm>
                  <a:custGeom>
                    <a:avLst/>
                    <a:gdLst>
                      <a:gd name="T0" fmla="*/ 0 w 1448"/>
                      <a:gd name="T1" fmla="*/ 388 h 389"/>
                      <a:gd name="T2" fmla="*/ 0 w 1448"/>
                      <a:gd name="T3" fmla="*/ 96 h 389"/>
                      <a:gd name="T4" fmla="*/ 96 w 1448"/>
                      <a:gd name="T5" fmla="*/ 0 h 389"/>
                      <a:gd name="T6" fmla="*/ 1447 w 1448"/>
                      <a:gd name="T7" fmla="*/ 0 h 389"/>
                      <a:gd name="T8" fmla="*/ 1447 w 1448"/>
                      <a:gd name="T9" fmla="*/ 290 h 389"/>
                      <a:gd name="T10" fmla="*/ 1349 w 1448"/>
                      <a:gd name="T11" fmla="*/ 388 h 389"/>
                      <a:gd name="T12" fmla="*/ 0 w 1448"/>
                      <a:gd name="T13" fmla="*/ 388 h 389"/>
                    </a:gdLst>
                    <a:ahLst/>
                    <a:cxnLst>
                      <a:cxn ang="0">
                        <a:pos x="T0" y="T1"/>
                      </a:cxn>
                      <a:cxn ang="0">
                        <a:pos x="T2" y="T3"/>
                      </a:cxn>
                      <a:cxn ang="0">
                        <a:pos x="T4" y="T5"/>
                      </a:cxn>
                      <a:cxn ang="0">
                        <a:pos x="T6" y="T7"/>
                      </a:cxn>
                      <a:cxn ang="0">
                        <a:pos x="T8" y="T9"/>
                      </a:cxn>
                      <a:cxn ang="0">
                        <a:pos x="T10" y="T11"/>
                      </a:cxn>
                      <a:cxn ang="0">
                        <a:pos x="T12" y="T13"/>
                      </a:cxn>
                    </a:cxnLst>
                    <a:rect l="0" t="0" r="r" b="b"/>
                    <a:pathLst>
                      <a:path w="1448" h="389">
                        <a:moveTo>
                          <a:pt x="0" y="388"/>
                        </a:moveTo>
                        <a:lnTo>
                          <a:pt x="0" y="96"/>
                        </a:lnTo>
                        <a:lnTo>
                          <a:pt x="96" y="0"/>
                        </a:lnTo>
                        <a:lnTo>
                          <a:pt x="1447" y="0"/>
                        </a:lnTo>
                        <a:lnTo>
                          <a:pt x="1447" y="290"/>
                        </a:lnTo>
                        <a:lnTo>
                          <a:pt x="1349" y="388"/>
                        </a:lnTo>
                        <a:lnTo>
                          <a:pt x="0" y="388"/>
                        </a:lnTo>
                      </a:path>
                    </a:pathLst>
                  </a:custGeom>
                  <a:solidFill>
                    <a:srgbClr val="F6BF69"/>
                  </a:solidFill>
                  <a:ln w="12600">
                    <a:solidFill>
                      <a:srgbClr val="000000"/>
                    </a:solidFill>
                    <a:round/>
                    <a:headEnd/>
                    <a:tailEnd/>
                  </a:ln>
                </p:spPr>
                <p:txBody>
                  <a:bodyPr wrap="none" anchor="ctr"/>
                  <a:lstStyle/>
                  <a:p>
                    <a:endParaRPr lang="en-IN"/>
                  </a:p>
                </p:txBody>
              </p:sp>
              <p:sp>
                <p:nvSpPr>
                  <p:cNvPr id="9250" name="Freeform 34"/>
                  <p:cNvSpPr>
                    <a:spLocks noChangeArrowheads="1"/>
                  </p:cNvSpPr>
                  <p:nvPr/>
                </p:nvSpPr>
                <p:spPr bwMode="auto">
                  <a:xfrm>
                    <a:off x="4116" y="1580"/>
                    <a:ext cx="328" cy="22"/>
                  </a:xfrm>
                  <a:custGeom>
                    <a:avLst/>
                    <a:gdLst>
                      <a:gd name="T0" fmla="*/ 0 w 1448"/>
                      <a:gd name="T1" fmla="*/ 96 h 97"/>
                      <a:gd name="T2" fmla="*/ 96 w 1448"/>
                      <a:gd name="T3" fmla="*/ 0 h 97"/>
                      <a:gd name="T4" fmla="*/ 1447 w 1448"/>
                      <a:gd name="T5" fmla="*/ 0 h 97"/>
                      <a:gd name="T6" fmla="*/ 1349 w 1448"/>
                      <a:gd name="T7" fmla="*/ 96 h 97"/>
                      <a:gd name="T8" fmla="*/ 0 w 1448"/>
                      <a:gd name="T9" fmla="*/ 96 h 97"/>
                    </a:gdLst>
                    <a:ahLst/>
                    <a:cxnLst>
                      <a:cxn ang="0">
                        <a:pos x="T0" y="T1"/>
                      </a:cxn>
                      <a:cxn ang="0">
                        <a:pos x="T2" y="T3"/>
                      </a:cxn>
                      <a:cxn ang="0">
                        <a:pos x="T4" y="T5"/>
                      </a:cxn>
                      <a:cxn ang="0">
                        <a:pos x="T6" y="T7"/>
                      </a:cxn>
                      <a:cxn ang="0">
                        <a:pos x="T8" y="T9"/>
                      </a:cxn>
                    </a:cxnLst>
                    <a:rect l="0" t="0" r="r" b="b"/>
                    <a:pathLst>
                      <a:path w="1448" h="97">
                        <a:moveTo>
                          <a:pt x="0" y="96"/>
                        </a:moveTo>
                        <a:lnTo>
                          <a:pt x="96" y="0"/>
                        </a:lnTo>
                        <a:lnTo>
                          <a:pt x="1447" y="0"/>
                        </a:lnTo>
                        <a:lnTo>
                          <a:pt x="1349" y="96"/>
                        </a:lnTo>
                        <a:lnTo>
                          <a:pt x="0" y="96"/>
                        </a:lnTo>
                      </a:path>
                    </a:pathLst>
                  </a:custGeom>
                  <a:solidFill>
                    <a:srgbClr val="FFD072"/>
                  </a:solidFill>
                  <a:ln w="12600">
                    <a:solidFill>
                      <a:srgbClr val="000000"/>
                    </a:solidFill>
                    <a:round/>
                    <a:headEnd/>
                    <a:tailEnd/>
                  </a:ln>
                </p:spPr>
                <p:txBody>
                  <a:bodyPr wrap="none" anchor="ctr"/>
                  <a:lstStyle/>
                  <a:p>
                    <a:endParaRPr lang="en-IN"/>
                  </a:p>
                </p:txBody>
              </p:sp>
              <p:sp>
                <p:nvSpPr>
                  <p:cNvPr id="9251" name="Freeform 35"/>
                  <p:cNvSpPr>
                    <a:spLocks noChangeArrowheads="1"/>
                  </p:cNvSpPr>
                  <p:nvPr/>
                </p:nvSpPr>
                <p:spPr bwMode="auto">
                  <a:xfrm>
                    <a:off x="4422" y="1580"/>
                    <a:ext cx="22" cy="88"/>
                  </a:xfrm>
                  <a:custGeom>
                    <a:avLst/>
                    <a:gdLst>
                      <a:gd name="T0" fmla="*/ 0 w 99"/>
                      <a:gd name="T1" fmla="*/ 388 h 389"/>
                      <a:gd name="T2" fmla="*/ 0 w 99"/>
                      <a:gd name="T3" fmla="*/ 96 h 389"/>
                      <a:gd name="T4" fmla="*/ 98 w 99"/>
                      <a:gd name="T5" fmla="*/ 0 h 389"/>
                      <a:gd name="T6" fmla="*/ 98 w 99"/>
                      <a:gd name="T7" fmla="*/ 290 h 389"/>
                      <a:gd name="T8" fmla="*/ 0 w 99"/>
                      <a:gd name="T9" fmla="*/ 388 h 389"/>
                    </a:gdLst>
                    <a:ahLst/>
                    <a:cxnLst>
                      <a:cxn ang="0">
                        <a:pos x="T0" y="T1"/>
                      </a:cxn>
                      <a:cxn ang="0">
                        <a:pos x="T2" y="T3"/>
                      </a:cxn>
                      <a:cxn ang="0">
                        <a:pos x="T4" y="T5"/>
                      </a:cxn>
                      <a:cxn ang="0">
                        <a:pos x="T6" y="T7"/>
                      </a:cxn>
                      <a:cxn ang="0">
                        <a:pos x="T8" y="T9"/>
                      </a:cxn>
                    </a:cxnLst>
                    <a:rect l="0" t="0" r="r" b="b"/>
                    <a:pathLst>
                      <a:path w="99" h="389">
                        <a:moveTo>
                          <a:pt x="0" y="388"/>
                        </a:moveTo>
                        <a:lnTo>
                          <a:pt x="0" y="96"/>
                        </a:lnTo>
                        <a:lnTo>
                          <a:pt x="98" y="0"/>
                        </a:lnTo>
                        <a:lnTo>
                          <a:pt x="98" y="290"/>
                        </a:lnTo>
                        <a:lnTo>
                          <a:pt x="0" y="388"/>
                        </a:lnTo>
                      </a:path>
                    </a:pathLst>
                  </a:custGeom>
                  <a:solidFill>
                    <a:srgbClr val="D3A45A"/>
                  </a:solidFill>
                  <a:ln w="12600">
                    <a:solidFill>
                      <a:srgbClr val="000000"/>
                    </a:solidFill>
                    <a:round/>
                    <a:headEnd/>
                    <a:tailEnd/>
                  </a:ln>
                </p:spPr>
                <p:txBody>
                  <a:bodyPr wrap="none" anchor="ctr"/>
                  <a:lstStyle/>
                  <a:p>
                    <a:endParaRPr lang="en-IN"/>
                  </a:p>
                </p:txBody>
              </p:sp>
            </p:grpSp>
          </p:grpSp>
          <p:sp>
            <p:nvSpPr>
              <p:cNvPr id="9252" name="Freeform 36"/>
              <p:cNvSpPr>
                <a:spLocks noChangeArrowheads="1"/>
              </p:cNvSpPr>
              <p:nvPr/>
            </p:nvSpPr>
            <p:spPr bwMode="auto">
              <a:xfrm>
                <a:off x="4104" y="1696"/>
                <a:ext cx="224" cy="32"/>
              </a:xfrm>
              <a:custGeom>
                <a:avLst/>
                <a:gdLst>
                  <a:gd name="T0" fmla="*/ 245 w 988"/>
                  <a:gd name="T1" fmla="*/ 0 h 142"/>
                  <a:gd name="T2" fmla="*/ 987 w 988"/>
                  <a:gd name="T3" fmla="*/ 0 h 142"/>
                  <a:gd name="T4" fmla="*/ 740 w 988"/>
                  <a:gd name="T5" fmla="*/ 141 h 142"/>
                  <a:gd name="T6" fmla="*/ 0 w 988"/>
                  <a:gd name="T7" fmla="*/ 141 h 142"/>
                  <a:gd name="T8" fmla="*/ 245 w 988"/>
                  <a:gd name="T9" fmla="*/ 0 h 142"/>
                </a:gdLst>
                <a:ahLst/>
                <a:cxnLst>
                  <a:cxn ang="0">
                    <a:pos x="T0" y="T1"/>
                  </a:cxn>
                  <a:cxn ang="0">
                    <a:pos x="T2" y="T3"/>
                  </a:cxn>
                  <a:cxn ang="0">
                    <a:pos x="T4" y="T5"/>
                  </a:cxn>
                  <a:cxn ang="0">
                    <a:pos x="T6" y="T7"/>
                  </a:cxn>
                  <a:cxn ang="0">
                    <a:pos x="T8" y="T9"/>
                  </a:cxn>
                </a:cxnLst>
                <a:rect l="0" t="0" r="r" b="b"/>
                <a:pathLst>
                  <a:path w="988" h="142">
                    <a:moveTo>
                      <a:pt x="245" y="0"/>
                    </a:moveTo>
                    <a:lnTo>
                      <a:pt x="987" y="0"/>
                    </a:lnTo>
                    <a:lnTo>
                      <a:pt x="740" y="141"/>
                    </a:lnTo>
                    <a:lnTo>
                      <a:pt x="0" y="141"/>
                    </a:lnTo>
                    <a:lnTo>
                      <a:pt x="245" y="0"/>
                    </a:lnTo>
                  </a:path>
                </a:pathLst>
              </a:custGeom>
              <a:solidFill>
                <a:srgbClr val="F6BF69"/>
              </a:solidFill>
              <a:ln w="25560">
                <a:solidFill>
                  <a:srgbClr val="000000"/>
                </a:solidFill>
                <a:round/>
                <a:headEnd/>
                <a:tailEnd/>
              </a:ln>
            </p:spPr>
            <p:txBody>
              <a:bodyPr wrap="none" anchor="ctr"/>
              <a:lstStyle/>
              <a:p>
                <a:endParaRPr lang="en-IN"/>
              </a:p>
            </p:txBody>
          </p:sp>
        </p:grpSp>
        <p:sp>
          <p:nvSpPr>
            <p:cNvPr id="9253" name="Oval 37"/>
            <p:cNvSpPr>
              <a:spLocks noChangeArrowheads="1"/>
            </p:cNvSpPr>
            <p:nvPr/>
          </p:nvSpPr>
          <p:spPr bwMode="auto">
            <a:xfrm>
              <a:off x="4348" y="1620"/>
              <a:ext cx="56" cy="32"/>
            </a:xfrm>
            <a:prstGeom prst="ellipse">
              <a:avLst/>
            </a:prstGeom>
            <a:solidFill>
              <a:srgbClr val="FFFFFF"/>
            </a:solidFill>
            <a:ln w="12600">
              <a:solidFill>
                <a:srgbClr val="000000"/>
              </a:solidFill>
              <a:round/>
              <a:headEnd/>
              <a:tailEnd/>
            </a:ln>
          </p:spPr>
          <p:txBody>
            <a:bodyPr wrap="none" anchor="ctr"/>
            <a:lstStyle/>
            <a:p>
              <a:endParaRPr lang="en-IN"/>
            </a:p>
          </p:txBody>
        </p:sp>
      </p:grpSp>
      <p:grpSp>
        <p:nvGrpSpPr>
          <p:cNvPr id="9254" name="Group 38"/>
          <p:cNvGrpSpPr>
            <a:grpSpLocks/>
          </p:cNvGrpSpPr>
          <p:nvPr/>
        </p:nvGrpSpPr>
        <p:grpSpPr bwMode="auto">
          <a:xfrm>
            <a:off x="5822950" y="3276600"/>
            <a:ext cx="2224088" cy="609600"/>
            <a:chOff x="3668" y="964"/>
            <a:chExt cx="1401" cy="384"/>
          </a:xfrm>
        </p:grpSpPr>
        <p:grpSp>
          <p:nvGrpSpPr>
            <p:cNvPr id="9255" name="Group 39"/>
            <p:cNvGrpSpPr>
              <a:grpSpLocks/>
            </p:cNvGrpSpPr>
            <p:nvPr/>
          </p:nvGrpSpPr>
          <p:grpSpPr bwMode="auto">
            <a:xfrm>
              <a:off x="3668" y="964"/>
              <a:ext cx="329" cy="384"/>
              <a:chOff x="3668" y="964"/>
              <a:chExt cx="329" cy="384"/>
            </a:xfrm>
          </p:grpSpPr>
          <p:sp>
            <p:nvSpPr>
              <p:cNvPr id="9256" name="Freeform 40"/>
              <p:cNvSpPr>
                <a:spLocks noChangeArrowheads="1"/>
              </p:cNvSpPr>
              <p:nvPr/>
            </p:nvSpPr>
            <p:spPr bwMode="auto">
              <a:xfrm>
                <a:off x="3668" y="964"/>
                <a:ext cx="329" cy="294"/>
              </a:xfrm>
              <a:custGeom>
                <a:avLst/>
                <a:gdLst>
                  <a:gd name="T0" fmla="*/ 411 w 1452"/>
                  <a:gd name="T1" fmla="*/ 61 h 1297"/>
                  <a:gd name="T2" fmla="*/ 690 w 1452"/>
                  <a:gd name="T3" fmla="*/ 70 h 1297"/>
                  <a:gd name="T4" fmla="*/ 991 w 1452"/>
                  <a:gd name="T5" fmla="*/ 0 h 1297"/>
                  <a:gd name="T6" fmla="*/ 1350 w 1452"/>
                  <a:gd name="T7" fmla="*/ 0 h 1297"/>
                  <a:gd name="T8" fmla="*/ 951 w 1452"/>
                  <a:gd name="T9" fmla="*/ 370 h 1297"/>
                  <a:gd name="T10" fmla="*/ 1057 w 1452"/>
                  <a:gd name="T11" fmla="*/ 392 h 1297"/>
                  <a:gd name="T12" fmla="*/ 1163 w 1452"/>
                  <a:gd name="T13" fmla="*/ 436 h 1297"/>
                  <a:gd name="T14" fmla="*/ 1260 w 1452"/>
                  <a:gd name="T15" fmla="*/ 489 h 1297"/>
                  <a:gd name="T16" fmla="*/ 1336 w 1452"/>
                  <a:gd name="T17" fmla="*/ 556 h 1297"/>
                  <a:gd name="T18" fmla="*/ 1398 w 1452"/>
                  <a:gd name="T19" fmla="*/ 635 h 1297"/>
                  <a:gd name="T20" fmla="*/ 1438 w 1452"/>
                  <a:gd name="T21" fmla="*/ 728 h 1297"/>
                  <a:gd name="T22" fmla="*/ 1451 w 1452"/>
                  <a:gd name="T23" fmla="*/ 824 h 1297"/>
                  <a:gd name="T24" fmla="*/ 1433 w 1452"/>
                  <a:gd name="T25" fmla="*/ 925 h 1297"/>
                  <a:gd name="T26" fmla="*/ 1403 w 1452"/>
                  <a:gd name="T27" fmla="*/ 1005 h 1297"/>
                  <a:gd name="T28" fmla="*/ 1341 w 1452"/>
                  <a:gd name="T29" fmla="*/ 1089 h 1297"/>
                  <a:gd name="T30" fmla="*/ 1238 w 1452"/>
                  <a:gd name="T31" fmla="*/ 1177 h 1297"/>
                  <a:gd name="T32" fmla="*/ 1137 w 1452"/>
                  <a:gd name="T33" fmla="*/ 1230 h 1297"/>
                  <a:gd name="T34" fmla="*/ 1044 w 1452"/>
                  <a:gd name="T35" fmla="*/ 1265 h 1297"/>
                  <a:gd name="T36" fmla="*/ 951 w 1452"/>
                  <a:gd name="T37" fmla="*/ 1287 h 1297"/>
                  <a:gd name="T38" fmla="*/ 836 w 1452"/>
                  <a:gd name="T39" fmla="*/ 1296 h 1297"/>
                  <a:gd name="T40" fmla="*/ 539 w 1452"/>
                  <a:gd name="T41" fmla="*/ 1292 h 1297"/>
                  <a:gd name="T42" fmla="*/ 398 w 1452"/>
                  <a:gd name="T43" fmla="*/ 1265 h 1297"/>
                  <a:gd name="T44" fmla="*/ 248 w 1452"/>
                  <a:gd name="T45" fmla="*/ 1199 h 1297"/>
                  <a:gd name="T46" fmla="*/ 132 w 1452"/>
                  <a:gd name="T47" fmla="*/ 1115 h 1297"/>
                  <a:gd name="T48" fmla="*/ 57 w 1452"/>
                  <a:gd name="T49" fmla="*/ 1022 h 1297"/>
                  <a:gd name="T50" fmla="*/ 17 w 1452"/>
                  <a:gd name="T51" fmla="*/ 925 h 1297"/>
                  <a:gd name="T52" fmla="*/ 0 w 1452"/>
                  <a:gd name="T53" fmla="*/ 841 h 1297"/>
                  <a:gd name="T54" fmla="*/ 13 w 1452"/>
                  <a:gd name="T55" fmla="*/ 745 h 1297"/>
                  <a:gd name="T56" fmla="*/ 61 w 1452"/>
                  <a:gd name="T57" fmla="*/ 622 h 1297"/>
                  <a:gd name="T58" fmla="*/ 154 w 1452"/>
                  <a:gd name="T59" fmla="*/ 520 h 1297"/>
                  <a:gd name="T60" fmla="*/ 279 w 1452"/>
                  <a:gd name="T61" fmla="*/ 436 h 1297"/>
                  <a:gd name="T62" fmla="*/ 451 w 1452"/>
                  <a:gd name="T63" fmla="*/ 379 h 1297"/>
                  <a:gd name="T64" fmla="*/ 176 w 1452"/>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9257" name="Text Box 41"/>
              <p:cNvSpPr txBox="1">
                <a:spLocks noChangeArrowheads="1"/>
              </p:cNvSpPr>
              <p:nvPr/>
            </p:nvSpPr>
            <p:spPr bwMode="auto">
              <a:xfrm>
                <a:off x="3719" y="1011"/>
                <a:ext cx="253"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400" b="1"/>
                  <a:t>A</a:t>
                </a:r>
              </a:p>
            </p:txBody>
          </p:sp>
        </p:grpSp>
        <p:grpSp>
          <p:nvGrpSpPr>
            <p:cNvPr id="9258" name="Group 42"/>
            <p:cNvGrpSpPr>
              <a:grpSpLocks/>
            </p:cNvGrpSpPr>
            <p:nvPr/>
          </p:nvGrpSpPr>
          <p:grpSpPr bwMode="auto">
            <a:xfrm>
              <a:off x="4028" y="964"/>
              <a:ext cx="329" cy="384"/>
              <a:chOff x="4028" y="964"/>
              <a:chExt cx="329" cy="384"/>
            </a:xfrm>
          </p:grpSpPr>
          <p:sp>
            <p:nvSpPr>
              <p:cNvPr id="9259" name="Freeform 43"/>
              <p:cNvSpPr>
                <a:spLocks noChangeArrowheads="1"/>
              </p:cNvSpPr>
              <p:nvPr/>
            </p:nvSpPr>
            <p:spPr bwMode="auto">
              <a:xfrm>
                <a:off x="4028" y="964"/>
                <a:ext cx="329" cy="294"/>
              </a:xfrm>
              <a:custGeom>
                <a:avLst/>
                <a:gdLst>
                  <a:gd name="T0" fmla="*/ 411 w 1452"/>
                  <a:gd name="T1" fmla="*/ 61 h 1297"/>
                  <a:gd name="T2" fmla="*/ 690 w 1452"/>
                  <a:gd name="T3" fmla="*/ 70 h 1297"/>
                  <a:gd name="T4" fmla="*/ 991 w 1452"/>
                  <a:gd name="T5" fmla="*/ 0 h 1297"/>
                  <a:gd name="T6" fmla="*/ 1350 w 1452"/>
                  <a:gd name="T7" fmla="*/ 0 h 1297"/>
                  <a:gd name="T8" fmla="*/ 951 w 1452"/>
                  <a:gd name="T9" fmla="*/ 370 h 1297"/>
                  <a:gd name="T10" fmla="*/ 1057 w 1452"/>
                  <a:gd name="T11" fmla="*/ 392 h 1297"/>
                  <a:gd name="T12" fmla="*/ 1163 w 1452"/>
                  <a:gd name="T13" fmla="*/ 436 h 1297"/>
                  <a:gd name="T14" fmla="*/ 1260 w 1452"/>
                  <a:gd name="T15" fmla="*/ 489 h 1297"/>
                  <a:gd name="T16" fmla="*/ 1336 w 1452"/>
                  <a:gd name="T17" fmla="*/ 556 h 1297"/>
                  <a:gd name="T18" fmla="*/ 1398 w 1452"/>
                  <a:gd name="T19" fmla="*/ 635 h 1297"/>
                  <a:gd name="T20" fmla="*/ 1438 w 1452"/>
                  <a:gd name="T21" fmla="*/ 728 h 1297"/>
                  <a:gd name="T22" fmla="*/ 1451 w 1452"/>
                  <a:gd name="T23" fmla="*/ 824 h 1297"/>
                  <a:gd name="T24" fmla="*/ 1433 w 1452"/>
                  <a:gd name="T25" fmla="*/ 925 h 1297"/>
                  <a:gd name="T26" fmla="*/ 1403 w 1452"/>
                  <a:gd name="T27" fmla="*/ 1005 h 1297"/>
                  <a:gd name="T28" fmla="*/ 1341 w 1452"/>
                  <a:gd name="T29" fmla="*/ 1089 h 1297"/>
                  <a:gd name="T30" fmla="*/ 1238 w 1452"/>
                  <a:gd name="T31" fmla="*/ 1177 h 1297"/>
                  <a:gd name="T32" fmla="*/ 1137 w 1452"/>
                  <a:gd name="T33" fmla="*/ 1230 h 1297"/>
                  <a:gd name="T34" fmla="*/ 1044 w 1452"/>
                  <a:gd name="T35" fmla="*/ 1265 h 1297"/>
                  <a:gd name="T36" fmla="*/ 951 w 1452"/>
                  <a:gd name="T37" fmla="*/ 1287 h 1297"/>
                  <a:gd name="T38" fmla="*/ 836 w 1452"/>
                  <a:gd name="T39" fmla="*/ 1296 h 1297"/>
                  <a:gd name="T40" fmla="*/ 539 w 1452"/>
                  <a:gd name="T41" fmla="*/ 1292 h 1297"/>
                  <a:gd name="T42" fmla="*/ 398 w 1452"/>
                  <a:gd name="T43" fmla="*/ 1265 h 1297"/>
                  <a:gd name="T44" fmla="*/ 248 w 1452"/>
                  <a:gd name="T45" fmla="*/ 1199 h 1297"/>
                  <a:gd name="T46" fmla="*/ 132 w 1452"/>
                  <a:gd name="T47" fmla="*/ 1115 h 1297"/>
                  <a:gd name="T48" fmla="*/ 57 w 1452"/>
                  <a:gd name="T49" fmla="*/ 1022 h 1297"/>
                  <a:gd name="T50" fmla="*/ 17 w 1452"/>
                  <a:gd name="T51" fmla="*/ 925 h 1297"/>
                  <a:gd name="T52" fmla="*/ 0 w 1452"/>
                  <a:gd name="T53" fmla="*/ 841 h 1297"/>
                  <a:gd name="T54" fmla="*/ 13 w 1452"/>
                  <a:gd name="T55" fmla="*/ 745 h 1297"/>
                  <a:gd name="T56" fmla="*/ 61 w 1452"/>
                  <a:gd name="T57" fmla="*/ 622 h 1297"/>
                  <a:gd name="T58" fmla="*/ 154 w 1452"/>
                  <a:gd name="T59" fmla="*/ 520 h 1297"/>
                  <a:gd name="T60" fmla="*/ 279 w 1452"/>
                  <a:gd name="T61" fmla="*/ 436 h 1297"/>
                  <a:gd name="T62" fmla="*/ 451 w 1452"/>
                  <a:gd name="T63" fmla="*/ 379 h 1297"/>
                  <a:gd name="T64" fmla="*/ 176 w 1452"/>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9260" name="Text Box 44"/>
              <p:cNvSpPr txBox="1">
                <a:spLocks noChangeArrowheads="1"/>
              </p:cNvSpPr>
              <p:nvPr/>
            </p:nvSpPr>
            <p:spPr bwMode="auto">
              <a:xfrm>
                <a:off x="4079" y="1011"/>
                <a:ext cx="253"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400" b="1"/>
                  <a:t>B</a:t>
                </a:r>
              </a:p>
            </p:txBody>
          </p:sp>
        </p:grpSp>
        <p:grpSp>
          <p:nvGrpSpPr>
            <p:cNvPr id="9261" name="Group 45"/>
            <p:cNvGrpSpPr>
              <a:grpSpLocks/>
            </p:cNvGrpSpPr>
            <p:nvPr/>
          </p:nvGrpSpPr>
          <p:grpSpPr bwMode="auto">
            <a:xfrm>
              <a:off x="4388" y="964"/>
              <a:ext cx="329" cy="384"/>
              <a:chOff x="4388" y="964"/>
              <a:chExt cx="329" cy="384"/>
            </a:xfrm>
          </p:grpSpPr>
          <p:sp>
            <p:nvSpPr>
              <p:cNvPr id="9262" name="Freeform 46"/>
              <p:cNvSpPr>
                <a:spLocks noChangeArrowheads="1"/>
              </p:cNvSpPr>
              <p:nvPr/>
            </p:nvSpPr>
            <p:spPr bwMode="auto">
              <a:xfrm>
                <a:off x="4388" y="964"/>
                <a:ext cx="329" cy="294"/>
              </a:xfrm>
              <a:custGeom>
                <a:avLst/>
                <a:gdLst>
                  <a:gd name="T0" fmla="*/ 411 w 1452"/>
                  <a:gd name="T1" fmla="*/ 61 h 1297"/>
                  <a:gd name="T2" fmla="*/ 690 w 1452"/>
                  <a:gd name="T3" fmla="*/ 70 h 1297"/>
                  <a:gd name="T4" fmla="*/ 991 w 1452"/>
                  <a:gd name="T5" fmla="*/ 0 h 1297"/>
                  <a:gd name="T6" fmla="*/ 1350 w 1452"/>
                  <a:gd name="T7" fmla="*/ 0 h 1297"/>
                  <a:gd name="T8" fmla="*/ 951 w 1452"/>
                  <a:gd name="T9" fmla="*/ 370 h 1297"/>
                  <a:gd name="T10" fmla="*/ 1057 w 1452"/>
                  <a:gd name="T11" fmla="*/ 392 h 1297"/>
                  <a:gd name="T12" fmla="*/ 1163 w 1452"/>
                  <a:gd name="T13" fmla="*/ 436 h 1297"/>
                  <a:gd name="T14" fmla="*/ 1260 w 1452"/>
                  <a:gd name="T15" fmla="*/ 489 h 1297"/>
                  <a:gd name="T16" fmla="*/ 1336 w 1452"/>
                  <a:gd name="T17" fmla="*/ 556 h 1297"/>
                  <a:gd name="T18" fmla="*/ 1398 w 1452"/>
                  <a:gd name="T19" fmla="*/ 635 h 1297"/>
                  <a:gd name="T20" fmla="*/ 1438 w 1452"/>
                  <a:gd name="T21" fmla="*/ 728 h 1297"/>
                  <a:gd name="T22" fmla="*/ 1451 w 1452"/>
                  <a:gd name="T23" fmla="*/ 824 h 1297"/>
                  <a:gd name="T24" fmla="*/ 1433 w 1452"/>
                  <a:gd name="T25" fmla="*/ 925 h 1297"/>
                  <a:gd name="T26" fmla="*/ 1403 w 1452"/>
                  <a:gd name="T27" fmla="*/ 1005 h 1297"/>
                  <a:gd name="T28" fmla="*/ 1341 w 1452"/>
                  <a:gd name="T29" fmla="*/ 1089 h 1297"/>
                  <a:gd name="T30" fmla="*/ 1238 w 1452"/>
                  <a:gd name="T31" fmla="*/ 1177 h 1297"/>
                  <a:gd name="T32" fmla="*/ 1137 w 1452"/>
                  <a:gd name="T33" fmla="*/ 1230 h 1297"/>
                  <a:gd name="T34" fmla="*/ 1044 w 1452"/>
                  <a:gd name="T35" fmla="*/ 1265 h 1297"/>
                  <a:gd name="T36" fmla="*/ 951 w 1452"/>
                  <a:gd name="T37" fmla="*/ 1287 h 1297"/>
                  <a:gd name="T38" fmla="*/ 836 w 1452"/>
                  <a:gd name="T39" fmla="*/ 1296 h 1297"/>
                  <a:gd name="T40" fmla="*/ 539 w 1452"/>
                  <a:gd name="T41" fmla="*/ 1292 h 1297"/>
                  <a:gd name="T42" fmla="*/ 398 w 1452"/>
                  <a:gd name="T43" fmla="*/ 1265 h 1297"/>
                  <a:gd name="T44" fmla="*/ 248 w 1452"/>
                  <a:gd name="T45" fmla="*/ 1199 h 1297"/>
                  <a:gd name="T46" fmla="*/ 132 w 1452"/>
                  <a:gd name="T47" fmla="*/ 1115 h 1297"/>
                  <a:gd name="T48" fmla="*/ 57 w 1452"/>
                  <a:gd name="T49" fmla="*/ 1022 h 1297"/>
                  <a:gd name="T50" fmla="*/ 17 w 1452"/>
                  <a:gd name="T51" fmla="*/ 925 h 1297"/>
                  <a:gd name="T52" fmla="*/ 0 w 1452"/>
                  <a:gd name="T53" fmla="*/ 841 h 1297"/>
                  <a:gd name="T54" fmla="*/ 13 w 1452"/>
                  <a:gd name="T55" fmla="*/ 745 h 1297"/>
                  <a:gd name="T56" fmla="*/ 61 w 1452"/>
                  <a:gd name="T57" fmla="*/ 622 h 1297"/>
                  <a:gd name="T58" fmla="*/ 154 w 1452"/>
                  <a:gd name="T59" fmla="*/ 520 h 1297"/>
                  <a:gd name="T60" fmla="*/ 279 w 1452"/>
                  <a:gd name="T61" fmla="*/ 436 h 1297"/>
                  <a:gd name="T62" fmla="*/ 451 w 1452"/>
                  <a:gd name="T63" fmla="*/ 379 h 1297"/>
                  <a:gd name="T64" fmla="*/ 176 w 1452"/>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9263" name="Text Box 47"/>
              <p:cNvSpPr txBox="1">
                <a:spLocks noChangeArrowheads="1"/>
              </p:cNvSpPr>
              <p:nvPr/>
            </p:nvSpPr>
            <p:spPr bwMode="auto">
              <a:xfrm>
                <a:off x="4439" y="1011"/>
                <a:ext cx="253"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400" b="1"/>
                  <a:t>C</a:t>
                </a:r>
              </a:p>
            </p:txBody>
          </p:sp>
        </p:grpSp>
        <p:grpSp>
          <p:nvGrpSpPr>
            <p:cNvPr id="9264" name="Group 48"/>
            <p:cNvGrpSpPr>
              <a:grpSpLocks/>
            </p:cNvGrpSpPr>
            <p:nvPr/>
          </p:nvGrpSpPr>
          <p:grpSpPr bwMode="auto">
            <a:xfrm>
              <a:off x="4740" y="964"/>
              <a:ext cx="329" cy="384"/>
              <a:chOff x="4740" y="964"/>
              <a:chExt cx="329" cy="384"/>
            </a:xfrm>
          </p:grpSpPr>
          <p:sp>
            <p:nvSpPr>
              <p:cNvPr id="9265" name="Freeform 49"/>
              <p:cNvSpPr>
                <a:spLocks noChangeArrowheads="1"/>
              </p:cNvSpPr>
              <p:nvPr/>
            </p:nvSpPr>
            <p:spPr bwMode="auto">
              <a:xfrm>
                <a:off x="4740" y="964"/>
                <a:ext cx="329" cy="294"/>
              </a:xfrm>
              <a:custGeom>
                <a:avLst/>
                <a:gdLst>
                  <a:gd name="T0" fmla="*/ 411 w 1452"/>
                  <a:gd name="T1" fmla="*/ 61 h 1297"/>
                  <a:gd name="T2" fmla="*/ 690 w 1452"/>
                  <a:gd name="T3" fmla="*/ 70 h 1297"/>
                  <a:gd name="T4" fmla="*/ 991 w 1452"/>
                  <a:gd name="T5" fmla="*/ 0 h 1297"/>
                  <a:gd name="T6" fmla="*/ 1350 w 1452"/>
                  <a:gd name="T7" fmla="*/ 0 h 1297"/>
                  <a:gd name="T8" fmla="*/ 951 w 1452"/>
                  <a:gd name="T9" fmla="*/ 370 h 1297"/>
                  <a:gd name="T10" fmla="*/ 1057 w 1452"/>
                  <a:gd name="T11" fmla="*/ 392 h 1297"/>
                  <a:gd name="T12" fmla="*/ 1163 w 1452"/>
                  <a:gd name="T13" fmla="*/ 436 h 1297"/>
                  <a:gd name="T14" fmla="*/ 1260 w 1452"/>
                  <a:gd name="T15" fmla="*/ 489 h 1297"/>
                  <a:gd name="T16" fmla="*/ 1336 w 1452"/>
                  <a:gd name="T17" fmla="*/ 556 h 1297"/>
                  <a:gd name="T18" fmla="*/ 1398 w 1452"/>
                  <a:gd name="T19" fmla="*/ 635 h 1297"/>
                  <a:gd name="T20" fmla="*/ 1438 w 1452"/>
                  <a:gd name="T21" fmla="*/ 728 h 1297"/>
                  <a:gd name="T22" fmla="*/ 1451 w 1452"/>
                  <a:gd name="T23" fmla="*/ 824 h 1297"/>
                  <a:gd name="T24" fmla="*/ 1433 w 1452"/>
                  <a:gd name="T25" fmla="*/ 925 h 1297"/>
                  <a:gd name="T26" fmla="*/ 1403 w 1452"/>
                  <a:gd name="T27" fmla="*/ 1005 h 1297"/>
                  <a:gd name="T28" fmla="*/ 1341 w 1452"/>
                  <a:gd name="T29" fmla="*/ 1089 h 1297"/>
                  <a:gd name="T30" fmla="*/ 1238 w 1452"/>
                  <a:gd name="T31" fmla="*/ 1177 h 1297"/>
                  <a:gd name="T32" fmla="*/ 1137 w 1452"/>
                  <a:gd name="T33" fmla="*/ 1230 h 1297"/>
                  <a:gd name="T34" fmla="*/ 1044 w 1452"/>
                  <a:gd name="T35" fmla="*/ 1265 h 1297"/>
                  <a:gd name="T36" fmla="*/ 951 w 1452"/>
                  <a:gd name="T37" fmla="*/ 1287 h 1297"/>
                  <a:gd name="T38" fmla="*/ 836 w 1452"/>
                  <a:gd name="T39" fmla="*/ 1296 h 1297"/>
                  <a:gd name="T40" fmla="*/ 539 w 1452"/>
                  <a:gd name="T41" fmla="*/ 1292 h 1297"/>
                  <a:gd name="T42" fmla="*/ 398 w 1452"/>
                  <a:gd name="T43" fmla="*/ 1265 h 1297"/>
                  <a:gd name="T44" fmla="*/ 248 w 1452"/>
                  <a:gd name="T45" fmla="*/ 1199 h 1297"/>
                  <a:gd name="T46" fmla="*/ 132 w 1452"/>
                  <a:gd name="T47" fmla="*/ 1115 h 1297"/>
                  <a:gd name="T48" fmla="*/ 57 w 1452"/>
                  <a:gd name="T49" fmla="*/ 1022 h 1297"/>
                  <a:gd name="T50" fmla="*/ 17 w 1452"/>
                  <a:gd name="T51" fmla="*/ 925 h 1297"/>
                  <a:gd name="T52" fmla="*/ 0 w 1452"/>
                  <a:gd name="T53" fmla="*/ 841 h 1297"/>
                  <a:gd name="T54" fmla="*/ 13 w 1452"/>
                  <a:gd name="T55" fmla="*/ 745 h 1297"/>
                  <a:gd name="T56" fmla="*/ 61 w 1452"/>
                  <a:gd name="T57" fmla="*/ 622 h 1297"/>
                  <a:gd name="T58" fmla="*/ 154 w 1452"/>
                  <a:gd name="T59" fmla="*/ 520 h 1297"/>
                  <a:gd name="T60" fmla="*/ 279 w 1452"/>
                  <a:gd name="T61" fmla="*/ 436 h 1297"/>
                  <a:gd name="T62" fmla="*/ 451 w 1452"/>
                  <a:gd name="T63" fmla="*/ 379 h 1297"/>
                  <a:gd name="T64" fmla="*/ 176 w 1452"/>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9266" name="Text Box 50"/>
              <p:cNvSpPr txBox="1">
                <a:spLocks noChangeArrowheads="1"/>
              </p:cNvSpPr>
              <p:nvPr/>
            </p:nvSpPr>
            <p:spPr bwMode="auto">
              <a:xfrm>
                <a:off x="4791" y="1011"/>
                <a:ext cx="253"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400" b="1"/>
                  <a:t>D</a:t>
                </a:r>
              </a:p>
            </p:txBody>
          </p:sp>
        </p:grpSp>
      </p:grpSp>
    </p:spTree>
    <p:extLst>
      <p:ext uri="{BB962C8B-B14F-4D97-AF65-F5344CB8AC3E}">
        <p14:creationId xmlns:p14="http://schemas.microsoft.com/office/powerpoint/2010/main" val="42891652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a:ea typeface="SimSun" pitchFamily="2" charset="-122"/>
              </a:rPr>
              <a:t>Traditional Pipeline Concept</a:t>
            </a:r>
          </a:p>
        </p:txBody>
      </p:sp>
      <p:sp>
        <p:nvSpPr>
          <p:cNvPr id="10243" name="Rectangle 3"/>
          <p:cNvSpPr>
            <a:spLocks noGrp="1" noChangeArrowheads="1"/>
          </p:cNvSpPr>
          <p:nvPr>
            <p:ph type="body" idx="1"/>
          </p:nvPr>
        </p:nvSpPr>
        <p:spPr>
          <a:xfrm>
            <a:off x="5562600" y="3276600"/>
            <a:ext cx="3505200" cy="1143000"/>
          </a:xfrm>
          <a:ln/>
          <a:extLst>
            <a:ext uri="{91240B29-F687-4F45-9708-019B960494DF}">
              <a14:hiddenLine xmlns:a14="http://schemas.microsoft.com/office/drawing/2010/main" w="9525">
                <a:solidFill>
                  <a:srgbClr val="000000"/>
                </a:solidFill>
                <a:miter lim="800000"/>
                <a:headEnd/>
                <a:tailEnd/>
              </a14:hiddenLine>
            </a:ext>
          </a:extLst>
        </p:spPr>
        <p:txBody>
          <a:bodyPr lIns="63360" tIns="25560" rIns="63360" bIns="25560"/>
          <a:lstStyle/>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900"/>
              <a:t>Sequential laundry takes 6 hours for 4 loads</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900"/>
              <a:t>If they learned pipelining, how long would  laundry take? </a:t>
            </a:r>
          </a:p>
        </p:txBody>
      </p:sp>
      <p:grpSp>
        <p:nvGrpSpPr>
          <p:cNvPr id="10244" name="Group 4"/>
          <p:cNvGrpSpPr>
            <a:grpSpLocks/>
          </p:cNvGrpSpPr>
          <p:nvPr/>
        </p:nvGrpSpPr>
        <p:grpSpPr bwMode="auto">
          <a:xfrm>
            <a:off x="819150" y="3430588"/>
            <a:ext cx="522288" cy="498475"/>
            <a:chOff x="441" y="1529"/>
            <a:chExt cx="329" cy="314"/>
          </a:xfrm>
        </p:grpSpPr>
        <p:sp>
          <p:nvSpPr>
            <p:cNvPr id="10245" name="Freeform 5"/>
            <p:cNvSpPr>
              <a:spLocks noChangeArrowheads="1"/>
            </p:cNvSpPr>
            <p:nvPr/>
          </p:nvSpPr>
          <p:spPr bwMode="auto">
            <a:xfrm>
              <a:off x="441" y="1529"/>
              <a:ext cx="329" cy="294"/>
            </a:xfrm>
            <a:custGeom>
              <a:avLst/>
              <a:gdLst>
                <a:gd name="T0" fmla="*/ 411 w 1451"/>
                <a:gd name="T1" fmla="*/ 61 h 1297"/>
                <a:gd name="T2" fmla="*/ 689 w 1451"/>
                <a:gd name="T3" fmla="*/ 70 h 1297"/>
                <a:gd name="T4" fmla="*/ 990 w 1451"/>
                <a:gd name="T5" fmla="*/ 0 h 1297"/>
                <a:gd name="T6" fmla="*/ 1349 w 1451"/>
                <a:gd name="T7" fmla="*/ 0 h 1297"/>
                <a:gd name="T8" fmla="*/ 950 w 1451"/>
                <a:gd name="T9" fmla="*/ 370 h 1297"/>
                <a:gd name="T10" fmla="*/ 1056 w 1451"/>
                <a:gd name="T11" fmla="*/ 392 h 1297"/>
                <a:gd name="T12" fmla="*/ 1162 w 1451"/>
                <a:gd name="T13" fmla="*/ 436 h 1297"/>
                <a:gd name="T14" fmla="*/ 1260 w 1451"/>
                <a:gd name="T15" fmla="*/ 489 h 1297"/>
                <a:gd name="T16" fmla="*/ 1335 w 1451"/>
                <a:gd name="T17" fmla="*/ 556 h 1297"/>
                <a:gd name="T18" fmla="*/ 1397 w 1451"/>
                <a:gd name="T19" fmla="*/ 635 h 1297"/>
                <a:gd name="T20" fmla="*/ 1437 w 1451"/>
                <a:gd name="T21" fmla="*/ 728 h 1297"/>
                <a:gd name="T22" fmla="*/ 1450 w 1451"/>
                <a:gd name="T23" fmla="*/ 824 h 1297"/>
                <a:gd name="T24" fmla="*/ 1432 w 1451"/>
                <a:gd name="T25" fmla="*/ 925 h 1297"/>
                <a:gd name="T26" fmla="*/ 1402 w 1451"/>
                <a:gd name="T27" fmla="*/ 1005 h 1297"/>
                <a:gd name="T28" fmla="*/ 1340 w 1451"/>
                <a:gd name="T29" fmla="*/ 1089 h 1297"/>
                <a:gd name="T30" fmla="*/ 1238 w 1451"/>
                <a:gd name="T31" fmla="*/ 1177 h 1297"/>
                <a:gd name="T32" fmla="*/ 1136 w 1451"/>
                <a:gd name="T33" fmla="*/ 1230 h 1297"/>
                <a:gd name="T34" fmla="*/ 1043 w 1451"/>
                <a:gd name="T35" fmla="*/ 1265 h 1297"/>
                <a:gd name="T36" fmla="*/ 950 w 1451"/>
                <a:gd name="T37" fmla="*/ 1287 h 1297"/>
                <a:gd name="T38" fmla="*/ 836 w 1451"/>
                <a:gd name="T39" fmla="*/ 1296 h 1297"/>
                <a:gd name="T40" fmla="*/ 539 w 1451"/>
                <a:gd name="T41" fmla="*/ 1292 h 1297"/>
                <a:gd name="T42" fmla="*/ 398 w 1451"/>
                <a:gd name="T43" fmla="*/ 1265 h 1297"/>
                <a:gd name="T44" fmla="*/ 248 w 1451"/>
                <a:gd name="T45" fmla="*/ 1199 h 1297"/>
                <a:gd name="T46" fmla="*/ 132 w 1451"/>
                <a:gd name="T47" fmla="*/ 1115 h 1297"/>
                <a:gd name="T48" fmla="*/ 57 w 1451"/>
                <a:gd name="T49" fmla="*/ 1022 h 1297"/>
                <a:gd name="T50" fmla="*/ 17 w 1451"/>
                <a:gd name="T51" fmla="*/ 925 h 1297"/>
                <a:gd name="T52" fmla="*/ 0 w 1451"/>
                <a:gd name="T53" fmla="*/ 841 h 1297"/>
                <a:gd name="T54" fmla="*/ 13 w 1451"/>
                <a:gd name="T55" fmla="*/ 744 h 1297"/>
                <a:gd name="T56" fmla="*/ 61 w 1451"/>
                <a:gd name="T57" fmla="*/ 622 h 1297"/>
                <a:gd name="T58" fmla="*/ 154 w 1451"/>
                <a:gd name="T59" fmla="*/ 520 h 1297"/>
                <a:gd name="T60" fmla="*/ 279 w 1451"/>
                <a:gd name="T61" fmla="*/ 436 h 1297"/>
                <a:gd name="T62" fmla="*/ 451 w 1451"/>
                <a:gd name="T63" fmla="*/ 379 h 1297"/>
                <a:gd name="T64" fmla="*/ 176 w 1451"/>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0246" name="Text Box 6"/>
            <p:cNvSpPr txBox="1">
              <a:spLocks noChangeArrowheads="1"/>
            </p:cNvSpPr>
            <p:nvPr/>
          </p:nvSpPr>
          <p:spPr bwMode="auto">
            <a:xfrm>
              <a:off x="509" y="1576"/>
              <a:ext cx="21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A</a:t>
              </a:r>
            </a:p>
          </p:txBody>
        </p:sp>
      </p:grpSp>
      <p:grpSp>
        <p:nvGrpSpPr>
          <p:cNvPr id="10247" name="Group 7"/>
          <p:cNvGrpSpPr>
            <a:grpSpLocks/>
          </p:cNvGrpSpPr>
          <p:nvPr/>
        </p:nvGrpSpPr>
        <p:grpSpPr bwMode="auto">
          <a:xfrm>
            <a:off x="806450" y="4256088"/>
            <a:ext cx="522288" cy="498475"/>
            <a:chOff x="433" y="2049"/>
            <a:chExt cx="329" cy="314"/>
          </a:xfrm>
        </p:grpSpPr>
        <p:sp>
          <p:nvSpPr>
            <p:cNvPr id="10248" name="Freeform 8"/>
            <p:cNvSpPr>
              <a:spLocks noChangeArrowheads="1"/>
            </p:cNvSpPr>
            <p:nvPr/>
          </p:nvSpPr>
          <p:spPr bwMode="auto">
            <a:xfrm>
              <a:off x="433" y="2049"/>
              <a:ext cx="329" cy="294"/>
            </a:xfrm>
            <a:custGeom>
              <a:avLst/>
              <a:gdLst>
                <a:gd name="T0" fmla="*/ 411 w 1452"/>
                <a:gd name="T1" fmla="*/ 61 h 1296"/>
                <a:gd name="T2" fmla="*/ 690 w 1452"/>
                <a:gd name="T3" fmla="*/ 70 h 1296"/>
                <a:gd name="T4" fmla="*/ 990 w 1452"/>
                <a:gd name="T5" fmla="*/ 0 h 1296"/>
                <a:gd name="T6" fmla="*/ 1350 w 1452"/>
                <a:gd name="T7" fmla="*/ 0 h 1296"/>
                <a:gd name="T8" fmla="*/ 951 w 1452"/>
                <a:gd name="T9" fmla="*/ 369 h 1296"/>
                <a:gd name="T10" fmla="*/ 1058 w 1452"/>
                <a:gd name="T11" fmla="*/ 391 h 1296"/>
                <a:gd name="T12" fmla="*/ 1163 w 1452"/>
                <a:gd name="T13" fmla="*/ 435 h 1296"/>
                <a:gd name="T14" fmla="*/ 1260 w 1452"/>
                <a:gd name="T15" fmla="*/ 488 h 1296"/>
                <a:gd name="T16" fmla="*/ 1336 w 1452"/>
                <a:gd name="T17" fmla="*/ 555 h 1296"/>
                <a:gd name="T18" fmla="*/ 1398 w 1452"/>
                <a:gd name="T19" fmla="*/ 634 h 1296"/>
                <a:gd name="T20" fmla="*/ 1438 w 1452"/>
                <a:gd name="T21" fmla="*/ 727 h 1296"/>
                <a:gd name="T22" fmla="*/ 1451 w 1452"/>
                <a:gd name="T23" fmla="*/ 824 h 1296"/>
                <a:gd name="T24" fmla="*/ 1433 w 1452"/>
                <a:gd name="T25" fmla="*/ 925 h 1296"/>
                <a:gd name="T26" fmla="*/ 1403 w 1452"/>
                <a:gd name="T27" fmla="*/ 1005 h 1296"/>
                <a:gd name="T28" fmla="*/ 1341 w 1452"/>
                <a:gd name="T29" fmla="*/ 1089 h 1296"/>
                <a:gd name="T30" fmla="*/ 1238 w 1452"/>
                <a:gd name="T31" fmla="*/ 1176 h 1296"/>
                <a:gd name="T32" fmla="*/ 1137 w 1452"/>
                <a:gd name="T33" fmla="*/ 1229 h 1296"/>
                <a:gd name="T34" fmla="*/ 1044 w 1452"/>
                <a:gd name="T35" fmla="*/ 1264 h 1296"/>
                <a:gd name="T36" fmla="*/ 951 w 1452"/>
                <a:gd name="T37" fmla="*/ 1286 h 1296"/>
                <a:gd name="T38" fmla="*/ 836 w 1452"/>
                <a:gd name="T39" fmla="*/ 1295 h 1296"/>
                <a:gd name="T40" fmla="*/ 540 w 1452"/>
                <a:gd name="T41" fmla="*/ 1291 h 1296"/>
                <a:gd name="T42" fmla="*/ 397 w 1452"/>
                <a:gd name="T43" fmla="*/ 1264 h 1296"/>
                <a:gd name="T44" fmla="*/ 247 w 1452"/>
                <a:gd name="T45" fmla="*/ 1198 h 1296"/>
                <a:gd name="T46" fmla="*/ 132 w 1452"/>
                <a:gd name="T47" fmla="*/ 1114 h 1296"/>
                <a:gd name="T48" fmla="*/ 57 w 1452"/>
                <a:gd name="T49" fmla="*/ 1022 h 1296"/>
                <a:gd name="T50" fmla="*/ 17 w 1452"/>
                <a:gd name="T51" fmla="*/ 925 h 1296"/>
                <a:gd name="T52" fmla="*/ 0 w 1452"/>
                <a:gd name="T53" fmla="*/ 841 h 1296"/>
                <a:gd name="T54" fmla="*/ 13 w 1452"/>
                <a:gd name="T55" fmla="*/ 744 h 1296"/>
                <a:gd name="T56" fmla="*/ 61 w 1452"/>
                <a:gd name="T57" fmla="*/ 621 h 1296"/>
                <a:gd name="T58" fmla="*/ 155 w 1452"/>
                <a:gd name="T59" fmla="*/ 519 h 1296"/>
                <a:gd name="T60" fmla="*/ 278 w 1452"/>
                <a:gd name="T61" fmla="*/ 435 h 1296"/>
                <a:gd name="T62" fmla="*/ 451 w 1452"/>
                <a:gd name="T63" fmla="*/ 378 h 1296"/>
                <a:gd name="T64" fmla="*/ 177 w 1452"/>
                <a:gd name="T65" fmla="*/ 17 h 1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6">
                  <a:moveTo>
                    <a:pt x="177" y="17"/>
                  </a:moveTo>
                  <a:lnTo>
                    <a:pt x="411" y="61"/>
                  </a:lnTo>
                  <a:lnTo>
                    <a:pt x="406" y="0"/>
                  </a:lnTo>
                  <a:lnTo>
                    <a:pt x="690" y="70"/>
                  </a:lnTo>
                  <a:lnTo>
                    <a:pt x="690" y="0"/>
                  </a:lnTo>
                  <a:lnTo>
                    <a:pt x="990" y="0"/>
                  </a:lnTo>
                  <a:lnTo>
                    <a:pt x="986" y="66"/>
                  </a:lnTo>
                  <a:lnTo>
                    <a:pt x="1350" y="0"/>
                  </a:lnTo>
                  <a:lnTo>
                    <a:pt x="907" y="366"/>
                  </a:lnTo>
                  <a:lnTo>
                    <a:pt x="951" y="369"/>
                  </a:lnTo>
                  <a:lnTo>
                    <a:pt x="999" y="378"/>
                  </a:lnTo>
                  <a:lnTo>
                    <a:pt x="1058" y="391"/>
                  </a:lnTo>
                  <a:lnTo>
                    <a:pt x="1106" y="409"/>
                  </a:lnTo>
                  <a:lnTo>
                    <a:pt x="1163" y="435"/>
                  </a:lnTo>
                  <a:lnTo>
                    <a:pt x="1212" y="458"/>
                  </a:lnTo>
                  <a:lnTo>
                    <a:pt x="1260" y="488"/>
                  </a:lnTo>
                  <a:lnTo>
                    <a:pt x="1300" y="524"/>
                  </a:lnTo>
                  <a:lnTo>
                    <a:pt x="1336" y="555"/>
                  </a:lnTo>
                  <a:lnTo>
                    <a:pt x="1367" y="594"/>
                  </a:lnTo>
                  <a:lnTo>
                    <a:pt x="1398" y="634"/>
                  </a:lnTo>
                  <a:lnTo>
                    <a:pt x="1420" y="683"/>
                  </a:lnTo>
                  <a:lnTo>
                    <a:pt x="1438" y="727"/>
                  </a:lnTo>
                  <a:lnTo>
                    <a:pt x="1447" y="766"/>
                  </a:lnTo>
                  <a:lnTo>
                    <a:pt x="1451" y="824"/>
                  </a:lnTo>
                  <a:lnTo>
                    <a:pt x="1447" y="881"/>
                  </a:lnTo>
                  <a:lnTo>
                    <a:pt x="1433" y="925"/>
                  </a:lnTo>
                  <a:lnTo>
                    <a:pt x="1420" y="969"/>
                  </a:lnTo>
                  <a:lnTo>
                    <a:pt x="1403" y="1005"/>
                  </a:lnTo>
                  <a:lnTo>
                    <a:pt x="1376" y="1045"/>
                  </a:lnTo>
                  <a:lnTo>
                    <a:pt x="1341" y="1089"/>
                  </a:lnTo>
                  <a:lnTo>
                    <a:pt x="1291" y="1136"/>
                  </a:lnTo>
                  <a:lnTo>
                    <a:pt x="1238" y="1176"/>
                  </a:lnTo>
                  <a:lnTo>
                    <a:pt x="1185" y="1207"/>
                  </a:lnTo>
                  <a:lnTo>
                    <a:pt x="1137" y="1229"/>
                  </a:lnTo>
                  <a:lnTo>
                    <a:pt x="1088" y="1251"/>
                  </a:lnTo>
                  <a:lnTo>
                    <a:pt x="1044" y="1264"/>
                  </a:lnTo>
                  <a:lnTo>
                    <a:pt x="990" y="1277"/>
                  </a:lnTo>
                  <a:lnTo>
                    <a:pt x="951" y="1286"/>
                  </a:lnTo>
                  <a:lnTo>
                    <a:pt x="889" y="1291"/>
                  </a:lnTo>
                  <a:lnTo>
                    <a:pt x="836" y="1295"/>
                  </a:lnTo>
                  <a:lnTo>
                    <a:pt x="588" y="1295"/>
                  </a:lnTo>
                  <a:lnTo>
                    <a:pt x="540" y="1291"/>
                  </a:lnTo>
                  <a:lnTo>
                    <a:pt x="478" y="1282"/>
                  </a:lnTo>
                  <a:lnTo>
                    <a:pt x="397" y="1264"/>
                  </a:lnTo>
                  <a:lnTo>
                    <a:pt x="322" y="1233"/>
                  </a:lnTo>
                  <a:lnTo>
                    <a:pt x="247" y="1198"/>
                  </a:lnTo>
                  <a:lnTo>
                    <a:pt x="181" y="1154"/>
                  </a:lnTo>
                  <a:lnTo>
                    <a:pt x="132" y="1114"/>
                  </a:lnTo>
                  <a:lnTo>
                    <a:pt x="92" y="1075"/>
                  </a:lnTo>
                  <a:lnTo>
                    <a:pt x="57" y="1022"/>
                  </a:lnTo>
                  <a:lnTo>
                    <a:pt x="30" y="965"/>
                  </a:lnTo>
                  <a:lnTo>
                    <a:pt x="17" y="925"/>
                  </a:lnTo>
                  <a:lnTo>
                    <a:pt x="4" y="886"/>
                  </a:lnTo>
                  <a:lnTo>
                    <a:pt x="0" y="841"/>
                  </a:lnTo>
                  <a:lnTo>
                    <a:pt x="4" y="806"/>
                  </a:lnTo>
                  <a:lnTo>
                    <a:pt x="13" y="744"/>
                  </a:lnTo>
                  <a:lnTo>
                    <a:pt x="30" y="687"/>
                  </a:lnTo>
                  <a:lnTo>
                    <a:pt x="61" y="621"/>
                  </a:lnTo>
                  <a:lnTo>
                    <a:pt x="105" y="568"/>
                  </a:lnTo>
                  <a:lnTo>
                    <a:pt x="155" y="519"/>
                  </a:lnTo>
                  <a:lnTo>
                    <a:pt x="217" y="471"/>
                  </a:lnTo>
                  <a:lnTo>
                    <a:pt x="278" y="435"/>
                  </a:lnTo>
                  <a:lnTo>
                    <a:pt x="362" y="400"/>
                  </a:lnTo>
                  <a:lnTo>
                    <a:pt x="451" y="378"/>
                  </a:lnTo>
                  <a:lnTo>
                    <a:pt x="509" y="366"/>
                  </a:lnTo>
                  <a:lnTo>
                    <a:pt x="177" y="17"/>
                  </a:lnTo>
                </a:path>
              </a:pathLst>
            </a:custGeom>
            <a:solidFill>
              <a:srgbClr val="D49FFF"/>
            </a:solidFill>
            <a:ln w="12600">
              <a:solidFill>
                <a:srgbClr val="000000"/>
              </a:solidFill>
              <a:round/>
              <a:headEnd/>
              <a:tailEnd/>
            </a:ln>
          </p:spPr>
          <p:txBody>
            <a:bodyPr wrap="none" anchor="ctr"/>
            <a:lstStyle/>
            <a:p>
              <a:endParaRPr lang="en-IN"/>
            </a:p>
          </p:txBody>
        </p:sp>
        <p:sp>
          <p:nvSpPr>
            <p:cNvPr id="10249" name="Text Box 9"/>
            <p:cNvSpPr txBox="1">
              <a:spLocks noChangeArrowheads="1"/>
            </p:cNvSpPr>
            <p:nvPr/>
          </p:nvSpPr>
          <p:spPr bwMode="auto">
            <a:xfrm>
              <a:off x="501" y="2096"/>
              <a:ext cx="21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B</a:t>
              </a:r>
            </a:p>
          </p:txBody>
        </p:sp>
      </p:grpSp>
      <p:grpSp>
        <p:nvGrpSpPr>
          <p:cNvPr id="10250" name="Group 10"/>
          <p:cNvGrpSpPr>
            <a:grpSpLocks/>
          </p:cNvGrpSpPr>
          <p:nvPr/>
        </p:nvGrpSpPr>
        <p:grpSpPr bwMode="auto">
          <a:xfrm>
            <a:off x="781050" y="4992688"/>
            <a:ext cx="522288" cy="498475"/>
            <a:chOff x="417" y="2513"/>
            <a:chExt cx="329" cy="314"/>
          </a:xfrm>
        </p:grpSpPr>
        <p:sp>
          <p:nvSpPr>
            <p:cNvPr id="10251" name="Freeform 11"/>
            <p:cNvSpPr>
              <a:spLocks noChangeArrowheads="1"/>
            </p:cNvSpPr>
            <p:nvPr/>
          </p:nvSpPr>
          <p:spPr bwMode="auto">
            <a:xfrm>
              <a:off x="417" y="2513"/>
              <a:ext cx="329" cy="294"/>
            </a:xfrm>
            <a:custGeom>
              <a:avLst/>
              <a:gdLst>
                <a:gd name="T0" fmla="*/ 411 w 1452"/>
                <a:gd name="T1" fmla="*/ 61 h 1296"/>
                <a:gd name="T2" fmla="*/ 690 w 1452"/>
                <a:gd name="T3" fmla="*/ 70 h 1296"/>
                <a:gd name="T4" fmla="*/ 991 w 1452"/>
                <a:gd name="T5" fmla="*/ 0 h 1296"/>
                <a:gd name="T6" fmla="*/ 1350 w 1452"/>
                <a:gd name="T7" fmla="*/ 0 h 1296"/>
                <a:gd name="T8" fmla="*/ 951 w 1452"/>
                <a:gd name="T9" fmla="*/ 369 h 1296"/>
                <a:gd name="T10" fmla="*/ 1057 w 1452"/>
                <a:gd name="T11" fmla="*/ 391 h 1296"/>
                <a:gd name="T12" fmla="*/ 1163 w 1452"/>
                <a:gd name="T13" fmla="*/ 435 h 1296"/>
                <a:gd name="T14" fmla="*/ 1260 w 1452"/>
                <a:gd name="T15" fmla="*/ 488 h 1296"/>
                <a:gd name="T16" fmla="*/ 1336 w 1452"/>
                <a:gd name="T17" fmla="*/ 555 h 1296"/>
                <a:gd name="T18" fmla="*/ 1398 w 1452"/>
                <a:gd name="T19" fmla="*/ 634 h 1296"/>
                <a:gd name="T20" fmla="*/ 1438 w 1452"/>
                <a:gd name="T21" fmla="*/ 727 h 1296"/>
                <a:gd name="T22" fmla="*/ 1451 w 1452"/>
                <a:gd name="T23" fmla="*/ 824 h 1296"/>
                <a:gd name="T24" fmla="*/ 1433 w 1452"/>
                <a:gd name="T25" fmla="*/ 925 h 1296"/>
                <a:gd name="T26" fmla="*/ 1403 w 1452"/>
                <a:gd name="T27" fmla="*/ 1005 h 1296"/>
                <a:gd name="T28" fmla="*/ 1341 w 1452"/>
                <a:gd name="T29" fmla="*/ 1089 h 1296"/>
                <a:gd name="T30" fmla="*/ 1238 w 1452"/>
                <a:gd name="T31" fmla="*/ 1176 h 1296"/>
                <a:gd name="T32" fmla="*/ 1137 w 1452"/>
                <a:gd name="T33" fmla="*/ 1229 h 1296"/>
                <a:gd name="T34" fmla="*/ 1044 w 1452"/>
                <a:gd name="T35" fmla="*/ 1264 h 1296"/>
                <a:gd name="T36" fmla="*/ 951 w 1452"/>
                <a:gd name="T37" fmla="*/ 1286 h 1296"/>
                <a:gd name="T38" fmla="*/ 836 w 1452"/>
                <a:gd name="T39" fmla="*/ 1295 h 1296"/>
                <a:gd name="T40" fmla="*/ 539 w 1452"/>
                <a:gd name="T41" fmla="*/ 1291 h 1296"/>
                <a:gd name="T42" fmla="*/ 398 w 1452"/>
                <a:gd name="T43" fmla="*/ 1264 h 1296"/>
                <a:gd name="T44" fmla="*/ 248 w 1452"/>
                <a:gd name="T45" fmla="*/ 1198 h 1296"/>
                <a:gd name="T46" fmla="*/ 132 w 1452"/>
                <a:gd name="T47" fmla="*/ 1114 h 1296"/>
                <a:gd name="T48" fmla="*/ 57 w 1452"/>
                <a:gd name="T49" fmla="*/ 1022 h 1296"/>
                <a:gd name="T50" fmla="*/ 17 w 1452"/>
                <a:gd name="T51" fmla="*/ 925 h 1296"/>
                <a:gd name="T52" fmla="*/ 0 w 1452"/>
                <a:gd name="T53" fmla="*/ 841 h 1296"/>
                <a:gd name="T54" fmla="*/ 13 w 1452"/>
                <a:gd name="T55" fmla="*/ 744 h 1296"/>
                <a:gd name="T56" fmla="*/ 61 w 1452"/>
                <a:gd name="T57" fmla="*/ 621 h 1296"/>
                <a:gd name="T58" fmla="*/ 154 w 1452"/>
                <a:gd name="T59" fmla="*/ 519 h 1296"/>
                <a:gd name="T60" fmla="*/ 279 w 1452"/>
                <a:gd name="T61" fmla="*/ 435 h 1296"/>
                <a:gd name="T62" fmla="*/ 451 w 1452"/>
                <a:gd name="T63" fmla="*/ 378 h 1296"/>
                <a:gd name="T64" fmla="*/ 176 w 1452"/>
                <a:gd name="T65" fmla="*/ 17 h 1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6">
                  <a:moveTo>
                    <a:pt x="176" y="17"/>
                  </a:moveTo>
                  <a:lnTo>
                    <a:pt x="411" y="61"/>
                  </a:lnTo>
                  <a:lnTo>
                    <a:pt x="407" y="0"/>
                  </a:lnTo>
                  <a:lnTo>
                    <a:pt x="690" y="70"/>
                  </a:lnTo>
                  <a:lnTo>
                    <a:pt x="690" y="0"/>
                  </a:lnTo>
                  <a:lnTo>
                    <a:pt x="991" y="0"/>
                  </a:lnTo>
                  <a:lnTo>
                    <a:pt x="987" y="66"/>
                  </a:lnTo>
                  <a:lnTo>
                    <a:pt x="1350" y="0"/>
                  </a:lnTo>
                  <a:lnTo>
                    <a:pt x="906" y="366"/>
                  </a:lnTo>
                  <a:lnTo>
                    <a:pt x="951" y="369"/>
                  </a:lnTo>
                  <a:lnTo>
                    <a:pt x="1000" y="378"/>
                  </a:lnTo>
                  <a:lnTo>
                    <a:pt x="1057" y="391"/>
                  </a:lnTo>
                  <a:lnTo>
                    <a:pt x="1106" y="409"/>
                  </a:lnTo>
                  <a:lnTo>
                    <a:pt x="1163" y="435"/>
                  </a:lnTo>
                  <a:lnTo>
                    <a:pt x="1212" y="458"/>
                  </a:lnTo>
                  <a:lnTo>
                    <a:pt x="1260" y="488"/>
                  </a:lnTo>
                  <a:lnTo>
                    <a:pt x="1301" y="524"/>
                  </a:lnTo>
                  <a:lnTo>
                    <a:pt x="1336" y="555"/>
                  </a:lnTo>
                  <a:lnTo>
                    <a:pt x="1367" y="594"/>
                  </a:lnTo>
                  <a:lnTo>
                    <a:pt x="1398" y="634"/>
                  </a:lnTo>
                  <a:lnTo>
                    <a:pt x="1420" y="683"/>
                  </a:lnTo>
                  <a:lnTo>
                    <a:pt x="1438" y="727"/>
                  </a:lnTo>
                  <a:lnTo>
                    <a:pt x="1447" y="766"/>
                  </a:lnTo>
                  <a:lnTo>
                    <a:pt x="1451" y="824"/>
                  </a:lnTo>
                  <a:lnTo>
                    <a:pt x="1447" y="881"/>
                  </a:lnTo>
                  <a:lnTo>
                    <a:pt x="1433" y="925"/>
                  </a:lnTo>
                  <a:lnTo>
                    <a:pt x="1420" y="969"/>
                  </a:lnTo>
                  <a:lnTo>
                    <a:pt x="1403" y="1005"/>
                  </a:lnTo>
                  <a:lnTo>
                    <a:pt x="1376" y="1045"/>
                  </a:lnTo>
                  <a:lnTo>
                    <a:pt x="1341" y="1089"/>
                  </a:lnTo>
                  <a:lnTo>
                    <a:pt x="1292" y="1136"/>
                  </a:lnTo>
                  <a:lnTo>
                    <a:pt x="1238" y="1176"/>
                  </a:lnTo>
                  <a:lnTo>
                    <a:pt x="1185" y="1207"/>
                  </a:lnTo>
                  <a:lnTo>
                    <a:pt x="1137" y="1229"/>
                  </a:lnTo>
                  <a:lnTo>
                    <a:pt x="1088" y="1251"/>
                  </a:lnTo>
                  <a:lnTo>
                    <a:pt x="1044" y="1264"/>
                  </a:lnTo>
                  <a:lnTo>
                    <a:pt x="991" y="1277"/>
                  </a:lnTo>
                  <a:lnTo>
                    <a:pt x="951" y="1286"/>
                  </a:lnTo>
                  <a:lnTo>
                    <a:pt x="889" y="1291"/>
                  </a:lnTo>
                  <a:lnTo>
                    <a:pt x="836" y="1295"/>
                  </a:lnTo>
                  <a:lnTo>
                    <a:pt x="588" y="1295"/>
                  </a:lnTo>
                  <a:lnTo>
                    <a:pt x="539" y="1291"/>
                  </a:lnTo>
                  <a:lnTo>
                    <a:pt x="477" y="1282"/>
                  </a:lnTo>
                  <a:lnTo>
                    <a:pt x="398" y="1264"/>
                  </a:lnTo>
                  <a:lnTo>
                    <a:pt x="323" y="1233"/>
                  </a:lnTo>
                  <a:lnTo>
                    <a:pt x="248" y="1198"/>
                  </a:lnTo>
                  <a:lnTo>
                    <a:pt x="180" y="1154"/>
                  </a:lnTo>
                  <a:lnTo>
                    <a:pt x="132" y="1114"/>
                  </a:lnTo>
                  <a:lnTo>
                    <a:pt x="92" y="1075"/>
                  </a:lnTo>
                  <a:lnTo>
                    <a:pt x="57" y="1022"/>
                  </a:lnTo>
                  <a:lnTo>
                    <a:pt x="30" y="965"/>
                  </a:lnTo>
                  <a:lnTo>
                    <a:pt x="17" y="925"/>
                  </a:lnTo>
                  <a:lnTo>
                    <a:pt x="4" y="886"/>
                  </a:lnTo>
                  <a:lnTo>
                    <a:pt x="0" y="841"/>
                  </a:lnTo>
                  <a:lnTo>
                    <a:pt x="4" y="806"/>
                  </a:lnTo>
                  <a:lnTo>
                    <a:pt x="13" y="744"/>
                  </a:lnTo>
                  <a:lnTo>
                    <a:pt x="30" y="687"/>
                  </a:lnTo>
                  <a:lnTo>
                    <a:pt x="61" y="621"/>
                  </a:lnTo>
                  <a:lnTo>
                    <a:pt x="105" y="568"/>
                  </a:lnTo>
                  <a:lnTo>
                    <a:pt x="154" y="519"/>
                  </a:lnTo>
                  <a:lnTo>
                    <a:pt x="217" y="471"/>
                  </a:lnTo>
                  <a:lnTo>
                    <a:pt x="279" y="435"/>
                  </a:lnTo>
                  <a:lnTo>
                    <a:pt x="362" y="400"/>
                  </a:lnTo>
                  <a:lnTo>
                    <a:pt x="451" y="378"/>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0252" name="Text Box 12"/>
            <p:cNvSpPr txBox="1">
              <a:spLocks noChangeArrowheads="1"/>
            </p:cNvSpPr>
            <p:nvPr/>
          </p:nvSpPr>
          <p:spPr bwMode="auto">
            <a:xfrm>
              <a:off x="486" y="2560"/>
              <a:ext cx="21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C</a:t>
              </a:r>
            </a:p>
          </p:txBody>
        </p:sp>
      </p:grpSp>
      <p:grpSp>
        <p:nvGrpSpPr>
          <p:cNvPr id="10253" name="Group 13"/>
          <p:cNvGrpSpPr>
            <a:grpSpLocks/>
          </p:cNvGrpSpPr>
          <p:nvPr/>
        </p:nvGrpSpPr>
        <p:grpSpPr bwMode="auto">
          <a:xfrm>
            <a:off x="768350" y="5741988"/>
            <a:ext cx="522288" cy="498475"/>
            <a:chOff x="409" y="2985"/>
            <a:chExt cx="329" cy="314"/>
          </a:xfrm>
        </p:grpSpPr>
        <p:sp>
          <p:nvSpPr>
            <p:cNvPr id="10254" name="Freeform 14"/>
            <p:cNvSpPr>
              <a:spLocks noChangeArrowheads="1"/>
            </p:cNvSpPr>
            <p:nvPr/>
          </p:nvSpPr>
          <p:spPr bwMode="auto">
            <a:xfrm>
              <a:off x="409" y="2985"/>
              <a:ext cx="329" cy="294"/>
            </a:xfrm>
            <a:custGeom>
              <a:avLst/>
              <a:gdLst>
                <a:gd name="T0" fmla="*/ 411 w 1451"/>
                <a:gd name="T1" fmla="*/ 61 h 1297"/>
                <a:gd name="T2" fmla="*/ 689 w 1451"/>
                <a:gd name="T3" fmla="*/ 70 h 1297"/>
                <a:gd name="T4" fmla="*/ 990 w 1451"/>
                <a:gd name="T5" fmla="*/ 0 h 1297"/>
                <a:gd name="T6" fmla="*/ 1349 w 1451"/>
                <a:gd name="T7" fmla="*/ 0 h 1297"/>
                <a:gd name="T8" fmla="*/ 950 w 1451"/>
                <a:gd name="T9" fmla="*/ 370 h 1297"/>
                <a:gd name="T10" fmla="*/ 1056 w 1451"/>
                <a:gd name="T11" fmla="*/ 392 h 1297"/>
                <a:gd name="T12" fmla="*/ 1162 w 1451"/>
                <a:gd name="T13" fmla="*/ 436 h 1297"/>
                <a:gd name="T14" fmla="*/ 1260 w 1451"/>
                <a:gd name="T15" fmla="*/ 489 h 1297"/>
                <a:gd name="T16" fmla="*/ 1335 w 1451"/>
                <a:gd name="T17" fmla="*/ 556 h 1297"/>
                <a:gd name="T18" fmla="*/ 1397 w 1451"/>
                <a:gd name="T19" fmla="*/ 635 h 1297"/>
                <a:gd name="T20" fmla="*/ 1437 w 1451"/>
                <a:gd name="T21" fmla="*/ 728 h 1297"/>
                <a:gd name="T22" fmla="*/ 1450 w 1451"/>
                <a:gd name="T23" fmla="*/ 824 h 1297"/>
                <a:gd name="T24" fmla="*/ 1432 w 1451"/>
                <a:gd name="T25" fmla="*/ 925 h 1297"/>
                <a:gd name="T26" fmla="*/ 1402 w 1451"/>
                <a:gd name="T27" fmla="*/ 1005 h 1297"/>
                <a:gd name="T28" fmla="*/ 1340 w 1451"/>
                <a:gd name="T29" fmla="*/ 1089 h 1297"/>
                <a:gd name="T30" fmla="*/ 1238 w 1451"/>
                <a:gd name="T31" fmla="*/ 1177 h 1297"/>
                <a:gd name="T32" fmla="*/ 1136 w 1451"/>
                <a:gd name="T33" fmla="*/ 1230 h 1297"/>
                <a:gd name="T34" fmla="*/ 1043 w 1451"/>
                <a:gd name="T35" fmla="*/ 1265 h 1297"/>
                <a:gd name="T36" fmla="*/ 950 w 1451"/>
                <a:gd name="T37" fmla="*/ 1287 h 1297"/>
                <a:gd name="T38" fmla="*/ 836 w 1451"/>
                <a:gd name="T39" fmla="*/ 1296 h 1297"/>
                <a:gd name="T40" fmla="*/ 539 w 1451"/>
                <a:gd name="T41" fmla="*/ 1292 h 1297"/>
                <a:gd name="T42" fmla="*/ 398 w 1451"/>
                <a:gd name="T43" fmla="*/ 1265 h 1297"/>
                <a:gd name="T44" fmla="*/ 248 w 1451"/>
                <a:gd name="T45" fmla="*/ 1199 h 1297"/>
                <a:gd name="T46" fmla="*/ 132 w 1451"/>
                <a:gd name="T47" fmla="*/ 1115 h 1297"/>
                <a:gd name="T48" fmla="*/ 57 w 1451"/>
                <a:gd name="T49" fmla="*/ 1022 h 1297"/>
                <a:gd name="T50" fmla="*/ 17 w 1451"/>
                <a:gd name="T51" fmla="*/ 925 h 1297"/>
                <a:gd name="T52" fmla="*/ 0 w 1451"/>
                <a:gd name="T53" fmla="*/ 841 h 1297"/>
                <a:gd name="T54" fmla="*/ 13 w 1451"/>
                <a:gd name="T55" fmla="*/ 744 h 1297"/>
                <a:gd name="T56" fmla="*/ 61 w 1451"/>
                <a:gd name="T57" fmla="*/ 622 h 1297"/>
                <a:gd name="T58" fmla="*/ 154 w 1451"/>
                <a:gd name="T59" fmla="*/ 520 h 1297"/>
                <a:gd name="T60" fmla="*/ 279 w 1451"/>
                <a:gd name="T61" fmla="*/ 436 h 1297"/>
                <a:gd name="T62" fmla="*/ 451 w 1451"/>
                <a:gd name="T63" fmla="*/ 379 h 1297"/>
                <a:gd name="T64" fmla="*/ 176 w 1451"/>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0255" name="Text Box 15"/>
            <p:cNvSpPr txBox="1">
              <a:spLocks noChangeArrowheads="1"/>
            </p:cNvSpPr>
            <p:nvPr/>
          </p:nvSpPr>
          <p:spPr bwMode="auto">
            <a:xfrm>
              <a:off x="477" y="3032"/>
              <a:ext cx="21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D</a:t>
              </a:r>
            </a:p>
          </p:txBody>
        </p:sp>
      </p:grpSp>
      <p:sp>
        <p:nvSpPr>
          <p:cNvPr id="10256" name="Text Box 16"/>
          <p:cNvSpPr txBox="1">
            <a:spLocks noChangeArrowheads="1"/>
          </p:cNvSpPr>
          <p:nvPr/>
        </p:nvSpPr>
        <p:spPr bwMode="auto">
          <a:xfrm>
            <a:off x="14954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30</a:t>
            </a:r>
          </a:p>
        </p:txBody>
      </p:sp>
      <p:grpSp>
        <p:nvGrpSpPr>
          <p:cNvPr id="10257" name="Group 17"/>
          <p:cNvGrpSpPr>
            <a:grpSpLocks/>
          </p:cNvGrpSpPr>
          <p:nvPr/>
        </p:nvGrpSpPr>
        <p:grpSpPr bwMode="auto">
          <a:xfrm>
            <a:off x="1485900" y="2928938"/>
            <a:ext cx="1497013" cy="0"/>
            <a:chOff x="861" y="1213"/>
            <a:chExt cx="943" cy="0"/>
          </a:xfrm>
        </p:grpSpPr>
        <p:sp>
          <p:nvSpPr>
            <p:cNvPr id="10258" name="Line 18"/>
            <p:cNvSpPr>
              <a:spLocks noChangeShapeType="1"/>
            </p:cNvSpPr>
            <p:nvPr/>
          </p:nvSpPr>
          <p:spPr bwMode="auto">
            <a:xfrm>
              <a:off x="861" y="1213"/>
              <a:ext cx="288"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59" name="Line 19"/>
            <p:cNvSpPr>
              <a:spLocks noChangeShapeType="1"/>
            </p:cNvSpPr>
            <p:nvPr/>
          </p:nvSpPr>
          <p:spPr bwMode="auto">
            <a:xfrm>
              <a:off x="1189" y="1213"/>
              <a:ext cx="360"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0" name="Line 20"/>
            <p:cNvSpPr>
              <a:spLocks noChangeShapeType="1"/>
            </p:cNvSpPr>
            <p:nvPr/>
          </p:nvSpPr>
          <p:spPr bwMode="auto">
            <a:xfrm>
              <a:off x="1589" y="1213"/>
              <a:ext cx="216"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0261" name="Text Box 21"/>
          <p:cNvSpPr txBox="1">
            <a:spLocks noChangeArrowheads="1"/>
          </p:cNvSpPr>
          <p:nvPr/>
        </p:nvSpPr>
        <p:spPr bwMode="auto">
          <a:xfrm>
            <a:off x="20796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40</a:t>
            </a:r>
          </a:p>
        </p:txBody>
      </p:sp>
      <p:sp>
        <p:nvSpPr>
          <p:cNvPr id="10262" name="Text Box 22"/>
          <p:cNvSpPr txBox="1">
            <a:spLocks noChangeArrowheads="1"/>
          </p:cNvSpPr>
          <p:nvPr/>
        </p:nvSpPr>
        <p:spPr bwMode="auto">
          <a:xfrm>
            <a:off x="26003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20</a:t>
            </a:r>
          </a:p>
        </p:txBody>
      </p:sp>
      <p:sp>
        <p:nvSpPr>
          <p:cNvPr id="10263" name="Line 23"/>
          <p:cNvSpPr>
            <a:spLocks noChangeShapeType="1"/>
          </p:cNvSpPr>
          <p:nvPr/>
        </p:nvSpPr>
        <p:spPr bwMode="auto">
          <a:xfrm>
            <a:off x="19812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4" name="Line 24"/>
          <p:cNvSpPr>
            <a:spLocks noChangeShapeType="1"/>
          </p:cNvSpPr>
          <p:nvPr/>
        </p:nvSpPr>
        <p:spPr bwMode="auto">
          <a:xfrm>
            <a:off x="26162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5" name="Line 25"/>
          <p:cNvSpPr>
            <a:spLocks noChangeShapeType="1"/>
          </p:cNvSpPr>
          <p:nvPr/>
        </p:nvSpPr>
        <p:spPr bwMode="auto">
          <a:xfrm>
            <a:off x="30226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6" name="Text Box 26"/>
          <p:cNvSpPr txBox="1">
            <a:spLocks noChangeArrowheads="1"/>
          </p:cNvSpPr>
          <p:nvPr/>
        </p:nvSpPr>
        <p:spPr bwMode="auto">
          <a:xfrm>
            <a:off x="30702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30</a:t>
            </a:r>
          </a:p>
        </p:txBody>
      </p:sp>
      <p:grpSp>
        <p:nvGrpSpPr>
          <p:cNvPr id="10267" name="Group 27"/>
          <p:cNvGrpSpPr>
            <a:grpSpLocks/>
          </p:cNvGrpSpPr>
          <p:nvPr/>
        </p:nvGrpSpPr>
        <p:grpSpPr bwMode="auto">
          <a:xfrm>
            <a:off x="3060700" y="2928938"/>
            <a:ext cx="1497013" cy="0"/>
            <a:chOff x="1853" y="1213"/>
            <a:chExt cx="943" cy="0"/>
          </a:xfrm>
        </p:grpSpPr>
        <p:sp>
          <p:nvSpPr>
            <p:cNvPr id="10268" name="Line 28"/>
            <p:cNvSpPr>
              <a:spLocks noChangeShapeType="1"/>
            </p:cNvSpPr>
            <p:nvPr/>
          </p:nvSpPr>
          <p:spPr bwMode="auto">
            <a:xfrm>
              <a:off x="1853" y="1213"/>
              <a:ext cx="288"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9" name="Line 29"/>
            <p:cNvSpPr>
              <a:spLocks noChangeShapeType="1"/>
            </p:cNvSpPr>
            <p:nvPr/>
          </p:nvSpPr>
          <p:spPr bwMode="auto">
            <a:xfrm>
              <a:off x="2181" y="1213"/>
              <a:ext cx="360"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70" name="Line 30"/>
            <p:cNvSpPr>
              <a:spLocks noChangeShapeType="1"/>
            </p:cNvSpPr>
            <p:nvPr/>
          </p:nvSpPr>
          <p:spPr bwMode="auto">
            <a:xfrm>
              <a:off x="2581" y="1213"/>
              <a:ext cx="216"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0271" name="Text Box 31"/>
          <p:cNvSpPr txBox="1">
            <a:spLocks noChangeArrowheads="1"/>
          </p:cNvSpPr>
          <p:nvPr/>
        </p:nvSpPr>
        <p:spPr bwMode="auto">
          <a:xfrm>
            <a:off x="36544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40</a:t>
            </a:r>
          </a:p>
        </p:txBody>
      </p:sp>
      <p:sp>
        <p:nvSpPr>
          <p:cNvPr id="10272" name="Text Box 32"/>
          <p:cNvSpPr txBox="1">
            <a:spLocks noChangeArrowheads="1"/>
          </p:cNvSpPr>
          <p:nvPr/>
        </p:nvSpPr>
        <p:spPr bwMode="auto">
          <a:xfrm>
            <a:off x="41751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20</a:t>
            </a:r>
          </a:p>
        </p:txBody>
      </p:sp>
      <p:sp>
        <p:nvSpPr>
          <p:cNvPr id="10273" name="Line 33"/>
          <p:cNvSpPr>
            <a:spLocks noChangeShapeType="1"/>
          </p:cNvSpPr>
          <p:nvPr/>
        </p:nvSpPr>
        <p:spPr bwMode="auto">
          <a:xfrm>
            <a:off x="35560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74" name="Line 34"/>
          <p:cNvSpPr>
            <a:spLocks noChangeShapeType="1"/>
          </p:cNvSpPr>
          <p:nvPr/>
        </p:nvSpPr>
        <p:spPr bwMode="auto">
          <a:xfrm>
            <a:off x="41910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75" name="Line 35"/>
          <p:cNvSpPr>
            <a:spLocks noChangeShapeType="1"/>
          </p:cNvSpPr>
          <p:nvPr/>
        </p:nvSpPr>
        <p:spPr bwMode="auto">
          <a:xfrm>
            <a:off x="45974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76" name="Text Box 36"/>
          <p:cNvSpPr txBox="1">
            <a:spLocks noChangeArrowheads="1"/>
          </p:cNvSpPr>
          <p:nvPr/>
        </p:nvSpPr>
        <p:spPr bwMode="auto">
          <a:xfrm>
            <a:off x="46450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30</a:t>
            </a:r>
          </a:p>
        </p:txBody>
      </p:sp>
      <p:grpSp>
        <p:nvGrpSpPr>
          <p:cNvPr id="10277" name="Group 37"/>
          <p:cNvGrpSpPr>
            <a:grpSpLocks/>
          </p:cNvGrpSpPr>
          <p:nvPr/>
        </p:nvGrpSpPr>
        <p:grpSpPr bwMode="auto">
          <a:xfrm>
            <a:off x="4635500" y="2928938"/>
            <a:ext cx="1497013" cy="0"/>
            <a:chOff x="2845" y="1213"/>
            <a:chExt cx="943" cy="0"/>
          </a:xfrm>
        </p:grpSpPr>
        <p:sp>
          <p:nvSpPr>
            <p:cNvPr id="10278" name="Line 38"/>
            <p:cNvSpPr>
              <a:spLocks noChangeShapeType="1"/>
            </p:cNvSpPr>
            <p:nvPr/>
          </p:nvSpPr>
          <p:spPr bwMode="auto">
            <a:xfrm>
              <a:off x="2845" y="1213"/>
              <a:ext cx="288"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79" name="Line 39"/>
            <p:cNvSpPr>
              <a:spLocks noChangeShapeType="1"/>
            </p:cNvSpPr>
            <p:nvPr/>
          </p:nvSpPr>
          <p:spPr bwMode="auto">
            <a:xfrm>
              <a:off x="3173" y="1213"/>
              <a:ext cx="360"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80" name="Line 40"/>
            <p:cNvSpPr>
              <a:spLocks noChangeShapeType="1"/>
            </p:cNvSpPr>
            <p:nvPr/>
          </p:nvSpPr>
          <p:spPr bwMode="auto">
            <a:xfrm>
              <a:off x="3573" y="1213"/>
              <a:ext cx="216"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0281" name="Text Box 41"/>
          <p:cNvSpPr txBox="1">
            <a:spLocks noChangeArrowheads="1"/>
          </p:cNvSpPr>
          <p:nvPr/>
        </p:nvSpPr>
        <p:spPr bwMode="auto">
          <a:xfrm>
            <a:off x="52292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40</a:t>
            </a:r>
          </a:p>
        </p:txBody>
      </p:sp>
      <p:sp>
        <p:nvSpPr>
          <p:cNvPr id="10282" name="Text Box 42"/>
          <p:cNvSpPr txBox="1">
            <a:spLocks noChangeArrowheads="1"/>
          </p:cNvSpPr>
          <p:nvPr/>
        </p:nvSpPr>
        <p:spPr bwMode="auto">
          <a:xfrm>
            <a:off x="57499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20</a:t>
            </a:r>
          </a:p>
        </p:txBody>
      </p:sp>
      <p:sp>
        <p:nvSpPr>
          <p:cNvPr id="10283" name="Line 43"/>
          <p:cNvSpPr>
            <a:spLocks noChangeShapeType="1"/>
          </p:cNvSpPr>
          <p:nvPr/>
        </p:nvSpPr>
        <p:spPr bwMode="auto">
          <a:xfrm>
            <a:off x="51308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84" name="Line 44"/>
          <p:cNvSpPr>
            <a:spLocks noChangeShapeType="1"/>
          </p:cNvSpPr>
          <p:nvPr/>
        </p:nvSpPr>
        <p:spPr bwMode="auto">
          <a:xfrm>
            <a:off x="57658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85" name="Line 45"/>
          <p:cNvSpPr>
            <a:spLocks noChangeShapeType="1"/>
          </p:cNvSpPr>
          <p:nvPr/>
        </p:nvSpPr>
        <p:spPr bwMode="auto">
          <a:xfrm>
            <a:off x="61722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86" name="Text Box 46"/>
          <p:cNvSpPr txBox="1">
            <a:spLocks noChangeArrowheads="1"/>
          </p:cNvSpPr>
          <p:nvPr/>
        </p:nvSpPr>
        <p:spPr bwMode="auto">
          <a:xfrm>
            <a:off x="62198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30</a:t>
            </a:r>
          </a:p>
        </p:txBody>
      </p:sp>
      <p:grpSp>
        <p:nvGrpSpPr>
          <p:cNvPr id="10287" name="Group 47"/>
          <p:cNvGrpSpPr>
            <a:grpSpLocks/>
          </p:cNvGrpSpPr>
          <p:nvPr/>
        </p:nvGrpSpPr>
        <p:grpSpPr bwMode="auto">
          <a:xfrm>
            <a:off x="6210300" y="2928938"/>
            <a:ext cx="1497013" cy="0"/>
            <a:chOff x="3837" y="1213"/>
            <a:chExt cx="943" cy="0"/>
          </a:xfrm>
        </p:grpSpPr>
        <p:sp>
          <p:nvSpPr>
            <p:cNvPr id="10288" name="Line 48"/>
            <p:cNvSpPr>
              <a:spLocks noChangeShapeType="1"/>
            </p:cNvSpPr>
            <p:nvPr/>
          </p:nvSpPr>
          <p:spPr bwMode="auto">
            <a:xfrm>
              <a:off x="3837" y="1213"/>
              <a:ext cx="288"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89" name="Line 49"/>
            <p:cNvSpPr>
              <a:spLocks noChangeShapeType="1"/>
            </p:cNvSpPr>
            <p:nvPr/>
          </p:nvSpPr>
          <p:spPr bwMode="auto">
            <a:xfrm>
              <a:off x="4165" y="1213"/>
              <a:ext cx="360"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90" name="Line 50"/>
            <p:cNvSpPr>
              <a:spLocks noChangeShapeType="1"/>
            </p:cNvSpPr>
            <p:nvPr/>
          </p:nvSpPr>
          <p:spPr bwMode="auto">
            <a:xfrm>
              <a:off x="4565" y="1213"/>
              <a:ext cx="216"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0291" name="Text Box 51"/>
          <p:cNvSpPr txBox="1">
            <a:spLocks noChangeArrowheads="1"/>
          </p:cNvSpPr>
          <p:nvPr/>
        </p:nvSpPr>
        <p:spPr bwMode="auto">
          <a:xfrm>
            <a:off x="68040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40</a:t>
            </a:r>
          </a:p>
        </p:txBody>
      </p:sp>
      <p:sp>
        <p:nvSpPr>
          <p:cNvPr id="10292" name="Text Box 52"/>
          <p:cNvSpPr txBox="1">
            <a:spLocks noChangeArrowheads="1"/>
          </p:cNvSpPr>
          <p:nvPr/>
        </p:nvSpPr>
        <p:spPr bwMode="auto">
          <a:xfrm>
            <a:off x="7324725" y="29337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20</a:t>
            </a:r>
          </a:p>
        </p:txBody>
      </p:sp>
      <p:sp>
        <p:nvSpPr>
          <p:cNvPr id="10293" name="Line 53"/>
          <p:cNvSpPr>
            <a:spLocks noChangeShapeType="1"/>
          </p:cNvSpPr>
          <p:nvPr/>
        </p:nvSpPr>
        <p:spPr bwMode="auto">
          <a:xfrm>
            <a:off x="67056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94" name="Line 54"/>
          <p:cNvSpPr>
            <a:spLocks noChangeShapeType="1"/>
          </p:cNvSpPr>
          <p:nvPr/>
        </p:nvSpPr>
        <p:spPr bwMode="auto">
          <a:xfrm>
            <a:off x="73406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95" name="Line 55"/>
          <p:cNvSpPr>
            <a:spLocks noChangeShapeType="1"/>
          </p:cNvSpPr>
          <p:nvPr/>
        </p:nvSpPr>
        <p:spPr bwMode="auto">
          <a:xfrm>
            <a:off x="7747000" y="27574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10296" name="Group 56"/>
          <p:cNvGrpSpPr>
            <a:grpSpLocks/>
          </p:cNvGrpSpPr>
          <p:nvPr/>
        </p:nvGrpSpPr>
        <p:grpSpPr bwMode="auto">
          <a:xfrm>
            <a:off x="1466850" y="3328988"/>
            <a:ext cx="1533525" cy="709612"/>
            <a:chOff x="849" y="1465"/>
            <a:chExt cx="966" cy="447"/>
          </a:xfrm>
        </p:grpSpPr>
        <p:grpSp>
          <p:nvGrpSpPr>
            <p:cNvPr id="10297" name="Group 57"/>
            <p:cNvGrpSpPr>
              <a:grpSpLocks/>
            </p:cNvGrpSpPr>
            <p:nvPr/>
          </p:nvGrpSpPr>
          <p:grpSpPr bwMode="auto">
            <a:xfrm>
              <a:off x="849" y="1465"/>
              <a:ext cx="304" cy="447"/>
              <a:chOff x="849" y="1465"/>
              <a:chExt cx="304" cy="447"/>
            </a:xfrm>
          </p:grpSpPr>
          <p:grpSp>
            <p:nvGrpSpPr>
              <p:cNvPr id="10298" name="Group 58"/>
              <p:cNvGrpSpPr>
                <a:grpSpLocks/>
              </p:cNvGrpSpPr>
              <p:nvPr/>
            </p:nvGrpSpPr>
            <p:grpSpPr bwMode="auto">
              <a:xfrm>
                <a:off x="849" y="1465"/>
                <a:ext cx="304" cy="447"/>
                <a:chOff x="849" y="1465"/>
                <a:chExt cx="304" cy="447"/>
              </a:xfrm>
            </p:grpSpPr>
            <p:grpSp>
              <p:nvGrpSpPr>
                <p:cNvPr id="10299" name="Group 59"/>
                <p:cNvGrpSpPr>
                  <a:grpSpLocks/>
                </p:cNvGrpSpPr>
                <p:nvPr/>
              </p:nvGrpSpPr>
              <p:grpSpPr bwMode="auto">
                <a:xfrm>
                  <a:off x="849" y="1536"/>
                  <a:ext cx="304" cy="376"/>
                  <a:chOff x="849" y="1536"/>
                  <a:chExt cx="304" cy="376"/>
                </a:xfrm>
              </p:grpSpPr>
              <p:sp>
                <p:nvSpPr>
                  <p:cNvPr id="10300" name="Freeform 60"/>
                  <p:cNvSpPr>
                    <a:spLocks noChangeArrowheads="1"/>
                  </p:cNvSpPr>
                  <p:nvPr/>
                </p:nvSpPr>
                <p:spPr bwMode="auto">
                  <a:xfrm>
                    <a:off x="849" y="1536"/>
                    <a:ext cx="305" cy="377"/>
                  </a:xfrm>
                  <a:custGeom>
                    <a:avLst/>
                    <a:gdLst>
                      <a:gd name="T0" fmla="*/ 0 w 1346"/>
                      <a:gd name="T1" fmla="*/ 1663 h 1664"/>
                      <a:gd name="T2" fmla="*/ 0 w 1346"/>
                      <a:gd name="T3" fmla="*/ 336 h 1664"/>
                      <a:gd name="T4" fmla="*/ 335 w 1346"/>
                      <a:gd name="T5" fmla="*/ 0 h 1664"/>
                      <a:gd name="T6" fmla="*/ 1345 w 1346"/>
                      <a:gd name="T7" fmla="*/ 0 h 1664"/>
                      <a:gd name="T8" fmla="*/ 1345 w 1346"/>
                      <a:gd name="T9" fmla="*/ 1327 h 1664"/>
                      <a:gd name="T10" fmla="*/ 1008 w 1346"/>
                      <a:gd name="T11" fmla="*/ 1663 h 1664"/>
                      <a:gd name="T12" fmla="*/ 0 w 1346"/>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346" h="1664">
                        <a:moveTo>
                          <a:pt x="0" y="1663"/>
                        </a:moveTo>
                        <a:lnTo>
                          <a:pt x="0" y="336"/>
                        </a:lnTo>
                        <a:lnTo>
                          <a:pt x="335" y="0"/>
                        </a:lnTo>
                        <a:lnTo>
                          <a:pt x="1345" y="0"/>
                        </a:lnTo>
                        <a:lnTo>
                          <a:pt x="1345" y="1327"/>
                        </a:lnTo>
                        <a:lnTo>
                          <a:pt x="1008" y="1663"/>
                        </a:lnTo>
                        <a:lnTo>
                          <a:pt x="0" y="1663"/>
                        </a:lnTo>
                      </a:path>
                    </a:pathLst>
                  </a:custGeom>
                  <a:solidFill>
                    <a:srgbClr val="F6BF69"/>
                  </a:solidFill>
                  <a:ln w="12600">
                    <a:solidFill>
                      <a:srgbClr val="000000"/>
                    </a:solidFill>
                    <a:round/>
                    <a:headEnd/>
                    <a:tailEnd/>
                  </a:ln>
                </p:spPr>
                <p:txBody>
                  <a:bodyPr wrap="none" anchor="ctr"/>
                  <a:lstStyle/>
                  <a:p>
                    <a:endParaRPr lang="en-IN"/>
                  </a:p>
                </p:txBody>
              </p:sp>
              <p:sp>
                <p:nvSpPr>
                  <p:cNvPr id="10301" name="Freeform 61"/>
                  <p:cNvSpPr>
                    <a:spLocks noChangeArrowheads="1"/>
                  </p:cNvSpPr>
                  <p:nvPr/>
                </p:nvSpPr>
                <p:spPr bwMode="auto">
                  <a:xfrm>
                    <a:off x="849" y="1536"/>
                    <a:ext cx="305" cy="76"/>
                  </a:xfrm>
                  <a:custGeom>
                    <a:avLst/>
                    <a:gdLst>
                      <a:gd name="T0" fmla="*/ 0 w 1346"/>
                      <a:gd name="T1" fmla="*/ 336 h 337"/>
                      <a:gd name="T2" fmla="*/ 335 w 1346"/>
                      <a:gd name="T3" fmla="*/ 0 h 337"/>
                      <a:gd name="T4" fmla="*/ 1345 w 1346"/>
                      <a:gd name="T5" fmla="*/ 0 h 337"/>
                      <a:gd name="T6" fmla="*/ 1008 w 1346"/>
                      <a:gd name="T7" fmla="*/ 336 h 337"/>
                      <a:gd name="T8" fmla="*/ 0 w 1346"/>
                      <a:gd name="T9" fmla="*/ 336 h 337"/>
                    </a:gdLst>
                    <a:ahLst/>
                    <a:cxnLst>
                      <a:cxn ang="0">
                        <a:pos x="T0" y="T1"/>
                      </a:cxn>
                      <a:cxn ang="0">
                        <a:pos x="T2" y="T3"/>
                      </a:cxn>
                      <a:cxn ang="0">
                        <a:pos x="T4" y="T5"/>
                      </a:cxn>
                      <a:cxn ang="0">
                        <a:pos x="T6" y="T7"/>
                      </a:cxn>
                      <a:cxn ang="0">
                        <a:pos x="T8" y="T9"/>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IN"/>
                  </a:p>
                </p:txBody>
              </p:sp>
              <p:sp>
                <p:nvSpPr>
                  <p:cNvPr id="10302" name="Freeform 62"/>
                  <p:cNvSpPr>
                    <a:spLocks noChangeArrowheads="1"/>
                  </p:cNvSpPr>
                  <p:nvPr/>
                </p:nvSpPr>
                <p:spPr bwMode="auto">
                  <a:xfrm>
                    <a:off x="1078" y="1536"/>
                    <a:ext cx="77" cy="377"/>
                  </a:xfrm>
                  <a:custGeom>
                    <a:avLst/>
                    <a:gdLst>
                      <a:gd name="T0" fmla="*/ 0 w 338"/>
                      <a:gd name="T1" fmla="*/ 1663 h 1664"/>
                      <a:gd name="T2" fmla="*/ 0 w 338"/>
                      <a:gd name="T3" fmla="*/ 336 h 1664"/>
                      <a:gd name="T4" fmla="*/ 337 w 338"/>
                      <a:gd name="T5" fmla="*/ 0 h 1664"/>
                      <a:gd name="T6" fmla="*/ 337 w 338"/>
                      <a:gd name="T7" fmla="*/ 1327 h 1664"/>
                      <a:gd name="T8" fmla="*/ 0 w 338"/>
                      <a:gd name="T9" fmla="*/ 1663 h 1664"/>
                    </a:gdLst>
                    <a:ahLst/>
                    <a:cxnLst>
                      <a:cxn ang="0">
                        <a:pos x="T0" y="T1"/>
                      </a:cxn>
                      <a:cxn ang="0">
                        <a:pos x="T2" y="T3"/>
                      </a:cxn>
                      <a:cxn ang="0">
                        <a:pos x="T4" y="T5"/>
                      </a:cxn>
                      <a:cxn ang="0">
                        <a:pos x="T6" y="T7"/>
                      </a:cxn>
                      <a:cxn ang="0">
                        <a:pos x="T8" y="T9"/>
                      </a:cxn>
                    </a:cxnLst>
                    <a:rect l="0" t="0" r="r" b="b"/>
                    <a:pathLst>
                      <a:path w="338" h="1664">
                        <a:moveTo>
                          <a:pt x="0" y="1663"/>
                        </a:moveTo>
                        <a:lnTo>
                          <a:pt x="0" y="336"/>
                        </a:lnTo>
                        <a:lnTo>
                          <a:pt x="337" y="0"/>
                        </a:lnTo>
                        <a:lnTo>
                          <a:pt x="337" y="1327"/>
                        </a:lnTo>
                        <a:lnTo>
                          <a:pt x="0" y="1663"/>
                        </a:lnTo>
                      </a:path>
                    </a:pathLst>
                  </a:custGeom>
                  <a:solidFill>
                    <a:srgbClr val="D3A45A"/>
                  </a:solidFill>
                  <a:ln w="12600">
                    <a:solidFill>
                      <a:srgbClr val="000000"/>
                    </a:solidFill>
                    <a:round/>
                    <a:headEnd/>
                    <a:tailEnd/>
                  </a:ln>
                </p:spPr>
                <p:txBody>
                  <a:bodyPr wrap="none" anchor="ctr"/>
                  <a:lstStyle/>
                  <a:p>
                    <a:endParaRPr lang="en-IN"/>
                  </a:p>
                </p:txBody>
              </p:sp>
            </p:grpSp>
            <p:grpSp>
              <p:nvGrpSpPr>
                <p:cNvPr id="10303" name="Group 63"/>
                <p:cNvGrpSpPr>
                  <a:grpSpLocks/>
                </p:cNvGrpSpPr>
                <p:nvPr/>
              </p:nvGrpSpPr>
              <p:grpSpPr bwMode="auto">
                <a:xfrm>
                  <a:off x="919" y="1465"/>
                  <a:ext cx="234" cy="77"/>
                  <a:chOff x="919" y="1465"/>
                  <a:chExt cx="234" cy="77"/>
                </a:xfrm>
              </p:grpSpPr>
              <p:sp>
                <p:nvSpPr>
                  <p:cNvPr id="10304" name="Freeform 64"/>
                  <p:cNvSpPr>
                    <a:spLocks noChangeArrowheads="1"/>
                  </p:cNvSpPr>
                  <p:nvPr/>
                </p:nvSpPr>
                <p:spPr bwMode="auto">
                  <a:xfrm>
                    <a:off x="919" y="1465"/>
                    <a:ext cx="235" cy="78"/>
                  </a:xfrm>
                  <a:custGeom>
                    <a:avLst/>
                    <a:gdLst>
                      <a:gd name="T0" fmla="*/ 0 w 1037"/>
                      <a:gd name="T1" fmla="*/ 344 h 345"/>
                      <a:gd name="T2" fmla="*/ 0 w 1037"/>
                      <a:gd name="T3" fmla="*/ 85 h 345"/>
                      <a:gd name="T4" fmla="*/ 85 w 1037"/>
                      <a:gd name="T5" fmla="*/ 0 h 345"/>
                      <a:gd name="T6" fmla="*/ 1036 w 1037"/>
                      <a:gd name="T7" fmla="*/ 0 h 345"/>
                      <a:gd name="T8" fmla="*/ 1036 w 1037"/>
                      <a:gd name="T9" fmla="*/ 257 h 345"/>
                      <a:gd name="T10" fmla="*/ 949 w 1037"/>
                      <a:gd name="T11" fmla="*/ 344 h 345"/>
                      <a:gd name="T12" fmla="*/ 0 w 1037"/>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0305" name="Freeform 65"/>
                  <p:cNvSpPr>
                    <a:spLocks noChangeArrowheads="1"/>
                  </p:cNvSpPr>
                  <p:nvPr/>
                </p:nvSpPr>
                <p:spPr bwMode="auto">
                  <a:xfrm>
                    <a:off x="919" y="1465"/>
                    <a:ext cx="235" cy="20"/>
                  </a:xfrm>
                  <a:custGeom>
                    <a:avLst/>
                    <a:gdLst>
                      <a:gd name="T0" fmla="*/ 0 w 1037"/>
                      <a:gd name="T1" fmla="*/ 85 h 86"/>
                      <a:gd name="T2" fmla="*/ 85 w 1037"/>
                      <a:gd name="T3" fmla="*/ 0 h 86"/>
                      <a:gd name="T4" fmla="*/ 1036 w 1037"/>
                      <a:gd name="T5" fmla="*/ 0 h 86"/>
                      <a:gd name="T6" fmla="*/ 949 w 1037"/>
                      <a:gd name="T7" fmla="*/ 85 h 86"/>
                      <a:gd name="T8" fmla="*/ 0 w 1037"/>
                      <a:gd name="T9" fmla="*/ 85 h 86"/>
                    </a:gdLst>
                    <a:ahLst/>
                    <a:cxnLst>
                      <a:cxn ang="0">
                        <a:pos x="T0" y="T1"/>
                      </a:cxn>
                      <a:cxn ang="0">
                        <a:pos x="T2" y="T3"/>
                      </a:cxn>
                      <a:cxn ang="0">
                        <a:pos x="T4" y="T5"/>
                      </a:cxn>
                      <a:cxn ang="0">
                        <a:pos x="T6" y="T7"/>
                      </a:cxn>
                      <a:cxn ang="0">
                        <a:pos x="T8" y="T9"/>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0306" name="Freeform 66"/>
                  <p:cNvSpPr>
                    <a:spLocks noChangeArrowheads="1"/>
                  </p:cNvSpPr>
                  <p:nvPr/>
                </p:nvSpPr>
                <p:spPr bwMode="auto">
                  <a:xfrm>
                    <a:off x="1134" y="1465"/>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0307" name="Freeform 67"/>
              <p:cNvSpPr>
                <a:spLocks noChangeArrowheads="1"/>
              </p:cNvSpPr>
              <p:nvPr/>
            </p:nvSpPr>
            <p:spPr bwMode="auto">
              <a:xfrm>
                <a:off x="911" y="1569"/>
                <a:ext cx="158" cy="27"/>
              </a:xfrm>
              <a:custGeom>
                <a:avLst/>
                <a:gdLst>
                  <a:gd name="T0" fmla="*/ 174 w 697"/>
                  <a:gd name="T1" fmla="*/ 0 h 121"/>
                  <a:gd name="T2" fmla="*/ 696 w 697"/>
                  <a:gd name="T3" fmla="*/ 0 h 121"/>
                  <a:gd name="T4" fmla="*/ 522 w 697"/>
                  <a:gd name="T5" fmla="*/ 120 h 121"/>
                  <a:gd name="T6" fmla="*/ 0 w 697"/>
                  <a:gd name="T7" fmla="*/ 120 h 121"/>
                  <a:gd name="T8" fmla="*/ 174 w 697"/>
                  <a:gd name="T9" fmla="*/ 0 h 121"/>
                </a:gdLst>
                <a:ahLst/>
                <a:cxnLst>
                  <a:cxn ang="0">
                    <a:pos x="T0" y="T1"/>
                  </a:cxn>
                  <a:cxn ang="0">
                    <a:pos x="T2" y="T3"/>
                  </a:cxn>
                  <a:cxn ang="0">
                    <a:pos x="T4" y="T5"/>
                  </a:cxn>
                  <a:cxn ang="0">
                    <a:pos x="T6" y="T7"/>
                  </a:cxn>
                  <a:cxn ang="0">
                    <a:pos x="T8" y="T9"/>
                  </a:cxn>
                </a:cxnLst>
                <a:rect l="0" t="0" r="r" b="b"/>
                <a:pathLst>
                  <a:path w="697" h="121">
                    <a:moveTo>
                      <a:pt x="174" y="0"/>
                    </a:moveTo>
                    <a:lnTo>
                      <a:pt x="696" y="0"/>
                    </a:lnTo>
                    <a:lnTo>
                      <a:pt x="522" y="120"/>
                    </a:lnTo>
                    <a:lnTo>
                      <a:pt x="0" y="120"/>
                    </a:lnTo>
                    <a:lnTo>
                      <a:pt x="174"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0308" name="Group 68"/>
            <p:cNvGrpSpPr>
              <a:grpSpLocks/>
            </p:cNvGrpSpPr>
            <p:nvPr/>
          </p:nvGrpSpPr>
          <p:grpSpPr bwMode="auto">
            <a:xfrm>
              <a:off x="1150" y="1465"/>
              <a:ext cx="377" cy="447"/>
              <a:chOff x="1150" y="1465"/>
              <a:chExt cx="377" cy="447"/>
            </a:xfrm>
          </p:grpSpPr>
          <p:grpSp>
            <p:nvGrpSpPr>
              <p:cNvPr id="10309" name="Group 69"/>
              <p:cNvGrpSpPr>
                <a:grpSpLocks/>
              </p:cNvGrpSpPr>
              <p:nvPr/>
            </p:nvGrpSpPr>
            <p:grpSpPr bwMode="auto">
              <a:xfrm>
                <a:off x="1150" y="1465"/>
                <a:ext cx="377" cy="447"/>
                <a:chOff x="1150" y="1465"/>
                <a:chExt cx="377" cy="447"/>
              </a:xfrm>
            </p:grpSpPr>
            <p:grpSp>
              <p:nvGrpSpPr>
                <p:cNvPr id="10310" name="Group 70"/>
                <p:cNvGrpSpPr>
                  <a:grpSpLocks/>
                </p:cNvGrpSpPr>
                <p:nvPr/>
              </p:nvGrpSpPr>
              <p:grpSpPr bwMode="auto">
                <a:xfrm>
                  <a:off x="1150" y="1536"/>
                  <a:ext cx="377" cy="376"/>
                  <a:chOff x="1150" y="1536"/>
                  <a:chExt cx="377" cy="376"/>
                </a:xfrm>
              </p:grpSpPr>
              <p:sp>
                <p:nvSpPr>
                  <p:cNvPr id="10311" name="Freeform 71"/>
                  <p:cNvSpPr>
                    <a:spLocks noChangeArrowheads="1"/>
                  </p:cNvSpPr>
                  <p:nvPr/>
                </p:nvSpPr>
                <p:spPr bwMode="auto">
                  <a:xfrm>
                    <a:off x="1150" y="1536"/>
                    <a:ext cx="378" cy="377"/>
                  </a:xfrm>
                  <a:custGeom>
                    <a:avLst/>
                    <a:gdLst>
                      <a:gd name="T0" fmla="*/ 0 w 1668"/>
                      <a:gd name="T1" fmla="*/ 1663 h 1664"/>
                      <a:gd name="T2" fmla="*/ 0 w 1668"/>
                      <a:gd name="T3" fmla="*/ 415 h 1664"/>
                      <a:gd name="T4" fmla="*/ 414 w 1668"/>
                      <a:gd name="T5" fmla="*/ 0 h 1664"/>
                      <a:gd name="T6" fmla="*/ 1667 w 1668"/>
                      <a:gd name="T7" fmla="*/ 0 h 1664"/>
                      <a:gd name="T8" fmla="*/ 1667 w 1668"/>
                      <a:gd name="T9" fmla="*/ 1248 h 1664"/>
                      <a:gd name="T10" fmla="*/ 1251 w 1668"/>
                      <a:gd name="T11" fmla="*/ 1663 h 1664"/>
                      <a:gd name="T12" fmla="*/ 0 w 1668"/>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668" h="1664">
                        <a:moveTo>
                          <a:pt x="0" y="1663"/>
                        </a:moveTo>
                        <a:lnTo>
                          <a:pt x="0" y="415"/>
                        </a:lnTo>
                        <a:lnTo>
                          <a:pt x="414" y="0"/>
                        </a:lnTo>
                        <a:lnTo>
                          <a:pt x="1667" y="0"/>
                        </a:lnTo>
                        <a:lnTo>
                          <a:pt x="1667" y="1248"/>
                        </a:lnTo>
                        <a:lnTo>
                          <a:pt x="1251" y="1663"/>
                        </a:lnTo>
                        <a:lnTo>
                          <a:pt x="0" y="1663"/>
                        </a:lnTo>
                      </a:path>
                    </a:pathLst>
                  </a:custGeom>
                  <a:solidFill>
                    <a:srgbClr val="A2C1FE"/>
                  </a:solidFill>
                  <a:ln w="12600">
                    <a:solidFill>
                      <a:srgbClr val="000000"/>
                    </a:solidFill>
                    <a:round/>
                    <a:headEnd/>
                    <a:tailEnd/>
                  </a:ln>
                </p:spPr>
                <p:txBody>
                  <a:bodyPr wrap="none" anchor="ctr"/>
                  <a:lstStyle/>
                  <a:p>
                    <a:endParaRPr lang="en-IN"/>
                  </a:p>
                </p:txBody>
              </p:sp>
              <p:sp>
                <p:nvSpPr>
                  <p:cNvPr id="10312" name="Freeform 72"/>
                  <p:cNvSpPr>
                    <a:spLocks noChangeArrowheads="1"/>
                  </p:cNvSpPr>
                  <p:nvPr/>
                </p:nvSpPr>
                <p:spPr bwMode="auto">
                  <a:xfrm>
                    <a:off x="1150" y="1536"/>
                    <a:ext cx="378" cy="94"/>
                  </a:xfrm>
                  <a:custGeom>
                    <a:avLst/>
                    <a:gdLst>
                      <a:gd name="T0" fmla="*/ 0 w 1668"/>
                      <a:gd name="T1" fmla="*/ 415 h 416"/>
                      <a:gd name="T2" fmla="*/ 414 w 1668"/>
                      <a:gd name="T3" fmla="*/ 0 h 416"/>
                      <a:gd name="T4" fmla="*/ 1667 w 1668"/>
                      <a:gd name="T5" fmla="*/ 0 h 416"/>
                      <a:gd name="T6" fmla="*/ 1251 w 1668"/>
                      <a:gd name="T7" fmla="*/ 415 h 416"/>
                      <a:gd name="T8" fmla="*/ 0 w 1668"/>
                      <a:gd name="T9" fmla="*/ 415 h 416"/>
                    </a:gdLst>
                    <a:ahLst/>
                    <a:cxnLst>
                      <a:cxn ang="0">
                        <a:pos x="T0" y="T1"/>
                      </a:cxn>
                      <a:cxn ang="0">
                        <a:pos x="T2" y="T3"/>
                      </a:cxn>
                      <a:cxn ang="0">
                        <a:pos x="T4" y="T5"/>
                      </a:cxn>
                      <a:cxn ang="0">
                        <a:pos x="T6" y="T7"/>
                      </a:cxn>
                      <a:cxn ang="0">
                        <a:pos x="T8" y="T9"/>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IN"/>
                  </a:p>
                </p:txBody>
              </p:sp>
              <p:sp>
                <p:nvSpPr>
                  <p:cNvPr id="10313" name="Freeform 73"/>
                  <p:cNvSpPr>
                    <a:spLocks noChangeArrowheads="1"/>
                  </p:cNvSpPr>
                  <p:nvPr/>
                </p:nvSpPr>
                <p:spPr bwMode="auto">
                  <a:xfrm>
                    <a:off x="1434" y="1536"/>
                    <a:ext cx="95" cy="377"/>
                  </a:xfrm>
                  <a:custGeom>
                    <a:avLst/>
                    <a:gdLst>
                      <a:gd name="T0" fmla="*/ 0 w 417"/>
                      <a:gd name="T1" fmla="*/ 1663 h 1664"/>
                      <a:gd name="T2" fmla="*/ 0 w 417"/>
                      <a:gd name="T3" fmla="*/ 415 h 1664"/>
                      <a:gd name="T4" fmla="*/ 416 w 417"/>
                      <a:gd name="T5" fmla="*/ 0 h 1664"/>
                      <a:gd name="T6" fmla="*/ 416 w 417"/>
                      <a:gd name="T7" fmla="*/ 1248 h 1664"/>
                      <a:gd name="T8" fmla="*/ 0 w 417"/>
                      <a:gd name="T9" fmla="*/ 1663 h 1664"/>
                    </a:gdLst>
                    <a:ahLst/>
                    <a:cxnLst>
                      <a:cxn ang="0">
                        <a:pos x="T0" y="T1"/>
                      </a:cxn>
                      <a:cxn ang="0">
                        <a:pos x="T2" y="T3"/>
                      </a:cxn>
                      <a:cxn ang="0">
                        <a:pos x="T4" y="T5"/>
                      </a:cxn>
                      <a:cxn ang="0">
                        <a:pos x="T6" y="T7"/>
                      </a:cxn>
                      <a:cxn ang="0">
                        <a:pos x="T8" y="T9"/>
                      </a:cxn>
                    </a:cxnLst>
                    <a:rect l="0" t="0" r="r" b="b"/>
                    <a:pathLst>
                      <a:path w="417" h="1664">
                        <a:moveTo>
                          <a:pt x="0" y="1663"/>
                        </a:moveTo>
                        <a:lnTo>
                          <a:pt x="0" y="415"/>
                        </a:lnTo>
                        <a:lnTo>
                          <a:pt x="416" y="0"/>
                        </a:lnTo>
                        <a:lnTo>
                          <a:pt x="416" y="1248"/>
                        </a:lnTo>
                        <a:lnTo>
                          <a:pt x="0" y="1663"/>
                        </a:lnTo>
                      </a:path>
                    </a:pathLst>
                  </a:custGeom>
                  <a:solidFill>
                    <a:srgbClr val="8BA5DA"/>
                  </a:solidFill>
                  <a:ln w="12600">
                    <a:solidFill>
                      <a:srgbClr val="000000"/>
                    </a:solidFill>
                    <a:round/>
                    <a:headEnd/>
                    <a:tailEnd/>
                  </a:ln>
                </p:spPr>
                <p:txBody>
                  <a:bodyPr wrap="none" anchor="ctr"/>
                  <a:lstStyle/>
                  <a:p>
                    <a:endParaRPr lang="en-IN"/>
                  </a:p>
                </p:txBody>
              </p:sp>
            </p:grpSp>
            <p:grpSp>
              <p:nvGrpSpPr>
                <p:cNvPr id="10314" name="Group 74"/>
                <p:cNvGrpSpPr>
                  <a:grpSpLocks/>
                </p:cNvGrpSpPr>
                <p:nvPr/>
              </p:nvGrpSpPr>
              <p:grpSpPr bwMode="auto">
                <a:xfrm>
                  <a:off x="1236" y="1465"/>
                  <a:ext cx="291" cy="77"/>
                  <a:chOff x="1236" y="1465"/>
                  <a:chExt cx="291" cy="77"/>
                </a:xfrm>
              </p:grpSpPr>
              <p:sp>
                <p:nvSpPr>
                  <p:cNvPr id="10315" name="Freeform 75"/>
                  <p:cNvSpPr>
                    <a:spLocks noChangeArrowheads="1"/>
                  </p:cNvSpPr>
                  <p:nvPr/>
                </p:nvSpPr>
                <p:spPr bwMode="auto">
                  <a:xfrm>
                    <a:off x="1236" y="1465"/>
                    <a:ext cx="292" cy="78"/>
                  </a:xfrm>
                  <a:custGeom>
                    <a:avLst/>
                    <a:gdLst>
                      <a:gd name="T0" fmla="*/ 0 w 1288"/>
                      <a:gd name="T1" fmla="*/ 344 h 345"/>
                      <a:gd name="T2" fmla="*/ 0 w 1288"/>
                      <a:gd name="T3" fmla="*/ 85 h 345"/>
                      <a:gd name="T4" fmla="*/ 85 w 1288"/>
                      <a:gd name="T5" fmla="*/ 0 h 345"/>
                      <a:gd name="T6" fmla="*/ 1287 w 1288"/>
                      <a:gd name="T7" fmla="*/ 0 h 345"/>
                      <a:gd name="T8" fmla="*/ 1287 w 1288"/>
                      <a:gd name="T9" fmla="*/ 257 h 345"/>
                      <a:gd name="T10" fmla="*/ 1200 w 1288"/>
                      <a:gd name="T11" fmla="*/ 344 h 345"/>
                      <a:gd name="T12" fmla="*/ 0 w 1288"/>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8" h="345">
                        <a:moveTo>
                          <a:pt x="0" y="344"/>
                        </a:moveTo>
                        <a:lnTo>
                          <a:pt x="0" y="85"/>
                        </a:lnTo>
                        <a:lnTo>
                          <a:pt x="85" y="0"/>
                        </a:lnTo>
                        <a:lnTo>
                          <a:pt x="1287" y="0"/>
                        </a:lnTo>
                        <a:lnTo>
                          <a:pt x="1287" y="257"/>
                        </a:lnTo>
                        <a:lnTo>
                          <a:pt x="1200"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0316" name="Freeform 76"/>
                  <p:cNvSpPr>
                    <a:spLocks noChangeArrowheads="1"/>
                  </p:cNvSpPr>
                  <p:nvPr/>
                </p:nvSpPr>
                <p:spPr bwMode="auto">
                  <a:xfrm>
                    <a:off x="1236" y="1465"/>
                    <a:ext cx="292" cy="20"/>
                  </a:xfrm>
                  <a:custGeom>
                    <a:avLst/>
                    <a:gdLst>
                      <a:gd name="T0" fmla="*/ 0 w 1288"/>
                      <a:gd name="T1" fmla="*/ 85 h 86"/>
                      <a:gd name="T2" fmla="*/ 85 w 1288"/>
                      <a:gd name="T3" fmla="*/ 0 h 86"/>
                      <a:gd name="T4" fmla="*/ 1287 w 1288"/>
                      <a:gd name="T5" fmla="*/ 0 h 86"/>
                      <a:gd name="T6" fmla="*/ 1200 w 1288"/>
                      <a:gd name="T7" fmla="*/ 85 h 86"/>
                      <a:gd name="T8" fmla="*/ 0 w 1288"/>
                      <a:gd name="T9" fmla="*/ 85 h 86"/>
                    </a:gdLst>
                    <a:ahLst/>
                    <a:cxnLst>
                      <a:cxn ang="0">
                        <a:pos x="T0" y="T1"/>
                      </a:cxn>
                      <a:cxn ang="0">
                        <a:pos x="T2" y="T3"/>
                      </a:cxn>
                      <a:cxn ang="0">
                        <a:pos x="T4" y="T5"/>
                      </a:cxn>
                      <a:cxn ang="0">
                        <a:pos x="T6" y="T7"/>
                      </a:cxn>
                      <a:cxn ang="0">
                        <a:pos x="T8" y="T9"/>
                      </a:cxn>
                    </a:cxnLst>
                    <a:rect l="0" t="0" r="r" b="b"/>
                    <a:pathLst>
                      <a:path w="1288" h="86">
                        <a:moveTo>
                          <a:pt x="0" y="85"/>
                        </a:moveTo>
                        <a:lnTo>
                          <a:pt x="85" y="0"/>
                        </a:lnTo>
                        <a:lnTo>
                          <a:pt x="1287" y="0"/>
                        </a:lnTo>
                        <a:lnTo>
                          <a:pt x="1200"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0317" name="Freeform 77"/>
                  <p:cNvSpPr>
                    <a:spLocks noChangeArrowheads="1"/>
                  </p:cNvSpPr>
                  <p:nvPr/>
                </p:nvSpPr>
                <p:spPr bwMode="auto">
                  <a:xfrm>
                    <a:off x="1508" y="1465"/>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0318" name="Oval 78"/>
              <p:cNvSpPr>
                <a:spLocks noChangeArrowheads="1"/>
              </p:cNvSpPr>
              <p:nvPr/>
            </p:nvSpPr>
            <p:spPr bwMode="auto">
              <a:xfrm>
                <a:off x="1265" y="1501"/>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0319" name="Freeform 79"/>
              <p:cNvSpPr>
                <a:spLocks noChangeArrowheads="1"/>
              </p:cNvSpPr>
              <p:nvPr/>
            </p:nvSpPr>
            <p:spPr bwMode="auto">
              <a:xfrm>
                <a:off x="1197" y="1711"/>
                <a:ext cx="198" cy="84"/>
              </a:xfrm>
              <a:custGeom>
                <a:avLst/>
                <a:gdLst>
                  <a:gd name="T0" fmla="*/ 107 w 874"/>
                  <a:gd name="T1" fmla="*/ 0 h 371"/>
                  <a:gd name="T2" fmla="*/ 764 w 874"/>
                  <a:gd name="T3" fmla="*/ 0 h 371"/>
                  <a:gd name="T4" fmla="*/ 873 w 874"/>
                  <a:gd name="T5" fmla="*/ 108 h 371"/>
                  <a:gd name="T6" fmla="*/ 873 w 874"/>
                  <a:gd name="T7" fmla="*/ 262 h 371"/>
                  <a:gd name="T8" fmla="*/ 764 w 874"/>
                  <a:gd name="T9" fmla="*/ 370 h 371"/>
                  <a:gd name="T10" fmla="*/ 107 w 874"/>
                  <a:gd name="T11" fmla="*/ 370 h 371"/>
                  <a:gd name="T12" fmla="*/ 0 w 874"/>
                  <a:gd name="T13" fmla="*/ 262 h 371"/>
                  <a:gd name="T14" fmla="*/ 0 w 874"/>
                  <a:gd name="T15" fmla="*/ 108 h 371"/>
                  <a:gd name="T16" fmla="*/ 107 w 874"/>
                  <a:gd name="T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0320" name="Freeform 80"/>
            <p:cNvSpPr>
              <a:spLocks noChangeArrowheads="1"/>
            </p:cNvSpPr>
            <p:nvPr/>
          </p:nvSpPr>
          <p:spPr bwMode="auto">
            <a:xfrm>
              <a:off x="1714" y="1694"/>
              <a:ext cx="85" cy="191"/>
            </a:xfrm>
            <a:custGeom>
              <a:avLst/>
              <a:gdLst>
                <a:gd name="T0" fmla="*/ 273 w 376"/>
                <a:gd name="T1" fmla="*/ 0 h 843"/>
                <a:gd name="T2" fmla="*/ 375 w 376"/>
                <a:gd name="T3" fmla="*/ 0 h 843"/>
                <a:gd name="T4" fmla="*/ 101 w 376"/>
                <a:gd name="T5" fmla="*/ 842 h 843"/>
                <a:gd name="T6" fmla="*/ 0 w 376"/>
                <a:gd name="T7" fmla="*/ 842 h 843"/>
                <a:gd name="T8" fmla="*/ 273 w 376"/>
                <a:gd name="T9" fmla="*/ 0 h 843"/>
              </a:gdLst>
              <a:ahLst/>
              <a:cxnLst>
                <a:cxn ang="0">
                  <a:pos x="T0" y="T1"/>
                </a:cxn>
                <a:cxn ang="0">
                  <a:pos x="T2" y="T3"/>
                </a:cxn>
                <a:cxn ang="0">
                  <a:pos x="T4" y="T5"/>
                </a:cxn>
                <a:cxn ang="0">
                  <a:pos x="T6" y="T7"/>
                </a:cxn>
                <a:cxn ang="0">
                  <a:pos x="T8" y="T9"/>
                </a:cxn>
              </a:cxnLst>
              <a:rect l="0" t="0" r="r" b="b"/>
              <a:pathLst>
                <a:path w="376" h="843">
                  <a:moveTo>
                    <a:pt x="273" y="0"/>
                  </a:moveTo>
                  <a:lnTo>
                    <a:pt x="375" y="0"/>
                  </a:lnTo>
                  <a:lnTo>
                    <a:pt x="101" y="842"/>
                  </a:lnTo>
                  <a:lnTo>
                    <a:pt x="0" y="842"/>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321" name="AutoShape 81"/>
            <p:cNvSpPr>
              <a:spLocks noChangeArrowheads="1"/>
            </p:cNvSpPr>
            <p:nvPr/>
          </p:nvSpPr>
          <p:spPr bwMode="auto">
            <a:xfrm>
              <a:off x="1710" y="1694"/>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322" name="AutoShape 82"/>
            <p:cNvSpPr>
              <a:spLocks noChangeArrowheads="1"/>
            </p:cNvSpPr>
            <p:nvPr/>
          </p:nvSpPr>
          <p:spPr bwMode="auto">
            <a:xfrm>
              <a:off x="1717" y="1775"/>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323" name="AutoShape 83"/>
            <p:cNvSpPr>
              <a:spLocks noChangeArrowheads="1"/>
            </p:cNvSpPr>
            <p:nvPr/>
          </p:nvSpPr>
          <p:spPr bwMode="auto">
            <a:xfrm>
              <a:off x="1534" y="1775"/>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0324" name="Group 84"/>
            <p:cNvGrpSpPr>
              <a:grpSpLocks/>
            </p:cNvGrpSpPr>
            <p:nvPr/>
          </p:nvGrpSpPr>
          <p:grpSpPr bwMode="auto">
            <a:xfrm>
              <a:off x="1532" y="1522"/>
              <a:ext cx="193" cy="364"/>
              <a:chOff x="1532" y="1522"/>
              <a:chExt cx="193" cy="364"/>
            </a:xfrm>
          </p:grpSpPr>
          <p:sp>
            <p:nvSpPr>
              <p:cNvPr id="10325" name="Oval 85"/>
              <p:cNvSpPr>
                <a:spLocks noChangeArrowheads="1"/>
              </p:cNvSpPr>
              <p:nvPr/>
            </p:nvSpPr>
            <p:spPr bwMode="auto">
              <a:xfrm>
                <a:off x="1608" y="1522"/>
                <a:ext cx="49"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0326" name="Freeform 86"/>
              <p:cNvSpPr>
                <a:spLocks noChangeArrowheads="1"/>
              </p:cNvSpPr>
              <p:nvPr/>
            </p:nvSpPr>
            <p:spPr bwMode="auto">
              <a:xfrm>
                <a:off x="1532" y="1590"/>
                <a:ext cx="194" cy="296"/>
              </a:xfrm>
              <a:custGeom>
                <a:avLst/>
                <a:gdLst>
                  <a:gd name="T0" fmla="*/ 8 w 856"/>
                  <a:gd name="T1" fmla="*/ 606 h 1306"/>
                  <a:gd name="T2" fmla="*/ 4 w 856"/>
                  <a:gd name="T3" fmla="*/ 619 h 1306"/>
                  <a:gd name="T4" fmla="*/ 0 w 856"/>
                  <a:gd name="T5" fmla="*/ 641 h 1306"/>
                  <a:gd name="T6" fmla="*/ 0 w 856"/>
                  <a:gd name="T7" fmla="*/ 663 h 1306"/>
                  <a:gd name="T8" fmla="*/ 8 w 856"/>
                  <a:gd name="T9" fmla="*/ 685 h 1306"/>
                  <a:gd name="T10" fmla="*/ 17 w 856"/>
                  <a:gd name="T11" fmla="*/ 704 h 1306"/>
                  <a:gd name="T12" fmla="*/ 35 w 856"/>
                  <a:gd name="T13" fmla="*/ 722 h 1306"/>
                  <a:gd name="T14" fmla="*/ 52 w 856"/>
                  <a:gd name="T15" fmla="*/ 731 h 1306"/>
                  <a:gd name="T16" fmla="*/ 70 w 856"/>
                  <a:gd name="T17" fmla="*/ 735 h 1306"/>
                  <a:gd name="T18" fmla="*/ 92 w 856"/>
                  <a:gd name="T19" fmla="*/ 735 h 1306"/>
                  <a:gd name="T20" fmla="*/ 558 w 856"/>
                  <a:gd name="T21" fmla="*/ 1305 h 1306"/>
                  <a:gd name="T22" fmla="*/ 704 w 856"/>
                  <a:gd name="T23" fmla="*/ 628 h 1306"/>
                  <a:gd name="T24" fmla="*/ 704 w 856"/>
                  <a:gd name="T25" fmla="*/ 610 h 1306"/>
                  <a:gd name="T26" fmla="*/ 695 w 856"/>
                  <a:gd name="T27" fmla="*/ 602 h 1306"/>
                  <a:gd name="T28" fmla="*/ 682 w 856"/>
                  <a:gd name="T29" fmla="*/ 588 h 1306"/>
                  <a:gd name="T30" fmla="*/ 673 w 856"/>
                  <a:gd name="T31" fmla="*/ 579 h 1306"/>
                  <a:gd name="T32" fmla="*/ 656 w 856"/>
                  <a:gd name="T33" fmla="*/ 575 h 1306"/>
                  <a:gd name="T34" fmla="*/ 638 w 856"/>
                  <a:gd name="T35" fmla="*/ 571 h 1306"/>
                  <a:gd name="T36" fmla="*/ 620 w 856"/>
                  <a:gd name="T37" fmla="*/ 571 h 1306"/>
                  <a:gd name="T38" fmla="*/ 607 w 856"/>
                  <a:gd name="T39" fmla="*/ 571 h 1306"/>
                  <a:gd name="T40" fmla="*/ 412 w 856"/>
                  <a:gd name="T41" fmla="*/ 331 h 1306"/>
                  <a:gd name="T42" fmla="*/ 793 w 856"/>
                  <a:gd name="T43" fmla="*/ 411 h 1306"/>
                  <a:gd name="T44" fmla="*/ 811 w 856"/>
                  <a:gd name="T45" fmla="*/ 406 h 1306"/>
                  <a:gd name="T46" fmla="*/ 820 w 856"/>
                  <a:gd name="T47" fmla="*/ 402 h 1306"/>
                  <a:gd name="T48" fmla="*/ 837 w 856"/>
                  <a:gd name="T49" fmla="*/ 393 h 1306"/>
                  <a:gd name="T50" fmla="*/ 846 w 856"/>
                  <a:gd name="T51" fmla="*/ 380 h 1306"/>
                  <a:gd name="T52" fmla="*/ 851 w 856"/>
                  <a:gd name="T53" fmla="*/ 367 h 1306"/>
                  <a:gd name="T54" fmla="*/ 855 w 856"/>
                  <a:gd name="T55" fmla="*/ 345 h 1306"/>
                  <a:gd name="T56" fmla="*/ 851 w 856"/>
                  <a:gd name="T57" fmla="*/ 327 h 1306"/>
                  <a:gd name="T58" fmla="*/ 842 w 856"/>
                  <a:gd name="T59" fmla="*/ 309 h 1306"/>
                  <a:gd name="T60" fmla="*/ 833 w 856"/>
                  <a:gd name="T61" fmla="*/ 300 h 1306"/>
                  <a:gd name="T62" fmla="*/ 815 w 856"/>
                  <a:gd name="T63" fmla="*/ 286 h 1306"/>
                  <a:gd name="T64" fmla="*/ 802 w 856"/>
                  <a:gd name="T65" fmla="*/ 282 h 1306"/>
                  <a:gd name="T66" fmla="*/ 541 w 856"/>
                  <a:gd name="T67" fmla="*/ 282 h 1306"/>
                  <a:gd name="T68" fmla="*/ 496 w 856"/>
                  <a:gd name="T69" fmla="*/ 185 h 1306"/>
                  <a:gd name="T70" fmla="*/ 500 w 856"/>
                  <a:gd name="T71" fmla="*/ 163 h 1306"/>
                  <a:gd name="T72" fmla="*/ 505 w 856"/>
                  <a:gd name="T73" fmla="*/ 132 h 1306"/>
                  <a:gd name="T74" fmla="*/ 505 w 856"/>
                  <a:gd name="T75" fmla="*/ 105 h 1306"/>
                  <a:gd name="T76" fmla="*/ 496 w 856"/>
                  <a:gd name="T77" fmla="*/ 83 h 1306"/>
                  <a:gd name="T78" fmla="*/ 487 w 856"/>
                  <a:gd name="T79" fmla="*/ 66 h 1306"/>
                  <a:gd name="T80" fmla="*/ 474 w 856"/>
                  <a:gd name="T81" fmla="*/ 44 h 1306"/>
                  <a:gd name="T82" fmla="*/ 456 w 856"/>
                  <a:gd name="T83" fmla="*/ 30 h 1306"/>
                  <a:gd name="T84" fmla="*/ 434 w 856"/>
                  <a:gd name="T85" fmla="*/ 13 h 1306"/>
                  <a:gd name="T86" fmla="*/ 412 w 856"/>
                  <a:gd name="T87" fmla="*/ 4 h 1306"/>
                  <a:gd name="T88" fmla="*/ 385 w 856"/>
                  <a:gd name="T89" fmla="*/ 0 h 1306"/>
                  <a:gd name="T90" fmla="*/ 359 w 856"/>
                  <a:gd name="T91" fmla="*/ 0 h 1306"/>
                  <a:gd name="T92" fmla="*/ 332 w 856"/>
                  <a:gd name="T93" fmla="*/ 4 h 1306"/>
                  <a:gd name="T94" fmla="*/ 305 w 856"/>
                  <a:gd name="T95" fmla="*/ 13 h 1306"/>
                  <a:gd name="T96" fmla="*/ 278 w 856"/>
                  <a:gd name="T97" fmla="*/ 26 h 1306"/>
                  <a:gd name="T98" fmla="*/ 261 w 856"/>
                  <a:gd name="T99" fmla="*/ 48 h 1306"/>
                  <a:gd name="T100" fmla="*/ 243 w 856"/>
                  <a:gd name="T101" fmla="*/ 75 h 1306"/>
                  <a:gd name="T102" fmla="*/ 234 w 856"/>
                  <a:gd name="T103" fmla="*/ 101 h 1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6" h="1306">
                    <a:moveTo>
                      <a:pt x="234" y="101"/>
                    </a:moveTo>
                    <a:lnTo>
                      <a:pt x="8" y="606"/>
                    </a:lnTo>
                    <a:lnTo>
                      <a:pt x="4" y="610"/>
                    </a:lnTo>
                    <a:lnTo>
                      <a:pt x="4" y="619"/>
                    </a:lnTo>
                    <a:lnTo>
                      <a:pt x="0" y="628"/>
                    </a:lnTo>
                    <a:lnTo>
                      <a:pt x="0" y="641"/>
                    </a:lnTo>
                    <a:lnTo>
                      <a:pt x="0" y="650"/>
                    </a:lnTo>
                    <a:lnTo>
                      <a:pt x="0" y="663"/>
                    </a:lnTo>
                    <a:lnTo>
                      <a:pt x="4" y="672"/>
                    </a:lnTo>
                    <a:lnTo>
                      <a:pt x="8" y="685"/>
                    </a:lnTo>
                    <a:lnTo>
                      <a:pt x="13" y="694"/>
                    </a:lnTo>
                    <a:lnTo>
                      <a:pt x="17" y="704"/>
                    </a:lnTo>
                    <a:lnTo>
                      <a:pt x="26" y="713"/>
                    </a:lnTo>
                    <a:lnTo>
                      <a:pt x="35" y="722"/>
                    </a:lnTo>
                    <a:lnTo>
                      <a:pt x="44" y="726"/>
                    </a:lnTo>
                    <a:lnTo>
                      <a:pt x="52" y="731"/>
                    </a:lnTo>
                    <a:lnTo>
                      <a:pt x="61" y="731"/>
                    </a:lnTo>
                    <a:lnTo>
                      <a:pt x="70" y="735"/>
                    </a:lnTo>
                    <a:lnTo>
                      <a:pt x="79" y="735"/>
                    </a:lnTo>
                    <a:lnTo>
                      <a:pt x="92" y="735"/>
                    </a:lnTo>
                    <a:lnTo>
                      <a:pt x="558" y="735"/>
                    </a:lnTo>
                    <a:lnTo>
                      <a:pt x="558" y="1305"/>
                    </a:lnTo>
                    <a:lnTo>
                      <a:pt x="704" y="1305"/>
                    </a:lnTo>
                    <a:lnTo>
                      <a:pt x="704" y="628"/>
                    </a:lnTo>
                    <a:lnTo>
                      <a:pt x="704" y="619"/>
                    </a:lnTo>
                    <a:lnTo>
                      <a:pt x="704" y="610"/>
                    </a:lnTo>
                    <a:lnTo>
                      <a:pt x="700" y="606"/>
                    </a:lnTo>
                    <a:lnTo>
                      <a:pt x="695" y="602"/>
                    </a:lnTo>
                    <a:lnTo>
                      <a:pt x="691" y="597"/>
                    </a:lnTo>
                    <a:lnTo>
                      <a:pt x="682" y="588"/>
                    </a:lnTo>
                    <a:lnTo>
                      <a:pt x="678" y="584"/>
                    </a:lnTo>
                    <a:lnTo>
                      <a:pt x="673" y="579"/>
                    </a:lnTo>
                    <a:lnTo>
                      <a:pt x="664" y="579"/>
                    </a:lnTo>
                    <a:lnTo>
                      <a:pt x="656" y="575"/>
                    </a:lnTo>
                    <a:lnTo>
                      <a:pt x="647" y="575"/>
                    </a:lnTo>
                    <a:lnTo>
                      <a:pt x="638" y="571"/>
                    </a:lnTo>
                    <a:lnTo>
                      <a:pt x="629" y="571"/>
                    </a:lnTo>
                    <a:lnTo>
                      <a:pt x="620" y="571"/>
                    </a:lnTo>
                    <a:lnTo>
                      <a:pt x="616" y="571"/>
                    </a:lnTo>
                    <a:lnTo>
                      <a:pt x="607" y="571"/>
                    </a:lnTo>
                    <a:lnTo>
                      <a:pt x="337" y="553"/>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sp>
        <p:nvSpPr>
          <p:cNvPr id="10327" name="Text Box 87"/>
          <p:cNvSpPr txBox="1">
            <a:spLocks noChangeArrowheads="1"/>
          </p:cNvSpPr>
          <p:nvPr/>
        </p:nvSpPr>
        <p:spPr bwMode="auto">
          <a:xfrm>
            <a:off x="1084263" y="1828800"/>
            <a:ext cx="7143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6 PM</a:t>
            </a:r>
          </a:p>
        </p:txBody>
      </p:sp>
      <p:sp>
        <p:nvSpPr>
          <p:cNvPr id="10328" name="Line 88"/>
          <p:cNvSpPr>
            <a:spLocks noChangeShapeType="1"/>
          </p:cNvSpPr>
          <p:nvPr/>
        </p:nvSpPr>
        <p:spPr bwMode="auto">
          <a:xfrm>
            <a:off x="1454150" y="2420938"/>
            <a:ext cx="6324600" cy="1587"/>
          </a:xfrm>
          <a:prstGeom prst="line">
            <a:avLst/>
          </a:prstGeom>
          <a:noFill/>
          <a:ln w="126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10329" name="Line 89"/>
          <p:cNvSpPr>
            <a:spLocks noChangeShapeType="1"/>
          </p:cNvSpPr>
          <p:nvPr/>
        </p:nvSpPr>
        <p:spPr bwMode="auto">
          <a:xfrm>
            <a:off x="1447800" y="2287588"/>
            <a:ext cx="1588"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30" name="Text Box 90"/>
          <p:cNvSpPr txBox="1">
            <a:spLocks noChangeArrowheads="1"/>
          </p:cNvSpPr>
          <p:nvPr/>
        </p:nvSpPr>
        <p:spPr bwMode="auto">
          <a:xfrm>
            <a:off x="2316163" y="1841500"/>
            <a:ext cx="307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7</a:t>
            </a:r>
          </a:p>
        </p:txBody>
      </p:sp>
      <p:sp>
        <p:nvSpPr>
          <p:cNvPr id="10331" name="Text Box 91"/>
          <p:cNvSpPr txBox="1">
            <a:spLocks noChangeArrowheads="1"/>
          </p:cNvSpPr>
          <p:nvPr/>
        </p:nvSpPr>
        <p:spPr bwMode="auto">
          <a:xfrm>
            <a:off x="3382963" y="1841500"/>
            <a:ext cx="307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8</a:t>
            </a:r>
          </a:p>
        </p:txBody>
      </p:sp>
      <p:sp>
        <p:nvSpPr>
          <p:cNvPr id="10332" name="Text Box 92"/>
          <p:cNvSpPr txBox="1">
            <a:spLocks noChangeArrowheads="1"/>
          </p:cNvSpPr>
          <p:nvPr/>
        </p:nvSpPr>
        <p:spPr bwMode="auto">
          <a:xfrm>
            <a:off x="4398963" y="1841500"/>
            <a:ext cx="307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9</a:t>
            </a:r>
          </a:p>
        </p:txBody>
      </p:sp>
      <p:sp>
        <p:nvSpPr>
          <p:cNvPr id="10333" name="Text Box 93"/>
          <p:cNvSpPr txBox="1">
            <a:spLocks noChangeArrowheads="1"/>
          </p:cNvSpPr>
          <p:nvPr/>
        </p:nvSpPr>
        <p:spPr bwMode="auto">
          <a:xfrm>
            <a:off x="5338763" y="18542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10</a:t>
            </a:r>
          </a:p>
        </p:txBody>
      </p:sp>
      <p:sp>
        <p:nvSpPr>
          <p:cNvPr id="10334" name="Text Box 94"/>
          <p:cNvSpPr txBox="1">
            <a:spLocks noChangeArrowheads="1"/>
          </p:cNvSpPr>
          <p:nvPr/>
        </p:nvSpPr>
        <p:spPr bwMode="auto">
          <a:xfrm>
            <a:off x="6430963" y="1841500"/>
            <a:ext cx="434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11</a:t>
            </a:r>
          </a:p>
        </p:txBody>
      </p:sp>
      <p:sp>
        <p:nvSpPr>
          <p:cNvPr id="10335" name="Text Box 95"/>
          <p:cNvSpPr txBox="1">
            <a:spLocks noChangeArrowheads="1"/>
          </p:cNvSpPr>
          <p:nvPr/>
        </p:nvSpPr>
        <p:spPr bwMode="auto">
          <a:xfrm>
            <a:off x="7269163" y="1828800"/>
            <a:ext cx="11334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Midnight</a:t>
            </a:r>
          </a:p>
        </p:txBody>
      </p:sp>
      <p:grpSp>
        <p:nvGrpSpPr>
          <p:cNvPr id="10336" name="Group 96"/>
          <p:cNvGrpSpPr>
            <a:grpSpLocks/>
          </p:cNvGrpSpPr>
          <p:nvPr/>
        </p:nvGrpSpPr>
        <p:grpSpPr bwMode="auto">
          <a:xfrm>
            <a:off x="2990850" y="4065588"/>
            <a:ext cx="1533525" cy="709612"/>
            <a:chOff x="1809" y="1929"/>
            <a:chExt cx="966" cy="447"/>
          </a:xfrm>
        </p:grpSpPr>
        <p:grpSp>
          <p:nvGrpSpPr>
            <p:cNvPr id="10337" name="Group 97"/>
            <p:cNvGrpSpPr>
              <a:grpSpLocks/>
            </p:cNvGrpSpPr>
            <p:nvPr/>
          </p:nvGrpSpPr>
          <p:grpSpPr bwMode="auto">
            <a:xfrm>
              <a:off x="1809" y="1929"/>
              <a:ext cx="304" cy="447"/>
              <a:chOff x="1809" y="1929"/>
              <a:chExt cx="304" cy="447"/>
            </a:xfrm>
          </p:grpSpPr>
          <p:grpSp>
            <p:nvGrpSpPr>
              <p:cNvPr id="10338" name="Group 98"/>
              <p:cNvGrpSpPr>
                <a:grpSpLocks/>
              </p:cNvGrpSpPr>
              <p:nvPr/>
            </p:nvGrpSpPr>
            <p:grpSpPr bwMode="auto">
              <a:xfrm>
                <a:off x="1809" y="1929"/>
                <a:ext cx="304" cy="447"/>
                <a:chOff x="1809" y="1929"/>
                <a:chExt cx="304" cy="447"/>
              </a:xfrm>
            </p:grpSpPr>
            <p:grpSp>
              <p:nvGrpSpPr>
                <p:cNvPr id="10339" name="Group 99"/>
                <p:cNvGrpSpPr>
                  <a:grpSpLocks/>
                </p:cNvGrpSpPr>
                <p:nvPr/>
              </p:nvGrpSpPr>
              <p:grpSpPr bwMode="auto">
                <a:xfrm>
                  <a:off x="1809" y="2000"/>
                  <a:ext cx="304" cy="376"/>
                  <a:chOff x="1809" y="2000"/>
                  <a:chExt cx="304" cy="376"/>
                </a:xfrm>
              </p:grpSpPr>
              <p:sp>
                <p:nvSpPr>
                  <p:cNvPr id="10340" name="Freeform 100"/>
                  <p:cNvSpPr>
                    <a:spLocks noChangeArrowheads="1"/>
                  </p:cNvSpPr>
                  <p:nvPr/>
                </p:nvSpPr>
                <p:spPr bwMode="auto">
                  <a:xfrm>
                    <a:off x="1809" y="2000"/>
                    <a:ext cx="305" cy="377"/>
                  </a:xfrm>
                  <a:custGeom>
                    <a:avLst/>
                    <a:gdLst>
                      <a:gd name="T0" fmla="*/ 0 w 1346"/>
                      <a:gd name="T1" fmla="*/ 1663 h 1664"/>
                      <a:gd name="T2" fmla="*/ 0 w 1346"/>
                      <a:gd name="T3" fmla="*/ 335 h 1664"/>
                      <a:gd name="T4" fmla="*/ 335 w 1346"/>
                      <a:gd name="T5" fmla="*/ 0 h 1664"/>
                      <a:gd name="T6" fmla="*/ 1345 w 1346"/>
                      <a:gd name="T7" fmla="*/ 0 h 1664"/>
                      <a:gd name="T8" fmla="*/ 1345 w 1346"/>
                      <a:gd name="T9" fmla="*/ 1326 h 1664"/>
                      <a:gd name="T10" fmla="*/ 1008 w 1346"/>
                      <a:gd name="T11" fmla="*/ 1663 h 1664"/>
                      <a:gd name="T12" fmla="*/ 0 w 1346"/>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346" h="1664">
                        <a:moveTo>
                          <a:pt x="0" y="1663"/>
                        </a:moveTo>
                        <a:lnTo>
                          <a:pt x="0" y="335"/>
                        </a:lnTo>
                        <a:lnTo>
                          <a:pt x="335" y="0"/>
                        </a:lnTo>
                        <a:lnTo>
                          <a:pt x="1345" y="0"/>
                        </a:lnTo>
                        <a:lnTo>
                          <a:pt x="1345" y="1326"/>
                        </a:lnTo>
                        <a:lnTo>
                          <a:pt x="1008" y="1663"/>
                        </a:lnTo>
                        <a:lnTo>
                          <a:pt x="0" y="1663"/>
                        </a:lnTo>
                      </a:path>
                    </a:pathLst>
                  </a:custGeom>
                  <a:solidFill>
                    <a:srgbClr val="F6BF69"/>
                  </a:solidFill>
                  <a:ln w="12600">
                    <a:solidFill>
                      <a:srgbClr val="000000"/>
                    </a:solidFill>
                    <a:round/>
                    <a:headEnd/>
                    <a:tailEnd/>
                  </a:ln>
                </p:spPr>
                <p:txBody>
                  <a:bodyPr wrap="none" anchor="ctr"/>
                  <a:lstStyle/>
                  <a:p>
                    <a:endParaRPr lang="en-IN"/>
                  </a:p>
                </p:txBody>
              </p:sp>
              <p:sp>
                <p:nvSpPr>
                  <p:cNvPr id="10341" name="Freeform 101"/>
                  <p:cNvSpPr>
                    <a:spLocks noChangeArrowheads="1"/>
                  </p:cNvSpPr>
                  <p:nvPr/>
                </p:nvSpPr>
                <p:spPr bwMode="auto">
                  <a:xfrm>
                    <a:off x="1809" y="2000"/>
                    <a:ext cx="305" cy="76"/>
                  </a:xfrm>
                  <a:custGeom>
                    <a:avLst/>
                    <a:gdLst>
                      <a:gd name="T0" fmla="*/ 0 w 1346"/>
                      <a:gd name="T1" fmla="*/ 335 h 336"/>
                      <a:gd name="T2" fmla="*/ 335 w 1346"/>
                      <a:gd name="T3" fmla="*/ 0 h 336"/>
                      <a:gd name="T4" fmla="*/ 1345 w 1346"/>
                      <a:gd name="T5" fmla="*/ 0 h 336"/>
                      <a:gd name="T6" fmla="*/ 1008 w 1346"/>
                      <a:gd name="T7" fmla="*/ 335 h 336"/>
                      <a:gd name="T8" fmla="*/ 0 w 1346"/>
                      <a:gd name="T9" fmla="*/ 335 h 336"/>
                    </a:gdLst>
                    <a:ahLst/>
                    <a:cxnLst>
                      <a:cxn ang="0">
                        <a:pos x="T0" y="T1"/>
                      </a:cxn>
                      <a:cxn ang="0">
                        <a:pos x="T2" y="T3"/>
                      </a:cxn>
                      <a:cxn ang="0">
                        <a:pos x="T4" y="T5"/>
                      </a:cxn>
                      <a:cxn ang="0">
                        <a:pos x="T6" y="T7"/>
                      </a:cxn>
                      <a:cxn ang="0">
                        <a:pos x="T8" y="T9"/>
                      </a:cxn>
                    </a:cxnLst>
                    <a:rect l="0" t="0" r="r" b="b"/>
                    <a:pathLst>
                      <a:path w="1346" h="336">
                        <a:moveTo>
                          <a:pt x="0" y="335"/>
                        </a:moveTo>
                        <a:lnTo>
                          <a:pt x="335" y="0"/>
                        </a:lnTo>
                        <a:lnTo>
                          <a:pt x="1345" y="0"/>
                        </a:lnTo>
                        <a:lnTo>
                          <a:pt x="1008" y="335"/>
                        </a:lnTo>
                        <a:lnTo>
                          <a:pt x="0" y="335"/>
                        </a:lnTo>
                      </a:path>
                    </a:pathLst>
                  </a:custGeom>
                  <a:solidFill>
                    <a:srgbClr val="FFD072"/>
                  </a:solidFill>
                  <a:ln w="12600">
                    <a:solidFill>
                      <a:srgbClr val="000000"/>
                    </a:solidFill>
                    <a:round/>
                    <a:headEnd/>
                    <a:tailEnd/>
                  </a:ln>
                </p:spPr>
                <p:txBody>
                  <a:bodyPr wrap="none" anchor="ctr"/>
                  <a:lstStyle/>
                  <a:p>
                    <a:endParaRPr lang="en-IN"/>
                  </a:p>
                </p:txBody>
              </p:sp>
              <p:sp>
                <p:nvSpPr>
                  <p:cNvPr id="10342" name="Freeform 102"/>
                  <p:cNvSpPr>
                    <a:spLocks noChangeArrowheads="1"/>
                  </p:cNvSpPr>
                  <p:nvPr/>
                </p:nvSpPr>
                <p:spPr bwMode="auto">
                  <a:xfrm>
                    <a:off x="2038" y="2000"/>
                    <a:ext cx="77" cy="377"/>
                  </a:xfrm>
                  <a:custGeom>
                    <a:avLst/>
                    <a:gdLst>
                      <a:gd name="T0" fmla="*/ 0 w 338"/>
                      <a:gd name="T1" fmla="*/ 1663 h 1664"/>
                      <a:gd name="T2" fmla="*/ 0 w 338"/>
                      <a:gd name="T3" fmla="*/ 335 h 1664"/>
                      <a:gd name="T4" fmla="*/ 337 w 338"/>
                      <a:gd name="T5" fmla="*/ 0 h 1664"/>
                      <a:gd name="T6" fmla="*/ 337 w 338"/>
                      <a:gd name="T7" fmla="*/ 1326 h 1664"/>
                      <a:gd name="T8" fmla="*/ 0 w 338"/>
                      <a:gd name="T9" fmla="*/ 1663 h 1664"/>
                    </a:gdLst>
                    <a:ahLst/>
                    <a:cxnLst>
                      <a:cxn ang="0">
                        <a:pos x="T0" y="T1"/>
                      </a:cxn>
                      <a:cxn ang="0">
                        <a:pos x="T2" y="T3"/>
                      </a:cxn>
                      <a:cxn ang="0">
                        <a:pos x="T4" y="T5"/>
                      </a:cxn>
                      <a:cxn ang="0">
                        <a:pos x="T6" y="T7"/>
                      </a:cxn>
                      <a:cxn ang="0">
                        <a:pos x="T8" y="T9"/>
                      </a:cxn>
                    </a:cxnLst>
                    <a:rect l="0" t="0" r="r" b="b"/>
                    <a:pathLst>
                      <a:path w="338" h="1664">
                        <a:moveTo>
                          <a:pt x="0" y="1663"/>
                        </a:moveTo>
                        <a:lnTo>
                          <a:pt x="0" y="335"/>
                        </a:lnTo>
                        <a:lnTo>
                          <a:pt x="337" y="0"/>
                        </a:lnTo>
                        <a:lnTo>
                          <a:pt x="337" y="1326"/>
                        </a:lnTo>
                        <a:lnTo>
                          <a:pt x="0" y="1663"/>
                        </a:lnTo>
                      </a:path>
                    </a:pathLst>
                  </a:custGeom>
                  <a:solidFill>
                    <a:srgbClr val="D3A45A"/>
                  </a:solidFill>
                  <a:ln w="12600">
                    <a:solidFill>
                      <a:srgbClr val="000000"/>
                    </a:solidFill>
                    <a:round/>
                    <a:headEnd/>
                    <a:tailEnd/>
                  </a:ln>
                </p:spPr>
                <p:txBody>
                  <a:bodyPr wrap="none" anchor="ctr"/>
                  <a:lstStyle/>
                  <a:p>
                    <a:endParaRPr lang="en-IN"/>
                  </a:p>
                </p:txBody>
              </p:sp>
            </p:grpSp>
            <p:grpSp>
              <p:nvGrpSpPr>
                <p:cNvPr id="10343" name="Group 103"/>
                <p:cNvGrpSpPr>
                  <a:grpSpLocks/>
                </p:cNvGrpSpPr>
                <p:nvPr/>
              </p:nvGrpSpPr>
              <p:grpSpPr bwMode="auto">
                <a:xfrm>
                  <a:off x="1879" y="1929"/>
                  <a:ext cx="234" cy="77"/>
                  <a:chOff x="1879" y="1929"/>
                  <a:chExt cx="234" cy="77"/>
                </a:xfrm>
              </p:grpSpPr>
              <p:sp>
                <p:nvSpPr>
                  <p:cNvPr id="10344" name="Freeform 104"/>
                  <p:cNvSpPr>
                    <a:spLocks noChangeArrowheads="1"/>
                  </p:cNvSpPr>
                  <p:nvPr/>
                </p:nvSpPr>
                <p:spPr bwMode="auto">
                  <a:xfrm>
                    <a:off x="1879" y="1929"/>
                    <a:ext cx="235" cy="78"/>
                  </a:xfrm>
                  <a:custGeom>
                    <a:avLst/>
                    <a:gdLst>
                      <a:gd name="T0" fmla="*/ 0 w 1037"/>
                      <a:gd name="T1" fmla="*/ 344 h 345"/>
                      <a:gd name="T2" fmla="*/ 0 w 1037"/>
                      <a:gd name="T3" fmla="*/ 85 h 345"/>
                      <a:gd name="T4" fmla="*/ 85 w 1037"/>
                      <a:gd name="T5" fmla="*/ 0 h 345"/>
                      <a:gd name="T6" fmla="*/ 1036 w 1037"/>
                      <a:gd name="T7" fmla="*/ 0 h 345"/>
                      <a:gd name="T8" fmla="*/ 1036 w 1037"/>
                      <a:gd name="T9" fmla="*/ 257 h 345"/>
                      <a:gd name="T10" fmla="*/ 949 w 1037"/>
                      <a:gd name="T11" fmla="*/ 344 h 345"/>
                      <a:gd name="T12" fmla="*/ 0 w 1037"/>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0345" name="Freeform 105"/>
                  <p:cNvSpPr>
                    <a:spLocks noChangeArrowheads="1"/>
                  </p:cNvSpPr>
                  <p:nvPr/>
                </p:nvSpPr>
                <p:spPr bwMode="auto">
                  <a:xfrm>
                    <a:off x="1879" y="1929"/>
                    <a:ext cx="235" cy="20"/>
                  </a:xfrm>
                  <a:custGeom>
                    <a:avLst/>
                    <a:gdLst>
                      <a:gd name="T0" fmla="*/ 0 w 1037"/>
                      <a:gd name="T1" fmla="*/ 85 h 86"/>
                      <a:gd name="T2" fmla="*/ 85 w 1037"/>
                      <a:gd name="T3" fmla="*/ 0 h 86"/>
                      <a:gd name="T4" fmla="*/ 1036 w 1037"/>
                      <a:gd name="T5" fmla="*/ 0 h 86"/>
                      <a:gd name="T6" fmla="*/ 949 w 1037"/>
                      <a:gd name="T7" fmla="*/ 85 h 86"/>
                      <a:gd name="T8" fmla="*/ 0 w 1037"/>
                      <a:gd name="T9" fmla="*/ 85 h 86"/>
                    </a:gdLst>
                    <a:ahLst/>
                    <a:cxnLst>
                      <a:cxn ang="0">
                        <a:pos x="T0" y="T1"/>
                      </a:cxn>
                      <a:cxn ang="0">
                        <a:pos x="T2" y="T3"/>
                      </a:cxn>
                      <a:cxn ang="0">
                        <a:pos x="T4" y="T5"/>
                      </a:cxn>
                      <a:cxn ang="0">
                        <a:pos x="T6" y="T7"/>
                      </a:cxn>
                      <a:cxn ang="0">
                        <a:pos x="T8" y="T9"/>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0346" name="Freeform 106"/>
                  <p:cNvSpPr>
                    <a:spLocks noChangeArrowheads="1"/>
                  </p:cNvSpPr>
                  <p:nvPr/>
                </p:nvSpPr>
                <p:spPr bwMode="auto">
                  <a:xfrm>
                    <a:off x="2094" y="1929"/>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0347" name="Freeform 107"/>
              <p:cNvSpPr>
                <a:spLocks noChangeArrowheads="1"/>
              </p:cNvSpPr>
              <p:nvPr/>
            </p:nvSpPr>
            <p:spPr bwMode="auto">
              <a:xfrm>
                <a:off x="1871" y="2033"/>
                <a:ext cx="158" cy="27"/>
              </a:xfrm>
              <a:custGeom>
                <a:avLst/>
                <a:gdLst>
                  <a:gd name="T0" fmla="*/ 173 w 698"/>
                  <a:gd name="T1" fmla="*/ 0 h 120"/>
                  <a:gd name="T2" fmla="*/ 697 w 698"/>
                  <a:gd name="T3" fmla="*/ 0 h 120"/>
                  <a:gd name="T4" fmla="*/ 522 w 698"/>
                  <a:gd name="T5" fmla="*/ 119 h 120"/>
                  <a:gd name="T6" fmla="*/ 0 w 698"/>
                  <a:gd name="T7" fmla="*/ 119 h 120"/>
                  <a:gd name="T8" fmla="*/ 173 w 698"/>
                  <a:gd name="T9" fmla="*/ 0 h 120"/>
                </a:gdLst>
                <a:ahLst/>
                <a:cxnLst>
                  <a:cxn ang="0">
                    <a:pos x="T0" y="T1"/>
                  </a:cxn>
                  <a:cxn ang="0">
                    <a:pos x="T2" y="T3"/>
                  </a:cxn>
                  <a:cxn ang="0">
                    <a:pos x="T4" y="T5"/>
                  </a:cxn>
                  <a:cxn ang="0">
                    <a:pos x="T6" y="T7"/>
                  </a:cxn>
                  <a:cxn ang="0">
                    <a:pos x="T8" y="T9"/>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0348" name="Group 108"/>
            <p:cNvGrpSpPr>
              <a:grpSpLocks/>
            </p:cNvGrpSpPr>
            <p:nvPr/>
          </p:nvGrpSpPr>
          <p:grpSpPr bwMode="auto">
            <a:xfrm>
              <a:off x="2110" y="1929"/>
              <a:ext cx="377" cy="447"/>
              <a:chOff x="2110" y="1929"/>
              <a:chExt cx="377" cy="447"/>
            </a:xfrm>
          </p:grpSpPr>
          <p:grpSp>
            <p:nvGrpSpPr>
              <p:cNvPr id="10349" name="Group 109"/>
              <p:cNvGrpSpPr>
                <a:grpSpLocks/>
              </p:cNvGrpSpPr>
              <p:nvPr/>
            </p:nvGrpSpPr>
            <p:grpSpPr bwMode="auto">
              <a:xfrm>
                <a:off x="2110" y="1929"/>
                <a:ext cx="377" cy="447"/>
                <a:chOff x="2110" y="1929"/>
                <a:chExt cx="377" cy="447"/>
              </a:xfrm>
            </p:grpSpPr>
            <p:grpSp>
              <p:nvGrpSpPr>
                <p:cNvPr id="10350" name="Group 110"/>
                <p:cNvGrpSpPr>
                  <a:grpSpLocks/>
                </p:cNvGrpSpPr>
                <p:nvPr/>
              </p:nvGrpSpPr>
              <p:grpSpPr bwMode="auto">
                <a:xfrm>
                  <a:off x="2110" y="2000"/>
                  <a:ext cx="377" cy="376"/>
                  <a:chOff x="2110" y="2000"/>
                  <a:chExt cx="377" cy="376"/>
                </a:xfrm>
              </p:grpSpPr>
              <p:sp>
                <p:nvSpPr>
                  <p:cNvPr id="10351" name="Freeform 111"/>
                  <p:cNvSpPr>
                    <a:spLocks noChangeArrowheads="1"/>
                  </p:cNvSpPr>
                  <p:nvPr/>
                </p:nvSpPr>
                <p:spPr bwMode="auto">
                  <a:xfrm>
                    <a:off x="2110" y="2000"/>
                    <a:ext cx="378" cy="377"/>
                  </a:xfrm>
                  <a:custGeom>
                    <a:avLst/>
                    <a:gdLst>
                      <a:gd name="T0" fmla="*/ 0 w 1667"/>
                      <a:gd name="T1" fmla="*/ 1663 h 1664"/>
                      <a:gd name="T2" fmla="*/ 0 w 1667"/>
                      <a:gd name="T3" fmla="*/ 414 h 1664"/>
                      <a:gd name="T4" fmla="*/ 414 w 1667"/>
                      <a:gd name="T5" fmla="*/ 0 h 1664"/>
                      <a:gd name="T6" fmla="*/ 1666 w 1667"/>
                      <a:gd name="T7" fmla="*/ 0 h 1664"/>
                      <a:gd name="T8" fmla="*/ 1666 w 1667"/>
                      <a:gd name="T9" fmla="*/ 1247 h 1664"/>
                      <a:gd name="T10" fmla="*/ 1250 w 1667"/>
                      <a:gd name="T11" fmla="*/ 1663 h 1664"/>
                      <a:gd name="T12" fmla="*/ 0 w 1667"/>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667" h="1664">
                        <a:moveTo>
                          <a:pt x="0" y="1663"/>
                        </a:moveTo>
                        <a:lnTo>
                          <a:pt x="0" y="414"/>
                        </a:lnTo>
                        <a:lnTo>
                          <a:pt x="414" y="0"/>
                        </a:lnTo>
                        <a:lnTo>
                          <a:pt x="1666" y="0"/>
                        </a:lnTo>
                        <a:lnTo>
                          <a:pt x="1666" y="1247"/>
                        </a:lnTo>
                        <a:lnTo>
                          <a:pt x="1250" y="1663"/>
                        </a:lnTo>
                        <a:lnTo>
                          <a:pt x="0" y="1663"/>
                        </a:lnTo>
                      </a:path>
                    </a:pathLst>
                  </a:custGeom>
                  <a:solidFill>
                    <a:srgbClr val="A2C1FE"/>
                  </a:solidFill>
                  <a:ln w="12600">
                    <a:solidFill>
                      <a:srgbClr val="000000"/>
                    </a:solidFill>
                    <a:round/>
                    <a:headEnd/>
                    <a:tailEnd/>
                  </a:ln>
                </p:spPr>
                <p:txBody>
                  <a:bodyPr wrap="none" anchor="ctr"/>
                  <a:lstStyle/>
                  <a:p>
                    <a:endParaRPr lang="en-IN"/>
                  </a:p>
                </p:txBody>
              </p:sp>
              <p:sp>
                <p:nvSpPr>
                  <p:cNvPr id="10352" name="Freeform 112"/>
                  <p:cNvSpPr>
                    <a:spLocks noChangeArrowheads="1"/>
                  </p:cNvSpPr>
                  <p:nvPr/>
                </p:nvSpPr>
                <p:spPr bwMode="auto">
                  <a:xfrm>
                    <a:off x="2110" y="2000"/>
                    <a:ext cx="378" cy="94"/>
                  </a:xfrm>
                  <a:custGeom>
                    <a:avLst/>
                    <a:gdLst>
                      <a:gd name="T0" fmla="*/ 0 w 1667"/>
                      <a:gd name="T1" fmla="*/ 414 h 415"/>
                      <a:gd name="T2" fmla="*/ 414 w 1667"/>
                      <a:gd name="T3" fmla="*/ 0 h 415"/>
                      <a:gd name="T4" fmla="*/ 1666 w 1667"/>
                      <a:gd name="T5" fmla="*/ 0 h 415"/>
                      <a:gd name="T6" fmla="*/ 1250 w 1667"/>
                      <a:gd name="T7" fmla="*/ 414 h 415"/>
                      <a:gd name="T8" fmla="*/ 0 w 1667"/>
                      <a:gd name="T9" fmla="*/ 414 h 415"/>
                    </a:gdLst>
                    <a:ahLst/>
                    <a:cxnLst>
                      <a:cxn ang="0">
                        <a:pos x="T0" y="T1"/>
                      </a:cxn>
                      <a:cxn ang="0">
                        <a:pos x="T2" y="T3"/>
                      </a:cxn>
                      <a:cxn ang="0">
                        <a:pos x="T4" y="T5"/>
                      </a:cxn>
                      <a:cxn ang="0">
                        <a:pos x="T6" y="T7"/>
                      </a:cxn>
                      <a:cxn ang="0">
                        <a:pos x="T8" y="T9"/>
                      </a:cxn>
                    </a:cxnLst>
                    <a:rect l="0" t="0" r="r" b="b"/>
                    <a:pathLst>
                      <a:path w="1667" h="415">
                        <a:moveTo>
                          <a:pt x="0" y="414"/>
                        </a:moveTo>
                        <a:lnTo>
                          <a:pt x="414" y="0"/>
                        </a:lnTo>
                        <a:lnTo>
                          <a:pt x="1666" y="0"/>
                        </a:lnTo>
                        <a:lnTo>
                          <a:pt x="1250" y="414"/>
                        </a:lnTo>
                        <a:lnTo>
                          <a:pt x="0" y="414"/>
                        </a:lnTo>
                      </a:path>
                    </a:pathLst>
                  </a:custGeom>
                  <a:solidFill>
                    <a:srgbClr val="B1D3FF"/>
                  </a:solidFill>
                  <a:ln w="12600">
                    <a:solidFill>
                      <a:srgbClr val="000000"/>
                    </a:solidFill>
                    <a:round/>
                    <a:headEnd/>
                    <a:tailEnd/>
                  </a:ln>
                </p:spPr>
                <p:txBody>
                  <a:bodyPr wrap="none" anchor="ctr"/>
                  <a:lstStyle/>
                  <a:p>
                    <a:endParaRPr lang="en-IN"/>
                  </a:p>
                </p:txBody>
              </p:sp>
              <p:sp>
                <p:nvSpPr>
                  <p:cNvPr id="10353" name="Freeform 113"/>
                  <p:cNvSpPr>
                    <a:spLocks noChangeArrowheads="1"/>
                  </p:cNvSpPr>
                  <p:nvPr/>
                </p:nvSpPr>
                <p:spPr bwMode="auto">
                  <a:xfrm>
                    <a:off x="2394" y="2000"/>
                    <a:ext cx="95" cy="377"/>
                  </a:xfrm>
                  <a:custGeom>
                    <a:avLst/>
                    <a:gdLst>
                      <a:gd name="T0" fmla="*/ 0 w 417"/>
                      <a:gd name="T1" fmla="*/ 1663 h 1664"/>
                      <a:gd name="T2" fmla="*/ 0 w 417"/>
                      <a:gd name="T3" fmla="*/ 414 h 1664"/>
                      <a:gd name="T4" fmla="*/ 416 w 417"/>
                      <a:gd name="T5" fmla="*/ 0 h 1664"/>
                      <a:gd name="T6" fmla="*/ 416 w 417"/>
                      <a:gd name="T7" fmla="*/ 1247 h 1664"/>
                      <a:gd name="T8" fmla="*/ 0 w 417"/>
                      <a:gd name="T9" fmla="*/ 1663 h 1664"/>
                    </a:gdLst>
                    <a:ahLst/>
                    <a:cxnLst>
                      <a:cxn ang="0">
                        <a:pos x="T0" y="T1"/>
                      </a:cxn>
                      <a:cxn ang="0">
                        <a:pos x="T2" y="T3"/>
                      </a:cxn>
                      <a:cxn ang="0">
                        <a:pos x="T4" y="T5"/>
                      </a:cxn>
                      <a:cxn ang="0">
                        <a:pos x="T6" y="T7"/>
                      </a:cxn>
                      <a:cxn ang="0">
                        <a:pos x="T8" y="T9"/>
                      </a:cxn>
                    </a:cxnLst>
                    <a:rect l="0" t="0" r="r" b="b"/>
                    <a:pathLst>
                      <a:path w="417" h="1664">
                        <a:moveTo>
                          <a:pt x="0" y="1663"/>
                        </a:moveTo>
                        <a:lnTo>
                          <a:pt x="0" y="414"/>
                        </a:lnTo>
                        <a:lnTo>
                          <a:pt x="416" y="0"/>
                        </a:lnTo>
                        <a:lnTo>
                          <a:pt x="416" y="1247"/>
                        </a:lnTo>
                        <a:lnTo>
                          <a:pt x="0" y="1663"/>
                        </a:lnTo>
                      </a:path>
                    </a:pathLst>
                  </a:custGeom>
                  <a:solidFill>
                    <a:srgbClr val="8BA5DA"/>
                  </a:solidFill>
                  <a:ln w="12600">
                    <a:solidFill>
                      <a:srgbClr val="000000"/>
                    </a:solidFill>
                    <a:round/>
                    <a:headEnd/>
                    <a:tailEnd/>
                  </a:ln>
                </p:spPr>
                <p:txBody>
                  <a:bodyPr wrap="none" anchor="ctr"/>
                  <a:lstStyle/>
                  <a:p>
                    <a:endParaRPr lang="en-IN"/>
                  </a:p>
                </p:txBody>
              </p:sp>
            </p:grpSp>
            <p:grpSp>
              <p:nvGrpSpPr>
                <p:cNvPr id="10354" name="Group 114"/>
                <p:cNvGrpSpPr>
                  <a:grpSpLocks/>
                </p:cNvGrpSpPr>
                <p:nvPr/>
              </p:nvGrpSpPr>
              <p:grpSpPr bwMode="auto">
                <a:xfrm>
                  <a:off x="2196" y="1929"/>
                  <a:ext cx="291" cy="77"/>
                  <a:chOff x="2196" y="1929"/>
                  <a:chExt cx="291" cy="77"/>
                </a:xfrm>
              </p:grpSpPr>
              <p:sp>
                <p:nvSpPr>
                  <p:cNvPr id="10355" name="Freeform 115"/>
                  <p:cNvSpPr>
                    <a:spLocks noChangeArrowheads="1"/>
                  </p:cNvSpPr>
                  <p:nvPr/>
                </p:nvSpPr>
                <p:spPr bwMode="auto">
                  <a:xfrm>
                    <a:off x="2196" y="1929"/>
                    <a:ext cx="292" cy="78"/>
                  </a:xfrm>
                  <a:custGeom>
                    <a:avLst/>
                    <a:gdLst>
                      <a:gd name="T0" fmla="*/ 0 w 1288"/>
                      <a:gd name="T1" fmla="*/ 344 h 345"/>
                      <a:gd name="T2" fmla="*/ 0 w 1288"/>
                      <a:gd name="T3" fmla="*/ 85 h 345"/>
                      <a:gd name="T4" fmla="*/ 85 w 1288"/>
                      <a:gd name="T5" fmla="*/ 0 h 345"/>
                      <a:gd name="T6" fmla="*/ 1287 w 1288"/>
                      <a:gd name="T7" fmla="*/ 0 h 345"/>
                      <a:gd name="T8" fmla="*/ 1287 w 1288"/>
                      <a:gd name="T9" fmla="*/ 257 h 345"/>
                      <a:gd name="T10" fmla="*/ 1200 w 1288"/>
                      <a:gd name="T11" fmla="*/ 344 h 345"/>
                      <a:gd name="T12" fmla="*/ 0 w 1288"/>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8" h="345">
                        <a:moveTo>
                          <a:pt x="0" y="344"/>
                        </a:moveTo>
                        <a:lnTo>
                          <a:pt x="0" y="85"/>
                        </a:lnTo>
                        <a:lnTo>
                          <a:pt x="85" y="0"/>
                        </a:lnTo>
                        <a:lnTo>
                          <a:pt x="1287" y="0"/>
                        </a:lnTo>
                        <a:lnTo>
                          <a:pt x="1287" y="257"/>
                        </a:lnTo>
                        <a:lnTo>
                          <a:pt x="1200"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0356" name="Freeform 116"/>
                  <p:cNvSpPr>
                    <a:spLocks noChangeArrowheads="1"/>
                  </p:cNvSpPr>
                  <p:nvPr/>
                </p:nvSpPr>
                <p:spPr bwMode="auto">
                  <a:xfrm>
                    <a:off x="2196" y="1929"/>
                    <a:ext cx="292" cy="20"/>
                  </a:xfrm>
                  <a:custGeom>
                    <a:avLst/>
                    <a:gdLst>
                      <a:gd name="T0" fmla="*/ 0 w 1288"/>
                      <a:gd name="T1" fmla="*/ 85 h 86"/>
                      <a:gd name="T2" fmla="*/ 85 w 1288"/>
                      <a:gd name="T3" fmla="*/ 0 h 86"/>
                      <a:gd name="T4" fmla="*/ 1287 w 1288"/>
                      <a:gd name="T5" fmla="*/ 0 h 86"/>
                      <a:gd name="T6" fmla="*/ 1200 w 1288"/>
                      <a:gd name="T7" fmla="*/ 85 h 86"/>
                      <a:gd name="T8" fmla="*/ 0 w 1288"/>
                      <a:gd name="T9" fmla="*/ 85 h 86"/>
                    </a:gdLst>
                    <a:ahLst/>
                    <a:cxnLst>
                      <a:cxn ang="0">
                        <a:pos x="T0" y="T1"/>
                      </a:cxn>
                      <a:cxn ang="0">
                        <a:pos x="T2" y="T3"/>
                      </a:cxn>
                      <a:cxn ang="0">
                        <a:pos x="T4" y="T5"/>
                      </a:cxn>
                      <a:cxn ang="0">
                        <a:pos x="T6" y="T7"/>
                      </a:cxn>
                      <a:cxn ang="0">
                        <a:pos x="T8" y="T9"/>
                      </a:cxn>
                    </a:cxnLst>
                    <a:rect l="0" t="0" r="r" b="b"/>
                    <a:pathLst>
                      <a:path w="1288" h="86">
                        <a:moveTo>
                          <a:pt x="0" y="85"/>
                        </a:moveTo>
                        <a:lnTo>
                          <a:pt x="85" y="0"/>
                        </a:lnTo>
                        <a:lnTo>
                          <a:pt x="1287" y="0"/>
                        </a:lnTo>
                        <a:lnTo>
                          <a:pt x="1200"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0357" name="Freeform 117"/>
                  <p:cNvSpPr>
                    <a:spLocks noChangeArrowheads="1"/>
                  </p:cNvSpPr>
                  <p:nvPr/>
                </p:nvSpPr>
                <p:spPr bwMode="auto">
                  <a:xfrm>
                    <a:off x="2468" y="1929"/>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0358" name="Oval 118"/>
              <p:cNvSpPr>
                <a:spLocks noChangeArrowheads="1"/>
              </p:cNvSpPr>
              <p:nvPr/>
            </p:nvSpPr>
            <p:spPr bwMode="auto">
              <a:xfrm>
                <a:off x="2225" y="1965"/>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0359" name="Freeform 119"/>
              <p:cNvSpPr>
                <a:spLocks noChangeArrowheads="1"/>
              </p:cNvSpPr>
              <p:nvPr/>
            </p:nvSpPr>
            <p:spPr bwMode="auto">
              <a:xfrm>
                <a:off x="2157" y="2175"/>
                <a:ext cx="198" cy="84"/>
              </a:xfrm>
              <a:custGeom>
                <a:avLst/>
                <a:gdLst>
                  <a:gd name="T0" fmla="*/ 107 w 873"/>
                  <a:gd name="T1" fmla="*/ 0 h 371"/>
                  <a:gd name="T2" fmla="*/ 763 w 873"/>
                  <a:gd name="T3" fmla="*/ 0 h 371"/>
                  <a:gd name="T4" fmla="*/ 872 w 873"/>
                  <a:gd name="T5" fmla="*/ 108 h 371"/>
                  <a:gd name="T6" fmla="*/ 872 w 873"/>
                  <a:gd name="T7" fmla="*/ 262 h 371"/>
                  <a:gd name="T8" fmla="*/ 763 w 873"/>
                  <a:gd name="T9" fmla="*/ 370 h 371"/>
                  <a:gd name="T10" fmla="*/ 107 w 873"/>
                  <a:gd name="T11" fmla="*/ 370 h 371"/>
                  <a:gd name="T12" fmla="*/ 0 w 873"/>
                  <a:gd name="T13" fmla="*/ 262 h 371"/>
                  <a:gd name="T14" fmla="*/ 0 w 873"/>
                  <a:gd name="T15" fmla="*/ 108 h 371"/>
                  <a:gd name="T16" fmla="*/ 107 w 873"/>
                  <a:gd name="T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3" h="371">
                    <a:moveTo>
                      <a:pt x="107" y="0"/>
                    </a:moveTo>
                    <a:lnTo>
                      <a:pt x="763" y="0"/>
                    </a:lnTo>
                    <a:lnTo>
                      <a:pt x="872" y="108"/>
                    </a:lnTo>
                    <a:lnTo>
                      <a:pt x="872" y="262"/>
                    </a:lnTo>
                    <a:lnTo>
                      <a:pt x="763"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0360" name="Freeform 120"/>
            <p:cNvSpPr>
              <a:spLocks noChangeArrowheads="1"/>
            </p:cNvSpPr>
            <p:nvPr/>
          </p:nvSpPr>
          <p:spPr bwMode="auto">
            <a:xfrm>
              <a:off x="2674" y="2158"/>
              <a:ext cx="85" cy="191"/>
            </a:xfrm>
            <a:custGeom>
              <a:avLst/>
              <a:gdLst>
                <a:gd name="T0" fmla="*/ 273 w 376"/>
                <a:gd name="T1" fmla="*/ 0 h 843"/>
                <a:gd name="T2" fmla="*/ 375 w 376"/>
                <a:gd name="T3" fmla="*/ 0 h 843"/>
                <a:gd name="T4" fmla="*/ 101 w 376"/>
                <a:gd name="T5" fmla="*/ 842 h 843"/>
                <a:gd name="T6" fmla="*/ 0 w 376"/>
                <a:gd name="T7" fmla="*/ 842 h 843"/>
                <a:gd name="T8" fmla="*/ 273 w 376"/>
                <a:gd name="T9" fmla="*/ 0 h 843"/>
              </a:gdLst>
              <a:ahLst/>
              <a:cxnLst>
                <a:cxn ang="0">
                  <a:pos x="T0" y="T1"/>
                </a:cxn>
                <a:cxn ang="0">
                  <a:pos x="T2" y="T3"/>
                </a:cxn>
                <a:cxn ang="0">
                  <a:pos x="T4" y="T5"/>
                </a:cxn>
                <a:cxn ang="0">
                  <a:pos x="T6" y="T7"/>
                </a:cxn>
                <a:cxn ang="0">
                  <a:pos x="T8" y="T9"/>
                </a:cxn>
              </a:cxnLst>
              <a:rect l="0" t="0" r="r" b="b"/>
              <a:pathLst>
                <a:path w="376" h="843">
                  <a:moveTo>
                    <a:pt x="273" y="0"/>
                  </a:moveTo>
                  <a:lnTo>
                    <a:pt x="375" y="0"/>
                  </a:lnTo>
                  <a:lnTo>
                    <a:pt x="101" y="842"/>
                  </a:lnTo>
                  <a:lnTo>
                    <a:pt x="0" y="842"/>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361" name="AutoShape 121"/>
            <p:cNvSpPr>
              <a:spLocks noChangeArrowheads="1"/>
            </p:cNvSpPr>
            <p:nvPr/>
          </p:nvSpPr>
          <p:spPr bwMode="auto">
            <a:xfrm>
              <a:off x="2670" y="2158"/>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362" name="AutoShape 122"/>
            <p:cNvSpPr>
              <a:spLocks noChangeArrowheads="1"/>
            </p:cNvSpPr>
            <p:nvPr/>
          </p:nvSpPr>
          <p:spPr bwMode="auto">
            <a:xfrm>
              <a:off x="2677" y="2239"/>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363" name="AutoShape 123"/>
            <p:cNvSpPr>
              <a:spLocks noChangeArrowheads="1"/>
            </p:cNvSpPr>
            <p:nvPr/>
          </p:nvSpPr>
          <p:spPr bwMode="auto">
            <a:xfrm>
              <a:off x="2494" y="2239"/>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0364" name="Group 124"/>
            <p:cNvGrpSpPr>
              <a:grpSpLocks/>
            </p:cNvGrpSpPr>
            <p:nvPr/>
          </p:nvGrpSpPr>
          <p:grpSpPr bwMode="auto">
            <a:xfrm>
              <a:off x="2492" y="1986"/>
              <a:ext cx="193" cy="363"/>
              <a:chOff x="2492" y="1986"/>
              <a:chExt cx="193" cy="363"/>
            </a:xfrm>
          </p:grpSpPr>
          <p:sp>
            <p:nvSpPr>
              <p:cNvPr id="10365" name="Oval 125"/>
              <p:cNvSpPr>
                <a:spLocks noChangeArrowheads="1"/>
              </p:cNvSpPr>
              <p:nvPr/>
            </p:nvSpPr>
            <p:spPr bwMode="auto">
              <a:xfrm>
                <a:off x="2568" y="1986"/>
                <a:ext cx="49"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0366" name="Freeform 126"/>
              <p:cNvSpPr>
                <a:spLocks noChangeArrowheads="1"/>
              </p:cNvSpPr>
              <p:nvPr/>
            </p:nvSpPr>
            <p:spPr bwMode="auto">
              <a:xfrm>
                <a:off x="2492" y="2054"/>
                <a:ext cx="194" cy="296"/>
              </a:xfrm>
              <a:custGeom>
                <a:avLst/>
                <a:gdLst>
                  <a:gd name="T0" fmla="*/ 8 w 857"/>
                  <a:gd name="T1" fmla="*/ 605 h 1305"/>
                  <a:gd name="T2" fmla="*/ 4 w 857"/>
                  <a:gd name="T3" fmla="*/ 618 h 1305"/>
                  <a:gd name="T4" fmla="*/ 0 w 857"/>
                  <a:gd name="T5" fmla="*/ 640 h 1305"/>
                  <a:gd name="T6" fmla="*/ 0 w 857"/>
                  <a:gd name="T7" fmla="*/ 662 h 1305"/>
                  <a:gd name="T8" fmla="*/ 8 w 857"/>
                  <a:gd name="T9" fmla="*/ 684 h 1305"/>
                  <a:gd name="T10" fmla="*/ 17 w 857"/>
                  <a:gd name="T11" fmla="*/ 703 h 1305"/>
                  <a:gd name="T12" fmla="*/ 35 w 857"/>
                  <a:gd name="T13" fmla="*/ 721 h 1305"/>
                  <a:gd name="T14" fmla="*/ 53 w 857"/>
                  <a:gd name="T15" fmla="*/ 730 h 1305"/>
                  <a:gd name="T16" fmla="*/ 70 w 857"/>
                  <a:gd name="T17" fmla="*/ 734 h 1305"/>
                  <a:gd name="T18" fmla="*/ 92 w 857"/>
                  <a:gd name="T19" fmla="*/ 734 h 1305"/>
                  <a:gd name="T20" fmla="*/ 559 w 857"/>
                  <a:gd name="T21" fmla="*/ 1304 h 1305"/>
                  <a:gd name="T22" fmla="*/ 705 w 857"/>
                  <a:gd name="T23" fmla="*/ 627 h 1305"/>
                  <a:gd name="T24" fmla="*/ 705 w 857"/>
                  <a:gd name="T25" fmla="*/ 609 h 1305"/>
                  <a:gd name="T26" fmla="*/ 696 w 857"/>
                  <a:gd name="T27" fmla="*/ 601 h 1305"/>
                  <a:gd name="T28" fmla="*/ 683 w 857"/>
                  <a:gd name="T29" fmla="*/ 587 h 1305"/>
                  <a:gd name="T30" fmla="*/ 674 w 857"/>
                  <a:gd name="T31" fmla="*/ 578 h 1305"/>
                  <a:gd name="T32" fmla="*/ 656 w 857"/>
                  <a:gd name="T33" fmla="*/ 574 h 1305"/>
                  <a:gd name="T34" fmla="*/ 639 w 857"/>
                  <a:gd name="T35" fmla="*/ 570 h 1305"/>
                  <a:gd name="T36" fmla="*/ 621 w 857"/>
                  <a:gd name="T37" fmla="*/ 570 h 1305"/>
                  <a:gd name="T38" fmla="*/ 608 w 857"/>
                  <a:gd name="T39" fmla="*/ 570 h 1305"/>
                  <a:gd name="T40" fmla="*/ 412 w 857"/>
                  <a:gd name="T41" fmla="*/ 331 h 1305"/>
                  <a:gd name="T42" fmla="*/ 794 w 857"/>
                  <a:gd name="T43" fmla="*/ 411 h 1305"/>
                  <a:gd name="T44" fmla="*/ 812 w 857"/>
                  <a:gd name="T45" fmla="*/ 406 h 1305"/>
                  <a:gd name="T46" fmla="*/ 821 w 857"/>
                  <a:gd name="T47" fmla="*/ 402 h 1305"/>
                  <a:gd name="T48" fmla="*/ 838 w 857"/>
                  <a:gd name="T49" fmla="*/ 393 h 1305"/>
                  <a:gd name="T50" fmla="*/ 847 w 857"/>
                  <a:gd name="T51" fmla="*/ 380 h 1305"/>
                  <a:gd name="T52" fmla="*/ 852 w 857"/>
                  <a:gd name="T53" fmla="*/ 367 h 1305"/>
                  <a:gd name="T54" fmla="*/ 856 w 857"/>
                  <a:gd name="T55" fmla="*/ 345 h 1305"/>
                  <a:gd name="T56" fmla="*/ 852 w 857"/>
                  <a:gd name="T57" fmla="*/ 327 h 1305"/>
                  <a:gd name="T58" fmla="*/ 843 w 857"/>
                  <a:gd name="T59" fmla="*/ 309 h 1305"/>
                  <a:gd name="T60" fmla="*/ 834 w 857"/>
                  <a:gd name="T61" fmla="*/ 300 h 1305"/>
                  <a:gd name="T62" fmla="*/ 816 w 857"/>
                  <a:gd name="T63" fmla="*/ 286 h 1305"/>
                  <a:gd name="T64" fmla="*/ 803 w 857"/>
                  <a:gd name="T65" fmla="*/ 282 h 1305"/>
                  <a:gd name="T66" fmla="*/ 541 w 857"/>
                  <a:gd name="T67" fmla="*/ 282 h 1305"/>
                  <a:gd name="T68" fmla="*/ 496 w 857"/>
                  <a:gd name="T69" fmla="*/ 185 h 1305"/>
                  <a:gd name="T70" fmla="*/ 501 w 857"/>
                  <a:gd name="T71" fmla="*/ 163 h 1305"/>
                  <a:gd name="T72" fmla="*/ 505 w 857"/>
                  <a:gd name="T73" fmla="*/ 132 h 1305"/>
                  <a:gd name="T74" fmla="*/ 505 w 857"/>
                  <a:gd name="T75" fmla="*/ 105 h 1305"/>
                  <a:gd name="T76" fmla="*/ 496 w 857"/>
                  <a:gd name="T77" fmla="*/ 83 h 1305"/>
                  <a:gd name="T78" fmla="*/ 487 w 857"/>
                  <a:gd name="T79" fmla="*/ 66 h 1305"/>
                  <a:gd name="T80" fmla="*/ 474 w 857"/>
                  <a:gd name="T81" fmla="*/ 44 h 1305"/>
                  <a:gd name="T82" fmla="*/ 457 w 857"/>
                  <a:gd name="T83" fmla="*/ 30 h 1305"/>
                  <a:gd name="T84" fmla="*/ 434 w 857"/>
                  <a:gd name="T85" fmla="*/ 13 h 1305"/>
                  <a:gd name="T86" fmla="*/ 412 w 857"/>
                  <a:gd name="T87" fmla="*/ 4 h 1305"/>
                  <a:gd name="T88" fmla="*/ 386 w 857"/>
                  <a:gd name="T89" fmla="*/ 0 h 1305"/>
                  <a:gd name="T90" fmla="*/ 359 w 857"/>
                  <a:gd name="T91" fmla="*/ 0 h 1305"/>
                  <a:gd name="T92" fmla="*/ 333 w 857"/>
                  <a:gd name="T93" fmla="*/ 4 h 1305"/>
                  <a:gd name="T94" fmla="*/ 305 w 857"/>
                  <a:gd name="T95" fmla="*/ 13 h 1305"/>
                  <a:gd name="T96" fmla="*/ 279 w 857"/>
                  <a:gd name="T97" fmla="*/ 26 h 1305"/>
                  <a:gd name="T98" fmla="*/ 261 w 857"/>
                  <a:gd name="T99" fmla="*/ 48 h 1305"/>
                  <a:gd name="T100" fmla="*/ 243 w 857"/>
                  <a:gd name="T101" fmla="*/ 75 h 1305"/>
                  <a:gd name="T102" fmla="*/ 235 w 857"/>
                  <a:gd name="T103" fmla="*/ 101 h 1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7" h="1305">
                    <a:moveTo>
                      <a:pt x="235"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3" y="730"/>
                    </a:lnTo>
                    <a:lnTo>
                      <a:pt x="61" y="730"/>
                    </a:lnTo>
                    <a:lnTo>
                      <a:pt x="70" y="734"/>
                    </a:lnTo>
                    <a:lnTo>
                      <a:pt x="79" y="734"/>
                    </a:lnTo>
                    <a:lnTo>
                      <a:pt x="92" y="734"/>
                    </a:lnTo>
                    <a:lnTo>
                      <a:pt x="559" y="734"/>
                    </a:lnTo>
                    <a:lnTo>
                      <a:pt x="559" y="1304"/>
                    </a:lnTo>
                    <a:lnTo>
                      <a:pt x="705" y="1304"/>
                    </a:lnTo>
                    <a:lnTo>
                      <a:pt x="705" y="627"/>
                    </a:lnTo>
                    <a:lnTo>
                      <a:pt x="705" y="618"/>
                    </a:lnTo>
                    <a:lnTo>
                      <a:pt x="705" y="609"/>
                    </a:lnTo>
                    <a:lnTo>
                      <a:pt x="700" y="605"/>
                    </a:lnTo>
                    <a:lnTo>
                      <a:pt x="696" y="601"/>
                    </a:lnTo>
                    <a:lnTo>
                      <a:pt x="692" y="596"/>
                    </a:lnTo>
                    <a:lnTo>
                      <a:pt x="683" y="587"/>
                    </a:lnTo>
                    <a:lnTo>
                      <a:pt x="678" y="583"/>
                    </a:lnTo>
                    <a:lnTo>
                      <a:pt x="674" y="578"/>
                    </a:lnTo>
                    <a:lnTo>
                      <a:pt x="665" y="578"/>
                    </a:lnTo>
                    <a:lnTo>
                      <a:pt x="656" y="574"/>
                    </a:lnTo>
                    <a:lnTo>
                      <a:pt x="647" y="574"/>
                    </a:lnTo>
                    <a:lnTo>
                      <a:pt x="639" y="570"/>
                    </a:lnTo>
                    <a:lnTo>
                      <a:pt x="630" y="570"/>
                    </a:lnTo>
                    <a:lnTo>
                      <a:pt x="621" y="570"/>
                    </a:lnTo>
                    <a:lnTo>
                      <a:pt x="617" y="570"/>
                    </a:lnTo>
                    <a:lnTo>
                      <a:pt x="608" y="570"/>
                    </a:lnTo>
                    <a:lnTo>
                      <a:pt x="337" y="552"/>
                    </a:lnTo>
                    <a:lnTo>
                      <a:pt x="412" y="331"/>
                    </a:lnTo>
                    <a:lnTo>
                      <a:pt x="465" y="411"/>
                    </a:lnTo>
                    <a:lnTo>
                      <a:pt x="794" y="411"/>
                    </a:lnTo>
                    <a:lnTo>
                      <a:pt x="803" y="406"/>
                    </a:lnTo>
                    <a:lnTo>
                      <a:pt x="812" y="406"/>
                    </a:lnTo>
                    <a:lnTo>
                      <a:pt x="816" y="402"/>
                    </a:lnTo>
                    <a:lnTo>
                      <a:pt x="821" y="402"/>
                    </a:lnTo>
                    <a:lnTo>
                      <a:pt x="830" y="398"/>
                    </a:lnTo>
                    <a:lnTo>
                      <a:pt x="838" y="393"/>
                    </a:lnTo>
                    <a:lnTo>
                      <a:pt x="843" y="384"/>
                    </a:lnTo>
                    <a:lnTo>
                      <a:pt x="847" y="380"/>
                    </a:lnTo>
                    <a:lnTo>
                      <a:pt x="852" y="371"/>
                    </a:lnTo>
                    <a:lnTo>
                      <a:pt x="852" y="367"/>
                    </a:lnTo>
                    <a:lnTo>
                      <a:pt x="856" y="358"/>
                    </a:lnTo>
                    <a:lnTo>
                      <a:pt x="856" y="345"/>
                    </a:lnTo>
                    <a:lnTo>
                      <a:pt x="856" y="336"/>
                    </a:lnTo>
                    <a:lnTo>
                      <a:pt x="852" y="327"/>
                    </a:lnTo>
                    <a:lnTo>
                      <a:pt x="847" y="318"/>
                    </a:lnTo>
                    <a:lnTo>
                      <a:pt x="843" y="309"/>
                    </a:lnTo>
                    <a:lnTo>
                      <a:pt x="838" y="305"/>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nvGrpSpPr>
          <p:cNvPr id="10367" name="Group 127"/>
          <p:cNvGrpSpPr>
            <a:grpSpLocks/>
          </p:cNvGrpSpPr>
          <p:nvPr/>
        </p:nvGrpSpPr>
        <p:grpSpPr bwMode="auto">
          <a:xfrm>
            <a:off x="4438650" y="4776788"/>
            <a:ext cx="1533525" cy="709612"/>
            <a:chOff x="2721" y="2377"/>
            <a:chExt cx="966" cy="447"/>
          </a:xfrm>
        </p:grpSpPr>
        <p:grpSp>
          <p:nvGrpSpPr>
            <p:cNvPr id="10368" name="Group 128"/>
            <p:cNvGrpSpPr>
              <a:grpSpLocks/>
            </p:cNvGrpSpPr>
            <p:nvPr/>
          </p:nvGrpSpPr>
          <p:grpSpPr bwMode="auto">
            <a:xfrm>
              <a:off x="2721" y="2377"/>
              <a:ext cx="304" cy="447"/>
              <a:chOff x="2721" y="2377"/>
              <a:chExt cx="304" cy="447"/>
            </a:xfrm>
          </p:grpSpPr>
          <p:grpSp>
            <p:nvGrpSpPr>
              <p:cNvPr id="10369" name="Group 129"/>
              <p:cNvGrpSpPr>
                <a:grpSpLocks/>
              </p:cNvGrpSpPr>
              <p:nvPr/>
            </p:nvGrpSpPr>
            <p:grpSpPr bwMode="auto">
              <a:xfrm>
                <a:off x="2721" y="2377"/>
                <a:ext cx="304" cy="447"/>
                <a:chOff x="2721" y="2377"/>
                <a:chExt cx="304" cy="447"/>
              </a:xfrm>
            </p:grpSpPr>
            <p:grpSp>
              <p:nvGrpSpPr>
                <p:cNvPr id="10370" name="Group 130"/>
                <p:cNvGrpSpPr>
                  <a:grpSpLocks/>
                </p:cNvGrpSpPr>
                <p:nvPr/>
              </p:nvGrpSpPr>
              <p:grpSpPr bwMode="auto">
                <a:xfrm>
                  <a:off x="2721" y="2448"/>
                  <a:ext cx="304" cy="376"/>
                  <a:chOff x="2721" y="2448"/>
                  <a:chExt cx="304" cy="376"/>
                </a:xfrm>
              </p:grpSpPr>
              <p:sp>
                <p:nvSpPr>
                  <p:cNvPr id="10371" name="Freeform 131"/>
                  <p:cNvSpPr>
                    <a:spLocks noChangeArrowheads="1"/>
                  </p:cNvSpPr>
                  <p:nvPr/>
                </p:nvSpPr>
                <p:spPr bwMode="auto">
                  <a:xfrm>
                    <a:off x="2721" y="2448"/>
                    <a:ext cx="305" cy="377"/>
                  </a:xfrm>
                  <a:custGeom>
                    <a:avLst/>
                    <a:gdLst>
                      <a:gd name="T0" fmla="*/ 0 w 1346"/>
                      <a:gd name="T1" fmla="*/ 1662 h 1663"/>
                      <a:gd name="T2" fmla="*/ 0 w 1346"/>
                      <a:gd name="T3" fmla="*/ 336 h 1663"/>
                      <a:gd name="T4" fmla="*/ 335 w 1346"/>
                      <a:gd name="T5" fmla="*/ 0 h 1663"/>
                      <a:gd name="T6" fmla="*/ 1345 w 1346"/>
                      <a:gd name="T7" fmla="*/ 0 h 1663"/>
                      <a:gd name="T8" fmla="*/ 1345 w 1346"/>
                      <a:gd name="T9" fmla="*/ 1326 h 1663"/>
                      <a:gd name="T10" fmla="*/ 1008 w 1346"/>
                      <a:gd name="T11" fmla="*/ 1662 h 1663"/>
                      <a:gd name="T12" fmla="*/ 0 w 1346"/>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IN"/>
                  </a:p>
                </p:txBody>
              </p:sp>
              <p:sp>
                <p:nvSpPr>
                  <p:cNvPr id="10372" name="Freeform 132"/>
                  <p:cNvSpPr>
                    <a:spLocks noChangeArrowheads="1"/>
                  </p:cNvSpPr>
                  <p:nvPr/>
                </p:nvSpPr>
                <p:spPr bwMode="auto">
                  <a:xfrm>
                    <a:off x="2721" y="2448"/>
                    <a:ext cx="305" cy="76"/>
                  </a:xfrm>
                  <a:custGeom>
                    <a:avLst/>
                    <a:gdLst>
                      <a:gd name="T0" fmla="*/ 0 w 1346"/>
                      <a:gd name="T1" fmla="*/ 336 h 337"/>
                      <a:gd name="T2" fmla="*/ 335 w 1346"/>
                      <a:gd name="T3" fmla="*/ 0 h 337"/>
                      <a:gd name="T4" fmla="*/ 1345 w 1346"/>
                      <a:gd name="T5" fmla="*/ 0 h 337"/>
                      <a:gd name="T6" fmla="*/ 1008 w 1346"/>
                      <a:gd name="T7" fmla="*/ 336 h 337"/>
                      <a:gd name="T8" fmla="*/ 0 w 1346"/>
                      <a:gd name="T9" fmla="*/ 336 h 337"/>
                    </a:gdLst>
                    <a:ahLst/>
                    <a:cxnLst>
                      <a:cxn ang="0">
                        <a:pos x="T0" y="T1"/>
                      </a:cxn>
                      <a:cxn ang="0">
                        <a:pos x="T2" y="T3"/>
                      </a:cxn>
                      <a:cxn ang="0">
                        <a:pos x="T4" y="T5"/>
                      </a:cxn>
                      <a:cxn ang="0">
                        <a:pos x="T6" y="T7"/>
                      </a:cxn>
                      <a:cxn ang="0">
                        <a:pos x="T8" y="T9"/>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IN"/>
                  </a:p>
                </p:txBody>
              </p:sp>
              <p:sp>
                <p:nvSpPr>
                  <p:cNvPr id="10373" name="Freeform 133"/>
                  <p:cNvSpPr>
                    <a:spLocks noChangeArrowheads="1"/>
                  </p:cNvSpPr>
                  <p:nvPr/>
                </p:nvSpPr>
                <p:spPr bwMode="auto">
                  <a:xfrm>
                    <a:off x="2950" y="2448"/>
                    <a:ext cx="77" cy="377"/>
                  </a:xfrm>
                  <a:custGeom>
                    <a:avLst/>
                    <a:gdLst>
                      <a:gd name="T0" fmla="*/ 0 w 338"/>
                      <a:gd name="T1" fmla="*/ 1662 h 1663"/>
                      <a:gd name="T2" fmla="*/ 0 w 338"/>
                      <a:gd name="T3" fmla="*/ 336 h 1663"/>
                      <a:gd name="T4" fmla="*/ 337 w 338"/>
                      <a:gd name="T5" fmla="*/ 0 h 1663"/>
                      <a:gd name="T6" fmla="*/ 337 w 338"/>
                      <a:gd name="T7" fmla="*/ 1326 h 1663"/>
                      <a:gd name="T8" fmla="*/ 0 w 338"/>
                      <a:gd name="T9" fmla="*/ 1662 h 1663"/>
                    </a:gdLst>
                    <a:ahLst/>
                    <a:cxnLst>
                      <a:cxn ang="0">
                        <a:pos x="T0" y="T1"/>
                      </a:cxn>
                      <a:cxn ang="0">
                        <a:pos x="T2" y="T3"/>
                      </a:cxn>
                      <a:cxn ang="0">
                        <a:pos x="T4" y="T5"/>
                      </a:cxn>
                      <a:cxn ang="0">
                        <a:pos x="T6" y="T7"/>
                      </a:cxn>
                      <a:cxn ang="0">
                        <a:pos x="T8" y="T9"/>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IN"/>
                  </a:p>
                </p:txBody>
              </p:sp>
            </p:grpSp>
            <p:grpSp>
              <p:nvGrpSpPr>
                <p:cNvPr id="10374" name="Group 134"/>
                <p:cNvGrpSpPr>
                  <a:grpSpLocks/>
                </p:cNvGrpSpPr>
                <p:nvPr/>
              </p:nvGrpSpPr>
              <p:grpSpPr bwMode="auto">
                <a:xfrm>
                  <a:off x="2791" y="2377"/>
                  <a:ext cx="234" cy="77"/>
                  <a:chOff x="2791" y="2377"/>
                  <a:chExt cx="234" cy="77"/>
                </a:xfrm>
              </p:grpSpPr>
              <p:sp>
                <p:nvSpPr>
                  <p:cNvPr id="10375" name="Freeform 135"/>
                  <p:cNvSpPr>
                    <a:spLocks noChangeArrowheads="1"/>
                  </p:cNvSpPr>
                  <p:nvPr/>
                </p:nvSpPr>
                <p:spPr bwMode="auto">
                  <a:xfrm>
                    <a:off x="2791" y="2377"/>
                    <a:ext cx="235" cy="78"/>
                  </a:xfrm>
                  <a:custGeom>
                    <a:avLst/>
                    <a:gdLst>
                      <a:gd name="T0" fmla="*/ 0 w 1037"/>
                      <a:gd name="T1" fmla="*/ 343 h 344"/>
                      <a:gd name="T2" fmla="*/ 0 w 1037"/>
                      <a:gd name="T3" fmla="*/ 84 h 344"/>
                      <a:gd name="T4" fmla="*/ 84 w 1037"/>
                      <a:gd name="T5" fmla="*/ 0 h 344"/>
                      <a:gd name="T6" fmla="*/ 1036 w 1037"/>
                      <a:gd name="T7" fmla="*/ 0 h 344"/>
                      <a:gd name="T8" fmla="*/ 1036 w 1037"/>
                      <a:gd name="T9" fmla="*/ 257 h 344"/>
                      <a:gd name="T10" fmla="*/ 950 w 1037"/>
                      <a:gd name="T11" fmla="*/ 343 h 344"/>
                      <a:gd name="T12" fmla="*/ 0 w 1037"/>
                      <a:gd name="T13" fmla="*/ 343 h 344"/>
                    </a:gdLst>
                    <a:ahLst/>
                    <a:cxnLst>
                      <a:cxn ang="0">
                        <a:pos x="T0" y="T1"/>
                      </a:cxn>
                      <a:cxn ang="0">
                        <a:pos x="T2" y="T3"/>
                      </a:cxn>
                      <a:cxn ang="0">
                        <a:pos x="T4" y="T5"/>
                      </a:cxn>
                      <a:cxn ang="0">
                        <a:pos x="T6" y="T7"/>
                      </a:cxn>
                      <a:cxn ang="0">
                        <a:pos x="T8" y="T9"/>
                      </a:cxn>
                      <a:cxn ang="0">
                        <a:pos x="T10" y="T11"/>
                      </a:cxn>
                      <a:cxn ang="0">
                        <a:pos x="T12" y="T13"/>
                      </a:cxn>
                    </a:cxnLst>
                    <a:rect l="0" t="0" r="r" b="b"/>
                    <a:pathLst>
                      <a:path w="1037" h="344">
                        <a:moveTo>
                          <a:pt x="0" y="343"/>
                        </a:moveTo>
                        <a:lnTo>
                          <a:pt x="0" y="84"/>
                        </a:lnTo>
                        <a:lnTo>
                          <a:pt x="84" y="0"/>
                        </a:lnTo>
                        <a:lnTo>
                          <a:pt x="1036" y="0"/>
                        </a:lnTo>
                        <a:lnTo>
                          <a:pt x="1036" y="257"/>
                        </a:lnTo>
                        <a:lnTo>
                          <a:pt x="950" y="343"/>
                        </a:lnTo>
                        <a:lnTo>
                          <a:pt x="0" y="343"/>
                        </a:lnTo>
                      </a:path>
                    </a:pathLst>
                  </a:custGeom>
                  <a:solidFill>
                    <a:srgbClr val="F6BF69"/>
                  </a:solidFill>
                  <a:ln w="12600">
                    <a:solidFill>
                      <a:srgbClr val="000000"/>
                    </a:solidFill>
                    <a:round/>
                    <a:headEnd/>
                    <a:tailEnd/>
                  </a:ln>
                </p:spPr>
                <p:txBody>
                  <a:bodyPr wrap="none" anchor="ctr"/>
                  <a:lstStyle/>
                  <a:p>
                    <a:endParaRPr lang="en-IN"/>
                  </a:p>
                </p:txBody>
              </p:sp>
              <p:sp>
                <p:nvSpPr>
                  <p:cNvPr id="10376" name="Freeform 136"/>
                  <p:cNvSpPr>
                    <a:spLocks noChangeArrowheads="1"/>
                  </p:cNvSpPr>
                  <p:nvPr/>
                </p:nvSpPr>
                <p:spPr bwMode="auto">
                  <a:xfrm>
                    <a:off x="2791" y="2377"/>
                    <a:ext cx="235" cy="19"/>
                  </a:xfrm>
                  <a:custGeom>
                    <a:avLst/>
                    <a:gdLst>
                      <a:gd name="T0" fmla="*/ 0 w 1037"/>
                      <a:gd name="T1" fmla="*/ 84 h 85"/>
                      <a:gd name="T2" fmla="*/ 84 w 1037"/>
                      <a:gd name="T3" fmla="*/ 0 h 85"/>
                      <a:gd name="T4" fmla="*/ 1036 w 1037"/>
                      <a:gd name="T5" fmla="*/ 0 h 85"/>
                      <a:gd name="T6" fmla="*/ 950 w 1037"/>
                      <a:gd name="T7" fmla="*/ 84 h 85"/>
                      <a:gd name="T8" fmla="*/ 0 w 1037"/>
                      <a:gd name="T9" fmla="*/ 84 h 85"/>
                    </a:gdLst>
                    <a:ahLst/>
                    <a:cxnLst>
                      <a:cxn ang="0">
                        <a:pos x="T0" y="T1"/>
                      </a:cxn>
                      <a:cxn ang="0">
                        <a:pos x="T2" y="T3"/>
                      </a:cxn>
                      <a:cxn ang="0">
                        <a:pos x="T4" y="T5"/>
                      </a:cxn>
                      <a:cxn ang="0">
                        <a:pos x="T6" y="T7"/>
                      </a:cxn>
                      <a:cxn ang="0">
                        <a:pos x="T8" y="T9"/>
                      </a:cxn>
                    </a:cxnLst>
                    <a:rect l="0" t="0" r="r" b="b"/>
                    <a:pathLst>
                      <a:path w="1037" h="85">
                        <a:moveTo>
                          <a:pt x="0" y="84"/>
                        </a:moveTo>
                        <a:lnTo>
                          <a:pt x="84" y="0"/>
                        </a:lnTo>
                        <a:lnTo>
                          <a:pt x="1036" y="0"/>
                        </a:lnTo>
                        <a:lnTo>
                          <a:pt x="950" y="84"/>
                        </a:lnTo>
                        <a:lnTo>
                          <a:pt x="0" y="84"/>
                        </a:lnTo>
                      </a:path>
                    </a:pathLst>
                  </a:custGeom>
                  <a:solidFill>
                    <a:srgbClr val="FFD072"/>
                  </a:solidFill>
                  <a:ln w="12600">
                    <a:solidFill>
                      <a:srgbClr val="000000"/>
                    </a:solidFill>
                    <a:round/>
                    <a:headEnd/>
                    <a:tailEnd/>
                  </a:ln>
                </p:spPr>
                <p:txBody>
                  <a:bodyPr wrap="none" anchor="ctr"/>
                  <a:lstStyle/>
                  <a:p>
                    <a:endParaRPr lang="en-IN"/>
                  </a:p>
                </p:txBody>
              </p:sp>
              <p:sp>
                <p:nvSpPr>
                  <p:cNvPr id="10377" name="Freeform 137"/>
                  <p:cNvSpPr>
                    <a:spLocks noChangeArrowheads="1"/>
                  </p:cNvSpPr>
                  <p:nvPr/>
                </p:nvSpPr>
                <p:spPr bwMode="auto">
                  <a:xfrm>
                    <a:off x="3007" y="2377"/>
                    <a:ext cx="20" cy="78"/>
                  </a:xfrm>
                  <a:custGeom>
                    <a:avLst/>
                    <a:gdLst>
                      <a:gd name="T0" fmla="*/ 0 w 87"/>
                      <a:gd name="T1" fmla="*/ 343 h 344"/>
                      <a:gd name="T2" fmla="*/ 0 w 87"/>
                      <a:gd name="T3" fmla="*/ 84 h 344"/>
                      <a:gd name="T4" fmla="*/ 86 w 87"/>
                      <a:gd name="T5" fmla="*/ 0 h 344"/>
                      <a:gd name="T6" fmla="*/ 86 w 87"/>
                      <a:gd name="T7" fmla="*/ 257 h 344"/>
                      <a:gd name="T8" fmla="*/ 0 w 87"/>
                      <a:gd name="T9" fmla="*/ 343 h 344"/>
                    </a:gdLst>
                    <a:ahLst/>
                    <a:cxnLst>
                      <a:cxn ang="0">
                        <a:pos x="T0" y="T1"/>
                      </a:cxn>
                      <a:cxn ang="0">
                        <a:pos x="T2" y="T3"/>
                      </a:cxn>
                      <a:cxn ang="0">
                        <a:pos x="T4" y="T5"/>
                      </a:cxn>
                      <a:cxn ang="0">
                        <a:pos x="T6" y="T7"/>
                      </a:cxn>
                      <a:cxn ang="0">
                        <a:pos x="T8" y="T9"/>
                      </a:cxn>
                    </a:cxnLst>
                    <a:rect l="0" t="0" r="r" b="b"/>
                    <a:pathLst>
                      <a:path w="87" h="344">
                        <a:moveTo>
                          <a:pt x="0" y="343"/>
                        </a:moveTo>
                        <a:lnTo>
                          <a:pt x="0" y="84"/>
                        </a:lnTo>
                        <a:lnTo>
                          <a:pt x="86" y="0"/>
                        </a:lnTo>
                        <a:lnTo>
                          <a:pt x="86" y="257"/>
                        </a:lnTo>
                        <a:lnTo>
                          <a:pt x="0" y="343"/>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0378" name="Freeform 138"/>
              <p:cNvSpPr>
                <a:spLocks noChangeArrowheads="1"/>
              </p:cNvSpPr>
              <p:nvPr/>
            </p:nvSpPr>
            <p:spPr bwMode="auto">
              <a:xfrm>
                <a:off x="2783" y="2481"/>
                <a:ext cx="158" cy="27"/>
              </a:xfrm>
              <a:custGeom>
                <a:avLst/>
                <a:gdLst>
                  <a:gd name="T0" fmla="*/ 174 w 697"/>
                  <a:gd name="T1" fmla="*/ 0 h 120"/>
                  <a:gd name="T2" fmla="*/ 696 w 697"/>
                  <a:gd name="T3" fmla="*/ 0 h 120"/>
                  <a:gd name="T4" fmla="*/ 522 w 697"/>
                  <a:gd name="T5" fmla="*/ 119 h 120"/>
                  <a:gd name="T6" fmla="*/ 0 w 697"/>
                  <a:gd name="T7" fmla="*/ 119 h 120"/>
                  <a:gd name="T8" fmla="*/ 174 w 697"/>
                  <a:gd name="T9" fmla="*/ 0 h 120"/>
                </a:gdLst>
                <a:ahLst/>
                <a:cxnLst>
                  <a:cxn ang="0">
                    <a:pos x="T0" y="T1"/>
                  </a:cxn>
                  <a:cxn ang="0">
                    <a:pos x="T2" y="T3"/>
                  </a:cxn>
                  <a:cxn ang="0">
                    <a:pos x="T4" y="T5"/>
                  </a:cxn>
                  <a:cxn ang="0">
                    <a:pos x="T6" y="T7"/>
                  </a:cxn>
                  <a:cxn ang="0">
                    <a:pos x="T8" y="T9"/>
                  </a:cxn>
                </a:cxnLst>
                <a:rect l="0" t="0" r="r" b="b"/>
                <a:pathLst>
                  <a:path w="697" h="120">
                    <a:moveTo>
                      <a:pt x="174" y="0"/>
                    </a:moveTo>
                    <a:lnTo>
                      <a:pt x="696" y="0"/>
                    </a:lnTo>
                    <a:lnTo>
                      <a:pt x="522" y="119"/>
                    </a:lnTo>
                    <a:lnTo>
                      <a:pt x="0" y="119"/>
                    </a:lnTo>
                    <a:lnTo>
                      <a:pt x="174"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0379" name="Group 139"/>
            <p:cNvGrpSpPr>
              <a:grpSpLocks/>
            </p:cNvGrpSpPr>
            <p:nvPr/>
          </p:nvGrpSpPr>
          <p:grpSpPr bwMode="auto">
            <a:xfrm>
              <a:off x="3022" y="2377"/>
              <a:ext cx="377" cy="447"/>
              <a:chOff x="3022" y="2377"/>
              <a:chExt cx="377" cy="447"/>
            </a:xfrm>
          </p:grpSpPr>
          <p:grpSp>
            <p:nvGrpSpPr>
              <p:cNvPr id="10380" name="Group 140"/>
              <p:cNvGrpSpPr>
                <a:grpSpLocks/>
              </p:cNvGrpSpPr>
              <p:nvPr/>
            </p:nvGrpSpPr>
            <p:grpSpPr bwMode="auto">
              <a:xfrm>
                <a:off x="3022" y="2377"/>
                <a:ext cx="377" cy="447"/>
                <a:chOff x="3022" y="2377"/>
                <a:chExt cx="377" cy="447"/>
              </a:xfrm>
            </p:grpSpPr>
            <p:grpSp>
              <p:nvGrpSpPr>
                <p:cNvPr id="10381" name="Group 141"/>
                <p:cNvGrpSpPr>
                  <a:grpSpLocks/>
                </p:cNvGrpSpPr>
                <p:nvPr/>
              </p:nvGrpSpPr>
              <p:grpSpPr bwMode="auto">
                <a:xfrm>
                  <a:off x="3022" y="2448"/>
                  <a:ext cx="377" cy="376"/>
                  <a:chOff x="3022" y="2448"/>
                  <a:chExt cx="377" cy="376"/>
                </a:xfrm>
              </p:grpSpPr>
              <p:sp>
                <p:nvSpPr>
                  <p:cNvPr id="10382" name="Freeform 142"/>
                  <p:cNvSpPr>
                    <a:spLocks noChangeArrowheads="1"/>
                  </p:cNvSpPr>
                  <p:nvPr/>
                </p:nvSpPr>
                <p:spPr bwMode="auto">
                  <a:xfrm>
                    <a:off x="3022" y="2448"/>
                    <a:ext cx="378" cy="377"/>
                  </a:xfrm>
                  <a:custGeom>
                    <a:avLst/>
                    <a:gdLst>
                      <a:gd name="T0" fmla="*/ 0 w 1668"/>
                      <a:gd name="T1" fmla="*/ 1662 h 1663"/>
                      <a:gd name="T2" fmla="*/ 0 w 1668"/>
                      <a:gd name="T3" fmla="*/ 415 h 1663"/>
                      <a:gd name="T4" fmla="*/ 414 w 1668"/>
                      <a:gd name="T5" fmla="*/ 0 h 1663"/>
                      <a:gd name="T6" fmla="*/ 1667 w 1668"/>
                      <a:gd name="T7" fmla="*/ 0 h 1663"/>
                      <a:gd name="T8" fmla="*/ 1667 w 1668"/>
                      <a:gd name="T9" fmla="*/ 1247 h 1663"/>
                      <a:gd name="T10" fmla="*/ 1251 w 1668"/>
                      <a:gd name="T11" fmla="*/ 1662 h 1663"/>
                      <a:gd name="T12" fmla="*/ 0 w 1668"/>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IN"/>
                  </a:p>
                </p:txBody>
              </p:sp>
              <p:sp>
                <p:nvSpPr>
                  <p:cNvPr id="10383" name="Freeform 143"/>
                  <p:cNvSpPr>
                    <a:spLocks noChangeArrowheads="1"/>
                  </p:cNvSpPr>
                  <p:nvPr/>
                </p:nvSpPr>
                <p:spPr bwMode="auto">
                  <a:xfrm>
                    <a:off x="3022" y="2448"/>
                    <a:ext cx="378" cy="94"/>
                  </a:xfrm>
                  <a:custGeom>
                    <a:avLst/>
                    <a:gdLst>
                      <a:gd name="T0" fmla="*/ 0 w 1668"/>
                      <a:gd name="T1" fmla="*/ 415 h 416"/>
                      <a:gd name="T2" fmla="*/ 414 w 1668"/>
                      <a:gd name="T3" fmla="*/ 0 h 416"/>
                      <a:gd name="T4" fmla="*/ 1667 w 1668"/>
                      <a:gd name="T5" fmla="*/ 0 h 416"/>
                      <a:gd name="T6" fmla="*/ 1251 w 1668"/>
                      <a:gd name="T7" fmla="*/ 415 h 416"/>
                      <a:gd name="T8" fmla="*/ 0 w 1668"/>
                      <a:gd name="T9" fmla="*/ 415 h 416"/>
                    </a:gdLst>
                    <a:ahLst/>
                    <a:cxnLst>
                      <a:cxn ang="0">
                        <a:pos x="T0" y="T1"/>
                      </a:cxn>
                      <a:cxn ang="0">
                        <a:pos x="T2" y="T3"/>
                      </a:cxn>
                      <a:cxn ang="0">
                        <a:pos x="T4" y="T5"/>
                      </a:cxn>
                      <a:cxn ang="0">
                        <a:pos x="T6" y="T7"/>
                      </a:cxn>
                      <a:cxn ang="0">
                        <a:pos x="T8" y="T9"/>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IN"/>
                  </a:p>
                </p:txBody>
              </p:sp>
              <p:sp>
                <p:nvSpPr>
                  <p:cNvPr id="10384" name="Freeform 144"/>
                  <p:cNvSpPr>
                    <a:spLocks noChangeArrowheads="1"/>
                  </p:cNvSpPr>
                  <p:nvPr/>
                </p:nvSpPr>
                <p:spPr bwMode="auto">
                  <a:xfrm>
                    <a:off x="3306" y="2448"/>
                    <a:ext cx="95" cy="377"/>
                  </a:xfrm>
                  <a:custGeom>
                    <a:avLst/>
                    <a:gdLst>
                      <a:gd name="T0" fmla="*/ 0 w 417"/>
                      <a:gd name="T1" fmla="*/ 1662 h 1663"/>
                      <a:gd name="T2" fmla="*/ 0 w 417"/>
                      <a:gd name="T3" fmla="*/ 415 h 1663"/>
                      <a:gd name="T4" fmla="*/ 416 w 417"/>
                      <a:gd name="T5" fmla="*/ 0 h 1663"/>
                      <a:gd name="T6" fmla="*/ 416 w 417"/>
                      <a:gd name="T7" fmla="*/ 1247 h 1663"/>
                      <a:gd name="T8" fmla="*/ 0 w 417"/>
                      <a:gd name="T9" fmla="*/ 1662 h 1663"/>
                    </a:gdLst>
                    <a:ahLst/>
                    <a:cxnLst>
                      <a:cxn ang="0">
                        <a:pos x="T0" y="T1"/>
                      </a:cxn>
                      <a:cxn ang="0">
                        <a:pos x="T2" y="T3"/>
                      </a:cxn>
                      <a:cxn ang="0">
                        <a:pos x="T4" y="T5"/>
                      </a:cxn>
                      <a:cxn ang="0">
                        <a:pos x="T6" y="T7"/>
                      </a:cxn>
                      <a:cxn ang="0">
                        <a:pos x="T8" y="T9"/>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IN"/>
                  </a:p>
                </p:txBody>
              </p:sp>
            </p:grpSp>
            <p:grpSp>
              <p:nvGrpSpPr>
                <p:cNvPr id="10385" name="Group 145"/>
                <p:cNvGrpSpPr>
                  <a:grpSpLocks/>
                </p:cNvGrpSpPr>
                <p:nvPr/>
              </p:nvGrpSpPr>
              <p:grpSpPr bwMode="auto">
                <a:xfrm>
                  <a:off x="3108" y="2377"/>
                  <a:ext cx="291" cy="77"/>
                  <a:chOff x="3108" y="2377"/>
                  <a:chExt cx="291" cy="77"/>
                </a:xfrm>
              </p:grpSpPr>
              <p:sp>
                <p:nvSpPr>
                  <p:cNvPr id="10386" name="Freeform 146"/>
                  <p:cNvSpPr>
                    <a:spLocks noChangeArrowheads="1"/>
                  </p:cNvSpPr>
                  <p:nvPr/>
                </p:nvSpPr>
                <p:spPr bwMode="auto">
                  <a:xfrm>
                    <a:off x="3108" y="2377"/>
                    <a:ext cx="292" cy="78"/>
                  </a:xfrm>
                  <a:custGeom>
                    <a:avLst/>
                    <a:gdLst>
                      <a:gd name="T0" fmla="*/ 0 w 1288"/>
                      <a:gd name="T1" fmla="*/ 343 h 344"/>
                      <a:gd name="T2" fmla="*/ 0 w 1288"/>
                      <a:gd name="T3" fmla="*/ 84 h 344"/>
                      <a:gd name="T4" fmla="*/ 84 w 1288"/>
                      <a:gd name="T5" fmla="*/ 0 h 344"/>
                      <a:gd name="T6" fmla="*/ 1287 w 1288"/>
                      <a:gd name="T7" fmla="*/ 0 h 344"/>
                      <a:gd name="T8" fmla="*/ 1287 w 1288"/>
                      <a:gd name="T9" fmla="*/ 257 h 344"/>
                      <a:gd name="T10" fmla="*/ 1201 w 1288"/>
                      <a:gd name="T11" fmla="*/ 343 h 344"/>
                      <a:gd name="T12" fmla="*/ 0 w 1288"/>
                      <a:gd name="T13" fmla="*/ 343 h 344"/>
                    </a:gdLst>
                    <a:ahLst/>
                    <a:cxnLst>
                      <a:cxn ang="0">
                        <a:pos x="T0" y="T1"/>
                      </a:cxn>
                      <a:cxn ang="0">
                        <a:pos x="T2" y="T3"/>
                      </a:cxn>
                      <a:cxn ang="0">
                        <a:pos x="T4" y="T5"/>
                      </a:cxn>
                      <a:cxn ang="0">
                        <a:pos x="T6" y="T7"/>
                      </a:cxn>
                      <a:cxn ang="0">
                        <a:pos x="T8" y="T9"/>
                      </a:cxn>
                      <a:cxn ang="0">
                        <a:pos x="T10" y="T11"/>
                      </a:cxn>
                      <a:cxn ang="0">
                        <a:pos x="T12" y="T13"/>
                      </a:cxn>
                    </a:cxnLst>
                    <a:rect l="0" t="0" r="r" b="b"/>
                    <a:pathLst>
                      <a:path w="1288" h="344">
                        <a:moveTo>
                          <a:pt x="0" y="343"/>
                        </a:moveTo>
                        <a:lnTo>
                          <a:pt x="0" y="84"/>
                        </a:lnTo>
                        <a:lnTo>
                          <a:pt x="84" y="0"/>
                        </a:lnTo>
                        <a:lnTo>
                          <a:pt x="1287" y="0"/>
                        </a:lnTo>
                        <a:lnTo>
                          <a:pt x="1287" y="257"/>
                        </a:lnTo>
                        <a:lnTo>
                          <a:pt x="1201" y="343"/>
                        </a:lnTo>
                        <a:lnTo>
                          <a:pt x="0" y="343"/>
                        </a:lnTo>
                      </a:path>
                    </a:pathLst>
                  </a:custGeom>
                  <a:solidFill>
                    <a:srgbClr val="A2C1FE"/>
                  </a:solidFill>
                  <a:ln w="12600">
                    <a:solidFill>
                      <a:srgbClr val="000000"/>
                    </a:solidFill>
                    <a:round/>
                    <a:headEnd/>
                    <a:tailEnd/>
                  </a:ln>
                </p:spPr>
                <p:txBody>
                  <a:bodyPr wrap="none" anchor="ctr"/>
                  <a:lstStyle/>
                  <a:p>
                    <a:endParaRPr lang="en-IN"/>
                  </a:p>
                </p:txBody>
              </p:sp>
              <p:sp>
                <p:nvSpPr>
                  <p:cNvPr id="10387" name="Freeform 147"/>
                  <p:cNvSpPr>
                    <a:spLocks noChangeArrowheads="1"/>
                  </p:cNvSpPr>
                  <p:nvPr/>
                </p:nvSpPr>
                <p:spPr bwMode="auto">
                  <a:xfrm>
                    <a:off x="3108" y="2377"/>
                    <a:ext cx="292" cy="19"/>
                  </a:xfrm>
                  <a:custGeom>
                    <a:avLst/>
                    <a:gdLst>
                      <a:gd name="T0" fmla="*/ 0 w 1288"/>
                      <a:gd name="T1" fmla="*/ 84 h 85"/>
                      <a:gd name="T2" fmla="*/ 84 w 1288"/>
                      <a:gd name="T3" fmla="*/ 0 h 85"/>
                      <a:gd name="T4" fmla="*/ 1287 w 1288"/>
                      <a:gd name="T5" fmla="*/ 0 h 85"/>
                      <a:gd name="T6" fmla="*/ 1201 w 1288"/>
                      <a:gd name="T7" fmla="*/ 84 h 85"/>
                      <a:gd name="T8" fmla="*/ 0 w 1288"/>
                      <a:gd name="T9" fmla="*/ 84 h 85"/>
                    </a:gdLst>
                    <a:ahLst/>
                    <a:cxnLst>
                      <a:cxn ang="0">
                        <a:pos x="T0" y="T1"/>
                      </a:cxn>
                      <a:cxn ang="0">
                        <a:pos x="T2" y="T3"/>
                      </a:cxn>
                      <a:cxn ang="0">
                        <a:pos x="T4" y="T5"/>
                      </a:cxn>
                      <a:cxn ang="0">
                        <a:pos x="T6" y="T7"/>
                      </a:cxn>
                      <a:cxn ang="0">
                        <a:pos x="T8" y="T9"/>
                      </a:cxn>
                    </a:cxnLst>
                    <a:rect l="0" t="0" r="r" b="b"/>
                    <a:pathLst>
                      <a:path w="1288" h="85">
                        <a:moveTo>
                          <a:pt x="0" y="84"/>
                        </a:moveTo>
                        <a:lnTo>
                          <a:pt x="84" y="0"/>
                        </a:lnTo>
                        <a:lnTo>
                          <a:pt x="1287" y="0"/>
                        </a:lnTo>
                        <a:lnTo>
                          <a:pt x="1201" y="84"/>
                        </a:lnTo>
                        <a:lnTo>
                          <a:pt x="0" y="84"/>
                        </a:lnTo>
                      </a:path>
                    </a:pathLst>
                  </a:custGeom>
                  <a:solidFill>
                    <a:srgbClr val="B1D3FF"/>
                  </a:solidFill>
                  <a:ln w="12600">
                    <a:solidFill>
                      <a:srgbClr val="000000"/>
                    </a:solidFill>
                    <a:round/>
                    <a:headEnd/>
                    <a:tailEnd/>
                  </a:ln>
                </p:spPr>
                <p:txBody>
                  <a:bodyPr wrap="none" anchor="ctr"/>
                  <a:lstStyle/>
                  <a:p>
                    <a:endParaRPr lang="en-IN"/>
                  </a:p>
                </p:txBody>
              </p:sp>
              <p:sp>
                <p:nvSpPr>
                  <p:cNvPr id="10388" name="Freeform 148"/>
                  <p:cNvSpPr>
                    <a:spLocks noChangeArrowheads="1"/>
                  </p:cNvSpPr>
                  <p:nvPr/>
                </p:nvSpPr>
                <p:spPr bwMode="auto">
                  <a:xfrm>
                    <a:off x="3380" y="2377"/>
                    <a:ext cx="20" cy="78"/>
                  </a:xfrm>
                  <a:custGeom>
                    <a:avLst/>
                    <a:gdLst>
                      <a:gd name="T0" fmla="*/ 0 w 87"/>
                      <a:gd name="T1" fmla="*/ 343 h 344"/>
                      <a:gd name="T2" fmla="*/ 0 w 87"/>
                      <a:gd name="T3" fmla="*/ 84 h 344"/>
                      <a:gd name="T4" fmla="*/ 86 w 87"/>
                      <a:gd name="T5" fmla="*/ 0 h 344"/>
                      <a:gd name="T6" fmla="*/ 86 w 87"/>
                      <a:gd name="T7" fmla="*/ 257 h 344"/>
                      <a:gd name="T8" fmla="*/ 0 w 87"/>
                      <a:gd name="T9" fmla="*/ 343 h 344"/>
                    </a:gdLst>
                    <a:ahLst/>
                    <a:cxnLst>
                      <a:cxn ang="0">
                        <a:pos x="T0" y="T1"/>
                      </a:cxn>
                      <a:cxn ang="0">
                        <a:pos x="T2" y="T3"/>
                      </a:cxn>
                      <a:cxn ang="0">
                        <a:pos x="T4" y="T5"/>
                      </a:cxn>
                      <a:cxn ang="0">
                        <a:pos x="T6" y="T7"/>
                      </a:cxn>
                      <a:cxn ang="0">
                        <a:pos x="T8" y="T9"/>
                      </a:cxn>
                    </a:cxnLst>
                    <a:rect l="0" t="0" r="r" b="b"/>
                    <a:pathLst>
                      <a:path w="87" h="344">
                        <a:moveTo>
                          <a:pt x="0" y="343"/>
                        </a:moveTo>
                        <a:lnTo>
                          <a:pt x="0" y="84"/>
                        </a:lnTo>
                        <a:lnTo>
                          <a:pt x="86" y="0"/>
                        </a:lnTo>
                        <a:lnTo>
                          <a:pt x="86" y="257"/>
                        </a:lnTo>
                        <a:lnTo>
                          <a:pt x="0" y="343"/>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0389" name="Oval 149"/>
              <p:cNvSpPr>
                <a:spLocks noChangeArrowheads="1"/>
              </p:cNvSpPr>
              <p:nvPr/>
            </p:nvSpPr>
            <p:spPr bwMode="auto">
              <a:xfrm>
                <a:off x="3137" y="2413"/>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0390" name="Freeform 150"/>
              <p:cNvSpPr>
                <a:spLocks noChangeArrowheads="1"/>
              </p:cNvSpPr>
              <p:nvPr/>
            </p:nvSpPr>
            <p:spPr bwMode="auto">
              <a:xfrm>
                <a:off x="3069" y="2623"/>
                <a:ext cx="198" cy="84"/>
              </a:xfrm>
              <a:custGeom>
                <a:avLst/>
                <a:gdLst>
                  <a:gd name="T0" fmla="*/ 107 w 874"/>
                  <a:gd name="T1" fmla="*/ 0 h 372"/>
                  <a:gd name="T2" fmla="*/ 764 w 874"/>
                  <a:gd name="T3" fmla="*/ 0 h 372"/>
                  <a:gd name="T4" fmla="*/ 873 w 874"/>
                  <a:gd name="T5" fmla="*/ 107 h 372"/>
                  <a:gd name="T6" fmla="*/ 873 w 874"/>
                  <a:gd name="T7" fmla="*/ 262 h 372"/>
                  <a:gd name="T8" fmla="*/ 764 w 874"/>
                  <a:gd name="T9" fmla="*/ 371 h 372"/>
                  <a:gd name="T10" fmla="*/ 107 w 874"/>
                  <a:gd name="T11" fmla="*/ 371 h 372"/>
                  <a:gd name="T12" fmla="*/ 0 w 874"/>
                  <a:gd name="T13" fmla="*/ 262 h 372"/>
                  <a:gd name="T14" fmla="*/ 0 w 874"/>
                  <a:gd name="T15" fmla="*/ 107 h 372"/>
                  <a:gd name="T16" fmla="*/ 107 w 874"/>
                  <a:gd name="T17"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2">
                    <a:moveTo>
                      <a:pt x="107" y="0"/>
                    </a:moveTo>
                    <a:lnTo>
                      <a:pt x="764" y="0"/>
                    </a:lnTo>
                    <a:lnTo>
                      <a:pt x="873" y="107"/>
                    </a:lnTo>
                    <a:lnTo>
                      <a:pt x="873" y="262"/>
                    </a:lnTo>
                    <a:lnTo>
                      <a:pt x="764" y="371"/>
                    </a:lnTo>
                    <a:lnTo>
                      <a:pt x="107" y="371"/>
                    </a:lnTo>
                    <a:lnTo>
                      <a:pt x="0" y="262"/>
                    </a:lnTo>
                    <a:lnTo>
                      <a:pt x="0" y="107"/>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0391" name="Freeform 151"/>
            <p:cNvSpPr>
              <a:spLocks noChangeArrowheads="1"/>
            </p:cNvSpPr>
            <p:nvPr/>
          </p:nvSpPr>
          <p:spPr bwMode="auto">
            <a:xfrm>
              <a:off x="3586" y="2606"/>
              <a:ext cx="85" cy="191"/>
            </a:xfrm>
            <a:custGeom>
              <a:avLst/>
              <a:gdLst>
                <a:gd name="T0" fmla="*/ 273 w 376"/>
                <a:gd name="T1" fmla="*/ 0 h 844"/>
                <a:gd name="T2" fmla="*/ 375 w 376"/>
                <a:gd name="T3" fmla="*/ 0 h 844"/>
                <a:gd name="T4" fmla="*/ 101 w 376"/>
                <a:gd name="T5" fmla="*/ 843 h 844"/>
                <a:gd name="T6" fmla="*/ 0 w 376"/>
                <a:gd name="T7" fmla="*/ 843 h 844"/>
                <a:gd name="T8" fmla="*/ 273 w 376"/>
                <a:gd name="T9" fmla="*/ 0 h 844"/>
              </a:gdLst>
              <a:ahLst/>
              <a:cxnLst>
                <a:cxn ang="0">
                  <a:pos x="T0" y="T1"/>
                </a:cxn>
                <a:cxn ang="0">
                  <a:pos x="T2" y="T3"/>
                </a:cxn>
                <a:cxn ang="0">
                  <a:pos x="T4" y="T5"/>
                </a:cxn>
                <a:cxn ang="0">
                  <a:pos x="T6" y="T7"/>
                </a:cxn>
                <a:cxn ang="0">
                  <a:pos x="T8" y="T9"/>
                </a:cxn>
              </a:cxnLst>
              <a:rect l="0" t="0" r="r" b="b"/>
              <a:pathLst>
                <a:path w="376" h="844">
                  <a:moveTo>
                    <a:pt x="273" y="0"/>
                  </a:moveTo>
                  <a:lnTo>
                    <a:pt x="375" y="0"/>
                  </a:lnTo>
                  <a:lnTo>
                    <a:pt x="101" y="843"/>
                  </a:lnTo>
                  <a:lnTo>
                    <a:pt x="0" y="843"/>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392" name="AutoShape 152"/>
            <p:cNvSpPr>
              <a:spLocks noChangeArrowheads="1"/>
            </p:cNvSpPr>
            <p:nvPr/>
          </p:nvSpPr>
          <p:spPr bwMode="auto">
            <a:xfrm>
              <a:off x="3582" y="2606"/>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393" name="AutoShape 153"/>
            <p:cNvSpPr>
              <a:spLocks noChangeArrowheads="1"/>
            </p:cNvSpPr>
            <p:nvPr/>
          </p:nvSpPr>
          <p:spPr bwMode="auto">
            <a:xfrm>
              <a:off x="3589" y="2687"/>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394" name="AutoShape 154"/>
            <p:cNvSpPr>
              <a:spLocks noChangeArrowheads="1"/>
            </p:cNvSpPr>
            <p:nvPr/>
          </p:nvSpPr>
          <p:spPr bwMode="auto">
            <a:xfrm>
              <a:off x="3406" y="2687"/>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0395" name="Group 155"/>
            <p:cNvGrpSpPr>
              <a:grpSpLocks/>
            </p:cNvGrpSpPr>
            <p:nvPr/>
          </p:nvGrpSpPr>
          <p:grpSpPr bwMode="auto">
            <a:xfrm>
              <a:off x="3404" y="2434"/>
              <a:ext cx="193" cy="363"/>
              <a:chOff x="3404" y="2434"/>
              <a:chExt cx="193" cy="363"/>
            </a:xfrm>
          </p:grpSpPr>
          <p:sp>
            <p:nvSpPr>
              <p:cNvPr id="10396" name="Oval 156"/>
              <p:cNvSpPr>
                <a:spLocks noChangeArrowheads="1"/>
              </p:cNvSpPr>
              <p:nvPr/>
            </p:nvSpPr>
            <p:spPr bwMode="auto">
              <a:xfrm>
                <a:off x="3480" y="2434"/>
                <a:ext cx="49"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0397" name="Freeform 157"/>
              <p:cNvSpPr>
                <a:spLocks noChangeArrowheads="1"/>
              </p:cNvSpPr>
              <p:nvPr/>
            </p:nvSpPr>
            <p:spPr bwMode="auto">
              <a:xfrm>
                <a:off x="3404" y="2502"/>
                <a:ext cx="194" cy="296"/>
              </a:xfrm>
              <a:custGeom>
                <a:avLst/>
                <a:gdLst>
                  <a:gd name="T0" fmla="*/ 8 w 856"/>
                  <a:gd name="T1" fmla="*/ 605 h 1305"/>
                  <a:gd name="T2" fmla="*/ 4 w 856"/>
                  <a:gd name="T3" fmla="*/ 618 h 1305"/>
                  <a:gd name="T4" fmla="*/ 0 w 856"/>
                  <a:gd name="T5" fmla="*/ 640 h 1305"/>
                  <a:gd name="T6" fmla="*/ 0 w 856"/>
                  <a:gd name="T7" fmla="*/ 662 h 1305"/>
                  <a:gd name="T8" fmla="*/ 8 w 856"/>
                  <a:gd name="T9" fmla="*/ 684 h 1305"/>
                  <a:gd name="T10" fmla="*/ 17 w 856"/>
                  <a:gd name="T11" fmla="*/ 703 h 1305"/>
                  <a:gd name="T12" fmla="*/ 35 w 856"/>
                  <a:gd name="T13" fmla="*/ 721 h 1305"/>
                  <a:gd name="T14" fmla="*/ 52 w 856"/>
                  <a:gd name="T15" fmla="*/ 730 h 1305"/>
                  <a:gd name="T16" fmla="*/ 70 w 856"/>
                  <a:gd name="T17" fmla="*/ 734 h 1305"/>
                  <a:gd name="T18" fmla="*/ 92 w 856"/>
                  <a:gd name="T19" fmla="*/ 734 h 1305"/>
                  <a:gd name="T20" fmla="*/ 558 w 856"/>
                  <a:gd name="T21" fmla="*/ 1304 h 1305"/>
                  <a:gd name="T22" fmla="*/ 704 w 856"/>
                  <a:gd name="T23" fmla="*/ 627 h 1305"/>
                  <a:gd name="T24" fmla="*/ 704 w 856"/>
                  <a:gd name="T25" fmla="*/ 609 h 1305"/>
                  <a:gd name="T26" fmla="*/ 695 w 856"/>
                  <a:gd name="T27" fmla="*/ 601 h 1305"/>
                  <a:gd name="T28" fmla="*/ 682 w 856"/>
                  <a:gd name="T29" fmla="*/ 587 h 1305"/>
                  <a:gd name="T30" fmla="*/ 673 w 856"/>
                  <a:gd name="T31" fmla="*/ 578 h 1305"/>
                  <a:gd name="T32" fmla="*/ 656 w 856"/>
                  <a:gd name="T33" fmla="*/ 574 h 1305"/>
                  <a:gd name="T34" fmla="*/ 638 w 856"/>
                  <a:gd name="T35" fmla="*/ 570 h 1305"/>
                  <a:gd name="T36" fmla="*/ 620 w 856"/>
                  <a:gd name="T37" fmla="*/ 570 h 1305"/>
                  <a:gd name="T38" fmla="*/ 607 w 856"/>
                  <a:gd name="T39" fmla="*/ 570 h 1305"/>
                  <a:gd name="T40" fmla="*/ 412 w 856"/>
                  <a:gd name="T41" fmla="*/ 331 h 1305"/>
                  <a:gd name="T42" fmla="*/ 793 w 856"/>
                  <a:gd name="T43" fmla="*/ 411 h 1305"/>
                  <a:gd name="T44" fmla="*/ 811 w 856"/>
                  <a:gd name="T45" fmla="*/ 406 h 1305"/>
                  <a:gd name="T46" fmla="*/ 820 w 856"/>
                  <a:gd name="T47" fmla="*/ 402 h 1305"/>
                  <a:gd name="T48" fmla="*/ 837 w 856"/>
                  <a:gd name="T49" fmla="*/ 393 h 1305"/>
                  <a:gd name="T50" fmla="*/ 846 w 856"/>
                  <a:gd name="T51" fmla="*/ 380 h 1305"/>
                  <a:gd name="T52" fmla="*/ 851 w 856"/>
                  <a:gd name="T53" fmla="*/ 367 h 1305"/>
                  <a:gd name="T54" fmla="*/ 855 w 856"/>
                  <a:gd name="T55" fmla="*/ 345 h 1305"/>
                  <a:gd name="T56" fmla="*/ 851 w 856"/>
                  <a:gd name="T57" fmla="*/ 327 h 1305"/>
                  <a:gd name="T58" fmla="*/ 842 w 856"/>
                  <a:gd name="T59" fmla="*/ 309 h 1305"/>
                  <a:gd name="T60" fmla="*/ 833 w 856"/>
                  <a:gd name="T61" fmla="*/ 300 h 1305"/>
                  <a:gd name="T62" fmla="*/ 815 w 856"/>
                  <a:gd name="T63" fmla="*/ 286 h 1305"/>
                  <a:gd name="T64" fmla="*/ 802 w 856"/>
                  <a:gd name="T65" fmla="*/ 282 h 1305"/>
                  <a:gd name="T66" fmla="*/ 541 w 856"/>
                  <a:gd name="T67" fmla="*/ 282 h 1305"/>
                  <a:gd name="T68" fmla="*/ 496 w 856"/>
                  <a:gd name="T69" fmla="*/ 185 h 1305"/>
                  <a:gd name="T70" fmla="*/ 500 w 856"/>
                  <a:gd name="T71" fmla="*/ 163 h 1305"/>
                  <a:gd name="T72" fmla="*/ 505 w 856"/>
                  <a:gd name="T73" fmla="*/ 132 h 1305"/>
                  <a:gd name="T74" fmla="*/ 505 w 856"/>
                  <a:gd name="T75" fmla="*/ 105 h 1305"/>
                  <a:gd name="T76" fmla="*/ 496 w 856"/>
                  <a:gd name="T77" fmla="*/ 83 h 1305"/>
                  <a:gd name="T78" fmla="*/ 487 w 856"/>
                  <a:gd name="T79" fmla="*/ 66 h 1305"/>
                  <a:gd name="T80" fmla="*/ 474 w 856"/>
                  <a:gd name="T81" fmla="*/ 44 h 1305"/>
                  <a:gd name="T82" fmla="*/ 456 w 856"/>
                  <a:gd name="T83" fmla="*/ 30 h 1305"/>
                  <a:gd name="T84" fmla="*/ 434 w 856"/>
                  <a:gd name="T85" fmla="*/ 13 h 1305"/>
                  <a:gd name="T86" fmla="*/ 412 w 856"/>
                  <a:gd name="T87" fmla="*/ 4 h 1305"/>
                  <a:gd name="T88" fmla="*/ 385 w 856"/>
                  <a:gd name="T89" fmla="*/ 0 h 1305"/>
                  <a:gd name="T90" fmla="*/ 359 w 856"/>
                  <a:gd name="T91" fmla="*/ 0 h 1305"/>
                  <a:gd name="T92" fmla="*/ 332 w 856"/>
                  <a:gd name="T93" fmla="*/ 4 h 1305"/>
                  <a:gd name="T94" fmla="*/ 305 w 856"/>
                  <a:gd name="T95" fmla="*/ 13 h 1305"/>
                  <a:gd name="T96" fmla="*/ 278 w 856"/>
                  <a:gd name="T97" fmla="*/ 26 h 1305"/>
                  <a:gd name="T98" fmla="*/ 261 w 856"/>
                  <a:gd name="T99" fmla="*/ 48 h 1305"/>
                  <a:gd name="T100" fmla="*/ 243 w 856"/>
                  <a:gd name="T101" fmla="*/ 75 h 1305"/>
                  <a:gd name="T102" fmla="*/ 234 w 856"/>
                  <a:gd name="T103" fmla="*/ 101 h 1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6" h="1305">
                    <a:moveTo>
                      <a:pt x="234"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2" y="730"/>
                    </a:lnTo>
                    <a:lnTo>
                      <a:pt x="61" y="730"/>
                    </a:lnTo>
                    <a:lnTo>
                      <a:pt x="70" y="734"/>
                    </a:lnTo>
                    <a:lnTo>
                      <a:pt x="79" y="734"/>
                    </a:lnTo>
                    <a:lnTo>
                      <a:pt x="92" y="734"/>
                    </a:lnTo>
                    <a:lnTo>
                      <a:pt x="558" y="734"/>
                    </a:lnTo>
                    <a:lnTo>
                      <a:pt x="558" y="1304"/>
                    </a:lnTo>
                    <a:lnTo>
                      <a:pt x="704" y="1304"/>
                    </a:lnTo>
                    <a:lnTo>
                      <a:pt x="704" y="627"/>
                    </a:lnTo>
                    <a:lnTo>
                      <a:pt x="704" y="618"/>
                    </a:lnTo>
                    <a:lnTo>
                      <a:pt x="704" y="609"/>
                    </a:lnTo>
                    <a:lnTo>
                      <a:pt x="700" y="605"/>
                    </a:lnTo>
                    <a:lnTo>
                      <a:pt x="695" y="601"/>
                    </a:lnTo>
                    <a:lnTo>
                      <a:pt x="691" y="596"/>
                    </a:lnTo>
                    <a:lnTo>
                      <a:pt x="682" y="587"/>
                    </a:lnTo>
                    <a:lnTo>
                      <a:pt x="678" y="583"/>
                    </a:lnTo>
                    <a:lnTo>
                      <a:pt x="673" y="578"/>
                    </a:lnTo>
                    <a:lnTo>
                      <a:pt x="664" y="578"/>
                    </a:lnTo>
                    <a:lnTo>
                      <a:pt x="656" y="574"/>
                    </a:lnTo>
                    <a:lnTo>
                      <a:pt x="647" y="574"/>
                    </a:lnTo>
                    <a:lnTo>
                      <a:pt x="638" y="570"/>
                    </a:lnTo>
                    <a:lnTo>
                      <a:pt x="629" y="570"/>
                    </a:lnTo>
                    <a:lnTo>
                      <a:pt x="620" y="570"/>
                    </a:lnTo>
                    <a:lnTo>
                      <a:pt x="616" y="570"/>
                    </a:lnTo>
                    <a:lnTo>
                      <a:pt x="607" y="570"/>
                    </a:lnTo>
                    <a:lnTo>
                      <a:pt x="337" y="552"/>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nvGrpSpPr>
          <p:cNvPr id="10398" name="Group 158"/>
          <p:cNvGrpSpPr>
            <a:grpSpLocks/>
          </p:cNvGrpSpPr>
          <p:nvPr/>
        </p:nvGrpSpPr>
        <p:grpSpPr bwMode="auto">
          <a:xfrm>
            <a:off x="6089650" y="5564188"/>
            <a:ext cx="1533525" cy="709612"/>
            <a:chOff x="3761" y="2873"/>
            <a:chExt cx="966" cy="447"/>
          </a:xfrm>
        </p:grpSpPr>
        <p:grpSp>
          <p:nvGrpSpPr>
            <p:cNvPr id="10399" name="Group 159"/>
            <p:cNvGrpSpPr>
              <a:grpSpLocks/>
            </p:cNvGrpSpPr>
            <p:nvPr/>
          </p:nvGrpSpPr>
          <p:grpSpPr bwMode="auto">
            <a:xfrm>
              <a:off x="3761" y="2873"/>
              <a:ext cx="304" cy="447"/>
              <a:chOff x="3761" y="2873"/>
              <a:chExt cx="304" cy="447"/>
            </a:xfrm>
          </p:grpSpPr>
          <p:grpSp>
            <p:nvGrpSpPr>
              <p:cNvPr id="10400" name="Group 160"/>
              <p:cNvGrpSpPr>
                <a:grpSpLocks/>
              </p:cNvGrpSpPr>
              <p:nvPr/>
            </p:nvGrpSpPr>
            <p:grpSpPr bwMode="auto">
              <a:xfrm>
                <a:off x="3761" y="2873"/>
                <a:ext cx="304" cy="447"/>
                <a:chOff x="3761" y="2873"/>
                <a:chExt cx="304" cy="447"/>
              </a:xfrm>
            </p:grpSpPr>
            <p:grpSp>
              <p:nvGrpSpPr>
                <p:cNvPr id="10401" name="Group 161"/>
                <p:cNvGrpSpPr>
                  <a:grpSpLocks/>
                </p:cNvGrpSpPr>
                <p:nvPr/>
              </p:nvGrpSpPr>
              <p:grpSpPr bwMode="auto">
                <a:xfrm>
                  <a:off x="3761" y="2944"/>
                  <a:ext cx="304" cy="376"/>
                  <a:chOff x="3761" y="2944"/>
                  <a:chExt cx="304" cy="376"/>
                </a:xfrm>
              </p:grpSpPr>
              <p:sp>
                <p:nvSpPr>
                  <p:cNvPr id="10402" name="Freeform 162"/>
                  <p:cNvSpPr>
                    <a:spLocks noChangeArrowheads="1"/>
                  </p:cNvSpPr>
                  <p:nvPr/>
                </p:nvSpPr>
                <p:spPr bwMode="auto">
                  <a:xfrm>
                    <a:off x="3761" y="2944"/>
                    <a:ext cx="305" cy="377"/>
                  </a:xfrm>
                  <a:custGeom>
                    <a:avLst/>
                    <a:gdLst>
                      <a:gd name="T0" fmla="*/ 0 w 1346"/>
                      <a:gd name="T1" fmla="*/ 1663 h 1664"/>
                      <a:gd name="T2" fmla="*/ 0 w 1346"/>
                      <a:gd name="T3" fmla="*/ 336 h 1664"/>
                      <a:gd name="T4" fmla="*/ 335 w 1346"/>
                      <a:gd name="T5" fmla="*/ 0 h 1664"/>
                      <a:gd name="T6" fmla="*/ 1345 w 1346"/>
                      <a:gd name="T7" fmla="*/ 0 h 1664"/>
                      <a:gd name="T8" fmla="*/ 1345 w 1346"/>
                      <a:gd name="T9" fmla="*/ 1327 h 1664"/>
                      <a:gd name="T10" fmla="*/ 1008 w 1346"/>
                      <a:gd name="T11" fmla="*/ 1663 h 1664"/>
                      <a:gd name="T12" fmla="*/ 0 w 1346"/>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346" h="1664">
                        <a:moveTo>
                          <a:pt x="0" y="1663"/>
                        </a:moveTo>
                        <a:lnTo>
                          <a:pt x="0" y="336"/>
                        </a:lnTo>
                        <a:lnTo>
                          <a:pt x="335" y="0"/>
                        </a:lnTo>
                        <a:lnTo>
                          <a:pt x="1345" y="0"/>
                        </a:lnTo>
                        <a:lnTo>
                          <a:pt x="1345" y="1327"/>
                        </a:lnTo>
                        <a:lnTo>
                          <a:pt x="1008" y="1663"/>
                        </a:lnTo>
                        <a:lnTo>
                          <a:pt x="0" y="1663"/>
                        </a:lnTo>
                      </a:path>
                    </a:pathLst>
                  </a:custGeom>
                  <a:solidFill>
                    <a:srgbClr val="F6BF69"/>
                  </a:solidFill>
                  <a:ln w="12600">
                    <a:solidFill>
                      <a:srgbClr val="000000"/>
                    </a:solidFill>
                    <a:round/>
                    <a:headEnd/>
                    <a:tailEnd/>
                  </a:ln>
                </p:spPr>
                <p:txBody>
                  <a:bodyPr wrap="none" anchor="ctr"/>
                  <a:lstStyle/>
                  <a:p>
                    <a:endParaRPr lang="en-IN"/>
                  </a:p>
                </p:txBody>
              </p:sp>
              <p:sp>
                <p:nvSpPr>
                  <p:cNvPr id="10403" name="Freeform 163"/>
                  <p:cNvSpPr>
                    <a:spLocks noChangeArrowheads="1"/>
                  </p:cNvSpPr>
                  <p:nvPr/>
                </p:nvSpPr>
                <p:spPr bwMode="auto">
                  <a:xfrm>
                    <a:off x="3761" y="2944"/>
                    <a:ext cx="305" cy="76"/>
                  </a:xfrm>
                  <a:custGeom>
                    <a:avLst/>
                    <a:gdLst>
                      <a:gd name="T0" fmla="*/ 0 w 1346"/>
                      <a:gd name="T1" fmla="*/ 336 h 337"/>
                      <a:gd name="T2" fmla="*/ 335 w 1346"/>
                      <a:gd name="T3" fmla="*/ 0 h 337"/>
                      <a:gd name="T4" fmla="*/ 1345 w 1346"/>
                      <a:gd name="T5" fmla="*/ 0 h 337"/>
                      <a:gd name="T6" fmla="*/ 1008 w 1346"/>
                      <a:gd name="T7" fmla="*/ 336 h 337"/>
                      <a:gd name="T8" fmla="*/ 0 w 1346"/>
                      <a:gd name="T9" fmla="*/ 336 h 337"/>
                    </a:gdLst>
                    <a:ahLst/>
                    <a:cxnLst>
                      <a:cxn ang="0">
                        <a:pos x="T0" y="T1"/>
                      </a:cxn>
                      <a:cxn ang="0">
                        <a:pos x="T2" y="T3"/>
                      </a:cxn>
                      <a:cxn ang="0">
                        <a:pos x="T4" y="T5"/>
                      </a:cxn>
                      <a:cxn ang="0">
                        <a:pos x="T6" y="T7"/>
                      </a:cxn>
                      <a:cxn ang="0">
                        <a:pos x="T8" y="T9"/>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IN"/>
                  </a:p>
                </p:txBody>
              </p:sp>
              <p:sp>
                <p:nvSpPr>
                  <p:cNvPr id="10404" name="Freeform 164"/>
                  <p:cNvSpPr>
                    <a:spLocks noChangeArrowheads="1"/>
                  </p:cNvSpPr>
                  <p:nvPr/>
                </p:nvSpPr>
                <p:spPr bwMode="auto">
                  <a:xfrm>
                    <a:off x="3990" y="2944"/>
                    <a:ext cx="77" cy="377"/>
                  </a:xfrm>
                  <a:custGeom>
                    <a:avLst/>
                    <a:gdLst>
                      <a:gd name="T0" fmla="*/ 0 w 338"/>
                      <a:gd name="T1" fmla="*/ 1663 h 1664"/>
                      <a:gd name="T2" fmla="*/ 0 w 338"/>
                      <a:gd name="T3" fmla="*/ 336 h 1664"/>
                      <a:gd name="T4" fmla="*/ 337 w 338"/>
                      <a:gd name="T5" fmla="*/ 0 h 1664"/>
                      <a:gd name="T6" fmla="*/ 337 w 338"/>
                      <a:gd name="T7" fmla="*/ 1327 h 1664"/>
                      <a:gd name="T8" fmla="*/ 0 w 338"/>
                      <a:gd name="T9" fmla="*/ 1663 h 1664"/>
                    </a:gdLst>
                    <a:ahLst/>
                    <a:cxnLst>
                      <a:cxn ang="0">
                        <a:pos x="T0" y="T1"/>
                      </a:cxn>
                      <a:cxn ang="0">
                        <a:pos x="T2" y="T3"/>
                      </a:cxn>
                      <a:cxn ang="0">
                        <a:pos x="T4" y="T5"/>
                      </a:cxn>
                      <a:cxn ang="0">
                        <a:pos x="T6" y="T7"/>
                      </a:cxn>
                      <a:cxn ang="0">
                        <a:pos x="T8" y="T9"/>
                      </a:cxn>
                    </a:cxnLst>
                    <a:rect l="0" t="0" r="r" b="b"/>
                    <a:pathLst>
                      <a:path w="338" h="1664">
                        <a:moveTo>
                          <a:pt x="0" y="1663"/>
                        </a:moveTo>
                        <a:lnTo>
                          <a:pt x="0" y="336"/>
                        </a:lnTo>
                        <a:lnTo>
                          <a:pt x="337" y="0"/>
                        </a:lnTo>
                        <a:lnTo>
                          <a:pt x="337" y="1327"/>
                        </a:lnTo>
                        <a:lnTo>
                          <a:pt x="0" y="1663"/>
                        </a:lnTo>
                      </a:path>
                    </a:pathLst>
                  </a:custGeom>
                  <a:solidFill>
                    <a:srgbClr val="D3A45A"/>
                  </a:solidFill>
                  <a:ln w="12600">
                    <a:solidFill>
                      <a:srgbClr val="000000"/>
                    </a:solidFill>
                    <a:round/>
                    <a:headEnd/>
                    <a:tailEnd/>
                  </a:ln>
                </p:spPr>
                <p:txBody>
                  <a:bodyPr wrap="none" anchor="ctr"/>
                  <a:lstStyle/>
                  <a:p>
                    <a:endParaRPr lang="en-IN"/>
                  </a:p>
                </p:txBody>
              </p:sp>
            </p:grpSp>
            <p:grpSp>
              <p:nvGrpSpPr>
                <p:cNvPr id="10405" name="Group 165"/>
                <p:cNvGrpSpPr>
                  <a:grpSpLocks/>
                </p:cNvGrpSpPr>
                <p:nvPr/>
              </p:nvGrpSpPr>
              <p:grpSpPr bwMode="auto">
                <a:xfrm>
                  <a:off x="3831" y="2873"/>
                  <a:ext cx="234" cy="77"/>
                  <a:chOff x="3831" y="2873"/>
                  <a:chExt cx="234" cy="77"/>
                </a:xfrm>
              </p:grpSpPr>
              <p:sp>
                <p:nvSpPr>
                  <p:cNvPr id="10406" name="Freeform 166"/>
                  <p:cNvSpPr>
                    <a:spLocks noChangeArrowheads="1"/>
                  </p:cNvSpPr>
                  <p:nvPr/>
                </p:nvSpPr>
                <p:spPr bwMode="auto">
                  <a:xfrm>
                    <a:off x="3831" y="2873"/>
                    <a:ext cx="235" cy="78"/>
                  </a:xfrm>
                  <a:custGeom>
                    <a:avLst/>
                    <a:gdLst>
                      <a:gd name="T0" fmla="*/ 0 w 1037"/>
                      <a:gd name="T1" fmla="*/ 344 h 345"/>
                      <a:gd name="T2" fmla="*/ 0 w 1037"/>
                      <a:gd name="T3" fmla="*/ 85 h 345"/>
                      <a:gd name="T4" fmla="*/ 85 w 1037"/>
                      <a:gd name="T5" fmla="*/ 0 h 345"/>
                      <a:gd name="T6" fmla="*/ 1036 w 1037"/>
                      <a:gd name="T7" fmla="*/ 0 h 345"/>
                      <a:gd name="T8" fmla="*/ 1036 w 1037"/>
                      <a:gd name="T9" fmla="*/ 257 h 345"/>
                      <a:gd name="T10" fmla="*/ 949 w 1037"/>
                      <a:gd name="T11" fmla="*/ 344 h 345"/>
                      <a:gd name="T12" fmla="*/ 0 w 1037"/>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0407" name="Freeform 167"/>
                  <p:cNvSpPr>
                    <a:spLocks noChangeArrowheads="1"/>
                  </p:cNvSpPr>
                  <p:nvPr/>
                </p:nvSpPr>
                <p:spPr bwMode="auto">
                  <a:xfrm>
                    <a:off x="3831" y="2873"/>
                    <a:ext cx="235" cy="20"/>
                  </a:xfrm>
                  <a:custGeom>
                    <a:avLst/>
                    <a:gdLst>
                      <a:gd name="T0" fmla="*/ 0 w 1037"/>
                      <a:gd name="T1" fmla="*/ 85 h 86"/>
                      <a:gd name="T2" fmla="*/ 85 w 1037"/>
                      <a:gd name="T3" fmla="*/ 0 h 86"/>
                      <a:gd name="T4" fmla="*/ 1036 w 1037"/>
                      <a:gd name="T5" fmla="*/ 0 h 86"/>
                      <a:gd name="T6" fmla="*/ 949 w 1037"/>
                      <a:gd name="T7" fmla="*/ 85 h 86"/>
                      <a:gd name="T8" fmla="*/ 0 w 1037"/>
                      <a:gd name="T9" fmla="*/ 85 h 86"/>
                    </a:gdLst>
                    <a:ahLst/>
                    <a:cxnLst>
                      <a:cxn ang="0">
                        <a:pos x="T0" y="T1"/>
                      </a:cxn>
                      <a:cxn ang="0">
                        <a:pos x="T2" y="T3"/>
                      </a:cxn>
                      <a:cxn ang="0">
                        <a:pos x="T4" y="T5"/>
                      </a:cxn>
                      <a:cxn ang="0">
                        <a:pos x="T6" y="T7"/>
                      </a:cxn>
                      <a:cxn ang="0">
                        <a:pos x="T8" y="T9"/>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0408" name="Freeform 168"/>
                  <p:cNvSpPr>
                    <a:spLocks noChangeArrowheads="1"/>
                  </p:cNvSpPr>
                  <p:nvPr/>
                </p:nvSpPr>
                <p:spPr bwMode="auto">
                  <a:xfrm>
                    <a:off x="4046" y="2873"/>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0409" name="Freeform 169"/>
              <p:cNvSpPr>
                <a:spLocks noChangeArrowheads="1"/>
              </p:cNvSpPr>
              <p:nvPr/>
            </p:nvSpPr>
            <p:spPr bwMode="auto">
              <a:xfrm>
                <a:off x="3823" y="2977"/>
                <a:ext cx="158" cy="27"/>
              </a:xfrm>
              <a:custGeom>
                <a:avLst/>
                <a:gdLst>
                  <a:gd name="T0" fmla="*/ 174 w 697"/>
                  <a:gd name="T1" fmla="*/ 0 h 120"/>
                  <a:gd name="T2" fmla="*/ 696 w 697"/>
                  <a:gd name="T3" fmla="*/ 0 h 120"/>
                  <a:gd name="T4" fmla="*/ 522 w 697"/>
                  <a:gd name="T5" fmla="*/ 119 h 120"/>
                  <a:gd name="T6" fmla="*/ 0 w 697"/>
                  <a:gd name="T7" fmla="*/ 119 h 120"/>
                  <a:gd name="T8" fmla="*/ 174 w 697"/>
                  <a:gd name="T9" fmla="*/ 0 h 120"/>
                </a:gdLst>
                <a:ahLst/>
                <a:cxnLst>
                  <a:cxn ang="0">
                    <a:pos x="T0" y="T1"/>
                  </a:cxn>
                  <a:cxn ang="0">
                    <a:pos x="T2" y="T3"/>
                  </a:cxn>
                  <a:cxn ang="0">
                    <a:pos x="T4" y="T5"/>
                  </a:cxn>
                  <a:cxn ang="0">
                    <a:pos x="T6" y="T7"/>
                  </a:cxn>
                  <a:cxn ang="0">
                    <a:pos x="T8" y="T9"/>
                  </a:cxn>
                </a:cxnLst>
                <a:rect l="0" t="0" r="r" b="b"/>
                <a:pathLst>
                  <a:path w="697" h="120">
                    <a:moveTo>
                      <a:pt x="174" y="0"/>
                    </a:moveTo>
                    <a:lnTo>
                      <a:pt x="696" y="0"/>
                    </a:lnTo>
                    <a:lnTo>
                      <a:pt x="522" y="119"/>
                    </a:lnTo>
                    <a:lnTo>
                      <a:pt x="0" y="119"/>
                    </a:lnTo>
                    <a:lnTo>
                      <a:pt x="174"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0410" name="Group 170"/>
            <p:cNvGrpSpPr>
              <a:grpSpLocks/>
            </p:cNvGrpSpPr>
            <p:nvPr/>
          </p:nvGrpSpPr>
          <p:grpSpPr bwMode="auto">
            <a:xfrm>
              <a:off x="4062" y="2873"/>
              <a:ext cx="377" cy="447"/>
              <a:chOff x="4062" y="2873"/>
              <a:chExt cx="377" cy="447"/>
            </a:xfrm>
          </p:grpSpPr>
          <p:grpSp>
            <p:nvGrpSpPr>
              <p:cNvPr id="10411" name="Group 171"/>
              <p:cNvGrpSpPr>
                <a:grpSpLocks/>
              </p:cNvGrpSpPr>
              <p:nvPr/>
            </p:nvGrpSpPr>
            <p:grpSpPr bwMode="auto">
              <a:xfrm>
                <a:off x="4062" y="2873"/>
                <a:ext cx="377" cy="447"/>
                <a:chOff x="4062" y="2873"/>
                <a:chExt cx="377" cy="447"/>
              </a:xfrm>
            </p:grpSpPr>
            <p:grpSp>
              <p:nvGrpSpPr>
                <p:cNvPr id="10412" name="Group 172"/>
                <p:cNvGrpSpPr>
                  <a:grpSpLocks/>
                </p:cNvGrpSpPr>
                <p:nvPr/>
              </p:nvGrpSpPr>
              <p:grpSpPr bwMode="auto">
                <a:xfrm>
                  <a:off x="4062" y="2944"/>
                  <a:ext cx="377" cy="376"/>
                  <a:chOff x="4062" y="2944"/>
                  <a:chExt cx="377" cy="376"/>
                </a:xfrm>
              </p:grpSpPr>
              <p:sp>
                <p:nvSpPr>
                  <p:cNvPr id="10413" name="Freeform 173"/>
                  <p:cNvSpPr>
                    <a:spLocks noChangeArrowheads="1"/>
                  </p:cNvSpPr>
                  <p:nvPr/>
                </p:nvSpPr>
                <p:spPr bwMode="auto">
                  <a:xfrm>
                    <a:off x="4062" y="2944"/>
                    <a:ext cx="378" cy="377"/>
                  </a:xfrm>
                  <a:custGeom>
                    <a:avLst/>
                    <a:gdLst>
                      <a:gd name="T0" fmla="*/ 0 w 1667"/>
                      <a:gd name="T1" fmla="*/ 1663 h 1664"/>
                      <a:gd name="T2" fmla="*/ 0 w 1667"/>
                      <a:gd name="T3" fmla="*/ 415 h 1664"/>
                      <a:gd name="T4" fmla="*/ 414 w 1667"/>
                      <a:gd name="T5" fmla="*/ 0 h 1664"/>
                      <a:gd name="T6" fmla="*/ 1666 w 1667"/>
                      <a:gd name="T7" fmla="*/ 0 h 1664"/>
                      <a:gd name="T8" fmla="*/ 1666 w 1667"/>
                      <a:gd name="T9" fmla="*/ 1248 h 1664"/>
                      <a:gd name="T10" fmla="*/ 1250 w 1667"/>
                      <a:gd name="T11" fmla="*/ 1663 h 1664"/>
                      <a:gd name="T12" fmla="*/ 0 w 1667"/>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667" h="1664">
                        <a:moveTo>
                          <a:pt x="0" y="1663"/>
                        </a:moveTo>
                        <a:lnTo>
                          <a:pt x="0" y="415"/>
                        </a:lnTo>
                        <a:lnTo>
                          <a:pt x="414" y="0"/>
                        </a:lnTo>
                        <a:lnTo>
                          <a:pt x="1666" y="0"/>
                        </a:lnTo>
                        <a:lnTo>
                          <a:pt x="1666" y="1248"/>
                        </a:lnTo>
                        <a:lnTo>
                          <a:pt x="1250" y="1663"/>
                        </a:lnTo>
                        <a:lnTo>
                          <a:pt x="0" y="1663"/>
                        </a:lnTo>
                      </a:path>
                    </a:pathLst>
                  </a:custGeom>
                  <a:solidFill>
                    <a:srgbClr val="A2C1FE"/>
                  </a:solidFill>
                  <a:ln w="12600">
                    <a:solidFill>
                      <a:srgbClr val="000000"/>
                    </a:solidFill>
                    <a:round/>
                    <a:headEnd/>
                    <a:tailEnd/>
                  </a:ln>
                </p:spPr>
                <p:txBody>
                  <a:bodyPr wrap="none" anchor="ctr"/>
                  <a:lstStyle/>
                  <a:p>
                    <a:endParaRPr lang="en-IN"/>
                  </a:p>
                </p:txBody>
              </p:sp>
              <p:sp>
                <p:nvSpPr>
                  <p:cNvPr id="10414" name="Freeform 174"/>
                  <p:cNvSpPr>
                    <a:spLocks noChangeArrowheads="1"/>
                  </p:cNvSpPr>
                  <p:nvPr/>
                </p:nvSpPr>
                <p:spPr bwMode="auto">
                  <a:xfrm>
                    <a:off x="4062" y="2944"/>
                    <a:ext cx="378" cy="94"/>
                  </a:xfrm>
                  <a:custGeom>
                    <a:avLst/>
                    <a:gdLst>
                      <a:gd name="T0" fmla="*/ 0 w 1667"/>
                      <a:gd name="T1" fmla="*/ 415 h 416"/>
                      <a:gd name="T2" fmla="*/ 414 w 1667"/>
                      <a:gd name="T3" fmla="*/ 0 h 416"/>
                      <a:gd name="T4" fmla="*/ 1666 w 1667"/>
                      <a:gd name="T5" fmla="*/ 0 h 416"/>
                      <a:gd name="T6" fmla="*/ 1250 w 1667"/>
                      <a:gd name="T7" fmla="*/ 415 h 416"/>
                      <a:gd name="T8" fmla="*/ 0 w 1667"/>
                      <a:gd name="T9" fmla="*/ 415 h 416"/>
                    </a:gdLst>
                    <a:ahLst/>
                    <a:cxnLst>
                      <a:cxn ang="0">
                        <a:pos x="T0" y="T1"/>
                      </a:cxn>
                      <a:cxn ang="0">
                        <a:pos x="T2" y="T3"/>
                      </a:cxn>
                      <a:cxn ang="0">
                        <a:pos x="T4" y="T5"/>
                      </a:cxn>
                      <a:cxn ang="0">
                        <a:pos x="T6" y="T7"/>
                      </a:cxn>
                      <a:cxn ang="0">
                        <a:pos x="T8" y="T9"/>
                      </a:cxn>
                    </a:cxnLst>
                    <a:rect l="0" t="0" r="r" b="b"/>
                    <a:pathLst>
                      <a:path w="1667" h="416">
                        <a:moveTo>
                          <a:pt x="0" y="415"/>
                        </a:moveTo>
                        <a:lnTo>
                          <a:pt x="414" y="0"/>
                        </a:lnTo>
                        <a:lnTo>
                          <a:pt x="1666" y="0"/>
                        </a:lnTo>
                        <a:lnTo>
                          <a:pt x="1250" y="415"/>
                        </a:lnTo>
                        <a:lnTo>
                          <a:pt x="0" y="415"/>
                        </a:lnTo>
                      </a:path>
                    </a:pathLst>
                  </a:custGeom>
                  <a:solidFill>
                    <a:srgbClr val="B1D3FF"/>
                  </a:solidFill>
                  <a:ln w="12600">
                    <a:solidFill>
                      <a:srgbClr val="000000"/>
                    </a:solidFill>
                    <a:round/>
                    <a:headEnd/>
                    <a:tailEnd/>
                  </a:ln>
                </p:spPr>
                <p:txBody>
                  <a:bodyPr wrap="none" anchor="ctr"/>
                  <a:lstStyle/>
                  <a:p>
                    <a:endParaRPr lang="en-IN"/>
                  </a:p>
                </p:txBody>
              </p:sp>
              <p:sp>
                <p:nvSpPr>
                  <p:cNvPr id="10415" name="Freeform 175"/>
                  <p:cNvSpPr>
                    <a:spLocks noChangeArrowheads="1"/>
                  </p:cNvSpPr>
                  <p:nvPr/>
                </p:nvSpPr>
                <p:spPr bwMode="auto">
                  <a:xfrm>
                    <a:off x="4346" y="2944"/>
                    <a:ext cx="95" cy="377"/>
                  </a:xfrm>
                  <a:custGeom>
                    <a:avLst/>
                    <a:gdLst>
                      <a:gd name="T0" fmla="*/ 0 w 417"/>
                      <a:gd name="T1" fmla="*/ 1663 h 1664"/>
                      <a:gd name="T2" fmla="*/ 0 w 417"/>
                      <a:gd name="T3" fmla="*/ 415 h 1664"/>
                      <a:gd name="T4" fmla="*/ 416 w 417"/>
                      <a:gd name="T5" fmla="*/ 0 h 1664"/>
                      <a:gd name="T6" fmla="*/ 416 w 417"/>
                      <a:gd name="T7" fmla="*/ 1248 h 1664"/>
                      <a:gd name="T8" fmla="*/ 0 w 417"/>
                      <a:gd name="T9" fmla="*/ 1663 h 1664"/>
                    </a:gdLst>
                    <a:ahLst/>
                    <a:cxnLst>
                      <a:cxn ang="0">
                        <a:pos x="T0" y="T1"/>
                      </a:cxn>
                      <a:cxn ang="0">
                        <a:pos x="T2" y="T3"/>
                      </a:cxn>
                      <a:cxn ang="0">
                        <a:pos x="T4" y="T5"/>
                      </a:cxn>
                      <a:cxn ang="0">
                        <a:pos x="T6" y="T7"/>
                      </a:cxn>
                      <a:cxn ang="0">
                        <a:pos x="T8" y="T9"/>
                      </a:cxn>
                    </a:cxnLst>
                    <a:rect l="0" t="0" r="r" b="b"/>
                    <a:pathLst>
                      <a:path w="417" h="1664">
                        <a:moveTo>
                          <a:pt x="0" y="1663"/>
                        </a:moveTo>
                        <a:lnTo>
                          <a:pt x="0" y="415"/>
                        </a:lnTo>
                        <a:lnTo>
                          <a:pt x="416" y="0"/>
                        </a:lnTo>
                        <a:lnTo>
                          <a:pt x="416" y="1248"/>
                        </a:lnTo>
                        <a:lnTo>
                          <a:pt x="0" y="1663"/>
                        </a:lnTo>
                      </a:path>
                    </a:pathLst>
                  </a:custGeom>
                  <a:solidFill>
                    <a:srgbClr val="8BA5DA"/>
                  </a:solidFill>
                  <a:ln w="12600">
                    <a:solidFill>
                      <a:srgbClr val="000000"/>
                    </a:solidFill>
                    <a:round/>
                    <a:headEnd/>
                    <a:tailEnd/>
                  </a:ln>
                </p:spPr>
                <p:txBody>
                  <a:bodyPr wrap="none" anchor="ctr"/>
                  <a:lstStyle/>
                  <a:p>
                    <a:endParaRPr lang="en-IN"/>
                  </a:p>
                </p:txBody>
              </p:sp>
            </p:grpSp>
            <p:grpSp>
              <p:nvGrpSpPr>
                <p:cNvPr id="10416" name="Group 176"/>
                <p:cNvGrpSpPr>
                  <a:grpSpLocks/>
                </p:cNvGrpSpPr>
                <p:nvPr/>
              </p:nvGrpSpPr>
              <p:grpSpPr bwMode="auto">
                <a:xfrm>
                  <a:off x="4148" y="2873"/>
                  <a:ext cx="291" cy="77"/>
                  <a:chOff x="4148" y="2873"/>
                  <a:chExt cx="291" cy="77"/>
                </a:xfrm>
              </p:grpSpPr>
              <p:sp>
                <p:nvSpPr>
                  <p:cNvPr id="10417" name="Freeform 177"/>
                  <p:cNvSpPr>
                    <a:spLocks noChangeArrowheads="1"/>
                  </p:cNvSpPr>
                  <p:nvPr/>
                </p:nvSpPr>
                <p:spPr bwMode="auto">
                  <a:xfrm>
                    <a:off x="4148" y="2873"/>
                    <a:ext cx="292" cy="78"/>
                  </a:xfrm>
                  <a:custGeom>
                    <a:avLst/>
                    <a:gdLst>
                      <a:gd name="T0" fmla="*/ 0 w 1288"/>
                      <a:gd name="T1" fmla="*/ 344 h 345"/>
                      <a:gd name="T2" fmla="*/ 0 w 1288"/>
                      <a:gd name="T3" fmla="*/ 85 h 345"/>
                      <a:gd name="T4" fmla="*/ 85 w 1288"/>
                      <a:gd name="T5" fmla="*/ 0 h 345"/>
                      <a:gd name="T6" fmla="*/ 1287 w 1288"/>
                      <a:gd name="T7" fmla="*/ 0 h 345"/>
                      <a:gd name="T8" fmla="*/ 1287 w 1288"/>
                      <a:gd name="T9" fmla="*/ 257 h 345"/>
                      <a:gd name="T10" fmla="*/ 1200 w 1288"/>
                      <a:gd name="T11" fmla="*/ 344 h 345"/>
                      <a:gd name="T12" fmla="*/ 0 w 1288"/>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8" h="345">
                        <a:moveTo>
                          <a:pt x="0" y="344"/>
                        </a:moveTo>
                        <a:lnTo>
                          <a:pt x="0" y="85"/>
                        </a:lnTo>
                        <a:lnTo>
                          <a:pt x="85" y="0"/>
                        </a:lnTo>
                        <a:lnTo>
                          <a:pt x="1287" y="0"/>
                        </a:lnTo>
                        <a:lnTo>
                          <a:pt x="1287" y="257"/>
                        </a:lnTo>
                        <a:lnTo>
                          <a:pt x="1200"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0418" name="Freeform 178"/>
                  <p:cNvSpPr>
                    <a:spLocks noChangeArrowheads="1"/>
                  </p:cNvSpPr>
                  <p:nvPr/>
                </p:nvSpPr>
                <p:spPr bwMode="auto">
                  <a:xfrm>
                    <a:off x="4148" y="2873"/>
                    <a:ext cx="292" cy="20"/>
                  </a:xfrm>
                  <a:custGeom>
                    <a:avLst/>
                    <a:gdLst>
                      <a:gd name="T0" fmla="*/ 0 w 1288"/>
                      <a:gd name="T1" fmla="*/ 85 h 86"/>
                      <a:gd name="T2" fmla="*/ 85 w 1288"/>
                      <a:gd name="T3" fmla="*/ 0 h 86"/>
                      <a:gd name="T4" fmla="*/ 1287 w 1288"/>
                      <a:gd name="T5" fmla="*/ 0 h 86"/>
                      <a:gd name="T6" fmla="*/ 1200 w 1288"/>
                      <a:gd name="T7" fmla="*/ 85 h 86"/>
                      <a:gd name="T8" fmla="*/ 0 w 1288"/>
                      <a:gd name="T9" fmla="*/ 85 h 86"/>
                    </a:gdLst>
                    <a:ahLst/>
                    <a:cxnLst>
                      <a:cxn ang="0">
                        <a:pos x="T0" y="T1"/>
                      </a:cxn>
                      <a:cxn ang="0">
                        <a:pos x="T2" y="T3"/>
                      </a:cxn>
                      <a:cxn ang="0">
                        <a:pos x="T4" y="T5"/>
                      </a:cxn>
                      <a:cxn ang="0">
                        <a:pos x="T6" y="T7"/>
                      </a:cxn>
                      <a:cxn ang="0">
                        <a:pos x="T8" y="T9"/>
                      </a:cxn>
                    </a:cxnLst>
                    <a:rect l="0" t="0" r="r" b="b"/>
                    <a:pathLst>
                      <a:path w="1288" h="86">
                        <a:moveTo>
                          <a:pt x="0" y="85"/>
                        </a:moveTo>
                        <a:lnTo>
                          <a:pt x="85" y="0"/>
                        </a:lnTo>
                        <a:lnTo>
                          <a:pt x="1287" y="0"/>
                        </a:lnTo>
                        <a:lnTo>
                          <a:pt x="1200"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0419" name="Freeform 179"/>
                  <p:cNvSpPr>
                    <a:spLocks noChangeArrowheads="1"/>
                  </p:cNvSpPr>
                  <p:nvPr/>
                </p:nvSpPr>
                <p:spPr bwMode="auto">
                  <a:xfrm>
                    <a:off x="4420" y="2873"/>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0420" name="Oval 180"/>
              <p:cNvSpPr>
                <a:spLocks noChangeArrowheads="1"/>
              </p:cNvSpPr>
              <p:nvPr/>
            </p:nvSpPr>
            <p:spPr bwMode="auto">
              <a:xfrm>
                <a:off x="4177" y="2909"/>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0421" name="Freeform 181"/>
              <p:cNvSpPr>
                <a:spLocks noChangeArrowheads="1"/>
              </p:cNvSpPr>
              <p:nvPr/>
            </p:nvSpPr>
            <p:spPr bwMode="auto">
              <a:xfrm>
                <a:off x="4109" y="3119"/>
                <a:ext cx="198" cy="84"/>
              </a:xfrm>
              <a:custGeom>
                <a:avLst/>
                <a:gdLst>
                  <a:gd name="T0" fmla="*/ 107 w 874"/>
                  <a:gd name="T1" fmla="*/ 0 h 371"/>
                  <a:gd name="T2" fmla="*/ 764 w 874"/>
                  <a:gd name="T3" fmla="*/ 0 h 371"/>
                  <a:gd name="T4" fmla="*/ 873 w 874"/>
                  <a:gd name="T5" fmla="*/ 108 h 371"/>
                  <a:gd name="T6" fmla="*/ 873 w 874"/>
                  <a:gd name="T7" fmla="*/ 262 h 371"/>
                  <a:gd name="T8" fmla="*/ 764 w 874"/>
                  <a:gd name="T9" fmla="*/ 370 h 371"/>
                  <a:gd name="T10" fmla="*/ 107 w 874"/>
                  <a:gd name="T11" fmla="*/ 370 h 371"/>
                  <a:gd name="T12" fmla="*/ 0 w 874"/>
                  <a:gd name="T13" fmla="*/ 262 h 371"/>
                  <a:gd name="T14" fmla="*/ 0 w 874"/>
                  <a:gd name="T15" fmla="*/ 108 h 371"/>
                  <a:gd name="T16" fmla="*/ 107 w 874"/>
                  <a:gd name="T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0422" name="Freeform 182"/>
            <p:cNvSpPr>
              <a:spLocks noChangeArrowheads="1"/>
            </p:cNvSpPr>
            <p:nvPr/>
          </p:nvSpPr>
          <p:spPr bwMode="auto">
            <a:xfrm>
              <a:off x="4626" y="3102"/>
              <a:ext cx="85" cy="191"/>
            </a:xfrm>
            <a:custGeom>
              <a:avLst/>
              <a:gdLst>
                <a:gd name="T0" fmla="*/ 273 w 376"/>
                <a:gd name="T1" fmla="*/ 0 h 843"/>
                <a:gd name="T2" fmla="*/ 375 w 376"/>
                <a:gd name="T3" fmla="*/ 0 h 843"/>
                <a:gd name="T4" fmla="*/ 101 w 376"/>
                <a:gd name="T5" fmla="*/ 842 h 843"/>
                <a:gd name="T6" fmla="*/ 0 w 376"/>
                <a:gd name="T7" fmla="*/ 842 h 843"/>
                <a:gd name="T8" fmla="*/ 273 w 376"/>
                <a:gd name="T9" fmla="*/ 0 h 843"/>
              </a:gdLst>
              <a:ahLst/>
              <a:cxnLst>
                <a:cxn ang="0">
                  <a:pos x="T0" y="T1"/>
                </a:cxn>
                <a:cxn ang="0">
                  <a:pos x="T2" y="T3"/>
                </a:cxn>
                <a:cxn ang="0">
                  <a:pos x="T4" y="T5"/>
                </a:cxn>
                <a:cxn ang="0">
                  <a:pos x="T6" y="T7"/>
                </a:cxn>
                <a:cxn ang="0">
                  <a:pos x="T8" y="T9"/>
                </a:cxn>
              </a:cxnLst>
              <a:rect l="0" t="0" r="r" b="b"/>
              <a:pathLst>
                <a:path w="376" h="843">
                  <a:moveTo>
                    <a:pt x="273" y="0"/>
                  </a:moveTo>
                  <a:lnTo>
                    <a:pt x="375" y="0"/>
                  </a:lnTo>
                  <a:lnTo>
                    <a:pt x="101" y="842"/>
                  </a:lnTo>
                  <a:lnTo>
                    <a:pt x="0" y="842"/>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423" name="AutoShape 183"/>
            <p:cNvSpPr>
              <a:spLocks noChangeArrowheads="1"/>
            </p:cNvSpPr>
            <p:nvPr/>
          </p:nvSpPr>
          <p:spPr bwMode="auto">
            <a:xfrm>
              <a:off x="4622" y="3102"/>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424" name="AutoShape 184"/>
            <p:cNvSpPr>
              <a:spLocks noChangeArrowheads="1"/>
            </p:cNvSpPr>
            <p:nvPr/>
          </p:nvSpPr>
          <p:spPr bwMode="auto">
            <a:xfrm>
              <a:off x="4629" y="3183"/>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0425" name="AutoShape 185"/>
            <p:cNvSpPr>
              <a:spLocks noChangeArrowheads="1"/>
            </p:cNvSpPr>
            <p:nvPr/>
          </p:nvSpPr>
          <p:spPr bwMode="auto">
            <a:xfrm>
              <a:off x="4446" y="3183"/>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0426" name="Group 186"/>
            <p:cNvGrpSpPr>
              <a:grpSpLocks/>
            </p:cNvGrpSpPr>
            <p:nvPr/>
          </p:nvGrpSpPr>
          <p:grpSpPr bwMode="auto">
            <a:xfrm>
              <a:off x="4444" y="2930"/>
              <a:ext cx="193" cy="364"/>
              <a:chOff x="4444" y="2930"/>
              <a:chExt cx="193" cy="364"/>
            </a:xfrm>
          </p:grpSpPr>
          <p:sp>
            <p:nvSpPr>
              <p:cNvPr id="10427" name="Oval 187"/>
              <p:cNvSpPr>
                <a:spLocks noChangeArrowheads="1"/>
              </p:cNvSpPr>
              <p:nvPr/>
            </p:nvSpPr>
            <p:spPr bwMode="auto">
              <a:xfrm>
                <a:off x="4520" y="2930"/>
                <a:ext cx="49"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0428" name="Freeform 188"/>
              <p:cNvSpPr>
                <a:spLocks noChangeArrowheads="1"/>
              </p:cNvSpPr>
              <p:nvPr/>
            </p:nvSpPr>
            <p:spPr bwMode="auto">
              <a:xfrm>
                <a:off x="4444" y="2998"/>
                <a:ext cx="194" cy="296"/>
              </a:xfrm>
              <a:custGeom>
                <a:avLst/>
                <a:gdLst>
                  <a:gd name="T0" fmla="*/ 8 w 857"/>
                  <a:gd name="T1" fmla="*/ 606 h 1306"/>
                  <a:gd name="T2" fmla="*/ 4 w 857"/>
                  <a:gd name="T3" fmla="*/ 619 h 1306"/>
                  <a:gd name="T4" fmla="*/ 0 w 857"/>
                  <a:gd name="T5" fmla="*/ 641 h 1306"/>
                  <a:gd name="T6" fmla="*/ 0 w 857"/>
                  <a:gd name="T7" fmla="*/ 663 h 1306"/>
                  <a:gd name="T8" fmla="*/ 8 w 857"/>
                  <a:gd name="T9" fmla="*/ 685 h 1306"/>
                  <a:gd name="T10" fmla="*/ 17 w 857"/>
                  <a:gd name="T11" fmla="*/ 704 h 1306"/>
                  <a:gd name="T12" fmla="*/ 35 w 857"/>
                  <a:gd name="T13" fmla="*/ 722 h 1306"/>
                  <a:gd name="T14" fmla="*/ 53 w 857"/>
                  <a:gd name="T15" fmla="*/ 731 h 1306"/>
                  <a:gd name="T16" fmla="*/ 70 w 857"/>
                  <a:gd name="T17" fmla="*/ 735 h 1306"/>
                  <a:gd name="T18" fmla="*/ 92 w 857"/>
                  <a:gd name="T19" fmla="*/ 735 h 1306"/>
                  <a:gd name="T20" fmla="*/ 559 w 857"/>
                  <a:gd name="T21" fmla="*/ 1305 h 1306"/>
                  <a:gd name="T22" fmla="*/ 705 w 857"/>
                  <a:gd name="T23" fmla="*/ 628 h 1306"/>
                  <a:gd name="T24" fmla="*/ 705 w 857"/>
                  <a:gd name="T25" fmla="*/ 610 h 1306"/>
                  <a:gd name="T26" fmla="*/ 696 w 857"/>
                  <a:gd name="T27" fmla="*/ 602 h 1306"/>
                  <a:gd name="T28" fmla="*/ 683 w 857"/>
                  <a:gd name="T29" fmla="*/ 588 h 1306"/>
                  <a:gd name="T30" fmla="*/ 674 w 857"/>
                  <a:gd name="T31" fmla="*/ 579 h 1306"/>
                  <a:gd name="T32" fmla="*/ 656 w 857"/>
                  <a:gd name="T33" fmla="*/ 575 h 1306"/>
                  <a:gd name="T34" fmla="*/ 639 w 857"/>
                  <a:gd name="T35" fmla="*/ 571 h 1306"/>
                  <a:gd name="T36" fmla="*/ 621 w 857"/>
                  <a:gd name="T37" fmla="*/ 571 h 1306"/>
                  <a:gd name="T38" fmla="*/ 608 w 857"/>
                  <a:gd name="T39" fmla="*/ 571 h 1306"/>
                  <a:gd name="T40" fmla="*/ 412 w 857"/>
                  <a:gd name="T41" fmla="*/ 331 h 1306"/>
                  <a:gd name="T42" fmla="*/ 794 w 857"/>
                  <a:gd name="T43" fmla="*/ 411 h 1306"/>
                  <a:gd name="T44" fmla="*/ 812 w 857"/>
                  <a:gd name="T45" fmla="*/ 406 h 1306"/>
                  <a:gd name="T46" fmla="*/ 821 w 857"/>
                  <a:gd name="T47" fmla="*/ 402 h 1306"/>
                  <a:gd name="T48" fmla="*/ 838 w 857"/>
                  <a:gd name="T49" fmla="*/ 393 h 1306"/>
                  <a:gd name="T50" fmla="*/ 847 w 857"/>
                  <a:gd name="T51" fmla="*/ 380 h 1306"/>
                  <a:gd name="T52" fmla="*/ 852 w 857"/>
                  <a:gd name="T53" fmla="*/ 367 h 1306"/>
                  <a:gd name="T54" fmla="*/ 856 w 857"/>
                  <a:gd name="T55" fmla="*/ 345 h 1306"/>
                  <a:gd name="T56" fmla="*/ 852 w 857"/>
                  <a:gd name="T57" fmla="*/ 327 h 1306"/>
                  <a:gd name="T58" fmla="*/ 843 w 857"/>
                  <a:gd name="T59" fmla="*/ 309 h 1306"/>
                  <a:gd name="T60" fmla="*/ 834 w 857"/>
                  <a:gd name="T61" fmla="*/ 300 h 1306"/>
                  <a:gd name="T62" fmla="*/ 816 w 857"/>
                  <a:gd name="T63" fmla="*/ 286 h 1306"/>
                  <a:gd name="T64" fmla="*/ 803 w 857"/>
                  <a:gd name="T65" fmla="*/ 282 h 1306"/>
                  <a:gd name="T66" fmla="*/ 541 w 857"/>
                  <a:gd name="T67" fmla="*/ 282 h 1306"/>
                  <a:gd name="T68" fmla="*/ 496 w 857"/>
                  <a:gd name="T69" fmla="*/ 185 h 1306"/>
                  <a:gd name="T70" fmla="*/ 501 w 857"/>
                  <a:gd name="T71" fmla="*/ 163 h 1306"/>
                  <a:gd name="T72" fmla="*/ 505 w 857"/>
                  <a:gd name="T73" fmla="*/ 132 h 1306"/>
                  <a:gd name="T74" fmla="*/ 505 w 857"/>
                  <a:gd name="T75" fmla="*/ 105 h 1306"/>
                  <a:gd name="T76" fmla="*/ 496 w 857"/>
                  <a:gd name="T77" fmla="*/ 83 h 1306"/>
                  <a:gd name="T78" fmla="*/ 487 w 857"/>
                  <a:gd name="T79" fmla="*/ 66 h 1306"/>
                  <a:gd name="T80" fmla="*/ 474 w 857"/>
                  <a:gd name="T81" fmla="*/ 44 h 1306"/>
                  <a:gd name="T82" fmla="*/ 457 w 857"/>
                  <a:gd name="T83" fmla="*/ 30 h 1306"/>
                  <a:gd name="T84" fmla="*/ 434 w 857"/>
                  <a:gd name="T85" fmla="*/ 13 h 1306"/>
                  <a:gd name="T86" fmla="*/ 412 w 857"/>
                  <a:gd name="T87" fmla="*/ 4 h 1306"/>
                  <a:gd name="T88" fmla="*/ 386 w 857"/>
                  <a:gd name="T89" fmla="*/ 0 h 1306"/>
                  <a:gd name="T90" fmla="*/ 359 w 857"/>
                  <a:gd name="T91" fmla="*/ 0 h 1306"/>
                  <a:gd name="T92" fmla="*/ 333 w 857"/>
                  <a:gd name="T93" fmla="*/ 4 h 1306"/>
                  <a:gd name="T94" fmla="*/ 305 w 857"/>
                  <a:gd name="T95" fmla="*/ 13 h 1306"/>
                  <a:gd name="T96" fmla="*/ 279 w 857"/>
                  <a:gd name="T97" fmla="*/ 26 h 1306"/>
                  <a:gd name="T98" fmla="*/ 261 w 857"/>
                  <a:gd name="T99" fmla="*/ 48 h 1306"/>
                  <a:gd name="T100" fmla="*/ 243 w 857"/>
                  <a:gd name="T101" fmla="*/ 75 h 1306"/>
                  <a:gd name="T102" fmla="*/ 235 w 857"/>
                  <a:gd name="T103" fmla="*/ 101 h 1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7" h="1306">
                    <a:moveTo>
                      <a:pt x="235" y="101"/>
                    </a:moveTo>
                    <a:lnTo>
                      <a:pt x="8" y="606"/>
                    </a:lnTo>
                    <a:lnTo>
                      <a:pt x="4" y="610"/>
                    </a:lnTo>
                    <a:lnTo>
                      <a:pt x="4" y="619"/>
                    </a:lnTo>
                    <a:lnTo>
                      <a:pt x="0" y="628"/>
                    </a:lnTo>
                    <a:lnTo>
                      <a:pt x="0" y="641"/>
                    </a:lnTo>
                    <a:lnTo>
                      <a:pt x="0" y="650"/>
                    </a:lnTo>
                    <a:lnTo>
                      <a:pt x="0" y="663"/>
                    </a:lnTo>
                    <a:lnTo>
                      <a:pt x="4" y="672"/>
                    </a:lnTo>
                    <a:lnTo>
                      <a:pt x="8" y="685"/>
                    </a:lnTo>
                    <a:lnTo>
                      <a:pt x="13" y="694"/>
                    </a:lnTo>
                    <a:lnTo>
                      <a:pt x="17" y="704"/>
                    </a:lnTo>
                    <a:lnTo>
                      <a:pt x="26" y="713"/>
                    </a:lnTo>
                    <a:lnTo>
                      <a:pt x="35" y="722"/>
                    </a:lnTo>
                    <a:lnTo>
                      <a:pt x="44" y="726"/>
                    </a:lnTo>
                    <a:lnTo>
                      <a:pt x="53" y="731"/>
                    </a:lnTo>
                    <a:lnTo>
                      <a:pt x="61" y="731"/>
                    </a:lnTo>
                    <a:lnTo>
                      <a:pt x="70" y="735"/>
                    </a:lnTo>
                    <a:lnTo>
                      <a:pt x="79" y="735"/>
                    </a:lnTo>
                    <a:lnTo>
                      <a:pt x="92" y="735"/>
                    </a:lnTo>
                    <a:lnTo>
                      <a:pt x="559" y="735"/>
                    </a:lnTo>
                    <a:lnTo>
                      <a:pt x="559" y="1305"/>
                    </a:lnTo>
                    <a:lnTo>
                      <a:pt x="705" y="1305"/>
                    </a:lnTo>
                    <a:lnTo>
                      <a:pt x="705" y="628"/>
                    </a:lnTo>
                    <a:lnTo>
                      <a:pt x="705" y="619"/>
                    </a:lnTo>
                    <a:lnTo>
                      <a:pt x="705" y="610"/>
                    </a:lnTo>
                    <a:lnTo>
                      <a:pt x="700" y="606"/>
                    </a:lnTo>
                    <a:lnTo>
                      <a:pt x="696" y="602"/>
                    </a:lnTo>
                    <a:lnTo>
                      <a:pt x="692" y="597"/>
                    </a:lnTo>
                    <a:lnTo>
                      <a:pt x="683" y="588"/>
                    </a:lnTo>
                    <a:lnTo>
                      <a:pt x="678" y="584"/>
                    </a:lnTo>
                    <a:lnTo>
                      <a:pt x="674" y="579"/>
                    </a:lnTo>
                    <a:lnTo>
                      <a:pt x="665" y="579"/>
                    </a:lnTo>
                    <a:lnTo>
                      <a:pt x="656" y="575"/>
                    </a:lnTo>
                    <a:lnTo>
                      <a:pt x="647" y="575"/>
                    </a:lnTo>
                    <a:lnTo>
                      <a:pt x="639" y="571"/>
                    </a:lnTo>
                    <a:lnTo>
                      <a:pt x="630" y="571"/>
                    </a:lnTo>
                    <a:lnTo>
                      <a:pt x="621" y="571"/>
                    </a:lnTo>
                    <a:lnTo>
                      <a:pt x="617" y="571"/>
                    </a:lnTo>
                    <a:lnTo>
                      <a:pt x="608" y="571"/>
                    </a:lnTo>
                    <a:lnTo>
                      <a:pt x="337" y="553"/>
                    </a:lnTo>
                    <a:lnTo>
                      <a:pt x="412" y="331"/>
                    </a:lnTo>
                    <a:lnTo>
                      <a:pt x="465" y="411"/>
                    </a:lnTo>
                    <a:lnTo>
                      <a:pt x="794" y="411"/>
                    </a:lnTo>
                    <a:lnTo>
                      <a:pt x="803" y="406"/>
                    </a:lnTo>
                    <a:lnTo>
                      <a:pt x="812" y="406"/>
                    </a:lnTo>
                    <a:lnTo>
                      <a:pt x="816" y="402"/>
                    </a:lnTo>
                    <a:lnTo>
                      <a:pt x="821" y="402"/>
                    </a:lnTo>
                    <a:lnTo>
                      <a:pt x="830" y="398"/>
                    </a:lnTo>
                    <a:lnTo>
                      <a:pt x="838" y="393"/>
                    </a:lnTo>
                    <a:lnTo>
                      <a:pt x="843" y="384"/>
                    </a:lnTo>
                    <a:lnTo>
                      <a:pt x="847" y="380"/>
                    </a:lnTo>
                    <a:lnTo>
                      <a:pt x="852" y="371"/>
                    </a:lnTo>
                    <a:lnTo>
                      <a:pt x="852" y="367"/>
                    </a:lnTo>
                    <a:lnTo>
                      <a:pt x="856" y="358"/>
                    </a:lnTo>
                    <a:lnTo>
                      <a:pt x="856" y="345"/>
                    </a:lnTo>
                    <a:lnTo>
                      <a:pt x="856" y="336"/>
                    </a:lnTo>
                    <a:lnTo>
                      <a:pt x="852" y="327"/>
                    </a:lnTo>
                    <a:lnTo>
                      <a:pt x="847" y="318"/>
                    </a:lnTo>
                    <a:lnTo>
                      <a:pt x="843" y="309"/>
                    </a:lnTo>
                    <a:lnTo>
                      <a:pt x="838" y="305"/>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sp>
        <p:nvSpPr>
          <p:cNvPr id="10429" name="Line 189"/>
          <p:cNvSpPr>
            <a:spLocks noChangeShapeType="1"/>
          </p:cNvSpPr>
          <p:nvPr/>
        </p:nvSpPr>
        <p:spPr bwMode="auto">
          <a:xfrm>
            <a:off x="609600" y="3163888"/>
            <a:ext cx="1588" cy="3035300"/>
          </a:xfrm>
          <a:prstGeom prst="line">
            <a:avLst/>
          </a:prstGeom>
          <a:noFill/>
          <a:ln w="126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10430" name="Text Box 190"/>
          <p:cNvSpPr txBox="1">
            <a:spLocks noChangeArrowheads="1"/>
          </p:cNvSpPr>
          <p:nvPr/>
        </p:nvSpPr>
        <p:spPr bwMode="auto">
          <a:xfrm>
            <a:off x="4094163" y="2379663"/>
            <a:ext cx="68897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i="1"/>
              <a:t>Time</a:t>
            </a:r>
          </a:p>
        </p:txBody>
      </p:sp>
    </p:spTree>
    <p:extLst>
      <p:ext uri="{BB962C8B-B14F-4D97-AF65-F5344CB8AC3E}">
        <p14:creationId xmlns:p14="http://schemas.microsoft.com/office/powerpoint/2010/main" val="44589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 calcmode="lin" valueType="num">
                                      <p:cBhvr additive="base">
                                        <p:cTn id="12" dur="500" fill="hold"/>
                                        <p:tgtEl>
                                          <p:spTgt spid="10243">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advAuto="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zh-CN">
                <a:ea typeface="SimSun" pitchFamily="2" charset="-122"/>
              </a:rPr>
              <a:t>Traditional Pipeline Concept</a:t>
            </a:r>
          </a:p>
        </p:txBody>
      </p:sp>
      <p:sp>
        <p:nvSpPr>
          <p:cNvPr id="11267" name="Rectangle 3"/>
          <p:cNvSpPr>
            <a:spLocks noGrp="1" noChangeArrowheads="1"/>
          </p:cNvSpPr>
          <p:nvPr>
            <p:ph type="body" idx="1"/>
          </p:nvPr>
        </p:nvSpPr>
        <p:spPr>
          <a:xfrm>
            <a:off x="4929188" y="3810000"/>
            <a:ext cx="3478212" cy="914400"/>
          </a:xfrm>
          <a:ln/>
          <a:extLst>
            <a:ext uri="{91240B29-F687-4F45-9708-019B960494DF}">
              <a14:hiddenLine xmlns:a14="http://schemas.microsoft.com/office/drawing/2010/main" w="9525">
                <a:solidFill>
                  <a:srgbClr val="000000"/>
                </a:solidFill>
                <a:miter lim="800000"/>
                <a:headEnd/>
                <a:tailEnd/>
              </a14:hiddenLine>
            </a:ext>
          </a:extLst>
        </p:spPr>
        <p:txBody>
          <a:bodyPr lIns="63360" tIns="25560" rIns="63360" bIns="25560"/>
          <a:lstStyle/>
          <a:p>
            <a:pPr marL="201613" indent="-201613" defTabSz="449263">
              <a:buClr>
                <a:srgbClr val="FC0128"/>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100"/>
              <a:t>Pipelined laundry takes 3.5 hours for 4 loads </a:t>
            </a:r>
          </a:p>
        </p:txBody>
      </p:sp>
      <p:grpSp>
        <p:nvGrpSpPr>
          <p:cNvPr id="11268" name="Group 4"/>
          <p:cNvGrpSpPr>
            <a:grpSpLocks/>
          </p:cNvGrpSpPr>
          <p:nvPr/>
        </p:nvGrpSpPr>
        <p:grpSpPr bwMode="auto">
          <a:xfrm>
            <a:off x="1084263" y="3430588"/>
            <a:ext cx="522287" cy="534987"/>
            <a:chOff x="441" y="1516"/>
            <a:chExt cx="329" cy="337"/>
          </a:xfrm>
        </p:grpSpPr>
        <p:sp>
          <p:nvSpPr>
            <p:cNvPr id="11269" name="Freeform 5"/>
            <p:cNvSpPr>
              <a:spLocks noChangeArrowheads="1"/>
            </p:cNvSpPr>
            <p:nvPr/>
          </p:nvSpPr>
          <p:spPr bwMode="auto">
            <a:xfrm>
              <a:off x="441" y="1516"/>
              <a:ext cx="329" cy="294"/>
            </a:xfrm>
            <a:custGeom>
              <a:avLst/>
              <a:gdLst>
                <a:gd name="T0" fmla="*/ 411 w 1451"/>
                <a:gd name="T1" fmla="*/ 61 h 1297"/>
                <a:gd name="T2" fmla="*/ 689 w 1451"/>
                <a:gd name="T3" fmla="*/ 70 h 1297"/>
                <a:gd name="T4" fmla="*/ 990 w 1451"/>
                <a:gd name="T5" fmla="*/ 0 h 1297"/>
                <a:gd name="T6" fmla="*/ 1349 w 1451"/>
                <a:gd name="T7" fmla="*/ 0 h 1297"/>
                <a:gd name="T8" fmla="*/ 950 w 1451"/>
                <a:gd name="T9" fmla="*/ 370 h 1297"/>
                <a:gd name="T10" fmla="*/ 1056 w 1451"/>
                <a:gd name="T11" fmla="*/ 392 h 1297"/>
                <a:gd name="T12" fmla="*/ 1162 w 1451"/>
                <a:gd name="T13" fmla="*/ 436 h 1297"/>
                <a:gd name="T14" fmla="*/ 1260 w 1451"/>
                <a:gd name="T15" fmla="*/ 489 h 1297"/>
                <a:gd name="T16" fmla="*/ 1335 w 1451"/>
                <a:gd name="T17" fmla="*/ 556 h 1297"/>
                <a:gd name="T18" fmla="*/ 1397 w 1451"/>
                <a:gd name="T19" fmla="*/ 635 h 1297"/>
                <a:gd name="T20" fmla="*/ 1437 w 1451"/>
                <a:gd name="T21" fmla="*/ 728 h 1297"/>
                <a:gd name="T22" fmla="*/ 1450 w 1451"/>
                <a:gd name="T23" fmla="*/ 824 h 1297"/>
                <a:gd name="T24" fmla="*/ 1432 w 1451"/>
                <a:gd name="T25" fmla="*/ 925 h 1297"/>
                <a:gd name="T26" fmla="*/ 1402 w 1451"/>
                <a:gd name="T27" fmla="*/ 1005 h 1297"/>
                <a:gd name="T28" fmla="*/ 1340 w 1451"/>
                <a:gd name="T29" fmla="*/ 1089 h 1297"/>
                <a:gd name="T30" fmla="*/ 1238 w 1451"/>
                <a:gd name="T31" fmla="*/ 1177 h 1297"/>
                <a:gd name="T32" fmla="*/ 1136 w 1451"/>
                <a:gd name="T33" fmla="*/ 1230 h 1297"/>
                <a:gd name="T34" fmla="*/ 1043 w 1451"/>
                <a:gd name="T35" fmla="*/ 1265 h 1297"/>
                <a:gd name="T36" fmla="*/ 950 w 1451"/>
                <a:gd name="T37" fmla="*/ 1287 h 1297"/>
                <a:gd name="T38" fmla="*/ 836 w 1451"/>
                <a:gd name="T39" fmla="*/ 1296 h 1297"/>
                <a:gd name="T40" fmla="*/ 539 w 1451"/>
                <a:gd name="T41" fmla="*/ 1292 h 1297"/>
                <a:gd name="T42" fmla="*/ 398 w 1451"/>
                <a:gd name="T43" fmla="*/ 1265 h 1297"/>
                <a:gd name="T44" fmla="*/ 248 w 1451"/>
                <a:gd name="T45" fmla="*/ 1199 h 1297"/>
                <a:gd name="T46" fmla="*/ 132 w 1451"/>
                <a:gd name="T47" fmla="*/ 1115 h 1297"/>
                <a:gd name="T48" fmla="*/ 57 w 1451"/>
                <a:gd name="T49" fmla="*/ 1022 h 1297"/>
                <a:gd name="T50" fmla="*/ 17 w 1451"/>
                <a:gd name="T51" fmla="*/ 925 h 1297"/>
                <a:gd name="T52" fmla="*/ 0 w 1451"/>
                <a:gd name="T53" fmla="*/ 841 h 1297"/>
                <a:gd name="T54" fmla="*/ 13 w 1451"/>
                <a:gd name="T55" fmla="*/ 744 h 1297"/>
                <a:gd name="T56" fmla="*/ 61 w 1451"/>
                <a:gd name="T57" fmla="*/ 622 h 1297"/>
                <a:gd name="T58" fmla="*/ 154 w 1451"/>
                <a:gd name="T59" fmla="*/ 520 h 1297"/>
                <a:gd name="T60" fmla="*/ 279 w 1451"/>
                <a:gd name="T61" fmla="*/ 436 h 1297"/>
                <a:gd name="T62" fmla="*/ 451 w 1451"/>
                <a:gd name="T63" fmla="*/ 379 h 1297"/>
                <a:gd name="T64" fmla="*/ 176 w 1451"/>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1270" name="Text Box 6"/>
            <p:cNvSpPr txBox="1">
              <a:spLocks noChangeArrowheads="1"/>
            </p:cNvSpPr>
            <p:nvPr/>
          </p:nvSpPr>
          <p:spPr bwMode="auto">
            <a:xfrm>
              <a:off x="503" y="1563"/>
              <a:ext cx="23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A</a:t>
              </a:r>
            </a:p>
          </p:txBody>
        </p:sp>
      </p:grpSp>
      <p:grpSp>
        <p:nvGrpSpPr>
          <p:cNvPr id="11271" name="Group 7"/>
          <p:cNvGrpSpPr>
            <a:grpSpLocks/>
          </p:cNvGrpSpPr>
          <p:nvPr/>
        </p:nvGrpSpPr>
        <p:grpSpPr bwMode="auto">
          <a:xfrm>
            <a:off x="1071563" y="4281488"/>
            <a:ext cx="522287" cy="534987"/>
            <a:chOff x="433" y="2052"/>
            <a:chExt cx="329" cy="337"/>
          </a:xfrm>
        </p:grpSpPr>
        <p:sp>
          <p:nvSpPr>
            <p:cNvPr id="11272" name="Freeform 8"/>
            <p:cNvSpPr>
              <a:spLocks noChangeArrowheads="1"/>
            </p:cNvSpPr>
            <p:nvPr/>
          </p:nvSpPr>
          <p:spPr bwMode="auto">
            <a:xfrm>
              <a:off x="433" y="2052"/>
              <a:ext cx="329" cy="294"/>
            </a:xfrm>
            <a:custGeom>
              <a:avLst/>
              <a:gdLst>
                <a:gd name="T0" fmla="*/ 411 w 1452"/>
                <a:gd name="T1" fmla="*/ 61 h 1297"/>
                <a:gd name="T2" fmla="*/ 690 w 1452"/>
                <a:gd name="T3" fmla="*/ 70 h 1297"/>
                <a:gd name="T4" fmla="*/ 990 w 1452"/>
                <a:gd name="T5" fmla="*/ 0 h 1297"/>
                <a:gd name="T6" fmla="*/ 1350 w 1452"/>
                <a:gd name="T7" fmla="*/ 0 h 1297"/>
                <a:gd name="T8" fmla="*/ 951 w 1452"/>
                <a:gd name="T9" fmla="*/ 370 h 1297"/>
                <a:gd name="T10" fmla="*/ 1058 w 1452"/>
                <a:gd name="T11" fmla="*/ 392 h 1297"/>
                <a:gd name="T12" fmla="*/ 1163 w 1452"/>
                <a:gd name="T13" fmla="*/ 436 h 1297"/>
                <a:gd name="T14" fmla="*/ 1260 w 1452"/>
                <a:gd name="T15" fmla="*/ 489 h 1297"/>
                <a:gd name="T16" fmla="*/ 1336 w 1452"/>
                <a:gd name="T17" fmla="*/ 556 h 1297"/>
                <a:gd name="T18" fmla="*/ 1398 w 1452"/>
                <a:gd name="T19" fmla="*/ 635 h 1297"/>
                <a:gd name="T20" fmla="*/ 1438 w 1452"/>
                <a:gd name="T21" fmla="*/ 728 h 1297"/>
                <a:gd name="T22" fmla="*/ 1451 w 1452"/>
                <a:gd name="T23" fmla="*/ 824 h 1297"/>
                <a:gd name="T24" fmla="*/ 1433 w 1452"/>
                <a:gd name="T25" fmla="*/ 925 h 1297"/>
                <a:gd name="T26" fmla="*/ 1403 w 1452"/>
                <a:gd name="T27" fmla="*/ 1005 h 1297"/>
                <a:gd name="T28" fmla="*/ 1341 w 1452"/>
                <a:gd name="T29" fmla="*/ 1089 h 1297"/>
                <a:gd name="T30" fmla="*/ 1238 w 1452"/>
                <a:gd name="T31" fmla="*/ 1177 h 1297"/>
                <a:gd name="T32" fmla="*/ 1137 w 1452"/>
                <a:gd name="T33" fmla="*/ 1230 h 1297"/>
                <a:gd name="T34" fmla="*/ 1044 w 1452"/>
                <a:gd name="T35" fmla="*/ 1265 h 1297"/>
                <a:gd name="T36" fmla="*/ 951 w 1452"/>
                <a:gd name="T37" fmla="*/ 1287 h 1297"/>
                <a:gd name="T38" fmla="*/ 836 w 1452"/>
                <a:gd name="T39" fmla="*/ 1296 h 1297"/>
                <a:gd name="T40" fmla="*/ 540 w 1452"/>
                <a:gd name="T41" fmla="*/ 1292 h 1297"/>
                <a:gd name="T42" fmla="*/ 397 w 1452"/>
                <a:gd name="T43" fmla="*/ 1265 h 1297"/>
                <a:gd name="T44" fmla="*/ 247 w 1452"/>
                <a:gd name="T45" fmla="*/ 1199 h 1297"/>
                <a:gd name="T46" fmla="*/ 132 w 1452"/>
                <a:gd name="T47" fmla="*/ 1115 h 1297"/>
                <a:gd name="T48" fmla="*/ 57 w 1452"/>
                <a:gd name="T49" fmla="*/ 1022 h 1297"/>
                <a:gd name="T50" fmla="*/ 17 w 1452"/>
                <a:gd name="T51" fmla="*/ 925 h 1297"/>
                <a:gd name="T52" fmla="*/ 0 w 1452"/>
                <a:gd name="T53" fmla="*/ 841 h 1297"/>
                <a:gd name="T54" fmla="*/ 13 w 1452"/>
                <a:gd name="T55" fmla="*/ 744 h 1297"/>
                <a:gd name="T56" fmla="*/ 61 w 1452"/>
                <a:gd name="T57" fmla="*/ 622 h 1297"/>
                <a:gd name="T58" fmla="*/ 155 w 1452"/>
                <a:gd name="T59" fmla="*/ 520 h 1297"/>
                <a:gd name="T60" fmla="*/ 278 w 1452"/>
                <a:gd name="T61" fmla="*/ 436 h 1297"/>
                <a:gd name="T62" fmla="*/ 451 w 1452"/>
                <a:gd name="T63" fmla="*/ 379 h 1297"/>
                <a:gd name="T64" fmla="*/ 177 w 1452"/>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7">
                  <a:moveTo>
                    <a:pt x="177" y="17"/>
                  </a:moveTo>
                  <a:lnTo>
                    <a:pt x="411" y="61"/>
                  </a:lnTo>
                  <a:lnTo>
                    <a:pt x="406" y="0"/>
                  </a:lnTo>
                  <a:lnTo>
                    <a:pt x="690" y="70"/>
                  </a:lnTo>
                  <a:lnTo>
                    <a:pt x="690" y="0"/>
                  </a:lnTo>
                  <a:lnTo>
                    <a:pt x="990" y="0"/>
                  </a:lnTo>
                  <a:lnTo>
                    <a:pt x="986" y="66"/>
                  </a:lnTo>
                  <a:lnTo>
                    <a:pt x="1350" y="0"/>
                  </a:lnTo>
                  <a:lnTo>
                    <a:pt x="907" y="366"/>
                  </a:lnTo>
                  <a:lnTo>
                    <a:pt x="951" y="370"/>
                  </a:lnTo>
                  <a:lnTo>
                    <a:pt x="999" y="379"/>
                  </a:lnTo>
                  <a:lnTo>
                    <a:pt x="1058" y="392"/>
                  </a:lnTo>
                  <a:lnTo>
                    <a:pt x="1106" y="410"/>
                  </a:lnTo>
                  <a:lnTo>
                    <a:pt x="1163" y="436"/>
                  </a:lnTo>
                  <a:lnTo>
                    <a:pt x="1212" y="459"/>
                  </a:lnTo>
                  <a:lnTo>
                    <a:pt x="1260" y="489"/>
                  </a:lnTo>
                  <a:lnTo>
                    <a:pt x="1300"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1" y="1137"/>
                  </a:lnTo>
                  <a:lnTo>
                    <a:pt x="1238" y="1177"/>
                  </a:lnTo>
                  <a:lnTo>
                    <a:pt x="1185" y="1208"/>
                  </a:lnTo>
                  <a:lnTo>
                    <a:pt x="1137" y="1230"/>
                  </a:lnTo>
                  <a:lnTo>
                    <a:pt x="1088" y="1252"/>
                  </a:lnTo>
                  <a:lnTo>
                    <a:pt x="1044" y="1265"/>
                  </a:lnTo>
                  <a:lnTo>
                    <a:pt x="990" y="1278"/>
                  </a:lnTo>
                  <a:lnTo>
                    <a:pt x="951" y="1287"/>
                  </a:lnTo>
                  <a:lnTo>
                    <a:pt x="889" y="1292"/>
                  </a:lnTo>
                  <a:lnTo>
                    <a:pt x="836" y="1296"/>
                  </a:lnTo>
                  <a:lnTo>
                    <a:pt x="588" y="1296"/>
                  </a:lnTo>
                  <a:lnTo>
                    <a:pt x="540" y="1292"/>
                  </a:lnTo>
                  <a:lnTo>
                    <a:pt x="478" y="1283"/>
                  </a:lnTo>
                  <a:lnTo>
                    <a:pt x="397" y="1265"/>
                  </a:lnTo>
                  <a:lnTo>
                    <a:pt x="322" y="1234"/>
                  </a:lnTo>
                  <a:lnTo>
                    <a:pt x="247" y="1199"/>
                  </a:lnTo>
                  <a:lnTo>
                    <a:pt x="181"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5" y="520"/>
                  </a:lnTo>
                  <a:lnTo>
                    <a:pt x="217" y="472"/>
                  </a:lnTo>
                  <a:lnTo>
                    <a:pt x="278" y="436"/>
                  </a:lnTo>
                  <a:lnTo>
                    <a:pt x="362" y="401"/>
                  </a:lnTo>
                  <a:lnTo>
                    <a:pt x="451" y="379"/>
                  </a:lnTo>
                  <a:lnTo>
                    <a:pt x="509" y="366"/>
                  </a:lnTo>
                  <a:lnTo>
                    <a:pt x="177" y="17"/>
                  </a:lnTo>
                </a:path>
              </a:pathLst>
            </a:custGeom>
            <a:solidFill>
              <a:srgbClr val="D49FFF"/>
            </a:solidFill>
            <a:ln w="12600">
              <a:solidFill>
                <a:srgbClr val="000000"/>
              </a:solidFill>
              <a:round/>
              <a:headEnd/>
              <a:tailEnd/>
            </a:ln>
          </p:spPr>
          <p:txBody>
            <a:bodyPr wrap="none" anchor="ctr"/>
            <a:lstStyle/>
            <a:p>
              <a:endParaRPr lang="en-IN"/>
            </a:p>
          </p:txBody>
        </p:sp>
        <p:sp>
          <p:nvSpPr>
            <p:cNvPr id="11273" name="Text Box 9"/>
            <p:cNvSpPr txBox="1">
              <a:spLocks noChangeArrowheads="1"/>
            </p:cNvSpPr>
            <p:nvPr/>
          </p:nvSpPr>
          <p:spPr bwMode="auto">
            <a:xfrm>
              <a:off x="495" y="2099"/>
              <a:ext cx="23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B</a:t>
              </a:r>
            </a:p>
          </p:txBody>
        </p:sp>
      </p:grpSp>
      <p:grpSp>
        <p:nvGrpSpPr>
          <p:cNvPr id="11274" name="Group 10"/>
          <p:cNvGrpSpPr>
            <a:grpSpLocks/>
          </p:cNvGrpSpPr>
          <p:nvPr/>
        </p:nvGrpSpPr>
        <p:grpSpPr bwMode="auto">
          <a:xfrm>
            <a:off x="1033463" y="5030788"/>
            <a:ext cx="522287" cy="534987"/>
            <a:chOff x="409" y="2524"/>
            <a:chExt cx="329" cy="337"/>
          </a:xfrm>
        </p:grpSpPr>
        <p:sp>
          <p:nvSpPr>
            <p:cNvPr id="11275" name="Freeform 11"/>
            <p:cNvSpPr>
              <a:spLocks noChangeArrowheads="1"/>
            </p:cNvSpPr>
            <p:nvPr/>
          </p:nvSpPr>
          <p:spPr bwMode="auto">
            <a:xfrm>
              <a:off x="409" y="2524"/>
              <a:ext cx="329" cy="294"/>
            </a:xfrm>
            <a:custGeom>
              <a:avLst/>
              <a:gdLst>
                <a:gd name="T0" fmla="*/ 411 w 1451"/>
                <a:gd name="T1" fmla="*/ 61 h 1297"/>
                <a:gd name="T2" fmla="*/ 689 w 1451"/>
                <a:gd name="T3" fmla="*/ 70 h 1297"/>
                <a:gd name="T4" fmla="*/ 990 w 1451"/>
                <a:gd name="T5" fmla="*/ 0 h 1297"/>
                <a:gd name="T6" fmla="*/ 1349 w 1451"/>
                <a:gd name="T7" fmla="*/ 0 h 1297"/>
                <a:gd name="T8" fmla="*/ 950 w 1451"/>
                <a:gd name="T9" fmla="*/ 370 h 1297"/>
                <a:gd name="T10" fmla="*/ 1056 w 1451"/>
                <a:gd name="T11" fmla="*/ 392 h 1297"/>
                <a:gd name="T12" fmla="*/ 1162 w 1451"/>
                <a:gd name="T13" fmla="*/ 436 h 1297"/>
                <a:gd name="T14" fmla="*/ 1260 w 1451"/>
                <a:gd name="T15" fmla="*/ 489 h 1297"/>
                <a:gd name="T16" fmla="*/ 1335 w 1451"/>
                <a:gd name="T17" fmla="*/ 556 h 1297"/>
                <a:gd name="T18" fmla="*/ 1397 w 1451"/>
                <a:gd name="T19" fmla="*/ 635 h 1297"/>
                <a:gd name="T20" fmla="*/ 1437 w 1451"/>
                <a:gd name="T21" fmla="*/ 728 h 1297"/>
                <a:gd name="T22" fmla="*/ 1450 w 1451"/>
                <a:gd name="T23" fmla="*/ 824 h 1297"/>
                <a:gd name="T24" fmla="*/ 1432 w 1451"/>
                <a:gd name="T25" fmla="*/ 925 h 1297"/>
                <a:gd name="T26" fmla="*/ 1402 w 1451"/>
                <a:gd name="T27" fmla="*/ 1005 h 1297"/>
                <a:gd name="T28" fmla="*/ 1340 w 1451"/>
                <a:gd name="T29" fmla="*/ 1089 h 1297"/>
                <a:gd name="T30" fmla="*/ 1238 w 1451"/>
                <a:gd name="T31" fmla="*/ 1177 h 1297"/>
                <a:gd name="T32" fmla="*/ 1136 w 1451"/>
                <a:gd name="T33" fmla="*/ 1230 h 1297"/>
                <a:gd name="T34" fmla="*/ 1043 w 1451"/>
                <a:gd name="T35" fmla="*/ 1265 h 1297"/>
                <a:gd name="T36" fmla="*/ 950 w 1451"/>
                <a:gd name="T37" fmla="*/ 1287 h 1297"/>
                <a:gd name="T38" fmla="*/ 836 w 1451"/>
                <a:gd name="T39" fmla="*/ 1296 h 1297"/>
                <a:gd name="T40" fmla="*/ 539 w 1451"/>
                <a:gd name="T41" fmla="*/ 1292 h 1297"/>
                <a:gd name="T42" fmla="*/ 398 w 1451"/>
                <a:gd name="T43" fmla="*/ 1265 h 1297"/>
                <a:gd name="T44" fmla="*/ 248 w 1451"/>
                <a:gd name="T45" fmla="*/ 1199 h 1297"/>
                <a:gd name="T46" fmla="*/ 132 w 1451"/>
                <a:gd name="T47" fmla="*/ 1115 h 1297"/>
                <a:gd name="T48" fmla="*/ 57 w 1451"/>
                <a:gd name="T49" fmla="*/ 1022 h 1297"/>
                <a:gd name="T50" fmla="*/ 17 w 1451"/>
                <a:gd name="T51" fmla="*/ 925 h 1297"/>
                <a:gd name="T52" fmla="*/ 0 w 1451"/>
                <a:gd name="T53" fmla="*/ 841 h 1297"/>
                <a:gd name="T54" fmla="*/ 13 w 1451"/>
                <a:gd name="T55" fmla="*/ 744 h 1297"/>
                <a:gd name="T56" fmla="*/ 61 w 1451"/>
                <a:gd name="T57" fmla="*/ 622 h 1297"/>
                <a:gd name="T58" fmla="*/ 154 w 1451"/>
                <a:gd name="T59" fmla="*/ 520 h 1297"/>
                <a:gd name="T60" fmla="*/ 279 w 1451"/>
                <a:gd name="T61" fmla="*/ 436 h 1297"/>
                <a:gd name="T62" fmla="*/ 451 w 1451"/>
                <a:gd name="T63" fmla="*/ 379 h 1297"/>
                <a:gd name="T64" fmla="*/ 176 w 1451"/>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1276" name="Text Box 12"/>
            <p:cNvSpPr txBox="1">
              <a:spLocks noChangeArrowheads="1"/>
            </p:cNvSpPr>
            <p:nvPr/>
          </p:nvSpPr>
          <p:spPr bwMode="auto">
            <a:xfrm>
              <a:off x="471" y="2571"/>
              <a:ext cx="23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C</a:t>
              </a:r>
            </a:p>
          </p:txBody>
        </p:sp>
      </p:grpSp>
      <p:grpSp>
        <p:nvGrpSpPr>
          <p:cNvPr id="11277" name="Group 13"/>
          <p:cNvGrpSpPr>
            <a:grpSpLocks/>
          </p:cNvGrpSpPr>
          <p:nvPr/>
        </p:nvGrpSpPr>
        <p:grpSpPr bwMode="auto">
          <a:xfrm>
            <a:off x="1033463" y="5754688"/>
            <a:ext cx="522287" cy="534987"/>
            <a:chOff x="409" y="2980"/>
            <a:chExt cx="329" cy="337"/>
          </a:xfrm>
        </p:grpSpPr>
        <p:sp>
          <p:nvSpPr>
            <p:cNvPr id="11278" name="Freeform 14"/>
            <p:cNvSpPr>
              <a:spLocks noChangeArrowheads="1"/>
            </p:cNvSpPr>
            <p:nvPr/>
          </p:nvSpPr>
          <p:spPr bwMode="auto">
            <a:xfrm>
              <a:off x="409" y="2980"/>
              <a:ext cx="329" cy="294"/>
            </a:xfrm>
            <a:custGeom>
              <a:avLst/>
              <a:gdLst>
                <a:gd name="T0" fmla="*/ 411 w 1451"/>
                <a:gd name="T1" fmla="*/ 61 h 1297"/>
                <a:gd name="T2" fmla="*/ 689 w 1451"/>
                <a:gd name="T3" fmla="*/ 70 h 1297"/>
                <a:gd name="T4" fmla="*/ 990 w 1451"/>
                <a:gd name="T5" fmla="*/ 0 h 1297"/>
                <a:gd name="T6" fmla="*/ 1349 w 1451"/>
                <a:gd name="T7" fmla="*/ 0 h 1297"/>
                <a:gd name="T8" fmla="*/ 950 w 1451"/>
                <a:gd name="T9" fmla="*/ 370 h 1297"/>
                <a:gd name="T10" fmla="*/ 1056 w 1451"/>
                <a:gd name="T11" fmla="*/ 392 h 1297"/>
                <a:gd name="T12" fmla="*/ 1162 w 1451"/>
                <a:gd name="T13" fmla="*/ 436 h 1297"/>
                <a:gd name="T14" fmla="*/ 1260 w 1451"/>
                <a:gd name="T15" fmla="*/ 489 h 1297"/>
                <a:gd name="T16" fmla="*/ 1335 w 1451"/>
                <a:gd name="T17" fmla="*/ 556 h 1297"/>
                <a:gd name="T18" fmla="*/ 1397 w 1451"/>
                <a:gd name="T19" fmla="*/ 635 h 1297"/>
                <a:gd name="T20" fmla="*/ 1437 w 1451"/>
                <a:gd name="T21" fmla="*/ 728 h 1297"/>
                <a:gd name="T22" fmla="*/ 1450 w 1451"/>
                <a:gd name="T23" fmla="*/ 824 h 1297"/>
                <a:gd name="T24" fmla="*/ 1432 w 1451"/>
                <a:gd name="T25" fmla="*/ 925 h 1297"/>
                <a:gd name="T26" fmla="*/ 1402 w 1451"/>
                <a:gd name="T27" fmla="*/ 1005 h 1297"/>
                <a:gd name="T28" fmla="*/ 1340 w 1451"/>
                <a:gd name="T29" fmla="*/ 1089 h 1297"/>
                <a:gd name="T30" fmla="*/ 1238 w 1451"/>
                <a:gd name="T31" fmla="*/ 1177 h 1297"/>
                <a:gd name="T32" fmla="*/ 1136 w 1451"/>
                <a:gd name="T33" fmla="*/ 1230 h 1297"/>
                <a:gd name="T34" fmla="*/ 1043 w 1451"/>
                <a:gd name="T35" fmla="*/ 1265 h 1297"/>
                <a:gd name="T36" fmla="*/ 950 w 1451"/>
                <a:gd name="T37" fmla="*/ 1287 h 1297"/>
                <a:gd name="T38" fmla="*/ 836 w 1451"/>
                <a:gd name="T39" fmla="*/ 1296 h 1297"/>
                <a:gd name="T40" fmla="*/ 539 w 1451"/>
                <a:gd name="T41" fmla="*/ 1292 h 1297"/>
                <a:gd name="T42" fmla="*/ 398 w 1451"/>
                <a:gd name="T43" fmla="*/ 1265 h 1297"/>
                <a:gd name="T44" fmla="*/ 248 w 1451"/>
                <a:gd name="T45" fmla="*/ 1199 h 1297"/>
                <a:gd name="T46" fmla="*/ 132 w 1451"/>
                <a:gd name="T47" fmla="*/ 1115 h 1297"/>
                <a:gd name="T48" fmla="*/ 57 w 1451"/>
                <a:gd name="T49" fmla="*/ 1022 h 1297"/>
                <a:gd name="T50" fmla="*/ 17 w 1451"/>
                <a:gd name="T51" fmla="*/ 925 h 1297"/>
                <a:gd name="T52" fmla="*/ 0 w 1451"/>
                <a:gd name="T53" fmla="*/ 841 h 1297"/>
                <a:gd name="T54" fmla="*/ 13 w 1451"/>
                <a:gd name="T55" fmla="*/ 744 h 1297"/>
                <a:gd name="T56" fmla="*/ 61 w 1451"/>
                <a:gd name="T57" fmla="*/ 622 h 1297"/>
                <a:gd name="T58" fmla="*/ 154 w 1451"/>
                <a:gd name="T59" fmla="*/ 520 h 1297"/>
                <a:gd name="T60" fmla="*/ 279 w 1451"/>
                <a:gd name="T61" fmla="*/ 436 h 1297"/>
                <a:gd name="T62" fmla="*/ 451 w 1451"/>
                <a:gd name="T63" fmla="*/ 379 h 1297"/>
                <a:gd name="T64" fmla="*/ 176 w 1451"/>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1" h="1297">
                  <a:moveTo>
                    <a:pt x="176" y="17"/>
                  </a:moveTo>
                  <a:lnTo>
                    <a:pt x="411" y="61"/>
                  </a:lnTo>
                  <a:lnTo>
                    <a:pt x="407" y="0"/>
                  </a:lnTo>
                  <a:lnTo>
                    <a:pt x="689" y="70"/>
                  </a:lnTo>
                  <a:lnTo>
                    <a:pt x="689" y="0"/>
                  </a:lnTo>
                  <a:lnTo>
                    <a:pt x="990" y="0"/>
                  </a:lnTo>
                  <a:lnTo>
                    <a:pt x="986" y="66"/>
                  </a:lnTo>
                  <a:lnTo>
                    <a:pt x="1349" y="0"/>
                  </a:lnTo>
                  <a:lnTo>
                    <a:pt x="906" y="366"/>
                  </a:lnTo>
                  <a:lnTo>
                    <a:pt x="950" y="370"/>
                  </a:lnTo>
                  <a:lnTo>
                    <a:pt x="999" y="379"/>
                  </a:lnTo>
                  <a:lnTo>
                    <a:pt x="1056" y="392"/>
                  </a:lnTo>
                  <a:lnTo>
                    <a:pt x="1105" y="410"/>
                  </a:lnTo>
                  <a:lnTo>
                    <a:pt x="1162" y="436"/>
                  </a:lnTo>
                  <a:lnTo>
                    <a:pt x="1212" y="459"/>
                  </a:lnTo>
                  <a:lnTo>
                    <a:pt x="1260"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8" y="1177"/>
                  </a:lnTo>
                  <a:lnTo>
                    <a:pt x="1184" y="1208"/>
                  </a:lnTo>
                  <a:lnTo>
                    <a:pt x="1136" y="1230"/>
                  </a:lnTo>
                  <a:lnTo>
                    <a:pt x="1087" y="1252"/>
                  </a:lnTo>
                  <a:lnTo>
                    <a:pt x="1043" y="1265"/>
                  </a:lnTo>
                  <a:lnTo>
                    <a:pt x="990" y="1278"/>
                  </a:lnTo>
                  <a:lnTo>
                    <a:pt x="950" y="1287"/>
                  </a:lnTo>
                  <a:lnTo>
                    <a:pt x="889" y="1292"/>
                  </a:lnTo>
                  <a:lnTo>
                    <a:pt x="836" y="1296"/>
                  </a:lnTo>
                  <a:lnTo>
                    <a:pt x="587"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4"/>
                  </a:lnTo>
                  <a:lnTo>
                    <a:pt x="30" y="688"/>
                  </a:lnTo>
                  <a:lnTo>
                    <a:pt x="61" y="622"/>
                  </a:lnTo>
                  <a:lnTo>
                    <a:pt x="105" y="569"/>
                  </a:lnTo>
                  <a:lnTo>
                    <a:pt x="154" y="520"/>
                  </a:lnTo>
                  <a:lnTo>
                    <a:pt x="216"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1279" name="Text Box 15"/>
            <p:cNvSpPr txBox="1">
              <a:spLocks noChangeArrowheads="1"/>
            </p:cNvSpPr>
            <p:nvPr/>
          </p:nvSpPr>
          <p:spPr bwMode="auto">
            <a:xfrm>
              <a:off x="471" y="3027"/>
              <a:ext cx="23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D</a:t>
              </a:r>
            </a:p>
          </p:txBody>
        </p:sp>
      </p:grpSp>
      <p:sp>
        <p:nvSpPr>
          <p:cNvPr id="11280" name="Text Box 16"/>
          <p:cNvSpPr txBox="1">
            <a:spLocks noChangeArrowheads="1"/>
          </p:cNvSpPr>
          <p:nvPr/>
        </p:nvSpPr>
        <p:spPr bwMode="auto">
          <a:xfrm>
            <a:off x="1349375" y="1828800"/>
            <a:ext cx="7731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sz="2000" b="1"/>
              <a:t>6 PM</a:t>
            </a:r>
          </a:p>
        </p:txBody>
      </p:sp>
      <p:sp>
        <p:nvSpPr>
          <p:cNvPr id="11281" name="Line 17"/>
          <p:cNvSpPr>
            <a:spLocks noChangeShapeType="1"/>
          </p:cNvSpPr>
          <p:nvPr/>
        </p:nvSpPr>
        <p:spPr bwMode="auto">
          <a:xfrm>
            <a:off x="1719263" y="2420938"/>
            <a:ext cx="6324600" cy="1587"/>
          </a:xfrm>
          <a:prstGeom prst="line">
            <a:avLst/>
          </a:prstGeom>
          <a:noFill/>
          <a:ln w="126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11282" name="Line 18"/>
          <p:cNvSpPr>
            <a:spLocks noChangeShapeType="1"/>
          </p:cNvSpPr>
          <p:nvPr/>
        </p:nvSpPr>
        <p:spPr bwMode="auto">
          <a:xfrm>
            <a:off x="1712913" y="2287588"/>
            <a:ext cx="1587"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83" name="Text Box 19"/>
          <p:cNvSpPr txBox="1">
            <a:spLocks noChangeArrowheads="1"/>
          </p:cNvSpPr>
          <p:nvPr/>
        </p:nvSpPr>
        <p:spPr bwMode="auto">
          <a:xfrm>
            <a:off x="2581275" y="1841500"/>
            <a:ext cx="3222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sz="2000" b="1"/>
              <a:t>7</a:t>
            </a:r>
          </a:p>
        </p:txBody>
      </p:sp>
      <p:sp>
        <p:nvSpPr>
          <p:cNvPr id="11284" name="Text Box 20"/>
          <p:cNvSpPr txBox="1">
            <a:spLocks noChangeArrowheads="1"/>
          </p:cNvSpPr>
          <p:nvPr/>
        </p:nvSpPr>
        <p:spPr bwMode="auto">
          <a:xfrm>
            <a:off x="3648075" y="1841500"/>
            <a:ext cx="3222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sz="2000" b="1"/>
              <a:t>8</a:t>
            </a:r>
          </a:p>
        </p:txBody>
      </p:sp>
      <p:sp>
        <p:nvSpPr>
          <p:cNvPr id="11285" name="Text Box 21"/>
          <p:cNvSpPr txBox="1">
            <a:spLocks noChangeArrowheads="1"/>
          </p:cNvSpPr>
          <p:nvPr/>
        </p:nvSpPr>
        <p:spPr bwMode="auto">
          <a:xfrm>
            <a:off x="4664075" y="1841500"/>
            <a:ext cx="3222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sz="2000" b="1"/>
              <a:t>9</a:t>
            </a:r>
          </a:p>
        </p:txBody>
      </p:sp>
      <p:sp>
        <p:nvSpPr>
          <p:cNvPr id="11286" name="Text Box 22"/>
          <p:cNvSpPr txBox="1">
            <a:spLocks noChangeArrowheads="1"/>
          </p:cNvSpPr>
          <p:nvPr/>
        </p:nvSpPr>
        <p:spPr bwMode="auto">
          <a:xfrm>
            <a:off x="5603875" y="1854200"/>
            <a:ext cx="4635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sz="2000" b="1"/>
              <a:t>10</a:t>
            </a:r>
          </a:p>
        </p:txBody>
      </p:sp>
      <p:sp>
        <p:nvSpPr>
          <p:cNvPr id="11287" name="Text Box 23"/>
          <p:cNvSpPr txBox="1">
            <a:spLocks noChangeArrowheads="1"/>
          </p:cNvSpPr>
          <p:nvPr/>
        </p:nvSpPr>
        <p:spPr bwMode="auto">
          <a:xfrm>
            <a:off x="6696075" y="1841500"/>
            <a:ext cx="4635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sz="2000" b="1"/>
              <a:t>11</a:t>
            </a:r>
          </a:p>
        </p:txBody>
      </p:sp>
      <p:sp>
        <p:nvSpPr>
          <p:cNvPr id="11288" name="Text Box 24"/>
          <p:cNvSpPr txBox="1">
            <a:spLocks noChangeArrowheads="1"/>
          </p:cNvSpPr>
          <p:nvPr/>
        </p:nvSpPr>
        <p:spPr bwMode="auto">
          <a:xfrm>
            <a:off x="7481888" y="1828800"/>
            <a:ext cx="1238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Midnight</a:t>
            </a:r>
          </a:p>
        </p:txBody>
      </p:sp>
      <p:grpSp>
        <p:nvGrpSpPr>
          <p:cNvPr id="11289" name="Group 25"/>
          <p:cNvGrpSpPr>
            <a:grpSpLocks/>
          </p:cNvGrpSpPr>
          <p:nvPr/>
        </p:nvGrpSpPr>
        <p:grpSpPr bwMode="auto">
          <a:xfrm>
            <a:off x="1757363" y="3328988"/>
            <a:ext cx="3489325" cy="2932112"/>
            <a:chOff x="865" y="1452"/>
            <a:chExt cx="2198" cy="1847"/>
          </a:xfrm>
        </p:grpSpPr>
        <p:grpSp>
          <p:nvGrpSpPr>
            <p:cNvPr id="11290" name="Group 26"/>
            <p:cNvGrpSpPr>
              <a:grpSpLocks/>
            </p:cNvGrpSpPr>
            <p:nvPr/>
          </p:nvGrpSpPr>
          <p:grpSpPr bwMode="auto">
            <a:xfrm>
              <a:off x="865" y="1452"/>
              <a:ext cx="966" cy="447"/>
              <a:chOff x="865" y="1452"/>
              <a:chExt cx="966" cy="447"/>
            </a:xfrm>
          </p:grpSpPr>
          <p:grpSp>
            <p:nvGrpSpPr>
              <p:cNvPr id="11291" name="Group 27"/>
              <p:cNvGrpSpPr>
                <a:grpSpLocks/>
              </p:cNvGrpSpPr>
              <p:nvPr/>
            </p:nvGrpSpPr>
            <p:grpSpPr bwMode="auto">
              <a:xfrm>
                <a:off x="865" y="1452"/>
                <a:ext cx="304" cy="447"/>
                <a:chOff x="865" y="1452"/>
                <a:chExt cx="304" cy="447"/>
              </a:xfrm>
            </p:grpSpPr>
            <p:grpSp>
              <p:nvGrpSpPr>
                <p:cNvPr id="11292" name="Group 28"/>
                <p:cNvGrpSpPr>
                  <a:grpSpLocks/>
                </p:cNvGrpSpPr>
                <p:nvPr/>
              </p:nvGrpSpPr>
              <p:grpSpPr bwMode="auto">
                <a:xfrm>
                  <a:off x="865" y="1452"/>
                  <a:ext cx="304" cy="447"/>
                  <a:chOff x="865" y="1452"/>
                  <a:chExt cx="304" cy="447"/>
                </a:xfrm>
              </p:grpSpPr>
              <p:grpSp>
                <p:nvGrpSpPr>
                  <p:cNvPr id="11293" name="Group 29"/>
                  <p:cNvGrpSpPr>
                    <a:grpSpLocks/>
                  </p:cNvGrpSpPr>
                  <p:nvPr/>
                </p:nvGrpSpPr>
                <p:grpSpPr bwMode="auto">
                  <a:xfrm>
                    <a:off x="865" y="1523"/>
                    <a:ext cx="304" cy="376"/>
                    <a:chOff x="865" y="1523"/>
                    <a:chExt cx="304" cy="376"/>
                  </a:xfrm>
                </p:grpSpPr>
                <p:sp>
                  <p:nvSpPr>
                    <p:cNvPr id="11294" name="Freeform 30"/>
                    <p:cNvSpPr>
                      <a:spLocks noChangeArrowheads="1"/>
                    </p:cNvSpPr>
                    <p:nvPr/>
                  </p:nvSpPr>
                  <p:spPr bwMode="auto">
                    <a:xfrm>
                      <a:off x="865" y="1523"/>
                      <a:ext cx="305" cy="377"/>
                    </a:xfrm>
                    <a:custGeom>
                      <a:avLst/>
                      <a:gdLst>
                        <a:gd name="T0" fmla="*/ 0 w 1346"/>
                        <a:gd name="T1" fmla="*/ 1662 h 1663"/>
                        <a:gd name="T2" fmla="*/ 0 w 1346"/>
                        <a:gd name="T3" fmla="*/ 336 h 1663"/>
                        <a:gd name="T4" fmla="*/ 335 w 1346"/>
                        <a:gd name="T5" fmla="*/ 0 h 1663"/>
                        <a:gd name="T6" fmla="*/ 1345 w 1346"/>
                        <a:gd name="T7" fmla="*/ 0 h 1663"/>
                        <a:gd name="T8" fmla="*/ 1345 w 1346"/>
                        <a:gd name="T9" fmla="*/ 1326 h 1663"/>
                        <a:gd name="T10" fmla="*/ 1008 w 1346"/>
                        <a:gd name="T11" fmla="*/ 1662 h 1663"/>
                        <a:gd name="T12" fmla="*/ 0 w 1346"/>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IN"/>
                    </a:p>
                  </p:txBody>
                </p:sp>
                <p:sp>
                  <p:nvSpPr>
                    <p:cNvPr id="11295" name="Freeform 31"/>
                    <p:cNvSpPr>
                      <a:spLocks noChangeArrowheads="1"/>
                    </p:cNvSpPr>
                    <p:nvPr/>
                  </p:nvSpPr>
                  <p:spPr bwMode="auto">
                    <a:xfrm>
                      <a:off x="865" y="1523"/>
                      <a:ext cx="305" cy="76"/>
                    </a:xfrm>
                    <a:custGeom>
                      <a:avLst/>
                      <a:gdLst>
                        <a:gd name="T0" fmla="*/ 0 w 1346"/>
                        <a:gd name="T1" fmla="*/ 336 h 337"/>
                        <a:gd name="T2" fmla="*/ 335 w 1346"/>
                        <a:gd name="T3" fmla="*/ 0 h 337"/>
                        <a:gd name="T4" fmla="*/ 1345 w 1346"/>
                        <a:gd name="T5" fmla="*/ 0 h 337"/>
                        <a:gd name="T6" fmla="*/ 1008 w 1346"/>
                        <a:gd name="T7" fmla="*/ 336 h 337"/>
                        <a:gd name="T8" fmla="*/ 0 w 1346"/>
                        <a:gd name="T9" fmla="*/ 336 h 337"/>
                      </a:gdLst>
                      <a:ahLst/>
                      <a:cxnLst>
                        <a:cxn ang="0">
                          <a:pos x="T0" y="T1"/>
                        </a:cxn>
                        <a:cxn ang="0">
                          <a:pos x="T2" y="T3"/>
                        </a:cxn>
                        <a:cxn ang="0">
                          <a:pos x="T4" y="T5"/>
                        </a:cxn>
                        <a:cxn ang="0">
                          <a:pos x="T6" y="T7"/>
                        </a:cxn>
                        <a:cxn ang="0">
                          <a:pos x="T8" y="T9"/>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IN"/>
                    </a:p>
                  </p:txBody>
                </p:sp>
                <p:sp>
                  <p:nvSpPr>
                    <p:cNvPr id="11296" name="Freeform 32"/>
                    <p:cNvSpPr>
                      <a:spLocks noChangeArrowheads="1"/>
                    </p:cNvSpPr>
                    <p:nvPr/>
                  </p:nvSpPr>
                  <p:spPr bwMode="auto">
                    <a:xfrm>
                      <a:off x="1093" y="1523"/>
                      <a:ext cx="77" cy="377"/>
                    </a:xfrm>
                    <a:custGeom>
                      <a:avLst/>
                      <a:gdLst>
                        <a:gd name="T0" fmla="*/ 0 w 338"/>
                        <a:gd name="T1" fmla="*/ 1662 h 1663"/>
                        <a:gd name="T2" fmla="*/ 0 w 338"/>
                        <a:gd name="T3" fmla="*/ 336 h 1663"/>
                        <a:gd name="T4" fmla="*/ 337 w 338"/>
                        <a:gd name="T5" fmla="*/ 0 h 1663"/>
                        <a:gd name="T6" fmla="*/ 337 w 338"/>
                        <a:gd name="T7" fmla="*/ 1326 h 1663"/>
                        <a:gd name="T8" fmla="*/ 0 w 338"/>
                        <a:gd name="T9" fmla="*/ 1662 h 1663"/>
                      </a:gdLst>
                      <a:ahLst/>
                      <a:cxnLst>
                        <a:cxn ang="0">
                          <a:pos x="T0" y="T1"/>
                        </a:cxn>
                        <a:cxn ang="0">
                          <a:pos x="T2" y="T3"/>
                        </a:cxn>
                        <a:cxn ang="0">
                          <a:pos x="T4" y="T5"/>
                        </a:cxn>
                        <a:cxn ang="0">
                          <a:pos x="T6" y="T7"/>
                        </a:cxn>
                        <a:cxn ang="0">
                          <a:pos x="T8" y="T9"/>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IN"/>
                    </a:p>
                  </p:txBody>
                </p:sp>
              </p:grpSp>
              <p:grpSp>
                <p:nvGrpSpPr>
                  <p:cNvPr id="11297" name="Group 33"/>
                  <p:cNvGrpSpPr>
                    <a:grpSpLocks/>
                  </p:cNvGrpSpPr>
                  <p:nvPr/>
                </p:nvGrpSpPr>
                <p:grpSpPr bwMode="auto">
                  <a:xfrm>
                    <a:off x="935" y="1452"/>
                    <a:ext cx="234" cy="77"/>
                    <a:chOff x="935" y="1452"/>
                    <a:chExt cx="234" cy="77"/>
                  </a:xfrm>
                </p:grpSpPr>
                <p:sp>
                  <p:nvSpPr>
                    <p:cNvPr id="11298" name="Freeform 34"/>
                    <p:cNvSpPr>
                      <a:spLocks noChangeArrowheads="1"/>
                    </p:cNvSpPr>
                    <p:nvPr/>
                  </p:nvSpPr>
                  <p:spPr bwMode="auto">
                    <a:xfrm>
                      <a:off x="935" y="1452"/>
                      <a:ext cx="235" cy="78"/>
                    </a:xfrm>
                    <a:custGeom>
                      <a:avLst/>
                      <a:gdLst>
                        <a:gd name="T0" fmla="*/ 0 w 1038"/>
                        <a:gd name="T1" fmla="*/ 344 h 345"/>
                        <a:gd name="T2" fmla="*/ 0 w 1038"/>
                        <a:gd name="T3" fmla="*/ 85 h 345"/>
                        <a:gd name="T4" fmla="*/ 85 w 1038"/>
                        <a:gd name="T5" fmla="*/ 0 h 345"/>
                        <a:gd name="T6" fmla="*/ 1037 w 1038"/>
                        <a:gd name="T7" fmla="*/ 0 h 345"/>
                        <a:gd name="T8" fmla="*/ 1037 w 1038"/>
                        <a:gd name="T9" fmla="*/ 257 h 345"/>
                        <a:gd name="T10" fmla="*/ 950 w 1038"/>
                        <a:gd name="T11" fmla="*/ 344 h 345"/>
                        <a:gd name="T12" fmla="*/ 0 w 1038"/>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8" h="345">
                          <a:moveTo>
                            <a:pt x="0" y="344"/>
                          </a:moveTo>
                          <a:lnTo>
                            <a:pt x="0" y="85"/>
                          </a:lnTo>
                          <a:lnTo>
                            <a:pt x="85" y="0"/>
                          </a:lnTo>
                          <a:lnTo>
                            <a:pt x="1037" y="0"/>
                          </a:lnTo>
                          <a:lnTo>
                            <a:pt x="1037" y="257"/>
                          </a:lnTo>
                          <a:lnTo>
                            <a:pt x="950"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1299" name="Freeform 35"/>
                    <p:cNvSpPr>
                      <a:spLocks noChangeArrowheads="1"/>
                    </p:cNvSpPr>
                    <p:nvPr/>
                  </p:nvSpPr>
                  <p:spPr bwMode="auto">
                    <a:xfrm>
                      <a:off x="935" y="1452"/>
                      <a:ext cx="235" cy="20"/>
                    </a:xfrm>
                    <a:custGeom>
                      <a:avLst/>
                      <a:gdLst>
                        <a:gd name="T0" fmla="*/ 0 w 1038"/>
                        <a:gd name="T1" fmla="*/ 85 h 86"/>
                        <a:gd name="T2" fmla="*/ 85 w 1038"/>
                        <a:gd name="T3" fmla="*/ 0 h 86"/>
                        <a:gd name="T4" fmla="*/ 1037 w 1038"/>
                        <a:gd name="T5" fmla="*/ 0 h 86"/>
                        <a:gd name="T6" fmla="*/ 950 w 1038"/>
                        <a:gd name="T7" fmla="*/ 85 h 86"/>
                        <a:gd name="T8" fmla="*/ 0 w 1038"/>
                        <a:gd name="T9" fmla="*/ 85 h 86"/>
                      </a:gdLst>
                      <a:ahLst/>
                      <a:cxnLst>
                        <a:cxn ang="0">
                          <a:pos x="T0" y="T1"/>
                        </a:cxn>
                        <a:cxn ang="0">
                          <a:pos x="T2" y="T3"/>
                        </a:cxn>
                        <a:cxn ang="0">
                          <a:pos x="T4" y="T5"/>
                        </a:cxn>
                        <a:cxn ang="0">
                          <a:pos x="T6" y="T7"/>
                        </a:cxn>
                        <a:cxn ang="0">
                          <a:pos x="T8" y="T9"/>
                        </a:cxn>
                      </a:cxnLst>
                      <a:rect l="0" t="0" r="r" b="b"/>
                      <a:pathLst>
                        <a:path w="1038" h="86">
                          <a:moveTo>
                            <a:pt x="0" y="85"/>
                          </a:moveTo>
                          <a:lnTo>
                            <a:pt x="85" y="0"/>
                          </a:lnTo>
                          <a:lnTo>
                            <a:pt x="1037" y="0"/>
                          </a:lnTo>
                          <a:lnTo>
                            <a:pt x="950"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1300" name="Freeform 36"/>
                    <p:cNvSpPr>
                      <a:spLocks noChangeArrowheads="1"/>
                    </p:cNvSpPr>
                    <p:nvPr/>
                  </p:nvSpPr>
                  <p:spPr bwMode="auto">
                    <a:xfrm>
                      <a:off x="1150" y="1452"/>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1301" name="Freeform 37"/>
                <p:cNvSpPr>
                  <a:spLocks noChangeArrowheads="1"/>
                </p:cNvSpPr>
                <p:nvPr/>
              </p:nvSpPr>
              <p:spPr bwMode="auto">
                <a:xfrm>
                  <a:off x="927" y="1556"/>
                  <a:ext cx="158" cy="27"/>
                </a:xfrm>
                <a:custGeom>
                  <a:avLst/>
                  <a:gdLst>
                    <a:gd name="T0" fmla="*/ 173 w 698"/>
                    <a:gd name="T1" fmla="*/ 0 h 121"/>
                    <a:gd name="T2" fmla="*/ 697 w 698"/>
                    <a:gd name="T3" fmla="*/ 0 h 121"/>
                    <a:gd name="T4" fmla="*/ 522 w 698"/>
                    <a:gd name="T5" fmla="*/ 120 h 121"/>
                    <a:gd name="T6" fmla="*/ 0 w 698"/>
                    <a:gd name="T7" fmla="*/ 120 h 121"/>
                    <a:gd name="T8" fmla="*/ 173 w 698"/>
                    <a:gd name="T9" fmla="*/ 0 h 121"/>
                  </a:gdLst>
                  <a:ahLst/>
                  <a:cxnLst>
                    <a:cxn ang="0">
                      <a:pos x="T0" y="T1"/>
                    </a:cxn>
                    <a:cxn ang="0">
                      <a:pos x="T2" y="T3"/>
                    </a:cxn>
                    <a:cxn ang="0">
                      <a:pos x="T4" y="T5"/>
                    </a:cxn>
                    <a:cxn ang="0">
                      <a:pos x="T6" y="T7"/>
                    </a:cxn>
                    <a:cxn ang="0">
                      <a:pos x="T8" y="T9"/>
                    </a:cxn>
                  </a:cxnLst>
                  <a:rect l="0" t="0" r="r" b="b"/>
                  <a:pathLst>
                    <a:path w="698" h="121">
                      <a:moveTo>
                        <a:pt x="173" y="0"/>
                      </a:moveTo>
                      <a:lnTo>
                        <a:pt x="697" y="0"/>
                      </a:lnTo>
                      <a:lnTo>
                        <a:pt x="522" y="120"/>
                      </a:lnTo>
                      <a:lnTo>
                        <a:pt x="0" y="120"/>
                      </a:lnTo>
                      <a:lnTo>
                        <a:pt x="173"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1302" name="Group 38"/>
              <p:cNvGrpSpPr>
                <a:grpSpLocks/>
              </p:cNvGrpSpPr>
              <p:nvPr/>
            </p:nvGrpSpPr>
            <p:grpSpPr bwMode="auto">
              <a:xfrm>
                <a:off x="1166" y="1452"/>
                <a:ext cx="377" cy="447"/>
                <a:chOff x="1166" y="1452"/>
                <a:chExt cx="377" cy="447"/>
              </a:xfrm>
            </p:grpSpPr>
            <p:grpSp>
              <p:nvGrpSpPr>
                <p:cNvPr id="11303" name="Group 39"/>
                <p:cNvGrpSpPr>
                  <a:grpSpLocks/>
                </p:cNvGrpSpPr>
                <p:nvPr/>
              </p:nvGrpSpPr>
              <p:grpSpPr bwMode="auto">
                <a:xfrm>
                  <a:off x="1166" y="1452"/>
                  <a:ext cx="377" cy="447"/>
                  <a:chOff x="1166" y="1452"/>
                  <a:chExt cx="377" cy="447"/>
                </a:xfrm>
              </p:grpSpPr>
              <p:grpSp>
                <p:nvGrpSpPr>
                  <p:cNvPr id="11304" name="Group 40"/>
                  <p:cNvGrpSpPr>
                    <a:grpSpLocks/>
                  </p:cNvGrpSpPr>
                  <p:nvPr/>
                </p:nvGrpSpPr>
                <p:grpSpPr bwMode="auto">
                  <a:xfrm>
                    <a:off x="1166" y="1523"/>
                    <a:ext cx="377" cy="376"/>
                    <a:chOff x="1166" y="1523"/>
                    <a:chExt cx="377" cy="376"/>
                  </a:xfrm>
                </p:grpSpPr>
                <p:sp>
                  <p:nvSpPr>
                    <p:cNvPr id="11305" name="Freeform 41"/>
                    <p:cNvSpPr>
                      <a:spLocks noChangeArrowheads="1"/>
                    </p:cNvSpPr>
                    <p:nvPr/>
                  </p:nvSpPr>
                  <p:spPr bwMode="auto">
                    <a:xfrm>
                      <a:off x="1166" y="1523"/>
                      <a:ext cx="378" cy="377"/>
                    </a:xfrm>
                    <a:custGeom>
                      <a:avLst/>
                      <a:gdLst>
                        <a:gd name="T0" fmla="*/ 0 w 1668"/>
                        <a:gd name="T1" fmla="*/ 1662 h 1663"/>
                        <a:gd name="T2" fmla="*/ 0 w 1668"/>
                        <a:gd name="T3" fmla="*/ 415 h 1663"/>
                        <a:gd name="T4" fmla="*/ 414 w 1668"/>
                        <a:gd name="T5" fmla="*/ 0 h 1663"/>
                        <a:gd name="T6" fmla="*/ 1667 w 1668"/>
                        <a:gd name="T7" fmla="*/ 0 h 1663"/>
                        <a:gd name="T8" fmla="*/ 1667 w 1668"/>
                        <a:gd name="T9" fmla="*/ 1247 h 1663"/>
                        <a:gd name="T10" fmla="*/ 1251 w 1668"/>
                        <a:gd name="T11" fmla="*/ 1662 h 1663"/>
                        <a:gd name="T12" fmla="*/ 0 w 1668"/>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IN"/>
                    </a:p>
                  </p:txBody>
                </p:sp>
                <p:sp>
                  <p:nvSpPr>
                    <p:cNvPr id="11306" name="Freeform 42"/>
                    <p:cNvSpPr>
                      <a:spLocks noChangeArrowheads="1"/>
                    </p:cNvSpPr>
                    <p:nvPr/>
                  </p:nvSpPr>
                  <p:spPr bwMode="auto">
                    <a:xfrm>
                      <a:off x="1166" y="1523"/>
                      <a:ext cx="378" cy="94"/>
                    </a:xfrm>
                    <a:custGeom>
                      <a:avLst/>
                      <a:gdLst>
                        <a:gd name="T0" fmla="*/ 0 w 1668"/>
                        <a:gd name="T1" fmla="*/ 415 h 416"/>
                        <a:gd name="T2" fmla="*/ 414 w 1668"/>
                        <a:gd name="T3" fmla="*/ 0 h 416"/>
                        <a:gd name="T4" fmla="*/ 1667 w 1668"/>
                        <a:gd name="T5" fmla="*/ 0 h 416"/>
                        <a:gd name="T6" fmla="*/ 1251 w 1668"/>
                        <a:gd name="T7" fmla="*/ 415 h 416"/>
                        <a:gd name="T8" fmla="*/ 0 w 1668"/>
                        <a:gd name="T9" fmla="*/ 415 h 416"/>
                      </a:gdLst>
                      <a:ahLst/>
                      <a:cxnLst>
                        <a:cxn ang="0">
                          <a:pos x="T0" y="T1"/>
                        </a:cxn>
                        <a:cxn ang="0">
                          <a:pos x="T2" y="T3"/>
                        </a:cxn>
                        <a:cxn ang="0">
                          <a:pos x="T4" y="T5"/>
                        </a:cxn>
                        <a:cxn ang="0">
                          <a:pos x="T6" y="T7"/>
                        </a:cxn>
                        <a:cxn ang="0">
                          <a:pos x="T8" y="T9"/>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IN"/>
                    </a:p>
                  </p:txBody>
                </p:sp>
                <p:sp>
                  <p:nvSpPr>
                    <p:cNvPr id="11307" name="Freeform 43"/>
                    <p:cNvSpPr>
                      <a:spLocks noChangeArrowheads="1"/>
                    </p:cNvSpPr>
                    <p:nvPr/>
                  </p:nvSpPr>
                  <p:spPr bwMode="auto">
                    <a:xfrm>
                      <a:off x="1450" y="1523"/>
                      <a:ext cx="95" cy="377"/>
                    </a:xfrm>
                    <a:custGeom>
                      <a:avLst/>
                      <a:gdLst>
                        <a:gd name="T0" fmla="*/ 0 w 417"/>
                        <a:gd name="T1" fmla="*/ 1662 h 1663"/>
                        <a:gd name="T2" fmla="*/ 0 w 417"/>
                        <a:gd name="T3" fmla="*/ 415 h 1663"/>
                        <a:gd name="T4" fmla="*/ 416 w 417"/>
                        <a:gd name="T5" fmla="*/ 0 h 1663"/>
                        <a:gd name="T6" fmla="*/ 416 w 417"/>
                        <a:gd name="T7" fmla="*/ 1247 h 1663"/>
                        <a:gd name="T8" fmla="*/ 0 w 417"/>
                        <a:gd name="T9" fmla="*/ 1662 h 1663"/>
                      </a:gdLst>
                      <a:ahLst/>
                      <a:cxnLst>
                        <a:cxn ang="0">
                          <a:pos x="T0" y="T1"/>
                        </a:cxn>
                        <a:cxn ang="0">
                          <a:pos x="T2" y="T3"/>
                        </a:cxn>
                        <a:cxn ang="0">
                          <a:pos x="T4" y="T5"/>
                        </a:cxn>
                        <a:cxn ang="0">
                          <a:pos x="T6" y="T7"/>
                        </a:cxn>
                        <a:cxn ang="0">
                          <a:pos x="T8" y="T9"/>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IN"/>
                    </a:p>
                  </p:txBody>
                </p:sp>
              </p:grpSp>
              <p:grpSp>
                <p:nvGrpSpPr>
                  <p:cNvPr id="11308" name="Group 44"/>
                  <p:cNvGrpSpPr>
                    <a:grpSpLocks/>
                  </p:cNvGrpSpPr>
                  <p:nvPr/>
                </p:nvGrpSpPr>
                <p:grpSpPr bwMode="auto">
                  <a:xfrm>
                    <a:off x="1252" y="1452"/>
                    <a:ext cx="291" cy="77"/>
                    <a:chOff x="1252" y="1452"/>
                    <a:chExt cx="291" cy="77"/>
                  </a:xfrm>
                </p:grpSpPr>
                <p:sp>
                  <p:nvSpPr>
                    <p:cNvPr id="11309" name="Freeform 45"/>
                    <p:cNvSpPr>
                      <a:spLocks noChangeArrowheads="1"/>
                    </p:cNvSpPr>
                    <p:nvPr/>
                  </p:nvSpPr>
                  <p:spPr bwMode="auto">
                    <a:xfrm>
                      <a:off x="1252" y="1452"/>
                      <a:ext cx="292" cy="78"/>
                    </a:xfrm>
                    <a:custGeom>
                      <a:avLst/>
                      <a:gdLst>
                        <a:gd name="T0" fmla="*/ 0 w 1289"/>
                        <a:gd name="T1" fmla="*/ 344 h 345"/>
                        <a:gd name="T2" fmla="*/ 0 w 1289"/>
                        <a:gd name="T3" fmla="*/ 85 h 345"/>
                        <a:gd name="T4" fmla="*/ 85 w 1289"/>
                        <a:gd name="T5" fmla="*/ 0 h 345"/>
                        <a:gd name="T6" fmla="*/ 1288 w 1289"/>
                        <a:gd name="T7" fmla="*/ 0 h 345"/>
                        <a:gd name="T8" fmla="*/ 1288 w 1289"/>
                        <a:gd name="T9" fmla="*/ 257 h 345"/>
                        <a:gd name="T10" fmla="*/ 1201 w 1289"/>
                        <a:gd name="T11" fmla="*/ 344 h 345"/>
                        <a:gd name="T12" fmla="*/ 0 w 1289"/>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9" h="345">
                          <a:moveTo>
                            <a:pt x="0" y="344"/>
                          </a:moveTo>
                          <a:lnTo>
                            <a:pt x="0" y="85"/>
                          </a:lnTo>
                          <a:lnTo>
                            <a:pt x="85" y="0"/>
                          </a:lnTo>
                          <a:lnTo>
                            <a:pt x="1288" y="0"/>
                          </a:lnTo>
                          <a:lnTo>
                            <a:pt x="1288" y="257"/>
                          </a:lnTo>
                          <a:lnTo>
                            <a:pt x="1201"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1310" name="Freeform 46"/>
                    <p:cNvSpPr>
                      <a:spLocks noChangeArrowheads="1"/>
                    </p:cNvSpPr>
                    <p:nvPr/>
                  </p:nvSpPr>
                  <p:spPr bwMode="auto">
                    <a:xfrm>
                      <a:off x="1252" y="1452"/>
                      <a:ext cx="292" cy="20"/>
                    </a:xfrm>
                    <a:custGeom>
                      <a:avLst/>
                      <a:gdLst>
                        <a:gd name="T0" fmla="*/ 0 w 1289"/>
                        <a:gd name="T1" fmla="*/ 85 h 86"/>
                        <a:gd name="T2" fmla="*/ 85 w 1289"/>
                        <a:gd name="T3" fmla="*/ 0 h 86"/>
                        <a:gd name="T4" fmla="*/ 1288 w 1289"/>
                        <a:gd name="T5" fmla="*/ 0 h 86"/>
                        <a:gd name="T6" fmla="*/ 1201 w 1289"/>
                        <a:gd name="T7" fmla="*/ 85 h 86"/>
                        <a:gd name="T8" fmla="*/ 0 w 1289"/>
                        <a:gd name="T9" fmla="*/ 85 h 86"/>
                      </a:gdLst>
                      <a:ahLst/>
                      <a:cxnLst>
                        <a:cxn ang="0">
                          <a:pos x="T0" y="T1"/>
                        </a:cxn>
                        <a:cxn ang="0">
                          <a:pos x="T2" y="T3"/>
                        </a:cxn>
                        <a:cxn ang="0">
                          <a:pos x="T4" y="T5"/>
                        </a:cxn>
                        <a:cxn ang="0">
                          <a:pos x="T6" y="T7"/>
                        </a:cxn>
                        <a:cxn ang="0">
                          <a:pos x="T8" y="T9"/>
                        </a:cxn>
                      </a:cxnLst>
                      <a:rect l="0" t="0" r="r" b="b"/>
                      <a:pathLst>
                        <a:path w="1289" h="86">
                          <a:moveTo>
                            <a:pt x="0" y="85"/>
                          </a:moveTo>
                          <a:lnTo>
                            <a:pt x="85" y="0"/>
                          </a:lnTo>
                          <a:lnTo>
                            <a:pt x="1288" y="0"/>
                          </a:lnTo>
                          <a:lnTo>
                            <a:pt x="1201"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1311" name="Freeform 47"/>
                    <p:cNvSpPr>
                      <a:spLocks noChangeArrowheads="1"/>
                    </p:cNvSpPr>
                    <p:nvPr/>
                  </p:nvSpPr>
                  <p:spPr bwMode="auto">
                    <a:xfrm>
                      <a:off x="1524" y="1452"/>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1312" name="Oval 48"/>
                <p:cNvSpPr>
                  <a:spLocks noChangeArrowheads="1"/>
                </p:cNvSpPr>
                <p:nvPr/>
              </p:nvSpPr>
              <p:spPr bwMode="auto">
                <a:xfrm>
                  <a:off x="1281" y="1488"/>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1313" name="Freeform 49"/>
                <p:cNvSpPr>
                  <a:spLocks noChangeArrowheads="1"/>
                </p:cNvSpPr>
                <p:nvPr/>
              </p:nvSpPr>
              <p:spPr bwMode="auto">
                <a:xfrm>
                  <a:off x="1213" y="1698"/>
                  <a:ext cx="198" cy="84"/>
                </a:xfrm>
                <a:custGeom>
                  <a:avLst/>
                  <a:gdLst>
                    <a:gd name="T0" fmla="*/ 107 w 874"/>
                    <a:gd name="T1" fmla="*/ 0 h 371"/>
                    <a:gd name="T2" fmla="*/ 764 w 874"/>
                    <a:gd name="T3" fmla="*/ 0 h 371"/>
                    <a:gd name="T4" fmla="*/ 873 w 874"/>
                    <a:gd name="T5" fmla="*/ 108 h 371"/>
                    <a:gd name="T6" fmla="*/ 873 w 874"/>
                    <a:gd name="T7" fmla="*/ 262 h 371"/>
                    <a:gd name="T8" fmla="*/ 764 w 874"/>
                    <a:gd name="T9" fmla="*/ 370 h 371"/>
                    <a:gd name="T10" fmla="*/ 107 w 874"/>
                    <a:gd name="T11" fmla="*/ 370 h 371"/>
                    <a:gd name="T12" fmla="*/ 0 w 874"/>
                    <a:gd name="T13" fmla="*/ 262 h 371"/>
                    <a:gd name="T14" fmla="*/ 0 w 874"/>
                    <a:gd name="T15" fmla="*/ 108 h 371"/>
                    <a:gd name="T16" fmla="*/ 107 w 874"/>
                    <a:gd name="T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1314" name="Freeform 50"/>
              <p:cNvSpPr>
                <a:spLocks noChangeArrowheads="1"/>
              </p:cNvSpPr>
              <p:nvPr/>
            </p:nvSpPr>
            <p:spPr bwMode="auto">
              <a:xfrm>
                <a:off x="1730" y="1681"/>
                <a:ext cx="85" cy="191"/>
              </a:xfrm>
              <a:custGeom>
                <a:avLst/>
                <a:gdLst>
                  <a:gd name="T0" fmla="*/ 273 w 376"/>
                  <a:gd name="T1" fmla="*/ 0 h 843"/>
                  <a:gd name="T2" fmla="*/ 375 w 376"/>
                  <a:gd name="T3" fmla="*/ 0 h 843"/>
                  <a:gd name="T4" fmla="*/ 101 w 376"/>
                  <a:gd name="T5" fmla="*/ 842 h 843"/>
                  <a:gd name="T6" fmla="*/ 0 w 376"/>
                  <a:gd name="T7" fmla="*/ 842 h 843"/>
                  <a:gd name="T8" fmla="*/ 273 w 376"/>
                  <a:gd name="T9" fmla="*/ 0 h 843"/>
                </a:gdLst>
                <a:ahLst/>
                <a:cxnLst>
                  <a:cxn ang="0">
                    <a:pos x="T0" y="T1"/>
                  </a:cxn>
                  <a:cxn ang="0">
                    <a:pos x="T2" y="T3"/>
                  </a:cxn>
                  <a:cxn ang="0">
                    <a:pos x="T4" y="T5"/>
                  </a:cxn>
                  <a:cxn ang="0">
                    <a:pos x="T6" y="T7"/>
                  </a:cxn>
                  <a:cxn ang="0">
                    <a:pos x="T8" y="T9"/>
                  </a:cxn>
                </a:cxnLst>
                <a:rect l="0" t="0" r="r" b="b"/>
                <a:pathLst>
                  <a:path w="376" h="843">
                    <a:moveTo>
                      <a:pt x="273" y="0"/>
                    </a:moveTo>
                    <a:lnTo>
                      <a:pt x="375" y="0"/>
                    </a:lnTo>
                    <a:lnTo>
                      <a:pt x="101" y="842"/>
                    </a:lnTo>
                    <a:lnTo>
                      <a:pt x="0" y="842"/>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315" name="AutoShape 51"/>
              <p:cNvSpPr>
                <a:spLocks noChangeArrowheads="1"/>
              </p:cNvSpPr>
              <p:nvPr/>
            </p:nvSpPr>
            <p:spPr bwMode="auto">
              <a:xfrm>
                <a:off x="1726" y="1681"/>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316" name="AutoShape 52"/>
              <p:cNvSpPr>
                <a:spLocks noChangeArrowheads="1"/>
              </p:cNvSpPr>
              <p:nvPr/>
            </p:nvSpPr>
            <p:spPr bwMode="auto">
              <a:xfrm>
                <a:off x="1733" y="1762"/>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317" name="AutoShape 53"/>
              <p:cNvSpPr>
                <a:spLocks noChangeArrowheads="1"/>
              </p:cNvSpPr>
              <p:nvPr/>
            </p:nvSpPr>
            <p:spPr bwMode="auto">
              <a:xfrm>
                <a:off x="1550" y="1762"/>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1318" name="Group 54"/>
              <p:cNvGrpSpPr>
                <a:grpSpLocks/>
              </p:cNvGrpSpPr>
              <p:nvPr/>
            </p:nvGrpSpPr>
            <p:grpSpPr bwMode="auto">
              <a:xfrm>
                <a:off x="1548" y="1509"/>
                <a:ext cx="193" cy="363"/>
                <a:chOff x="1548" y="1509"/>
                <a:chExt cx="193" cy="363"/>
              </a:xfrm>
            </p:grpSpPr>
            <p:sp>
              <p:nvSpPr>
                <p:cNvPr id="11319" name="Oval 55"/>
                <p:cNvSpPr>
                  <a:spLocks noChangeArrowheads="1"/>
                </p:cNvSpPr>
                <p:nvPr/>
              </p:nvSpPr>
              <p:spPr bwMode="auto">
                <a:xfrm>
                  <a:off x="1624" y="1509"/>
                  <a:ext cx="48"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1320" name="Freeform 56"/>
                <p:cNvSpPr>
                  <a:spLocks noChangeArrowheads="1"/>
                </p:cNvSpPr>
                <p:nvPr/>
              </p:nvSpPr>
              <p:spPr bwMode="auto">
                <a:xfrm>
                  <a:off x="1548" y="1577"/>
                  <a:ext cx="194" cy="296"/>
                </a:xfrm>
                <a:custGeom>
                  <a:avLst/>
                  <a:gdLst>
                    <a:gd name="T0" fmla="*/ 8 w 856"/>
                    <a:gd name="T1" fmla="*/ 605 h 1305"/>
                    <a:gd name="T2" fmla="*/ 4 w 856"/>
                    <a:gd name="T3" fmla="*/ 618 h 1305"/>
                    <a:gd name="T4" fmla="*/ 0 w 856"/>
                    <a:gd name="T5" fmla="*/ 640 h 1305"/>
                    <a:gd name="T6" fmla="*/ 0 w 856"/>
                    <a:gd name="T7" fmla="*/ 662 h 1305"/>
                    <a:gd name="T8" fmla="*/ 8 w 856"/>
                    <a:gd name="T9" fmla="*/ 684 h 1305"/>
                    <a:gd name="T10" fmla="*/ 17 w 856"/>
                    <a:gd name="T11" fmla="*/ 703 h 1305"/>
                    <a:gd name="T12" fmla="*/ 35 w 856"/>
                    <a:gd name="T13" fmla="*/ 721 h 1305"/>
                    <a:gd name="T14" fmla="*/ 52 w 856"/>
                    <a:gd name="T15" fmla="*/ 730 h 1305"/>
                    <a:gd name="T16" fmla="*/ 70 w 856"/>
                    <a:gd name="T17" fmla="*/ 734 h 1305"/>
                    <a:gd name="T18" fmla="*/ 92 w 856"/>
                    <a:gd name="T19" fmla="*/ 734 h 1305"/>
                    <a:gd name="T20" fmla="*/ 558 w 856"/>
                    <a:gd name="T21" fmla="*/ 1304 h 1305"/>
                    <a:gd name="T22" fmla="*/ 704 w 856"/>
                    <a:gd name="T23" fmla="*/ 627 h 1305"/>
                    <a:gd name="T24" fmla="*/ 704 w 856"/>
                    <a:gd name="T25" fmla="*/ 609 h 1305"/>
                    <a:gd name="T26" fmla="*/ 695 w 856"/>
                    <a:gd name="T27" fmla="*/ 601 h 1305"/>
                    <a:gd name="T28" fmla="*/ 682 w 856"/>
                    <a:gd name="T29" fmla="*/ 587 h 1305"/>
                    <a:gd name="T30" fmla="*/ 673 w 856"/>
                    <a:gd name="T31" fmla="*/ 578 h 1305"/>
                    <a:gd name="T32" fmla="*/ 656 w 856"/>
                    <a:gd name="T33" fmla="*/ 574 h 1305"/>
                    <a:gd name="T34" fmla="*/ 638 w 856"/>
                    <a:gd name="T35" fmla="*/ 570 h 1305"/>
                    <a:gd name="T36" fmla="*/ 620 w 856"/>
                    <a:gd name="T37" fmla="*/ 570 h 1305"/>
                    <a:gd name="T38" fmla="*/ 607 w 856"/>
                    <a:gd name="T39" fmla="*/ 570 h 1305"/>
                    <a:gd name="T40" fmla="*/ 412 w 856"/>
                    <a:gd name="T41" fmla="*/ 331 h 1305"/>
                    <a:gd name="T42" fmla="*/ 793 w 856"/>
                    <a:gd name="T43" fmla="*/ 411 h 1305"/>
                    <a:gd name="T44" fmla="*/ 811 w 856"/>
                    <a:gd name="T45" fmla="*/ 406 h 1305"/>
                    <a:gd name="T46" fmla="*/ 820 w 856"/>
                    <a:gd name="T47" fmla="*/ 402 h 1305"/>
                    <a:gd name="T48" fmla="*/ 837 w 856"/>
                    <a:gd name="T49" fmla="*/ 393 h 1305"/>
                    <a:gd name="T50" fmla="*/ 846 w 856"/>
                    <a:gd name="T51" fmla="*/ 380 h 1305"/>
                    <a:gd name="T52" fmla="*/ 851 w 856"/>
                    <a:gd name="T53" fmla="*/ 367 h 1305"/>
                    <a:gd name="T54" fmla="*/ 855 w 856"/>
                    <a:gd name="T55" fmla="*/ 345 h 1305"/>
                    <a:gd name="T56" fmla="*/ 851 w 856"/>
                    <a:gd name="T57" fmla="*/ 327 h 1305"/>
                    <a:gd name="T58" fmla="*/ 842 w 856"/>
                    <a:gd name="T59" fmla="*/ 309 h 1305"/>
                    <a:gd name="T60" fmla="*/ 833 w 856"/>
                    <a:gd name="T61" fmla="*/ 300 h 1305"/>
                    <a:gd name="T62" fmla="*/ 815 w 856"/>
                    <a:gd name="T63" fmla="*/ 286 h 1305"/>
                    <a:gd name="T64" fmla="*/ 802 w 856"/>
                    <a:gd name="T65" fmla="*/ 282 h 1305"/>
                    <a:gd name="T66" fmla="*/ 541 w 856"/>
                    <a:gd name="T67" fmla="*/ 282 h 1305"/>
                    <a:gd name="T68" fmla="*/ 496 w 856"/>
                    <a:gd name="T69" fmla="*/ 185 h 1305"/>
                    <a:gd name="T70" fmla="*/ 500 w 856"/>
                    <a:gd name="T71" fmla="*/ 163 h 1305"/>
                    <a:gd name="T72" fmla="*/ 505 w 856"/>
                    <a:gd name="T73" fmla="*/ 132 h 1305"/>
                    <a:gd name="T74" fmla="*/ 505 w 856"/>
                    <a:gd name="T75" fmla="*/ 105 h 1305"/>
                    <a:gd name="T76" fmla="*/ 496 w 856"/>
                    <a:gd name="T77" fmla="*/ 83 h 1305"/>
                    <a:gd name="T78" fmla="*/ 487 w 856"/>
                    <a:gd name="T79" fmla="*/ 66 h 1305"/>
                    <a:gd name="T80" fmla="*/ 474 w 856"/>
                    <a:gd name="T81" fmla="*/ 44 h 1305"/>
                    <a:gd name="T82" fmla="*/ 456 w 856"/>
                    <a:gd name="T83" fmla="*/ 30 h 1305"/>
                    <a:gd name="T84" fmla="*/ 434 w 856"/>
                    <a:gd name="T85" fmla="*/ 13 h 1305"/>
                    <a:gd name="T86" fmla="*/ 412 w 856"/>
                    <a:gd name="T87" fmla="*/ 4 h 1305"/>
                    <a:gd name="T88" fmla="*/ 385 w 856"/>
                    <a:gd name="T89" fmla="*/ 0 h 1305"/>
                    <a:gd name="T90" fmla="*/ 359 w 856"/>
                    <a:gd name="T91" fmla="*/ 0 h 1305"/>
                    <a:gd name="T92" fmla="*/ 332 w 856"/>
                    <a:gd name="T93" fmla="*/ 4 h 1305"/>
                    <a:gd name="T94" fmla="*/ 305 w 856"/>
                    <a:gd name="T95" fmla="*/ 13 h 1305"/>
                    <a:gd name="T96" fmla="*/ 278 w 856"/>
                    <a:gd name="T97" fmla="*/ 26 h 1305"/>
                    <a:gd name="T98" fmla="*/ 261 w 856"/>
                    <a:gd name="T99" fmla="*/ 48 h 1305"/>
                    <a:gd name="T100" fmla="*/ 243 w 856"/>
                    <a:gd name="T101" fmla="*/ 75 h 1305"/>
                    <a:gd name="T102" fmla="*/ 234 w 856"/>
                    <a:gd name="T103" fmla="*/ 101 h 1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6" h="1305">
                      <a:moveTo>
                        <a:pt x="234"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2" y="730"/>
                      </a:lnTo>
                      <a:lnTo>
                        <a:pt x="61" y="730"/>
                      </a:lnTo>
                      <a:lnTo>
                        <a:pt x="70" y="734"/>
                      </a:lnTo>
                      <a:lnTo>
                        <a:pt x="79" y="734"/>
                      </a:lnTo>
                      <a:lnTo>
                        <a:pt x="92" y="734"/>
                      </a:lnTo>
                      <a:lnTo>
                        <a:pt x="558" y="734"/>
                      </a:lnTo>
                      <a:lnTo>
                        <a:pt x="558" y="1304"/>
                      </a:lnTo>
                      <a:lnTo>
                        <a:pt x="704" y="1304"/>
                      </a:lnTo>
                      <a:lnTo>
                        <a:pt x="704" y="627"/>
                      </a:lnTo>
                      <a:lnTo>
                        <a:pt x="704" y="618"/>
                      </a:lnTo>
                      <a:lnTo>
                        <a:pt x="704" y="609"/>
                      </a:lnTo>
                      <a:lnTo>
                        <a:pt x="700" y="605"/>
                      </a:lnTo>
                      <a:lnTo>
                        <a:pt x="695" y="601"/>
                      </a:lnTo>
                      <a:lnTo>
                        <a:pt x="691" y="596"/>
                      </a:lnTo>
                      <a:lnTo>
                        <a:pt x="682" y="587"/>
                      </a:lnTo>
                      <a:lnTo>
                        <a:pt x="678" y="583"/>
                      </a:lnTo>
                      <a:lnTo>
                        <a:pt x="673" y="578"/>
                      </a:lnTo>
                      <a:lnTo>
                        <a:pt x="664" y="578"/>
                      </a:lnTo>
                      <a:lnTo>
                        <a:pt x="656" y="574"/>
                      </a:lnTo>
                      <a:lnTo>
                        <a:pt x="647" y="574"/>
                      </a:lnTo>
                      <a:lnTo>
                        <a:pt x="638" y="570"/>
                      </a:lnTo>
                      <a:lnTo>
                        <a:pt x="629" y="570"/>
                      </a:lnTo>
                      <a:lnTo>
                        <a:pt x="620" y="570"/>
                      </a:lnTo>
                      <a:lnTo>
                        <a:pt x="616" y="570"/>
                      </a:lnTo>
                      <a:lnTo>
                        <a:pt x="607" y="570"/>
                      </a:lnTo>
                      <a:lnTo>
                        <a:pt x="337" y="552"/>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nvGrpSpPr>
            <p:cNvPr id="11321" name="Group 57"/>
            <p:cNvGrpSpPr>
              <a:grpSpLocks/>
            </p:cNvGrpSpPr>
            <p:nvPr/>
          </p:nvGrpSpPr>
          <p:grpSpPr bwMode="auto">
            <a:xfrm>
              <a:off x="1265" y="1916"/>
              <a:ext cx="966" cy="447"/>
              <a:chOff x="1265" y="1916"/>
              <a:chExt cx="966" cy="447"/>
            </a:xfrm>
          </p:grpSpPr>
          <p:grpSp>
            <p:nvGrpSpPr>
              <p:cNvPr id="11322" name="Group 58"/>
              <p:cNvGrpSpPr>
                <a:grpSpLocks/>
              </p:cNvGrpSpPr>
              <p:nvPr/>
            </p:nvGrpSpPr>
            <p:grpSpPr bwMode="auto">
              <a:xfrm>
                <a:off x="1265" y="1916"/>
                <a:ext cx="304" cy="447"/>
                <a:chOff x="1265" y="1916"/>
                <a:chExt cx="304" cy="447"/>
              </a:xfrm>
            </p:grpSpPr>
            <p:grpSp>
              <p:nvGrpSpPr>
                <p:cNvPr id="11323" name="Group 59"/>
                <p:cNvGrpSpPr>
                  <a:grpSpLocks/>
                </p:cNvGrpSpPr>
                <p:nvPr/>
              </p:nvGrpSpPr>
              <p:grpSpPr bwMode="auto">
                <a:xfrm>
                  <a:off x="1265" y="1916"/>
                  <a:ext cx="304" cy="447"/>
                  <a:chOff x="1265" y="1916"/>
                  <a:chExt cx="304" cy="447"/>
                </a:xfrm>
              </p:grpSpPr>
              <p:grpSp>
                <p:nvGrpSpPr>
                  <p:cNvPr id="11324" name="Group 60"/>
                  <p:cNvGrpSpPr>
                    <a:grpSpLocks/>
                  </p:cNvGrpSpPr>
                  <p:nvPr/>
                </p:nvGrpSpPr>
                <p:grpSpPr bwMode="auto">
                  <a:xfrm>
                    <a:off x="1265" y="1987"/>
                    <a:ext cx="304" cy="376"/>
                    <a:chOff x="1265" y="1987"/>
                    <a:chExt cx="304" cy="376"/>
                  </a:xfrm>
                </p:grpSpPr>
                <p:sp>
                  <p:nvSpPr>
                    <p:cNvPr id="11325" name="Freeform 61"/>
                    <p:cNvSpPr>
                      <a:spLocks noChangeArrowheads="1"/>
                    </p:cNvSpPr>
                    <p:nvPr/>
                  </p:nvSpPr>
                  <p:spPr bwMode="auto">
                    <a:xfrm>
                      <a:off x="1265" y="1987"/>
                      <a:ext cx="305" cy="377"/>
                    </a:xfrm>
                    <a:custGeom>
                      <a:avLst/>
                      <a:gdLst>
                        <a:gd name="T0" fmla="*/ 0 w 1346"/>
                        <a:gd name="T1" fmla="*/ 1663 h 1664"/>
                        <a:gd name="T2" fmla="*/ 0 w 1346"/>
                        <a:gd name="T3" fmla="*/ 335 h 1664"/>
                        <a:gd name="T4" fmla="*/ 335 w 1346"/>
                        <a:gd name="T5" fmla="*/ 0 h 1664"/>
                        <a:gd name="T6" fmla="*/ 1345 w 1346"/>
                        <a:gd name="T7" fmla="*/ 0 h 1664"/>
                        <a:gd name="T8" fmla="*/ 1345 w 1346"/>
                        <a:gd name="T9" fmla="*/ 1326 h 1664"/>
                        <a:gd name="T10" fmla="*/ 1008 w 1346"/>
                        <a:gd name="T11" fmla="*/ 1663 h 1664"/>
                        <a:gd name="T12" fmla="*/ 0 w 1346"/>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346" h="1664">
                          <a:moveTo>
                            <a:pt x="0" y="1663"/>
                          </a:moveTo>
                          <a:lnTo>
                            <a:pt x="0" y="335"/>
                          </a:lnTo>
                          <a:lnTo>
                            <a:pt x="335" y="0"/>
                          </a:lnTo>
                          <a:lnTo>
                            <a:pt x="1345" y="0"/>
                          </a:lnTo>
                          <a:lnTo>
                            <a:pt x="1345" y="1326"/>
                          </a:lnTo>
                          <a:lnTo>
                            <a:pt x="1008" y="1663"/>
                          </a:lnTo>
                          <a:lnTo>
                            <a:pt x="0" y="1663"/>
                          </a:lnTo>
                        </a:path>
                      </a:pathLst>
                    </a:custGeom>
                    <a:solidFill>
                      <a:srgbClr val="F6BF69"/>
                    </a:solidFill>
                    <a:ln w="12600">
                      <a:solidFill>
                        <a:srgbClr val="000000"/>
                      </a:solidFill>
                      <a:round/>
                      <a:headEnd/>
                      <a:tailEnd/>
                    </a:ln>
                  </p:spPr>
                  <p:txBody>
                    <a:bodyPr wrap="none" anchor="ctr"/>
                    <a:lstStyle/>
                    <a:p>
                      <a:endParaRPr lang="en-IN"/>
                    </a:p>
                  </p:txBody>
                </p:sp>
                <p:sp>
                  <p:nvSpPr>
                    <p:cNvPr id="11326" name="Freeform 62"/>
                    <p:cNvSpPr>
                      <a:spLocks noChangeArrowheads="1"/>
                    </p:cNvSpPr>
                    <p:nvPr/>
                  </p:nvSpPr>
                  <p:spPr bwMode="auto">
                    <a:xfrm>
                      <a:off x="1265" y="1987"/>
                      <a:ext cx="305" cy="76"/>
                    </a:xfrm>
                    <a:custGeom>
                      <a:avLst/>
                      <a:gdLst>
                        <a:gd name="T0" fmla="*/ 0 w 1346"/>
                        <a:gd name="T1" fmla="*/ 335 h 336"/>
                        <a:gd name="T2" fmla="*/ 335 w 1346"/>
                        <a:gd name="T3" fmla="*/ 0 h 336"/>
                        <a:gd name="T4" fmla="*/ 1345 w 1346"/>
                        <a:gd name="T5" fmla="*/ 0 h 336"/>
                        <a:gd name="T6" fmla="*/ 1008 w 1346"/>
                        <a:gd name="T7" fmla="*/ 335 h 336"/>
                        <a:gd name="T8" fmla="*/ 0 w 1346"/>
                        <a:gd name="T9" fmla="*/ 335 h 336"/>
                      </a:gdLst>
                      <a:ahLst/>
                      <a:cxnLst>
                        <a:cxn ang="0">
                          <a:pos x="T0" y="T1"/>
                        </a:cxn>
                        <a:cxn ang="0">
                          <a:pos x="T2" y="T3"/>
                        </a:cxn>
                        <a:cxn ang="0">
                          <a:pos x="T4" y="T5"/>
                        </a:cxn>
                        <a:cxn ang="0">
                          <a:pos x="T6" y="T7"/>
                        </a:cxn>
                        <a:cxn ang="0">
                          <a:pos x="T8" y="T9"/>
                        </a:cxn>
                      </a:cxnLst>
                      <a:rect l="0" t="0" r="r" b="b"/>
                      <a:pathLst>
                        <a:path w="1346" h="336">
                          <a:moveTo>
                            <a:pt x="0" y="335"/>
                          </a:moveTo>
                          <a:lnTo>
                            <a:pt x="335" y="0"/>
                          </a:lnTo>
                          <a:lnTo>
                            <a:pt x="1345" y="0"/>
                          </a:lnTo>
                          <a:lnTo>
                            <a:pt x="1008" y="335"/>
                          </a:lnTo>
                          <a:lnTo>
                            <a:pt x="0" y="335"/>
                          </a:lnTo>
                        </a:path>
                      </a:pathLst>
                    </a:custGeom>
                    <a:solidFill>
                      <a:srgbClr val="FFD072"/>
                    </a:solidFill>
                    <a:ln w="12600">
                      <a:solidFill>
                        <a:srgbClr val="000000"/>
                      </a:solidFill>
                      <a:round/>
                      <a:headEnd/>
                      <a:tailEnd/>
                    </a:ln>
                  </p:spPr>
                  <p:txBody>
                    <a:bodyPr wrap="none" anchor="ctr"/>
                    <a:lstStyle/>
                    <a:p>
                      <a:endParaRPr lang="en-IN"/>
                    </a:p>
                  </p:txBody>
                </p:sp>
                <p:sp>
                  <p:nvSpPr>
                    <p:cNvPr id="11327" name="Freeform 63"/>
                    <p:cNvSpPr>
                      <a:spLocks noChangeArrowheads="1"/>
                    </p:cNvSpPr>
                    <p:nvPr/>
                  </p:nvSpPr>
                  <p:spPr bwMode="auto">
                    <a:xfrm>
                      <a:off x="1494" y="1987"/>
                      <a:ext cx="77" cy="377"/>
                    </a:xfrm>
                    <a:custGeom>
                      <a:avLst/>
                      <a:gdLst>
                        <a:gd name="T0" fmla="*/ 0 w 338"/>
                        <a:gd name="T1" fmla="*/ 1663 h 1664"/>
                        <a:gd name="T2" fmla="*/ 0 w 338"/>
                        <a:gd name="T3" fmla="*/ 335 h 1664"/>
                        <a:gd name="T4" fmla="*/ 337 w 338"/>
                        <a:gd name="T5" fmla="*/ 0 h 1664"/>
                        <a:gd name="T6" fmla="*/ 337 w 338"/>
                        <a:gd name="T7" fmla="*/ 1326 h 1664"/>
                        <a:gd name="T8" fmla="*/ 0 w 338"/>
                        <a:gd name="T9" fmla="*/ 1663 h 1664"/>
                      </a:gdLst>
                      <a:ahLst/>
                      <a:cxnLst>
                        <a:cxn ang="0">
                          <a:pos x="T0" y="T1"/>
                        </a:cxn>
                        <a:cxn ang="0">
                          <a:pos x="T2" y="T3"/>
                        </a:cxn>
                        <a:cxn ang="0">
                          <a:pos x="T4" y="T5"/>
                        </a:cxn>
                        <a:cxn ang="0">
                          <a:pos x="T6" y="T7"/>
                        </a:cxn>
                        <a:cxn ang="0">
                          <a:pos x="T8" y="T9"/>
                        </a:cxn>
                      </a:cxnLst>
                      <a:rect l="0" t="0" r="r" b="b"/>
                      <a:pathLst>
                        <a:path w="338" h="1664">
                          <a:moveTo>
                            <a:pt x="0" y="1663"/>
                          </a:moveTo>
                          <a:lnTo>
                            <a:pt x="0" y="335"/>
                          </a:lnTo>
                          <a:lnTo>
                            <a:pt x="337" y="0"/>
                          </a:lnTo>
                          <a:lnTo>
                            <a:pt x="337" y="1326"/>
                          </a:lnTo>
                          <a:lnTo>
                            <a:pt x="0" y="1663"/>
                          </a:lnTo>
                        </a:path>
                      </a:pathLst>
                    </a:custGeom>
                    <a:solidFill>
                      <a:srgbClr val="D3A45A"/>
                    </a:solidFill>
                    <a:ln w="12600">
                      <a:solidFill>
                        <a:srgbClr val="000000"/>
                      </a:solidFill>
                      <a:round/>
                      <a:headEnd/>
                      <a:tailEnd/>
                    </a:ln>
                  </p:spPr>
                  <p:txBody>
                    <a:bodyPr wrap="none" anchor="ctr"/>
                    <a:lstStyle/>
                    <a:p>
                      <a:endParaRPr lang="en-IN"/>
                    </a:p>
                  </p:txBody>
                </p:sp>
              </p:grpSp>
              <p:grpSp>
                <p:nvGrpSpPr>
                  <p:cNvPr id="11328" name="Group 64"/>
                  <p:cNvGrpSpPr>
                    <a:grpSpLocks/>
                  </p:cNvGrpSpPr>
                  <p:nvPr/>
                </p:nvGrpSpPr>
                <p:grpSpPr bwMode="auto">
                  <a:xfrm>
                    <a:off x="1335" y="1916"/>
                    <a:ext cx="234" cy="77"/>
                    <a:chOff x="1335" y="1916"/>
                    <a:chExt cx="234" cy="77"/>
                  </a:xfrm>
                </p:grpSpPr>
                <p:sp>
                  <p:nvSpPr>
                    <p:cNvPr id="11329" name="Freeform 65"/>
                    <p:cNvSpPr>
                      <a:spLocks noChangeArrowheads="1"/>
                    </p:cNvSpPr>
                    <p:nvPr/>
                  </p:nvSpPr>
                  <p:spPr bwMode="auto">
                    <a:xfrm>
                      <a:off x="1335" y="1916"/>
                      <a:ext cx="235" cy="78"/>
                    </a:xfrm>
                    <a:custGeom>
                      <a:avLst/>
                      <a:gdLst>
                        <a:gd name="T0" fmla="*/ 0 w 1038"/>
                        <a:gd name="T1" fmla="*/ 344 h 345"/>
                        <a:gd name="T2" fmla="*/ 0 w 1038"/>
                        <a:gd name="T3" fmla="*/ 85 h 345"/>
                        <a:gd name="T4" fmla="*/ 85 w 1038"/>
                        <a:gd name="T5" fmla="*/ 0 h 345"/>
                        <a:gd name="T6" fmla="*/ 1037 w 1038"/>
                        <a:gd name="T7" fmla="*/ 0 h 345"/>
                        <a:gd name="T8" fmla="*/ 1037 w 1038"/>
                        <a:gd name="T9" fmla="*/ 257 h 345"/>
                        <a:gd name="T10" fmla="*/ 950 w 1038"/>
                        <a:gd name="T11" fmla="*/ 344 h 345"/>
                        <a:gd name="T12" fmla="*/ 0 w 1038"/>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8" h="345">
                          <a:moveTo>
                            <a:pt x="0" y="344"/>
                          </a:moveTo>
                          <a:lnTo>
                            <a:pt x="0" y="85"/>
                          </a:lnTo>
                          <a:lnTo>
                            <a:pt x="85" y="0"/>
                          </a:lnTo>
                          <a:lnTo>
                            <a:pt x="1037" y="0"/>
                          </a:lnTo>
                          <a:lnTo>
                            <a:pt x="1037" y="257"/>
                          </a:lnTo>
                          <a:lnTo>
                            <a:pt x="950"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1330" name="Freeform 66"/>
                    <p:cNvSpPr>
                      <a:spLocks noChangeArrowheads="1"/>
                    </p:cNvSpPr>
                    <p:nvPr/>
                  </p:nvSpPr>
                  <p:spPr bwMode="auto">
                    <a:xfrm>
                      <a:off x="1335" y="1916"/>
                      <a:ext cx="235" cy="20"/>
                    </a:xfrm>
                    <a:custGeom>
                      <a:avLst/>
                      <a:gdLst>
                        <a:gd name="T0" fmla="*/ 0 w 1038"/>
                        <a:gd name="T1" fmla="*/ 85 h 86"/>
                        <a:gd name="T2" fmla="*/ 85 w 1038"/>
                        <a:gd name="T3" fmla="*/ 0 h 86"/>
                        <a:gd name="T4" fmla="*/ 1037 w 1038"/>
                        <a:gd name="T5" fmla="*/ 0 h 86"/>
                        <a:gd name="T6" fmla="*/ 950 w 1038"/>
                        <a:gd name="T7" fmla="*/ 85 h 86"/>
                        <a:gd name="T8" fmla="*/ 0 w 1038"/>
                        <a:gd name="T9" fmla="*/ 85 h 86"/>
                      </a:gdLst>
                      <a:ahLst/>
                      <a:cxnLst>
                        <a:cxn ang="0">
                          <a:pos x="T0" y="T1"/>
                        </a:cxn>
                        <a:cxn ang="0">
                          <a:pos x="T2" y="T3"/>
                        </a:cxn>
                        <a:cxn ang="0">
                          <a:pos x="T4" y="T5"/>
                        </a:cxn>
                        <a:cxn ang="0">
                          <a:pos x="T6" y="T7"/>
                        </a:cxn>
                        <a:cxn ang="0">
                          <a:pos x="T8" y="T9"/>
                        </a:cxn>
                      </a:cxnLst>
                      <a:rect l="0" t="0" r="r" b="b"/>
                      <a:pathLst>
                        <a:path w="1038" h="86">
                          <a:moveTo>
                            <a:pt x="0" y="85"/>
                          </a:moveTo>
                          <a:lnTo>
                            <a:pt x="85" y="0"/>
                          </a:lnTo>
                          <a:lnTo>
                            <a:pt x="1037" y="0"/>
                          </a:lnTo>
                          <a:lnTo>
                            <a:pt x="950"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1331" name="Freeform 67"/>
                    <p:cNvSpPr>
                      <a:spLocks noChangeArrowheads="1"/>
                    </p:cNvSpPr>
                    <p:nvPr/>
                  </p:nvSpPr>
                  <p:spPr bwMode="auto">
                    <a:xfrm>
                      <a:off x="1550" y="1916"/>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1332" name="Freeform 68"/>
                <p:cNvSpPr>
                  <a:spLocks noChangeArrowheads="1"/>
                </p:cNvSpPr>
                <p:nvPr/>
              </p:nvSpPr>
              <p:spPr bwMode="auto">
                <a:xfrm>
                  <a:off x="1327" y="2020"/>
                  <a:ext cx="158" cy="27"/>
                </a:xfrm>
                <a:custGeom>
                  <a:avLst/>
                  <a:gdLst>
                    <a:gd name="T0" fmla="*/ 173 w 698"/>
                    <a:gd name="T1" fmla="*/ 0 h 120"/>
                    <a:gd name="T2" fmla="*/ 697 w 698"/>
                    <a:gd name="T3" fmla="*/ 0 h 120"/>
                    <a:gd name="T4" fmla="*/ 522 w 698"/>
                    <a:gd name="T5" fmla="*/ 119 h 120"/>
                    <a:gd name="T6" fmla="*/ 0 w 698"/>
                    <a:gd name="T7" fmla="*/ 119 h 120"/>
                    <a:gd name="T8" fmla="*/ 173 w 698"/>
                    <a:gd name="T9" fmla="*/ 0 h 120"/>
                  </a:gdLst>
                  <a:ahLst/>
                  <a:cxnLst>
                    <a:cxn ang="0">
                      <a:pos x="T0" y="T1"/>
                    </a:cxn>
                    <a:cxn ang="0">
                      <a:pos x="T2" y="T3"/>
                    </a:cxn>
                    <a:cxn ang="0">
                      <a:pos x="T4" y="T5"/>
                    </a:cxn>
                    <a:cxn ang="0">
                      <a:pos x="T6" y="T7"/>
                    </a:cxn>
                    <a:cxn ang="0">
                      <a:pos x="T8" y="T9"/>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1333" name="Group 69"/>
              <p:cNvGrpSpPr>
                <a:grpSpLocks/>
              </p:cNvGrpSpPr>
              <p:nvPr/>
            </p:nvGrpSpPr>
            <p:grpSpPr bwMode="auto">
              <a:xfrm>
                <a:off x="1566" y="1916"/>
                <a:ext cx="377" cy="447"/>
                <a:chOff x="1566" y="1916"/>
                <a:chExt cx="377" cy="447"/>
              </a:xfrm>
            </p:grpSpPr>
            <p:grpSp>
              <p:nvGrpSpPr>
                <p:cNvPr id="11334" name="Group 70"/>
                <p:cNvGrpSpPr>
                  <a:grpSpLocks/>
                </p:cNvGrpSpPr>
                <p:nvPr/>
              </p:nvGrpSpPr>
              <p:grpSpPr bwMode="auto">
                <a:xfrm>
                  <a:off x="1566" y="1916"/>
                  <a:ext cx="377" cy="447"/>
                  <a:chOff x="1566" y="1916"/>
                  <a:chExt cx="377" cy="447"/>
                </a:xfrm>
              </p:grpSpPr>
              <p:grpSp>
                <p:nvGrpSpPr>
                  <p:cNvPr id="11335" name="Group 71"/>
                  <p:cNvGrpSpPr>
                    <a:grpSpLocks/>
                  </p:cNvGrpSpPr>
                  <p:nvPr/>
                </p:nvGrpSpPr>
                <p:grpSpPr bwMode="auto">
                  <a:xfrm>
                    <a:off x="1566" y="1987"/>
                    <a:ext cx="377" cy="376"/>
                    <a:chOff x="1566" y="1987"/>
                    <a:chExt cx="377" cy="376"/>
                  </a:xfrm>
                </p:grpSpPr>
                <p:sp>
                  <p:nvSpPr>
                    <p:cNvPr id="11336" name="Freeform 72"/>
                    <p:cNvSpPr>
                      <a:spLocks noChangeArrowheads="1"/>
                    </p:cNvSpPr>
                    <p:nvPr/>
                  </p:nvSpPr>
                  <p:spPr bwMode="auto">
                    <a:xfrm>
                      <a:off x="1566" y="1987"/>
                      <a:ext cx="378" cy="377"/>
                    </a:xfrm>
                    <a:custGeom>
                      <a:avLst/>
                      <a:gdLst>
                        <a:gd name="T0" fmla="*/ 0 w 1668"/>
                        <a:gd name="T1" fmla="*/ 1663 h 1664"/>
                        <a:gd name="T2" fmla="*/ 0 w 1668"/>
                        <a:gd name="T3" fmla="*/ 414 h 1664"/>
                        <a:gd name="T4" fmla="*/ 414 w 1668"/>
                        <a:gd name="T5" fmla="*/ 0 h 1664"/>
                        <a:gd name="T6" fmla="*/ 1667 w 1668"/>
                        <a:gd name="T7" fmla="*/ 0 h 1664"/>
                        <a:gd name="T8" fmla="*/ 1667 w 1668"/>
                        <a:gd name="T9" fmla="*/ 1247 h 1664"/>
                        <a:gd name="T10" fmla="*/ 1251 w 1668"/>
                        <a:gd name="T11" fmla="*/ 1663 h 1664"/>
                        <a:gd name="T12" fmla="*/ 0 w 1668"/>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668" h="1664">
                          <a:moveTo>
                            <a:pt x="0" y="1663"/>
                          </a:moveTo>
                          <a:lnTo>
                            <a:pt x="0" y="414"/>
                          </a:lnTo>
                          <a:lnTo>
                            <a:pt x="414" y="0"/>
                          </a:lnTo>
                          <a:lnTo>
                            <a:pt x="1667" y="0"/>
                          </a:lnTo>
                          <a:lnTo>
                            <a:pt x="1667" y="1247"/>
                          </a:lnTo>
                          <a:lnTo>
                            <a:pt x="1251" y="1663"/>
                          </a:lnTo>
                          <a:lnTo>
                            <a:pt x="0" y="1663"/>
                          </a:lnTo>
                        </a:path>
                      </a:pathLst>
                    </a:custGeom>
                    <a:solidFill>
                      <a:srgbClr val="A2C1FE"/>
                    </a:solidFill>
                    <a:ln w="12600">
                      <a:solidFill>
                        <a:srgbClr val="000000"/>
                      </a:solidFill>
                      <a:round/>
                      <a:headEnd/>
                      <a:tailEnd/>
                    </a:ln>
                  </p:spPr>
                  <p:txBody>
                    <a:bodyPr wrap="none" anchor="ctr"/>
                    <a:lstStyle/>
                    <a:p>
                      <a:endParaRPr lang="en-IN"/>
                    </a:p>
                  </p:txBody>
                </p:sp>
                <p:sp>
                  <p:nvSpPr>
                    <p:cNvPr id="11337" name="Freeform 73"/>
                    <p:cNvSpPr>
                      <a:spLocks noChangeArrowheads="1"/>
                    </p:cNvSpPr>
                    <p:nvPr/>
                  </p:nvSpPr>
                  <p:spPr bwMode="auto">
                    <a:xfrm>
                      <a:off x="1566" y="1987"/>
                      <a:ext cx="378" cy="94"/>
                    </a:xfrm>
                    <a:custGeom>
                      <a:avLst/>
                      <a:gdLst>
                        <a:gd name="T0" fmla="*/ 0 w 1668"/>
                        <a:gd name="T1" fmla="*/ 414 h 415"/>
                        <a:gd name="T2" fmla="*/ 414 w 1668"/>
                        <a:gd name="T3" fmla="*/ 0 h 415"/>
                        <a:gd name="T4" fmla="*/ 1667 w 1668"/>
                        <a:gd name="T5" fmla="*/ 0 h 415"/>
                        <a:gd name="T6" fmla="*/ 1251 w 1668"/>
                        <a:gd name="T7" fmla="*/ 414 h 415"/>
                        <a:gd name="T8" fmla="*/ 0 w 1668"/>
                        <a:gd name="T9" fmla="*/ 414 h 415"/>
                      </a:gdLst>
                      <a:ahLst/>
                      <a:cxnLst>
                        <a:cxn ang="0">
                          <a:pos x="T0" y="T1"/>
                        </a:cxn>
                        <a:cxn ang="0">
                          <a:pos x="T2" y="T3"/>
                        </a:cxn>
                        <a:cxn ang="0">
                          <a:pos x="T4" y="T5"/>
                        </a:cxn>
                        <a:cxn ang="0">
                          <a:pos x="T6" y="T7"/>
                        </a:cxn>
                        <a:cxn ang="0">
                          <a:pos x="T8" y="T9"/>
                        </a:cxn>
                      </a:cxnLst>
                      <a:rect l="0" t="0" r="r" b="b"/>
                      <a:pathLst>
                        <a:path w="1668" h="415">
                          <a:moveTo>
                            <a:pt x="0" y="414"/>
                          </a:moveTo>
                          <a:lnTo>
                            <a:pt x="414" y="0"/>
                          </a:lnTo>
                          <a:lnTo>
                            <a:pt x="1667" y="0"/>
                          </a:lnTo>
                          <a:lnTo>
                            <a:pt x="1251" y="414"/>
                          </a:lnTo>
                          <a:lnTo>
                            <a:pt x="0" y="414"/>
                          </a:lnTo>
                        </a:path>
                      </a:pathLst>
                    </a:custGeom>
                    <a:solidFill>
                      <a:srgbClr val="B1D3FF"/>
                    </a:solidFill>
                    <a:ln w="12600">
                      <a:solidFill>
                        <a:srgbClr val="000000"/>
                      </a:solidFill>
                      <a:round/>
                      <a:headEnd/>
                      <a:tailEnd/>
                    </a:ln>
                  </p:spPr>
                  <p:txBody>
                    <a:bodyPr wrap="none" anchor="ctr"/>
                    <a:lstStyle/>
                    <a:p>
                      <a:endParaRPr lang="en-IN"/>
                    </a:p>
                  </p:txBody>
                </p:sp>
                <p:sp>
                  <p:nvSpPr>
                    <p:cNvPr id="11338" name="Freeform 74"/>
                    <p:cNvSpPr>
                      <a:spLocks noChangeArrowheads="1"/>
                    </p:cNvSpPr>
                    <p:nvPr/>
                  </p:nvSpPr>
                  <p:spPr bwMode="auto">
                    <a:xfrm>
                      <a:off x="1850" y="1987"/>
                      <a:ext cx="95" cy="377"/>
                    </a:xfrm>
                    <a:custGeom>
                      <a:avLst/>
                      <a:gdLst>
                        <a:gd name="T0" fmla="*/ 0 w 417"/>
                        <a:gd name="T1" fmla="*/ 1663 h 1664"/>
                        <a:gd name="T2" fmla="*/ 0 w 417"/>
                        <a:gd name="T3" fmla="*/ 414 h 1664"/>
                        <a:gd name="T4" fmla="*/ 416 w 417"/>
                        <a:gd name="T5" fmla="*/ 0 h 1664"/>
                        <a:gd name="T6" fmla="*/ 416 w 417"/>
                        <a:gd name="T7" fmla="*/ 1247 h 1664"/>
                        <a:gd name="T8" fmla="*/ 0 w 417"/>
                        <a:gd name="T9" fmla="*/ 1663 h 1664"/>
                      </a:gdLst>
                      <a:ahLst/>
                      <a:cxnLst>
                        <a:cxn ang="0">
                          <a:pos x="T0" y="T1"/>
                        </a:cxn>
                        <a:cxn ang="0">
                          <a:pos x="T2" y="T3"/>
                        </a:cxn>
                        <a:cxn ang="0">
                          <a:pos x="T4" y="T5"/>
                        </a:cxn>
                        <a:cxn ang="0">
                          <a:pos x="T6" y="T7"/>
                        </a:cxn>
                        <a:cxn ang="0">
                          <a:pos x="T8" y="T9"/>
                        </a:cxn>
                      </a:cxnLst>
                      <a:rect l="0" t="0" r="r" b="b"/>
                      <a:pathLst>
                        <a:path w="417" h="1664">
                          <a:moveTo>
                            <a:pt x="0" y="1663"/>
                          </a:moveTo>
                          <a:lnTo>
                            <a:pt x="0" y="414"/>
                          </a:lnTo>
                          <a:lnTo>
                            <a:pt x="416" y="0"/>
                          </a:lnTo>
                          <a:lnTo>
                            <a:pt x="416" y="1247"/>
                          </a:lnTo>
                          <a:lnTo>
                            <a:pt x="0" y="1663"/>
                          </a:lnTo>
                        </a:path>
                      </a:pathLst>
                    </a:custGeom>
                    <a:solidFill>
                      <a:srgbClr val="8BA5DA"/>
                    </a:solidFill>
                    <a:ln w="12600">
                      <a:solidFill>
                        <a:srgbClr val="000000"/>
                      </a:solidFill>
                      <a:round/>
                      <a:headEnd/>
                      <a:tailEnd/>
                    </a:ln>
                  </p:spPr>
                  <p:txBody>
                    <a:bodyPr wrap="none" anchor="ctr"/>
                    <a:lstStyle/>
                    <a:p>
                      <a:endParaRPr lang="en-IN"/>
                    </a:p>
                  </p:txBody>
                </p:sp>
              </p:grpSp>
              <p:grpSp>
                <p:nvGrpSpPr>
                  <p:cNvPr id="11339" name="Group 75"/>
                  <p:cNvGrpSpPr>
                    <a:grpSpLocks/>
                  </p:cNvGrpSpPr>
                  <p:nvPr/>
                </p:nvGrpSpPr>
                <p:grpSpPr bwMode="auto">
                  <a:xfrm>
                    <a:off x="1652" y="1916"/>
                    <a:ext cx="291" cy="77"/>
                    <a:chOff x="1652" y="1916"/>
                    <a:chExt cx="291" cy="77"/>
                  </a:xfrm>
                </p:grpSpPr>
                <p:sp>
                  <p:nvSpPr>
                    <p:cNvPr id="11340" name="Freeform 76"/>
                    <p:cNvSpPr>
                      <a:spLocks noChangeArrowheads="1"/>
                    </p:cNvSpPr>
                    <p:nvPr/>
                  </p:nvSpPr>
                  <p:spPr bwMode="auto">
                    <a:xfrm>
                      <a:off x="1652" y="1916"/>
                      <a:ext cx="292" cy="78"/>
                    </a:xfrm>
                    <a:custGeom>
                      <a:avLst/>
                      <a:gdLst>
                        <a:gd name="T0" fmla="*/ 0 w 1289"/>
                        <a:gd name="T1" fmla="*/ 344 h 345"/>
                        <a:gd name="T2" fmla="*/ 0 w 1289"/>
                        <a:gd name="T3" fmla="*/ 85 h 345"/>
                        <a:gd name="T4" fmla="*/ 85 w 1289"/>
                        <a:gd name="T5" fmla="*/ 0 h 345"/>
                        <a:gd name="T6" fmla="*/ 1288 w 1289"/>
                        <a:gd name="T7" fmla="*/ 0 h 345"/>
                        <a:gd name="T8" fmla="*/ 1288 w 1289"/>
                        <a:gd name="T9" fmla="*/ 257 h 345"/>
                        <a:gd name="T10" fmla="*/ 1201 w 1289"/>
                        <a:gd name="T11" fmla="*/ 344 h 345"/>
                        <a:gd name="T12" fmla="*/ 0 w 1289"/>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9" h="345">
                          <a:moveTo>
                            <a:pt x="0" y="344"/>
                          </a:moveTo>
                          <a:lnTo>
                            <a:pt x="0" y="85"/>
                          </a:lnTo>
                          <a:lnTo>
                            <a:pt x="85" y="0"/>
                          </a:lnTo>
                          <a:lnTo>
                            <a:pt x="1288" y="0"/>
                          </a:lnTo>
                          <a:lnTo>
                            <a:pt x="1288" y="257"/>
                          </a:lnTo>
                          <a:lnTo>
                            <a:pt x="1201"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1341" name="Freeform 77"/>
                    <p:cNvSpPr>
                      <a:spLocks noChangeArrowheads="1"/>
                    </p:cNvSpPr>
                    <p:nvPr/>
                  </p:nvSpPr>
                  <p:spPr bwMode="auto">
                    <a:xfrm>
                      <a:off x="1652" y="1916"/>
                      <a:ext cx="292" cy="20"/>
                    </a:xfrm>
                    <a:custGeom>
                      <a:avLst/>
                      <a:gdLst>
                        <a:gd name="T0" fmla="*/ 0 w 1289"/>
                        <a:gd name="T1" fmla="*/ 85 h 86"/>
                        <a:gd name="T2" fmla="*/ 85 w 1289"/>
                        <a:gd name="T3" fmla="*/ 0 h 86"/>
                        <a:gd name="T4" fmla="*/ 1288 w 1289"/>
                        <a:gd name="T5" fmla="*/ 0 h 86"/>
                        <a:gd name="T6" fmla="*/ 1201 w 1289"/>
                        <a:gd name="T7" fmla="*/ 85 h 86"/>
                        <a:gd name="T8" fmla="*/ 0 w 1289"/>
                        <a:gd name="T9" fmla="*/ 85 h 86"/>
                      </a:gdLst>
                      <a:ahLst/>
                      <a:cxnLst>
                        <a:cxn ang="0">
                          <a:pos x="T0" y="T1"/>
                        </a:cxn>
                        <a:cxn ang="0">
                          <a:pos x="T2" y="T3"/>
                        </a:cxn>
                        <a:cxn ang="0">
                          <a:pos x="T4" y="T5"/>
                        </a:cxn>
                        <a:cxn ang="0">
                          <a:pos x="T6" y="T7"/>
                        </a:cxn>
                        <a:cxn ang="0">
                          <a:pos x="T8" y="T9"/>
                        </a:cxn>
                      </a:cxnLst>
                      <a:rect l="0" t="0" r="r" b="b"/>
                      <a:pathLst>
                        <a:path w="1289" h="86">
                          <a:moveTo>
                            <a:pt x="0" y="85"/>
                          </a:moveTo>
                          <a:lnTo>
                            <a:pt x="85" y="0"/>
                          </a:lnTo>
                          <a:lnTo>
                            <a:pt x="1288" y="0"/>
                          </a:lnTo>
                          <a:lnTo>
                            <a:pt x="1201"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1342" name="Freeform 78"/>
                    <p:cNvSpPr>
                      <a:spLocks noChangeArrowheads="1"/>
                    </p:cNvSpPr>
                    <p:nvPr/>
                  </p:nvSpPr>
                  <p:spPr bwMode="auto">
                    <a:xfrm>
                      <a:off x="1924" y="1916"/>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1343" name="Oval 79"/>
                <p:cNvSpPr>
                  <a:spLocks noChangeArrowheads="1"/>
                </p:cNvSpPr>
                <p:nvPr/>
              </p:nvSpPr>
              <p:spPr bwMode="auto">
                <a:xfrm>
                  <a:off x="1681" y="1952"/>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1344" name="Freeform 80"/>
                <p:cNvSpPr>
                  <a:spLocks noChangeArrowheads="1"/>
                </p:cNvSpPr>
                <p:nvPr/>
              </p:nvSpPr>
              <p:spPr bwMode="auto">
                <a:xfrm>
                  <a:off x="1613" y="2162"/>
                  <a:ext cx="198" cy="84"/>
                </a:xfrm>
                <a:custGeom>
                  <a:avLst/>
                  <a:gdLst>
                    <a:gd name="T0" fmla="*/ 107 w 874"/>
                    <a:gd name="T1" fmla="*/ 0 h 371"/>
                    <a:gd name="T2" fmla="*/ 764 w 874"/>
                    <a:gd name="T3" fmla="*/ 0 h 371"/>
                    <a:gd name="T4" fmla="*/ 873 w 874"/>
                    <a:gd name="T5" fmla="*/ 108 h 371"/>
                    <a:gd name="T6" fmla="*/ 873 w 874"/>
                    <a:gd name="T7" fmla="*/ 262 h 371"/>
                    <a:gd name="T8" fmla="*/ 764 w 874"/>
                    <a:gd name="T9" fmla="*/ 370 h 371"/>
                    <a:gd name="T10" fmla="*/ 107 w 874"/>
                    <a:gd name="T11" fmla="*/ 370 h 371"/>
                    <a:gd name="T12" fmla="*/ 0 w 874"/>
                    <a:gd name="T13" fmla="*/ 262 h 371"/>
                    <a:gd name="T14" fmla="*/ 0 w 874"/>
                    <a:gd name="T15" fmla="*/ 108 h 371"/>
                    <a:gd name="T16" fmla="*/ 107 w 874"/>
                    <a:gd name="T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1345" name="Freeform 81"/>
              <p:cNvSpPr>
                <a:spLocks noChangeArrowheads="1"/>
              </p:cNvSpPr>
              <p:nvPr/>
            </p:nvSpPr>
            <p:spPr bwMode="auto">
              <a:xfrm>
                <a:off x="2130" y="2145"/>
                <a:ext cx="85" cy="191"/>
              </a:xfrm>
              <a:custGeom>
                <a:avLst/>
                <a:gdLst>
                  <a:gd name="T0" fmla="*/ 273 w 376"/>
                  <a:gd name="T1" fmla="*/ 0 h 843"/>
                  <a:gd name="T2" fmla="*/ 375 w 376"/>
                  <a:gd name="T3" fmla="*/ 0 h 843"/>
                  <a:gd name="T4" fmla="*/ 101 w 376"/>
                  <a:gd name="T5" fmla="*/ 842 h 843"/>
                  <a:gd name="T6" fmla="*/ 0 w 376"/>
                  <a:gd name="T7" fmla="*/ 842 h 843"/>
                  <a:gd name="T8" fmla="*/ 273 w 376"/>
                  <a:gd name="T9" fmla="*/ 0 h 843"/>
                </a:gdLst>
                <a:ahLst/>
                <a:cxnLst>
                  <a:cxn ang="0">
                    <a:pos x="T0" y="T1"/>
                  </a:cxn>
                  <a:cxn ang="0">
                    <a:pos x="T2" y="T3"/>
                  </a:cxn>
                  <a:cxn ang="0">
                    <a:pos x="T4" y="T5"/>
                  </a:cxn>
                  <a:cxn ang="0">
                    <a:pos x="T6" y="T7"/>
                  </a:cxn>
                  <a:cxn ang="0">
                    <a:pos x="T8" y="T9"/>
                  </a:cxn>
                </a:cxnLst>
                <a:rect l="0" t="0" r="r" b="b"/>
                <a:pathLst>
                  <a:path w="376" h="843">
                    <a:moveTo>
                      <a:pt x="273" y="0"/>
                    </a:moveTo>
                    <a:lnTo>
                      <a:pt x="375" y="0"/>
                    </a:lnTo>
                    <a:lnTo>
                      <a:pt x="101" y="842"/>
                    </a:lnTo>
                    <a:lnTo>
                      <a:pt x="0" y="842"/>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346" name="AutoShape 82"/>
              <p:cNvSpPr>
                <a:spLocks noChangeArrowheads="1"/>
              </p:cNvSpPr>
              <p:nvPr/>
            </p:nvSpPr>
            <p:spPr bwMode="auto">
              <a:xfrm>
                <a:off x="2126" y="2145"/>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347" name="AutoShape 83"/>
              <p:cNvSpPr>
                <a:spLocks noChangeArrowheads="1"/>
              </p:cNvSpPr>
              <p:nvPr/>
            </p:nvSpPr>
            <p:spPr bwMode="auto">
              <a:xfrm>
                <a:off x="2133" y="2226"/>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348" name="AutoShape 84"/>
              <p:cNvSpPr>
                <a:spLocks noChangeArrowheads="1"/>
              </p:cNvSpPr>
              <p:nvPr/>
            </p:nvSpPr>
            <p:spPr bwMode="auto">
              <a:xfrm>
                <a:off x="1950" y="2226"/>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1349" name="Group 85"/>
              <p:cNvGrpSpPr>
                <a:grpSpLocks/>
              </p:cNvGrpSpPr>
              <p:nvPr/>
            </p:nvGrpSpPr>
            <p:grpSpPr bwMode="auto">
              <a:xfrm>
                <a:off x="1948" y="1973"/>
                <a:ext cx="193" cy="363"/>
                <a:chOff x="1948" y="1973"/>
                <a:chExt cx="193" cy="363"/>
              </a:xfrm>
            </p:grpSpPr>
            <p:sp>
              <p:nvSpPr>
                <p:cNvPr id="11350" name="Oval 86"/>
                <p:cNvSpPr>
                  <a:spLocks noChangeArrowheads="1"/>
                </p:cNvSpPr>
                <p:nvPr/>
              </p:nvSpPr>
              <p:spPr bwMode="auto">
                <a:xfrm>
                  <a:off x="2024" y="1973"/>
                  <a:ext cx="48"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1351" name="Freeform 87"/>
                <p:cNvSpPr>
                  <a:spLocks noChangeArrowheads="1"/>
                </p:cNvSpPr>
                <p:nvPr/>
              </p:nvSpPr>
              <p:spPr bwMode="auto">
                <a:xfrm>
                  <a:off x="1948" y="2041"/>
                  <a:ext cx="194" cy="296"/>
                </a:xfrm>
                <a:custGeom>
                  <a:avLst/>
                  <a:gdLst>
                    <a:gd name="T0" fmla="*/ 8 w 857"/>
                    <a:gd name="T1" fmla="*/ 605 h 1305"/>
                    <a:gd name="T2" fmla="*/ 4 w 857"/>
                    <a:gd name="T3" fmla="*/ 618 h 1305"/>
                    <a:gd name="T4" fmla="*/ 0 w 857"/>
                    <a:gd name="T5" fmla="*/ 640 h 1305"/>
                    <a:gd name="T6" fmla="*/ 0 w 857"/>
                    <a:gd name="T7" fmla="*/ 662 h 1305"/>
                    <a:gd name="T8" fmla="*/ 8 w 857"/>
                    <a:gd name="T9" fmla="*/ 684 h 1305"/>
                    <a:gd name="T10" fmla="*/ 17 w 857"/>
                    <a:gd name="T11" fmla="*/ 703 h 1305"/>
                    <a:gd name="T12" fmla="*/ 35 w 857"/>
                    <a:gd name="T13" fmla="*/ 721 h 1305"/>
                    <a:gd name="T14" fmla="*/ 53 w 857"/>
                    <a:gd name="T15" fmla="*/ 730 h 1305"/>
                    <a:gd name="T16" fmla="*/ 70 w 857"/>
                    <a:gd name="T17" fmla="*/ 734 h 1305"/>
                    <a:gd name="T18" fmla="*/ 92 w 857"/>
                    <a:gd name="T19" fmla="*/ 734 h 1305"/>
                    <a:gd name="T20" fmla="*/ 559 w 857"/>
                    <a:gd name="T21" fmla="*/ 1304 h 1305"/>
                    <a:gd name="T22" fmla="*/ 705 w 857"/>
                    <a:gd name="T23" fmla="*/ 627 h 1305"/>
                    <a:gd name="T24" fmla="*/ 705 w 857"/>
                    <a:gd name="T25" fmla="*/ 609 h 1305"/>
                    <a:gd name="T26" fmla="*/ 696 w 857"/>
                    <a:gd name="T27" fmla="*/ 601 h 1305"/>
                    <a:gd name="T28" fmla="*/ 683 w 857"/>
                    <a:gd name="T29" fmla="*/ 587 h 1305"/>
                    <a:gd name="T30" fmla="*/ 674 w 857"/>
                    <a:gd name="T31" fmla="*/ 578 h 1305"/>
                    <a:gd name="T32" fmla="*/ 656 w 857"/>
                    <a:gd name="T33" fmla="*/ 574 h 1305"/>
                    <a:gd name="T34" fmla="*/ 639 w 857"/>
                    <a:gd name="T35" fmla="*/ 570 h 1305"/>
                    <a:gd name="T36" fmla="*/ 621 w 857"/>
                    <a:gd name="T37" fmla="*/ 570 h 1305"/>
                    <a:gd name="T38" fmla="*/ 608 w 857"/>
                    <a:gd name="T39" fmla="*/ 570 h 1305"/>
                    <a:gd name="T40" fmla="*/ 412 w 857"/>
                    <a:gd name="T41" fmla="*/ 331 h 1305"/>
                    <a:gd name="T42" fmla="*/ 794 w 857"/>
                    <a:gd name="T43" fmla="*/ 411 h 1305"/>
                    <a:gd name="T44" fmla="*/ 812 w 857"/>
                    <a:gd name="T45" fmla="*/ 406 h 1305"/>
                    <a:gd name="T46" fmla="*/ 821 w 857"/>
                    <a:gd name="T47" fmla="*/ 402 h 1305"/>
                    <a:gd name="T48" fmla="*/ 838 w 857"/>
                    <a:gd name="T49" fmla="*/ 393 h 1305"/>
                    <a:gd name="T50" fmla="*/ 847 w 857"/>
                    <a:gd name="T51" fmla="*/ 380 h 1305"/>
                    <a:gd name="T52" fmla="*/ 852 w 857"/>
                    <a:gd name="T53" fmla="*/ 367 h 1305"/>
                    <a:gd name="T54" fmla="*/ 856 w 857"/>
                    <a:gd name="T55" fmla="*/ 345 h 1305"/>
                    <a:gd name="T56" fmla="*/ 852 w 857"/>
                    <a:gd name="T57" fmla="*/ 327 h 1305"/>
                    <a:gd name="T58" fmla="*/ 843 w 857"/>
                    <a:gd name="T59" fmla="*/ 309 h 1305"/>
                    <a:gd name="T60" fmla="*/ 834 w 857"/>
                    <a:gd name="T61" fmla="*/ 300 h 1305"/>
                    <a:gd name="T62" fmla="*/ 816 w 857"/>
                    <a:gd name="T63" fmla="*/ 286 h 1305"/>
                    <a:gd name="T64" fmla="*/ 803 w 857"/>
                    <a:gd name="T65" fmla="*/ 282 h 1305"/>
                    <a:gd name="T66" fmla="*/ 541 w 857"/>
                    <a:gd name="T67" fmla="*/ 282 h 1305"/>
                    <a:gd name="T68" fmla="*/ 496 w 857"/>
                    <a:gd name="T69" fmla="*/ 185 h 1305"/>
                    <a:gd name="T70" fmla="*/ 501 w 857"/>
                    <a:gd name="T71" fmla="*/ 163 h 1305"/>
                    <a:gd name="T72" fmla="*/ 505 w 857"/>
                    <a:gd name="T73" fmla="*/ 132 h 1305"/>
                    <a:gd name="T74" fmla="*/ 505 w 857"/>
                    <a:gd name="T75" fmla="*/ 105 h 1305"/>
                    <a:gd name="T76" fmla="*/ 496 w 857"/>
                    <a:gd name="T77" fmla="*/ 83 h 1305"/>
                    <a:gd name="T78" fmla="*/ 487 w 857"/>
                    <a:gd name="T79" fmla="*/ 66 h 1305"/>
                    <a:gd name="T80" fmla="*/ 474 w 857"/>
                    <a:gd name="T81" fmla="*/ 44 h 1305"/>
                    <a:gd name="T82" fmla="*/ 457 w 857"/>
                    <a:gd name="T83" fmla="*/ 30 h 1305"/>
                    <a:gd name="T84" fmla="*/ 434 w 857"/>
                    <a:gd name="T85" fmla="*/ 13 h 1305"/>
                    <a:gd name="T86" fmla="*/ 412 w 857"/>
                    <a:gd name="T87" fmla="*/ 4 h 1305"/>
                    <a:gd name="T88" fmla="*/ 386 w 857"/>
                    <a:gd name="T89" fmla="*/ 0 h 1305"/>
                    <a:gd name="T90" fmla="*/ 359 w 857"/>
                    <a:gd name="T91" fmla="*/ 0 h 1305"/>
                    <a:gd name="T92" fmla="*/ 333 w 857"/>
                    <a:gd name="T93" fmla="*/ 4 h 1305"/>
                    <a:gd name="T94" fmla="*/ 305 w 857"/>
                    <a:gd name="T95" fmla="*/ 13 h 1305"/>
                    <a:gd name="T96" fmla="*/ 279 w 857"/>
                    <a:gd name="T97" fmla="*/ 26 h 1305"/>
                    <a:gd name="T98" fmla="*/ 261 w 857"/>
                    <a:gd name="T99" fmla="*/ 48 h 1305"/>
                    <a:gd name="T100" fmla="*/ 243 w 857"/>
                    <a:gd name="T101" fmla="*/ 75 h 1305"/>
                    <a:gd name="T102" fmla="*/ 235 w 857"/>
                    <a:gd name="T103" fmla="*/ 101 h 1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7" h="1305">
                      <a:moveTo>
                        <a:pt x="235"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3" y="730"/>
                      </a:lnTo>
                      <a:lnTo>
                        <a:pt x="61" y="730"/>
                      </a:lnTo>
                      <a:lnTo>
                        <a:pt x="70" y="734"/>
                      </a:lnTo>
                      <a:lnTo>
                        <a:pt x="79" y="734"/>
                      </a:lnTo>
                      <a:lnTo>
                        <a:pt x="92" y="734"/>
                      </a:lnTo>
                      <a:lnTo>
                        <a:pt x="559" y="734"/>
                      </a:lnTo>
                      <a:lnTo>
                        <a:pt x="559" y="1304"/>
                      </a:lnTo>
                      <a:lnTo>
                        <a:pt x="705" y="1304"/>
                      </a:lnTo>
                      <a:lnTo>
                        <a:pt x="705" y="627"/>
                      </a:lnTo>
                      <a:lnTo>
                        <a:pt x="705" y="618"/>
                      </a:lnTo>
                      <a:lnTo>
                        <a:pt x="705" y="609"/>
                      </a:lnTo>
                      <a:lnTo>
                        <a:pt x="700" y="605"/>
                      </a:lnTo>
                      <a:lnTo>
                        <a:pt x="696" y="601"/>
                      </a:lnTo>
                      <a:lnTo>
                        <a:pt x="692" y="596"/>
                      </a:lnTo>
                      <a:lnTo>
                        <a:pt x="683" y="587"/>
                      </a:lnTo>
                      <a:lnTo>
                        <a:pt x="678" y="583"/>
                      </a:lnTo>
                      <a:lnTo>
                        <a:pt x="674" y="578"/>
                      </a:lnTo>
                      <a:lnTo>
                        <a:pt x="665" y="578"/>
                      </a:lnTo>
                      <a:lnTo>
                        <a:pt x="656" y="574"/>
                      </a:lnTo>
                      <a:lnTo>
                        <a:pt x="647" y="574"/>
                      </a:lnTo>
                      <a:lnTo>
                        <a:pt x="639" y="570"/>
                      </a:lnTo>
                      <a:lnTo>
                        <a:pt x="630" y="570"/>
                      </a:lnTo>
                      <a:lnTo>
                        <a:pt x="621" y="570"/>
                      </a:lnTo>
                      <a:lnTo>
                        <a:pt x="617" y="570"/>
                      </a:lnTo>
                      <a:lnTo>
                        <a:pt x="608" y="570"/>
                      </a:lnTo>
                      <a:lnTo>
                        <a:pt x="337" y="552"/>
                      </a:lnTo>
                      <a:lnTo>
                        <a:pt x="412" y="331"/>
                      </a:lnTo>
                      <a:lnTo>
                        <a:pt x="465" y="411"/>
                      </a:lnTo>
                      <a:lnTo>
                        <a:pt x="794" y="411"/>
                      </a:lnTo>
                      <a:lnTo>
                        <a:pt x="803" y="406"/>
                      </a:lnTo>
                      <a:lnTo>
                        <a:pt x="812" y="406"/>
                      </a:lnTo>
                      <a:lnTo>
                        <a:pt x="816" y="402"/>
                      </a:lnTo>
                      <a:lnTo>
                        <a:pt x="821" y="402"/>
                      </a:lnTo>
                      <a:lnTo>
                        <a:pt x="830" y="398"/>
                      </a:lnTo>
                      <a:lnTo>
                        <a:pt x="838" y="393"/>
                      </a:lnTo>
                      <a:lnTo>
                        <a:pt x="843" y="384"/>
                      </a:lnTo>
                      <a:lnTo>
                        <a:pt x="847" y="380"/>
                      </a:lnTo>
                      <a:lnTo>
                        <a:pt x="852" y="371"/>
                      </a:lnTo>
                      <a:lnTo>
                        <a:pt x="852" y="367"/>
                      </a:lnTo>
                      <a:lnTo>
                        <a:pt x="856" y="358"/>
                      </a:lnTo>
                      <a:lnTo>
                        <a:pt x="856" y="345"/>
                      </a:lnTo>
                      <a:lnTo>
                        <a:pt x="856" y="336"/>
                      </a:lnTo>
                      <a:lnTo>
                        <a:pt x="852" y="327"/>
                      </a:lnTo>
                      <a:lnTo>
                        <a:pt x="847" y="318"/>
                      </a:lnTo>
                      <a:lnTo>
                        <a:pt x="843" y="309"/>
                      </a:lnTo>
                      <a:lnTo>
                        <a:pt x="838" y="305"/>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nvGrpSpPr>
            <p:cNvPr id="11352" name="Group 88"/>
            <p:cNvGrpSpPr>
              <a:grpSpLocks/>
            </p:cNvGrpSpPr>
            <p:nvPr/>
          </p:nvGrpSpPr>
          <p:grpSpPr bwMode="auto">
            <a:xfrm>
              <a:off x="1681" y="2404"/>
              <a:ext cx="966" cy="447"/>
              <a:chOff x="1681" y="2404"/>
              <a:chExt cx="966" cy="447"/>
            </a:xfrm>
          </p:grpSpPr>
          <p:grpSp>
            <p:nvGrpSpPr>
              <p:cNvPr id="11353" name="Group 89"/>
              <p:cNvGrpSpPr>
                <a:grpSpLocks/>
              </p:cNvGrpSpPr>
              <p:nvPr/>
            </p:nvGrpSpPr>
            <p:grpSpPr bwMode="auto">
              <a:xfrm>
                <a:off x="1681" y="2404"/>
                <a:ext cx="304" cy="447"/>
                <a:chOff x="1681" y="2404"/>
                <a:chExt cx="304" cy="447"/>
              </a:xfrm>
            </p:grpSpPr>
            <p:grpSp>
              <p:nvGrpSpPr>
                <p:cNvPr id="11354" name="Group 90"/>
                <p:cNvGrpSpPr>
                  <a:grpSpLocks/>
                </p:cNvGrpSpPr>
                <p:nvPr/>
              </p:nvGrpSpPr>
              <p:grpSpPr bwMode="auto">
                <a:xfrm>
                  <a:off x="1681" y="2404"/>
                  <a:ext cx="304" cy="447"/>
                  <a:chOff x="1681" y="2404"/>
                  <a:chExt cx="304" cy="447"/>
                </a:xfrm>
              </p:grpSpPr>
              <p:grpSp>
                <p:nvGrpSpPr>
                  <p:cNvPr id="11355" name="Group 91"/>
                  <p:cNvGrpSpPr>
                    <a:grpSpLocks/>
                  </p:cNvGrpSpPr>
                  <p:nvPr/>
                </p:nvGrpSpPr>
                <p:grpSpPr bwMode="auto">
                  <a:xfrm>
                    <a:off x="1681" y="2475"/>
                    <a:ext cx="304" cy="376"/>
                    <a:chOff x="1681" y="2475"/>
                    <a:chExt cx="304" cy="376"/>
                  </a:xfrm>
                </p:grpSpPr>
                <p:sp>
                  <p:nvSpPr>
                    <p:cNvPr id="11356" name="Freeform 92"/>
                    <p:cNvSpPr>
                      <a:spLocks noChangeArrowheads="1"/>
                    </p:cNvSpPr>
                    <p:nvPr/>
                  </p:nvSpPr>
                  <p:spPr bwMode="auto">
                    <a:xfrm>
                      <a:off x="1681" y="2475"/>
                      <a:ext cx="305" cy="377"/>
                    </a:xfrm>
                    <a:custGeom>
                      <a:avLst/>
                      <a:gdLst>
                        <a:gd name="T0" fmla="*/ 0 w 1346"/>
                        <a:gd name="T1" fmla="*/ 1662 h 1663"/>
                        <a:gd name="T2" fmla="*/ 0 w 1346"/>
                        <a:gd name="T3" fmla="*/ 336 h 1663"/>
                        <a:gd name="T4" fmla="*/ 335 w 1346"/>
                        <a:gd name="T5" fmla="*/ 0 h 1663"/>
                        <a:gd name="T6" fmla="*/ 1345 w 1346"/>
                        <a:gd name="T7" fmla="*/ 0 h 1663"/>
                        <a:gd name="T8" fmla="*/ 1345 w 1346"/>
                        <a:gd name="T9" fmla="*/ 1326 h 1663"/>
                        <a:gd name="T10" fmla="*/ 1008 w 1346"/>
                        <a:gd name="T11" fmla="*/ 1662 h 1663"/>
                        <a:gd name="T12" fmla="*/ 0 w 1346"/>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IN"/>
                    </a:p>
                  </p:txBody>
                </p:sp>
                <p:sp>
                  <p:nvSpPr>
                    <p:cNvPr id="11357" name="Freeform 93"/>
                    <p:cNvSpPr>
                      <a:spLocks noChangeArrowheads="1"/>
                    </p:cNvSpPr>
                    <p:nvPr/>
                  </p:nvSpPr>
                  <p:spPr bwMode="auto">
                    <a:xfrm>
                      <a:off x="1681" y="2475"/>
                      <a:ext cx="305" cy="76"/>
                    </a:xfrm>
                    <a:custGeom>
                      <a:avLst/>
                      <a:gdLst>
                        <a:gd name="T0" fmla="*/ 0 w 1346"/>
                        <a:gd name="T1" fmla="*/ 336 h 337"/>
                        <a:gd name="T2" fmla="*/ 335 w 1346"/>
                        <a:gd name="T3" fmla="*/ 0 h 337"/>
                        <a:gd name="T4" fmla="*/ 1345 w 1346"/>
                        <a:gd name="T5" fmla="*/ 0 h 337"/>
                        <a:gd name="T6" fmla="*/ 1008 w 1346"/>
                        <a:gd name="T7" fmla="*/ 336 h 337"/>
                        <a:gd name="T8" fmla="*/ 0 w 1346"/>
                        <a:gd name="T9" fmla="*/ 336 h 337"/>
                      </a:gdLst>
                      <a:ahLst/>
                      <a:cxnLst>
                        <a:cxn ang="0">
                          <a:pos x="T0" y="T1"/>
                        </a:cxn>
                        <a:cxn ang="0">
                          <a:pos x="T2" y="T3"/>
                        </a:cxn>
                        <a:cxn ang="0">
                          <a:pos x="T4" y="T5"/>
                        </a:cxn>
                        <a:cxn ang="0">
                          <a:pos x="T6" y="T7"/>
                        </a:cxn>
                        <a:cxn ang="0">
                          <a:pos x="T8" y="T9"/>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IN"/>
                    </a:p>
                  </p:txBody>
                </p:sp>
                <p:sp>
                  <p:nvSpPr>
                    <p:cNvPr id="11358" name="Freeform 94"/>
                    <p:cNvSpPr>
                      <a:spLocks noChangeArrowheads="1"/>
                    </p:cNvSpPr>
                    <p:nvPr/>
                  </p:nvSpPr>
                  <p:spPr bwMode="auto">
                    <a:xfrm>
                      <a:off x="1909" y="2475"/>
                      <a:ext cx="77" cy="377"/>
                    </a:xfrm>
                    <a:custGeom>
                      <a:avLst/>
                      <a:gdLst>
                        <a:gd name="T0" fmla="*/ 0 w 338"/>
                        <a:gd name="T1" fmla="*/ 1662 h 1663"/>
                        <a:gd name="T2" fmla="*/ 0 w 338"/>
                        <a:gd name="T3" fmla="*/ 336 h 1663"/>
                        <a:gd name="T4" fmla="*/ 337 w 338"/>
                        <a:gd name="T5" fmla="*/ 0 h 1663"/>
                        <a:gd name="T6" fmla="*/ 337 w 338"/>
                        <a:gd name="T7" fmla="*/ 1326 h 1663"/>
                        <a:gd name="T8" fmla="*/ 0 w 338"/>
                        <a:gd name="T9" fmla="*/ 1662 h 1663"/>
                      </a:gdLst>
                      <a:ahLst/>
                      <a:cxnLst>
                        <a:cxn ang="0">
                          <a:pos x="T0" y="T1"/>
                        </a:cxn>
                        <a:cxn ang="0">
                          <a:pos x="T2" y="T3"/>
                        </a:cxn>
                        <a:cxn ang="0">
                          <a:pos x="T4" y="T5"/>
                        </a:cxn>
                        <a:cxn ang="0">
                          <a:pos x="T6" y="T7"/>
                        </a:cxn>
                        <a:cxn ang="0">
                          <a:pos x="T8" y="T9"/>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IN"/>
                    </a:p>
                  </p:txBody>
                </p:sp>
              </p:grpSp>
              <p:grpSp>
                <p:nvGrpSpPr>
                  <p:cNvPr id="11359" name="Group 95"/>
                  <p:cNvGrpSpPr>
                    <a:grpSpLocks/>
                  </p:cNvGrpSpPr>
                  <p:nvPr/>
                </p:nvGrpSpPr>
                <p:grpSpPr bwMode="auto">
                  <a:xfrm>
                    <a:off x="1751" y="2404"/>
                    <a:ext cx="234" cy="77"/>
                    <a:chOff x="1751" y="2404"/>
                    <a:chExt cx="234" cy="77"/>
                  </a:xfrm>
                </p:grpSpPr>
                <p:sp>
                  <p:nvSpPr>
                    <p:cNvPr id="11360" name="Freeform 96"/>
                    <p:cNvSpPr>
                      <a:spLocks noChangeArrowheads="1"/>
                    </p:cNvSpPr>
                    <p:nvPr/>
                  </p:nvSpPr>
                  <p:spPr bwMode="auto">
                    <a:xfrm>
                      <a:off x="1751" y="2404"/>
                      <a:ext cx="235" cy="78"/>
                    </a:xfrm>
                    <a:custGeom>
                      <a:avLst/>
                      <a:gdLst>
                        <a:gd name="T0" fmla="*/ 0 w 1037"/>
                        <a:gd name="T1" fmla="*/ 344 h 345"/>
                        <a:gd name="T2" fmla="*/ 0 w 1037"/>
                        <a:gd name="T3" fmla="*/ 85 h 345"/>
                        <a:gd name="T4" fmla="*/ 85 w 1037"/>
                        <a:gd name="T5" fmla="*/ 0 h 345"/>
                        <a:gd name="T6" fmla="*/ 1036 w 1037"/>
                        <a:gd name="T7" fmla="*/ 0 h 345"/>
                        <a:gd name="T8" fmla="*/ 1036 w 1037"/>
                        <a:gd name="T9" fmla="*/ 257 h 345"/>
                        <a:gd name="T10" fmla="*/ 949 w 1037"/>
                        <a:gd name="T11" fmla="*/ 344 h 345"/>
                        <a:gd name="T12" fmla="*/ 0 w 1037"/>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1361" name="Freeform 97"/>
                    <p:cNvSpPr>
                      <a:spLocks noChangeArrowheads="1"/>
                    </p:cNvSpPr>
                    <p:nvPr/>
                  </p:nvSpPr>
                  <p:spPr bwMode="auto">
                    <a:xfrm>
                      <a:off x="1751" y="2404"/>
                      <a:ext cx="235" cy="20"/>
                    </a:xfrm>
                    <a:custGeom>
                      <a:avLst/>
                      <a:gdLst>
                        <a:gd name="T0" fmla="*/ 0 w 1037"/>
                        <a:gd name="T1" fmla="*/ 85 h 86"/>
                        <a:gd name="T2" fmla="*/ 85 w 1037"/>
                        <a:gd name="T3" fmla="*/ 0 h 86"/>
                        <a:gd name="T4" fmla="*/ 1036 w 1037"/>
                        <a:gd name="T5" fmla="*/ 0 h 86"/>
                        <a:gd name="T6" fmla="*/ 949 w 1037"/>
                        <a:gd name="T7" fmla="*/ 85 h 86"/>
                        <a:gd name="T8" fmla="*/ 0 w 1037"/>
                        <a:gd name="T9" fmla="*/ 85 h 86"/>
                      </a:gdLst>
                      <a:ahLst/>
                      <a:cxnLst>
                        <a:cxn ang="0">
                          <a:pos x="T0" y="T1"/>
                        </a:cxn>
                        <a:cxn ang="0">
                          <a:pos x="T2" y="T3"/>
                        </a:cxn>
                        <a:cxn ang="0">
                          <a:pos x="T4" y="T5"/>
                        </a:cxn>
                        <a:cxn ang="0">
                          <a:pos x="T6" y="T7"/>
                        </a:cxn>
                        <a:cxn ang="0">
                          <a:pos x="T8" y="T9"/>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1362" name="Freeform 98"/>
                    <p:cNvSpPr>
                      <a:spLocks noChangeArrowheads="1"/>
                    </p:cNvSpPr>
                    <p:nvPr/>
                  </p:nvSpPr>
                  <p:spPr bwMode="auto">
                    <a:xfrm>
                      <a:off x="1966" y="2404"/>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1363" name="Freeform 99"/>
                <p:cNvSpPr>
                  <a:spLocks noChangeArrowheads="1"/>
                </p:cNvSpPr>
                <p:nvPr/>
              </p:nvSpPr>
              <p:spPr bwMode="auto">
                <a:xfrm>
                  <a:off x="1743" y="2508"/>
                  <a:ext cx="158" cy="27"/>
                </a:xfrm>
                <a:custGeom>
                  <a:avLst/>
                  <a:gdLst>
                    <a:gd name="T0" fmla="*/ 173 w 698"/>
                    <a:gd name="T1" fmla="*/ 0 h 120"/>
                    <a:gd name="T2" fmla="*/ 697 w 698"/>
                    <a:gd name="T3" fmla="*/ 0 h 120"/>
                    <a:gd name="T4" fmla="*/ 522 w 698"/>
                    <a:gd name="T5" fmla="*/ 119 h 120"/>
                    <a:gd name="T6" fmla="*/ 0 w 698"/>
                    <a:gd name="T7" fmla="*/ 119 h 120"/>
                    <a:gd name="T8" fmla="*/ 173 w 698"/>
                    <a:gd name="T9" fmla="*/ 0 h 120"/>
                  </a:gdLst>
                  <a:ahLst/>
                  <a:cxnLst>
                    <a:cxn ang="0">
                      <a:pos x="T0" y="T1"/>
                    </a:cxn>
                    <a:cxn ang="0">
                      <a:pos x="T2" y="T3"/>
                    </a:cxn>
                    <a:cxn ang="0">
                      <a:pos x="T4" y="T5"/>
                    </a:cxn>
                    <a:cxn ang="0">
                      <a:pos x="T6" y="T7"/>
                    </a:cxn>
                    <a:cxn ang="0">
                      <a:pos x="T8" y="T9"/>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1364" name="Group 100"/>
              <p:cNvGrpSpPr>
                <a:grpSpLocks/>
              </p:cNvGrpSpPr>
              <p:nvPr/>
            </p:nvGrpSpPr>
            <p:grpSpPr bwMode="auto">
              <a:xfrm>
                <a:off x="1982" y="2404"/>
                <a:ext cx="377" cy="447"/>
                <a:chOff x="1982" y="2404"/>
                <a:chExt cx="377" cy="447"/>
              </a:xfrm>
            </p:grpSpPr>
            <p:grpSp>
              <p:nvGrpSpPr>
                <p:cNvPr id="11365" name="Group 101"/>
                <p:cNvGrpSpPr>
                  <a:grpSpLocks/>
                </p:cNvGrpSpPr>
                <p:nvPr/>
              </p:nvGrpSpPr>
              <p:grpSpPr bwMode="auto">
                <a:xfrm>
                  <a:off x="1982" y="2404"/>
                  <a:ext cx="377" cy="447"/>
                  <a:chOff x="1982" y="2404"/>
                  <a:chExt cx="377" cy="447"/>
                </a:xfrm>
              </p:grpSpPr>
              <p:grpSp>
                <p:nvGrpSpPr>
                  <p:cNvPr id="11366" name="Group 102"/>
                  <p:cNvGrpSpPr>
                    <a:grpSpLocks/>
                  </p:cNvGrpSpPr>
                  <p:nvPr/>
                </p:nvGrpSpPr>
                <p:grpSpPr bwMode="auto">
                  <a:xfrm>
                    <a:off x="1982" y="2475"/>
                    <a:ext cx="377" cy="376"/>
                    <a:chOff x="1982" y="2475"/>
                    <a:chExt cx="377" cy="376"/>
                  </a:xfrm>
                </p:grpSpPr>
                <p:sp>
                  <p:nvSpPr>
                    <p:cNvPr id="11367" name="Freeform 103"/>
                    <p:cNvSpPr>
                      <a:spLocks noChangeArrowheads="1"/>
                    </p:cNvSpPr>
                    <p:nvPr/>
                  </p:nvSpPr>
                  <p:spPr bwMode="auto">
                    <a:xfrm>
                      <a:off x="1982" y="2475"/>
                      <a:ext cx="378" cy="377"/>
                    </a:xfrm>
                    <a:custGeom>
                      <a:avLst/>
                      <a:gdLst>
                        <a:gd name="T0" fmla="*/ 0 w 1668"/>
                        <a:gd name="T1" fmla="*/ 1662 h 1663"/>
                        <a:gd name="T2" fmla="*/ 0 w 1668"/>
                        <a:gd name="T3" fmla="*/ 415 h 1663"/>
                        <a:gd name="T4" fmla="*/ 414 w 1668"/>
                        <a:gd name="T5" fmla="*/ 0 h 1663"/>
                        <a:gd name="T6" fmla="*/ 1667 w 1668"/>
                        <a:gd name="T7" fmla="*/ 0 h 1663"/>
                        <a:gd name="T8" fmla="*/ 1667 w 1668"/>
                        <a:gd name="T9" fmla="*/ 1247 h 1663"/>
                        <a:gd name="T10" fmla="*/ 1251 w 1668"/>
                        <a:gd name="T11" fmla="*/ 1662 h 1663"/>
                        <a:gd name="T12" fmla="*/ 0 w 1668"/>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IN"/>
                    </a:p>
                  </p:txBody>
                </p:sp>
                <p:sp>
                  <p:nvSpPr>
                    <p:cNvPr id="11368" name="Freeform 104"/>
                    <p:cNvSpPr>
                      <a:spLocks noChangeArrowheads="1"/>
                    </p:cNvSpPr>
                    <p:nvPr/>
                  </p:nvSpPr>
                  <p:spPr bwMode="auto">
                    <a:xfrm>
                      <a:off x="1982" y="2475"/>
                      <a:ext cx="378" cy="94"/>
                    </a:xfrm>
                    <a:custGeom>
                      <a:avLst/>
                      <a:gdLst>
                        <a:gd name="T0" fmla="*/ 0 w 1668"/>
                        <a:gd name="T1" fmla="*/ 415 h 416"/>
                        <a:gd name="T2" fmla="*/ 414 w 1668"/>
                        <a:gd name="T3" fmla="*/ 0 h 416"/>
                        <a:gd name="T4" fmla="*/ 1667 w 1668"/>
                        <a:gd name="T5" fmla="*/ 0 h 416"/>
                        <a:gd name="T6" fmla="*/ 1251 w 1668"/>
                        <a:gd name="T7" fmla="*/ 415 h 416"/>
                        <a:gd name="T8" fmla="*/ 0 w 1668"/>
                        <a:gd name="T9" fmla="*/ 415 h 416"/>
                      </a:gdLst>
                      <a:ahLst/>
                      <a:cxnLst>
                        <a:cxn ang="0">
                          <a:pos x="T0" y="T1"/>
                        </a:cxn>
                        <a:cxn ang="0">
                          <a:pos x="T2" y="T3"/>
                        </a:cxn>
                        <a:cxn ang="0">
                          <a:pos x="T4" y="T5"/>
                        </a:cxn>
                        <a:cxn ang="0">
                          <a:pos x="T6" y="T7"/>
                        </a:cxn>
                        <a:cxn ang="0">
                          <a:pos x="T8" y="T9"/>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IN"/>
                    </a:p>
                  </p:txBody>
                </p:sp>
                <p:sp>
                  <p:nvSpPr>
                    <p:cNvPr id="11369" name="Freeform 105"/>
                    <p:cNvSpPr>
                      <a:spLocks noChangeArrowheads="1"/>
                    </p:cNvSpPr>
                    <p:nvPr/>
                  </p:nvSpPr>
                  <p:spPr bwMode="auto">
                    <a:xfrm>
                      <a:off x="2265" y="2475"/>
                      <a:ext cx="95" cy="377"/>
                    </a:xfrm>
                    <a:custGeom>
                      <a:avLst/>
                      <a:gdLst>
                        <a:gd name="T0" fmla="*/ 0 w 417"/>
                        <a:gd name="T1" fmla="*/ 1662 h 1663"/>
                        <a:gd name="T2" fmla="*/ 0 w 417"/>
                        <a:gd name="T3" fmla="*/ 415 h 1663"/>
                        <a:gd name="T4" fmla="*/ 416 w 417"/>
                        <a:gd name="T5" fmla="*/ 0 h 1663"/>
                        <a:gd name="T6" fmla="*/ 416 w 417"/>
                        <a:gd name="T7" fmla="*/ 1247 h 1663"/>
                        <a:gd name="T8" fmla="*/ 0 w 417"/>
                        <a:gd name="T9" fmla="*/ 1662 h 1663"/>
                      </a:gdLst>
                      <a:ahLst/>
                      <a:cxnLst>
                        <a:cxn ang="0">
                          <a:pos x="T0" y="T1"/>
                        </a:cxn>
                        <a:cxn ang="0">
                          <a:pos x="T2" y="T3"/>
                        </a:cxn>
                        <a:cxn ang="0">
                          <a:pos x="T4" y="T5"/>
                        </a:cxn>
                        <a:cxn ang="0">
                          <a:pos x="T6" y="T7"/>
                        </a:cxn>
                        <a:cxn ang="0">
                          <a:pos x="T8" y="T9"/>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IN"/>
                    </a:p>
                  </p:txBody>
                </p:sp>
              </p:grpSp>
              <p:grpSp>
                <p:nvGrpSpPr>
                  <p:cNvPr id="11370" name="Group 106"/>
                  <p:cNvGrpSpPr>
                    <a:grpSpLocks/>
                  </p:cNvGrpSpPr>
                  <p:nvPr/>
                </p:nvGrpSpPr>
                <p:grpSpPr bwMode="auto">
                  <a:xfrm>
                    <a:off x="2068" y="2404"/>
                    <a:ext cx="291" cy="77"/>
                    <a:chOff x="2068" y="2404"/>
                    <a:chExt cx="291" cy="77"/>
                  </a:xfrm>
                </p:grpSpPr>
                <p:sp>
                  <p:nvSpPr>
                    <p:cNvPr id="11371" name="Freeform 107"/>
                    <p:cNvSpPr>
                      <a:spLocks noChangeArrowheads="1"/>
                    </p:cNvSpPr>
                    <p:nvPr/>
                  </p:nvSpPr>
                  <p:spPr bwMode="auto">
                    <a:xfrm>
                      <a:off x="2068" y="2404"/>
                      <a:ext cx="292" cy="78"/>
                    </a:xfrm>
                    <a:custGeom>
                      <a:avLst/>
                      <a:gdLst>
                        <a:gd name="T0" fmla="*/ 0 w 1288"/>
                        <a:gd name="T1" fmla="*/ 344 h 345"/>
                        <a:gd name="T2" fmla="*/ 0 w 1288"/>
                        <a:gd name="T3" fmla="*/ 85 h 345"/>
                        <a:gd name="T4" fmla="*/ 85 w 1288"/>
                        <a:gd name="T5" fmla="*/ 0 h 345"/>
                        <a:gd name="T6" fmla="*/ 1287 w 1288"/>
                        <a:gd name="T7" fmla="*/ 0 h 345"/>
                        <a:gd name="T8" fmla="*/ 1287 w 1288"/>
                        <a:gd name="T9" fmla="*/ 257 h 345"/>
                        <a:gd name="T10" fmla="*/ 1200 w 1288"/>
                        <a:gd name="T11" fmla="*/ 344 h 345"/>
                        <a:gd name="T12" fmla="*/ 0 w 1288"/>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8" h="345">
                          <a:moveTo>
                            <a:pt x="0" y="344"/>
                          </a:moveTo>
                          <a:lnTo>
                            <a:pt x="0" y="85"/>
                          </a:lnTo>
                          <a:lnTo>
                            <a:pt x="85" y="0"/>
                          </a:lnTo>
                          <a:lnTo>
                            <a:pt x="1287" y="0"/>
                          </a:lnTo>
                          <a:lnTo>
                            <a:pt x="1287" y="257"/>
                          </a:lnTo>
                          <a:lnTo>
                            <a:pt x="1200"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1372" name="Freeform 108"/>
                    <p:cNvSpPr>
                      <a:spLocks noChangeArrowheads="1"/>
                    </p:cNvSpPr>
                    <p:nvPr/>
                  </p:nvSpPr>
                  <p:spPr bwMode="auto">
                    <a:xfrm>
                      <a:off x="2068" y="2404"/>
                      <a:ext cx="292" cy="20"/>
                    </a:xfrm>
                    <a:custGeom>
                      <a:avLst/>
                      <a:gdLst>
                        <a:gd name="T0" fmla="*/ 0 w 1288"/>
                        <a:gd name="T1" fmla="*/ 85 h 86"/>
                        <a:gd name="T2" fmla="*/ 85 w 1288"/>
                        <a:gd name="T3" fmla="*/ 0 h 86"/>
                        <a:gd name="T4" fmla="*/ 1287 w 1288"/>
                        <a:gd name="T5" fmla="*/ 0 h 86"/>
                        <a:gd name="T6" fmla="*/ 1200 w 1288"/>
                        <a:gd name="T7" fmla="*/ 85 h 86"/>
                        <a:gd name="T8" fmla="*/ 0 w 1288"/>
                        <a:gd name="T9" fmla="*/ 85 h 86"/>
                      </a:gdLst>
                      <a:ahLst/>
                      <a:cxnLst>
                        <a:cxn ang="0">
                          <a:pos x="T0" y="T1"/>
                        </a:cxn>
                        <a:cxn ang="0">
                          <a:pos x="T2" y="T3"/>
                        </a:cxn>
                        <a:cxn ang="0">
                          <a:pos x="T4" y="T5"/>
                        </a:cxn>
                        <a:cxn ang="0">
                          <a:pos x="T6" y="T7"/>
                        </a:cxn>
                        <a:cxn ang="0">
                          <a:pos x="T8" y="T9"/>
                        </a:cxn>
                      </a:cxnLst>
                      <a:rect l="0" t="0" r="r" b="b"/>
                      <a:pathLst>
                        <a:path w="1288" h="86">
                          <a:moveTo>
                            <a:pt x="0" y="85"/>
                          </a:moveTo>
                          <a:lnTo>
                            <a:pt x="85" y="0"/>
                          </a:lnTo>
                          <a:lnTo>
                            <a:pt x="1287" y="0"/>
                          </a:lnTo>
                          <a:lnTo>
                            <a:pt x="1200"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1373" name="Freeform 109"/>
                    <p:cNvSpPr>
                      <a:spLocks noChangeArrowheads="1"/>
                    </p:cNvSpPr>
                    <p:nvPr/>
                  </p:nvSpPr>
                  <p:spPr bwMode="auto">
                    <a:xfrm>
                      <a:off x="2340" y="2404"/>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1374" name="Oval 110"/>
                <p:cNvSpPr>
                  <a:spLocks noChangeArrowheads="1"/>
                </p:cNvSpPr>
                <p:nvPr/>
              </p:nvSpPr>
              <p:spPr bwMode="auto">
                <a:xfrm>
                  <a:off x="2097" y="2440"/>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1375" name="Freeform 111"/>
                <p:cNvSpPr>
                  <a:spLocks noChangeArrowheads="1"/>
                </p:cNvSpPr>
                <p:nvPr/>
              </p:nvSpPr>
              <p:spPr bwMode="auto">
                <a:xfrm>
                  <a:off x="2029" y="2650"/>
                  <a:ext cx="198" cy="84"/>
                </a:xfrm>
                <a:custGeom>
                  <a:avLst/>
                  <a:gdLst>
                    <a:gd name="T0" fmla="*/ 107 w 874"/>
                    <a:gd name="T1" fmla="*/ 0 h 371"/>
                    <a:gd name="T2" fmla="*/ 764 w 874"/>
                    <a:gd name="T3" fmla="*/ 0 h 371"/>
                    <a:gd name="T4" fmla="*/ 873 w 874"/>
                    <a:gd name="T5" fmla="*/ 108 h 371"/>
                    <a:gd name="T6" fmla="*/ 873 w 874"/>
                    <a:gd name="T7" fmla="*/ 262 h 371"/>
                    <a:gd name="T8" fmla="*/ 764 w 874"/>
                    <a:gd name="T9" fmla="*/ 370 h 371"/>
                    <a:gd name="T10" fmla="*/ 107 w 874"/>
                    <a:gd name="T11" fmla="*/ 370 h 371"/>
                    <a:gd name="T12" fmla="*/ 0 w 874"/>
                    <a:gd name="T13" fmla="*/ 262 h 371"/>
                    <a:gd name="T14" fmla="*/ 0 w 874"/>
                    <a:gd name="T15" fmla="*/ 108 h 371"/>
                    <a:gd name="T16" fmla="*/ 107 w 874"/>
                    <a:gd name="T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1376" name="Freeform 112"/>
              <p:cNvSpPr>
                <a:spLocks noChangeArrowheads="1"/>
              </p:cNvSpPr>
              <p:nvPr/>
            </p:nvSpPr>
            <p:spPr bwMode="auto">
              <a:xfrm>
                <a:off x="2546" y="2633"/>
                <a:ext cx="85" cy="191"/>
              </a:xfrm>
              <a:custGeom>
                <a:avLst/>
                <a:gdLst>
                  <a:gd name="T0" fmla="*/ 274 w 377"/>
                  <a:gd name="T1" fmla="*/ 0 h 843"/>
                  <a:gd name="T2" fmla="*/ 376 w 377"/>
                  <a:gd name="T3" fmla="*/ 0 h 843"/>
                  <a:gd name="T4" fmla="*/ 101 w 377"/>
                  <a:gd name="T5" fmla="*/ 842 h 843"/>
                  <a:gd name="T6" fmla="*/ 0 w 377"/>
                  <a:gd name="T7" fmla="*/ 842 h 843"/>
                  <a:gd name="T8" fmla="*/ 274 w 377"/>
                  <a:gd name="T9" fmla="*/ 0 h 843"/>
                </a:gdLst>
                <a:ahLst/>
                <a:cxnLst>
                  <a:cxn ang="0">
                    <a:pos x="T0" y="T1"/>
                  </a:cxn>
                  <a:cxn ang="0">
                    <a:pos x="T2" y="T3"/>
                  </a:cxn>
                  <a:cxn ang="0">
                    <a:pos x="T4" y="T5"/>
                  </a:cxn>
                  <a:cxn ang="0">
                    <a:pos x="T6" y="T7"/>
                  </a:cxn>
                  <a:cxn ang="0">
                    <a:pos x="T8" y="T9"/>
                  </a:cxn>
                </a:cxnLst>
                <a:rect l="0" t="0" r="r" b="b"/>
                <a:pathLst>
                  <a:path w="377" h="843">
                    <a:moveTo>
                      <a:pt x="274" y="0"/>
                    </a:moveTo>
                    <a:lnTo>
                      <a:pt x="376" y="0"/>
                    </a:lnTo>
                    <a:lnTo>
                      <a:pt x="101" y="842"/>
                    </a:lnTo>
                    <a:lnTo>
                      <a:pt x="0" y="842"/>
                    </a:lnTo>
                    <a:lnTo>
                      <a:pt x="274"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377" name="AutoShape 113"/>
              <p:cNvSpPr>
                <a:spLocks noChangeArrowheads="1"/>
              </p:cNvSpPr>
              <p:nvPr/>
            </p:nvSpPr>
            <p:spPr bwMode="auto">
              <a:xfrm>
                <a:off x="2542" y="2633"/>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378" name="AutoShape 114"/>
              <p:cNvSpPr>
                <a:spLocks noChangeArrowheads="1"/>
              </p:cNvSpPr>
              <p:nvPr/>
            </p:nvSpPr>
            <p:spPr bwMode="auto">
              <a:xfrm>
                <a:off x="2549" y="2714"/>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379" name="AutoShape 115"/>
              <p:cNvSpPr>
                <a:spLocks noChangeArrowheads="1"/>
              </p:cNvSpPr>
              <p:nvPr/>
            </p:nvSpPr>
            <p:spPr bwMode="auto">
              <a:xfrm>
                <a:off x="2366" y="2714"/>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1380" name="Group 116"/>
              <p:cNvGrpSpPr>
                <a:grpSpLocks/>
              </p:cNvGrpSpPr>
              <p:nvPr/>
            </p:nvGrpSpPr>
            <p:grpSpPr bwMode="auto">
              <a:xfrm>
                <a:off x="2364" y="2461"/>
                <a:ext cx="193" cy="363"/>
                <a:chOff x="2364" y="2461"/>
                <a:chExt cx="193" cy="363"/>
              </a:xfrm>
            </p:grpSpPr>
            <p:sp>
              <p:nvSpPr>
                <p:cNvPr id="11381" name="Oval 117"/>
                <p:cNvSpPr>
                  <a:spLocks noChangeArrowheads="1"/>
                </p:cNvSpPr>
                <p:nvPr/>
              </p:nvSpPr>
              <p:spPr bwMode="auto">
                <a:xfrm>
                  <a:off x="2440" y="2461"/>
                  <a:ext cx="49"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1382" name="Freeform 118"/>
                <p:cNvSpPr>
                  <a:spLocks noChangeArrowheads="1"/>
                </p:cNvSpPr>
                <p:nvPr/>
              </p:nvSpPr>
              <p:spPr bwMode="auto">
                <a:xfrm>
                  <a:off x="2364" y="2529"/>
                  <a:ext cx="194" cy="296"/>
                </a:xfrm>
                <a:custGeom>
                  <a:avLst/>
                  <a:gdLst>
                    <a:gd name="T0" fmla="*/ 8 w 856"/>
                    <a:gd name="T1" fmla="*/ 605 h 1305"/>
                    <a:gd name="T2" fmla="*/ 4 w 856"/>
                    <a:gd name="T3" fmla="*/ 618 h 1305"/>
                    <a:gd name="T4" fmla="*/ 0 w 856"/>
                    <a:gd name="T5" fmla="*/ 640 h 1305"/>
                    <a:gd name="T6" fmla="*/ 0 w 856"/>
                    <a:gd name="T7" fmla="*/ 662 h 1305"/>
                    <a:gd name="T8" fmla="*/ 8 w 856"/>
                    <a:gd name="T9" fmla="*/ 684 h 1305"/>
                    <a:gd name="T10" fmla="*/ 17 w 856"/>
                    <a:gd name="T11" fmla="*/ 703 h 1305"/>
                    <a:gd name="T12" fmla="*/ 35 w 856"/>
                    <a:gd name="T13" fmla="*/ 721 h 1305"/>
                    <a:gd name="T14" fmla="*/ 52 w 856"/>
                    <a:gd name="T15" fmla="*/ 730 h 1305"/>
                    <a:gd name="T16" fmla="*/ 70 w 856"/>
                    <a:gd name="T17" fmla="*/ 734 h 1305"/>
                    <a:gd name="T18" fmla="*/ 92 w 856"/>
                    <a:gd name="T19" fmla="*/ 734 h 1305"/>
                    <a:gd name="T20" fmla="*/ 558 w 856"/>
                    <a:gd name="T21" fmla="*/ 1304 h 1305"/>
                    <a:gd name="T22" fmla="*/ 704 w 856"/>
                    <a:gd name="T23" fmla="*/ 627 h 1305"/>
                    <a:gd name="T24" fmla="*/ 704 w 856"/>
                    <a:gd name="T25" fmla="*/ 609 h 1305"/>
                    <a:gd name="T26" fmla="*/ 695 w 856"/>
                    <a:gd name="T27" fmla="*/ 601 h 1305"/>
                    <a:gd name="T28" fmla="*/ 682 w 856"/>
                    <a:gd name="T29" fmla="*/ 587 h 1305"/>
                    <a:gd name="T30" fmla="*/ 673 w 856"/>
                    <a:gd name="T31" fmla="*/ 578 h 1305"/>
                    <a:gd name="T32" fmla="*/ 656 w 856"/>
                    <a:gd name="T33" fmla="*/ 574 h 1305"/>
                    <a:gd name="T34" fmla="*/ 638 w 856"/>
                    <a:gd name="T35" fmla="*/ 570 h 1305"/>
                    <a:gd name="T36" fmla="*/ 620 w 856"/>
                    <a:gd name="T37" fmla="*/ 570 h 1305"/>
                    <a:gd name="T38" fmla="*/ 607 w 856"/>
                    <a:gd name="T39" fmla="*/ 570 h 1305"/>
                    <a:gd name="T40" fmla="*/ 412 w 856"/>
                    <a:gd name="T41" fmla="*/ 331 h 1305"/>
                    <a:gd name="T42" fmla="*/ 793 w 856"/>
                    <a:gd name="T43" fmla="*/ 411 h 1305"/>
                    <a:gd name="T44" fmla="*/ 811 w 856"/>
                    <a:gd name="T45" fmla="*/ 406 h 1305"/>
                    <a:gd name="T46" fmla="*/ 820 w 856"/>
                    <a:gd name="T47" fmla="*/ 402 h 1305"/>
                    <a:gd name="T48" fmla="*/ 837 w 856"/>
                    <a:gd name="T49" fmla="*/ 393 h 1305"/>
                    <a:gd name="T50" fmla="*/ 846 w 856"/>
                    <a:gd name="T51" fmla="*/ 380 h 1305"/>
                    <a:gd name="T52" fmla="*/ 851 w 856"/>
                    <a:gd name="T53" fmla="*/ 367 h 1305"/>
                    <a:gd name="T54" fmla="*/ 855 w 856"/>
                    <a:gd name="T55" fmla="*/ 345 h 1305"/>
                    <a:gd name="T56" fmla="*/ 851 w 856"/>
                    <a:gd name="T57" fmla="*/ 327 h 1305"/>
                    <a:gd name="T58" fmla="*/ 842 w 856"/>
                    <a:gd name="T59" fmla="*/ 309 h 1305"/>
                    <a:gd name="T60" fmla="*/ 833 w 856"/>
                    <a:gd name="T61" fmla="*/ 300 h 1305"/>
                    <a:gd name="T62" fmla="*/ 815 w 856"/>
                    <a:gd name="T63" fmla="*/ 286 h 1305"/>
                    <a:gd name="T64" fmla="*/ 802 w 856"/>
                    <a:gd name="T65" fmla="*/ 282 h 1305"/>
                    <a:gd name="T66" fmla="*/ 541 w 856"/>
                    <a:gd name="T67" fmla="*/ 282 h 1305"/>
                    <a:gd name="T68" fmla="*/ 496 w 856"/>
                    <a:gd name="T69" fmla="*/ 185 h 1305"/>
                    <a:gd name="T70" fmla="*/ 500 w 856"/>
                    <a:gd name="T71" fmla="*/ 163 h 1305"/>
                    <a:gd name="T72" fmla="*/ 505 w 856"/>
                    <a:gd name="T73" fmla="*/ 132 h 1305"/>
                    <a:gd name="T74" fmla="*/ 505 w 856"/>
                    <a:gd name="T75" fmla="*/ 105 h 1305"/>
                    <a:gd name="T76" fmla="*/ 496 w 856"/>
                    <a:gd name="T77" fmla="*/ 83 h 1305"/>
                    <a:gd name="T78" fmla="*/ 487 w 856"/>
                    <a:gd name="T79" fmla="*/ 66 h 1305"/>
                    <a:gd name="T80" fmla="*/ 474 w 856"/>
                    <a:gd name="T81" fmla="*/ 44 h 1305"/>
                    <a:gd name="T82" fmla="*/ 456 w 856"/>
                    <a:gd name="T83" fmla="*/ 30 h 1305"/>
                    <a:gd name="T84" fmla="*/ 434 w 856"/>
                    <a:gd name="T85" fmla="*/ 13 h 1305"/>
                    <a:gd name="T86" fmla="*/ 412 w 856"/>
                    <a:gd name="T87" fmla="*/ 4 h 1305"/>
                    <a:gd name="T88" fmla="*/ 385 w 856"/>
                    <a:gd name="T89" fmla="*/ 0 h 1305"/>
                    <a:gd name="T90" fmla="*/ 359 w 856"/>
                    <a:gd name="T91" fmla="*/ 0 h 1305"/>
                    <a:gd name="T92" fmla="*/ 332 w 856"/>
                    <a:gd name="T93" fmla="*/ 4 h 1305"/>
                    <a:gd name="T94" fmla="*/ 305 w 856"/>
                    <a:gd name="T95" fmla="*/ 13 h 1305"/>
                    <a:gd name="T96" fmla="*/ 278 w 856"/>
                    <a:gd name="T97" fmla="*/ 26 h 1305"/>
                    <a:gd name="T98" fmla="*/ 261 w 856"/>
                    <a:gd name="T99" fmla="*/ 48 h 1305"/>
                    <a:gd name="T100" fmla="*/ 243 w 856"/>
                    <a:gd name="T101" fmla="*/ 75 h 1305"/>
                    <a:gd name="T102" fmla="*/ 234 w 856"/>
                    <a:gd name="T103" fmla="*/ 101 h 1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6" h="1305">
                      <a:moveTo>
                        <a:pt x="234"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2" y="730"/>
                      </a:lnTo>
                      <a:lnTo>
                        <a:pt x="61" y="730"/>
                      </a:lnTo>
                      <a:lnTo>
                        <a:pt x="70" y="734"/>
                      </a:lnTo>
                      <a:lnTo>
                        <a:pt x="79" y="734"/>
                      </a:lnTo>
                      <a:lnTo>
                        <a:pt x="92" y="734"/>
                      </a:lnTo>
                      <a:lnTo>
                        <a:pt x="558" y="734"/>
                      </a:lnTo>
                      <a:lnTo>
                        <a:pt x="558" y="1304"/>
                      </a:lnTo>
                      <a:lnTo>
                        <a:pt x="704" y="1304"/>
                      </a:lnTo>
                      <a:lnTo>
                        <a:pt x="704" y="627"/>
                      </a:lnTo>
                      <a:lnTo>
                        <a:pt x="704" y="618"/>
                      </a:lnTo>
                      <a:lnTo>
                        <a:pt x="704" y="609"/>
                      </a:lnTo>
                      <a:lnTo>
                        <a:pt x="700" y="605"/>
                      </a:lnTo>
                      <a:lnTo>
                        <a:pt x="695" y="601"/>
                      </a:lnTo>
                      <a:lnTo>
                        <a:pt x="691" y="596"/>
                      </a:lnTo>
                      <a:lnTo>
                        <a:pt x="682" y="587"/>
                      </a:lnTo>
                      <a:lnTo>
                        <a:pt x="678" y="583"/>
                      </a:lnTo>
                      <a:lnTo>
                        <a:pt x="673" y="578"/>
                      </a:lnTo>
                      <a:lnTo>
                        <a:pt x="664" y="578"/>
                      </a:lnTo>
                      <a:lnTo>
                        <a:pt x="656" y="574"/>
                      </a:lnTo>
                      <a:lnTo>
                        <a:pt x="647" y="574"/>
                      </a:lnTo>
                      <a:lnTo>
                        <a:pt x="638" y="570"/>
                      </a:lnTo>
                      <a:lnTo>
                        <a:pt x="629" y="570"/>
                      </a:lnTo>
                      <a:lnTo>
                        <a:pt x="620" y="570"/>
                      </a:lnTo>
                      <a:lnTo>
                        <a:pt x="616" y="570"/>
                      </a:lnTo>
                      <a:lnTo>
                        <a:pt x="607" y="570"/>
                      </a:lnTo>
                      <a:lnTo>
                        <a:pt x="337" y="552"/>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nvGrpSpPr>
            <p:cNvPr id="11383" name="Group 119"/>
            <p:cNvGrpSpPr>
              <a:grpSpLocks/>
            </p:cNvGrpSpPr>
            <p:nvPr/>
          </p:nvGrpSpPr>
          <p:grpSpPr bwMode="auto">
            <a:xfrm>
              <a:off x="2097" y="2852"/>
              <a:ext cx="966" cy="447"/>
              <a:chOff x="2097" y="2852"/>
              <a:chExt cx="966" cy="447"/>
            </a:xfrm>
          </p:grpSpPr>
          <p:grpSp>
            <p:nvGrpSpPr>
              <p:cNvPr id="11384" name="Group 120"/>
              <p:cNvGrpSpPr>
                <a:grpSpLocks/>
              </p:cNvGrpSpPr>
              <p:nvPr/>
            </p:nvGrpSpPr>
            <p:grpSpPr bwMode="auto">
              <a:xfrm>
                <a:off x="2097" y="2852"/>
                <a:ext cx="304" cy="447"/>
                <a:chOff x="2097" y="2852"/>
                <a:chExt cx="304" cy="447"/>
              </a:xfrm>
            </p:grpSpPr>
            <p:grpSp>
              <p:nvGrpSpPr>
                <p:cNvPr id="11385" name="Group 121"/>
                <p:cNvGrpSpPr>
                  <a:grpSpLocks/>
                </p:cNvGrpSpPr>
                <p:nvPr/>
              </p:nvGrpSpPr>
              <p:grpSpPr bwMode="auto">
                <a:xfrm>
                  <a:off x="2097" y="2852"/>
                  <a:ext cx="304" cy="447"/>
                  <a:chOff x="2097" y="2852"/>
                  <a:chExt cx="304" cy="447"/>
                </a:xfrm>
              </p:grpSpPr>
              <p:grpSp>
                <p:nvGrpSpPr>
                  <p:cNvPr id="11386" name="Group 122"/>
                  <p:cNvGrpSpPr>
                    <a:grpSpLocks/>
                  </p:cNvGrpSpPr>
                  <p:nvPr/>
                </p:nvGrpSpPr>
                <p:grpSpPr bwMode="auto">
                  <a:xfrm>
                    <a:off x="2097" y="2923"/>
                    <a:ext cx="304" cy="376"/>
                    <a:chOff x="2097" y="2923"/>
                    <a:chExt cx="304" cy="376"/>
                  </a:xfrm>
                </p:grpSpPr>
                <p:sp>
                  <p:nvSpPr>
                    <p:cNvPr id="11387" name="Freeform 123"/>
                    <p:cNvSpPr>
                      <a:spLocks noChangeArrowheads="1"/>
                    </p:cNvSpPr>
                    <p:nvPr/>
                  </p:nvSpPr>
                  <p:spPr bwMode="auto">
                    <a:xfrm>
                      <a:off x="2097" y="2923"/>
                      <a:ext cx="305" cy="377"/>
                    </a:xfrm>
                    <a:custGeom>
                      <a:avLst/>
                      <a:gdLst>
                        <a:gd name="T0" fmla="*/ 0 w 1346"/>
                        <a:gd name="T1" fmla="*/ 1662 h 1663"/>
                        <a:gd name="T2" fmla="*/ 0 w 1346"/>
                        <a:gd name="T3" fmla="*/ 336 h 1663"/>
                        <a:gd name="T4" fmla="*/ 335 w 1346"/>
                        <a:gd name="T5" fmla="*/ 0 h 1663"/>
                        <a:gd name="T6" fmla="*/ 1345 w 1346"/>
                        <a:gd name="T7" fmla="*/ 0 h 1663"/>
                        <a:gd name="T8" fmla="*/ 1345 w 1346"/>
                        <a:gd name="T9" fmla="*/ 1326 h 1663"/>
                        <a:gd name="T10" fmla="*/ 1008 w 1346"/>
                        <a:gd name="T11" fmla="*/ 1662 h 1663"/>
                        <a:gd name="T12" fmla="*/ 0 w 1346"/>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IN"/>
                    </a:p>
                  </p:txBody>
                </p:sp>
                <p:sp>
                  <p:nvSpPr>
                    <p:cNvPr id="11388" name="Freeform 124"/>
                    <p:cNvSpPr>
                      <a:spLocks noChangeArrowheads="1"/>
                    </p:cNvSpPr>
                    <p:nvPr/>
                  </p:nvSpPr>
                  <p:spPr bwMode="auto">
                    <a:xfrm>
                      <a:off x="2097" y="2923"/>
                      <a:ext cx="305" cy="76"/>
                    </a:xfrm>
                    <a:custGeom>
                      <a:avLst/>
                      <a:gdLst>
                        <a:gd name="T0" fmla="*/ 0 w 1346"/>
                        <a:gd name="T1" fmla="*/ 336 h 337"/>
                        <a:gd name="T2" fmla="*/ 335 w 1346"/>
                        <a:gd name="T3" fmla="*/ 0 h 337"/>
                        <a:gd name="T4" fmla="*/ 1345 w 1346"/>
                        <a:gd name="T5" fmla="*/ 0 h 337"/>
                        <a:gd name="T6" fmla="*/ 1008 w 1346"/>
                        <a:gd name="T7" fmla="*/ 336 h 337"/>
                        <a:gd name="T8" fmla="*/ 0 w 1346"/>
                        <a:gd name="T9" fmla="*/ 336 h 337"/>
                      </a:gdLst>
                      <a:ahLst/>
                      <a:cxnLst>
                        <a:cxn ang="0">
                          <a:pos x="T0" y="T1"/>
                        </a:cxn>
                        <a:cxn ang="0">
                          <a:pos x="T2" y="T3"/>
                        </a:cxn>
                        <a:cxn ang="0">
                          <a:pos x="T4" y="T5"/>
                        </a:cxn>
                        <a:cxn ang="0">
                          <a:pos x="T6" y="T7"/>
                        </a:cxn>
                        <a:cxn ang="0">
                          <a:pos x="T8" y="T9"/>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IN"/>
                    </a:p>
                  </p:txBody>
                </p:sp>
                <p:sp>
                  <p:nvSpPr>
                    <p:cNvPr id="11389" name="Freeform 125"/>
                    <p:cNvSpPr>
                      <a:spLocks noChangeArrowheads="1"/>
                    </p:cNvSpPr>
                    <p:nvPr/>
                  </p:nvSpPr>
                  <p:spPr bwMode="auto">
                    <a:xfrm>
                      <a:off x="2325" y="2923"/>
                      <a:ext cx="77" cy="377"/>
                    </a:xfrm>
                    <a:custGeom>
                      <a:avLst/>
                      <a:gdLst>
                        <a:gd name="T0" fmla="*/ 0 w 338"/>
                        <a:gd name="T1" fmla="*/ 1662 h 1663"/>
                        <a:gd name="T2" fmla="*/ 0 w 338"/>
                        <a:gd name="T3" fmla="*/ 336 h 1663"/>
                        <a:gd name="T4" fmla="*/ 337 w 338"/>
                        <a:gd name="T5" fmla="*/ 0 h 1663"/>
                        <a:gd name="T6" fmla="*/ 337 w 338"/>
                        <a:gd name="T7" fmla="*/ 1326 h 1663"/>
                        <a:gd name="T8" fmla="*/ 0 w 338"/>
                        <a:gd name="T9" fmla="*/ 1662 h 1663"/>
                      </a:gdLst>
                      <a:ahLst/>
                      <a:cxnLst>
                        <a:cxn ang="0">
                          <a:pos x="T0" y="T1"/>
                        </a:cxn>
                        <a:cxn ang="0">
                          <a:pos x="T2" y="T3"/>
                        </a:cxn>
                        <a:cxn ang="0">
                          <a:pos x="T4" y="T5"/>
                        </a:cxn>
                        <a:cxn ang="0">
                          <a:pos x="T6" y="T7"/>
                        </a:cxn>
                        <a:cxn ang="0">
                          <a:pos x="T8" y="T9"/>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IN"/>
                    </a:p>
                  </p:txBody>
                </p:sp>
              </p:grpSp>
              <p:grpSp>
                <p:nvGrpSpPr>
                  <p:cNvPr id="11390" name="Group 126"/>
                  <p:cNvGrpSpPr>
                    <a:grpSpLocks/>
                  </p:cNvGrpSpPr>
                  <p:nvPr/>
                </p:nvGrpSpPr>
                <p:grpSpPr bwMode="auto">
                  <a:xfrm>
                    <a:off x="2167" y="2852"/>
                    <a:ext cx="234" cy="77"/>
                    <a:chOff x="2167" y="2852"/>
                    <a:chExt cx="234" cy="77"/>
                  </a:xfrm>
                </p:grpSpPr>
                <p:sp>
                  <p:nvSpPr>
                    <p:cNvPr id="11391" name="Freeform 127"/>
                    <p:cNvSpPr>
                      <a:spLocks noChangeArrowheads="1"/>
                    </p:cNvSpPr>
                    <p:nvPr/>
                  </p:nvSpPr>
                  <p:spPr bwMode="auto">
                    <a:xfrm>
                      <a:off x="2167" y="2852"/>
                      <a:ext cx="235" cy="78"/>
                    </a:xfrm>
                    <a:custGeom>
                      <a:avLst/>
                      <a:gdLst>
                        <a:gd name="T0" fmla="*/ 0 w 1037"/>
                        <a:gd name="T1" fmla="*/ 344 h 345"/>
                        <a:gd name="T2" fmla="*/ 0 w 1037"/>
                        <a:gd name="T3" fmla="*/ 85 h 345"/>
                        <a:gd name="T4" fmla="*/ 85 w 1037"/>
                        <a:gd name="T5" fmla="*/ 0 h 345"/>
                        <a:gd name="T6" fmla="*/ 1036 w 1037"/>
                        <a:gd name="T7" fmla="*/ 0 h 345"/>
                        <a:gd name="T8" fmla="*/ 1036 w 1037"/>
                        <a:gd name="T9" fmla="*/ 257 h 345"/>
                        <a:gd name="T10" fmla="*/ 949 w 1037"/>
                        <a:gd name="T11" fmla="*/ 344 h 345"/>
                        <a:gd name="T12" fmla="*/ 0 w 1037"/>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1392" name="Freeform 128"/>
                    <p:cNvSpPr>
                      <a:spLocks noChangeArrowheads="1"/>
                    </p:cNvSpPr>
                    <p:nvPr/>
                  </p:nvSpPr>
                  <p:spPr bwMode="auto">
                    <a:xfrm>
                      <a:off x="2167" y="2852"/>
                      <a:ext cx="235" cy="20"/>
                    </a:xfrm>
                    <a:custGeom>
                      <a:avLst/>
                      <a:gdLst>
                        <a:gd name="T0" fmla="*/ 0 w 1037"/>
                        <a:gd name="T1" fmla="*/ 85 h 86"/>
                        <a:gd name="T2" fmla="*/ 85 w 1037"/>
                        <a:gd name="T3" fmla="*/ 0 h 86"/>
                        <a:gd name="T4" fmla="*/ 1036 w 1037"/>
                        <a:gd name="T5" fmla="*/ 0 h 86"/>
                        <a:gd name="T6" fmla="*/ 949 w 1037"/>
                        <a:gd name="T7" fmla="*/ 85 h 86"/>
                        <a:gd name="T8" fmla="*/ 0 w 1037"/>
                        <a:gd name="T9" fmla="*/ 85 h 86"/>
                      </a:gdLst>
                      <a:ahLst/>
                      <a:cxnLst>
                        <a:cxn ang="0">
                          <a:pos x="T0" y="T1"/>
                        </a:cxn>
                        <a:cxn ang="0">
                          <a:pos x="T2" y="T3"/>
                        </a:cxn>
                        <a:cxn ang="0">
                          <a:pos x="T4" y="T5"/>
                        </a:cxn>
                        <a:cxn ang="0">
                          <a:pos x="T6" y="T7"/>
                        </a:cxn>
                        <a:cxn ang="0">
                          <a:pos x="T8" y="T9"/>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1393" name="Freeform 129"/>
                    <p:cNvSpPr>
                      <a:spLocks noChangeArrowheads="1"/>
                    </p:cNvSpPr>
                    <p:nvPr/>
                  </p:nvSpPr>
                  <p:spPr bwMode="auto">
                    <a:xfrm>
                      <a:off x="2382" y="2852"/>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1394" name="Freeform 130"/>
                <p:cNvSpPr>
                  <a:spLocks noChangeArrowheads="1"/>
                </p:cNvSpPr>
                <p:nvPr/>
              </p:nvSpPr>
              <p:spPr bwMode="auto">
                <a:xfrm>
                  <a:off x="2159" y="2956"/>
                  <a:ext cx="158" cy="27"/>
                </a:xfrm>
                <a:custGeom>
                  <a:avLst/>
                  <a:gdLst>
                    <a:gd name="T0" fmla="*/ 173 w 698"/>
                    <a:gd name="T1" fmla="*/ 0 h 120"/>
                    <a:gd name="T2" fmla="*/ 697 w 698"/>
                    <a:gd name="T3" fmla="*/ 0 h 120"/>
                    <a:gd name="T4" fmla="*/ 522 w 698"/>
                    <a:gd name="T5" fmla="*/ 119 h 120"/>
                    <a:gd name="T6" fmla="*/ 0 w 698"/>
                    <a:gd name="T7" fmla="*/ 119 h 120"/>
                    <a:gd name="T8" fmla="*/ 173 w 698"/>
                    <a:gd name="T9" fmla="*/ 0 h 120"/>
                  </a:gdLst>
                  <a:ahLst/>
                  <a:cxnLst>
                    <a:cxn ang="0">
                      <a:pos x="T0" y="T1"/>
                    </a:cxn>
                    <a:cxn ang="0">
                      <a:pos x="T2" y="T3"/>
                    </a:cxn>
                    <a:cxn ang="0">
                      <a:pos x="T4" y="T5"/>
                    </a:cxn>
                    <a:cxn ang="0">
                      <a:pos x="T6" y="T7"/>
                    </a:cxn>
                    <a:cxn ang="0">
                      <a:pos x="T8" y="T9"/>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1395" name="Group 131"/>
              <p:cNvGrpSpPr>
                <a:grpSpLocks/>
              </p:cNvGrpSpPr>
              <p:nvPr/>
            </p:nvGrpSpPr>
            <p:grpSpPr bwMode="auto">
              <a:xfrm>
                <a:off x="2398" y="2852"/>
                <a:ext cx="377" cy="447"/>
                <a:chOff x="2398" y="2852"/>
                <a:chExt cx="377" cy="447"/>
              </a:xfrm>
            </p:grpSpPr>
            <p:grpSp>
              <p:nvGrpSpPr>
                <p:cNvPr id="11396" name="Group 132"/>
                <p:cNvGrpSpPr>
                  <a:grpSpLocks/>
                </p:cNvGrpSpPr>
                <p:nvPr/>
              </p:nvGrpSpPr>
              <p:grpSpPr bwMode="auto">
                <a:xfrm>
                  <a:off x="2398" y="2852"/>
                  <a:ext cx="377" cy="447"/>
                  <a:chOff x="2398" y="2852"/>
                  <a:chExt cx="377" cy="447"/>
                </a:xfrm>
              </p:grpSpPr>
              <p:grpSp>
                <p:nvGrpSpPr>
                  <p:cNvPr id="11397" name="Group 133"/>
                  <p:cNvGrpSpPr>
                    <a:grpSpLocks/>
                  </p:cNvGrpSpPr>
                  <p:nvPr/>
                </p:nvGrpSpPr>
                <p:grpSpPr bwMode="auto">
                  <a:xfrm>
                    <a:off x="2398" y="2923"/>
                    <a:ext cx="377" cy="376"/>
                    <a:chOff x="2398" y="2923"/>
                    <a:chExt cx="377" cy="376"/>
                  </a:xfrm>
                </p:grpSpPr>
                <p:sp>
                  <p:nvSpPr>
                    <p:cNvPr id="11398" name="Freeform 134"/>
                    <p:cNvSpPr>
                      <a:spLocks noChangeArrowheads="1"/>
                    </p:cNvSpPr>
                    <p:nvPr/>
                  </p:nvSpPr>
                  <p:spPr bwMode="auto">
                    <a:xfrm>
                      <a:off x="2398" y="2923"/>
                      <a:ext cx="378" cy="377"/>
                    </a:xfrm>
                    <a:custGeom>
                      <a:avLst/>
                      <a:gdLst>
                        <a:gd name="T0" fmla="*/ 0 w 1668"/>
                        <a:gd name="T1" fmla="*/ 1662 h 1663"/>
                        <a:gd name="T2" fmla="*/ 0 w 1668"/>
                        <a:gd name="T3" fmla="*/ 415 h 1663"/>
                        <a:gd name="T4" fmla="*/ 414 w 1668"/>
                        <a:gd name="T5" fmla="*/ 0 h 1663"/>
                        <a:gd name="T6" fmla="*/ 1667 w 1668"/>
                        <a:gd name="T7" fmla="*/ 0 h 1663"/>
                        <a:gd name="T8" fmla="*/ 1667 w 1668"/>
                        <a:gd name="T9" fmla="*/ 1247 h 1663"/>
                        <a:gd name="T10" fmla="*/ 1251 w 1668"/>
                        <a:gd name="T11" fmla="*/ 1662 h 1663"/>
                        <a:gd name="T12" fmla="*/ 0 w 1668"/>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IN"/>
                    </a:p>
                  </p:txBody>
                </p:sp>
                <p:sp>
                  <p:nvSpPr>
                    <p:cNvPr id="11399" name="Freeform 135"/>
                    <p:cNvSpPr>
                      <a:spLocks noChangeArrowheads="1"/>
                    </p:cNvSpPr>
                    <p:nvPr/>
                  </p:nvSpPr>
                  <p:spPr bwMode="auto">
                    <a:xfrm>
                      <a:off x="2398" y="2923"/>
                      <a:ext cx="378" cy="94"/>
                    </a:xfrm>
                    <a:custGeom>
                      <a:avLst/>
                      <a:gdLst>
                        <a:gd name="T0" fmla="*/ 0 w 1668"/>
                        <a:gd name="T1" fmla="*/ 415 h 416"/>
                        <a:gd name="T2" fmla="*/ 414 w 1668"/>
                        <a:gd name="T3" fmla="*/ 0 h 416"/>
                        <a:gd name="T4" fmla="*/ 1667 w 1668"/>
                        <a:gd name="T5" fmla="*/ 0 h 416"/>
                        <a:gd name="T6" fmla="*/ 1251 w 1668"/>
                        <a:gd name="T7" fmla="*/ 415 h 416"/>
                        <a:gd name="T8" fmla="*/ 0 w 1668"/>
                        <a:gd name="T9" fmla="*/ 415 h 416"/>
                      </a:gdLst>
                      <a:ahLst/>
                      <a:cxnLst>
                        <a:cxn ang="0">
                          <a:pos x="T0" y="T1"/>
                        </a:cxn>
                        <a:cxn ang="0">
                          <a:pos x="T2" y="T3"/>
                        </a:cxn>
                        <a:cxn ang="0">
                          <a:pos x="T4" y="T5"/>
                        </a:cxn>
                        <a:cxn ang="0">
                          <a:pos x="T6" y="T7"/>
                        </a:cxn>
                        <a:cxn ang="0">
                          <a:pos x="T8" y="T9"/>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IN"/>
                    </a:p>
                  </p:txBody>
                </p:sp>
                <p:sp>
                  <p:nvSpPr>
                    <p:cNvPr id="11400" name="Freeform 136"/>
                    <p:cNvSpPr>
                      <a:spLocks noChangeArrowheads="1"/>
                    </p:cNvSpPr>
                    <p:nvPr/>
                  </p:nvSpPr>
                  <p:spPr bwMode="auto">
                    <a:xfrm>
                      <a:off x="2682" y="2923"/>
                      <a:ext cx="95" cy="377"/>
                    </a:xfrm>
                    <a:custGeom>
                      <a:avLst/>
                      <a:gdLst>
                        <a:gd name="T0" fmla="*/ 0 w 417"/>
                        <a:gd name="T1" fmla="*/ 1662 h 1663"/>
                        <a:gd name="T2" fmla="*/ 0 w 417"/>
                        <a:gd name="T3" fmla="*/ 415 h 1663"/>
                        <a:gd name="T4" fmla="*/ 416 w 417"/>
                        <a:gd name="T5" fmla="*/ 0 h 1663"/>
                        <a:gd name="T6" fmla="*/ 416 w 417"/>
                        <a:gd name="T7" fmla="*/ 1247 h 1663"/>
                        <a:gd name="T8" fmla="*/ 0 w 417"/>
                        <a:gd name="T9" fmla="*/ 1662 h 1663"/>
                      </a:gdLst>
                      <a:ahLst/>
                      <a:cxnLst>
                        <a:cxn ang="0">
                          <a:pos x="T0" y="T1"/>
                        </a:cxn>
                        <a:cxn ang="0">
                          <a:pos x="T2" y="T3"/>
                        </a:cxn>
                        <a:cxn ang="0">
                          <a:pos x="T4" y="T5"/>
                        </a:cxn>
                        <a:cxn ang="0">
                          <a:pos x="T6" y="T7"/>
                        </a:cxn>
                        <a:cxn ang="0">
                          <a:pos x="T8" y="T9"/>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IN"/>
                    </a:p>
                  </p:txBody>
                </p:sp>
              </p:grpSp>
              <p:grpSp>
                <p:nvGrpSpPr>
                  <p:cNvPr id="11401" name="Group 137"/>
                  <p:cNvGrpSpPr>
                    <a:grpSpLocks/>
                  </p:cNvGrpSpPr>
                  <p:nvPr/>
                </p:nvGrpSpPr>
                <p:grpSpPr bwMode="auto">
                  <a:xfrm>
                    <a:off x="2484" y="2852"/>
                    <a:ext cx="291" cy="77"/>
                    <a:chOff x="2484" y="2852"/>
                    <a:chExt cx="291" cy="77"/>
                  </a:xfrm>
                </p:grpSpPr>
                <p:sp>
                  <p:nvSpPr>
                    <p:cNvPr id="11402" name="Freeform 138"/>
                    <p:cNvSpPr>
                      <a:spLocks noChangeArrowheads="1"/>
                    </p:cNvSpPr>
                    <p:nvPr/>
                  </p:nvSpPr>
                  <p:spPr bwMode="auto">
                    <a:xfrm>
                      <a:off x="2484" y="2852"/>
                      <a:ext cx="292" cy="78"/>
                    </a:xfrm>
                    <a:custGeom>
                      <a:avLst/>
                      <a:gdLst>
                        <a:gd name="T0" fmla="*/ 0 w 1289"/>
                        <a:gd name="T1" fmla="*/ 344 h 345"/>
                        <a:gd name="T2" fmla="*/ 0 w 1289"/>
                        <a:gd name="T3" fmla="*/ 85 h 345"/>
                        <a:gd name="T4" fmla="*/ 85 w 1289"/>
                        <a:gd name="T5" fmla="*/ 0 h 345"/>
                        <a:gd name="T6" fmla="*/ 1288 w 1289"/>
                        <a:gd name="T7" fmla="*/ 0 h 345"/>
                        <a:gd name="T8" fmla="*/ 1288 w 1289"/>
                        <a:gd name="T9" fmla="*/ 257 h 345"/>
                        <a:gd name="T10" fmla="*/ 1201 w 1289"/>
                        <a:gd name="T11" fmla="*/ 344 h 345"/>
                        <a:gd name="T12" fmla="*/ 0 w 1289"/>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9" h="345">
                          <a:moveTo>
                            <a:pt x="0" y="344"/>
                          </a:moveTo>
                          <a:lnTo>
                            <a:pt x="0" y="85"/>
                          </a:lnTo>
                          <a:lnTo>
                            <a:pt x="85" y="0"/>
                          </a:lnTo>
                          <a:lnTo>
                            <a:pt x="1288" y="0"/>
                          </a:lnTo>
                          <a:lnTo>
                            <a:pt x="1288" y="257"/>
                          </a:lnTo>
                          <a:lnTo>
                            <a:pt x="1201"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1403" name="Freeform 139"/>
                    <p:cNvSpPr>
                      <a:spLocks noChangeArrowheads="1"/>
                    </p:cNvSpPr>
                    <p:nvPr/>
                  </p:nvSpPr>
                  <p:spPr bwMode="auto">
                    <a:xfrm>
                      <a:off x="2484" y="2852"/>
                      <a:ext cx="292" cy="20"/>
                    </a:xfrm>
                    <a:custGeom>
                      <a:avLst/>
                      <a:gdLst>
                        <a:gd name="T0" fmla="*/ 0 w 1289"/>
                        <a:gd name="T1" fmla="*/ 85 h 86"/>
                        <a:gd name="T2" fmla="*/ 85 w 1289"/>
                        <a:gd name="T3" fmla="*/ 0 h 86"/>
                        <a:gd name="T4" fmla="*/ 1288 w 1289"/>
                        <a:gd name="T5" fmla="*/ 0 h 86"/>
                        <a:gd name="T6" fmla="*/ 1201 w 1289"/>
                        <a:gd name="T7" fmla="*/ 85 h 86"/>
                        <a:gd name="T8" fmla="*/ 0 w 1289"/>
                        <a:gd name="T9" fmla="*/ 85 h 86"/>
                      </a:gdLst>
                      <a:ahLst/>
                      <a:cxnLst>
                        <a:cxn ang="0">
                          <a:pos x="T0" y="T1"/>
                        </a:cxn>
                        <a:cxn ang="0">
                          <a:pos x="T2" y="T3"/>
                        </a:cxn>
                        <a:cxn ang="0">
                          <a:pos x="T4" y="T5"/>
                        </a:cxn>
                        <a:cxn ang="0">
                          <a:pos x="T6" y="T7"/>
                        </a:cxn>
                        <a:cxn ang="0">
                          <a:pos x="T8" y="T9"/>
                        </a:cxn>
                      </a:cxnLst>
                      <a:rect l="0" t="0" r="r" b="b"/>
                      <a:pathLst>
                        <a:path w="1289" h="86">
                          <a:moveTo>
                            <a:pt x="0" y="85"/>
                          </a:moveTo>
                          <a:lnTo>
                            <a:pt x="85" y="0"/>
                          </a:lnTo>
                          <a:lnTo>
                            <a:pt x="1288" y="0"/>
                          </a:lnTo>
                          <a:lnTo>
                            <a:pt x="1201"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1404" name="Freeform 140"/>
                    <p:cNvSpPr>
                      <a:spLocks noChangeArrowheads="1"/>
                    </p:cNvSpPr>
                    <p:nvPr/>
                  </p:nvSpPr>
                  <p:spPr bwMode="auto">
                    <a:xfrm>
                      <a:off x="2756" y="2852"/>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1405" name="Oval 141"/>
                <p:cNvSpPr>
                  <a:spLocks noChangeArrowheads="1"/>
                </p:cNvSpPr>
                <p:nvPr/>
              </p:nvSpPr>
              <p:spPr bwMode="auto">
                <a:xfrm>
                  <a:off x="2513" y="2888"/>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1406" name="Freeform 142"/>
                <p:cNvSpPr>
                  <a:spLocks noChangeArrowheads="1"/>
                </p:cNvSpPr>
                <p:nvPr/>
              </p:nvSpPr>
              <p:spPr bwMode="auto">
                <a:xfrm>
                  <a:off x="2445" y="3098"/>
                  <a:ext cx="198" cy="84"/>
                </a:xfrm>
                <a:custGeom>
                  <a:avLst/>
                  <a:gdLst>
                    <a:gd name="T0" fmla="*/ 107 w 874"/>
                    <a:gd name="T1" fmla="*/ 0 h 372"/>
                    <a:gd name="T2" fmla="*/ 764 w 874"/>
                    <a:gd name="T3" fmla="*/ 0 h 372"/>
                    <a:gd name="T4" fmla="*/ 873 w 874"/>
                    <a:gd name="T5" fmla="*/ 107 h 372"/>
                    <a:gd name="T6" fmla="*/ 873 w 874"/>
                    <a:gd name="T7" fmla="*/ 262 h 372"/>
                    <a:gd name="T8" fmla="*/ 764 w 874"/>
                    <a:gd name="T9" fmla="*/ 371 h 372"/>
                    <a:gd name="T10" fmla="*/ 107 w 874"/>
                    <a:gd name="T11" fmla="*/ 371 h 372"/>
                    <a:gd name="T12" fmla="*/ 0 w 874"/>
                    <a:gd name="T13" fmla="*/ 262 h 372"/>
                    <a:gd name="T14" fmla="*/ 0 w 874"/>
                    <a:gd name="T15" fmla="*/ 107 h 372"/>
                    <a:gd name="T16" fmla="*/ 107 w 874"/>
                    <a:gd name="T17"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2">
                      <a:moveTo>
                        <a:pt x="107" y="0"/>
                      </a:moveTo>
                      <a:lnTo>
                        <a:pt x="764" y="0"/>
                      </a:lnTo>
                      <a:lnTo>
                        <a:pt x="873" y="107"/>
                      </a:lnTo>
                      <a:lnTo>
                        <a:pt x="873" y="262"/>
                      </a:lnTo>
                      <a:lnTo>
                        <a:pt x="764" y="371"/>
                      </a:lnTo>
                      <a:lnTo>
                        <a:pt x="107" y="371"/>
                      </a:lnTo>
                      <a:lnTo>
                        <a:pt x="0" y="262"/>
                      </a:lnTo>
                      <a:lnTo>
                        <a:pt x="0" y="107"/>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1407" name="Freeform 143"/>
              <p:cNvSpPr>
                <a:spLocks noChangeArrowheads="1"/>
              </p:cNvSpPr>
              <p:nvPr/>
            </p:nvSpPr>
            <p:spPr bwMode="auto">
              <a:xfrm>
                <a:off x="2962" y="3081"/>
                <a:ext cx="85" cy="191"/>
              </a:xfrm>
              <a:custGeom>
                <a:avLst/>
                <a:gdLst>
                  <a:gd name="T0" fmla="*/ 273 w 376"/>
                  <a:gd name="T1" fmla="*/ 0 h 844"/>
                  <a:gd name="T2" fmla="*/ 375 w 376"/>
                  <a:gd name="T3" fmla="*/ 0 h 844"/>
                  <a:gd name="T4" fmla="*/ 101 w 376"/>
                  <a:gd name="T5" fmla="*/ 843 h 844"/>
                  <a:gd name="T6" fmla="*/ 0 w 376"/>
                  <a:gd name="T7" fmla="*/ 843 h 844"/>
                  <a:gd name="T8" fmla="*/ 273 w 376"/>
                  <a:gd name="T9" fmla="*/ 0 h 844"/>
                </a:gdLst>
                <a:ahLst/>
                <a:cxnLst>
                  <a:cxn ang="0">
                    <a:pos x="T0" y="T1"/>
                  </a:cxn>
                  <a:cxn ang="0">
                    <a:pos x="T2" y="T3"/>
                  </a:cxn>
                  <a:cxn ang="0">
                    <a:pos x="T4" y="T5"/>
                  </a:cxn>
                  <a:cxn ang="0">
                    <a:pos x="T6" y="T7"/>
                  </a:cxn>
                  <a:cxn ang="0">
                    <a:pos x="T8" y="T9"/>
                  </a:cxn>
                </a:cxnLst>
                <a:rect l="0" t="0" r="r" b="b"/>
                <a:pathLst>
                  <a:path w="376" h="844">
                    <a:moveTo>
                      <a:pt x="273" y="0"/>
                    </a:moveTo>
                    <a:lnTo>
                      <a:pt x="375" y="0"/>
                    </a:lnTo>
                    <a:lnTo>
                      <a:pt x="101" y="843"/>
                    </a:lnTo>
                    <a:lnTo>
                      <a:pt x="0" y="843"/>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408" name="AutoShape 144"/>
              <p:cNvSpPr>
                <a:spLocks noChangeArrowheads="1"/>
              </p:cNvSpPr>
              <p:nvPr/>
            </p:nvSpPr>
            <p:spPr bwMode="auto">
              <a:xfrm>
                <a:off x="2958" y="3081"/>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409" name="AutoShape 145"/>
              <p:cNvSpPr>
                <a:spLocks noChangeArrowheads="1"/>
              </p:cNvSpPr>
              <p:nvPr/>
            </p:nvSpPr>
            <p:spPr bwMode="auto">
              <a:xfrm>
                <a:off x="2965" y="3162"/>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1410" name="AutoShape 146"/>
              <p:cNvSpPr>
                <a:spLocks noChangeArrowheads="1"/>
              </p:cNvSpPr>
              <p:nvPr/>
            </p:nvSpPr>
            <p:spPr bwMode="auto">
              <a:xfrm>
                <a:off x="2782" y="3162"/>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1411" name="Group 147"/>
              <p:cNvGrpSpPr>
                <a:grpSpLocks/>
              </p:cNvGrpSpPr>
              <p:nvPr/>
            </p:nvGrpSpPr>
            <p:grpSpPr bwMode="auto">
              <a:xfrm>
                <a:off x="2780" y="2909"/>
                <a:ext cx="193" cy="363"/>
                <a:chOff x="2780" y="2909"/>
                <a:chExt cx="193" cy="363"/>
              </a:xfrm>
            </p:grpSpPr>
            <p:sp>
              <p:nvSpPr>
                <p:cNvPr id="11412" name="Oval 148"/>
                <p:cNvSpPr>
                  <a:spLocks noChangeArrowheads="1"/>
                </p:cNvSpPr>
                <p:nvPr/>
              </p:nvSpPr>
              <p:spPr bwMode="auto">
                <a:xfrm>
                  <a:off x="2856" y="2909"/>
                  <a:ext cx="49" cy="48"/>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1413" name="Freeform 149"/>
                <p:cNvSpPr>
                  <a:spLocks noChangeArrowheads="1"/>
                </p:cNvSpPr>
                <p:nvPr/>
              </p:nvSpPr>
              <p:spPr bwMode="auto">
                <a:xfrm>
                  <a:off x="2780" y="2978"/>
                  <a:ext cx="194" cy="296"/>
                </a:xfrm>
                <a:custGeom>
                  <a:avLst/>
                  <a:gdLst>
                    <a:gd name="T0" fmla="*/ 8 w 857"/>
                    <a:gd name="T1" fmla="*/ 605 h 1304"/>
                    <a:gd name="T2" fmla="*/ 4 w 857"/>
                    <a:gd name="T3" fmla="*/ 618 h 1304"/>
                    <a:gd name="T4" fmla="*/ 0 w 857"/>
                    <a:gd name="T5" fmla="*/ 640 h 1304"/>
                    <a:gd name="T6" fmla="*/ 0 w 857"/>
                    <a:gd name="T7" fmla="*/ 662 h 1304"/>
                    <a:gd name="T8" fmla="*/ 8 w 857"/>
                    <a:gd name="T9" fmla="*/ 684 h 1304"/>
                    <a:gd name="T10" fmla="*/ 17 w 857"/>
                    <a:gd name="T11" fmla="*/ 702 h 1304"/>
                    <a:gd name="T12" fmla="*/ 35 w 857"/>
                    <a:gd name="T13" fmla="*/ 720 h 1304"/>
                    <a:gd name="T14" fmla="*/ 53 w 857"/>
                    <a:gd name="T15" fmla="*/ 729 h 1304"/>
                    <a:gd name="T16" fmla="*/ 70 w 857"/>
                    <a:gd name="T17" fmla="*/ 733 h 1304"/>
                    <a:gd name="T18" fmla="*/ 92 w 857"/>
                    <a:gd name="T19" fmla="*/ 733 h 1304"/>
                    <a:gd name="T20" fmla="*/ 559 w 857"/>
                    <a:gd name="T21" fmla="*/ 1303 h 1304"/>
                    <a:gd name="T22" fmla="*/ 705 w 857"/>
                    <a:gd name="T23" fmla="*/ 627 h 1304"/>
                    <a:gd name="T24" fmla="*/ 705 w 857"/>
                    <a:gd name="T25" fmla="*/ 609 h 1304"/>
                    <a:gd name="T26" fmla="*/ 696 w 857"/>
                    <a:gd name="T27" fmla="*/ 601 h 1304"/>
                    <a:gd name="T28" fmla="*/ 683 w 857"/>
                    <a:gd name="T29" fmla="*/ 587 h 1304"/>
                    <a:gd name="T30" fmla="*/ 674 w 857"/>
                    <a:gd name="T31" fmla="*/ 578 h 1304"/>
                    <a:gd name="T32" fmla="*/ 656 w 857"/>
                    <a:gd name="T33" fmla="*/ 574 h 1304"/>
                    <a:gd name="T34" fmla="*/ 639 w 857"/>
                    <a:gd name="T35" fmla="*/ 570 h 1304"/>
                    <a:gd name="T36" fmla="*/ 621 w 857"/>
                    <a:gd name="T37" fmla="*/ 570 h 1304"/>
                    <a:gd name="T38" fmla="*/ 608 w 857"/>
                    <a:gd name="T39" fmla="*/ 570 h 1304"/>
                    <a:gd name="T40" fmla="*/ 412 w 857"/>
                    <a:gd name="T41" fmla="*/ 330 h 1304"/>
                    <a:gd name="T42" fmla="*/ 794 w 857"/>
                    <a:gd name="T43" fmla="*/ 410 h 1304"/>
                    <a:gd name="T44" fmla="*/ 812 w 857"/>
                    <a:gd name="T45" fmla="*/ 405 h 1304"/>
                    <a:gd name="T46" fmla="*/ 821 w 857"/>
                    <a:gd name="T47" fmla="*/ 401 h 1304"/>
                    <a:gd name="T48" fmla="*/ 838 w 857"/>
                    <a:gd name="T49" fmla="*/ 392 h 1304"/>
                    <a:gd name="T50" fmla="*/ 847 w 857"/>
                    <a:gd name="T51" fmla="*/ 379 h 1304"/>
                    <a:gd name="T52" fmla="*/ 852 w 857"/>
                    <a:gd name="T53" fmla="*/ 366 h 1304"/>
                    <a:gd name="T54" fmla="*/ 856 w 857"/>
                    <a:gd name="T55" fmla="*/ 344 h 1304"/>
                    <a:gd name="T56" fmla="*/ 852 w 857"/>
                    <a:gd name="T57" fmla="*/ 326 h 1304"/>
                    <a:gd name="T58" fmla="*/ 843 w 857"/>
                    <a:gd name="T59" fmla="*/ 308 h 1304"/>
                    <a:gd name="T60" fmla="*/ 834 w 857"/>
                    <a:gd name="T61" fmla="*/ 300 h 1304"/>
                    <a:gd name="T62" fmla="*/ 816 w 857"/>
                    <a:gd name="T63" fmla="*/ 286 h 1304"/>
                    <a:gd name="T64" fmla="*/ 803 w 857"/>
                    <a:gd name="T65" fmla="*/ 282 h 1304"/>
                    <a:gd name="T66" fmla="*/ 541 w 857"/>
                    <a:gd name="T67" fmla="*/ 282 h 1304"/>
                    <a:gd name="T68" fmla="*/ 496 w 857"/>
                    <a:gd name="T69" fmla="*/ 185 h 1304"/>
                    <a:gd name="T70" fmla="*/ 501 w 857"/>
                    <a:gd name="T71" fmla="*/ 163 h 1304"/>
                    <a:gd name="T72" fmla="*/ 505 w 857"/>
                    <a:gd name="T73" fmla="*/ 132 h 1304"/>
                    <a:gd name="T74" fmla="*/ 505 w 857"/>
                    <a:gd name="T75" fmla="*/ 105 h 1304"/>
                    <a:gd name="T76" fmla="*/ 496 w 857"/>
                    <a:gd name="T77" fmla="*/ 83 h 1304"/>
                    <a:gd name="T78" fmla="*/ 487 w 857"/>
                    <a:gd name="T79" fmla="*/ 66 h 1304"/>
                    <a:gd name="T80" fmla="*/ 474 w 857"/>
                    <a:gd name="T81" fmla="*/ 44 h 1304"/>
                    <a:gd name="T82" fmla="*/ 457 w 857"/>
                    <a:gd name="T83" fmla="*/ 30 h 1304"/>
                    <a:gd name="T84" fmla="*/ 434 w 857"/>
                    <a:gd name="T85" fmla="*/ 13 h 1304"/>
                    <a:gd name="T86" fmla="*/ 412 w 857"/>
                    <a:gd name="T87" fmla="*/ 4 h 1304"/>
                    <a:gd name="T88" fmla="*/ 386 w 857"/>
                    <a:gd name="T89" fmla="*/ 0 h 1304"/>
                    <a:gd name="T90" fmla="*/ 359 w 857"/>
                    <a:gd name="T91" fmla="*/ 0 h 1304"/>
                    <a:gd name="T92" fmla="*/ 333 w 857"/>
                    <a:gd name="T93" fmla="*/ 4 h 1304"/>
                    <a:gd name="T94" fmla="*/ 305 w 857"/>
                    <a:gd name="T95" fmla="*/ 13 h 1304"/>
                    <a:gd name="T96" fmla="*/ 279 w 857"/>
                    <a:gd name="T97" fmla="*/ 26 h 1304"/>
                    <a:gd name="T98" fmla="*/ 261 w 857"/>
                    <a:gd name="T99" fmla="*/ 48 h 1304"/>
                    <a:gd name="T100" fmla="*/ 243 w 857"/>
                    <a:gd name="T101" fmla="*/ 75 h 1304"/>
                    <a:gd name="T102" fmla="*/ 235 w 857"/>
                    <a:gd name="T103" fmla="*/ 101 h 1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7" h="1304">
                      <a:moveTo>
                        <a:pt x="235" y="101"/>
                      </a:moveTo>
                      <a:lnTo>
                        <a:pt x="8" y="605"/>
                      </a:lnTo>
                      <a:lnTo>
                        <a:pt x="4" y="609"/>
                      </a:lnTo>
                      <a:lnTo>
                        <a:pt x="4" y="618"/>
                      </a:lnTo>
                      <a:lnTo>
                        <a:pt x="0" y="627"/>
                      </a:lnTo>
                      <a:lnTo>
                        <a:pt x="0" y="640"/>
                      </a:lnTo>
                      <a:lnTo>
                        <a:pt x="0" y="649"/>
                      </a:lnTo>
                      <a:lnTo>
                        <a:pt x="0" y="662"/>
                      </a:lnTo>
                      <a:lnTo>
                        <a:pt x="4" y="671"/>
                      </a:lnTo>
                      <a:lnTo>
                        <a:pt x="8" y="684"/>
                      </a:lnTo>
                      <a:lnTo>
                        <a:pt x="13" y="693"/>
                      </a:lnTo>
                      <a:lnTo>
                        <a:pt x="17" y="702"/>
                      </a:lnTo>
                      <a:lnTo>
                        <a:pt x="26" y="711"/>
                      </a:lnTo>
                      <a:lnTo>
                        <a:pt x="35" y="720"/>
                      </a:lnTo>
                      <a:lnTo>
                        <a:pt x="44" y="724"/>
                      </a:lnTo>
                      <a:lnTo>
                        <a:pt x="53" y="729"/>
                      </a:lnTo>
                      <a:lnTo>
                        <a:pt x="61" y="729"/>
                      </a:lnTo>
                      <a:lnTo>
                        <a:pt x="70" y="733"/>
                      </a:lnTo>
                      <a:lnTo>
                        <a:pt x="79" y="733"/>
                      </a:lnTo>
                      <a:lnTo>
                        <a:pt x="92" y="733"/>
                      </a:lnTo>
                      <a:lnTo>
                        <a:pt x="559" y="733"/>
                      </a:lnTo>
                      <a:lnTo>
                        <a:pt x="559" y="1303"/>
                      </a:lnTo>
                      <a:lnTo>
                        <a:pt x="705" y="1303"/>
                      </a:lnTo>
                      <a:lnTo>
                        <a:pt x="705" y="627"/>
                      </a:lnTo>
                      <a:lnTo>
                        <a:pt x="705" y="618"/>
                      </a:lnTo>
                      <a:lnTo>
                        <a:pt x="705" y="609"/>
                      </a:lnTo>
                      <a:lnTo>
                        <a:pt x="700" y="605"/>
                      </a:lnTo>
                      <a:lnTo>
                        <a:pt x="696" y="601"/>
                      </a:lnTo>
                      <a:lnTo>
                        <a:pt x="692" y="596"/>
                      </a:lnTo>
                      <a:lnTo>
                        <a:pt x="683" y="587"/>
                      </a:lnTo>
                      <a:lnTo>
                        <a:pt x="678" y="583"/>
                      </a:lnTo>
                      <a:lnTo>
                        <a:pt x="674" y="578"/>
                      </a:lnTo>
                      <a:lnTo>
                        <a:pt x="665" y="578"/>
                      </a:lnTo>
                      <a:lnTo>
                        <a:pt x="656" y="574"/>
                      </a:lnTo>
                      <a:lnTo>
                        <a:pt x="647" y="574"/>
                      </a:lnTo>
                      <a:lnTo>
                        <a:pt x="639" y="570"/>
                      </a:lnTo>
                      <a:lnTo>
                        <a:pt x="630" y="570"/>
                      </a:lnTo>
                      <a:lnTo>
                        <a:pt x="621" y="570"/>
                      </a:lnTo>
                      <a:lnTo>
                        <a:pt x="617" y="570"/>
                      </a:lnTo>
                      <a:lnTo>
                        <a:pt x="608" y="570"/>
                      </a:lnTo>
                      <a:lnTo>
                        <a:pt x="337" y="552"/>
                      </a:lnTo>
                      <a:lnTo>
                        <a:pt x="412" y="330"/>
                      </a:lnTo>
                      <a:lnTo>
                        <a:pt x="465" y="410"/>
                      </a:lnTo>
                      <a:lnTo>
                        <a:pt x="794" y="410"/>
                      </a:lnTo>
                      <a:lnTo>
                        <a:pt x="803" y="405"/>
                      </a:lnTo>
                      <a:lnTo>
                        <a:pt x="812" y="405"/>
                      </a:lnTo>
                      <a:lnTo>
                        <a:pt x="816" y="401"/>
                      </a:lnTo>
                      <a:lnTo>
                        <a:pt x="821" y="401"/>
                      </a:lnTo>
                      <a:lnTo>
                        <a:pt x="830" y="397"/>
                      </a:lnTo>
                      <a:lnTo>
                        <a:pt x="838" y="392"/>
                      </a:lnTo>
                      <a:lnTo>
                        <a:pt x="843" y="383"/>
                      </a:lnTo>
                      <a:lnTo>
                        <a:pt x="847" y="379"/>
                      </a:lnTo>
                      <a:lnTo>
                        <a:pt x="852" y="370"/>
                      </a:lnTo>
                      <a:lnTo>
                        <a:pt x="852" y="366"/>
                      </a:lnTo>
                      <a:lnTo>
                        <a:pt x="856" y="357"/>
                      </a:lnTo>
                      <a:lnTo>
                        <a:pt x="856" y="344"/>
                      </a:lnTo>
                      <a:lnTo>
                        <a:pt x="856" y="335"/>
                      </a:lnTo>
                      <a:lnTo>
                        <a:pt x="852" y="326"/>
                      </a:lnTo>
                      <a:lnTo>
                        <a:pt x="847" y="317"/>
                      </a:lnTo>
                      <a:lnTo>
                        <a:pt x="843" y="308"/>
                      </a:lnTo>
                      <a:lnTo>
                        <a:pt x="838" y="304"/>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sp>
        <p:nvSpPr>
          <p:cNvPr id="11414" name="Text Box 150"/>
          <p:cNvSpPr txBox="1">
            <a:spLocks noChangeArrowheads="1"/>
          </p:cNvSpPr>
          <p:nvPr/>
        </p:nvSpPr>
        <p:spPr bwMode="auto">
          <a:xfrm>
            <a:off x="381000" y="2514600"/>
            <a:ext cx="377825"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i="1"/>
              <a:t>T</a:t>
            </a:r>
          </a:p>
          <a:p>
            <a:pPr algn="ctr" hangingPunct="0">
              <a:lnSpc>
                <a:spcPct val="122000"/>
              </a:lnSpc>
              <a:buClr>
                <a:srgbClr val="000000"/>
              </a:buClr>
              <a:buSzPct val="45000"/>
              <a:buFont typeface="Times New Roman" pitchFamily="18" charset="0"/>
              <a:buNone/>
            </a:pPr>
            <a:r>
              <a:rPr lang="en-GB" altLang="en-US" sz="2000" i="1"/>
              <a:t>a</a:t>
            </a:r>
          </a:p>
          <a:p>
            <a:pPr algn="ctr" hangingPunct="0">
              <a:lnSpc>
                <a:spcPct val="122000"/>
              </a:lnSpc>
              <a:buClr>
                <a:srgbClr val="000000"/>
              </a:buClr>
              <a:buSzPct val="45000"/>
              <a:buFont typeface="Times New Roman" pitchFamily="18" charset="0"/>
              <a:buNone/>
            </a:pPr>
            <a:r>
              <a:rPr lang="en-GB" altLang="en-US" sz="2000" i="1"/>
              <a:t>s</a:t>
            </a:r>
          </a:p>
          <a:p>
            <a:pPr algn="ctr" hangingPunct="0">
              <a:lnSpc>
                <a:spcPct val="122000"/>
              </a:lnSpc>
              <a:buClr>
                <a:srgbClr val="000000"/>
              </a:buClr>
              <a:buSzPct val="45000"/>
              <a:buFont typeface="Times New Roman" pitchFamily="18" charset="0"/>
              <a:buNone/>
            </a:pPr>
            <a:r>
              <a:rPr lang="en-GB" altLang="en-US" sz="2000" i="1"/>
              <a:t>k</a:t>
            </a:r>
          </a:p>
          <a:p>
            <a:pPr algn="ctr" hangingPunct="0">
              <a:lnSpc>
                <a:spcPct val="122000"/>
              </a:lnSpc>
              <a:buClr>
                <a:srgbClr val="000000"/>
              </a:buClr>
              <a:buSzPct val="45000"/>
              <a:buFont typeface="Times New Roman" pitchFamily="18" charset="0"/>
              <a:buNone/>
            </a:pPr>
            <a:endParaRPr lang="en-GB" altLang="en-US" sz="2000" i="1"/>
          </a:p>
          <a:p>
            <a:pPr algn="ctr" hangingPunct="0">
              <a:lnSpc>
                <a:spcPct val="122000"/>
              </a:lnSpc>
              <a:buClr>
                <a:srgbClr val="000000"/>
              </a:buClr>
              <a:buSzPct val="45000"/>
              <a:buFont typeface="Times New Roman" pitchFamily="18" charset="0"/>
              <a:buNone/>
            </a:pPr>
            <a:r>
              <a:rPr lang="en-GB" altLang="en-US" sz="2000" i="1"/>
              <a:t>O</a:t>
            </a:r>
          </a:p>
          <a:p>
            <a:pPr algn="ctr" hangingPunct="0">
              <a:lnSpc>
                <a:spcPct val="122000"/>
              </a:lnSpc>
              <a:buClr>
                <a:srgbClr val="000000"/>
              </a:buClr>
              <a:buSzPct val="45000"/>
              <a:buFont typeface="Times New Roman" pitchFamily="18" charset="0"/>
              <a:buNone/>
            </a:pPr>
            <a:r>
              <a:rPr lang="en-GB" altLang="en-US" sz="2000" i="1"/>
              <a:t>r</a:t>
            </a:r>
          </a:p>
          <a:p>
            <a:pPr algn="ctr" hangingPunct="0">
              <a:lnSpc>
                <a:spcPct val="122000"/>
              </a:lnSpc>
              <a:buClr>
                <a:srgbClr val="000000"/>
              </a:buClr>
              <a:buSzPct val="45000"/>
              <a:buFont typeface="Times New Roman" pitchFamily="18" charset="0"/>
              <a:buNone/>
            </a:pPr>
            <a:r>
              <a:rPr lang="en-GB" altLang="en-US" sz="2000" i="1"/>
              <a:t>d</a:t>
            </a:r>
          </a:p>
          <a:p>
            <a:pPr algn="ctr" hangingPunct="0">
              <a:lnSpc>
                <a:spcPct val="122000"/>
              </a:lnSpc>
              <a:buClr>
                <a:srgbClr val="000000"/>
              </a:buClr>
              <a:buSzPct val="45000"/>
              <a:buFont typeface="Times New Roman" pitchFamily="18" charset="0"/>
              <a:buNone/>
            </a:pPr>
            <a:r>
              <a:rPr lang="en-GB" altLang="en-US" sz="2000" i="1"/>
              <a:t>e</a:t>
            </a:r>
          </a:p>
          <a:p>
            <a:pPr algn="ctr" hangingPunct="0">
              <a:lnSpc>
                <a:spcPct val="122000"/>
              </a:lnSpc>
              <a:buClr>
                <a:srgbClr val="000000"/>
              </a:buClr>
              <a:buSzPct val="45000"/>
              <a:buFont typeface="Times New Roman" pitchFamily="18" charset="0"/>
              <a:buNone/>
            </a:pPr>
            <a:r>
              <a:rPr lang="en-GB" altLang="en-US" sz="2000" i="1"/>
              <a:t>r</a:t>
            </a:r>
          </a:p>
        </p:txBody>
      </p:sp>
      <p:sp>
        <p:nvSpPr>
          <p:cNvPr id="11415" name="Line 151"/>
          <p:cNvSpPr>
            <a:spLocks noChangeShapeType="1"/>
          </p:cNvSpPr>
          <p:nvPr/>
        </p:nvSpPr>
        <p:spPr bwMode="auto">
          <a:xfrm>
            <a:off x="874713" y="3163888"/>
            <a:ext cx="1587" cy="3035300"/>
          </a:xfrm>
          <a:prstGeom prst="line">
            <a:avLst/>
          </a:prstGeom>
          <a:noFill/>
          <a:ln w="126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11416" name="Text Box 152"/>
          <p:cNvSpPr txBox="1">
            <a:spLocks noChangeArrowheads="1"/>
          </p:cNvSpPr>
          <p:nvPr/>
        </p:nvSpPr>
        <p:spPr bwMode="auto">
          <a:xfrm>
            <a:off x="4359275" y="2379663"/>
            <a:ext cx="746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sz="2000" i="1"/>
              <a:t>Time</a:t>
            </a:r>
          </a:p>
        </p:txBody>
      </p:sp>
      <p:grpSp>
        <p:nvGrpSpPr>
          <p:cNvPr id="11417" name="Group 153"/>
          <p:cNvGrpSpPr>
            <a:grpSpLocks/>
          </p:cNvGrpSpPr>
          <p:nvPr/>
        </p:nvGrpSpPr>
        <p:grpSpPr bwMode="auto">
          <a:xfrm>
            <a:off x="1738313" y="2757488"/>
            <a:ext cx="3519487" cy="636587"/>
            <a:chOff x="853" y="1092"/>
            <a:chExt cx="2217" cy="401"/>
          </a:xfrm>
        </p:grpSpPr>
        <p:sp>
          <p:nvSpPr>
            <p:cNvPr id="11418" name="Text Box 154"/>
            <p:cNvSpPr txBox="1">
              <a:spLocks noChangeArrowheads="1"/>
            </p:cNvSpPr>
            <p:nvPr/>
          </p:nvSpPr>
          <p:spPr bwMode="auto">
            <a:xfrm>
              <a:off x="858" y="1203"/>
              <a:ext cx="29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30</a:t>
              </a:r>
            </a:p>
          </p:txBody>
        </p:sp>
        <p:sp>
          <p:nvSpPr>
            <p:cNvPr id="11419" name="Line 155"/>
            <p:cNvSpPr>
              <a:spLocks noChangeShapeType="1"/>
            </p:cNvSpPr>
            <p:nvPr/>
          </p:nvSpPr>
          <p:spPr bwMode="auto">
            <a:xfrm>
              <a:off x="853" y="1168"/>
              <a:ext cx="288"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20" name="Line 156"/>
            <p:cNvSpPr>
              <a:spLocks noChangeShapeType="1"/>
            </p:cNvSpPr>
            <p:nvPr/>
          </p:nvSpPr>
          <p:spPr bwMode="auto">
            <a:xfrm>
              <a:off x="1173" y="10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11421" name="Group 157"/>
            <p:cNvGrpSpPr>
              <a:grpSpLocks/>
            </p:cNvGrpSpPr>
            <p:nvPr/>
          </p:nvGrpSpPr>
          <p:grpSpPr bwMode="auto">
            <a:xfrm>
              <a:off x="1189" y="1092"/>
              <a:ext cx="385" cy="401"/>
              <a:chOff x="1189" y="1092"/>
              <a:chExt cx="385" cy="401"/>
            </a:xfrm>
          </p:grpSpPr>
          <p:sp>
            <p:nvSpPr>
              <p:cNvPr id="11422" name="Line 158"/>
              <p:cNvSpPr>
                <a:spLocks noChangeShapeType="1"/>
              </p:cNvSpPr>
              <p:nvPr/>
            </p:nvSpPr>
            <p:spPr bwMode="auto">
              <a:xfrm>
                <a:off x="1189" y="1200"/>
                <a:ext cx="360"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23" name="Text Box 159"/>
              <p:cNvSpPr txBox="1">
                <a:spLocks noChangeArrowheads="1"/>
              </p:cNvSpPr>
              <p:nvPr/>
            </p:nvSpPr>
            <p:spPr bwMode="auto">
              <a:xfrm>
                <a:off x="1226" y="1203"/>
                <a:ext cx="29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40</a:t>
                </a:r>
              </a:p>
            </p:txBody>
          </p:sp>
          <p:sp>
            <p:nvSpPr>
              <p:cNvPr id="11424" name="Line 160"/>
              <p:cNvSpPr>
                <a:spLocks noChangeShapeType="1"/>
              </p:cNvSpPr>
              <p:nvPr/>
            </p:nvSpPr>
            <p:spPr bwMode="auto">
              <a:xfrm>
                <a:off x="1573" y="10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11425" name="Group 161"/>
            <p:cNvGrpSpPr>
              <a:grpSpLocks/>
            </p:cNvGrpSpPr>
            <p:nvPr/>
          </p:nvGrpSpPr>
          <p:grpSpPr bwMode="auto">
            <a:xfrm>
              <a:off x="1597" y="1092"/>
              <a:ext cx="385" cy="401"/>
              <a:chOff x="1597" y="1092"/>
              <a:chExt cx="385" cy="401"/>
            </a:xfrm>
          </p:grpSpPr>
          <p:sp>
            <p:nvSpPr>
              <p:cNvPr id="11426" name="Line 162"/>
              <p:cNvSpPr>
                <a:spLocks noChangeShapeType="1"/>
              </p:cNvSpPr>
              <p:nvPr/>
            </p:nvSpPr>
            <p:spPr bwMode="auto">
              <a:xfrm>
                <a:off x="1597" y="1200"/>
                <a:ext cx="360"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27" name="Text Box 163"/>
              <p:cNvSpPr txBox="1">
                <a:spLocks noChangeArrowheads="1"/>
              </p:cNvSpPr>
              <p:nvPr/>
            </p:nvSpPr>
            <p:spPr bwMode="auto">
              <a:xfrm>
                <a:off x="1634" y="1203"/>
                <a:ext cx="29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40</a:t>
                </a:r>
              </a:p>
            </p:txBody>
          </p:sp>
          <p:sp>
            <p:nvSpPr>
              <p:cNvPr id="11428" name="Line 164"/>
              <p:cNvSpPr>
                <a:spLocks noChangeShapeType="1"/>
              </p:cNvSpPr>
              <p:nvPr/>
            </p:nvSpPr>
            <p:spPr bwMode="auto">
              <a:xfrm>
                <a:off x="1981" y="10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11429" name="Group 165"/>
            <p:cNvGrpSpPr>
              <a:grpSpLocks/>
            </p:cNvGrpSpPr>
            <p:nvPr/>
          </p:nvGrpSpPr>
          <p:grpSpPr bwMode="auto">
            <a:xfrm>
              <a:off x="2005" y="1092"/>
              <a:ext cx="385" cy="401"/>
              <a:chOff x="2005" y="1092"/>
              <a:chExt cx="385" cy="401"/>
            </a:xfrm>
          </p:grpSpPr>
          <p:sp>
            <p:nvSpPr>
              <p:cNvPr id="11430" name="Line 166"/>
              <p:cNvSpPr>
                <a:spLocks noChangeShapeType="1"/>
              </p:cNvSpPr>
              <p:nvPr/>
            </p:nvSpPr>
            <p:spPr bwMode="auto">
              <a:xfrm>
                <a:off x="2005" y="1200"/>
                <a:ext cx="360"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31" name="Text Box 167"/>
              <p:cNvSpPr txBox="1">
                <a:spLocks noChangeArrowheads="1"/>
              </p:cNvSpPr>
              <p:nvPr/>
            </p:nvSpPr>
            <p:spPr bwMode="auto">
              <a:xfrm>
                <a:off x="2042" y="1203"/>
                <a:ext cx="29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40</a:t>
                </a:r>
              </a:p>
            </p:txBody>
          </p:sp>
          <p:sp>
            <p:nvSpPr>
              <p:cNvPr id="11432" name="Line 168"/>
              <p:cNvSpPr>
                <a:spLocks noChangeShapeType="1"/>
              </p:cNvSpPr>
              <p:nvPr/>
            </p:nvSpPr>
            <p:spPr bwMode="auto">
              <a:xfrm>
                <a:off x="2389" y="10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1433" name="Line 169"/>
            <p:cNvSpPr>
              <a:spLocks noChangeShapeType="1"/>
            </p:cNvSpPr>
            <p:nvPr/>
          </p:nvSpPr>
          <p:spPr bwMode="auto">
            <a:xfrm>
              <a:off x="2413" y="1200"/>
              <a:ext cx="360"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34" name="Line 170"/>
            <p:cNvSpPr>
              <a:spLocks noChangeShapeType="1"/>
            </p:cNvSpPr>
            <p:nvPr/>
          </p:nvSpPr>
          <p:spPr bwMode="auto">
            <a:xfrm>
              <a:off x="2813" y="1232"/>
              <a:ext cx="216"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35" name="Text Box 171"/>
            <p:cNvSpPr txBox="1">
              <a:spLocks noChangeArrowheads="1"/>
            </p:cNvSpPr>
            <p:nvPr/>
          </p:nvSpPr>
          <p:spPr bwMode="auto">
            <a:xfrm>
              <a:off x="2450" y="1203"/>
              <a:ext cx="29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40</a:t>
              </a:r>
            </a:p>
          </p:txBody>
        </p:sp>
        <p:sp>
          <p:nvSpPr>
            <p:cNvPr id="11436" name="Text Box 172"/>
            <p:cNvSpPr txBox="1">
              <a:spLocks noChangeArrowheads="1"/>
            </p:cNvSpPr>
            <p:nvPr/>
          </p:nvSpPr>
          <p:spPr bwMode="auto">
            <a:xfrm>
              <a:off x="2778" y="1203"/>
              <a:ext cx="29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sz="2000" b="1"/>
                <a:t>20</a:t>
              </a:r>
            </a:p>
          </p:txBody>
        </p:sp>
        <p:sp>
          <p:nvSpPr>
            <p:cNvPr id="11437" name="Line 173"/>
            <p:cNvSpPr>
              <a:spLocks noChangeShapeType="1"/>
            </p:cNvSpPr>
            <p:nvPr/>
          </p:nvSpPr>
          <p:spPr bwMode="auto">
            <a:xfrm>
              <a:off x="2797" y="10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38" name="Line 174"/>
            <p:cNvSpPr>
              <a:spLocks noChangeShapeType="1"/>
            </p:cNvSpPr>
            <p:nvPr/>
          </p:nvSpPr>
          <p:spPr bwMode="auto">
            <a:xfrm>
              <a:off x="3053" y="10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39" name="Line 175"/>
            <p:cNvSpPr>
              <a:spLocks noChangeShapeType="1"/>
            </p:cNvSpPr>
            <p:nvPr/>
          </p:nvSpPr>
          <p:spPr bwMode="auto">
            <a:xfrm>
              <a:off x="1261" y="1168"/>
              <a:ext cx="288"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40" name="Line 176"/>
            <p:cNvSpPr>
              <a:spLocks noChangeShapeType="1"/>
            </p:cNvSpPr>
            <p:nvPr/>
          </p:nvSpPr>
          <p:spPr bwMode="auto">
            <a:xfrm>
              <a:off x="1669" y="1168"/>
              <a:ext cx="288"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41" name="Line 177"/>
            <p:cNvSpPr>
              <a:spLocks noChangeShapeType="1"/>
            </p:cNvSpPr>
            <p:nvPr/>
          </p:nvSpPr>
          <p:spPr bwMode="auto">
            <a:xfrm>
              <a:off x="2077" y="1168"/>
              <a:ext cx="288"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42" name="Line 178"/>
            <p:cNvSpPr>
              <a:spLocks noChangeShapeType="1"/>
            </p:cNvSpPr>
            <p:nvPr/>
          </p:nvSpPr>
          <p:spPr bwMode="auto">
            <a:xfrm>
              <a:off x="1597" y="1232"/>
              <a:ext cx="216"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43" name="Line 179"/>
            <p:cNvSpPr>
              <a:spLocks noChangeShapeType="1"/>
            </p:cNvSpPr>
            <p:nvPr/>
          </p:nvSpPr>
          <p:spPr bwMode="auto">
            <a:xfrm>
              <a:off x="2005" y="1232"/>
              <a:ext cx="216"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44" name="Line 180"/>
            <p:cNvSpPr>
              <a:spLocks noChangeShapeType="1"/>
            </p:cNvSpPr>
            <p:nvPr/>
          </p:nvSpPr>
          <p:spPr bwMode="auto">
            <a:xfrm>
              <a:off x="2413" y="1232"/>
              <a:ext cx="216"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grpSp>
    </p:spTree>
    <p:extLst>
      <p:ext uri="{BB962C8B-B14F-4D97-AF65-F5344CB8AC3E}">
        <p14:creationId xmlns:p14="http://schemas.microsoft.com/office/powerpoint/2010/main" val="3023667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advAuto="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zh-CN">
                <a:ea typeface="SimSun" pitchFamily="2" charset="-122"/>
              </a:rPr>
              <a:t>Traditional Pipeline Concept</a:t>
            </a:r>
          </a:p>
        </p:txBody>
      </p:sp>
      <p:sp>
        <p:nvSpPr>
          <p:cNvPr id="12291" name="Rectangle 3"/>
          <p:cNvSpPr>
            <a:spLocks noGrp="1" noChangeArrowheads="1"/>
          </p:cNvSpPr>
          <p:nvPr>
            <p:ph type="body" idx="1"/>
          </p:nvPr>
        </p:nvSpPr>
        <p:spPr>
          <a:xfrm>
            <a:off x="5172077" y="1007352"/>
            <a:ext cx="3752848" cy="5633917"/>
          </a:xfrm>
          <a:ln/>
          <a:extLst>
            <a:ext uri="{91240B29-F687-4F45-9708-019B960494DF}">
              <a14:hiddenLine xmlns:a14="http://schemas.microsoft.com/office/drawing/2010/main" w="9525">
                <a:solidFill>
                  <a:srgbClr val="000000"/>
                </a:solidFill>
                <a:miter lim="800000"/>
                <a:headEnd/>
                <a:tailEnd/>
              </a14:hiddenLine>
            </a:ext>
          </a:extLst>
        </p:spPr>
        <p:txBody>
          <a:bodyPr lIns="63360" tIns="25560" rIns="63360" bIns="25560"/>
          <a:lstStyle/>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900" dirty="0"/>
              <a:t>Pipelining doesn’t help latency of single task, it helps throughput of entire workload</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900" dirty="0"/>
              <a:t>Pipeline rate limited by slowest pipeline stage</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900" dirty="0"/>
              <a:t>Multiple tasks operating simultaneously using different resources</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900" dirty="0"/>
              <a:t>Potential speedup = Number pipe stages</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900" dirty="0"/>
              <a:t>Unbalanced lengths of pipe stages reduces speedup</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900" dirty="0"/>
              <a:t>Time to “fill” pipeline and time to “drain” it reduces speedup</a:t>
            </a:r>
          </a:p>
          <a:p>
            <a:pPr marL="201613" indent="-201613" defTabSz="449263">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900" dirty="0"/>
              <a:t>Stall for </a:t>
            </a:r>
            <a:r>
              <a:rPr lang="en-GB" altLang="en-US" sz="1900" dirty="0" smtClean="0"/>
              <a:t>Dependences (</a:t>
            </a:r>
            <a:r>
              <a:rPr lang="en-US" sz="2000" b="0" dirty="0" smtClean="0"/>
              <a:t>stall </a:t>
            </a:r>
            <a:r>
              <a:rPr lang="en-US" sz="2000" b="0" dirty="0"/>
              <a:t>is a delay in execution of an instruction in order to resolve a hazard</a:t>
            </a:r>
            <a:r>
              <a:rPr lang="en-US" sz="2000" b="0" dirty="0" smtClean="0"/>
              <a:t>.)</a:t>
            </a:r>
            <a:endParaRPr lang="en-GB" altLang="en-US" sz="1900" b="0" dirty="0"/>
          </a:p>
        </p:txBody>
      </p:sp>
      <p:grpSp>
        <p:nvGrpSpPr>
          <p:cNvPr id="12292" name="Group 4"/>
          <p:cNvGrpSpPr>
            <a:grpSpLocks/>
          </p:cNvGrpSpPr>
          <p:nvPr/>
        </p:nvGrpSpPr>
        <p:grpSpPr bwMode="auto">
          <a:xfrm>
            <a:off x="862013" y="3141663"/>
            <a:ext cx="522287" cy="498475"/>
            <a:chOff x="532" y="1716"/>
            <a:chExt cx="329" cy="314"/>
          </a:xfrm>
        </p:grpSpPr>
        <p:sp>
          <p:nvSpPr>
            <p:cNvPr id="12293" name="Freeform 5"/>
            <p:cNvSpPr>
              <a:spLocks noChangeArrowheads="1"/>
            </p:cNvSpPr>
            <p:nvPr/>
          </p:nvSpPr>
          <p:spPr bwMode="auto">
            <a:xfrm>
              <a:off x="532" y="1716"/>
              <a:ext cx="329" cy="294"/>
            </a:xfrm>
            <a:custGeom>
              <a:avLst/>
              <a:gdLst>
                <a:gd name="T0" fmla="*/ 411 w 1452"/>
                <a:gd name="T1" fmla="*/ 61 h 1297"/>
                <a:gd name="T2" fmla="*/ 690 w 1452"/>
                <a:gd name="T3" fmla="*/ 70 h 1297"/>
                <a:gd name="T4" fmla="*/ 991 w 1452"/>
                <a:gd name="T5" fmla="*/ 0 h 1297"/>
                <a:gd name="T6" fmla="*/ 1350 w 1452"/>
                <a:gd name="T7" fmla="*/ 0 h 1297"/>
                <a:gd name="T8" fmla="*/ 951 w 1452"/>
                <a:gd name="T9" fmla="*/ 370 h 1297"/>
                <a:gd name="T10" fmla="*/ 1057 w 1452"/>
                <a:gd name="T11" fmla="*/ 392 h 1297"/>
                <a:gd name="T12" fmla="*/ 1163 w 1452"/>
                <a:gd name="T13" fmla="*/ 436 h 1297"/>
                <a:gd name="T14" fmla="*/ 1260 w 1452"/>
                <a:gd name="T15" fmla="*/ 489 h 1297"/>
                <a:gd name="T16" fmla="*/ 1336 w 1452"/>
                <a:gd name="T17" fmla="*/ 556 h 1297"/>
                <a:gd name="T18" fmla="*/ 1398 w 1452"/>
                <a:gd name="T19" fmla="*/ 635 h 1297"/>
                <a:gd name="T20" fmla="*/ 1438 w 1452"/>
                <a:gd name="T21" fmla="*/ 728 h 1297"/>
                <a:gd name="T22" fmla="*/ 1451 w 1452"/>
                <a:gd name="T23" fmla="*/ 824 h 1297"/>
                <a:gd name="T24" fmla="*/ 1433 w 1452"/>
                <a:gd name="T25" fmla="*/ 925 h 1297"/>
                <a:gd name="T26" fmla="*/ 1403 w 1452"/>
                <a:gd name="T27" fmla="*/ 1005 h 1297"/>
                <a:gd name="T28" fmla="*/ 1341 w 1452"/>
                <a:gd name="T29" fmla="*/ 1089 h 1297"/>
                <a:gd name="T30" fmla="*/ 1238 w 1452"/>
                <a:gd name="T31" fmla="*/ 1177 h 1297"/>
                <a:gd name="T32" fmla="*/ 1137 w 1452"/>
                <a:gd name="T33" fmla="*/ 1230 h 1297"/>
                <a:gd name="T34" fmla="*/ 1044 w 1452"/>
                <a:gd name="T35" fmla="*/ 1265 h 1297"/>
                <a:gd name="T36" fmla="*/ 951 w 1452"/>
                <a:gd name="T37" fmla="*/ 1287 h 1297"/>
                <a:gd name="T38" fmla="*/ 836 w 1452"/>
                <a:gd name="T39" fmla="*/ 1296 h 1297"/>
                <a:gd name="T40" fmla="*/ 539 w 1452"/>
                <a:gd name="T41" fmla="*/ 1292 h 1297"/>
                <a:gd name="T42" fmla="*/ 398 w 1452"/>
                <a:gd name="T43" fmla="*/ 1265 h 1297"/>
                <a:gd name="T44" fmla="*/ 248 w 1452"/>
                <a:gd name="T45" fmla="*/ 1199 h 1297"/>
                <a:gd name="T46" fmla="*/ 132 w 1452"/>
                <a:gd name="T47" fmla="*/ 1115 h 1297"/>
                <a:gd name="T48" fmla="*/ 57 w 1452"/>
                <a:gd name="T49" fmla="*/ 1022 h 1297"/>
                <a:gd name="T50" fmla="*/ 17 w 1452"/>
                <a:gd name="T51" fmla="*/ 925 h 1297"/>
                <a:gd name="T52" fmla="*/ 0 w 1452"/>
                <a:gd name="T53" fmla="*/ 841 h 1297"/>
                <a:gd name="T54" fmla="*/ 13 w 1452"/>
                <a:gd name="T55" fmla="*/ 745 h 1297"/>
                <a:gd name="T56" fmla="*/ 61 w 1452"/>
                <a:gd name="T57" fmla="*/ 622 h 1297"/>
                <a:gd name="T58" fmla="*/ 154 w 1452"/>
                <a:gd name="T59" fmla="*/ 520 h 1297"/>
                <a:gd name="T60" fmla="*/ 279 w 1452"/>
                <a:gd name="T61" fmla="*/ 436 h 1297"/>
                <a:gd name="T62" fmla="*/ 451 w 1452"/>
                <a:gd name="T63" fmla="*/ 379 h 1297"/>
                <a:gd name="T64" fmla="*/ 176 w 1452"/>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2294" name="Text Box 6"/>
            <p:cNvSpPr txBox="1">
              <a:spLocks noChangeArrowheads="1"/>
            </p:cNvSpPr>
            <p:nvPr/>
          </p:nvSpPr>
          <p:spPr bwMode="auto">
            <a:xfrm>
              <a:off x="600" y="1763"/>
              <a:ext cx="21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A</a:t>
              </a:r>
            </a:p>
          </p:txBody>
        </p:sp>
      </p:grpSp>
      <p:grpSp>
        <p:nvGrpSpPr>
          <p:cNvPr id="12295" name="Group 7"/>
          <p:cNvGrpSpPr>
            <a:grpSpLocks/>
          </p:cNvGrpSpPr>
          <p:nvPr/>
        </p:nvGrpSpPr>
        <p:grpSpPr bwMode="auto">
          <a:xfrm>
            <a:off x="849313" y="3992563"/>
            <a:ext cx="522287" cy="498475"/>
            <a:chOff x="524" y="2252"/>
            <a:chExt cx="329" cy="314"/>
          </a:xfrm>
        </p:grpSpPr>
        <p:sp>
          <p:nvSpPr>
            <p:cNvPr id="12296" name="Freeform 8"/>
            <p:cNvSpPr>
              <a:spLocks noChangeArrowheads="1"/>
            </p:cNvSpPr>
            <p:nvPr/>
          </p:nvSpPr>
          <p:spPr bwMode="auto">
            <a:xfrm>
              <a:off x="524" y="2252"/>
              <a:ext cx="329" cy="294"/>
            </a:xfrm>
            <a:custGeom>
              <a:avLst/>
              <a:gdLst>
                <a:gd name="T0" fmla="*/ 411 w 1451"/>
                <a:gd name="T1" fmla="*/ 61 h 1297"/>
                <a:gd name="T2" fmla="*/ 690 w 1451"/>
                <a:gd name="T3" fmla="*/ 70 h 1297"/>
                <a:gd name="T4" fmla="*/ 990 w 1451"/>
                <a:gd name="T5" fmla="*/ 0 h 1297"/>
                <a:gd name="T6" fmla="*/ 1349 w 1451"/>
                <a:gd name="T7" fmla="*/ 0 h 1297"/>
                <a:gd name="T8" fmla="*/ 951 w 1451"/>
                <a:gd name="T9" fmla="*/ 370 h 1297"/>
                <a:gd name="T10" fmla="*/ 1057 w 1451"/>
                <a:gd name="T11" fmla="*/ 392 h 1297"/>
                <a:gd name="T12" fmla="*/ 1162 w 1451"/>
                <a:gd name="T13" fmla="*/ 436 h 1297"/>
                <a:gd name="T14" fmla="*/ 1259 w 1451"/>
                <a:gd name="T15" fmla="*/ 489 h 1297"/>
                <a:gd name="T16" fmla="*/ 1335 w 1451"/>
                <a:gd name="T17" fmla="*/ 556 h 1297"/>
                <a:gd name="T18" fmla="*/ 1397 w 1451"/>
                <a:gd name="T19" fmla="*/ 635 h 1297"/>
                <a:gd name="T20" fmla="*/ 1437 w 1451"/>
                <a:gd name="T21" fmla="*/ 728 h 1297"/>
                <a:gd name="T22" fmla="*/ 1450 w 1451"/>
                <a:gd name="T23" fmla="*/ 824 h 1297"/>
                <a:gd name="T24" fmla="*/ 1432 w 1451"/>
                <a:gd name="T25" fmla="*/ 925 h 1297"/>
                <a:gd name="T26" fmla="*/ 1402 w 1451"/>
                <a:gd name="T27" fmla="*/ 1005 h 1297"/>
                <a:gd name="T28" fmla="*/ 1340 w 1451"/>
                <a:gd name="T29" fmla="*/ 1089 h 1297"/>
                <a:gd name="T30" fmla="*/ 1237 w 1451"/>
                <a:gd name="T31" fmla="*/ 1177 h 1297"/>
                <a:gd name="T32" fmla="*/ 1136 w 1451"/>
                <a:gd name="T33" fmla="*/ 1230 h 1297"/>
                <a:gd name="T34" fmla="*/ 1043 w 1451"/>
                <a:gd name="T35" fmla="*/ 1265 h 1297"/>
                <a:gd name="T36" fmla="*/ 951 w 1451"/>
                <a:gd name="T37" fmla="*/ 1287 h 1297"/>
                <a:gd name="T38" fmla="*/ 835 w 1451"/>
                <a:gd name="T39" fmla="*/ 1296 h 1297"/>
                <a:gd name="T40" fmla="*/ 539 w 1451"/>
                <a:gd name="T41" fmla="*/ 1292 h 1297"/>
                <a:gd name="T42" fmla="*/ 397 w 1451"/>
                <a:gd name="T43" fmla="*/ 1265 h 1297"/>
                <a:gd name="T44" fmla="*/ 247 w 1451"/>
                <a:gd name="T45" fmla="*/ 1199 h 1297"/>
                <a:gd name="T46" fmla="*/ 132 w 1451"/>
                <a:gd name="T47" fmla="*/ 1115 h 1297"/>
                <a:gd name="T48" fmla="*/ 57 w 1451"/>
                <a:gd name="T49" fmla="*/ 1022 h 1297"/>
                <a:gd name="T50" fmla="*/ 17 w 1451"/>
                <a:gd name="T51" fmla="*/ 925 h 1297"/>
                <a:gd name="T52" fmla="*/ 0 w 1451"/>
                <a:gd name="T53" fmla="*/ 841 h 1297"/>
                <a:gd name="T54" fmla="*/ 13 w 1451"/>
                <a:gd name="T55" fmla="*/ 745 h 1297"/>
                <a:gd name="T56" fmla="*/ 61 w 1451"/>
                <a:gd name="T57" fmla="*/ 622 h 1297"/>
                <a:gd name="T58" fmla="*/ 154 w 1451"/>
                <a:gd name="T59" fmla="*/ 520 h 1297"/>
                <a:gd name="T60" fmla="*/ 278 w 1451"/>
                <a:gd name="T61" fmla="*/ 436 h 1297"/>
                <a:gd name="T62" fmla="*/ 450 w 1451"/>
                <a:gd name="T63" fmla="*/ 379 h 1297"/>
                <a:gd name="T64" fmla="*/ 176 w 1451"/>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1" h="1297">
                  <a:moveTo>
                    <a:pt x="176" y="17"/>
                  </a:moveTo>
                  <a:lnTo>
                    <a:pt x="411" y="61"/>
                  </a:lnTo>
                  <a:lnTo>
                    <a:pt x="406" y="0"/>
                  </a:lnTo>
                  <a:lnTo>
                    <a:pt x="690" y="70"/>
                  </a:lnTo>
                  <a:lnTo>
                    <a:pt x="690" y="0"/>
                  </a:lnTo>
                  <a:lnTo>
                    <a:pt x="990" y="0"/>
                  </a:lnTo>
                  <a:lnTo>
                    <a:pt x="986" y="66"/>
                  </a:lnTo>
                  <a:lnTo>
                    <a:pt x="1349" y="0"/>
                  </a:lnTo>
                  <a:lnTo>
                    <a:pt x="907" y="366"/>
                  </a:lnTo>
                  <a:lnTo>
                    <a:pt x="951" y="370"/>
                  </a:lnTo>
                  <a:lnTo>
                    <a:pt x="999" y="379"/>
                  </a:lnTo>
                  <a:lnTo>
                    <a:pt x="1057" y="392"/>
                  </a:lnTo>
                  <a:lnTo>
                    <a:pt x="1105" y="410"/>
                  </a:lnTo>
                  <a:lnTo>
                    <a:pt x="1162" y="436"/>
                  </a:lnTo>
                  <a:lnTo>
                    <a:pt x="1211" y="459"/>
                  </a:lnTo>
                  <a:lnTo>
                    <a:pt x="1259" y="489"/>
                  </a:lnTo>
                  <a:lnTo>
                    <a:pt x="1300" y="525"/>
                  </a:lnTo>
                  <a:lnTo>
                    <a:pt x="1335" y="556"/>
                  </a:lnTo>
                  <a:lnTo>
                    <a:pt x="1366" y="595"/>
                  </a:lnTo>
                  <a:lnTo>
                    <a:pt x="1397" y="635"/>
                  </a:lnTo>
                  <a:lnTo>
                    <a:pt x="1419" y="684"/>
                  </a:lnTo>
                  <a:lnTo>
                    <a:pt x="1437" y="728"/>
                  </a:lnTo>
                  <a:lnTo>
                    <a:pt x="1446" y="766"/>
                  </a:lnTo>
                  <a:lnTo>
                    <a:pt x="1450" y="824"/>
                  </a:lnTo>
                  <a:lnTo>
                    <a:pt x="1446" y="881"/>
                  </a:lnTo>
                  <a:lnTo>
                    <a:pt x="1432" y="925"/>
                  </a:lnTo>
                  <a:lnTo>
                    <a:pt x="1419" y="969"/>
                  </a:lnTo>
                  <a:lnTo>
                    <a:pt x="1402" y="1005"/>
                  </a:lnTo>
                  <a:lnTo>
                    <a:pt x="1375" y="1045"/>
                  </a:lnTo>
                  <a:lnTo>
                    <a:pt x="1340" y="1089"/>
                  </a:lnTo>
                  <a:lnTo>
                    <a:pt x="1291" y="1137"/>
                  </a:lnTo>
                  <a:lnTo>
                    <a:pt x="1237" y="1177"/>
                  </a:lnTo>
                  <a:lnTo>
                    <a:pt x="1184" y="1208"/>
                  </a:lnTo>
                  <a:lnTo>
                    <a:pt x="1136" y="1230"/>
                  </a:lnTo>
                  <a:lnTo>
                    <a:pt x="1087" y="1252"/>
                  </a:lnTo>
                  <a:lnTo>
                    <a:pt x="1043" y="1265"/>
                  </a:lnTo>
                  <a:lnTo>
                    <a:pt x="990" y="1278"/>
                  </a:lnTo>
                  <a:lnTo>
                    <a:pt x="951" y="1287"/>
                  </a:lnTo>
                  <a:lnTo>
                    <a:pt x="888" y="1292"/>
                  </a:lnTo>
                  <a:lnTo>
                    <a:pt x="835" y="1296"/>
                  </a:lnTo>
                  <a:lnTo>
                    <a:pt x="588" y="1296"/>
                  </a:lnTo>
                  <a:lnTo>
                    <a:pt x="539" y="1292"/>
                  </a:lnTo>
                  <a:lnTo>
                    <a:pt x="477" y="1283"/>
                  </a:lnTo>
                  <a:lnTo>
                    <a:pt x="397" y="1265"/>
                  </a:lnTo>
                  <a:lnTo>
                    <a:pt x="322" y="1234"/>
                  </a:lnTo>
                  <a:lnTo>
                    <a:pt x="247"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8" y="436"/>
                  </a:lnTo>
                  <a:lnTo>
                    <a:pt x="362" y="401"/>
                  </a:lnTo>
                  <a:lnTo>
                    <a:pt x="450"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2297" name="Text Box 9"/>
            <p:cNvSpPr txBox="1">
              <a:spLocks noChangeArrowheads="1"/>
            </p:cNvSpPr>
            <p:nvPr/>
          </p:nvSpPr>
          <p:spPr bwMode="auto">
            <a:xfrm>
              <a:off x="592" y="2299"/>
              <a:ext cx="21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B</a:t>
              </a:r>
            </a:p>
          </p:txBody>
        </p:sp>
      </p:grpSp>
      <p:grpSp>
        <p:nvGrpSpPr>
          <p:cNvPr id="12298" name="Group 10"/>
          <p:cNvGrpSpPr>
            <a:grpSpLocks/>
          </p:cNvGrpSpPr>
          <p:nvPr/>
        </p:nvGrpSpPr>
        <p:grpSpPr bwMode="auto">
          <a:xfrm>
            <a:off x="811213" y="4741863"/>
            <a:ext cx="522287" cy="498475"/>
            <a:chOff x="500" y="2724"/>
            <a:chExt cx="329" cy="314"/>
          </a:xfrm>
        </p:grpSpPr>
        <p:sp>
          <p:nvSpPr>
            <p:cNvPr id="12299" name="Freeform 11"/>
            <p:cNvSpPr>
              <a:spLocks noChangeArrowheads="1"/>
            </p:cNvSpPr>
            <p:nvPr/>
          </p:nvSpPr>
          <p:spPr bwMode="auto">
            <a:xfrm>
              <a:off x="500" y="2724"/>
              <a:ext cx="329" cy="294"/>
            </a:xfrm>
            <a:custGeom>
              <a:avLst/>
              <a:gdLst>
                <a:gd name="T0" fmla="*/ 411 w 1452"/>
                <a:gd name="T1" fmla="*/ 61 h 1297"/>
                <a:gd name="T2" fmla="*/ 690 w 1452"/>
                <a:gd name="T3" fmla="*/ 70 h 1297"/>
                <a:gd name="T4" fmla="*/ 991 w 1452"/>
                <a:gd name="T5" fmla="*/ 0 h 1297"/>
                <a:gd name="T6" fmla="*/ 1350 w 1452"/>
                <a:gd name="T7" fmla="*/ 0 h 1297"/>
                <a:gd name="T8" fmla="*/ 951 w 1452"/>
                <a:gd name="T9" fmla="*/ 370 h 1297"/>
                <a:gd name="T10" fmla="*/ 1057 w 1452"/>
                <a:gd name="T11" fmla="*/ 392 h 1297"/>
                <a:gd name="T12" fmla="*/ 1163 w 1452"/>
                <a:gd name="T13" fmla="*/ 436 h 1297"/>
                <a:gd name="T14" fmla="*/ 1260 w 1452"/>
                <a:gd name="T15" fmla="*/ 489 h 1297"/>
                <a:gd name="T16" fmla="*/ 1336 w 1452"/>
                <a:gd name="T17" fmla="*/ 556 h 1297"/>
                <a:gd name="T18" fmla="*/ 1398 w 1452"/>
                <a:gd name="T19" fmla="*/ 635 h 1297"/>
                <a:gd name="T20" fmla="*/ 1438 w 1452"/>
                <a:gd name="T21" fmla="*/ 728 h 1297"/>
                <a:gd name="T22" fmla="*/ 1451 w 1452"/>
                <a:gd name="T23" fmla="*/ 824 h 1297"/>
                <a:gd name="T24" fmla="*/ 1433 w 1452"/>
                <a:gd name="T25" fmla="*/ 925 h 1297"/>
                <a:gd name="T26" fmla="*/ 1403 w 1452"/>
                <a:gd name="T27" fmla="*/ 1005 h 1297"/>
                <a:gd name="T28" fmla="*/ 1341 w 1452"/>
                <a:gd name="T29" fmla="*/ 1089 h 1297"/>
                <a:gd name="T30" fmla="*/ 1238 w 1452"/>
                <a:gd name="T31" fmla="*/ 1177 h 1297"/>
                <a:gd name="T32" fmla="*/ 1137 w 1452"/>
                <a:gd name="T33" fmla="*/ 1230 h 1297"/>
                <a:gd name="T34" fmla="*/ 1044 w 1452"/>
                <a:gd name="T35" fmla="*/ 1265 h 1297"/>
                <a:gd name="T36" fmla="*/ 951 w 1452"/>
                <a:gd name="T37" fmla="*/ 1287 h 1297"/>
                <a:gd name="T38" fmla="*/ 836 w 1452"/>
                <a:gd name="T39" fmla="*/ 1296 h 1297"/>
                <a:gd name="T40" fmla="*/ 539 w 1452"/>
                <a:gd name="T41" fmla="*/ 1292 h 1297"/>
                <a:gd name="T42" fmla="*/ 398 w 1452"/>
                <a:gd name="T43" fmla="*/ 1265 h 1297"/>
                <a:gd name="T44" fmla="*/ 248 w 1452"/>
                <a:gd name="T45" fmla="*/ 1199 h 1297"/>
                <a:gd name="T46" fmla="*/ 132 w 1452"/>
                <a:gd name="T47" fmla="*/ 1115 h 1297"/>
                <a:gd name="T48" fmla="*/ 57 w 1452"/>
                <a:gd name="T49" fmla="*/ 1022 h 1297"/>
                <a:gd name="T50" fmla="*/ 17 w 1452"/>
                <a:gd name="T51" fmla="*/ 925 h 1297"/>
                <a:gd name="T52" fmla="*/ 0 w 1452"/>
                <a:gd name="T53" fmla="*/ 841 h 1297"/>
                <a:gd name="T54" fmla="*/ 13 w 1452"/>
                <a:gd name="T55" fmla="*/ 745 h 1297"/>
                <a:gd name="T56" fmla="*/ 61 w 1452"/>
                <a:gd name="T57" fmla="*/ 622 h 1297"/>
                <a:gd name="T58" fmla="*/ 154 w 1452"/>
                <a:gd name="T59" fmla="*/ 520 h 1297"/>
                <a:gd name="T60" fmla="*/ 279 w 1452"/>
                <a:gd name="T61" fmla="*/ 436 h 1297"/>
                <a:gd name="T62" fmla="*/ 451 w 1452"/>
                <a:gd name="T63" fmla="*/ 379 h 1297"/>
                <a:gd name="T64" fmla="*/ 176 w 1452"/>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2300" name="Text Box 12"/>
            <p:cNvSpPr txBox="1">
              <a:spLocks noChangeArrowheads="1"/>
            </p:cNvSpPr>
            <p:nvPr/>
          </p:nvSpPr>
          <p:spPr bwMode="auto">
            <a:xfrm>
              <a:off x="568" y="2771"/>
              <a:ext cx="21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C</a:t>
              </a:r>
            </a:p>
          </p:txBody>
        </p:sp>
      </p:grpSp>
      <p:grpSp>
        <p:nvGrpSpPr>
          <p:cNvPr id="12301" name="Group 13"/>
          <p:cNvGrpSpPr>
            <a:grpSpLocks/>
          </p:cNvGrpSpPr>
          <p:nvPr/>
        </p:nvGrpSpPr>
        <p:grpSpPr bwMode="auto">
          <a:xfrm>
            <a:off x="811213" y="5465763"/>
            <a:ext cx="522287" cy="498475"/>
            <a:chOff x="500" y="3180"/>
            <a:chExt cx="329" cy="314"/>
          </a:xfrm>
        </p:grpSpPr>
        <p:sp>
          <p:nvSpPr>
            <p:cNvPr id="12302" name="Freeform 14"/>
            <p:cNvSpPr>
              <a:spLocks noChangeArrowheads="1"/>
            </p:cNvSpPr>
            <p:nvPr/>
          </p:nvSpPr>
          <p:spPr bwMode="auto">
            <a:xfrm>
              <a:off x="500" y="3180"/>
              <a:ext cx="329" cy="294"/>
            </a:xfrm>
            <a:custGeom>
              <a:avLst/>
              <a:gdLst>
                <a:gd name="T0" fmla="*/ 411 w 1452"/>
                <a:gd name="T1" fmla="*/ 61 h 1297"/>
                <a:gd name="T2" fmla="*/ 690 w 1452"/>
                <a:gd name="T3" fmla="*/ 70 h 1297"/>
                <a:gd name="T4" fmla="*/ 991 w 1452"/>
                <a:gd name="T5" fmla="*/ 0 h 1297"/>
                <a:gd name="T6" fmla="*/ 1350 w 1452"/>
                <a:gd name="T7" fmla="*/ 0 h 1297"/>
                <a:gd name="T8" fmla="*/ 951 w 1452"/>
                <a:gd name="T9" fmla="*/ 370 h 1297"/>
                <a:gd name="T10" fmla="*/ 1057 w 1452"/>
                <a:gd name="T11" fmla="*/ 392 h 1297"/>
                <a:gd name="T12" fmla="*/ 1163 w 1452"/>
                <a:gd name="T13" fmla="*/ 436 h 1297"/>
                <a:gd name="T14" fmla="*/ 1260 w 1452"/>
                <a:gd name="T15" fmla="*/ 489 h 1297"/>
                <a:gd name="T16" fmla="*/ 1336 w 1452"/>
                <a:gd name="T17" fmla="*/ 556 h 1297"/>
                <a:gd name="T18" fmla="*/ 1398 w 1452"/>
                <a:gd name="T19" fmla="*/ 635 h 1297"/>
                <a:gd name="T20" fmla="*/ 1438 w 1452"/>
                <a:gd name="T21" fmla="*/ 728 h 1297"/>
                <a:gd name="T22" fmla="*/ 1451 w 1452"/>
                <a:gd name="T23" fmla="*/ 824 h 1297"/>
                <a:gd name="T24" fmla="*/ 1433 w 1452"/>
                <a:gd name="T25" fmla="*/ 925 h 1297"/>
                <a:gd name="T26" fmla="*/ 1403 w 1452"/>
                <a:gd name="T27" fmla="*/ 1005 h 1297"/>
                <a:gd name="T28" fmla="*/ 1341 w 1452"/>
                <a:gd name="T29" fmla="*/ 1089 h 1297"/>
                <a:gd name="T30" fmla="*/ 1238 w 1452"/>
                <a:gd name="T31" fmla="*/ 1177 h 1297"/>
                <a:gd name="T32" fmla="*/ 1137 w 1452"/>
                <a:gd name="T33" fmla="*/ 1230 h 1297"/>
                <a:gd name="T34" fmla="*/ 1044 w 1452"/>
                <a:gd name="T35" fmla="*/ 1265 h 1297"/>
                <a:gd name="T36" fmla="*/ 951 w 1452"/>
                <a:gd name="T37" fmla="*/ 1287 h 1297"/>
                <a:gd name="T38" fmla="*/ 836 w 1452"/>
                <a:gd name="T39" fmla="*/ 1296 h 1297"/>
                <a:gd name="T40" fmla="*/ 539 w 1452"/>
                <a:gd name="T41" fmla="*/ 1292 h 1297"/>
                <a:gd name="T42" fmla="*/ 398 w 1452"/>
                <a:gd name="T43" fmla="*/ 1265 h 1297"/>
                <a:gd name="T44" fmla="*/ 248 w 1452"/>
                <a:gd name="T45" fmla="*/ 1199 h 1297"/>
                <a:gd name="T46" fmla="*/ 132 w 1452"/>
                <a:gd name="T47" fmla="*/ 1115 h 1297"/>
                <a:gd name="T48" fmla="*/ 57 w 1452"/>
                <a:gd name="T49" fmla="*/ 1022 h 1297"/>
                <a:gd name="T50" fmla="*/ 17 w 1452"/>
                <a:gd name="T51" fmla="*/ 925 h 1297"/>
                <a:gd name="T52" fmla="*/ 0 w 1452"/>
                <a:gd name="T53" fmla="*/ 841 h 1297"/>
                <a:gd name="T54" fmla="*/ 13 w 1452"/>
                <a:gd name="T55" fmla="*/ 745 h 1297"/>
                <a:gd name="T56" fmla="*/ 61 w 1452"/>
                <a:gd name="T57" fmla="*/ 622 h 1297"/>
                <a:gd name="T58" fmla="*/ 154 w 1452"/>
                <a:gd name="T59" fmla="*/ 520 h 1297"/>
                <a:gd name="T60" fmla="*/ 279 w 1452"/>
                <a:gd name="T61" fmla="*/ 436 h 1297"/>
                <a:gd name="T62" fmla="*/ 451 w 1452"/>
                <a:gd name="T63" fmla="*/ 379 h 1297"/>
                <a:gd name="T64" fmla="*/ 176 w 1452"/>
                <a:gd name="T65" fmla="*/ 17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52" h="1297">
                  <a:moveTo>
                    <a:pt x="176" y="17"/>
                  </a:moveTo>
                  <a:lnTo>
                    <a:pt x="411" y="61"/>
                  </a:lnTo>
                  <a:lnTo>
                    <a:pt x="407" y="0"/>
                  </a:lnTo>
                  <a:lnTo>
                    <a:pt x="690" y="70"/>
                  </a:lnTo>
                  <a:lnTo>
                    <a:pt x="690" y="0"/>
                  </a:lnTo>
                  <a:lnTo>
                    <a:pt x="991" y="0"/>
                  </a:lnTo>
                  <a:lnTo>
                    <a:pt x="987" y="66"/>
                  </a:lnTo>
                  <a:lnTo>
                    <a:pt x="1350" y="0"/>
                  </a:lnTo>
                  <a:lnTo>
                    <a:pt x="906" y="366"/>
                  </a:lnTo>
                  <a:lnTo>
                    <a:pt x="951" y="370"/>
                  </a:lnTo>
                  <a:lnTo>
                    <a:pt x="1000" y="379"/>
                  </a:lnTo>
                  <a:lnTo>
                    <a:pt x="1057" y="392"/>
                  </a:lnTo>
                  <a:lnTo>
                    <a:pt x="1106" y="410"/>
                  </a:lnTo>
                  <a:lnTo>
                    <a:pt x="1163" y="436"/>
                  </a:lnTo>
                  <a:lnTo>
                    <a:pt x="1212" y="459"/>
                  </a:lnTo>
                  <a:lnTo>
                    <a:pt x="1260" y="489"/>
                  </a:lnTo>
                  <a:lnTo>
                    <a:pt x="1301" y="525"/>
                  </a:lnTo>
                  <a:lnTo>
                    <a:pt x="1336" y="556"/>
                  </a:lnTo>
                  <a:lnTo>
                    <a:pt x="1367" y="595"/>
                  </a:lnTo>
                  <a:lnTo>
                    <a:pt x="1398" y="635"/>
                  </a:lnTo>
                  <a:lnTo>
                    <a:pt x="1420" y="684"/>
                  </a:lnTo>
                  <a:lnTo>
                    <a:pt x="1438" y="728"/>
                  </a:lnTo>
                  <a:lnTo>
                    <a:pt x="1447" y="766"/>
                  </a:lnTo>
                  <a:lnTo>
                    <a:pt x="1451" y="824"/>
                  </a:lnTo>
                  <a:lnTo>
                    <a:pt x="1447" y="881"/>
                  </a:lnTo>
                  <a:lnTo>
                    <a:pt x="1433" y="925"/>
                  </a:lnTo>
                  <a:lnTo>
                    <a:pt x="1420" y="969"/>
                  </a:lnTo>
                  <a:lnTo>
                    <a:pt x="1403" y="1005"/>
                  </a:lnTo>
                  <a:lnTo>
                    <a:pt x="1376" y="1045"/>
                  </a:lnTo>
                  <a:lnTo>
                    <a:pt x="1341" y="1089"/>
                  </a:lnTo>
                  <a:lnTo>
                    <a:pt x="1292" y="1137"/>
                  </a:lnTo>
                  <a:lnTo>
                    <a:pt x="1238" y="1177"/>
                  </a:lnTo>
                  <a:lnTo>
                    <a:pt x="1185" y="1208"/>
                  </a:lnTo>
                  <a:lnTo>
                    <a:pt x="1137" y="1230"/>
                  </a:lnTo>
                  <a:lnTo>
                    <a:pt x="1088" y="1252"/>
                  </a:lnTo>
                  <a:lnTo>
                    <a:pt x="1044" y="1265"/>
                  </a:lnTo>
                  <a:lnTo>
                    <a:pt x="991" y="1278"/>
                  </a:lnTo>
                  <a:lnTo>
                    <a:pt x="951" y="1287"/>
                  </a:lnTo>
                  <a:lnTo>
                    <a:pt x="889" y="1292"/>
                  </a:lnTo>
                  <a:lnTo>
                    <a:pt x="836" y="1296"/>
                  </a:lnTo>
                  <a:lnTo>
                    <a:pt x="588" y="1296"/>
                  </a:lnTo>
                  <a:lnTo>
                    <a:pt x="539" y="1292"/>
                  </a:lnTo>
                  <a:lnTo>
                    <a:pt x="477" y="1283"/>
                  </a:lnTo>
                  <a:lnTo>
                    <a:pt x="398" y="1265"/>
                  </a:lnTo>
                  <a:lnTo>
                    <a:pt x="323" y="1234"/>
                  </a:lnTo>
                  <a:lnTo>
                    <a:pt x="248" y="1199"/>
                  </a:lnTo>
                  <a:lnTo>
                    <a:pt x="180" y="1155"/>
                  </a:lnTo>
                  <a:lnTo>
                    <a:pt x="132" y="1115"/>
                  </a:lnTo>
                  <a:lnTo>
                    <a:pt x="92" y="1075"/>
                  </a:lnTo>
                  <a:lnTo>
                    <a:pt x="57" y="1022"/>
                  </a:lnTo>
                  <a:lnTo>
                    <a:pt x="30" y="965"/>
                  </a:lnTo>
                  <a:lnTo>
                    <a:pt x="17" y="925"/>
                  </a:lnTo>
                  <a:lnTo>
                    <a:pt x="4" y="886"/>
                  </a:lnTo>
                  <a:lnTo>
                    <a:pt x="0" y="841"/>
                  </a:lnTo>
                  <a:lnTo>
                    <a:pt x="4" y="806"/>
                  </a:lnTo>
                  <a:lnTo>
                    <a:pt x="13" y="745"/>
                  </a:lnTo>
                  <a:lnTo>
                    <a:pt x="30" y="688"/>
                  </a:lnTo>
                  <a:lnTo>
                    <a:pt x="61" y="622"/>
                  </a:lnTo>
                  <a:lnTo>
                    <a:pt x="105" y="569"/>
                  </a:lnTo>
                  <a:lnTo>
                    <a:pt x="154" y="520"/>
                  </a:lnTo>
                  <a:lnTo>
                    <a:pt x="217" y="472"/>
                  </a:lnTo>
                  <a:lnTo>
                    <a:pt x="279" y="436"/>
                  </a:lnTo>
                  <a:lnTo>
                    <a:pt x="362" y="401"/>
                  </a:lnTo>
                  <a:lnTo>
                    <a:pt x="451" y="379"/>
                  </a:lnTo>
                  <a:lnTo>
                    <a:pt x="508" y="366"/>
                  </a:lnTo>
                  <a:lnTo>
                    <a:pt x="176" y="17"/>
                  </a:lnTo>
                </a:path>
              </a:pathLst>
            </a:custGeom>
            <a:solidFill>
              <a:srgbClr val="D49FFF"/>
            </a:solidFill>
            <a:ln w="12600">
              <a:solidFill>
                <a:srgbClr val="000000"/>
              </a:solidFill>
              <a:round/>
              <a:headEnd/>
              <a:tailEnd/>
            </a:ln>
          </p:spPr>
          <p:txBody>
            <a:bodyPr wrap="none" anchor="ctr"/>
            <a:lstStyle/>
            <a:p>
              <a:endParaRPr lang="en-IN"/>
            </a:p>
          </p:txBody>
        </p:sp>
        <p:sp>
          <p:nvSpPr>
            <p:cNvPr id="12303" name="Text Box 15"/>
            <p:cNvSpPr txBox="1">
              <a:spLocks noChangeArrowheads="1"/>
            </p:cNvSpPr>
            <p:nvPr/>
          </p:nvSpPr>
          <p:spPr bwMode="auto">
            <a:xfrm>
              <a:off x="568" y="3227"/>
              <a:ext cx="21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D</a:t>
              </a:r>
            </a:p>
          </p:txBody>
        </p:sp>
      </p:grpSp>
      <p:sp>
        <p:nvSpPr>
          <p:cNvPr id="12304" name="Text Box 16"/>
          <p:cNvSpPr txBox="1">
            <a:spLocks noChangeArrowheads="1"/>
          </p:cNvSpPr>
          <p:nvPr/>
        </p:nvSpPr>
        <p:spPr bwMode="auto">
          <a:xfrm>
            <a:off x="1127125" y="1539875"/>
            <a:ext cx="7143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6 PM</a:t>
            </a:r>
          </a:p>
        </p:txBody>
      </p:sp>
      <p:sp>
        <p:nvSpPr>
          <p:cNvPr id="12305" name="Line 17"/>
          <p:cNvSpPr>
            <a:spLocks noChangeShapeType="1"/>
          </p:cNvSpPr>
          <p:nvPr/>
        </p:nvSpPr>
        <p:spPr bwMode="auto">
          <a:xfrm>
            <a:off x="1497013" y="2132013"/>
            <a:ext cx="3492500" cy="1587"/>
          </a:xfrm>
          <a:prstGeom prst="line">
            <a:avLst/>
          </a:prstGeom>
          <a:noFill/>
          <a:ln w="126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12306" name="Line 18"/>
          <p:cNvSpPr>
            <a:spLocks noChangeShapeType="1"/>
          </p:cNvSpPr>
          <p:nvPr/>
        </p:nvSpPr>
        <p:spPr bwMode="auto">
          <a:xfrm>
            <a:off x="1490663" y="1998663"/>
            <a:ext cx="1587" cy="304800"/>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07" name="Text Box 19"/>
          <p:cNvSpPr txBox="1">
            <a:spLocks noChangeArrowheads="1"/>
          </p:cNvSpPr>
          <p:nvPr/>
        </p:nvSpPr>
        <p:spPr bwMode="auto">
          <a:xfrm>
            <a:off x="2359025" y="1552575"/>
            <a:ext cx="307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7</a:t>
            </a:r>
          </a:p>
        </p:txBody>
      </p:sp>
      <p:sp>
        <p:nvSpPr>
          <p:cNvPr id="12308" name="Text Box 20"/>
          <p:cNvSpPr txBox="1">
            <a:spLocks noChangeArrowheads="1"/>
          </p:cNvSpPr>
          <p:nvPr/>
        </p:nvSpPr>
        <p:spPr bwMode="auto">
          <a:xfrm>
            <a:off x="3425825" y="1552575"/>
            <a:ext cx="307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8</a:t>
            </a:r>
          </a:p>
        </p:txBody>
      </p:sp>
      <p:sp>
        <p:nvSpPr>
          <p:cNvPr id="12309" name="Text Box 21"/>
          <p:cNvSpPr txBox="1">
            <a:spLocks noChangeArrowheads="1"/>
          </p:cNvSpPr>
          <p:nvPr/>
        </p:nvSpPr>
        <p:spPr bwMode="auto">
          <a:xfrm>
            <a:off x="4441825" y="1552575"/>
            <a:ext cx="3079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b="1"/>
              <a:t>9</a:t>
            </a:r>
          </a:p>
        </p:txBody>
      </p:sp>
      <p:sp>
        <p:nvSpPr>
          <p:cNvPr id="12310" name="Text Box 22"/>
          <p:cNvSpPr txBox="1">
            <a:spLocks noChangeArrowheads="1"/>
          </p:cNvSpPr>
          <p:nvPr/>
        </p:nvSpPr>
        <p:spPr bwMode="auto">
          <a:xfrm>
            <a:off x="168275" y="2408238"/>
            <a:ext cx="358775"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i="1"/>
              <a:t>T</a:t>
            </a:r>
          </a:p>
          <a:p>
            <a:pPr algn="ctr" hangingPunct="0">
              <a:lnSpc>
                <a:spcPct val="122000"/>
              </a:lnSpc>
              <a:buClr>
                <a:srgbClr val="000000"/>
              </a:buClr>
              <a:buSzPct val="45000"/>
              <a:buFont typeface="Times New Roman" pitchFamily="18" charset="0"/>
              <a:buNone/>
            </a:pPr>
            <a:r>
              <a:rPr lang="en-GB" altLang="en-US" i="1"/>
              <a:t>a</a:t>
            </a:r>
          </a:p>
          <a:p>
            <a:pPr algn="ctr" hangingPunct="0">
              <a:lnSpc>
                <a:spcPct val="122000"/>
              </a:lnSpc>
              <a:buClr>
                <a:srgbClr val="000000"/>
              </a:buClr>
              <a:buSzPct val="45000"/>
              <a:buFont typeface="Times New Roman" pitchFamily="18" charset="0"/>
              <a:buNone/>
            </a:pPr>
            <a:r>
              <a:rPr lang="en-GB" altLang="en-US" i="1"/>
              <a:t>s</a:t>
            </a:r>
          </a:p>
          <a:p>
            <a:pPr algn="ctr" hangingPunct="0">
              <a:lnSpc>
                <a:spcPct val="122000"/>
              </a:lnSpc>
              <a:buClr>
                <a:srgbClr val="000000"/>
              </a:buClr>
              <a:buSzPct val="45000"/>
              <a:buFont typeface="Times New Roman" pitchFamily="18" charset="0"/>
              <a:buNone/>
            </a:pPr>
            <a:r>
              <a:rPr lang="en-GB" altLang="en-US" i="1"/>
              <a:t>k</a:t>
            </a:r>
          </a:p>
          <a:p>
            <a:pPr algn="ctr" hangingPunct="0">
              <a:lnSpc>
                <a:spcPct val="122000"/>
              </a:lnSpc>
              <a:buClr>
                <a:srgbClr val="000000"/>
              </a:buClr>
              <a:buSzPct val="45000"/>
              <a:buFont typeface="Times New Roman" pitchFamily="18" charset="0"/>
              <a:buNone/>
            </a:pPr>
            <a:endParaRPr lang="en-GB" altLang="en-US" i="1"/>
          </a:p>
          <a:p>
            <a:pPr algn="ctr" hangingPunct="0">
              <a:lnSpc>
                <a:spcPct val="122000"/>
              </a:lnSpc>
              <a:buClr>
                <a:srgbClr val="000000"/>
              </a:buClr>
              <a:buSzPct val="45000"/>
              <a:buFont typeface="Times New Roman" pitchFamily="18" charset="0"/>
              <a:buNone/>
            </a:pPr>
            <a:r>
              <a:rPr lang="en-GB" altLang="en-US" i="1"/>
              <a:t>O</a:t>
            </a:r>
          </a:p>
          <a:p>
            <a:pPr algn="ctr" hangingPunct="0">
              <a:lnSpc>
                <a:spcPct val="122000"/>
              </a:lnSpc>
              <a:buClr>
                <a:srgbClr val="000000"/>
              </a:buClr>
              <a:buSzPct val="45000"/>
              <a:buFont typeface="Times New Roman" pitchFamily="18" charset="0"/>
              <a:buNone/>
            </a:pPr>
            <a:r>
              <a:rPr lang="en-GB" altLang="en-US" i="1"/>
              <a:t>r</a:t>
            </a:r>
          </a:p>
          <a:p>
            <a:pPr algn="ctr" hangingPunct="0">
              <a:lnSpc>
                <a:spcPct val="122000"/>
              </a:lnSpc>
              <a:buClr>
                <a:srgbClr val="000000"/>
              </a:buClr>
              <a:buSzPct val="45000"/>
              <a:buFont typeface="Times New Roman" pitchFamily="18" charset="0"/>
              <a:buNone/>
            </a:pPr>
            <a:r>
              <a:rPr lang="en-GB" altLang="en-US" i="1"/>
              <a:t>d</a:t>
            </a:r>
          </a:p>
          <a:p>
            <a:pPr algn="ctr" hangingPunct="0">
              <a:lnSpc>
                <a:spcPct val="122000"/>
              </a:lnSpc>
              <a:buClr>
                <a:srgbClr val="000000"/>
              </a:buClr>
              <a:buSzPct val="45000"/>
              <a:buFont typeface="Times New Roman" pitchFamily="18" charset="0"/>
              <a:buNone/>
            </a:pPr>
            <a:r>
              <a:rPr lang="en-GB" altLang="en-US" i="1"/>
              <a:t>e</a:t>
            </a:r>
          </a:p>
          <a:p>
            <a:pPr algn="ctr" hangingPunct="0">
              <a:lnSpc>
                <a:spcPct val="122000"/>
              </a:lnSpc>
              <a:buClr>
                <a:srgbClr val="000000"/>
              </a:buClr>
              <a:buSzPct val="45000"/>
              <a:buFont typeface="Times New Roman" pitchFamily="18" charset="0"/>
              <a:buNone/>
            </a:pPr>
            <a:r>
              <a:rPr lang="en-GB" altLang="en-US" i="1"/>
              <a:t>r</a:t>
            </a:r>
          </a:p>
        </p:txBody>
      </p:sp>
      <p:sp>
        <p:nvSpPr>
          <p:cNvPr id="12311" name="Line 23"/>
          <p:cNvSpPr>
            <a:spLocks noChangeShapeType="1"/>
          </p:cNvSpPr>
          <p:nvPr/>
        </p:nvSpPr>
        <p:spPr bwMode="auto">
          <a:xfrm>
            <a:off x="652463" y="2874963"/>
            <a:ext cx="1587" cy="3035300"/>
          </a:xfrm>
          <a:prstGeom prst="line">
            <a:avLst/>
          </a:prstGeom>
          <a:noFill/>
          <a:ln w="126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12312" name="Text Box 24"/>
          <p:cNvSpPr txBox="1">
            <a:spLocks noChangeArrowheads="1"/>
          </p:cNvSpPr>
          <p:nvPr/>
        </p:nvSpPr>
        <p:spPr bwMode="auto">
          <a:xfrm>
            <a:off x="4137025" y="2090738"/>
            <a:ext cx="68897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hangingPunct="0">
              <a:lnSpc>
                <a:spcPct val="122000"/>
              </a:lnSpc>
              <a:buClr>
                <a:srgbClr val="000000"/>
              </a:buClr>
              <a:buSzPct val="45000"/>
              <a:buFont typeface="Times New Roman" pitchFamily="18" charset="0"/>
              <a:buNone/>
            </a:pPr>
            <a:r>
              <a:rPr lang="en-GB" altLang="en-US" i="1"/>
              <a:t>Time</a:t>
            </a:r>
          </a:p>
        </p:txBody>
      </p:sp>
      <p:grpSp>
        <p:nvGrpSpPr>
          <p:cNvPr id="12313" name="Group 25"/>
          <p:cNvGrpSpPr>
            <a:grpSpLocks/>
          </p:cNvGrpSpPr>
          <p:nvPr/>
        </p:nvGrpSpPr>
        <p:grpSpPr bwMode="auto">
          <a:xfrm>
            <a:off x="1509713" y="2468563"/>
            <a:ext cx="3516312" cy="600075"/>
            <a:chOff x="940" y="1292"/>
            <a:chExt cx="2215" cy="378"/>
          </a:xfrm>
        </p:grpSpPr>
        <p:sp>
          <p:nvSpPr>
            <p:cNvPr id="12314" name="Text Box 26"/>
            <p:cNvSpPr txBox="1">
              <a:spLocks noChangeArrowheads="1"/>
            </p:cNvSpPr>
            <p:nvPr/>
          </p:nvSpPr>
          <p:spPr bwMode="auto">
            <a:xfrm>
              <a:off x="954" y="1403"/>
              <a:ext cx="27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30</a:t>
              </a:r>
            </a:p>
          </p:txBody>
        </p:sp>
        <p:sp>
          <p:nvSpPr>
            <p:cNvPr id="12315" name="Line 27"/>
            <p:cNvSpPr>
              <a:spLocks noChangeShapeType="1"/>
            </p:cNvSpPr>
            <p:nvPr/>
          </p:nvSpPr>
          <p:spPr bwMode="auto">
            <a:xfrm>
              <a:off x="940" y="1368"/>
              <a:ext cx="289"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16" name="Line 28"/>
            <p:cNvSpPr>
              <a:spLocks noChangeShapeType="1"/>
            </p:cNvSpPr>
            <p:nvPr/>
          </p:nvSpPr>
          <p:spPr bwMode="auto">
            <a:xfrm>
              <a:off x="1261" y="12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12317" name="Group 29"/>
            <p:cNvGrpSpPr>
              <a:grpSpLocks/>
            </p:cNvGrpSpPr>
            <p:nvPr/>
          </p:nvGrpSpPr>
          <p:grpSpPr bwMode="auto">
            <a:xfrm>
              <a:off x="1277" y="1292"/>
              <a:ext cx="387" cy="378"/>
              <a:chOff x="1277" y="1292"/>
              <a:chExt cx="387" cy="378"/>
            </a:xfrm>
          </p:grpSpPr>
          <p:sp>
            <p:nvSpPr>
              <p:cNvPr id="12318" name="Line 30"/>
              <p:cNvSpPr>
                <a:spLocks noChangeShapeType="1"/>
              </p:cNvSpPr>
              <p:nvPr/>
            </p:nvSpPr>
            <p:spPr bwMode="auto">
              <a:xfrm>
                <a:off x="1277" y="1400"/>
                <a:ext cx="361"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19" name="Text Box 31"/>
              <p:cNvSpPr txBox="1">
                <a:spLocks noChangeArrowheads="1"/>
              </p:cNvSpPr>
              <p:nvPr/>
            </p:nvSpPr>
            <p:spPr bwMode="auto">
              <a:xfrm>
                <a:off x="1323" y="1403"/>
                <a:ext cx="27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40</a:t>
                </a:r>
              </a:p>
            </p:txBody>
          </p:sp>
          <p:sp>
            <p:nvSpPr>
              <p:cNvPr id="12320" name="Line 32"/>
              <p:cNvSpPr>
                <a:spLocks noChangeShapeType="1"/>
              </p:cNvSpPr>
              <p:nvPr/>
            </p:nvSpPr>
            <p:spPr bwMode="auto">
              <a:xfrm>
                <a:off x="1663" y="12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12321" name="Group 33"/>
            <p:cNvGrpSpPr>
              <a:grpSpLocks/>
            </p:cNvGrpSpPr>
            <p:nvPr/>
          </p:nvGrpSpPr>
          <p:grpSpPr bwMode="auto">
            <a:xfrm>
              <a:off x="1687" y="1292"/>
              <a:ext cx="386" cy="378"/>
              <a:chOff x="1687" y="1292"/>
              <a:chExt cx="386" cy="378"/>
            </a:xfrm>
          </p:grpSpPr>
          <p:sp>
            <p:nvSpPr>
              <p:cNvPr id="12322" name="Line 34"/>
              <p:cNvSpPr>
                <a:spLocks noChangeShapeType="1"/>
              </p:cNvSpPr>
              <p:nvPr/>
            </p:nvSpPr>
            <p:spPr bwMode="auto">
              <a:xfrm>
                <a:off x="1687" y="1400"/>
                <a:ext cx="361"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23" name="Text Box 35"/>
              <p:cNvSpPr txBox="1">
                <a:spLocks noChangeArrowheads="1"/>
              </p:cNvSpPr>
              <p:nvPr/>
            </p:nvSpPr>
            <p:spPr bwMode="auto">
              <a:xfrm>
                <a:off x="1733" y="1403"/>
                <a:ext cx="27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40</a:t>
                </a:r>
              </a:p>
            </p:txBody>
          </p:sp>
          <p:sp>
            <p:nvSpPr>
              <p:cNvPr id="12324" name="Line 36"/>
              <p:cNvSpPr>
                <a:spLocks noChangeShapeType="1"/>
              </p:cNvSpPr>
              <p:nvPr/>
            </p:nvSpPr>
            <p:spPr bwMode="auto">
              <a:xfrm>
                <a:off x="2072" y="12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12325" name="Group 37"/>
            <p:cNvGrpSpPr>
              <a:grpSpLocks/>
            </p:cNvGrpSpPr>
            <p:nvPr/>
          </p:nvGrpSpPr>
          <p:grpSpPr bwMode="auto">
            <a:xfrm>
              <a:off x="2096" y="1292"/>
              <a:ext cx="387" cy="378"/>
              <a:chOff x="2096" y="1292"/>
              <a:chExt cx="387" cy="378"/>
            </a:xfrm>
          </p:grpSpPr>
          <p:sp>
            <p:nvSpPr>
              <p:cNvPr id="12326" name="Line 38"/>
              <p:cNvSpPr>
                <a:spLocks noChangeShapeType="1"/>
              </p:cNvSpPr>
              <p:nvPr/>
            </p:nvSpPr>
            <p:spPr bwMode="auto">
              <a:xfrm>
                <a:off x="2096" y="1400"/>
                <a:ext cx="361"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27" name="Text Box 39"/>
              <p:cNvSpPr txBox="1">
                <a:spLocks noChangeArrowheads="1"/>
              </p:cNvSpPr>
              <p:nvPr/>
            </p:nvSpPr>
            <p:spPr bwMode="auto">
              <a:xfrm>
                <a:off x="2143" y="1403"/>
                <a:ext cx="27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40</a:t>
                </a:r>
              </a:p>
            </p:txBody>
          </p:sp>
          <p:sp>
            <p:nvSpPr>
              <p:cNvPr id="12328" name="Line 40"/>
              <p:cNvSpPr>
                <a:spLocks noChangeShapeType="1"/>
              </p:cNvSpPr>
              <p:nvPr/>
            </p:nvSpPr>
            <p:spPr bwMode="auto">
              <a:xfrm>
                <a:off x="2482" y="12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2329" name="Line 41"/>
            <p:cNvSpPr>
              <a:spLocks noChangeShapeType="1"/>
            </p:cNvSpPr>
            <p:nvPr/>
          </p:nvSpPr>
          <p:spPr bwMode="auto">
            <a:xfrm>
              <a:off x="2506" y="1400"/>
              <a:ext cx="361" cy="1"/>
            </a:xfrm>
            <a:prstGeom prst="line">
              <a:avLst/>
            </a:prstGeom>
            <a:noFill/>
            <a:ln w="50760">
              <a:solidFill>
                <a:srgbClr val="A2C1F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30" name="Line 42"/>
            <p:cNvSpPr>
              <a:spLocks noChangeShapeType="1"/>
            </p:cNvSpPr>
            <p:nvPr/>
          </p:nvSpPr>
          <p:spPr bwMode="auto">
            <a:xfrm>
              <a:off x="2907" y="1432"/>
              <a:ext cx="217"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31" name="Text Box 43"/>
            <p:cNvSpPr txBox="1">
              <a:spLocks noChangeArrowheads="1"/>
            </p:cNvSpPr>
            <p:nvPr/>
          </p:nvSpPr>
          <p:spPr bwMode="auto">
            <a:xfrm>
              <a:off x="2552" y="1403"/>
              <a:ext cx="27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40</a:t>
              </a:r>
            </a:p>
          </p:txBody>
        </p:sp>
        <p:sp>
          <p:nvSpPr>
            <p:cNvPr id="12332" name="Text Box 44"/>
            <p:cNvSpPr txBox="1">
              <a:spLocks noChangeArrowheads="1"/>
            </p:cNvSpPr>
            <p:nvPr/>
          </p:nvSpPr>
          <p:spPr bwMode="auto">
            <a:xfrm>
              <a:off x="2881" y="1403"/>
              <a:ext cx="27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5pPr>
              <a:lvl6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6pPr>
              <a:lvl7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7pPr>
              <a:lvl8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8pPr>
              <a:lvl9pPr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itchFamily="34" charset="0"/>
                </a:defRPr>
              </a:lvl9pPr>
            </a:lstStyle>
            <a:p>
              <a:pPr algn="ctr" hangingPunct="0">
                <a:lnSpc>
                  <a:spcPct val="122000"/>
                </a:lnSpc>
                <a:buClr>
                  <a:srgbClr val="000000"/>
                </a:buClr>
                <a:buSzPct val="45000"/>
                <a:buFont typeface="Times New Roman" pitchFamily="18" charset="0"/>
                <a:buNone/>
              </a:pPr>
              <a:r>
                <a:rPr lang="en-GB" altLang="en-US" b="1"/>
                <a:t>20</a:t>
              </a:r>
            </a:p>
          </p:txBody>
        </p:sp>
        <p:sp>
          <p:nvSpPr>
            <p:cNvPr id="12333" name="Line 45"/>
            <p:cNvSpPr>
              <a:spLocks noChangeShapeType="1"/>
            </p:cNvSpPr>
            <p:nvPr/>
          </p:nvSpPr>
          <p:spPr bwMode="auto">
            <a:xfrm>
              <a:off x="2891" y="12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34" name="Line 46"/>
            <p:cNvSpPr>
              <a:spLocks noChangeShapeType="1"/>
            </p:cNvSpPr>
            <p:nvPr/>
          </p:nvSpPr>
          <p:spPr bwMode="auto">
            <a:xfrm>
              <a:off x="3148" y="1292"/>
              <a:ext cx="1" cy="19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35" name="Line 47"/>
            <p:cNvSpPr>
              <a:spLocks noChangeShapeType="1"/>
            </p:cNvSpPr>
            <p:nvPr/>
          </p:nvSpPr>
          <p:spPr bwMode="auto">
            <a:xfrm>
              <a:off x="1350" y="1368"/>
              <a:ext cx="289"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36" name="Line 48"/>
            <p:cNvSpPr>
              <a:spLocks noChangeShapeType="1"/>
            </p:cNvSpPr>
            <p:nvPr/>
          </p:nvSpPr>
          <p:spPr bwMode="auto">
            <a:xfrm>
              <a:off x="1759" y="1368"/>
              <a:ext cx="289"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37" name="Line 49"/>
            <p:cNvSpPr>
              <a:spLocks noChangeShapeType="1"/>
            </p:cNvSpPr>
            <p:nvPr/>
          </p:nvSpPr>
          <p:spPr bwMode="auto">
            <a:xfrm>
              <a:off x="2168" y="1368"/>
              <a:ext cx="289" cy="1"/>
            </a:xfrm>
            <a:prstGeom prst="line">
              <a:avLst/>
            </a:prstGeom>
            <a:noFill/>
            <a:ln w="50760">
              <a:solidFill>
                <a:srgbClr val="F6BF6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38" name="Line 50"/>
            <p:cNvSpPr>
              <a:spLocks noChangeShapeType="1"/>
            </p:cNvSpPr>
            <p:nvPr/>
          </p:nvSpPr>
          <p:spPr bwMode="auto">
            <a:xfrm>
              <a:off x="1687" y="1432"/>
              <a:ext cx="217"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39" name="Line 51"/>
            <p:cNvSpPr>
              <a:spLocks noChangeShapeType="1"/>
            </p:cNvSpPr>
            <p:nvPr/>
          </p:nvSpPr>
          <p:spPr bwMode="auto">
            <a:xfrm>
              <a:off x="2096" y="1432"/>
              <a:ext cx="217"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40" name="Line 52"/>
            <p:cNvSpPr>
              <a:spLocks noChangeShapeType="1"/>
            </p:cNvSpPr>
            <p:nvPr/>
          </p:nvSpPr>
          <p:spPr bwMode="auto">
            <a:xfrm>
              <a:off x="2506" y="1432"/>
              <a:ext cx="217" cy="1"/>
            </a:xfrm>
            <a:prstGeom prst="line">
              <a:avLst/>
            </a:prstGeom>
            <a:noFill/>
            <a:ln w="50760">
              <a:solidFill>
                <a:srgbClr val="00DFCA"/>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12341" name="Group 53"/>
          <p:cNvGrpSpPr>
            <a:grpSpLocks/>
          </p:cNvGrpSpPr>
          <p:nvPr/>
        </p:nvGrpSpPr>
        <p:grpSpPr bwMode="auto">
          <a:xfrm>
            <a:off x="1535113" y="3040063"/>
            <a:ext cx="3489325" cy="2932112"/>
            <a:chOff x="956" y="1652"/>
            <a:chExt cx="2198" cy="1847"/>
          </a:xfrm>
        </p:grpSpPr>
        <p:grpSp>
          <p:nvGrpSpPr>
            <p:cNvPr id="12342" name="Group 54"/>
            <p:cNvGrpSpPr>
              <a:grpSpLocks/>
            </p:cNvGrpSpPr>
            <p:nvPr/>
          </p:nvGrpSpPr>
          <p:grpSpPr bwMode="auto">
            <a:xfrm>
              <a:off x="956" y="1652"/>
              <a:ext cx="966" cy="447"/>
              <a:chOff x="956" y="1652"/>
              <a:chExt cx="966" cy="447"/>
            </a:xfrm>
          </p:grpSpPr>
          <p:grpSp>
            <p:nvGrpSpPr>
              <p:cNvPr id="12343" name="Group 55"/>
              <p:cNvGrpSpPr>
                <a:grpSpLocks/>
              </p:cNvGrpSpPr>
              <p:nvPr/>
            </p:nvGrpSpPr>
            <p:grpSpPr bwMode="auto">
              <a:xfrm>
                <a:off x="956" y="1652"/>
                <a:ext cx="304" cy="447"/>
                <a:chOff x="956" y="1652"/>
                <a:chExt cx="304" cy="447"/>
              </a:xfrm>
            </p:grpSpPr>
            <p:grpSp>
              <p:nvGrpSpPr>
                <p:cNvPr id="12344" name="Group 56"/>
                <p:cNvGrpSpPr>
                  <a:grpSpLocks/>
                </p:cNvGrpSpPr>
                <p:nvPr/>
              </p:nvGrpSpPr>
              <p:grpSpPr bwMode="auto">
                <a:xfrm>
                  <a:off x="956" y="1652"/>
                  <a:ext cx="304" cy="447"/>
                  <a:chOff x="956" y="1652"/>
                  <a:chExt cx="304" cy="447"/>
                </a:xfrm>
              </p:grpSpPr>
              <p:grpSp>
                <p:nvGrpSpPr>
                  <p:cNvPr id="12345" name="Group 57"/>
                  <p:cNvGrpSpPr>
                    <a:grpSpLocks/>
                  </p:cNvGrpSpPr>
                  <p:nvPr/>
                </p:nvGrpSpPr>
                <p:grpSpPr bwMode="auto">
                  <a:xfrm>
                    <a:off x="956" y="1723"/>
                    <a:ext cx="304" cy="376"/>
                    <a:chOff x="956" y="1723"/>
                    <a:chExt cx="304" cy="376"/>
                  </a:xfrm>
                </p:grpSpPr>
                <p:sp>
                  <p:nvSpPr>
                    <p:cNvPr id="12346" name="Freeform 58"/>
                    <p:cNvSpPr>
                      <a:spLocks noChangeArrowheads="1"/>
                    </p:cNvSpPr>
                    <p:nvPr/>
                  </p:nvSpPr>
                  <p:spPr bwMode="auto">
                    <a:xfrm>
                      <a:off x="956" y="1723"/>
                      <a:ext cx="305" cy="377"/>
                    </a:xfrm>
                    <a:custGeom>
                      <a:avLst/>
                      <a:gdLst>
                        <a:gd name="T0" fmla="*/ 0 w 1346"/>
                        <a:gd name="T1" fmla="*/ 1662 h 1663"/>
                        <a:gd name="T2" fmla="*/ 0 w 1346"/>
                        <a:gd name="T3" fmla="*/ 336 h 1663"/>
                        <a:gd name="T4" fmla="*/ 335 w 1346"/>
                        <a:gd name="T5" fmla="*/ 0 h 1663"/>
                        <a:gd name="T6" fmla="*/ 1345 w 1346"/>
                        <a:gd name="T7" fmla="*/ 0 h 1663"/>
                        <a:gd name="T8" fmla="*/ 1345 w 1346"/>
                        <a:gd name="T9" fmla="*/ 1326 h 1663"/>
                        <a:gd name="T10" fmla="*/ 1008 w 1346"/>
                        <a:gd name="T11" fmla="*/ 1662 h 1663"/>
                        <a:gd name="T12" fmla="*/ 0 w 1346"/>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IN"/>
                    </a:p>
                  </p:txBody>
                </p:sp>
                <p:sp>
                  <p:nvSpPr>
                    <p:cNvPr id="12347" name="Freeform 59"/>
                    <p:cNvSpPr>
                      <a:spLocks noChangeArrowheads="1"/>
                    </p:cNvSpPr>
                    <p:nvPr/>
                  </p:nvSpPr>
                  <p:spPr bwMode="auto">
                    <a:xfrm>
                      <a:off x="956" y="1723"/>
                      <a:ext cx="305" cy="76"/>
                    </a:xfrm>
                    <a:custGeom>
                      <a:avLst/>
                      <a:gdLst>
                        <a:gd name="T0" fmla="*/ 0 w 1346"/>
                        <a:gd name="T1" fmla="*/ 336 h 337"/>
                        <a:gd name="T2" fmla="*/ 335 w 1346"/>
                        <a:gd name="T3" fmla="*/ 0 h 337"/>
                        <a:gd name="T4" fmla="*/ 1345 w 1346"/>
                        <a:gd name="T5" fmla="*/ 0 h 337"/>
                        <a:gd name="T6" fmla="*/ 1008 w 1346"/>
                        <a:gd name="T7" fmla="*/ 336 h 337"/>
                        <a:gd name="T8" fmla="*/ 0 w 1346"/>
                        <a:gd name="T9" fmla="*/ 336 h 337"/>
                      </a:gdLst>
                      <a:ahLst/>
                      <a:cxnLst>
                        <a:cxn ang="0">
                          <a:pos x="T0" y="T1"/>
                        </a:cxn>
                        <a:cxn ang="0">
                          <a:pos x="T2" y="T3"/>
                        </a:cxn>
                        <a:cxn ang="0">
                          <a:pos x="T4" y="T5"/>
                        </a:cxn>
                        <a:cxn ang="0">
                          <a:pos x="T6" y="T7"/>
                        </a:cxn>
                        <a:cxn ang="0">
                          <a:pos x="T8" y="T9"/>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IN"/>
                    </a:p>
                  </p:txBody>
                </p:sp>
                <p:sp>
                  <p:nvSpPr>
                    <p:cNvPr id="12348" name="Freeform 60"/>
                    <p:cNvSpPr>
                      <a:spLocks noChangeArrowheads="1"/>
                    </p:cNvSpPr>
                    <p:nvPr/>
                  </p:nvSpPr>
                  <p:spPr bwMode="auto">
                    <a:xfrm>
                      <a:off x="1185" y="1723"/>
                      <a:ext cx="77" cy="377"/>
                    </a:xfrm>
                    <a:custGeom>
                      <a:avLst/>
                      <a:gdLst>
                        <a:gd name="T0" fmla="*/ 0 w 338"/>
                        <a:gd name="T1" fmla="*/ 1662 h 1663"/>
                        <a:gd name="T2" fmla="*/ 0 w 338"/>
                        <a:gd name="T3" fmla="*/ 336 h 1663"/>
                        <a:gd name="T4" fmla="*/ 337 w 338"/>
                        <a:gd name="T5" fmla="*/ 0 h 1663"/>
                        <a:gd name="T6" fmla="*/ 337 w 338"/>
                        <a:gd name="T7" fmla="*/ 1326 h 1663"/>
                        <a:gd name="T8" fmla="*/ 0 w 338"/>
                        <a:gd name="T9" fmla="*/ 1662 h 1663"/>
                      </a:gdLst>
                      <a:ahLst/>
                      <a:cxnLst>
                        <a:cxn ang="0">
                          <a:pos x="T0" y="T1"/>
                        </a:cxn>
                        <a:cxn ang="0">
                          <a:pos x="T2" y="T3"/>
                        </a:cxn>
                        <a:cxn ang="0">
                          <a:pos x="T4" y="T5"/>
                        </a:cxn>
                        <a:cxn ang="0">
                          <a:pos x="T6" y="T7"/>
                        </a:cxn>
                        <a:cxn ang="0">
                          <a:pos x="T8" y="T9"/>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IN"/>
                    </a:p>
                  </p:txBody>
                </p:sp>
              </p:grpSp>
              <p:grpSp>
                <p:nvGrpSpPr>
                  <p:cNvPr id="12349" name="Group 61"/>
                  <p:cNvGrpSpPr>
                    <a:grpSpLocks/>
                  </p:cNvGrpSpPr>
                  <p:nvPr/>
                </p:nvGrpSpPr>
                <p:grpSpPr bwMode="auto">
                  <a:xfrm>
                    <a:off x="1026" y="1652"/>
                    <a:ext cx="234" cy="77"/>
                    <a:chOff x="1026" y="1652"/>
                    <a:chExt cx="234" cy="77"/>
                  </a:xfrm>
                </p:grpSpPr>
                <p:sp>
                  <p:nvSpPr>
                    <p:cNvPr id="12350" name="Freeform 62"/>
                    <p:cNvSpPr>
                      <a:spLocks noChangeArrowheads="1"/>
                    </p:cNvSpPr>
                    <p:nvPr/>
                  </p:nvSpPr>
                  <p:spPr bwMode="auto">
                    <a:xfrm>
                      <a:off x="1026" y="1652"/>
                      <a:ext cx="235" cy="78"/>
                    </a:xfrm>
                    <a:custGeom>
                      <a:avLst/>
                      <a:gdLst>
                        <a:gd name="T0" fmla="*/ 0 w 1038"/>
                        <a:gd name="T1" fmla="*/ 344 h 345"/>
                        <a:gd name="T2" fmla="*/ 0 w 1038"/>
                        <a:gd name="T3" fmla="*/ 85 h 345"/>
                        <a:gd name="T4" fmla="*/ 85 w 1038"/>
                        <a:gd name="T5" fmla="*/ 0 h 345"/>
                        <a:gd name="T6" fmla="*/ 1037 w 1038"/>
                        <a:gd name="T7" fmla="*/ 0 h 345"/>
                        <a:gd name="T8" fmla="*/ 1037 w 1038"/>
                        <a:gd name="T9" fmla="*/ 257 h 345"/>
                        <a:gd name="T10" fmla="*/ 950 w 1038"/>
                        <a:gd name="T11" fmla="*/ 344 h 345"/>
                        <a:gd name="T12" fmla="*/ 0 w 1038"/>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8" h="345">
                          <a:moveTo>
                            <a:pt x="0" y="344"/>
                          </a:moveTo>
                          <a:lnTo>
                            <a:pt x="0" y="85"/>
                          </a:lnTo>
                          <a:lnTo>
                            <a:pt x="85" y="0"/>
                          </a:lnTo>
                          <a:lnTo>
                            <a:pt x="1037" y="0"/>
                          </a:lnTo>
                          <a:lnTo>
                            <a:pt x="1037" y="257"/>
                          </a:lnTo>
                          <a:lnTo>
                            <a:pt x="950"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2351" name="Freeform 63"/>
                    <p:cNvSpPr>
                      <a:spLocks noChangeArrowheads="1"/>
                    </p:cNvSpPr>
                    <p:nvPr/>
                  </p:nvSpPr>
                  <p:spPr bwMode="auto">
                    <a:xfrm>
                      <a:off x="1026" y="1652"/>
                      <a:ext cx="235" cy="20"/>
                    </a:xfrm>
                    <a:custGeom>
                      <a:avLst/>
                      <a:gdLst>
                        <a:gd name="T0" fmla="*/ 0 w 1038"/>
                        <a:gd name="T1" fmla="*/ 85 h 86"/>
                        <a:gd name="T2" fmla="*/ 85 w 1038"/>
                        <a:gd name="T3" fmla="*/ 0 h 86"/>
                        <a:gd name="T4" fmla="*/ 1037 w 1038"/>
                        <a:gd name="T5" fmla="*/ 0 h 86"/>
                        <a:gd name="T6" fmla="*/ 950 w 1038"/>
                        <a:gd name="T7" fmla="*/ 85 h 86"/>
                        <a:gd name="T8" fmla="*/ 0 w 1038"/>
                        <a:gd name="T9" fmla="*/ 85 h 86"/>
                      </a:gdLst>
                      <a:ahLst/>
                      <a:cxnLst>
                        <a:cxn ang="0">
                          <a:pos x="T0" y="T1"/>
                        </a:cxn>
                        <a:cxn ang="0">
                          <a:pos x="T2" y="T3"/>
                        </a:cxn>
                        <a:cxn ang="0">
                          <a:pos x="T4" y="T5"/>
                        </a:cxn>
                        <a:cxn ang="0">
                          <a:pos x="T6" y="T7"/>
                        </a:cxn>
                        <a:cxn ang="0">
                          <a:pos x="T8" y="T9"/>
                        </a:cxn>
                      </a:cxnLst>
                      <a:rect l="0" t="0" r="r" b="b"/>
                      <a:pathLst>
                        <a:path w="1038" h="86">
                          <a:moveTo>
                            <a:pt x="0" y="85"/>
                          </a:moveTo>
                          <a:lnTo>
                            <a:pt x="85" y="0"/>
                          </a:lnTo>
                          <a:lnTo>
                            <a:pt x="1037" y="0"/>
                          </a:lnTo>
                          <a:lnTo>
                            <a:pt x="950"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2352" name="Freeform 64"/>
                    <p:cNvSpPr>
                      <a:spLocks noChangeArrowheads="1"/>
                    </p:cNvSpPr>
                    <p:nvPr/>
                  </p:nvSpPr>
                  <p:spPr bwMode="auto">
                    <a:xfrm>
                      <a:off x="1241" y="1652"/>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2353" name="Freeform 65"/>
                <p:cNvSpPr>
                  <a:spLocks noChangeArrowheads="1"/>
                </p:cNvSpPr>
                <p:nvPr/>
              </p:nvSpPr>
              <p:spPr bwMode="auto">
                <a:xfrm>
                  <a:off x="1018" y="1756"/>
                  <a:ext cx="158" cy="27"/>
                </a:xfrm>
                <a:custGeom>
                  <a:avLst/>
                  <a:gdLst>
                    <a:gd name="T0" fmla="*/ 173 w 698"/>
                    <a:gd name="T1" fmla="*/ 0 h 121"/>
                    <a:gd name="T2" fmla="*/ 697 w 698"/>
                    <a:gd name="T3" fmla="*/ 0 h 121"/>
                    <a:gd name="T4" fmla="*/ 522 w 698"/>
                    <a:gd name="T5" fmla="*/ 120 h 121"/>
                    <a:gd name="T6" fmla="*/ 0 w 698"/>
                    <a:gd name="T7" fmla="*/ 120 h 121"/>
                    <a:gd name="T8" fmla="*/ 173 w 698"/>
                    <a:gd name="T9" fmla="*/ 0 h 121"/>
                  </a:gdLst>
                  <a:ahLst/>
                  <a:cxnLst>
                    <a:cxn ang="0">
                      <a:pos x="T0" y="T1"/>
                    </a:cxn>
                    <a:cxn ang="0">
                      <a:pos x="T2" y="T3"/>
                    </a:cxn>
                    <a:cxn ang="0">
                      <a:pos x="T4" y="T5"/>
                    </a:cxn>
                    <a:cxn ang="0">
                      <a:pos x="T6" y="T7"/>
                    </a:cxn>
                    <a:cxn ang="0">
                      <a:pos x="T8" y="T9"/>
                    </a:cxn>
                  </a:cxnLst>
                  <a:rect l="0" t="0" r="r" b="b"/>
                  <a:pathLst>
                    <a:path w="698" h="121">
                      <a:moveTo>
                        <a:pt x="173" y="0"/>
                      </a:moveTo>
                      <a:lnTo>
                        <a:pt x="697" y="0"/>
                      </a:lnTo>
                      <a:lnTo>
                        <a:pt x="522" y="120"/>
                      </a:lnTo>
                      <a:lnTo>
                        <a:pt x="0" y="120"/>
                      </a:lnTo>
                      <a:lnTo>
                        <a:pt x="173"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2354" name="Group 66"/>
              <p:cNvGrpSpPr>
                <a:grpSpLocks/>
              </p:cNvGrpSpPr>
              <p:nvPr/>
            </p:nvGrpSpPr>
            <p:grpSpPr bwMode="auto">
              <a:xfrm>
                <a:off x="1257" y="1652"/>
                <a:ext cx="377" cy="447"/>
                <a:chOff x="1257" y="1652"/>
                <a:chExt cx="377" cy="447"/>
              </a:xfrm>
            </p:grpSpPr>
            <p:grpSp>
              <p:nvGrpSpPr>
                <p:cNvPr id="12355" name="Group 67"/>
                <p:cNvGrpSpPr>
                  <a:grpSpLocks/>
                </p:cNvGrpSpPr>
                <p:nvPr/>
              </p:nvGrpSpPr>
              <p:grpSpPr bwMode="auto">
                <a:xfrm>
                  <a:off x="1257" y="1652"/>
                  <a:ext cx="377" cy="447"/>
                  <a:chOff x="1257" y="1652"/>
                  <a:chExt cx="377" cy="447"/>
                </a:xfrm>
              </p:grpSpPr>
              <p:grpSp>
                <p:nvGrpSpPr>
                  <p:cNvPr id="12356" name="Group 68"/>
                  <p:cNvGrpSpPr>
                    <a:grpSpLocks/>
                  </p:cNvGrpSpPr>
                  <p:nvPr/>
                </p:nvGrpSpPr>
                <p:grpSpPr bwMode="auto">
                  <a:xfrm>
                    <a:off x="1257" y="1723"/>
                    <a:ext cx="377" cy="376"/>
                    <a:chOff x="1257" y="1723"/>
                    <a:chExt cx="377" cy="376"/>
                  </a:xfrm>
                </p:grpSpPr>
                <p:sp>
                  <p:nvSpPr>
                    <p:cNvPr id="12357" name="Freeform 69"/>
                    <p:cNvSpPr>
                      <a:spLocks noChangeArrowheads="1"/>
                    </p:cNvSpPr>
                    <p:nvPr/>
                  </p:nvSpPr>
                  <p:spPr bwMode="auto">
                    <a:xfrm>
                      <a:off x="1257" y="1723"/>
                      <a:ext cx="378" cy="377"/>
                    </a:xfrm>
                    <a:custGeom>
                      <a:avLst/>
                      <a:gdLst>
                        <a:gd name="T0" fmla="*/ 0 w 1668"/>
                        <a:gd name="T1" fmla="*/ 1662 h 1663"/>
                        <a:gd name="T2" fmla="*/ 0 w 1668"/>
                        <a:gd name="T3" fmla="*/ 415 h 1663"/>
                        <a:gd name="T4" fmla="*/ 414 w 1668"/>
                        <a:gd name="T5" fmla="*/ 0 h 1663"/>
                        <a:gd name="T6" fmla="*/ 1667 w 1668"/>
                        <a:gd name="T7" fmla="*/ 0 h 1663"/>
                        <a:gd name="T8" fmla="*/ 1667 w 1668"/>
                        <a:gd name="T9" fmla="*/ 1247 h 1663"/>
                        <a:gd name="T10" fmla="*/ 1251 w 1668"/>
                        <a:gd name="T11" fmla="*/ 1662 h 1663"/>
                        <a:gd name="T12" fmla="*/ 0 w 1668"/>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IN"/>
                    </a:p>
                  </p:txBody>
                </p:sp>
                <p:sp>
                  <p:nvSpPr>
                    <p:cNvPr id="12358" name="Freeform 70"/>
                    <p:cNvSpPr>
                      <a:spLocks noChangeArrowheads="1"/>
                    </p:cNvSpPr>
                    <p:nvPr/>
                  </p:nvSpPr>
                  <p:spPr bwMode="auto">
                    <a:xfrm>
                      <a:off x="1257" y="1723"/>
                      <a:ext cx="378" cy="94"/>
                    </a:xfrm>
                    <a:custGeom>
                      <a:avLst/>
                      <a:gdLst>
                        <a:gd name="T0" fmla="*/ 0 w 1668"/>
                        <a:gd name="T1" fmla="*/ 415 h 416"/>
                        <a:gd name="T2" fmla="*/ 414 w 1668"/>
                        <a:gd name="T3" fmla="*/ 0 h 416"/>
                        <a:gd name="T4" fmla="*/ 1667 w 1668"/>
                        <a:gd name="T5" fmla="*/ 0 h 416"/>
                        <a:gd name="T6" fmla="*/ 1251 w 1668"/>
                        <a:gd name="T7" fmla="*/ 415 h 416"/>
                        <a:gd name="T8" fmla="*/ 0 w 1668"/>
                        <a:gd name="T9" fmla="*/ 415 h 416"/>
                      </a:gdLst>
                      <a:ahLst/>
                      <a:cxnLst>
                        <a:cxn ang="0">
                          <a:pos x="T0" y="T1"/>
                        </a:cxn>
                        <a:cxn ang="0">
                          <a:pos x="T2" y="T3"/>
                        </a:cxn>
                        <a:cxn ang="0">
                          <a:pos x="T4" y="T5"/>
                        </a:cxn>
                        <a:cxn ang="0">
                          <a:pos x="T6" y="T7"/>
                        </a:cxn>
                        <a:cxn ang="0">
                          <a:pos x="T8" y="T9"/>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IN"/>
                    </a:p>
                  </p:txBody>
                </p:sp>
                <p:sp>
                  <p:nvSpPr>
                    <p:cNvPr id="12359" name="Freeform 71"/>
                    <p:cNvSpPr>
                      <a:spLocks noChangeArrowheads="1"/>
                    </p:cNvSpPr>
                    <p:nvPr/>
                  </p:nvSpPr>
                  <p:spPr bwMode="auto">
                    <a:xfrm>
                      <a:off x="1541" y="1723"/>
                      <a:ext cx="95" cy="377"/>
                    </a:xfrm>
                    <a:custGeom>
                      <a:avLst/>
                      <a:gdLst>
                        <a:gd name="T0" fmla="*/ 0 w 417"/>
                        <a:gd name="T1" fmla="*/ 1662 h 1663"/>
                        <a:gd name="T2" fmla="*/ 0 w 417"/>
                        <a:gd name="T3" fmla="*/ 415 h 1663"/>
                        <a:gd name="T4" fmla="*/ 416 w 417"/>
                        <a:gd name="T5" fmla="*/ 0 h 1663"/>
                        <a:gd name="T6" fmla="*/ 416 w 417"/>
                        <a:gd name="T7" fmla="*/ 1247 h 1663"/>
                        <a:gd name="T8" fmla="*/ 0 w 417"/>
                        <a:gd name="T9" fmla="*/ 1662 h 1663"/>
                      </a:gdLst>
                      <a:ahLst/>
                      <a:cxnLst>
                        <a:cxn ang="0">
                          <a:pos x="T0" y="T1"/>
                        </a:cxn>
                        <a:cxn ang="0">
                          <a:pos x="T2" y="T3"/>
                        </a:cxn>
                        <a:cxn ang="0">
                          <a:pos x="T4" y="T5"/>
                        </a:cxn>
                        <a:cxn ang="0">
                          <a:pos x="T6" y="T7"/>
                        </a:cxn>
                        <a:cxn ang="0">
                          <a:pos x="T8" y="T9"/>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IN"/>
                    </a:p>
                  </p:txBody>
                </p:sp>
              </p:grpSp>
              <p:grpSp>
                <p:nvGrpSpPr>
                  <p:cNvPr id="12360" name="Group 72"/>
                  <p:cNvGrpSpPr>
                    <a:grpSpLocks/>
                  </p:cNvGrpSpPr>
                  <p:nvPr/>
                </p:nvGrpSpPr>
                <p:grpSpPr bwMode="auto">
                  <a:xfrm>
                    <a:off x="1343" y="1652"/>
                    <a:ext cx="291" cy="77"/>
                    <a:chOff x="1343" y="1652"/>
                    <a:chExt cx="291" cy="77"/>
                  </a:xfrm>
                </p:grpSpPr>
                <p:sp>
                  <p:nvSpPr>
                    <p:cNvPr id="12361" name="Freeform 73"/>
                    <p:cNvSpPr>
                      <a:spLocks noChangeArrowheads="1"/>
                    </p:cNvSpPr>
                    <p:nvPr/>
                  </p:nvSpPr>
                  <p:spPr bwMode="auto">
                    <a:xfrm>
                      <a:off x="1343" y="1652"/>
                      <a:ext cx="292" cy="78"/>
                    </a:xfrm>
                    <a:custGeom>
                      <a:avLst/>
                      <a:gdLst>
                        <a:gd name="T0" fmla="*/ 0 w 1289"/>
                        <a:gd name="T1" fmla="*/ 344 h 345"/>
                        <a:gd name="T2" fmla="*/ 0 w 1289"/>
                        <a:gd name="T3" fmla="*/ 85 h 345"/>
                        <a:gd name="T4" fmla="*/ 85 w 1289"/>
                        <a:gd name="T5" fmla="*/ 0 h 345"/>
                        <a:gd name="T6" fmla="*/ 1288 w 1289"/>
                        <a:gd name="T7" fmla="*/ 0 h 345"/>
                        <a:gd name="T8" fmla="*/ 1288 w 1289"/>
                        <a:gd name="T9" fmla="*/ 257 h 345"/>
                        <a:gd name="T10" fmla="*/ 1201 w 1289"/>
                        <a:gd name="T11" fmla="*/ 344 h 345"/>
                        <a:gd name="T12" fmla="*/ 0 w 1289"/>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9" h="345">
                          <a:moveTo>
                            <a:pt x="0" y="344"/>
                          </a:moveTo>
                          <a:lnTo>
                            <a:pt x="0" y="85"/>
                          </a:lnTo>
                          <a:lnTo>
                            <a:pt x="85" y="0"/>
                          </a:lnTo>
                          <a:lnTo>
                            <a:pt x="1288" y="0"/>
                          </a:lnTo>
                          <a:lnTo>
                            <a:pt x="1288" y="257"/>
                          </a:lnTo>
                          <a:lnTo>
                            <a:pt x="1201"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2362" name="Freeform 74"/>
                    <p:cNvSpPr>
                      <a:spLocks noChangeArrowheads="1"/>
                    </p:cNvSpPr>
                    <p:nvPr/>
                  </p:nvSpPr>
                  <p:spPr bwMode="auto">
                    <a:xfrm>
                      <a:off x="1343" y="1652"/>
                      <a:ext cx="292" cy="20"/>
                    </a:xfrm>
                    <a:custGeom>
                      <a:avLst/>
                      <a:gdLst>
                        <a:gd name="T0" fmla="*/ 0 w 1289"/>
                        <a:gd name="T1" fmla="*/ 85 h 86"/>
                        <a:gd name="T2" fmla="*/ 85 w 1289"/>
                        <a:gd name="T3" fmla="*/ 0 h 86"/>
                        <a:gd name="T4" fmla="*/ 1288 w 1289"/>
                        <a:gd name="T5" fmla="*/ 0 h 86"/>
                        <a:gd name="T6" fmla="*/ 1201 w 1289"/>
                        <a:gd name="T7" fmla="*/ 85 h 86"/>
                        <a:gd name="T8" fmla="*/ 0 w 1289"/>
                        <a:gd name="T9" fmla="*/ 85 h 86"/>
                      </a:gdLst>
                      <a:ahLst/>
                      <a:cxnLst>
                        <a:cxn ang="0">
                          <a:pos x="T0" y="T1"/>
                        </a:cxn>
                        <a:cxn ang="0">
                          <a:pos x="T2" y="T3"/>
                        </a:cxn>
                        <a:cxn ang="0">
                          <a:pos x="T4" y="T5"/>
                        </a:cxn>
                        <a:cxn ang="0">
                          <a:pos x="T6" y="T7"/>
                        </a:cxn>
                        <a:cxn ang="0">
                          <a:pos x="T8" y="T9"/>
                        </a:cxn>
                      </a:cxnLst>
                      <a:rect l="0" t="0" r="r" b="b"/>
                      <a:pathLst>
                        <a:path w="1289" h="86">
                          <a:moveTo>
                            <a:pt x="0" y="85"/>
                          </a:moveTo>
                          <a:lnTo>
                            <a:pt x="85" y="0"/>
                          </a:lnTo>
                          <a:lnTo>
                            <a:pt x="1288" y="0"/>
                          </a:lnTo>
                          <a:lnTo>
                            <a:pt x="1201"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2363" name="Freeform 75"/>
                    <p:cNvSpPr>
                      <a:spLocks noChangeArrowheads="1"/>
                    </p:cNvSpPr>
                    <p:nvPr/>
                  </p:nvSpPr>
                  <p:spPr bwMode="auto">
                    <a:xfrm>
                      <a:off x="1615" y="1652"/>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2364" name="Oval 76"/>
                <p:cNvSpPr>
                  <a:spLocks noChangeArrowheads="1"/>
                </p:cNvSpPr>
                <p:nvPr/>
              </p:nvSpPr>
              <p:spPr bwMode="auto">
                <a:xfrm>
                  <a:off x="1372" y="1688"/>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2365" name="Freeform 77"/>
                <p:cNvSpPr>
                  <a:spLocks noChangeArrowheads="1"/>
                </p:cNvSpPr>
                <p:nvPr/>
              </p:nvSpPr>
              <p:spPr bwMode="auto">
                <a:xfrm>
                  <a:off x="1304" y="1898"/>
                  <a:ext cx="198" cy="84"/>
                </a:xfrm>
                <a:custGeom>
                  <a:avLst/>
                  <a:gdLst>
                    <a:gd name="T0" fmla="*/ 107 w 874"/>
                    <a:gd name="T1" fmla="*/ 0 h 371"/>
                    <a:gd name="T2" fmla="*/ 764 w 874"/>
                    <a:gd name="T3" fmla="*/ 0 h 371"/>
                    <a:gd name="T4" fmla="*/ 873 w 874"/>
                    <a:gd name="T5" fmla="*/ 108 h 371"/>
                    <a:gd name="T6" fmla="*/ 873 w 874"/>
                    <a:gd name="T7" fmla="*/ 262 h 371"/>
                    <a:gd name="T8" fmla="*/ 764 w 874"/>
                    <a:gd name="T9" fmla="*/ 370 h 371"/>
                    <a:gd name="T10" fmla="*/ 107 w 874"/>
                    <a:gd name="T11" fmla="*/ 370 h 371"/>
                    <a:gd name="T12" fmla="*/ 0 w 874"/>
                    <a:gd name="T13" fmla="*/ 262 h 371"/>
                    <a:gd name="T14" fmla="*/ 0 w 874"/>
                    <a:gd name="T15" fmla="*/ 108 h 371"/>
                    <a:gd name="T16" fmla="*/ 107 w 874"/>
                    <a:gd name="T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2366" name="Freeform 78"/>
              <p:cNvSpPr>
                <a:spLocks noChangeArrowheads="1"/>
              </p:cNvSpPr>
              <p:nvPr/>
            </p:nvSpPr>
            <p:spPr bwMode="auto">
              <a:xfrm>
                <a:off x="1821" y="1881"/>
                <a:ext cx="85" cy="191"/>
              </a:xfrm>
              <a:custGeom>
                <a:avLst/>
                <a:gdLst>
                  <a:gd name="T0" fmla="*/ 273 w 376"/>
                  <a:gd name="T1" fmla="*/ 0 h 843"/>
                  <a:gd name="T2" fmla="*/ 375 w 376"/>
                  <a:gd name="T3" fmla="*/ 0 h 843"/>
                  <a:gd name="T4" fmla="*/ 101 w 376"/>
                  <a:gd name="T5" fmla="*/ 842 h 843"/>
                  <a:gd name="T6" fmla="*/ 0 w 376"/>
                  <a:gd name="T7" fmla="*/ 842 h 843"/>
                  <a:gd name="T8" fmla="*/ 273 w 376"/>
                  <a:gd name="T9" fmla="*/ 0 h 843"/>
                </a:gdLst>
                <a:ahLst/>
                <a:cxnLst>
                  <a:cxn ang="0">
                    <a:pos x="T0" y="T1"/>
                  </a:cxn>
                  <a:cxn ang="0">
                    <a:pos x="T2" y="T3"/>
                  </a:cxn>
                  <a:cxn ang="0">
                    <a:pos x="T4" y="T5"/>
                  </a:cxn>
                  <a:cxn ang="0">
                    <a:pos x="T6" y="T7"/>
                  </a:cxn>
                  <a:cxn ang="0">
                    <a:pos x="T8" y="T9"/>
                  </a:cxn>
                </a:cxnLst>
                <a:rect l="0" t="0" r="r" b="b"/>
                <a:pathLst>
                  <a:path w="376" h="843">
                    <a:moveTo>
                      <a:pt x="273" y="0"/>
                    </a:moveTo>
                    <a:lnTo>
                      <a:pt x="375" y="0"/>
                    </a:lnTo>
                    <a:lnTo>
                      <a:pt x="101" y="842"/>
                    </a:lnTo>
                    <a:lnTo>
                      <a:pt x="0" y="842"/>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367" name="AutoShape 79"/>
              <p:cNvSpPr>
                <a:spLocks noChangeArrowheads="1"/>
              </p:cNvSpPr>
              <p:nvPr/>
            </p:nvSpPr>
            <p:spPr bwMode="auto">
              <a:xfrm>
                <a:off x="1817" y="1881"/>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368" name="AutoShape 80"/>
              <p:cNvSpPr>
                <a:spLocks noChangeArrowheads="1"/>
              </p:cNvSpPr>
              <p:nvPr/>
            </p:nvSpPr>
            <p:spPr bwMode="auto">
              <a:xfrm>
                <a:off x="1824" y="1962"/>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369" name="AutoShape 81"/>
              <p:cNvSpPr>
                <a:spLocks noChangeArrowheads="1"/>
              </p:cNvSpPr>
              <p:nvPr/>
            </p:nvSpPr>
            <p:spPr bwMode="auto">
              <a:xfrm>
                <a:off x="1641" y="1962"/>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2370" name="Group 82"/>
              <p:cNvGrpSpPr>
                <a:grpSpLocks/>
              </p:cNvGrpSpPr>
              <p:nvPr/>
            </p:nvGrpSpPr>
            <p:grpSpPr bwMode="auto">
              <a:xfrm>
                <a:off x="1639" y="1709"/>
                <a:ext cx="193" cy="363"/>
                <a:chOff x="1639" y="1709"/>
                <a:chExt cx="193" cy="363"/>
              </a:xfrm>
            </p:grpSpPr>
            <p:sp>
              <p:nvSpPr>
                <p:cNvPr id="12371" name="Oval 83"/>
                <p:cNvSpPr>
                  <a:spLocks noChangeArrowheads="1"/>
                </p:cNvSpPr>
                <p:nvPr/>
              </p:nvSpPr>
              <p:spPr bwMode="auto">
                <a:xfrm>
                  <a:off x="1716" y="1709"/>
                  <a:ext cx="48"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2372" name="Freeform 84"/>
                <p:cNvSpPr>
                  <a:spLocks noChangeArrowheads="1"/>
                </p:cNvSpPr>
                <p:nvPr/>
              </p:nvSpPr>
              <p:spPr bwMode="auto">
                <a:xfrm>
                  <a:off x="1639" y="1777"/>
                  <a:ext cx="194" cy="296"/>
                </a:xfrm>
                <a:custGeom>
                  <a:avLst/>
                  <a:gdLst>
                    <a:gd name="T0" fmla="*/ 8 w 856"/>
                    <a:gd name="T1" fmla="*/ 605 h 1305"/>
                    <a:gd name="T2" fmla="*/ 4 w 856"/>
                    <a:gd name="T3" fmla="*/ 618 h 1305"/>
                    <a:gd name="T4" fmla="*/ 0 w 856"/>
                    <a:gd name="T5" fmla="*/ 640 h 1305"/>
                    <a:gd name="T6" fmla="*/ 0 w 856"/>
                    <a:gd name="T7" fmla="*/ 662 h 1305"/>
                    <a:gd name="T8" fmla="*/ 8 w 856"/>
                    <a:gd name="T9" fmla="*/ 684 h 1305"/>
                    <a:gd name="T10" fmla="*/ 17 w 856"/>
                    <a:gd name="T11" fmla="*/ 703 h 1305"/>
                    <a:gd name="T12" fmla="*/ 35 w 856"/>
                    <a:gd name="T13" fmla="*/ 721 h 1305"/>
                    <a:gd name="T14" fmla="*/ 52 w 856"/>
                    <a:gd name="T15" fmla="*/ 730 h 1305"/>
                    <a:gd name="T16" fmla="*/ 70 w 856"/>
                    <a:gd name="T17" fmla="*/ 734 h 1305"/>
                    <a:gd name="T18" fmla="*/ 92 w 856"/>
                    <a:gd name="T19" fmla="*/ 734 h 1305"/>
                    <a:gd name="T20" fmla="*/ 558 w 856"/>
                    <a:gd name="T21" fmla="*/ 1304 h 1305"/>
                    <a:gd name="T22" fmla="*/ 704 w 856"/>
                    <a:gd name="T23" fmla="*/ 627 h 1305"/>
                    <a:gd name="T24" fmla="*/ 704 w 856"/>
                    <a:gd name="T25" fmla="*/ 609 h 1305"/>
                    <a:gd name="T26" fmla="*/ 695 w 856"/>
                    <a:gd name="T27" fmla="*/ 601 h 1305"/>
                    <a:gd name="T28" fmla="*/ 682 w 856"/>
                    <a:gd name="T29" fmla="*/ 587 h 1305"/>
                    <a:gd name="T30" fmla="*/ 673 w 856"/>
                    <a:gd name="T31" fmla="*/ 578 h 1305"/>
                    <a:gd name="T32" fmla="*/ 656 w 856"/>
                    <a:gd name="T33" fmla="*/ 574 h 1305"/>
                    <a:gd name="T34" fmla="*/ 638 w 856"/>
                    <a:gd name="T35" fmla="*/ 570 h 1305"/>
                    <a:gd name="T36" fmla="*/ 620 w 856"/>
                    <a:gd name="T37" fmla="*/ 570 h 1305"/>
                    <a:gd name="T38" fmla="*/ 607 w 856"/>
                    <a:gd name="T39" fmla="*/ 570 h 1305"/>
                    <a:gd name="T40" fmla="*/ 412 w 856"/>
                    <a:gd name="T41" fmla="*/ 331 h 1305"/>
                    <a:gd name="T42" fmla="*/ 793 w 856"/>
                    <a:gd name="T43" fmla="*/ 411 h 1305"/>
                    <a:gd name="T44" fmla="*/ 811 w 856"/>
                    <a:gd name="T45" fmla="*/ 406 h 1305"/>
                    <a:gd name="T46" fmla="*/ 820 w 856"/>
                    <a:gd name="T47" fmla="*/ 402 h 1305"/>
                    <a:gd name="T48" fmla="*/ 837 w 856"/>
                    <a:gd name="T49" fmla="*/ 393 h 1305"/>
                    <a:gd name="T50" fmla="*/ 846 w 856"/>
                    <a:gd name="T51" fmla="*/ 380 h 1305"/>
                    <a:gd name="T52" fmla="*/ 851 w 856"/>
                    <a:gd name="T53" fmla="*/ 367 h 1305"/>
                    <a:gd name="T54" fmla="*/ 855 w 856"/>
                    <a:gd name="T55" fmla="*/ 345 h 1305"/>
                    <a:gd name="T56" fmla="*/ 851 w 856"/>
                    <a:gd name="T57" fmla="*/ 327 h 1305"/>
                    <a:gd name="T58" fmla="*/ 842 w 856"/>
                    <a:gd name="T59" fmla="*/ 309 h 1305"/>
                    <a:gd name="T60" fmla="*/ 833 w 856"/>
                    <a:gd name="T61" fmla="*/ 300 h 1305"/>
                    <a:gd name="T62" fmla="*/ 815 w 856"/>
                    <a:gd name="T63" fmla="*/ 286 h 1305"/>
                    <a:gd name="T64" fmla="*/ 802 w 856"/>
                    <a:gd name="T65" fmla="*/ 282 h 1305"/>
                    <a:gd name="T66" fmla="*/ 541 w 856"/>
                    <a:gd name="T67" fmla="*/ 282 h 1305"/>
                    <a:gd name="T68" fmla="*/ 496 w 856"/>
                    <a:gd name="T69" fmla="*/ 185 h 1305"/>
                    <a:gd name="T70" fmla="*/ 500 w 856"/>
                    <a:gd name="T71" fmla="*/ 163 h 1305"/>
                    <a:gd name="T72" fmla="*/ 505 w 856"/>
                    <a:gd name="T73" fmla="*/ 132 h 1305"/>
                    <a:gd name="T74" fmla="*/ 505 w 856"/>
                    <a:gd name="T75" fmla="*/ 105 h 1305"/>
                    <a:gd name="T76" fmla="*/ 496 w 856"/>
                    <a:gd name="T77" fmla="*/ 83 h 1305"/>
                    <a:gd name="T78" fmla="*/ 487 w 856"/>
                    <a:gd name="T79" fmla="*/ 66 h 1305"/>
                    <a:gd name="T80" fmla="*/ 474 w 856"/>
                    <a:gd name="T81" fmla="*/ 44 h 1305"/>
                    <a:gd name="T82" fmla="*/ 456 w 856"/>
                    <a:gd name="T83" fmla="*/ 30 h 1305"/>
                    <a:gd name="T84" fmla="*/ 434 w 856"/>
                    <a:gd name="T85" fmla="*/ 13 h 1305"/>
                    <a:gd name="T86" fmla="*/ 412 w 856"/>
                    <a:gd name="T87" fmla="*/ 4 h 1305"/>
                    <a:gd name="T88" fmla="*/ 385 w 856"/>
                    <a:gd name="T89" fmla="*/ 0 h 1305"/>
                    <a:gd name="T90" fmla="*/ 359 w 856"/>
                    <a:gd name="T91" fmla="*/ 0 h 1305"/>
                    <a:gd name="T92" fmla="*/ 332 w 856"/>
                    <a:gd name="T93" fmla="*/ 4 h 1305"/>
                    <a:gd name="T94" fmla="*/ 305 w 856"/>
                    <a:gd name="T95" fmla="*/ 13 h 1305"/>
                    <a:gd name="T96" fmla="*/ 278 w 856"/>
                    <a:gd name="T97" fmla="*/ 26 h 1305"/>
                    <a:gd name="T98" fmla="*/ 261 w 856"/>
                    <a:gd name="T99" fmla="*/ 48 h 1305"/>
                    <a:gd name="T100" fmla="*/ 243 w 856"/>
                    <a:gd name="T101" fmla="*/ 75 h 1305"/>
                    <a:gd name="T102" fmla="*/ 234 w 856"/>
                    <a:gd name="T103" fmla="*/ 101 h 1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6" h="1305">
                      <a:moveTo>
                        <a:pt x="234"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2" y="730"/>
                      </a:lnTo>
                      <a:lnTo>
                        <a:pt x="61" y="730"/>
                      </a:lnTo>
                      <a:lnTo>
                        <a:pt x="70" y="734"/>
                      </a:lnTo>
                      <a:lnTo>
                        <a:pt x="79" y="734"/>
                      </a:lnTo>
                      <a:lnTo>
                        <a:pt x="92" y="734"/>
                      </a:lnTo>
                      <a:lnTo>
                        <a:pt x="558" y="734"/>
                      </a:lnTo>
                      <a:lnTo>
                        <a:pt x="558" y="1304"/>
                      </a:lnTo>
                      <a:lnTo>
                        <a:pt x="704" y="1304"/>
                      </a:lnTo>
                      <a:lnTo>
                        <a:pt x="704" y="627"/>
                      </a:lnTo>
                      <a:lnTo>
                        <a:pt x="704" y="618"/>
                      </a:lnTo>
                      <a:lnTo>
                        <a:pt x="704" y="609"/>
                      </a:lnTo>
                      <a:lnTo>
                        <a:pt x="700" y="605"/>
                      </a:lnTo>
                      <a:lnTo>
                        <a:pt x="695" y="601"/>
                      </a:lnTo>
                      <a:lnTo>
                        <a:pt x="691" y="596"/>
                      </a:lnTo>
                      <a:lnTo>
                        <a:pt x="682" y="587"/>
                      </a:lnTo>
                      <a:lnTo>
                        <a:pt x="678" y="583"/>
                      </a:lnTo>
                      <a:lnTo>
                        <a:pt x="673" y="578"/>
                      </a:lnTo>
                      <a:lnTo>
                        <a:pt x="664" y="578"/>
                      </a:lnTo>
                      <a:lnTo>
                        <a:pt x="656" y="574"/>
                      </a:lnTo>
                      <a:lnTo>
                        <a:pt x="647" y="574"/>
                      </a:lnTo>
                      <a:lnTo>
                        <a:pt x="638" y="570"/>
                      </a:lnTo>
                      <a:lnTo>
                        <a:pt x="629" y="570"/>
                      </a:lnTo>
                      <a:lnTo>
                        <a:pt x="620" y="570"/>
                      </a:lnTo>
                      <a:lnTo>
                        <a:pt x="616" y="570"/>
                      </a:lnTo>
                      <a:lnTo>
                        <a:pt x="607" y="570"/>
                      </a:lnTo>
                      <a:lnTo>
                        <a:pt x="337" y="552"/>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nvGrpSpPr>
            <p:cNvPr id="12373" name="Group 85"/>
            <p:cNvGrpSpPr>
              <a:grpSpLocks/>
            </p:cNvGrpSpPr>
            <p:nvPr/>
          </p:nvGrpSpPr>
          <p:grpSpPr bwMode="auto">
            <a:xfrm>
              <a:off x="1356" y="2116"/>
              <a:ext cx="966" cy="447"/>
              <a:chOff x="1356" y="2116"/>
              <a:chExt cx="966" cy="447"/>
            </a:xfrm>
          </p:grpSpPr>
          <p:grpSp>
            <p:nvGrpSpPr>
              <p:cNvPr id="12374" name="Group 86"/>
              <p:cNvGrpSpPr>
                <a:grpSpLocks/>
              </p:cNvGrpSpPr>
              <p:nvPr/>
            </p:nvGrpSpPr>
            <p:grpSpPr bwMode="auto">
              <a:xfrm>
                <a:off x="1356" y="2116"/>
                <a:ext cx="304" cy="447"/>
                <a:chOff x="1356" y="2116"/>
                <a:chExt cx="304" cy="447"/>
              </a:xfrm>
            </p:grpSpPr>
            <p:grpSp>
              <p:nvGrpSpPr>
                <p:cNvPr id="12375" name="Group 87"/>
                <p:cNvGrpSpPr>
                  <a:grpSpLocks/>
                </p:cNvGrpSpPr>
                <p:nvPr/>
              </p:nvGrpSpPr>
              <p:grpSpPr bwMode="auto">
                <a:xfrm>
                  <a:off x="1356" y="2116"/>
                  <a:ext cx="304" cy="447"/>
                  <a:chOff x="1356" y="2116"/>
                  <a:chExt cx="304" cy="447"/>
                </a:xfrm>
              </p:grpSpPr>
              <p:grpSp>
                <p:nvGrpSpPr>
                  <p:cNvPr id="12376" name="Group 88"/>
                  <p:cNvGrpSpPr>
                    <a:grpSpLocks/>
                  </p:cNvGrpSpPr>
                  <p:nvPr/>
                </p:nvGrpSpPr>
                <p:grpSpPr bwMode="auto">
                  <a:xfrm>
                    <a:off x="1356" y="2187"/>
                    <a:ext cx="304" cy="376"/>
                    <a:chOff x="1356" y="2187"/>
                    <a:chExt cx="304" cy="376"/>
                  </a:xfrm>
                </p:grpSpPr>
                <p:sp>
                  <p:nvSpPr>
                    <p:cNvPr id="12377" name="Freeform 89"/>
                    <p:cNvSpPr>
                      <a:spLocks noChangeArrowheads="1"/>
                    </p:cNvSpPr>
                    <p:nvPr/>
                  </p:nvSpPr>
                  <p:spPr bwMode="auto">
                    <a:xfrm>
                      <a:off x="1356" y="2187"/>
                      <a:ext cx="305" cy="377"/>
                    </a:xfrm>
                    <a:custGeom>
                      <a:avLst/>
                      <a:gdLst>
                        <a:gd name="T0" fmla="*/ 0 w 1346"/>
                        <a:gd name="T1" fmla="*/ 1663 h 1664"/>
                        <a:gd name="T2" fmla="*/ 0 w 1346"/>
                        <a:gd name="T3" fmla="*/ 335 h 1664"/>
                        <a:gd name="T4" fmla="*/ 335 w 1346"/>
                        <a:gd name="T5" fmla="*/ 0 h 1664"/>
                        <a:gd name="T6" fmla="*/ 1345 w 1346"/>
                        <a:gd name="T7" fmla="*/ 0 h 1664"/>
                        <a:gd name="T8" fmla="*/ 1345 w 1346"/>
                        <a:gd name="T9" fmla="*/ 1326 h 1664"/>
                        <a:gd name="T10" fmla="*/ 1008 w 1346"/>
                        <a:gd name="T11" fmla="*/ 1663 h 1664"/>
                        <a:gd name="T12" fmla="*/ 0 w 1346"/>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346" h="1664">
                          <a:moveTo>
                            <a:pt x="0" y="1663"/>
                          </a:moveTo>
                          <a:lnTo>
                            <a:pt x="0" y="335"/>
                          </a:lnTo>
                          <a:lnTo>
                            <a:pt x="335" y="0"/>
                          </a:lnTo>
                          <a:lnTo>
                            <a:pt x="1345" y="0"/>
                          </a:lnTo>
                          <a:lnTo>
                            <a:pt x="1345" y="1326"/>
                          </a:lnTo>
                          <a:lnTo>
                            <a:pt x="1008" y="1663"/>
                          </a:lnTo>
                          <a:lnTo>
                            <a:pt x="0" y="1663"/>
                          </a:lnTo>
                        </a:path>
                      </a:pathLst>
                    </a:custGeom>
                    <a:solidFill>
                      <a:srgbClr val="F6BF69"/>
                    </a:solidFill>
                    <a:ln w="12600">
                      <a:solidFill>
                        <a:srgbClr val="000000"/>
                      </a:solidFill>
                      <a:round/>
                      <a:headEnd/>
                      <a:tailEnd/>
                    </a:ln>
                  </p:spPr>
                  <p:txBody>
                    <a:bodyPr wrap="none" anchor="ctr"/>
                    <a:lstStyle/>
                    <a:p>
                      <a:endParaRPr lang="en-IN"/>
                    </a:p>
                  </p:txBody>
                </p:sp>
                <p:sp>
                  <p:nvSpPr>
                    <p:cNvPr id="12378" name="Freeform 90"/>
                    <p:cNvSpPr>
                      <a:spLocks noChangeArrowheads="1"/>
                    </p:cNvSpPr>
                    <p:nvPr/>
                  </p:nvSpPr>
                  <p:spPr bwMode="auto">
                    <a:xfrm>
                      <a:off x="1356" y="2187"/>
                      <a:ext cx="305" cy="76"/>
                    </a:xfrm>
                    <a:custGeom>
                      <a:avLst/>
                      <a:gdLst>
                        <a:gd name="T0" fmla="*/ 0 w 1346"/>
                        <a:gd name="T1" fmla="*/ 335 h 336"/>
                        <a:gd name="T2" fmla="*/ 335 w 1346"/>
                        <a:gd name="T3" fmla="*/ 0 h 336"/>
                        <a:gd name="T4" fmla="*/ 1345 w 1346"/>
                        <a:gd name="T5" fmla="*/ 0 h 336"/>
                        <a:gd name="T6" fmla="*/ 1008 w 1346"/>
                        <a:gd name="T7" fmla="*/ 335 h 336"/>
                        <a:gd name="T8" fmla="*/ 0 w 1346"/>
                        <a:gd name="T9" fmla="*/ 335 h 336"/>
                      </a:gdLst>
                      <a:ahLst/>
                      <a:cxnLst>
                        <a:cxn ang="0">
                          <a:pos x="T0" y="T1"/>
                        </a:cxn>
                        <a:cxn ang="0">
                          <a:pos x="T2" y="T3"/>
                        </a:cxn>
                        <a:cxn ang="0">
                          <a:pos x="T4" y="T5"/>
                        </a:cxn>
                        <a:cxn ang="0">
                          <a:pos x="T6" y="T7"/>
                        </a:cxn>
                        <a:cxn ang="0">
                          <a:pos x="T8" y="T9"/>
                        </a:cxn>
                      </a:cxnLst>
                      <a:rect l="0" t="0" r="r" b="b"/>
                      <a:pathLst>
                        <a:path w="1346" h="336">
                          <a:moveTo>
                            <a:pt x="0" y="335"/>
                          </a:moveTo>
                          <a:lnTo>
                            <a:pt x="335" y="0"/>
                          </a:lnTo>
                          <a:lnTo>
                            <a:pt x="1345" y="0"/>
                          </a:lnTo>
                          <a:lnTo>
                            <a:pt x="1008" y="335"/>
                          </a:lnTo>
                          <a:lnTo>
                            <a:pt x="0" y="335"/>
                          </a:lnTo>
                        </a:path>
                      </a:pathLst>
                    </a:custGeom>
                    <a:solidFill>
                      <a:srgbClr val="FFD072"/>
                    </a:solidFill>
                    <a:ln w="12600">
                      <a:solidFill>
                        <a:srgbClr val="000000"/>
                      </a:solidFill>
                      <a:round/>
                      <a:headEnd/>
                      <a:tailEnd/>
                    </a:ln>
                  </p:spPr>
                  <p:txBody>
                    <a:bodyPr wrap="none" anchor="ctr"/>
                    <a:lstStyle/>
                    <a:p>
                      <a:endParaRPr lang="en-IN"/>
                    </a:p>
                  </p:txBody>
                </p:sp>
                <p:sp>
                  <p:nvSpPr>
                    <p:cNvPr id="12379" name="Freeform 91"/>
                    <p:cNvSpPr>
                      <a:spLocks noChangeArrowheads="1"/>
                    </p:cNvSpPr>
                    <p:nvPr/>
                  </p:nvSpPr>
                  <p:spPr bwMode="auto">
                    <a:xfrm>
                      <a:off x="1585" y="2187"/>
                      <a:ext cx="77" cy="377"/>
                    </a:xfrm>
                    <a:custGeom>
                      <a:avLst/>
                      <a:gdLst>
                        <a:gd name="T0" fmla="*/ 0 w 338"/>
                        <a:gd name="T1" fmla="*/ 1663 h 1664"/>
                        <a:gd name="T2" fmla="*/ 0 w 338"/>
                        <a:gd name="T3" fmla="*/ 335 h 1664"/>
                        <a:gd name="T4" fmla="*/ 337 w 338"/>
                        <a:gd name="T5" fmla="*/ 0 h 1664"/>
                        <a:gd name="T6" fmla="*/ 337 w 338"/>
                        <a:gd name="T7" fmla="*/ 1326 h 1664"/>
                        <a:gd name="T8" fmla="*/ 0 w 338"/>
                        <a:gd name="T9" fmla="*/ 1663 h 1664"/>
                      </a:gdLst>
                      <a:ahLst/>
                      <a:cxnLst>
                        <a:cxn ang="0">
                          <a:pos x="T0" y="T1"/>
                        </a:cxn>
                        <a:cxn ang="0">
                          <a:pos x="T2" y="T3"/>
                        </a:cxn>
                        <a:cxn ang="0">
                          <a:pos x="T4" y="T5"/>
                        </a:cxn>
                        <a:cxn ang="0">
                          <a:pos x="T6" y="T7"/>
                        </a:cxn>
                        <a:cxn ang="0">
                          <a:pos x="T8" y="T9"/>
                        </a:cxn>
                      </a:cxnLst>
                      <a:rect l="0" t="0" r="r" b="b"/>
                      <a:pathLst>
                        <a:path w="338" h="1664">
                          <a:moveTo>
                            <a:pt x="0" y="1663"/>
                          </a:moveTo>
                          <a:lnTo>
                            <a:pt x="0" y="335"/>
                          </a:lnTo>
                          <a:lnTo>
                            <a:pt x="337" y="0"/>
                          </a:lnTo>
                          <a:lnTo>
                            <a:pt x="337" y="1326"/>
                          </a:lnTo>
                          <a:lnTo>
                            <a:pt x="0" y="1663"/>
                          </a:lnTo>
                        </a:path>
                      </a:pathLst>
                    </a:custGeom>
                    <a:solidFill>
                      <a:srgbClr val="D3A45A"/>
                    </a:solidFill>
                    <a:ln w="12600">
                      <a:solidFill>
                        <a:srgbClr val="000000"/>
                      </a:solidFill>
                      <a:round/>
                      <a:headEnd/>
                      <a:tailEnd/>
                    </a:ln>
                  </p:spPr>
                  <p:txBody>
                    <a:bodyPr wrap="none" anchor="ctr"/>
                    <a:lstStyle/>
                    <a:p>
                      <a:endParaRPr lang="en-IN"/>
                    </a:p>
                  </p:txBody>
                </p:sp>
              </p:grpSp>
              <p:grpSp>
                <p:nvGrpSpPr>
                  <p:cNvPr id="12380" name="Group 92"/>
                  <p:cNvGrpSpPr>
                    <a:grpSpLocks/>
                  </p:cNvGrpSpPr>
                  <p:nvPr/>
                </p:nvGrpSpPr>
                <p:grpSpPr bwMode="auto">
                  <a:xfrm>
                    <a:off x="1426" y="2116"/>
                    <a:ext cx="234" cy="77"/>
                    <a:chOff x="1426" y="2116"/>
                    <a:chExt cx="234" cy="77"/>
                  </a:xfrm>
                </p:grpSpPr>
                <p:sp>
                  <p:nvSpPr>
                    <p:cNvPr id="12381" name="Freeform 93"/>
                    <p:cNvSpPr>
                      <a:spLocks noChangeArrowheads="1"/>
                    </p:cNvSpPr>
                    <p:nvPr/>
                  </p:nvSpPr>
                  <p:spPr bwMode="auto">
                    <a:xfrm>
                      <a:off x="1426" y="2116"/>
                      <a:ext cx="235" cy="78"/>
                    </a:xfrm>
                    <a:custGeom>
                      <a:avLst/>
                      <a:gdLst>
                        <a:gd name="T0" fmla="*/ 0 w 1038"/>
                        <a:gd name="T1" fmla="*/ 344 h 345"/>
                        <a:gd name="T2" fmla="*/ 0 w 1038"/>
                        <a:gd name="T3" fmla="*/ 85 h 345"/>
                        <a:gd name="T4" fmla="*/ 85 w 1038"/>
                        <a:gd name="T5" fmla="*/ 0 h 345"/>
                        <a:gd name="T6" fmla="*/ 1037 w 1038"/>
                        <a:gd name="T7" fmla="*/ 0 h 345"/>
                        <a:gd name="T8" fmla="*/ 1037 w 1038"/>
                        <a:gd name="T9" fmla="*/ 257 h 345"/>
                        <a:gd name="T10" fmla="*/ 950 w 1038"/>
                        <a:gd name="T11" fmla="*/ 344 h 345"/>
                        <a:gd name="T12" fmla="*/ 0 w 1038"/>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8" h="345">
                          <a:moveTo>
                            <a:pt x="0" y="344"/>
                          </a:moveTo>
                          <a:lnTo>
                            <a:pt x="0" y="85"/>
                          </a:lnTo>
                          <a:lnTo>
                            <a:pt x="85" y="0"/>
                          </a:lnTo>
                          <a:lnTo>
                            <a:pt x="1037" y="0"/>
                          </a:lnTo>
                          <a:lnTo>
                            <a:pt x="1037" y="257"/>
                          </a:lnTo>
                          <a:lnTo>
                            <a:pt x="950"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2382" name="Freeform 94"/>
                    <p:cNvSpPr>
                      <a:spLocks noChangeArrowheads="1"/>
                    </p:cNvSpPr>
                    <p:nvPr/>
                  </p:nvSpPr>
                  <p:spPr bwMode="auto">
                    <a:xfrm>
                      <a:off x="1426" y="2116"/>
                      <a:ext cx="235" cy="20"/>
                    </a:xfrm>
                    <a:custGeom>
                      <a:avLst/>
                      <a:gdLst>
                        <a:gd name="T0" fmla="*/ 0 w 1038"/>
                        <a:gd name="T1" fmla="*/ 85 h 86"/>
                        <a:gd name="T2" fmla="*/ 85 w 1038"/>
                        <a:gd name="T3" fmla="*/ 0 h 86"/>
                        <a:gd name="T4" fmla="*/ 1037 w 1038"/>
                        <a:gd name="T5" fmla="*/ 0 h 86"/>
                        <a:gd name="T6" fmla="*/ 950 w 1038"/>
                        <a:gd name="T7" fmla="*/ 85 h 86"/>
                        <a:gd name="T8" fmla="*/ 0 w 1038"/>
                        <a:gd name="T9" fmla="*/ 85 h 86"/>
                      </a:gdLst>
                      <a:ahLst/>
                      <a:cxnLst>
                        <a:cxn ang="0">
                          <a:pos x="T0" y="T1"/>
                        </a:cxn>
                        <a:cxn ang="0">
                          <a:pos x="T2" y="T3"/>
                        </a:cxn>
                        <a:cxn ang="0">
                          <a:pos x="T4" y="T5"/>
                        </a:cxn>
                        <a:cxn ang="0">
                          <a:pos x="T6" y="T7"/>
                        </a:cxn>
                        <a:cxn ang="0">
                          <a:pos x="T8" y="T9"/>
                        </a:cxn>
                      </a:cxnLst>
                      <a:rect l="0" t="0" r="r" b="b"/>
                      <a:pathLst>
                        <a:path w="1038" h="86">
                          <a:moveTo>
                            <a:pt x="0" y="85"/>
                          </a:moveTo>
                          <a:lnTo>
                            <a:pt x="85" y="0"/>
                          </a:lnTo>
                          <a:lnTo>
                            <a:pt x="1037" y="0"/>
                          </a:lnTo>
                          <a:lnTo>
                            <a:pt x="950"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2383" name="Freeform 95"/>
                    <p:cNvSpPr>
                      <a:spLocks noChangeArrowheads="1"/>
                    </p:cNvSpPr>
                    <p:nvPr/>
                  </p:nvSpPr>
                  <p:spPr bwMode="auto">
                    <a:xfrm>
                      <a:off x="1641" y="2116"/>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2384" name="Freeform 96"/>
                <p:cNvSpPr>
                  <a:spLocks noChangeArrowheads="1"/>
                </p:cNvSpPr>
                <p:nvPr/>
              </p:nvSpPr>
              <p:spPr bwMode="auto">
                <a:xfrm>
                  <a:off x="1418" y="2220"/>
                  <a:ext cx="158" cy="27"/>
                </a:xfrm>
                <a:custGeom>
                  <a:avLst/>
                  <a:gdLst>
                    <a:gd name="T0" fmla="*/ 173 w 698"/>
                    <a:gd name="T1" fmla="*/ 0 h 120"/>
                    <a:gd name="T2" fmla="*/ 697 w 698"/>
                    <a:gd name="T3" fmla="*/ 0 h 120"/>
                    <a:gd name="T4" fmla="*/ 522 w 698"/>
                    <a:gd name="T5" fmla="*/ 119 h 120"/>
                    <a:gd name="T6" fmla="*/ 0 w 698"/>
                    <a:gd name="T7" fmla="*/ 119 h 120"/>
                    <a:gd name="T8" fmla="*/ 173 w 698"/>
                    <a:gd name="T9" fmla="*/ 0 h 120"/>
                  </a:gdLst>
                  <a:ahLst/>
                  <a:cxnLst>
                    <a:cxn ang="0">
                      <a:pos x="T0" y="T1"/>
                    </a:cxn>
                    <a:cxn ang="0">
                      <a:pos x="T2" y="T3"/>
                    </a:cxn>
                    <a:cxn ang="0">
                      <a:pos x="T4" y="T5"/>
                    </a:cxn>
                    <a:cxn ang="0">
                      <a:pos x="T6" y="T7"/>
                    </a:cxn>
                    <a:cxn ang="0">
                      <a:pos x="T8" y="T9"/>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2385" name="Group 97"/>
              <p:cNvGrpSpPr>
                <a:grpSpLocks/>
              </p:cNvGrpSpPr>
              <p:nvPr/>
            </p:nvGrpSpPr>
            <p:grpSpPr bwMode="auto">
              <a:xfrm>
                <a:off x="1657" y="2116"/>
                <a:ext cx="377" cy="447"/>
                <a:chOff x="1657" y="2116"/>
                <a:chExt cx="377" cy="447"/>
              </a:xfrm>
            </p:grpSpPr>
            <p:grpSp>
              <p:nvGrpSpPr>
                <p:cNvPr id="12386" name="Group 98"/>
                <p:cNvGrpSpPr>
                  <a:grpSpLocks/>
                </p:cNvGrpSpPr>
                <p:nvPr/>
              </p:nvGrpSpPr>
              <p:grpSpPr bwMode="auto">
                <a:xfrm>
                  <a:off x="1657" y="2116"/>
                  <a:ext cx="377" cy="447"/>
                  <a:chOff x="1657" y="2116"/>
                  <a:chExt cx="377" cy="447"/>
                </a:xfrm>
              </p:grpSpPr>
              <p:grpSp>
                <p:nvGrpSpPr>
                  <p:cNvPr id="12387" name="Group 99"/>
                  <p:cNvGrpSpPr>
                    <a:grpSpLocks/>
                  </p:cNvGrpSpPr>
                  <p:nvPr/>
                </p:nvGrpSpPr>
                <p:grpSpPr bwMode="auto">
                  <a:xfrm>
                    <a:off x="1657" y="2187"/>
                    <a:ext cx="377" cy="376"/>
                    <a:chOff x="1657" y="2187"/>
                    <a:chExt cx="377" cy="376"/>
                  </a:xfrm>
                </p:grpSpPr>
                <p:sp>
                  <p:nvSpPr>
                    <p:cNvPr id="12388" name="Freeform 100"/>
                    <p:cNvSpPr>
                      <a:spLocks noChangeArrowheads="1"/>
                    </p:cNvSpPr>
                    <p:nvPr/>
                  </p:nvSpPr>
                  <p:spPr bwMode="auto">
                    <a:xfrm>
                      <a:off x="1657" y="2187"/>
                      <a:ext cx="378" cy="377"/>
                    </a:xfrm>
                    <a:custGeom>
                      <a:avLst/>
                      <a:gdLst>
                        <a:gd name="T0" fmla="*/ 0 w 1668"/>
                        <a:gd name="T1" fmla="*/ 1663 h 1664"/>
                        <a:gd name="T2" fmla="*/ 0 w 1668"/>
                        <a:gd name="T3" fmla="*/ 414 h 1664"/>
                        <a:gd name="T4" fmla="*/ 414 w 1668"/>
                        <a:gd name="T5" fmla="*/ 0 h 1664"/>
                        <a:gd name="T6" fmla="*/ 1667 w 1668"/>
                        <a:gd name="T7" fmla="*/ 0 h 1664"/>
                        <a:gd name="T8" fmla="*/ 1667 w 1668"/>
                        <a:gd name="T9" fmla="*/ 1247 h 1664"/>
                        <a:gd name="T10" fmla="*/ 1251 w 1668"/>
                        <a:gd name="T11" fmla="*/ 1663 h 1664"/>
                        <a:gd name="T12" fmla="*/ 0 w 1668"/>
                        <a:gd name="T13" fmla="*/ 1663 h 1664"/>
                      </a:gdLst>
                      <a:ahLst/>
                      <a:cxnLst>
                        <a:cxn ang="0">
                          <a:pos x="T0" y="T1"/>
                        </a:cxn>
                        <a:cxn ang="0">
                          <a:pos x="T2" y="T3"/>
                        </a:cxn>
                        <a:cxn ang="0">
                          <a:pos x="T4" y="T5"/>
                        </a:cxn>
                        <a:cxn ang="0">
                          <a:pos x="T6" y="T7"/>
                        </a:cxn>
                        <a:cxn ang="0">
                          <a:pos x="T8" y="T9"/>
                        </a:cxn>
                        <a:cxn ang="0">
                          <a:pos x="T10" y="T11"/>
                        </a:cxn>
                        <a:cxn ang="0">
                          <a:pos x="T12" y="T13"/>
                        </a:cxn>
                      </a:cxnLst>
                      <a:rect l="0" t="0" r="r" b="b"/>
                      <a:pathLst>
                        <a:path w="1668" h="1664">
                          <a:moveTo>
                            <a:pt x="0" y="1663"/>
                          </a:moveTo>
                          <a:lnTo>
                            <a:pt x="0" y="414"/>
                          </a:lnTo>
                          <a:lnTo>
                            <a:pt x="414" y="0"/>
                          </a:lnTo>
                          <a:lnTo>
                            <a:pt x="1667" y="0"/>
                          </a:lnTo>
                          <a:lnTo>
                            <a:pt x="1667" y="1247"/>
                          </a:lnTo>
                          <a:lnTo>
                            <a:pt x="1251" y="1663"/>
                          </a:lnTo>
                          <a:lnTo>
                            <a:pt x="0" y="1663"/>
                          </a:lnTo>
                        </a:path>
                      </a:pathLst>
                    </a:custGeom>
                    <a:solidFill>
                      <a:srgbClr val="A2C1FE"/>
                    </a:solidFill>
                    <a:ln w="12600">
                      <a:solidFill>
                        <a:srgbClr val="000000"/>
                      </a:solidFill>
                      <a:round/>
                      <a:headEnd/>
                      <a:tailEnd/>
                    </a:ln>
                  </p:spPr>
                  <p:txBody>
                    <a:bodyPr wrap="none" anchor="ctr"/>
                    <a:lstStyle/>
                    <a:p>
                      <a:endParaRPr lang="en-IN"/>
                    </a:p>
                  </p:txBody>
                </p:sp>
                <p:sp>
                  <p:nvSpPr>
                    <p:cNvPr id="12389" name="Freeform 101"/>
                    <p:cNvSpPr>
                      <a:spLocks noChangeArrowheads="1"/>
                    </p:cNvSpPr>
                    <p:nvPr/>
                  </p:nvSpPr>
                  <p:spPr bwMode="auto">
                    <a:xfrm>
                      <a:off x="1657" y="2187"/>
                      <a:ext cx="378" cy="94"/>
                    </a:xfrm>
                    <a:custGeom>
                      <a:avLst/>
                      <a:gdLst>
                        <a:gd name="T0" fmla="*/ 0 w 1668"/>
                        <a:gd name="T1" fmla="*/ 414 h 415"/>
                        <a:gd name="T2" fmla="*/ 414 w 1668"/>
                        <a:gd name="T3" fmla="*/ 0 h 415"/>
                        <a:gd name="T4" fmla="*/ 1667 w 1668"/>
                        <a:gd name="T5" fmla="*/ 0 h 415"/>
                        <a:gd name="T6" fmla="*/ 1251 w 1668"/>
                        <a:gd name="T7" fmla="*/ 414 h 415"/>
                        <a:gd name="T8" fmla="*/ 0 w 1668"/>
                        <a:gd name="T9" fmla="*/ 414 h 415"/>
                      </a:gdLst>
                      <a:ahLst/>
                      <a:cxnLst>
                        <a:cxn ang="0">
                          <a:pos x="T0" y="T1"/>
                        </a:cxn>
                        <a:cxn ang="0">
                          <a:pos x="T2" y="T3"/>
                        </a:cxn>
                        <a:cxn ang="0">
                          <a:pos x="T4" y="T5"/>
                        </a:cxn>
                        <a:cxn ang="0">
                          <a:pos x="T6" y="T7"/>
                        </a:cxn>
                        <a:cxn ang="0">
                          <a:pos x="T8" y="T9"/>
                        </a:cxn>
                      </a:cxnLst>
                      <a:rect l="0" t="0" r="r" b="b"/>
                      <a:pathLst>
                        <a:path w="1668" h="415">
                          <a:moveTo>
                            <a:pt x="0" y="414"/>
                          </a:moveTo>
                          <a:lnTo>
                            <a:pt x="414" y="0"/>
                          </a:lnTo>
                          <a:lnTo>
                            <a:pt x="1667" y="0"/>
                          </a:lnTo>
                          <a:lnTo>
                            <a:pt x="1251" y="414"/>
                          </a:lnTo>
                          <a:lnTo>
                            <a:pt x="0" y="414"/>
                          </a:lnTo>
                        </a:path>
                      </a:pathLst>
                    </a:custGeom>
                    <a:solidFill>
                      <a:srgbClr val="B1D3FF"/>
                    </a:solidFill>
                    <a:ln w="12600">
                      <a:solidFill>
                        <a:srgbClr val="000000"/>
                      </a:solidFill>
                      <a:round/>
                      <a:headEnd/>
                      <a:tailEnd/>
                    </a:ln>
                  </p:spPr>
                  <p:txBody>
                    <a:bodyPr wrap="none" anchor="ctr"/>
                    <a:lstStyle/>
                    <a:p>
                      <a:endParaRPr lang="en-IN"/>
                    </a:p>
                  </p:txBody>
                </p:sp>
                <p:sp>
                  <p:nvSpPr>
                    <p:cNvPr id="12390" name="Freeform 102"/>
                    <p:cNvSpPr>
                      <a:spLocks noChangeArrowheads="1"/>
                    </p:cNvSpPr>
                    <p:nvPr/>
                  </p:nvSpPr>
                  <p:spPr bwMode="auto">
                    <a:xfrm>
                      <a:off x="1941" y="2187"/>
                      <a:ext cx="95" cy="377"/>
                    </a:xfrm>
                    <a:custGeom>
                      <a:avLst/>
                      <a:gdLst>
                        <a:gd name="T0" fmla="*/ 0 w 417"/>
                        <a:gd name="T1" fmla="*/ 1663 h 1664"/>
                        <a:gd name="T2" fmla="*/ 0 w 417"/>
                        <a:gd name="T3" fmla="*/ 414 h 1664"/>
                        <a:gd name="T4" fmla="*/ 416 w 417"/>
                        <a:gd name="T5" fmla="*/ 0 h 1664"/>
                        <a:gd name="T6" fmla="*/ 416 w 417"/>
                        <a:gd name="T7" fmla="*/ 1247 h 1664"/>
                        <a:gd name="T8" fmla="*/ 0 w 417"/>
                        <a:gd name="T9" fmla="*/ 1663 h 1664"/>
                      </a:gdLst>
                      <a:ahLst/>
                      <a:cxnLst>
                        <a:cxn ang="0">
                          <a:pos x="T0" y="T1"/>
                        </a:cxn>
                        <a:cxn ang="0">
                          <a:pos x="T2" y="T3"/>
                        </a:cxn>
                        <a:cxn ang="0">
                          <a:pos x="T4" y="T5"/>
                        </a:cxn>
                        <a:cxn ang="0">
                          <a:pos x="T6" y="T7"/>
                        </a:cxn>
                        <a:cxn ang="0">
                          <a:pos x="T8" y="T9"/>
                        </a:cxn>
                      </a:cxnLst>
                      <a:rect l="0" t="0" r="r" b="b"/>
                      <a:pathLst>
                        <a:path w="417" h="1664">
                          <a:moveTo>
                            <a:pt x="0" y="1663"/>
                          </a:moveTo>
                          <a:lnTo>
                            <a:pt x="0" y="414"/>
                          </a:lnTo>
                          <a:lnTo>
                            <a:pt x="416" y="0"/>
                          </a:lnTo>
                          <a:lnTo>
                            <a:pt x="416" y="1247"/>
                          </a:lnTo>
                          <a:lnTo>
                            <a:pt x="0" y="1663"/>
                          </a:lnTo>
                        </a:path>
                      </a:pathLst>
                    </a:custGeom>
                    <a:solidFill>
                      <a:srgbClr val="8BA5DA"/>
                    </a:solidFill>
                    <a:ln w="12600">
                      <a:solidFill>
                        <a:srgbClr val="000000"/>
                      </a:solidFill>
                      <a:round/>
                      <a:headEnd/>
                      <a:tailEnd/>
                    </a:ln>
                  </p:spPr>
                  <p:txBody>
                    <a:bodyPr wrap="none" anchor="ctr"/>
                    <a:lstStyle/>
                    <a:p>
                      <a:endParaRPr lang="en-IN"/>
                    </a:p>
                  </p:txBody>
                </p:sp>
              </p:grpSp>
              <p:grpSp>
                <p:nvGrpSpPr>
                  <p:cNvPr id="12391" name="Group 103"/>
                  <p:cNvGrpSpPr>
                    <a:grpSpLocks/>
                  </p:cNvGrpSpPr>
                  <p:nvPr/>
                </p:nvGrpSpPr>
                <p:grpSpPr bwMode="auto">
                  <a:xfrm>
                    <a:off x="1743" y="2116"/>
                    <a:ext cx="291" cy="77"/>
                    <a:chOff x="1743" y="2116"/>
                    <a:chExt cx="291" cy="77"/>
                  </a:xfrm>
                </p:grpSpPr>
                <p:sp>
                  <p:nvSpPr>
                    <p:cNvPr id="12392" name="Freeform 104"/>
                    <p:cNvSpPr>
                      <a:spLocks noChangeArrowheads="1"/>
                    </p:cNvSpPr>
                    <p:nvPr/>
                  </p:nvSpPr>
                  <p:spPr bwMode="auto">
                    <a:xfrm>
                      <a:off x="1743" y="2116"/>
                      <a:ext cx="292" cy="78"/>
                    </a:xfrm>
                    <a:custGeom>
                      <a:avLst/>
                      <a:gdLst>
                        <a:gd name="T0" fmla="*/ 0 w 1289"/>
                        <a:gd name="T1" fmla="*/ 344 h 345"/>
                        <a:gd name="T2" fmla="*/ 0 w 1289"/>
                        <a:gd name="T3" fmla="*/ 85 h 345"/>
                        <a:gd name="T4" fmla="*/ 85 w 1289"/>
                        <a:gd name="T5" fmla="*/ 0 h 345"/>
                        <a:gd name="T6" fmla="*/ 1288 w 1289"/>
                        <a:gd name="T7" fmla="*/ 0 h 345"/>
                        <a:gd name="T8" fmla="*/ 1288 w 1289"/>
                        <a:gd name="T9" fmla="*/ 257 h 345"/>
                        <a:gd name="T10" fmla="*/ 1201 w 1289"/>
                        <a:gd name="T11" fmla="*/ 344 h 345"/>
                        <a:gd name="T12" fmla="*/ 0 w 1289"/>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9" h="345">
                          <a:moveTo>
                            <a:pt x="0" y="344"/>
                          </a:moveTo>
                          <a:lnTo>
                            <a:pt x="0" y="85"/>
                          </a:lnTo>
                          <a:lnTo>
                            <a:pt x="85" y="0"/>
                          </a:lnTo>
                          <a:lnTo>
                            <a:pt x="1288" y="0"/>
                          </a:lnTo>
                          <a:lnTo>
                            <a:pt x="1288" y="257"/>
                          </a:lnTo>
                          <a:lnTo>
                            <a:pt x="1201"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2393" name="Freeform 105"/>
                    <p:cNvSpPr>
                      <a:spLocks noChangeArrowheads="1"/>
                    </p:cNvSpPr>
                    <p:nvPr/>
                  </p:nvSpPr>
                  <p:spPr bwMode="auto">
                    <a:xfrm>
                      <a:off x="1743" y="2116"/>
                      <a:ext cx="292" cy="20"/>
                    </a:xfrm>
                    <a:custGeom>
                      <a:avLst/>
                      <a:gdLst>
                        <a:gd name="T0" fmla="*/ 0 w 1289"/>
                        <a:gd name="T1" fmla="*/ 85 h 86"/>
                        <a:gd name="T2" fmla="*/ 85 w 1289"/>
                        <a:gd name="T3" fmla="*/ 0 h 86"/>
                        <a:gd name="T4" fmla="*/ 1288 w 1289"/>
                        <a:gd name="T5" fmla="*/ 0 h 86"/>
                        <a:gd name="T6" fmla="*/ 1201 w 1289"/>
                        <a:gd name="T7" fmla="*/ 85 h 86"/>
                        <a:gd name="T8" fmla="*/ 0 w 1289"/>
                        <a:gd name="T9" fmla="*/ 85 h 86"/>
                      </a:gdLst>
                      <a:ahLst/>
                      <a:cxnLst>
                        <a:cxn ang="0">
                          <a:pos x="T0" y="T1"/>
                        </a:cxn>
                        <a:cxn ang="0">
                          <a:pos x="T2" y="T3"/>
                        </a:cxn>
                        <a:cxn ang="0">
                          <a:pos x="T4" y="T5"/>
                        </a:cxn>
                        <a:cxn ang="0">
                          <a:pos x="T6" y="T7"/>
                        </a:cxn>
                        <a:cxn ang="0">
                          <a:pos x="T8" y="T9"/>
                        </a:cxn>
                      </a:cxnLst>
                      <a:rect l="0" t="0" r="r" b="b"/>
                      <a:pathLst>
                        <a:path w="1289" h="86">
                          <a:moveTo>
                            <a:pt x="0" y="85"/>
                          </a:moveTo>
                          <a:lnTo>
                            <a:pt x="85" y="0"/>
                          </a:lnTo>
                          <a:lnTo>
                            <a:pt x="1288" y="0"/>
                          </a:lnTo>
                          <a:lnTo>
                            <a:pt x="1201"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2394" name="Freeform 106"/>
                    <p:cNvSpPr>
                      <a:spLocks noChangeArrowheads="1"/>
                    </p:cNvSpPr>
                    <p:nvPr/>
                  </p:nvSpPr>
                  <p:spPr bwMode="auto">
                    <a:xfrm>
                      <a:off x="2015" y="2116"/>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2395" name="Oval 107"/>
                <p:cNvSpPr>
                  <a:spLocks noChangeArrowheads="1"/>
                </p:cNvSpPr>
                <p:nvPr/>
              </p:nvSpPr>
              <p:spPr bwMode="auto">
                <a:xfrm>
                  <a:off x="1772" y="2152"/>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2396" name="Freeform 108"/>
                <p:cNvSpPr>
                  <a:spLocks noChangeArrowheads="1"/>
                </p:cNvSpPr>
                <p:nvPr/>
              </p:nvSpPr>
              <p:spPr bwMode="auto">
                <a:xfrm>
                  <a:off x="1704" y="2362"/>
                  <a:ext cx="198" cy="84"/>
                </a:xfrm>
                <a:custGeom>
                  <a:avLst/>
                  <a:gdLst>
                    <a:gd name="T0" fmla="*/ 107 w 874"/>
                    <a:gd name="T1" fmla="*/ 0 h 371"/>
                    <a:gd name="T2" fmla="*/ 764 w 874"/>
                    <a:gd name="T3" fmla="*/ 0 h 371"/>
                    <a:gd name="T4" fmla="*/ 873 w 874"/>
                    <a:gd name="T5" fmla="*/ 108 h 371"/>
                    <a:gd name="T6" fmla="*/ 873 w 874"/>
                    <a:gd name="T7" fmla="*/ 262 h 371"/>
                    <a:gd name="T8" fmla="*/ 764 w 874"/>
                    <a:gd name="T9" fmla="*/ 370 h 371"/>
                    <a:gd name="T10" fmla="*/ 107 w 874"/>
                    <a:gd name="T11" fmla="*/ 370 h 371"/>
                    <a:gd name="T12" fmla="*/ 0 w 874"/>
                    <a:gd name="T13" fmla="*/ 262 h 371"/>
                    <a:gd name="T14" fmla="*/ 0 w 874"/>
                    <a:gd name="T15" fmla="*/ 108 h 371"/>
                    <a:gd name="T16" fmla="*/ 107 w 874"/>
                    <a:gd name="T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2397" name="Freeform 109"/>
              <p:cNvSpPr>
                <a:spLocks noChangeArrowheads="1"/>
              </p:cNvSpPr>
              <p:nvPr/>
            </p:nvSpPr>
            <p:spPr bwMode="auto">
              <a:xfrm>
                <a:off x="2221" y="2345"/>
                <a:ext cx="85" cy="191"/>
              </a:xfrm>
              <a:custGeom>
                <a:avLst/>
                <a:gdLst>
                  <a:gd name="T0" fmla="*/ 273 w 376"/>
                  <a:gd name="T1" fmla="*/ 0 h 843"/>
                  <a:gd name="T2" fmla="*/ 375 w 376"/>
                  <a:gd name="T3" fmla="*/ 0 h 843"/>
                  <a:gd name="T4" fmla="*/ 101 w 376"/>
                  <a:gd name="T5" fmla="*/ 842 h 843"/>
                  <a:gd name="T6" fmla="*/ 0 w 376"/>
                  <a:gd name="T7" fmla="*/ 842 h 843"/>
                  <a:gd name="T8" fmla="*/ 273 w 376"/>
                  <a:gd name="T9" fmla="*/ 0 h 843"/>
                </a:gdLst>
                <a:ahLst/>
                <a:cxnLst>
                  <a:cxn ang="0">
                    <a:pos x="T0" y="T1"/>
                  </a:cxn>
                  <a:cxn ang="0">
                    <a:pos x="T2" y="T3"/>
                  </a:cxn>
                  <a:cxn ang="0">
                    <a:pos x="T4" y="T5"/>
                  </a:cxn>
                  <a:cxn ang="0">
                    <a:pos x="T6" y="T7"/>
                  </a:cxn>
                  <a:cxn ang="0">
                    <a:pos x="T8" y="T9"/>
                  </a:cxn>
                </a:cxnLst>
                <a:rect l="0" t="0" r="r" b="b"/>
                <a:pathLst>
                  <a:path w="376" h="843">
                    <a:moveTo>
                      <a:pt x="273" y="0"/>
                    </a:moveTo>
                    <a:lnTo>
                      <a:pt x="375" y="0"/>
                    </a:lnTo>
                    <a:lnTo>
                      <a:pt x="101" y="842"/>
                    </a:lnTo>
                    <a:lnTo>
                      <a:pt x="0" y="842"/>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398" name="AutoShape 110"/>
              <p:cNvSpPr>
                <a:spLocks noChangeArrowheads="1"/>
              </p:cNvSpPr>
              <p:nvPr/>
            </p:nvSpPr>
            <p:spPr bwMode="auto">
              <a:xfrm>
                <a:off x="2217" y="2345"/>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399" name="AutoShape 111"/>
              <p:cNvSpPr>
                <a:spLocks noChangeArrowheads="1"/>
              </p:cNvSpPr>
              <p:nvPr/>
            </p:nvSpPr>
            <p:spPr bwMode="auto">
              <a:xfrm>
                <a:off x="2224" y="2426"/>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400" name="AutoShape 112"/>
              <p:cNvSpPr>
                <a:spLocks noChangeArrowheads="1"/>
              </p:cNvSpPr>
              <p:nvPr/>
            </p:nvSpPr>
            <p:spPr bwMode="auto">
              <a:xfrm>
                <a:off x="2041" y="2426"/>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2401" name="Group 113"/>
              <p:cNvGrpSpPr>
                <a:grpSpLocks/>
              </p:cNvGrpSpPr>
              <p:nvPr/>
            </p:nvGrpSpPr>
            <p:grpSpPr bwMode="auto">
              <a:xfrm>
                <a:off x="2039" y="2173"/>
                <a:ext cx="193" cy="363"/>
                <a:chOff x="2039" y="2173"/>
                <a:chExt cx="193" cy="363"/>
              </a:xfrm>
            </p:grpSpPr>
            <p:sp>
              <p:nvSpPr>
                <p:cNvPr id="12402" name="Oval 114"/>
                <p:cNvSpPr>
                  <a:spLocks noChangeArrowheads="1"/>
                </p:cNvSpPr>
                <p:nvPr/>
              </p:nvSpPr>
              <p:spPr bwMode="auto">
                <a:xfrm>
                  <a:off x="2116" y="2173"/>
                  <a:ext cx="48"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2403" name="Freeform 115"/>
                <p:cNvSpPr>
                  <a:spLocks noChangeArrowheads="1"/>
                </p:cNvSpPr>
                <p:nvPr/>
              </p:nvSpPr>
              <p:spPr bwMode="auto">
                <a:xfrm>
                  <a:off x="2039" y="2241"/>
                  <a:ext cx="194" cy="296"/>
                </a:xfrm>
                <a:custGeom>
                  <a:avLst/>
                  <a:gdLst>
                    <a:gd name="T0" fmla="*/ 8 w 857"/>
                    <a:gd name="T1" fmla="*/ 605 h 1305"/>
                    <a:gd name="T2" fmla="*/ 4 w 857"/>
                    <a:gd name="T3" fmla="*/ 618 h 1305"/>
                    <a:gd name="T4" fmla="*/ 0 w 857"/>
                    <a:gd name="T5" fmla="*/ 640 h 1305"/>
                    <a:gd name="T6" fmla="*/ 0 w 857"/>
                    <a:gd name="T7" fmla="*/ 662 h 1305"/>
                    <a:gd name="T8" fmla="*/ 8 w 857"/>
                    <a:gd name="T9" fmla="*/ 684 h 1305"/>
                    <a:gd name="T10" fmla="*/ 17 w 857"/>
                    <a:gd name="T11" fmla="*/ 703 h 1305"/>
                    <a:gd name="T12" fmla="*/ 35 w 857"/>
                    <a:gd name="T13" fmla="*/ 721 h 1305"/>
                    <a:gd name="T14" fmla="*/ 53 w 857"/>
                    <a:gd name="T15" fmla="*/ 730 h 1305"/>
                    <a:gd name="T16" fmla="*/ 70 w 857"/>
                    <a:gd name="T17" fmla="*/ 734 h 1305"/>
                    <a:gd name="T18" fmla="*/ 92 w 857"/>
                    <a:gd name="T19" fmla="*/ 734 h 1305"/>
                    <a:gd name="T20" fmla="*/ 559 w 857"/>
                    <a:gd name="T21" fmla="*/ 1304 h 1305"/>
                    <a:gd name="T22" fmla="*/ 705 w 857"/>
                    <a:gd name="T23" fmla="*/ 627 h 1305"/>
                    <a:gd name="T24" fmla="*/ 705 w 857"/>
                    <a:gd name="T25" fmla="*/ 609 h 1305"/>
                    <a:gd name="T26" fmla="*/ 696 w 857"/>
                    <a:gd name="T27" fmla="*/ 601 h 1305"/>
                    <a:gd name="T28" fmla="*/ 683 w 857"/>
                    <a:gd name="T29" fmla="*/ 587 h 1305"/>
                    <a:gd name="T30" fmla="*/ 674 w 857"/>
                    <a:gd name="T31" fmla="*/ 578 h 1305"/>
                    <a:gd name="T32" fmla="*/ 656 w 857"/>
                    <a:gd name="T33" fmla="*/ 574 h 1305"/>
                    <a:gd name="T34" fmla="*/ 639 w 857"/>
                    <a:gd name="T35" fmla="*/ 570 h 1305"/>
                    <a:gd name="T36" fmla="*/ 621 w 857"/>
                    <a:gd name="T37" fmla="*/ 570 h 1305"/>
                    <a:gd name="T38" fmla="*/ 608 w 857"/>
                    <a:gd name="T39" fmla="*/ 570 h 1305"/>
                    <a:gd name="T40" fmla="*/ 412 w 857"/>
                    <a:gd name="T41" fmla="*/ 331 h 1305"/>
                    <a:gd name="T42" fmla="*/ 794 w 857"/>
                    <a:gd name="T43" fmla="*/ 411 h 1305"/>
                    <a:gd name="T44" fmla="*/ 812 w 857"/>
                    <a:gd name="T45" fmla="*/ 406 h 1305"/>
                    <a:gd name="T46" fmla="*/ 821 w 857"/>
                    <a:gd name="T47" fmla="*/ 402 h 1305"/>
                    <a:gd name="T48" fmla="*/ 838 w 857"/>
                    <a:gd name="T49" fmla="*/ 393 h 1305"/>
                    <a:gd name="T50" fmla="*/ 847 w 857"/>
                    <a:gd name="T51" fmla="*/ 380 h 1305"/>
                    <a:gd name="T52" fmla="*/ 852 w 857"/>
                    <a:gd name="T53" fmla="*/ 367 h 1305"/>
                    <a:gd name="T54" fmla="*/ 856 w 857"/>
                    <a:gd name="T55" fmla="*/ 345 h 1305"/>
                    <a:gd name="T56" fmla="*/ 852 w 857"/>
                    <a:gd name="T57" fmla="*/ 327 h 1305"/>
                    <a:gd name="T58" fmla="*/ 843 w 857"/>
                    <a:gd name="T59" fmla="*/ 309 h 1305"/>
                    <a:gd name="T60" fmla="*/ 834 w 857"/>
                    <a:gd name="T61" fmla="*/ 300 h 1305"/>
                    <a:gd name="T62" fmla="*/ 816 w 857"/>
                    <a:gd name="T63" fmla="*/ 286 h 1305"/>
                    <a:gd name="T64" fmla="*/ 803 w 857"/>
                    <a:gd name="T65" fmla="*/ 282 h 1305"/>
                    <a:gd name="T66" fmla="*/ 541 w 857"/>
                    <a:gd name="T67" fmla="*/ 282 h 1305"/>
                    <a:gd name="T68" fmla="*/ 496 w 857"/>
                    <a:gd name="T69" fmla="*/ 185 h 1305"/>
                    <a:gd name="T70" fmla="*/ 501 w 857"/>
                    <a:gd name="T71" fmla="*/ 163 h 1305"/>
                    <a:gd name="T72" fmla="*/ 505 w 857"/>
                    <a:gd name="T73" fmla="*/ 132 h 1305"/>
                    <a:gd name="T74" fmla="*/ 505 w 857"/>
                    <a:gd name="T75" fmla="*/ 105 h 1305"/>
                    <a:gd name="T76" fmla="*/ 496 w 857"/>
                    <a:gd name="T77" fmla="*/ 83 h 1305"/>
                    <a:gd name="T78" fmla="*/ 487 w 857"/>
                    <a:gd name="T79" fmla="*/ 66 h 1305"/>
                    <a:gd name="T80" fmla="*/ 474 w 857"/>
                    <a:gd name="T81" fmla="*/ 44 h 1305"/>
                    <a:gd name="T82" fmla="*/ 457 w 857"/>
                    <a:gd name="T83" fmla="*/ 30 h 1305"/>
                    <a:gd name="T84" fmla="*/ 434 w 857"/>
                    <a:gd name="T85" fmla="*/ 13 h 1305"/>
                    <a:gd name="T86" fmla="*/ 412 w 857"/>
                    <a:gd name="T87" fmla="*/ 4 h 1305"/>
                    <a:gd name="T88" fmla="*/ 386 w 857"/>
                    <a:gd name="T89" fmla="*/ 0 h 1305"/>
                    <a:gd name="T90" fmla="*/ 359 w 857"/>
                    <a:gd name="T91" fmla="*/ 0 h 1305"/>
                    <a:gd name="T92" fmla="*/ 333 w 857"/>
                    <a:gd name="T93" fmla="*/ 4 h 1305"/>
                    <a:gd name="T94" fmla="*/ 305 w 857"/>
                    <a:gd name="T95" fmla="*/ 13 h 1305"/>
                    <a:gd name="T96" fmla="*/ 279 w 857"/>
                    <a:gd name="T97" fmla="*/ 26 h 1305"/>
                    <a:gd name="T98" fmla="*/ 261 w 857"/>
                    <a:gd name="T99" fmla="*/ 48 h 1305"/>
                    <a:gd name="T100" fmla="*/ 243 w 857"/>
                    <a:gd name="T101" fmla="*/ 75 h 1305"/>
                    <a:gd name="T102" fmla="*/ 235 w 857"/>
                    <a:gd name="T103" fmla="*/ 101 h 1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7" h="1305">
                      <a:moveTo>
                        <a:pt x="235"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3" y="730"/>
                      </a:lnTo>
                      <a:lnTo>
                        <a:pt x="61" y="730"/>
                      </a:lnTo>
                      <a:lnTo>
                        <a:pt x="70" y="734"/>
                      </a:lnTo>
                      <a:lnTo>
                        <a:pt x="79" y="734"/>
                      </a:lnTo>
                      <a:lnTo>
                        <a:pt x="92" y="734"/>
                      </a:lnTo>
                      <a:lnTo>
                        <a:pt x="559" y="734"/>
                      </a:lnTo>
                      <a:lnTo>
                        <a:pt x="559" y="1304"/>
                      </a:lnTo>
                      <a:lnTo>
                        <a:pt x="705" y="1304"/>
                      </a:lnTo>
                      <a:lnTo>
                        <a:pt x="705" y="627"/>
                      </a:lnTo>
                      <a:lnTo>
                        <a:pt x="705" y="618"/>
                      </a:lnTo>
                      <a:lnTo>
                        <a:pt x="705" y="609"/>
                      </a:lnTo>
                      <a:lnTo>
                        <a:pt x="700" y="605"/>
                      </a:lnTo>
                      <a:lnTo>
                        <a:pt x="696" y="601"/>
                      </a:lnTo>
                      <a:lnTo>
                        <a:pt x="692" y="596"/>
                      </a:lnTo>
                      <a:lnTo>
                        <a:pt x="683" y="587"/>
                      </a:lnTo>
                      <a:lnTo>
                        <a:pt x="678" y="583"/>
                      </a:lnTo>
                      <a:lnTo>
                        <a:pt x="674" y="578"/>
                      </a:lnTo>
                      <a:lnTo>
                        <a:pt x="665" y="578"/>
                      </a:lnTo>
                      <a:lnTo>
                        <a:pt x="656" y="574"/>
                      </a:lnTo>
                      <a:lnTo>
                        <a:pt x="647" y="574"/>
                      </a:lnTo>
                      <a:lnTo>
                        <a:pt x="639" y="570"/>
                      </a:lnTo>
                      <a:lnTo>
                        <a:pt x="630" y="570"/>
                      </a:lnTo>
                      <a:lnTo>
                        <a:pt x="621" y="570"/>
                      </a:lnTo>
                      <a:lnTo>
                        <a:pt x="617" y="570"/>
                      </a:lnTo>
                      <a:lnTo>
                        <a:pt x="608" y="570"/>
                      </a:lnTo>
                      <a:lnTo>
                        <a:pt x="337" y="552"/>
                      </a:lnTo>
                      <a:lnTo>
                        <a:pt x="412" y="331"/>
                      </a:lnTo>
                      <a:lnTo>
                        <a:pt x="465" y="411"/>
                      </a:lnTo>
                      <a:lnTo>
                        <a:pt x="794" y="411"/>
                      </a:lnTo>
                      <a:lnTo>
                        <a:pt x="803" y="406"/>
                      </a:lnTo>
                      <a:lnTo>
                        <a:pt x="812" y="406"/>
                      </a:lnTo>
                      <a:lnTo>
                        <a:pt x="816" y="402"/>
                      </a:lnTo>
                      <a:lnTo>
                        <a:pt x="821" y="402"/>
                      </a:lnTo>
                      <a:lnTo>
                        <a:pt x="830" y="398"/>
                      </a:lnTo>
                      <a:lnTo>
                        <a:pt x="838" y="393"/>
                      </a:lnTo>
                      <a:lnTo>
                        <a:pt x="843" y="384"/>
                      </a:lnTo>
                      <a:lnTo>
                        <a:pt x="847" y="380"/>
                      </a:lnTo>
                      <a:lnTo>
                        <a:pt x="852" y="371"/>
                      </a:lnTo>
                      <a:lnTo>
                        <a:pt x="852" y="367"/>
                      </a:lnTo>
                      <a:lnTo>
                        <a:pt x="856" y="358"/>
                      </a:lnTo>
                      <a:lnTo>
                        <a:pt x="856" y="345"/>
                      </a:lnTo>
                      <a:lnTo>
                        <a:pt x="856" y="336"/>
                      </a:lnTo>
                      <a:lnTo>
                        <a:pt x="852" y="327"/>
                      </a:lnTo>
                      <a:lnTo>
                        <a:pt x="847" y="318"/>
                      </a:lnTo>
                      <a:lnTo>
                        <a:pt x="843" y="309"/>
                      </a:lnTo>
                      <a:lnTo>
                        <a:pt x="838" y="305"/>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nvGrpSpPr>
            <p:cNvPr id="12404" name="Group 116"/>
            <p:cNvGrpSpPr>
              <a:grpSpLocks/>
            </p:cNvGrpSpPr>
            <p:nvPr/>
          </p:nvGrpSpPr>
          <p:grpSpPr bwMode="auto">
            <a:xfrm>
              <a:off x="1772" y="2604"/>
              <a:ext cx="966" cy="447"/>
              <a:chOff x="1772" y="2604"/>
              <a:chExt cx="966" cy="447"/>
            </a:xfrm>
          </p:grpSpPr>
          <p:grpSp>
            <p:nvGrpSpPr>
              <p:cNvPr id="12405" name="Group 117"/>
              <p:cNvGrpSpPr>
                <a:grpSpLocks/>
              </p:cNvGrpSpPr>
              <p:nvPr/>
            </p:nvGrpSpPr>
            <p:grpSpPr bwMode="auto">
              <a:xfrm>
                <a:off x="1772" y="2604"/>
                <a:ext cx="304" cy="447"/>
                <a:chOff x="1772" y="2604"/>
                <a:chExt cx="304" cy="447"/>
              </a:xfrm>
            </p:grpSpPr>
            <p:grpSp>
              <p:nvGrpSpPr>
                <p:cNvPr id="12406" name="Group 118"/>
                <p:cNvGrpSpPr>
                  <a:grpSpLocks/>
                </p:cNvGrpSpPr>
                <p:nvPr/>
              </p:nvGrpSpPr>
              <p:grpSpPr bwMode="auto">
                <a:xfrm>
                  <a:off x="1772" y="2604"/>
                  <a:ext cx="304" cy="447"/>
                  <a:chOff x="1772" y="2604"/>
                  <a:chExt cx="304" cy="447"/>
                </a:xfrm>
              </p:grpSpPr>
              <p:grpSp>
                <p:nvGrpSpPr>
                  <p:cNvPr id="12407" name="Group 119"/>
                  <p:cNvGrpSpPr>
                    <a:grpSpLocks/>
                  </p:cNvGrpSpPr>
                  <p:nvPr/>
                </p:nvGrpSpPr>
                <p:grpSpPr bwMode="auto">
                  <a:xfrm>
                    <a:off x="1772" y="2675"/>
                    <a:ext cx="304" cy="376"/>
                    <a:chOff x="1772" y="2675"/>
                    <a:chExt cx="304" cy="376"/>
                  </a:xfrm>
                </p:grpSpPr>
                <p:sp>
                  <p:nvSpPr>
                    <p:cNvPr id="12408" name="Freeform 120"/>
                    <p:cNvSpPr>
                      <a:spLocks noChangeArrowheads="1"/>
                    </p:cNvSpPr>
                    <p:nvPr/>
                  </p:nvSpPr>
                  <p:spPr bwMode="auto">
                    <a:xfrm>
                      <a:off x="1772" y="2675"/>
                      <a:ext cx="305" cy="377"/>
                    </a:xfrm>
                    <a:custGeom>
                      <a:avLst/>
                      <a:gdLst>
                        <a:gd name="T0" fmla="*/ 0 w 1346"/>
                        <a:gd name="T1" fmla="*/ 1662 h 1663"/>
                        <a:gd name="T2" fmla="*/ 0 w 1346"/>
                        <a:gd name="T3" fmla="*/ 336 h 1663"/>
                        <a:gd name="T4" fmla="*/ 335 w 1346"/>
                        <a:gd name="T5" fmla="*/ 0 h 1663"/>
                        <a:gd name="T6" fmla="*/ 1345 w 1346"/>
                        <a:gd name="T7" fmla="*/ 0 h 1663"/>
                        <a:gd name="T8" fmla="*/ 1345 w 1346"/>
                        <a:gd name="T9" fmla="*/ 1326 h 1663"/>
                        <a:gd name="T10" fmla="*/ 1008 w 1346"/>
                        <a:gd name="T11" fmla="*/ 1662 h 1663"/>
                        <a:gd name="T12" fmla="*/ 0 w 1346"/>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IN"/>
                    </a:p>
                  </p:txBody>
                </p:sp>
                <p:sp>
                  <p:nvSpPr>
                    <p:cNvPr id="12409" name="Freeform 121"/>
                    <p:cNvSpPr>
                      <a:spLocks noChangeArrowheads="1"/>
                    </p:cNvSpPr>
                    <p:nvPr/>
                  </p:nvSpPr>
                  <p:spPr bwMode="auto">
                    <a:xfrm>
                      <a:off x="1772" y="2675"/>
                      <a:ext cx="305" cy="76"/>
                    </a:xfrm>
                    <a:custGeom>
                      <a:avLst/>
                      <a:gdLst>
                        <a:gd name="T0" fmla="*/ 0 w 1346"/>
                        <a:gd name="T1" fmla="*/ 336 h 337"/>
                        <a:gd name="T2" fmla="*/ 335 w 1346"/>
                        <a:gd name="T3" fmla="*/ 0 h 337"/>
                        <a:gd name="T4" fmla="*/ 1345 w 1346"/>
                        <a:gd name="T5" fmla="*/ 0 h 337"/>
                        <a:gd name="T6" fmla="*/ 1008 w 1346"/>
                        <a:gd name="T7" fmla="*/ 336 h 337"/>
                        <a:gd name="T8" fmla="*/ 0 w 1346"/>
                        <a:gd name="T9" fmla="*/ 336 h 337"/>
                      </a:gdLst>
                      <a:ahLst/>
                      <a:cxnLst>
                        <a:cxn ang="0">
                          <a:pos x="T0" y="T1"/>
                        </a:cxn>
                        <a:cxn ang="0">
                          <a:pos x="T2" y="T3"/>
                        </a:cxn>
                        <a:cxn ang="0">
                          <a:pos x="T4" y="T5"/>
                        </a:cxn>
                        <a:cxn ang="0">
                          <a:pos x="T6" y="T7"/>
                        </a:cxn>
                        <a:cxn ang="0">
                          <a:pos x="T8" y="T9"/>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IN"/>
                    </a:p>
                  </p:txBody>
                </p:sp>
                <p:sp>
                  <p:nvSpPr>
                    <p:cNvPr id="12410" name="Freeform 122"/>
                    <p:cNvSpPr>
                      <a:spLocks noChangeArrowheads="1"/>
                    </p:cNvSpPr>
                    <p:nvPr/>
                  </p:nvSpPr>
                  <p:spPr bwMode="auto">
                    <a:xfrm>
                      <a:off x="2001" y="2675"/>
                      <a:ext cx="77" cy="377"/>
                    </a:xfrm>
                    <a:custGeom>
                      <a:avLst/>
                      <a:gdLst>
                        <a:gd name="T0" fmla="*/ 0 w 338"/>
                        <a:gd name="T1" fmla="*/ 1662 h 1663"/>
                        <a:gd name="T2" fmla="*/ 0 w 338"/>
                        <a:gd name="T3" fmla="*/ 336 h 1663"/>
                        <a:gd name="T4" fmla="*/ 337 w 338"/>
                        <a:gd name="T5" fmla="*/ 0 h 1663"/>
                        <a:gd name="T6" fmla="*/ 337 w 338"/>
                        <a:gd name="T7" fmla="*/ 1326 h 1663"/>
                        <a:gd name="T8" fmla="*/ 0 w 338"/>
                        <a:gd name="T9" fmla="*/ 1662 h 1663"/>
                      </a:gdLst>
                      <a:ahLst/>
                      <a:cxnLst>
                        <a:cxn ang="0">
                          <a:pos x="T0" y="T1"/>
                        </a:cxn>
                        <a:cxn ang="0">
                          <a:pos x="T2" y="T3"/>
                        </a:cxn>
                        <a:cxn ang="0">
                          <a:pos x="T4" y="T5"/>
                        </a:cxn>
                        <a:cxn ang="0">
                          <a:pos x="T6" y="T7"/>
                        </a:cxn>
                        <a:cxn ang="0">
                          <a:pos x="T8" y="T9"/>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IN"/>
                    </a:p>
                  </p:txBody>
                </p:sp>
              </p:grpSp>
              <p:grpSp>
                <p:nvGrpSpPr>
                  <p:cNvPr id="12411" name="Group 123"/>
                  <p:cNvGrpSpPr>
                    <a:grpSpLocks/>
                  </p:cNvGrpSpPr>
                  <p:nvPr/>
                </p:nvGrpSpPr>
                <p:grpSpPr bwMode="auto">
                  <a:xfrm>
                    <a:off x="1842" y="2604"/>
                    <a:ext cx="234" cy="77"/>
                    <a:chOff x="1842" y="2604"/>
                    <a:chExt cx="234" cy="77"/>
                  </a:xfrm>
                </p:grpSpPr>
                <p:sp>
                  <p:nvSpPr>
                    <p:cNvPr id="12412" name="Freeform 124"/>
                    <p:cNvSpPr>
                      <a:spLocks noChangeArrowheads="1"/>
                    </p:cNvSpPr>
                    <p:nvPr/>
                  </p:nvSpPr>
                  <p:spPr bwMode="auto">
                    <a:xfrm>
                      <a:off x="1842" y="2604"/>
                      <a:ext cx="235" cy="78"/>
                    </a:xfrm>
                    <a:custGeom>
                      <a:avLst/>
                      <a:gdLst>
                        <a:gd name="T0" fmla="*/ 0 w 1037"/>
                        <a:gd name="T1" fmla="*/ 344 h 345"/>
                        <a:gd name="T2" fmla="*/ 0 w 1037"/>
                        <a:gd name="T3" fmla="*/ 85 h 345"/>
                        <a:gd name="T4" fmla="*/ 85 w 1037"/>
                        <a:gd name="T5" fmla="*/ 0 h 345"/>
                        <a:gd name="T6" fmla="*/ 1036 w 1037"/>
                        <a:gd name="T7" fmla="*/ 0 h 345"/>
                        <a:gd name="T8" fmla="*/ 1036 w 1037"/>
                        <a:gd name="T9" fmla="*/ 257 h 345"/>
                        <a:gd name="T10" fmla="*/ 949 w 1037"/>
                        <a:gd name="T11" fmla="*/ 344 h 345"/>
                        <a:gd name="T12" fmla="*/ 0 w 1037"/>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2413" name="Freeform 125"/>
                    <p:cNvSpPr>
                      <a:spLocks noChangeArrowheads="1"/>
                    </p:cNvSpPr>
                    <p:nvPr/>
                  </p:nvSpPr>
                  <p:spPr bwMode="auto">
                    <a:xfrm>
                      <a:off x="1842" y="2604"/>
                      <a:ext cx="235" cy="20"/>
                    </a:xfrm>
                    <a:custGeom>
                      <a:avLst/>
                      <a:gdLst>
                        <a:gd name="T0" fmla="*/ 0 w 1037"/>
                        <a:gd name="T1" fmla="*/ 85 h 86"/>
                        <a:gd name="T2" fmla="*/ 85 w 1037"/>
                        <a:gd name="T3" fmla="*/ 0 h 86"/>
                        <a:gd name="T4" fmla="*/ 1036 w 1037"/>
                        <a:gd name="T5" fmla="*/ 0 h 86"/>
                        <a:gd name="T6" fmla="*/ 949 w 1037"/>
                        <a:gd name="T7" fmla="*/ 85 h 86"/>
                        <a:gd name="T8" fmla="*/ 0 w 1037"/>
                        <a:gd name="T9" fmla="*/ 85 h 86"/>
                      </a:gdLst>
                      <a:ahLst/>
                      <a:cxnLst>
                        <a:cxn ang="0">
                          <a:pos x="T0" y="T1"/>
                        </a:cxn>
                        <a:cxn ang="0">
                          <a:pos x="T2" y="T3"/>
                        </a:cxn>
                        <a:cxn ang="0">
                          <a:pos x="T4" y="T5"/>
                        </a:cxn>
                        <a:cxn ang="0">
                          <a:pos x="T6" y="T7"/>
                        </a:cxn>
                        <a:cxn ang="0">
                          <a:pos x="T8" y="T9"/>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2414" name="Freeform 126"/>
                    <p:cNvSpPr>
                      <a:spLocks noChangeArrowheads="1"/>
                    </p:cNvSpPr>
                    <p:nvPr/>
                  </p:nvSpPr>
                  <p:spPr bwMode="auto">
                    <a:xfrm>
                      <a:off x="2057" y="2604"/>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2415" name="Freeform 127"/>
                <p:cNvSpPr>
                  <a:spLocks noChangeArrowheads="1"/>
                </p:cNvSpPr>
                <p:nvPr/>
              </p:nvSpPr>
              <p:spPr bwMode="auto">
                <a:xfrm>
                  <a:off x="1834" y="2708"/>
                  <a:ext cx="158" cy="27"/>
                </a:xfrm>
                <a:custGeom>
                  <a:avLst/>
                  <a:gdLst>
                    <a:gd name="T0" fmla="*/ 173 w 698"/>
                    <a:gd name="T1" fmla="*/ 0 h 120"/>
                    <a:gd name="T2" fmla="*/ 697 w 698"/>
                    <a:gd name="T3" fmla="*/ 0 h 120"/>
                    <a:gd name="T4" fmla="*/ 522 w 698"/>
                    <a:gd name="T5" fmla="*/ 119 h 120"/>
                    <a:gd name="T6" fmla="*/ 0 w 698"/>
                    <a:gd name="T7" fmla="*/ 119 h 120"/>
                    <a:gd name="T8" fmla="*/ 173 w 698"/>
                    <a:gd name="T9" fmla="*/ 0 h 120"/>
                  </a:gdLst>
                  <a:ahLst/>
                  <a:cxnLst>
                    <a:cxn ang="0">
                      <a:pos x="T0" y="T1"/>
                    </a:cxn>
                    <a:cxn ang="0">
                      <a:pos x="T2" y="T3"/>
                    </a:cxn>
                    <a:cxn ang="0">
                      <a:pos x="T4" y="T5"/>
                    </a:cxn>
                    <a:cxn ang="0">
                      <a:pos x="T6" y="T7"/>
                    </a:cxn>
                    <a:cxn ang="0">
                      <a:pos x="T8" y="T9"/>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2416" name="Group 128"/>
              <p:cNvGrpSpPr>
                <a:grpSpLocks/>
              </p:cNvGrpSpPr>
              <p:nvPr/>
            </p:nvGrpSpPr>
            <p:grpSpPr bwMode="auto">
              <a:xfrm>
                <a:off x="2073" y="2604"/>
                <a:ext cx="377" cy="447"/>
                <a:chOff x="2073" y="2604"/>
                <a:chExt cx="377" cy="447"/>
              </a:xfrm>
            </p:grpSpPr>
            <p:grpSp>
              <p:nvGrpSpPr>
                <p:cNvPr id="12417" name="Group 129"/>
                <p:cNvGrpSpPr>
                  <a:grpSpLocks/>
                </p:cNvGrpSpPr>
                <p:nvPr/>
              </p:nvGrpSpPr>
              <p:grpSpPr bwMode="auto">
                <a:xfrm>
                  <a:off x="2073" y="2604"/>
                  <a:ext cx="377" cy="447"/>
                  <a:chOff x="2073" y="2604"/>
                  <a:chExt cx="377" cy="447"/>
                </a:xfrm>
              </p:grpSpPr>
              <p:grpSp>
                <p:nvGrpSpPr>
                  <p:cNvPr id="12418" name="Group 130"/>
                  <p:cNvGrpSpPr>
                    <a:grpSpLocks/>
                  </p:cNvGrpSpPr>
                  <p:nvPr/>
                </p:nvGrpSpPr>
                <p:grpSpPr bwMode="auto">
                  <a:xfrm>
                    <a:off x="2073" y="2675"/>
                    <a:ext cx="377" cy="376"/>
                    <a:chOff x="2073" y="2675"/>
                    <a:chExt cx="377" cy="376"/>
                  </a:xfrm>
                </p:grpSpPr>
                <p:sp>
                  <p:nvSpPr>
                    <p:cNvPr id="12419" name="Freeform 131"/>
                    <p:cNvSpPr>
                      <a:spLocks noChangeArrowheads="1"/>
                    </p:cNvSpPr>
                    <p:nvPr/>
                  </p:nvSpPr>
                  <p:spPr bwMode="auto">
                    <a:xfrm>
                      <a:off x="2073" y="2675"/>
                      <a:ext cx="378" cy="377"/>
                    </a:xfrm>
                    <a:custGeom>
                      <a:avLst/>
                      <a:gdLst>
                        <a:gd name="T0" fmla="*/ 0 w 1668"/>
                        <a:gd name="T1" fmla="*/ 1662 h 1663"/>
                        <a:gd name="T2" fmla="*/ 0 w 1668"/>
                        <a:gd name="T3" fmla="*/ 415 h 1663"/>
                        <a:gd name="T4" fmla="*/ 414 w 1668"/>
                        <a:gd name="T5" fmla="*/ 0 h 1663"/>
                        <a:gd name="T6" fmla="*/ 1667 w 1668"/>
                        <a:gd name="T7" fmla="*/ 0 h 1663"/>
                        <a:gd name="T8" fmla="*/ 1667 w 1668"/>
                        <a:gd name="T9" fmla="*/ 1247 h 1663"/>
                        <a:gd name="T10" fmla="*/ 1251 w 1668"/>
                        <a:gd name="T11" fmla="*/ 1662 h 1663"/>
                        <a:gd name="T12" fmla="*/ 0 w 1668"/>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IN"/>
                    </a:p>
                  </p:txBody>
                </p:sp>
                <p:sp>
                  <p:nvSpPr>
                    <p:cNvPr id="12420" name="Freeform 132"/>
                    <p:cNvSpPr>
                      <a:spLocks noChangeArrowheads="1"/>
                    </p:cNvSpPr>
                    <p:nvPr/>
                  </p:nvSpPr>
                  <p:spPr bwMode="auto">
                    <a:xfrm>
                      <a:off x="2073" y="2675"/>
                      <a:ext cx="378" cy="94"/>
                    </a:xfrm>
                    <a:custGeom>
                      <a:avLst/>
                      <a:gdLst>
                        <a:gd name="T0" fmla="*/ 0 w 1668"/>
                        <a:gd name="T1" fmla="*/ 415 h 416"/>
                        <a:gd name="T2" fmla="*/ 414 w 1668"/>
                        <a:gd name="T3" fmla="*/ 0 h 416"/>
                        <a:gd name="T4" fmla="*/ 1667 w 1668"/>
                        <a:gd name="T5" fmla="*/ 0 h 416"/>
                        <a:gd name="T6" fmla="*/ 1251 w 1668"/>
                        <a:gd name="T7" fmla="*/ 415 h 416"/>
                        <a:gd name="T8" fmla="*/ 0 w 1668"/>
                        <a:gd name="T9" fmla="*/ 415 h 416"/>
                      </a:gdLst>
                      <a:ahLst/>
                      <a:cxnLst>
                        <a:cxn ang="0">
                          <a:pos x="T0" y="T1"/>
                        </a:cxn>
                        <a:cxn ang="0">
                          <a:pos x="T2" y="T3"/>
                        </a:cxn>
                        <a:cxn ang="0">
                          <a:pos x="T4" y="T5"/>
                        </a:cxn>
                        <a:cxn ang="0">
                          <a:pos x="T6" y="T7"/>
                        </a:cxn>
                        <a:cxn ang="0">
                          <a:pos x="T8" y="T9"/>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IN"/>
                    </a:p>
                  </p:txBody>
                </p:sp>
                <p:sp>
                  <p:nvSpPr>
                    <p:cNvPr id="12421" name="Freeform 133"/>
                    <p:cNvSpPr>
                      <a:spLocks noChangeArrowheads="1"/>
                    </p:cNvSpPr>
                    <p:nvPr/>
                  </p:nvSpPr>
                  <p:spPr bwMode="auto">
                    <a:xfrm>
                      <a:off x="2357" y="2675"/>
                      <a:ext cx="95" cy="377"/>
                    </a:xfrm>
                    <a:custGeom>
                      <a:avLst/>
                      <a:gdLst>
                        <a:gd name="T0" fmla="*/ 0 w 417"/>
                        <a:gd name="T1" fmla="*/ 1662 h 1663"/>
                        <a:gd name="T2" fmla="*/ 0 w 417"/>
                        <a:gd name="T3" fmla="*/ 415 h 1663"/>
                        <a:gd name="T4" fmla="*/ 416 w 417"/>
                        <a:gd name="T5" fmla="*/ 0 h 1663"/>
                        <a:gd name="T6" fmla="*/ 416 w 417"/>
                        <a:gd name="T7" fmla="*/ 1247 h 1663"/>
                        <a:gd name="T8" fmla="*/ 0 w 417"/>
                        <a:gd name="T9" fmla="*/ 1662 h 1663"/>
                      </a:gdLst>
                      <a:ahLst/>
                      <a:cxnLst>
                        <a:cxn ang="0">
                          <a:pos x="T0" y="T1"/>
                        </a:cxn>
                        <a:cxn ang="0">
                          <a:pos x="T2" y="T3"/>
                        </a:cxn>
                        <a:cxn ang="0">
                          <a:pos x="T4" y="T5"/>
                        </a:cxn>
                        <a:cxn ang="0">
                          <a:pos x="T6" y="T7"/>
                        </a:cxn>
                        <a:cxn ang="0">
                          <a:pos x="T8" y="T9"/>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IN"/>
                    </a:p>
                  </p:txBody>
                </p:sp>
              </p:grpSp>
              <p:grpSp>
                <p:nvGrpSpPr>
                  <p:cNvPr id="12422" name="Group 134"/>
                  <p:cNvGrpSpPr>
                    <a:grpSpLocks/>
                  </p:cNvGrpSpPr>
                  <p:nvPr/>
                </p:nvGrpSpPr>
                <p:grpSpPr bwMode="auto">
                  <a:xfrm>
                    <a:off x="2159" y="2604"/>
                    <a:ext cx="291" cy="77"/>
                    <a:chOff x="2159" y="2604"/>
                    <a:chExt cx="291" cy="77"/>
                  </a:xfrm>
                </p:grpSpPr>
                <p:sp>
                  <p:nvSpPr>
                    <p:cNvPr id="12423" name="Freeform 135"/>
                    <p:cNvSpPr>
                      <a:spLocks noChangeArrowheads="1"/>
                    </p:cNvSpPr>
                    <p:nvPr/>
                  </p:nvSpPr>
                  <p:spPr bwMode="auto">
                    <a:xfrm>
                      <a:off x="2159" y="2604"/>
                      <a:ext cx="292" cy="78"/>
                    </a:xfrm>
                    <a:custGeom>
                      <a:avLst/>
                      <a:gdLst>
                        <a:gd name="T0" fmla="*/ 0 w 1288"/>
                        <a:gd name="T1" fmla="*/ 344 h 345"/>
                        <a:gd name="T2" fmla="*/ 0 w 1288"/>
                        <a:gd name="T3" fmla="*/ 85 h 345"/>
                        <a:gd name="T4" fmla="*/ 85 w 1288"/>
                        <a:gd name="T5" fmla="*/ 0 h 345"/>
                        <a:gd name="T6" fmla="*/ 1287 w 1288"/>
                        <a:gd name="T7" fmla="*/ 0 h 345"/>
                        <a:gd name="T8" fmla="*/ 1287 w 1288"/>
                        <a:gd name="T9" fmla="*/ 257 h 345"/>
                        <a:gd name="T10" fmla="*/ 1200 w 1288"/>
                        <a:gd name="T11" fmla="*/ 344 h 345"/>
                        <a:gd name="T12" fmla="*/ 0 w 1288"/>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8" h="345">
                          <a:moveTo>
                            <a:pt x="0" y="344"/>
                          </a:moveTo>
                          <a:lnTo>
                            <a:pt x="0" y="85"/>
                          </a:lnTo>
                          <a:lnTo>
                            <a:pt x="85" y="0"/>
                          </a:lnTo>
                          <a:lnTo>
                            <a:pt x="1287" y="0"/>
                          </a:lnTo>
                          <a:lnTo>
                            <a:pt x="1287" y="257"/>
                          </a:lnTo>
                          <a:lnTo>
                            <a:pt x="1200"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2424" name="Freeform 136"/>
                    <p:cNvSpPr>
                      <a:spLocks noChangeArrowheads="1"/>
                    </p:cNvSpPr>
                    <p:nvPr/>
                  </p:nvSpPr>
                  <p:spPr bwMode="auto">
                    <a:xfrm>
                      <a:off x="2159" y="2604"/>
                      <a:ext cx="292" cy="20"/>
                    </a:xfrm>
                    <a:custGeom>
                      <a:avLst/>
                      <a:gdLst>
                        <a:gd name="T0" fmla="*/ 0 w 1288"/>
                        <a:gd name="T1" fmla="*/ 85 h 86"/>
                        <a:gd name="T2" fmla="*/ 85 w 1288"/>
                        <a:gd name="T3" fmla="*/ 0 h 86"/>
                        <a:gd name="T4" fmla="*/ 1287 w 1288"/>
                        <a:gd name="T5" fmla="*/ 0 h 86"/>
                        <a:gd name="T6" fmla="*/ 1200 w 1288"/>
                        <a:gd name="T7" fmla="*/ 85 h 86"/>
                        <a:gd name="T8" fmla="*/ 0 w 1288"/>
                        <a:gd name="T9" fmla="*/ 85 h 86"/>
                      </a:gdLst>
                      <a:ahLst/>
                      <a:cxnLst>
                        <a:cxn ang="0">
                          <a:pos x="T0" y="T1"/>
                        </a:cxn>
                        <a:cxn ang="0">
                          <a:pos x="T2" y="T3"/>
                        </a:cxn>
                        <a:cxn ang="0">
                          <a:pos x="T4" y="T5"/>
                        </a:cxn>
                        <a:cxn ang="0">
                          <a:pos x="T6" y="T7"/>
                        </a:cxn>
                        <a:cxn ang="0">
                          <a:pos x="T8" y="T9"/>
                        </a:cxn>
                      </a:cxnLst>
                      <a:rect l="0" t="0" r="r" b="b"/>
                      <a:pathLst>
                        <a:path w="1288" h="86">
                          <a:moveTo>
                            <a:pt x="0" y="85"/>
                          </a:moveTo>
                          <a:lnTo>
                            <a:pt x="85" y="0"/>
                          </a:lnTo>
                          <a:lnTo>
                            <a:pt x="1287" y="0"/>
                          </a:lnTo>
                          <a:lnTo>
                            <a:pt x="1200"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2425" name="Freeform 137"/>
                    <p:cNvSpPr>
                      <a:spLocks noChangeArrowheads="1"/>
                    </p:cNvSpPr>
                    <p:nvPr/>
                  </p:nvSpPr>
                  <p:spPr bwMode="auto">
                    <a:xfrm>
                      <a:off x="2431" y="2604"/>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2426" name="Oval 138"/>
                <p:cNvSpPr>
                  <a:spLocks noChangeArrowheads="1"/>
                </p:cNvSpPr>
                <p:nvPr/>
              </p:nvSpPr>
              <p:spPr bwMode="auto">
                <a:xfrm>
                  <a:off x="2188" y="2640"/>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2427" name="Freeform 139"/>
                <p:cNvSpPr>
                  <a:spLocks noChangeArrowheads="1"/>
                </p:cNvSpPr>
                <p:nvPr/>
              </p:nvSpPr>
              <p:spPr bwMode="auto">
                <a:xfrm>
                  <a:off x="2120" y="2850"/>
                  <a:ext cx="198" cy="84"/>
                </a:xfrm>
                <a:custGeom>
                  <a:avLst/>
                  <a:gdLst>
                    <a:gd name="T0" fmla="*/ 107 w 874"/>
                    <a:gd name="T1" fmla="*/ 0 h 371"/>
                    <a:gd name="T2" fmla="*/ 764 w 874"/>
                    <a:gd name="T3" fmla="*/ 0 h 371"/>
                    <a:gd name="T4" fmla="*/ 873 w 874"/>
                    <a:gd name="T5" fmla="*/ 108 h 371"/>
                    <a:gd name="T6" fmla="*/ 873 w 874"/>
                    <a:gd name="T7" fmla="*/ 262 h 371"/>
                    <a:gd name="T8" fmla="*/ 764 w 874"/>
                    <a:gd name="T9" fmla="*/ 370 h 371"/>
                    <a:gd name="T10" fmla="*/ 107 w 874"/>
                    <a:gd name="T11" fmla="*/ 370 h 371"/>
                    <a:gd name="T12" fmla="*/ 0 w 874"/>
                    <a:gd name="T13" fmla="*/ 262 h 371"/>
                    <a:gd name="T14" fmla="*/ 0 w 874"/>
                    <a:gd name="T15" fmla="*/ 108 h 371"/>
                    <a:gd name="T16" fmla="*/ 107 w 874"/>
                    <a:gd name="T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1">
                      <a:moveTo>
                        <a:pt x="107" y="0"/>
                      </a:moveTo>
                      <a:lnTo>
                        <a:pt x="764" y="0"/>
                      </a:lnTo>
                      <a:lnTo>
                        <a:pt x="873" y="108"/>
                      </a:lnTo>
                      <a:lnTo>
                        <a:pt x="873" y="262"/>
                      </a:lnTo>
                      <a:lnTo>
                        <a:pt x="764" y="370"/>
                      </a:lnTo>
                      <a:lnTo>
                        <a:pt x="107" y="370"/>
                      </a:lnTo>
                      <a:lnTo>
                        <a:pt x="0" y="262"/>
                      </a:lnTo>
                      <a:lnTo>
                        <a:pt x="0" y="108"/>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2428" name="Freeform 140"/>
              <p:cNvSpPr>
                <a:spLocks noChangeArrowheads="1"/>
              </p:cNvSpPr>
              <p:nvPr/>
            </p:nvSpPr>
            <p:spPr bwMode="auto">
              <a:xfrm>
                <a:off x="2637" y="2833"/>
                <a:ext cx="85" cy="191"/>
              </a:xfrm>
              <a:custGeom>
                <a:avLst/>
                <a:gdLst>
                  <a:gd name="T0" fmla="*/ 274 w 377"/>
                  <a:gd name="T1" fmla="*/ 0 h 843"/>
                  <a:gd name="T2" fmla="*/ 376 w 377"/>
                  <a:gd name="T3" fmla="*/ 0 h 843"/>
                  <a:gd name="T4" fmla="*/ 101 w 377"/>
                  <a:gd name="T5" fmla="*/ 842 h 843"/>
                  <a:gd name="T6" fmla="*/ 0 w 377"/>
                  <a:gd name="T7" fmla="*/ 842 h 843"/>
                  <a:gd name="T8" fmla="*/ 274 w 377"/>
                  <a:gd name="T9" fmla="*/ 0 h 843"/>
                </a:gdLst>
                <a:ahLst/>
                <a:cxnLst>
                  <a:cxn ang="0">
                    <a:pos x="T0" y="T1"/>
                  </a:cxn>
                  <a:cxn ang="0">
                    <a:pos x="T2" y="T3"/>
                  </a:cxn>
                  <a:cxn ang="0">
                    <a:pos x="T4" y="T5"/>
                  </a:cxn>
                  <a:cxn ang="0">
                    <a:pos x="T6" y="T7"/>
                  </a:cxn>
                  <a:cxn ang="0">
                    <a:pos x="T8" y="T9"/>
                  </a:cxn>
                </a:cxnLst>
                <a:rect l="0" t="0" r="r" b="b"/>
                <a:pathLst>
                  <a:path w="377" h="843">
                    <a:moveTo>
                      <a:pt x="274" y="0"/>
                    </a:moveTo>
                    <a:lnTo>
                      <a:pt x="376" y="0"/>
                    </a:lnTo>
                    <a:lnTo>
                      <a:pt x="101" y="842"/>
                    </a:lnTo>
                    <a:lnTo>
                      <a:pt x="0" y="842"/>
                    </a:lnTo>
                    <a:lnTo>
                      <a:pt x="274"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429" name="AutoShape 141"/>
              <p:cNvSpPr>
                <a:spLocks noChangeArrowheads="1"/>
              </p:cNvSpPr>
              <p:nvPr/>
            </p:nvSpPr>
            <p:spPr bwMode="auto">
              <a:xfrm>
                <a:off x="2633" y="2833"/>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430" name="AutoShape 142"/>
              <p:cNvSpPr>
                <a:spLocks noChangeArrowheads="1"/>
              </p:cNvSpPr>
              <p:nvPr/>
            </p:nvSpPr>
            <p:spPr bwMode="auto">
              <a:xfrm>
                <a:off x="2640" y="2914"/>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431" name="AutoShape 143"/>
              <p:cNvSpPr>
                <a:spLocks noChangeArrowheads="1"/>
              </p:cNvSpPr>
              <p:nvPr/>
            </p:nvSpPr>
            <p:spPr bwMode="auto">
              <a:xfrm>
                <a:off x="2457" y="2914"/>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2432" name="Group 144"/>
              <p:cNvGrpSpPr>
                <a:grpSpLocks/>
              </p:cNvGrpSpPr>
              <p:nvPr/>
            </p:nvGrpSpPr>
            <p:grpSpPr bwMode="auto">
              <a:xfrm>
                <a:off x="2455" y="2661"/>
                <a:ext cx="193" cy="363"/>
                <a:chOff x="2455" y="2661"/>
                <a:chExt cx="193" cy="363"/>
              </a:xfrm>
            </p:grpSpPr>
            <p:sp>
              <p:nvSpPr>
                <p:cNvPr id="12433" name="Oval 145"/>
                <p:cNvSpPr>
                  <a:spLocks noChangeArrowheads="1"/>
                </p:cNvSpPr>
                <p:nvPr/>
              </p:nvSpPr>
              <p:spPr bwMode="auto">
                <a:xfrm>
                  <a:off x="2531" y="2661"/>
                  <a:ext cx="49" cy="49"/>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2434" name="Freeform 146"/>
                <p:cNvSpPr>
                  <a:spLocks noChangeArrowheads="1"/>
                </p:cNvSpPr>
                <p:nvPr/>
              </p:nvSpPr>
              <p:spPr bwMode="auto">
                <a:xfrm>
                  <a:off x="2455" y="2729"/>
                  <a:ext cx="194" cy="296"/>
                </a:xfrm>
                <a:custGeom>
                  <a:avLst/>
                  <a:gdLst>
                    <a:gd name="T0" fmla="*/ 8 w 856"/>
                    <a:gd name="T1" fmla="*/ 605 h 1305"/>
                    <a:gd name="T2" fmla="*/ 4 w 856"/>
                    <a:gd name="T3" fmla="*/ 618 h 1305"/>
                    <a:gd name="T4" fmla="*/ 0 w 856"/>
                    <a:gd name="T5" fmla="*/ 640 h 1305"/>
                    <a:gd name="T6" fmla="*/ 0 w 856"/>
                    <a:gd name="T7" fmla="*/ 662 h 1305"/>
                    <a:gd name="T8" fmla="*/ 8 w 856"/>
                    <a:gd name="T9" fmla="*/ 684 h 1305"/>
                    <a:gd name="T10" fmla="*/ 17 w 856"/>
                    <a:gd name="T11" fmla="*/ 703 h 1305"/>
                    <a:gd name="T12" fmla="*/ 35 w 856"/>
                    <a:gd name="T13" fmla="*/ 721 h 1305"/>
                    <a:gd name="T14" fmla="*/ 52 w 856"/>
                    <a:gd name="T15" fmla="*/ 730 h 1305"/>
                    <a:gd name="T16" fmla="*/ 70 w 856"/>
                    <a:gd name="T17" fmla="*/ 734 h 1305"/>
                    <a:gd name="T18" fmla="*/ 92 w 856"/>
                    <a:gd name="T19" fmla="*/ 734 h 1305"/>
                    <a:gd name="T20" fmla="*/ 558 w 856"/>
                    <a:gd name="T21" fmla="*/ 1304 h 1305"/>
                    <a:gd name="T22" fmla="*/ 704 w 856"/>
                    <a:gd name="T23" fmla="*/ 627 h 1305"/>
                    <a:gd name="T24" fmla="*/ 704 w 856"/>
                    <a:gd name="T25" fmla="*/ 609 h 1305"/>
                    <a:gd name="T26" fmla="*/ 695 w 856"/>
                    <a:gd name="T27" fmla="*/ 601 h 1305"/>
                    <a:gd name="T28" fmla="*/ 682 w 856"/>
                    <a:gd name="T29" fmla="*/ 587 h 1305"/>
                    <a:gd name="T30" fmla="*/ 673 w 856"/>
                    <a:gd name="T31" fmla="*/ 578 h 1305"/>
                    <a:gd name="T32" fmla="*/ 656 w 856"/>
                    <a:gd name="T33" fmla="*/ 574 h 1305"/>
                    <a:gd name="T34" fmla="*/ 638 w 856"/>
                    <a:gd name="T35" fmla="*/ 570 h 1305"/>
                    <a:gd name="T36" fmla="*/ 620 w 856"/>
                    <a:gd name="T37" fmla="*/ 570 h 1305"/>
                    <a:gd name="T38" fmla="*/ 607 w 856"/>
                    <a:gd name="T39" fmla="*/ 570 h 1305"/>
                    <a:gd name="T40" fmla="*/ 412 w 856"/>
                    <a:gd name="T41" fmla="*/ 331 h 1305"/>
                    <a:gd name="T42" fmla="*/ 793 w 856"/>
                    <a:gd name="T43" fmla="*/ 411 h 1305"/>
                    <a:gd name="T44" fmla="*/ 811 w 856"/>
                    <a:gd name="T45" fmla="*/ 406 h 1305"/>
                    <a:gd name="T46" fmla="*/ 820 w 856"/>
                    <a:gd name="T47" fmla="*/ 402 h 1305"/>
                    <a:gd name="T48" fmla="*/ 837 w 856"/>
                    <a:gd name="T49" fmla="*/ 393 h 1305"/>
                    <a:gd name="T50" fmla="*/ 846 w 856"/>
                    <a:gd name="T51" fmla="*/ 380 h 1305"/>
                    <a:gd name="T52" fmla="*/ 851 w 856"/>
                    <a:gd name="T53" fmla="*/ 367 h 1305"/>
                    <a:gd name="T54" fmla="*/ 855 w 856"/>
                    <a:gd name="T55" fmla="*/ 345 h 1305"/>
                    <a:gd name="T56" fmla="*/ 851 w 856"/>
                    <a:gd name="T57" fmla="*/ 327 h 1305"/>
                    <a:gd name="T58" fmla="*/ 842 w 856"/>
                    <a:gd name="T59" fmla="*/ 309 h 1305"/>
                    <a:gd name="T60" fmla="*/ 833 w 856"/>
                    <a:gd name="T61" fmla="*/ 300 h 1305"/>
                    <a:gd name="T62" fmla="*/ 815 w 856"/>
                    <a:gd name="T63" fmla="*/ 286 h 1305"/>
                    <a:gd name="T64" fmla="*/ 802 w 856"/>
                    <a:gd name="T65" fmla="*/ 282 h 1305"/>
                    <a:gd name="T66" fmla="*/ 541 w 856"/>
                    <a:gd name="T67" fmla="*/ 282 h 1305"/>
                    <a:gd name="T68" fmla="*/ 496 w 856"/>
                    <a:gd name="T69" fmla="*/ 185 h 1305"/>
                    <a:gd name="T70" fmla="*/ 500 w 856"/>
                    <a:gd name="T71" fmla="*/ 163 h 1305"/>
                    <a:gd name="T72" fmla="*/ 505 w 856"/>
                    <a:gd name="T73" fmla="*/ 132 h 1305"/>
                    <a:gd name="T74" fmla="*/ 505 w 856"/>
                    <a:gd name="T75" fmla="*/ 105 h 1305"/>
                    <a:gd name="T76" fmla="*/ 496 w 856"/>
                    <a:gd name="T77" fmla="*/ 83 h 1305"/>
                    <a:gd name="T78" fmla="*/ 487 w 856"/>
                    <a:gd name="T79" fmla="*/ 66 h 1305"/>
                    <a:gd name="T80" fmla="*/ 474 w 856"/>
                    <a:gd name="T81" fmla="*/ 44 h 1305"/>
                    <a:gd name="T82" fmla="*/ 456 w 856"/>
                    <a:gd name="T83" fmla="*/ 30 h 1305"/>
                    <a:gd name="T84" fmla="*/ 434 w 856"/>
                    <a:gd name="T85" fmla="*/ 13 h 1305"/>
                    <a:gd name="T86" fmla="*/ 412 w 856"/>
                    <a:gd name="T87" fmla="*/ 4 h 1305"/>
                    <a:gd name="T88" fmla="*/ 385 w 856"/>
                    <a:gd name="T89" fmla="*/ 0 h 1305"/>
                    <a:gd name="T90" fmla="*/ 359 w 856"/>
                    <a:gd name="T91" fmla="*/ 0 h 1305"/>
                    <a:gd name="T92" fmla="*/ 332 w 856"/>
                    <a:gd name="T93" fmla="*/ 4 h 1305"/>
                    <a:gd name="T94" fmla="*/ 305 w 856"/>
                    <a:gd name="T95" fmla="*/ 13 h 1305"/>
                    <a:gd name="T96" fmla="*/ 278 w 856"/>
                    <a:gd name="T97" fmla="*/ 26 h 1305"/>
                    <a:gd name="T98" fmla="*/ 261 w 856"/>
                    <a:gd name="T99" fmla="*/ 48 h 1305"/>
                    <a:gd name="T100" fmla="*/ 243 w 856"/>
                    <a:gd name="T101" fmla="*/ 75 h 1305"/>
                    <a:gd name="T102" fmla="*/ 234 w 856"/>
                    <a:gd name="T103" fmla="*/ 101 h 1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6" h="1305">
                      <a:moveTo>
                        <a:pt x="234" y="101"/>
                      </a:moveTo>
                      <a:lnTo>
                        <a:pt x="8" y="605"/>
                      </a:lnTo>
                      <a:lnTo>
                        <a:pt x="4" y="609"/>
                      </a:lnTo>
                      <a:lnTo>
                        <a:pt x="4" y="618"/>
                      </a:lnTo>
                      <a:lnTo>
                        <a:pt x="0" y="627"/>
                      </a:lnTo>
                      <a:lnTo>
                        <a:pt x="0" y="640"/>
                      </a:lnTo>
                      <a:lnTo>
                        <a:pt x="0" y="649"/>
                      </a:lnTo>
                      <a:lnTo>
                        <a:pt x="0" y="662"/>
                      </a:lnTo>
                      <a:lnTo>
                        <a:pt x="4" y="671"/>
                      </a:lnTo>
                      <a:lnTo>
                        <a:pt x="8" y="684"/>
                      </a:lnTo>
                      <a:lnTo>
                        <a:pt x="13" y="693"/>
                      </a:lnTo>
                      <a:lnTo>
                        <a:pt x="17" y="703"/>
                      </a:lnTo>
                      <a:lnTo>
                        <a:pt x="26" y="712"/>
                      </a:lnTo>
                      <a:lnTo>
                        <a:pt x="35" y="721"/>
                      </a:lnTo>
                      <a:lnTo>
                        <a:pt x="44" y="725"/>
                      </a:lnTo>
                      <a:lnTo>
                        <a:pt x="52" y="730"/>
                      </a:lnTo>
                      <a:lnTo>
                        <a:pt x="61" y="730"/>
                      </a:lnTo>
                      <a:lnTo>
                        <a:pt x="70" y="734"/>
                      </a:lnTo>
                      <a:lnTo>
                        <a:pt x="79" y="734"/>
                      </a:lnTo>
                      <a:lnTo>
                        <a:pt x="92" y="734"/>
                      </a:lnTo>
                      <a:lnTo>
                        <a:pt x="558" y="734"/>
                      </a:lnTo>
                      <a:lnTo>
                        <a:pt x="558" y="1304"/>
                      </a:lnTo>
                      <a:lnTo>
                        <a:pt x="704" y="1304"/>
                      </a:lnTo>
                      <a:lnTo>
                        <a:pt x="704" y="627"/>
                      </a:lnTo>
                      <a:lnTo>
                        <a:pt x="704" y="618"/>
                      </a:lnTo>
                      <a:lnTo>
                        <a:pt x="704" y="609"/>
                      </a:lnTo>
                      <a:lnTo>
                        <a:pt x="700" y="605"/>
                      </a:lnTo>
                      <a:lnTo>
                        <a:pt x="695" y="601"/>
                      </a:lnTo>
                      <a:lnTo>
                        <a:pt x="691" y="596"/>
                      </a:lnTo>
                      <a:lnTo>
                        <a:pt x="682" y="587"/>
                      </a:lnTo>
                      <a:lnTo>
                        <a:pt x="678" y="583"/>
                      </a:lnTo>
                      <a:lnTo>
                        <a:pt x="673" y="578"/>
                      </a:lnTo>
                      <a:lnTo>
                        <a:pt x="664" y="578"/>
                      </a:lnTo>
                      <a:lnTo>
                        <a:pt x="656" y="574"/>
                      </a:lnTo>
                      <a:lnTo>
                        <a:pt x="647" y="574"/>
                      </a:lnTo>
                      <a:lnTo>
                        <a:pt x="638" y="570"/>
                      </a:lnTo>
                      <a:lnTo>
                        <a:pt x="629" y="570"/>
                      </a:lnTo>
                      <a:lnTo>
                        <a:pt x="620" y="570"/>
                      </a:lnTo>
                      <a:lnTo>
                        <a:pt x="616" y="570"/>
                      </a:lnTo>
                      <a:lnTo>
                        <a:pt x="607" y="570"/>
                      </a:lnTo>
                      <a:lnTo>
                        <a:pt x="337" y="552"/>
                      </a:lnTo>
                      <a:lnTo>
                        <a:pt x="412" y="331"/>
                      </a:lnTo>
                      <a:lnTo>
                        <a:pt x="465" y="411"/>
                      </a:lnTo>
                      <a:lnTo>
                        <a:pt x="793" y="411"/>
                      </a:lnTo>
                      <a:lnTo>
                        <a:pt x="802" y="406"/>
                      </a:lnTo>
                      <a:lnTo>
                        <a:pt x="811" y="406"/>
                      </a:lnTo>
                      <a:lnTo>
                        <a:pt x="815" y="402"/>
                      </a:lnTo>
                      <a:lnTo>
                        <a:pt x="820" y="402"/>
                      </a:lnTo>
                      <a:lnTo>
                        <a:pt x="829" y="398"/>
                      </a:lnTo>
                      <a:lnTo>
                        <a:pt x="837" y="393"/>
                      </a:lnTo>
                      <a:lnTo>
                        <a:pt x="842" y="384"/>
                      </a:lnTo>
                      <a:lnTo>
                        <a:pt x="846" y="380"/>
                      </a:lnTo>
                      <a:lnTo>
                        <a:pt x="851" y="371"/>
                      </a:lnTo>
                      <a:lnTo>
                        <a:pt x="851" y="367"/>
                      </a:lnTo>
                      <a:lnTo>
                        <a:pt x="855" y="358"/>
                      </a:lnTo>
                      <a:lnTo>
                        <a:pt x="855" y="345"/>
                      </a:lnTo>
                      <a:lnTo>
                        <a:pt x="855" y="336"/>
                      </a:lnTo>
                      <a:lnTo>
                        <a:pt x="851" y="327"/>
                      </a:lnTo>
                      <a:lnTo>
                        <a:pt x="846" y="318"/>
                      </a:lnTo>
                      <a:lnTo>
                        <a:pt x="842" y="309"/>
                      </a:lnTo>
                      <a:lnTo>
                        <a:pt x="837" y="305"/>
                      </a:lnTo>
                      <a:lnTo>
                        <a:pt x="833" y="300"/>
                      </a:lnTo>
                      <a:lnTo>
                        <a:pt x="824" y="291"/>
                      </a:lnTo>
                      <a:lnTo>
                        <a:pt x="815" y="286"/>
                      </a:lnTo>
                      <a:lnTo>
                        <a:pt x="815" y="282"/>
                      </a:lnTo>
                      <a:lnTo>
                        <a:pt x="802" y="282"/>
                      </a:lnTo>
                      <a:lnTo>
                        <a:pt x="793" y="282"/>
                      </a:lnTo>
                      <a:lnTo>
                        <a:pt x="541" y="282"/>
                      </a:lnTo>
                      <a:lnTo>
                        <a:pt x="487" y="194"/>
                      </a:lnTo>
                      <a:lnTo>
                        <a:pt x="496" y="185"/>
                      </a:lnTo>
                      <a:lnTo>
                        <a:pt x="500" y="172"/>
                      </a:lnTo>
                      <a:lnTo>
                        <a:pt x="500" y="163"/>
                      </a:lnTo>
                      <a:lnTo>
                        <a:pt x="505" y="150"/>
                      </a:lnTo>
                      <a:lnTo>
                        <a:pt x="505" y="132"/>
                      </a:lnTo>
                      <a:lnTo>
                        <a:pt x="505" y="123"/>
                      </a:lnTo>
                      <a:lnTo>
                        <a:pt x="505" y="105"/>
                      </a:lnTo>
                      <a:lnTo>
                        <a:pt x="500" y="97"/>
                      </a:lnTo>
                      <a:lnTo>
                        <a:pt x="496" y="83"/>
                      </a:lnTo>
                      <a:lnTo>
                        <a:pt x="491" y="75"/>
                      </a:lnTo>
                      <a:lnTo>
                        <a:pt x="487" y="66"/>
                      </a:lnTo>
                      <a:lnTo>
                        <a:pt x="482" y="57"/>
                      </a:lnTo>
                      <a:lnTo>
                        <a:pt x="474" y="44"/>
                      </a:lnTo>
                      <a:lnTo>
                        <a:pt x="465" y="39"/>
                      </a:lnTo>
                      <a:lnTo>
                        <a:pt x="456" y="30"/>
                      </a:lnTo>
                      <a:lnTo>
                        <a:pt x="447" y="22"/>
                      </a:lnTo>
                      <a:lnTo>
                        <a:pt x="434" y="13"/>
                      </a:lnTo>
                      <a:lnTo>
                        <a:pt x="425" y="13"/>
                      </a:lnTo>
                      <a:lnTo>
                        <a:pt x="412" y="4"/>
                      </a:lnTo>
                      <a:lnTo>
                        <a:pt x="399" y="4"/>
                      </a:lnTo>
                      <a:lnTo>
                        <a:pt x="385" y="0"/>
                      </a:lnTo>
                      <a:lnTo>
                        <a:pt x="372" y="0"/>
                      </a:lnTo>
                      <a:lnTo>
                        <a:pt x="359" y="0"/>
                      </a:lnTo>
                      <a:lnTo>
                        <a:pt x="346" y="0"/>
                      </a:lnTo>
                      <a:lnTo>
                        <a:pt x="332" y="4"/>
                      </a:lnTo>
                      <a:lnTo>
                        <a:pt x="318" y="8"/>
                      </a:lnTo>
                      <a:lnTo>
                        <a:pt x="305" y="13"/>
                      </a:lnTo>
                      <a:lnTo>
                        <a:pt x="292" y="17"/>
                      </a:lnTo>
                      <a:lnTo>
                        <a:pt x="278" y="26"/>
                      </a:lnTo>
                      <a:lnTo>
                        <a:pt x="270" y="39"/>
                      </a:lnTo>
                      <a:lnTo>
                        <a:pt x="261" y="48"/>
                      </a:lnTo>
                      <a:lnTo>
                        <a:pt x="252" y="57"/>
                      </a:lnTo>
                      <a:lnTo>
                        <a:pt x="243" y="75"/>
                      </a:lnTo>
                      <a:lnTo>
                        <a:pt x="234" y="83"/>
                      </a:lnTo>
                      <a:lnTo>
                        <a:pt x="234"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nvGrpSpPr>
            <p:cNvPr id="12435" name="Group 147"/>
            <p:cNvGrpSpPr>
              <a:grpSpLocks/>
            </p:cNvGrpSpPr>
            <p:nvPr/>
          </p:nvGrpSpPr>
          <p:grpSpPr bwMode="auto">
            <a:xfrm>
              <a:off x="2188" y="3052"/>
              <a:ext cx="966" cy="447"/>
              <a:chOff x="2188" y="3052"/>
              <a:chExt cx="966" cy="447"/>
            </a:xfrm>
          </p:grpSpPr>
          <p:grpSp>
            <p:nvGrpSpPr>
              <p:cNvPr id="12436" name="Group 148"/>
              <p:cNvGrpSpPr>
                <a:grpSpLocks/>
              </p:cNvGrpSpPr>
              <p:nvPr/>
            </p:nvGrpSpPr>
            <p:grpSpPr bwMode="auto">
              <a:xfrm>
                <a:off x="2188" y="3052"/>
                <a:ext cx="304" cy="447"/>
                <a:chOff x="2188" y="3052"/>
                <a:chExt cx="304" cy="447"/>
              </a:xfrm>
            </p:grpSpPr>
            <p:grpSp>
              <p:nvGrpSpPr>
                <p:cNvPr id="12437" name="Group 149"/>
                <p:cNvGrpSpPr>
                  <a:grpSpLocks/>
                </p:cNvGrpSpPr>
                <p:nvPr/>
              </p:nvGrpSpPr>
              <p:grpSpPr bwMode="auto">
                <a:xfrm>
                  <a:off x="2188" y="3052"/>
                  <a:ext cx="304" cy="447"/>
                  <a:chOff x="2188" y="3052"/>
                  <a:chExt cx="304" cy="447"/>
                </a:xfrm>
              </p:grpSpPr>
              <p:grpSp>
                <p:nvGrpSpPr>
                  <p:cNvPr id="12438" name="Group 150"/>
                  <p:cNvGrpSpPr>
                    <a:grpSpLocks/>
                  </p:cNvGrpSpPr>
                  <p:nvPr/>
                </p:nvGrpSpPr>
                <p:grpSpPr bwMode="auto">
                  <a:xfrm>
                    <a:off x="2188" y="3123"/>
                    <a:ext cx="304" cy="376"/>
                    <a:chOff x="2188" y="3123"/>
                    <a:chExt cx="304" cy="376"/>
                  </a:xfrm>
                </p:grpSpPr>
                <p:sp>
                  <p:nvSpPr>
                    <p:cNvPr id="12439" name="Freeform 151"/>
                    <p:cNvSpPr>
                      <a:spLocks noChangeArrowheads="1"/>
                    </p:cNvSpPr>
                    <p:nvPr/>
                  </p:nvSpPr>
                  <p:spPr bwMode="auto">
                    <a:xfrm>
                      <a:off x="2188" y="3123"/>
                      <a:ext cx="305" cy="377"/>
                    </a:xfrm>
                    <a:custGeom>
                      <a:avLst/>
                      <a:gdLst>
                        <a:gd name="T0" fmla="*/ 0 w 1346"/>
                        <a:gd name="T1" fmla="*/ 1662 h 1663"/>
                        <a:gd name="T2" fmla="*/ 0 w 1346"/>
                        <a:gd name="T3" fmla="*/ 336 h 1663"/>
                        <a:gd name="T4" fmla="*/ 335 w 1346"/>
                        <a:gd name="T5" fmla="*/ 0 h 1663"/>
                        <a:gd name="T6" fmla="*/ 1345 w 1346"/>
                        <a:gd name="T7" fmla="*/ 0 h 1663"/>
                        <a:gd name="T8" fmla="*/ 1345 w 1346"/>
                        <a:gd name="T9" fmla="*/ 1326 h 1663"/>
                        <a:gd name="T10" fmla="*/ 1008 w 1346"/>
                        <a:gd name="T11" fmla="*/ 1662 h 1663"/>
                        <a:gd name="T12" fmla="*/ 0 w 1346"/>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346" h="1663">
                          <a:moveTo>
                            <a:pt x="0" y="1662"/>
                          </a:moveTo>
                          <a:lnTo>
                            <a:pt x="0" y="336"/>
                          </a:lnTo>
                          <a:lnTo>
                            <a:pt x="335" y="0"/>
                          </a:lnTo>
                          <a:lnTo>
                            <a:pt x="1345" y="0"/>
                          </a:lnTo>
                          <a:lnTo>
                            <a:pt x="1345" y="1326"/>
                          </a:lnTo>
                          <a:lnTo>
                            <a:pt x="1008" y="1662"/>
                          </a:lnTo>
                          <a:lnTo>
                            <a:pt x="0" y="1662"/>
                          </a:lnTo>
                        </a:path>
                      </a:pathLst>
                    </a:custGeom>
                    <a:solidFill>
                      <a:srgbClr val="F6BF69"/>
                    </a:solidFill>
                    <a:ln w="12600">
                      <a:solidFill>
                        <a:srgbClr val="000000"/>
                      </a:solidFill>
                      <a:round/>
                      <a:headEnd/>
                      <a:tailEnd/>
                    </a:ln>
                  </p:spPr>
                  <p:txBody>
                    <a:bodyPr wrap="none" anchor="ctr"/>
                    <a:lstStyle/>
                    <a:p>
                      <a:endParaRPr lang="en-IN"/>
                    </a:p>
                  </p:txBody>
                </p:sp>
                <p:sp>
                  <p:nvSpPr>
                    <p:cNvPr id="12440" name="Freeform 152"/>
                    <p:cNvSpPr>
                      <a:spLocks noChangeArrowheads="1"/>
                    </p:cNvSpPr>
                    <p:nvPr/>
                  </p:nvSpPr>
                  <p:spPr bwMode="auto">
                    <a:xfrm>
                      <a:off x="2188" y="3123"/>
                      <a:ext cx="305" cy="76"/>
                    </a:xfrm>
                    <a:custGeom>
                      <a:avLst/>
                      <a:gdLst>
                        <a:gd name="T0" fmla="*/ 0 w 1346"/>
                        <a:gd name="T1" fmla="*/ 336 h 337"/>
                        <a:gd name="T2" fmla="*/ 335 w 1346"/>
                        <a:gd name="T3" fmla="*/ 0 h 337"/>
                        <a:gd name="T4" fmla="*/ 1345 w 1346"/>
                        <a:gd name="T5" fmla="*/ 0 h 337"/>
                        <a:gd name="T6" fmla="*/ 1008 w 1346"/>
                        <a:gd name="T7" fmla="*/ 336 h 337"/>
                        <a:gd name="T8" fmla="*/ 0 w 1346"/>
                        <a:gd name="T9" fmla="*/ 336 h 337"/>
                      </a:gdLst>
                      <a:ahLst/>
                      <a:cxnLst>
                        <a:cxn ang="0">
                          <a:pos x="T0" y="T1"/>
                        </a:cxn>
                        <a:cxn ang="0">
                          <a:pos x="T2" y="T3"/>
                        </a:cxn>
                        <a:cxn ang="0">
                          <a:pos x="T4" y="T5"/>
                        </a:cxn>
                        <a:cxn ang="0">
                          <a:pos x="T6" y="T7"/>
                        </a:cxn>
                        <a:cxn ang="0">
                          <a:pos x="T8" y="T9"/>
                        </a:cxn>
                      </a:cxnLst>
                      <a:rect l="0" t="0" r="r" b="b"/>
                      <a:pathLst>
                        <a:path w="1346" h="337">
                          <a:moveTo>
                            <a:pt x="0" y="336"/>
                          </a:moveTo>
                          <a:lnTo>
                            <a:pt x="335" y="0"/>
                          </a:lnTo>
                          <a:lnTo>
                            <a:pt x="1345" y="0"/>
                          </a:lnTo>
                          <a:lnTo>
                            <a:pt x="1008" y="336"/>
                          </a:lnTo>
                          <a:lnTo>
                            <a:pt x="0" y="336"/>
                          </a:lnTo>
                        </a:path>
                      </a:pathLst>
                    </a:custGeom>
                    <a:solidFill>
                      <a:srgbClr val="FFD072"/>
                    </a:solidFill>
                    <a:ln w="12600">
                      <a:solidFill>
                        <a:srgbClr val="000000"/>
                      </a:solidFill>
                      <a:round/>
                      <a:headEnd/>
                      <a:tailEnd/>
                    </a:ln>
                  </p:spPr>
                  <p:txBody>
                    <a:bodyPr wrap="none" anchor="ctr"/>
                    <a:lstStyle/>
                    <a:p>
                      <a:endParaRPr lang="en-IN"/>
                    </a:p>
                  </p:txBody>
                </p:sp>
                <p:sp>
                  <p:nvSpPr>
                    <p:cNvPr id="12441" name="Freeform 153"/>
                    <p:cNvSpPr>
                      <a:spLocks noChangeArrowheads="1"/>
                    </p:cNvSpPr>
                    <p:nvPr/>
                  </p:nvSpPr>
                  <p:spPr bwMode="auto">
                    <a:xfrm>
                      <a:off x="2416" y="3123"/>
                      <a:ext cx="77" cy="377"/>
                    </a:xfrm>
                    <a:custGeom>
                      <a:avLst/>
                      <a:gdLst>
                        <a:gd name="T0" fmla="*/ 0 w 338"/>
                        <a:gd name="T1" fmla="*/ 1662 h 1663"/>
                        <a:gd name="T2" fmla="*/ 0 w 338"/>
                        <a:gd name="T3" fmla="*/ 336 h 1663"/>
                        <a:gd name="T4" fmla="*/ 337 w 338"/>
                        <a:gd name="T5" fmla="*/ 0 h 1663"/>
                        <a:gd name="T6" fmla="*/ 337 w 338"/>
                        <a:gd name="T7" fmla="*/ 1326 h 1663"/>
                        <a:gd name="T8" fmla="*/ 0 w 338"/>
                        <a:gd name="T9" fmla="*/ 1662 h 1663"/>
                      </a:gdLst>
                      <a:ahLst/>
                      <a:cxnLst>
                        <a:cxn ang="0">
                          <a:pos x="T0" y="T1"/>
                        </a:cxn>
                        <a:cxn ang="0">
                          <a:pos x="T2" y="T3"/>
                        </a:cxn>
                        <a:cxn ang="0">
                          <a:pos x="T4" y="T5"/>
                        </a:cxn>
                        <a:cxn ang="0">
                          <a:pos x="T6" y="T7"/>
                        </a:cxn>
                        <a:cxn ang="0">
                          <a:pos x="T8" y="T9"/>
                        </a:cxn>
                      </a:cxnLst>
                      <a:rect l="0" t="0" r="r" b="b"/>
                      <a:pathLst>
                        <a:path w="338" h="1663">
                          <a:moveTo>
                            <a:pt x="0" y="1662"/>
                          </a:moveTo>
                          <a:lnTo>
                            <a:pt x="0" y="336"/>
                          </a:lnTo>
                          <a:lnTo>
                            <a:pt x="337" y="0"/>
                          </a:lnTo>
                          <a:lnTo>
                            <a:pt x="337" y="1326"/>
                          </a:lnTo>
                          <a:lnTo>
                            <a:pt x="0" y="1662"/>
                          </a:lnTo>
                        </a:path>
                      </a:pathLst>
                    </a:custGeom>
                    <a:solidFill>
                      <a:srgbClr val="D3A45A"/>
                    </a:solidFill>
                    <a:ln w="12600">
                      <a:solidFill>
                        <a:srgbClr val="000000"/>
                      </a:solidFill>
                      <a:round/>
                      <a:headEnd/>
                      <a:tailEnd/>
                    </a:ln>
                  </p:spPr>
                  <p:txBody>
                    <a:bodyPr wrap="none" anchor="ctr"/>
                    <a:lstStyle/>
                    <a:p>
                      <a:endParaRPr lang="en-IN"/>
                    </a:p>
                  </p:txBody>
                </p:sp>
              </p:grpSp>
              <p:grpSp>
                <p:nvGrpSpPr>
                  <p:cNvPr id="12442" name="Group 154"/>
                  <p:cNvGrpSpPr>
                    <a:grpSpLocks/>
                  </p:cNvGrpSpPr>
                  <p:nvPr/>
                </p:nvGrpSpPr>
                <p:grpSpPr bwMode="auto">
                  <a:xfrm>
                    <a:off x="2258" y="3052"/>
                    <a:ext cx="234" cy="77"/>
                    <a:chOff x="2258" y="3052"/>
                    <a:chExt cx="234" cy="77"/>
                  </a:xfrm>
                </p:grpSpPr>
                <p:sp>
                  <p:nvSpPr>
                    <p:cNvPr id="12443" name="Freeform 155"/>
                    <p:cNvSpPr>
                      <a:spLocks noChangeArrowheads="1"/>
                    </p:cNvSpPr>
                    <p:nvPr/>
                  </p:nvSpPr>
                  <p:spPr bwMode="auto">
                    <a:xfrm>
                      <a:off x="2258" y="3052"/>
                      <a:ext cx="235" cy="78"/>
                    </a:xfrm>
                    <a:custGeom>
                      <a:avLst/>
                      <a:gdLst>
                        <a:gd name="T0" fmla="*/ 0 w 1037"/>
                        <a:gd name="T1" fmla="*/ 344 h 345"/>
                        <a:gd name="T2" fmla="*/ 0 w 1037"/>
                        <a:gd name="T3" fmla="*/ 85 h 345"/>
                        <a:gd name="T4" fmla="*/ 85 w 1037"/>
                        <a:gd name="T5" fmla="*/ 0 h 345"/>
                        <a:gd name="T6" fmla="*/ 1036 w 1037"/>
                        <a:gd name="T7" fmla="*/ 0 h 345"/>
                        <a:gd name="T8" fmla="*/ 1036 w 1037"/>
                        <a:gd name="T9" fmla="*/ 257 h 345"/>
                        <a:gd name="T10" fmla="*/ 949 w 1037"/>
                        <a:gd name="T11" fmla="*/ 344 h 345"/>
                        <a:gd name="T12" fmla="*/ 0 w 1037"/>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037" h="345">
                          <a:moveTo>
                            <a:pt x="0" y="344"/>
                          </a:moveTo>
                          <a:lnTo>
                            <a:pt x="0" y="85"/>
                          </a:lnTo>
                          <a:lnTo>
                            <a:pt x="85" y="0"/>
                          </a:lnTo>
                          <a:lnTo>
                            <a:pt x="1036" y="0"/>
                          </a:lnTo>
                          <a:lnTo>
                            <a:pt x="1036" y="257"/>
                          </a:lnTo>
                          <a:lnTo>
                            <a:pt x="949" y="344"/>
                          </a:lnTo>
                          <a:lnTo>
                            <a:pt x="0" y="344"/>
                          </a:lnTo>
                        </a:path>
                      </a:pathLst>
                    </a:custGeom>
                    <a:solidFill>
                      <a:srgbClr val="F6BF69"/>
                    </a:solidFill>
                    <a:ln w="12600">
                      <a:solidFill>
                        <a:srgbClr val="000000"/>
                      </a:solidFill>
                      <a:round/>
                      <a:headEnd/>
                      <a:tailEnd/>
                    </a:ln>
                  </p:spPr>
                  <p:txBody>
                    <a:bodyPr wrap="none" anchor="ctr"/>
                    <a:lstStyle/>
                    <a:p>
                      <a:endParaRPr lang="en-IN"/>
                    </a:p>
                  </p:txBody>
                </p:sp>
                <p:sp>
                  <p:nvSpPr>
                    <p:cNvPr id="12444" name="Freeform 156"/>
                    <p:cNvSpPr>
                      <a:spLocks noChangeArrowheads="1"/>
                    </p:cNvSpPr>
                    <p:nvPr/>
                  </p:nvSpPr>
                  <p:spPr bwMode="auto">
                    <a:xfrm>
                      <a:off x="2258" y="3052"/>
                      <a:ext cx="235" cy="20"/>
                    </a:xfrm>
                    <a:custGeom>
                      <a:avLst/>
                      <a:gdLst>
                        <a:gd name="T0" fmla="*/ 0 w 1037"/>
                        <a:gd name="T1" fmla="*/ 85 h 86"/>
                        <a:gd name="T2" fmla="*/ 85 w 1037"/>
                        <a:gd name="T3" fmla="*/ 0 h 86"/>
                        <a:gd name="T4" fmla="*/ 1036 w 1037"/>
                        <a:gd name="T5" fmla="*/ 0 h 86"/>
                        <a:gd name="T6" fmla="*/ 949 w 1037"/>
                        <a:gd name="T7" fmla="*/ 85 h 86"/>
                        <a:gd name="T8" fmla="*/ 0 w 1037"/>
                        <a:gd name="T9" fmla="*/ 85 h 86"/>
                      </a:gdLst>
                      <a:ahLst/>
                      <a:cxnLst>
                        <a:cxn ang="0">
                          <a:pos x="T0" y="T1"/>
                        </a:cxn>
                        <a:cxn ang="0">
                          <a:pos x="T2" y="T3"/>
                        </a:cxn>
                        <a:cxn ang="0">
                          <a:pos x="T4" y="T5"/>
                        </a:cxn>
                        <a:cxn ang="0">
                          <a:pos x="T6" y="T7"/>
                        </a:cxn>
                        <a:cxn ang="0">
                          <a:pos x="T8" y="T9"/>
                        </a:cxn>
                      </a:cxnLst>
                      <a:rect l="0" t="0" r="r" b="b"/>
                      <a:pathLst>
                        <a:path w="1037" h="86">
                          <a:moveTo>
                            <a:pt x="0" y="85"/>
                          </a:moveTo>
                          <a:lnTo>
                            <a:pt x="85" y="0"/>
                          </a:lnTo>
                          <a:lnTo>
                            <a:pt x="1036" y="0"/>
                          </a:lnTo>
                          <a:lnTo>
                            <a:pt x="949" y="85"/>
                          </a:lnTo>
                          <a:lnTo>
                            <a:pt x="0" y="85"/>
                          </a:lnTo>
                        </a:path>
                      </a:pathLst>
                    </a:custGeom>
                    <a:solidFill>
                      <a:srgbClr val="FFD072"/>
                    </a:solidFill>
                    <a:ln w="12600">
                      <a:solidFill>
                        <a:srgbClr val="000000"/>
                      </a:solidFill>
                      <a:round/>
                      <a:headEnd/>
                      <a:tailEnd/>
                    </a:ln>
                  </p:spPr>
                  <p:txBody>
                    <a:bodyPr wrap="none" anchor="ctr"/>
                    <a:lstStyle/>
                    <a:p>
                      <a:endParaRPr lang="en-IN"/>
                    </a:p>
                  </p:txBody>
                </p:sp>
                <p:sp>
                  <p:nvSpPr>
                    <p:cNvPr id="12445" name="Freeform 157"/>
                    <p:cNvSpPr>
                      <a:spLocks noChangeArrowheads="1"/>
                    </p:cNvSpPr>
                    <p:nvPr/>
                  </p:nvSpPr>
                  <p:spPr bwMode="auto">
                    <a:xfrm>
                      <a:off x="2473" y="3052"/>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D3A45A"/>
                    </a:solidFill>
                    <a:ln w="12600">
                      <a:solidFill>
                        <a:srgbClr val="000000"/>
                      </a:solidFill>
                      <a:round/>
                      <a:headEnd/>
                      <a:tailEnd/>
                    </a:ln>
                  </p:spPr>
                  <p:txBody>
                    <a:bodyPr wrap="none" anchor="ctr"/>
                    <a:lstStyle/>
                    <a:p>
                      <a:endParaRPr lang="en-IN"/>
                    </a:p>
                  </p:txBody>
                </p:sp>
              </p:grpSp>
            </p:grpSp>
            <p:sp>
              <p:nvSpPr>
                <p:cNvPr id="12446" name="Freeform 158"/>
                <p:cNvSpPr>
                  <a:spLocks noChangeArrowheads="1"/>
                </p:cNvSpPr>
                <p:nvPr/>
              </p:nvSpPr>
              <p:spPr bwMode="auto">
                <a:xfrm>
                  <a:off x="2250" y="3156"/>
                  <a:ext cx="158" cy="27"/>
                </a:xfrm>
                <a:custGeom>
                  <a:avLst/>
                  <a:gdLst>
                    <a:gd name="T0" fmla="*/ 173 w 698"/>
                    <a:gd name="T1" fmla="*/ 0 h 120"/>
                    <a:gd name="T2" fmla="*/ 697 w 698"/>
                    <a:gd name="T3" fmla="*/ 0 h 120"/>
                    <a:gd name="T4" fmla="*/ 522 w 698"/>
                    <a:gd name="T5" fmla="*/ 119 h 120"/>
                    <a:gd name="T6" fmla="*/ 0 w 698"/>
                    <a:gd name="T7" fmla="*/ 119 h 120"/>
                    <a:gd name="T8" fmla="*/ 173 w 698"/>
                    <a:gd name="T9" fmla="*/ 0 h 120"/>
                  </a:gdLst>
                  <a:ahLst/>
                  <a:cxnLst>
                    <a:cxn ang="0">
                      <a:pos x="T0" y="T1"/>
                    </a:cxn>
                    <a:cxn ang="0">
                      <a:pos x="T2" y="T3"/>
                    </a:cxn>
                    <a:cxn ang="0">
                      <a:pos x="T4" y="T5"/>
                    </a:cxn>
                    <a:cxn ang="0">
                      <a:pos x="T6" y="T7"/>
                    </a:cxn>
                    <a:cxn ang="0">
                      <a:pos x="T8" y="T9"/>
                    </a:cxn>
                  </a:cxnLst>
                  <a:rect l="0" t="0" r="r" b="b"/>
                  <a:pathLst>
                    <a:path w="698" h="120">
                      <a:moveTo>
                        <a:pt x="173" y="0"/>
                      </a:moveTo>
                      <a:lnTo>
                        <a:pt x="697" y="0"/>
                      </a:lnTo>
                      <a:lnTo>
                        <a:pt x="522" y="119"/>
                      </a:lnTo>
                      <a:lnTo>
                        <a:pt x="0" y="119"/>
                      </a:lnTo>
                      <a:lnTo>
                        <a:pt x="173" y="0"/>
                      </a:lnTo>
                    </a:path>
                  </a:pathLst>
                </a:custGeom>
                <a:solidFill>
                  <a:srgbClr val="F6BF69"/>
                </a:solidFill>
                <a:ln w="25560">
                  <a:solidFill>
                    <a:srgbClr val="000000"/>
                  </a:solidFill>
                  <a:round/>
                  <a:headEnd/>
                  <a:tailEnd/>
                </a:ln>
              </p:spPr>
              <p:txBody>
                <a:bodyPr wrap="none" anchor="ctr"/>
                <a:lstStyle/>
                <a:p>
                  <a:endParaRPr lang="en-IN"/>
                </a:p>
              </p:txBody>
            </p:sp>
          </p:grpSp>
          <p:grpSp>
            <p:nvGrpSpPr>
              <p:cNvPr id="12447" name="Group 159"/>
              <p:cNvGrpSpPr>
                <a:grpSpLocks/>
              </p:cNvGrpSpPr>
              <p:nvPr/>
            </p:nvGrpSpPr>
            <p:grpSpPr bwMode="auto">
              <a:xfrm>
                <a:off x="2489" y="3052"/>
                <a:ext cx="377" cy="447"/>
                <a:chOff x="2489" y="3052"/>
                <a:chExt cx="377" cy="447"/>
              </a:xfrm>
            </p:grpSpPr>
            <p:grpSp>
              <p:nvGrpSpPr>
                <p:cNvPr id="12448" name="Group 160"/>
                <p:cNvGrpSpPr>
                  <a:grpSpLocks/>
                </p:cNvGrpSpPr>
                <p:nvPr/>
              </p:nvGrpSpPr>
              <p:grpSpPr bwMode="auto">
                <a:xfrm>
                  <a:off x="2489" y="3052"/>
                  <a:ext cx="377" cy="447"/>
                  <a:chOff x="2489" y="3052"/>
                  <a:chExt cx="377" cy="447"/>
                </a:xfrm>
              </p:grpSpPr>
              <p:grpSp>
                <p:nvGrpSpPr>
                  <p:cNvPr id="12449" name="Group 161"/>
                  <p:cNvGrpSpPr>
                    <a:grpSpLocks/>
                  </p:cNvGrpSpPr>
                  <p:nvPr/>
                </p:nvGrpSpPr>
                <p:grpSpPr bwMode="auto">
                  <a:xfrm>
                    <a:off x="2489" y="3123"/>
                    <a:ext cx="377" cy="376"/>
                    <a:chOff x="2489" y="3123"/>
                    <a:chExt cx="377" cy="376"/>
                  </a:xfrm>
                </p:grpSpPr>
                <p:sp>
                  <p:nvSpPr>
                    <p:cNvPr id="12450" name="Freeform 162"/>
                    <p:cNvSpPr>
                      <a:spLocks noChangeArrowheads="1"/>
                    </p:cNvSpPr>
                    <p:nvPr/>
                  </p:nvSpPr>
                  <p:spPr bwMode="auto">
                    <a:xfrm>
                      <a:off x="2489" y="3123"/>
                      <a:ext cx="378" cy="377"/>
                    </a:xfrm>
                    <a:custGeom>
                      <a:avLst/>
                      <a:gdLst>
                        <a:gd name="T0" fmla="*/ 0 w 1668"/>
                        <a:gd name="T1" fmla="*/ 1662 h 1663"/>
                        <a:gd name="T2" fmla="*/ 0 w 1668"/>
                        <a:gd name="T3" fmla="*/ 415 h 1663"/>
                        <a:gd name="T4" fmla="*/ 414 w 1668"/>
                        <a:gd name="T5" fmla="*/ 0 h 1663"/>
                        <a:gd name="T6" fmla="*/ 1667 w 1668"/>
                        <a:gd name="T7" fmla="*/ 0 h 1663"/>
                        <a:gd name="T8" fmla="*/ 1667 w 1668"/>
                        <a:gd name="T9" fmla="*/ 1247 h 1663"/>
                        <a:gd name="T10" fmla="*/ 1251 w 1668"/>
                        <a:gd name="T11" fmla="*/ 1662 h 1663"/>
                        <a:gd name="T12" fmla="*/ 0 w 1668"/>
                        <a:gd name="T13" fmla="*/ 1662 h 1663"/>
                      </a:gdLst>
                      <a:ahLst/>
                      <a:cxnLst>
                        <a:cxn ang="0">
                          <a:pos x="T0" y="T1"/>
                        </a:cxn>
                        <a:cxn ang="0">
                          <a:pos x="T2" y="T3"/>
                        </a:cxn>
                        <a:cxn ang="0">
                          <a:pos x="T4" y="T5"/>
                        </a:cxn>
                        <a:cxn ang="0">
                          <a:pos x="T6" y="T7"/>
                        </a:cxn>
                        <a:cxn ang="0">
                          <a:pos x="T8" y="T9"/>
                        </a:cxn>
                        <a:cxn ang="0">
                          <a:pos x="T10" y="T11"/>
                        </a:cxn>
                        <a:cxn ang="0">
                          <a:pos x="T12" y="T13"/>
                        </a:cxn>
                      </a:cxnLst>
                      <a:rect l="0" t="0" r="r" b="b"/>
                      <a:pathLst>
                        <a:path w="1668" h="1663">
                          <a:moveTo>
                            <a:pt x="0" y="1662"/>
                          </a:moveTo>
                          <a:lnTo>
                            <a:pt x="0" y="415"/>
                          </a:lnTo>
                          <a:lnTo>
                            <a:pt x="414" y="0"/>
                          </a:lnTo>
                          <a:lnTo>
                            <a:pt x="1667" y="0"/>
                          </a:lnTo>
                          <a:lnTo>
                            <a:pt x="1667" y="1247"/>
                          </a:lnTo>
                          <a:lnTo>
                            <a:pt x="1251" y="1662"/>
                          </a:lnTo>
                          <a:lnTo>
                            <a:pt x="0" y="1662"/>
                          </a:lnTo>
                        </a:path>
                      </a:pathLst>
                    </a:custGeom>
                    <a:solidFill>
                      <a:srgbClr val="A2C1FE"/>
                    </a:solidFill>
                    <a:ln w="12600">
                      <a:solidFill>
                        <a:srgbClr val="000000"/>
                      </a:solidFill>
                      <a:round/>
                      <a:headEnd/>
                      <a:tailEnd/>
                    </a:ln>
                  </p:spPr>
                  <p:txBody>
                    <a:bodyPr wrap="none" anchor="ctr"/>
                    <a:lstStyle/>
                    <a:p>
                      <a:endParaRPr lang="en-IN"/>
                    </a:p>
                  </p:txBody>
                </p:sp>
                <p:sp>
                  <p:nvSpPr>
                    <p:cNvPr id="12451" name="Freeform 163"/>
                    <p:cNvSpPr>
                      <a:spLocks noChangeArrowheads="1"/>
                    </p:cNvSpPr>
                    <p:nvPr/>
                  </p:nvSpPr>
                  <p:spPr bwMode="auto">
                    <a:xfrm>
                      <a:off x="2489" y="3123"/>
                      <a:ext cx="378" cy="94"/>
                    </a:xfrm>
                    <a:custGeom>
                      <a:avLst/>
                      <a:gdLst>
                        <a:gd name="T0" fmla="*/ 0 w 1668"/>
                        <a:gd name="T1" fmla="*/ 415 h 416"/>
                        <a:gd name="T2" fmla="*/ 414 w 1668"/>
                        <a:gd name="T3" fmla="*/ 0 h 416"/>
                        <a:gd name="T4" fmla="*/ 1667 w 1668"/>
                        <a:gd name="T5" fmla="*/ 0 h 416"/>
                        <a:gd name="T6" fmla="*/ 1251 w 1668"/>
                        <a:gd name="T7" fmla="*/ 415 h 416"/>
                        <a:gd name="T8" fmla="*/ 0 w 1668"/>
                        <a:gd name="T9" fmla="*/ 415 h 416"/>
                      </a:gdLst>
                      <a:ahLst/>
                      <a:cxnLst>
                        <a:cxn ang="0">
                          <a:pos x="T0" y="T1"/>
                        </a:cxn>
                        <a:cxn ang="0">
                          <a:pos x="T2" y="T3"/>
                        </a:cxn>
                        <a:cxn ang="0">
                          <a:pos x="T4" y="T5"/>
                        </a:cxn>
                        <a:cxn ang="0">
                          <a:pos x="T6" y="T7"/>
                        </a:cxn>
                        <a:cxn ang="0">
                          <a:pos x="T8" y="T9"/>
                        </a:cxn>
                      </a:cxnLst>
                      <a:rect l="0" t="0" r="r" b="b"/>
                      <a:pathLst>
                        <a:path w="1668" h="416">
                          <a:moveTo>
                            <a:pt x="0" y="415"/>
                          </a:moveTo>
                          <a:lnTo>
                            <a:pt x="414" y="0"/>
                          </a:lnTo>
                          <a:lnTo>
                            <a:pt x="1667" y="0"/>
                          </a:lnTo>
                          <a:lnTo>
                            <a:pt x="1251" y="415"/>
                          </a:lnTo>
                          <a:lnTo>
                            <a:pt x="0" y="415"/>
                          </a:lnTo>
                        </a:path>
                      </a:pathLst>
                    </a:custGeom>
                    <a:solidFill>
                      <a:srgbClr val="B1D3FF"/>
                    </a:solidFill>
                    <a:ln w="12600">
                      <a:solidFill>
                        <a:srgbClr val="000000"/>
                      </a:solidFill>
                      <a:round/>
                      <a:headEnd/>
                      <a:tailEnd/>
                    </a:ln>
                  </p:spPr>
                  <p:txBody>
                    <a:bodyPr wrap="none" anchor="ctr"/>
                    <a:lstStyle/>
                    <a:p>
                      <a:endParaRPr lang="en-IN"/>
                    </a:p>
                  </p:txBody>
                </p:sp>
                <p:sp>
                  <p:nvSpPr>
                    <p:cNvPr id="12452" name="Freeform 164"/>
                    <p:cNvSpPr>
                      <a:spLocks noChangeArrowheads="1"/>
                    </p:cNvSpPr>
                    <p:nvPr/>
                  </p:nvSpPr>
                  <p:spPr bwMode="auto">
                    <a:xfrm>
                      <a:off x="2773" y="3123"/>
                      <a:ext cx="95" cy="377"/>
                    </a:xfrm>
                    <a:custGeom>
                      <a:avLst/>
                      <a:gdLst>
                        <a:gd name="T0" fmla="*/ 0 w 417"/>
                        <a:gd name="T1" fmla="*/ 1662 h 1663"/>
                        <a:gd name="T2" fmla="*/ 0 w 417"/>
                        <a:gd name="T3" fmla="*/ 415 h 1663"/>
                        <a:gd name="T4" fmla="*/ 416 w 417"/>
                        <a:gd name="T5" fmla="*/ 0 h 1663"/>
                        <a:gd name="T6" fmla="*/ 416 w 417"/>
                        <a:gd name="T7" fmla="*/ 1247 h 1663"/>
                        <a:gd name="T8" fmla="*/ 0 w 417"/>
                        <a:gd name="T9" fmla="*/ 1662 h 1663"/>
                      </a:gdLst>
                      <a:ahLst/>
                      <a:cxnLst>
                        <a:cxn ang="0">
                          <a:pos x="T0" y="T1"/>
                        </a:cxn>
                        <a:cxn ang="0">
                          <a:pos x="T2" y="T3"/>
                        </a:cxn>
                        <a:cxn ang="0">
                          <a:pos x="T4" y="T5"/>
                        </a:cxn>
                        <a:cxn ang="0">
                          <a:pos x="T6" y="T7"/>
                        </a:cxn>
                        <a:cxn ang="0">
                          <a:pos x="T8" y="T9"/>
                        </a:cxn>
                      </a:cxnLst>
                      <a:rect l="0" t="0" r="r" b="b"/>
                      <a:pathLst>
                        <a:path w="417" h="1663">
                          <a:moveTo>
                            <a:pt x="0" y="1662"/>
                          </a:moveTo>
                          <a:lnTo>
                            <a:pt x="0" y="415"/>
                          </a:lnTo>
                          <a:lnTo>
                            <a:pt x="416" y="0"/>
                          </a:lnTo>
                          <a:lnTo>
                            <a:pt x="416" y="1247"/>
                          </a:lnTo>
                          <a:lnTo>
                            <a:pt x="0" y="1662"/>
                          </a:lnTo>
                        </a:path>
                      </a:pathLst>
                    </a:custGeom>
                    <a:solidFill>
                      <a:srgbClr val="8BA5DA"/>
                    </a:solidFill>
                    <a:ln w="12600">
                      <a:solidFill>
                        <a:srgbClr val="000000"/>
                      </a:solidFill>
                      <a:round/>
                      <a:headEnd/>
                      <a:tailEnd/>
                    </a:ln>
                  </p:spPr>
                  <p:txBody>
                    <a:bodyPr wrap="none" anchor="ctr"/>
                    <a:lstStyle/>
                    <a:p>
                      <a:endParaRPr lang="en-IN"/>
                    </a:p>
                  </p:txBody>
                </p:sp>
              </p:grpSp>
              <p:grpSp>
                <p:nvGrpSpPr>
                  <p:cNvPr id="12453" name="Group 165"/>
                  <p:cNvGrpSpPr>
                    <a:grpSpLocks/>
                  </p:cNvGrpSpPr>
                  <p:nvPr/>
                </p:nvGrpSpPr>
                <p:grpSpPr bwMode="auto">
                  <a:xfrm>
                    <a:off x="2575" y="3052"/>
                    <a:ext cx="291" cy="77"/>
                    <a:chOff x="2575" y="3052"/>
                    <a:chExt cx="291" cy="77"/>
                  </a:xfrm>
                </p:grpSpPr>
                <p:sp>
                  <p:nvSpPr>
                    <p:cNvPr id="12454" name="Freeform 166"/>
                    <p:cNvSpPr>
                      <a:spLocks noChangeArrowheads="1"/>
                    </p:cNvSpPr>
                    <p:nvPr/>
                  </p:nvSpPr>
                  <p:spPr bwMode="auto">
                    <a:xfrm>
                      <a:off x="2575" y="3052"/>
                      <a:ext cx="292" cy="78"/>
                    </a:xfrm>
                    <a:custGeom>
                      <a:avLst/>
                      <a:gdLst>
                        <a:gd name="T0" fmla="*/ 0 w 1289"/>
                        <a:gd name="T1" fmla="*/ 344 h 345"/>
                        <a:gd name="T2" fmla="*/ 0 w 1289"/>
                        <a:gd name="T3" fmla="*/ 85 h 345"/>
                        <a:gd name="T4" fmla="*/ 85 w 1289"/>
                        <a:gd name="T5" fmla="*/ 0 h 345"/>
                        <a:gd name="T6" fmla="*/ 1288 w 1289"/>
                        <a:gd name="T7" fmla="*/ 0 h 345"/>
                        <a:gd name="T8" fmla="*/ 1288 w 1289"/>
                        <a:gd name="T9" fmla="*/ 257 h 345"/>
                        <a:gd name="T10" fmla="*/ 1201 w 1289"/>
                        <a:gd name="T11" fmla="*/ 344 h 345"/>
                        <a:gd name="T12" fmla="*/ 0 w 1289"/>
                        <a:gd name="T13" fmla="*/ 344 h 345"/>
                      </a:gdLst>
                      <a:ahLst/>
                      <a:cxnLst>
                        <a:cxn ang="0">
                          <a:pos x="T0" y="T1"/>
                        </a:cxn>
                        <a:cxn ang="0">
                          <a:pos x="T2" y="T3"/>
                        </a:cxn>
                        <a:cxn ang="0">
                          <a:pos x="T4" y="T5"/>
                        </a:cxn>
                        <a:cxn ang="0">
                          <a:pos x="T6" y="T7"/>
                        </a:cxn>
                        <a:cxn ang="0">
                          <a:pos x="T8" y="T9"/>
                        </a:cxn>
                        <a:cxn ang="0">
                          <a:pos x="T10" y="T11"/>
                        </a:cxn>
                        <a:cxn ang="0">
                          <a:pos x="T12" y="T13"/>
                        </a:cxn>
                      </a:cxnLst>
                      <a:rect l="0" t="0" r="r" b="b"/>
                      <a:pathLst>
                        <a:path w="1289" h="345">
                          <a:moveTo>
                            <a:pt x="0" y="344"/>
                          </a:moveTo>
                          <a:lnTo>
                            <a:pt x="0" y="85"/>
                          </a:lnTo>
                          <a:lnTo>
                            <a:pt x="85" y="0"/>
                          </a:lnTo>
                          <a:lnTo>
                            <a:pt x="1288" y="0"/>
                          </a:lnTo>
                          <a:lnTo>
                            <a:pt x="1288" y="257"/>
                          </a:lnTo>
                          <a:lnTo>
                            <a:pt x="1201" y="344"/>
                          </a:lnTo>
                          <a:lnTo>
                            <a:pt x="0" y="344"/>
                          </a:lnTo>
                        </a:path>
                      </a:pathLst>
                    </a:custGeom>
                    <a:solidFill>
                      <a:srgbClr val="A2C1FE"/>
                    </a:solidFill>
                    <a:ln w="12600">
                      <a:solidFill>
                        <a:srgbClr val="000000"/>
                      </a:solidFill>
                      <a:round/>
                      <a:headEnd/>
                      <a:tailEnd/>
                    </a:ln>
                  </p:spPr>
                  <p:txBody>
                    <a:bodyPr wrap="none" anchor="ctr"/>
                    <a:lstStyle/>
                    <a:p>
                      <a:endParaRPr lang="en-IN"/>
                    </a:p>
                  </p:txBody>
                </p:sp>
                <p:sp>
                  <p:nvSpPr>
                    <p:cNvPr id="12455" name="Freeform 167"/>
                    <p:cNvSpPr>
                      <a:spLocks noChangeArrowheads="1"/>
                    </p:cNvSpPr>
                    <p:nvPr/>
                  </p:nvSpPr>
                  <p:spPr bwMode="auto">
                    <a:xfrm>
                      <a:off x="2575" y="3052"/>
                      <a:ext cx="292" cy="20"/>
                    </a:xfrm>
                    <a:custGeom>
                      <a:avLst/>
                      <a:gdLst>
                        <a:gd name="T0" fmla="*/ 0 w 1289"/>
                        <a:gd name="T1" fmla="*/ 85 h 86"/>
                        <a:gd name="T2" fmla="*/ 85 w 1289"/>
                        <a:gd name="T3" fmla="*/ 0 h 86"/>
                        <a:gd name="T4" fmla="*/ 1288 w 1289"/>
                        <a:gd name="T5" fmla="*/ 0 h 86"/>
                        <a:gd name="T6" fmla="*/ 1201 w 1289"/>
                        <a:gd name="T7" fmla="*/ 85 h 86"/>
                        <a:gd name="T8" fmla="*/ 0 w 1289"/>
                        <a:gd name="T9" fmla="*/ 85 h 86"/>
                      </a:gdLst>
                      <a:ahLst/>
                      <a:cxnLst>
                        <a:cxn ang="0">
                          <a:pos x="T0" y="T1"/>
                        </a:cxn>
                        <a:cxn ang="0">
                          <a:pos x="T2" y="T3"/>
                        </a:cxn>
                        <a:cxn ang="0">
                          <a:pos x="T4" y="T5"/>
                        </a:cxn>
                        <a:cxn ang="0">
                          <a:pos x="T6" y="T7"/>
                        </a:cxn>
                        <a:cxn ang="0">
                          <a:pos x="T8" y="T9"/>
                        </a:cxn>
                      </a:cxnLst>
                      <a:rect l="0" t="0" r="r" b="b"/>
                      <a:pathLst>
                        <a:path w="1289" h="86">
                          <a:moveTo>
                            <a:pt x="0" y="85"/>
                          </a:moveTo>
                          <a:lnTo>
                            <a:pt x="85" y="0"/>
                          </a:lnTo>
                          <a:lnTo>
                            <a:pt x="1288" y="0"/>
                          </a:lnTo>
                          <a:lnTo>
                            <a:pt x="1201" y="85"/>
                          </a:lnTo>
                          <a:lnTo>
                            <a:pt x="0" y="85"/>
                          </a:lnTo>
                        </a:path>
                      </a:pathLst>
                    </a:custGeom>
                    <a:solidFill>
                      <a:srgbClr val="B1D3FF"/>
                    </a:solidFill>
                    <a:ln w="12600">
                      <a:solidFill>
                        <a:srgbClr val="000000"/>
                      </a:solidFill>
                      <a:round/>
                      <a:headEnd/>
                      <a:tailEnd/>
                    </a:ln>
                  </p:spPr>
                  <p:txBody>
                    <a:bodyPr wrap="none" anchor="ctr"/>
                    <a:lstStyle/>
                    <a:p>
                      <a:endParaRPr lang="en-IN"/>
                    </a:p>
                  </p:txBody>
                </p:sp>
                <p:sp>
                  <p:nvSpPr>
                    <p:cNvPr id="12456" name="Freeform 168"/>
                    <p:cNvSpPr>
                      <a:spLocks noChangeArrowheads="1"/>
                    </p:cNvSpPr>
                    <p:nvPr/>
                  </p:nvSpPr>
                  <p:spPr bwMode="auto">
                    <a:xfrm>
                      <a:off x="2847" y="3052"/>
                      <a:ext cx="20" cy="78"/>
                    </a:xfrm>
                    <a:custGeom>
                      <a:avLst/>
                      <a:gdLst>
                        <a:gd name="T0" fmla="*/ 0 w 88"/>
                        <a:gd name="T1" fmla="*/ 344 h 345"/>
                        <a:gd name="T2" fmla="*/ 0 w 88"/>
                        <a:gd name="T3" fmla="*/ 85 h 345"/>
                        <a:gd name="T4" fmla="*/ 87 w 88"/>
                        <a:gd name="T5" fmla="*/ 0 h 345"/>
                        <a:gd name="T6" fmla="*/ 87 w 88"/>
                        <a:gd name="T7" fmla="*/ 257 h 345"/>
                        <a:gd name="T8" fmla="*/ 0 w 88"/>
                        <a:gd name="T9" fmla="*/ 344 h 345"/>
                      </a:gdLst>
                      <a:ahLst/>
                      <a:cxnLst>
                        <a:cxn ang="0">
                          <a:pos x="T0" y="T1"/>
                        </a:cxn>
                        <a:cxn ang="0">
                          <a:pos x="T2" y="T3"/>
                        </a:cxn>
                        <a:cxn ang="0">
                          <a:pos x="T4" y="T5"/>
                        </a:cxn>
                        <a:cxn ang="0">
                          <a:pos x="T6" y="T7"/>
                        </a:cxn>
                        <a:cxn ang="0">
                          <a:pos x="T8" y="T9"/>
                        </a:cxn>
                      </a:cxnLst>
                      <a:rect l="0" t="0" r="r" b="b"/>
                      <a:pathLst>
                        <a:path w="88" h="345">
                          <a:moveTo>
                            <a:pt x="0" y="344"/>
                          </a:moveTo>
                          <a:lnTo>
                            <a:pt x="0" y="85"/>
                          </a:lnTo>
                          <a:lnTo>
                            <a:pt x="87" y="0"/>
                          </a:lnTo>
                          <a:lnTo>
                            <a:pt x="87" y="257"/>
                          </a:lnTo>
                          <a:lnTo>
                            <a:pt x="0" y="344"/>
                          </a:lnTo>
                        </a:path>
                      </a:pathLst>
                    </a:custGeom>
                    <a:solidFill>
                      <a:srgbClr val="8BA5DA"/>
                    </a:solidFill>
                    <a:ln w="12600">
                      <a:solidFill>
                        <a:srgbClr val="000000"/>
                      </a:solidFill>
                      <a:round/>
                      <a:headEnd/>
                      <a:tailEnd/>
                    </a:ln>
                  </p:spPr>
                  <p:txBody>
                    <a:bodyPr wrap="none" anchor="ctr"/>
                    <a:lstStyle/>
                    <a:p>
                      <a:endParaRPr lang="en-IN"/>
                    </a:p>
                  </p:txBody>
                </p:sp>
              </p:grpSp>
            </p:grpSp>
            <p:sp>
              <p:nvSpPr>
                <p:cNvPr id="12457" name="Oval 169"/>
                <p:cNvSpPr>
                  <a:spLocks noChangeArrowheads="1"/>
                </p:cNvSpPr>
                <p:nvPr/>
              </p:nvSpPr>
              <p:spPr bwMode="auto">
                <a:xfrm>
                  <a:off x="2604" y="3088"/>
                  <a:ext cx="49" cy="27"/>
                </a:xfrm>
                <a:prstGeom prst="ellipse">
                  <a:avLst/>
                </a:prstGeom>
                <a:solidFill>
                  <a:srgbClr val="FFFFFF"/>
                </a:solidFill>
                <a:ln w="12600">
                  <a:solidFill>
                    <a:srgbClr val="000000"/>
                  </a:solidFill>
                  <a:round/>
                  <a:headEnd/>
                  <a:tailEnd/>
                </a:ln>
              </p:spPr>
              <p:txBody>
                <a:bodyPr wrap="none" anchor="ctr"/>
                <a:lstStyle/>
                <a:p>
                  <a:endParaRPr lang="en-IN"/>
                </a:p>
              </p:txBody>
            </p:sp>
            <p:sp>
              <p:nvSpPr>
                <p:cNvPr id="12458" name="Freeform 170"/>
                <p:cNvSpPr>
                  <a:spLocks noChangeArrowheads="1"/>
                </p:cNvSpPr>
                <p:nvPr/>
              </p:nvSpPr>
              <p:spPr bwMode="auto">
                <a:xfrm>
                  <a:off x="2536" y="3298"/>
                  <a:ext cx="198" cy="84"/>
                </a:xfrm>
                <a:custGeom>
                  <a:avLst/>
                  <a:gdLst>
                    <a:gd name="T0" fmla="*/ 107 w 874"/>
                    <a:gd name="T1" fmla="*/ 0 h 372"/>
                    <a:gd name="T2" fmla="*/ 764 w 874"/>
                    <a:gd name="T3" fmla="*/ 0 h 372"/>
                    <a:gd name="T4" fmla="*/ 873 w 874"/>
                    <a:gd name="T5" fmla="*/ 107 h 372"/>
                    <a:gd name="T6" fmla="*/ 873 w 874"/>
                    <a:gd name="T7" fmla="*/ 262 h 372"/>
                    <a:gd name="T8" fmla="*/ 764 w 874"/>
                    <a:gd name="T9" fmla="*/ 371 h 372"/>
                    <a:gd name="T10" fmla="*/ 107 w 874"/>
                    <a:gd name="T11" fmla="*/ 371 h 372"/>
                    <a:gd name="T12" fmla="*/ 0 w 874"/>
                    <a:gd name="T13" fmla="*/ 262 h 372"/>
                    <a:gd name="T14" fmla="*/ 0 w 874"/>
                    <a:gd name="T15" fmla="*/ 107 h 372"/>
                    <a:gd name="T16" fmla="*/ 107 w 874"/>
                    <a:gd name="T17"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4" h="372">
                      <a:moveTo>
                        <a:pt x="107" y="0"/>
                      </a:moveTo>
                      <a:lnTo>
                        <a:pt x="764" y="0"/>
                      </a:lnTo>
                      <a:lnTo>
                        <a:pt x="873" y="107"/>
                      </a:lnTo>
                      <a:lnTo>
                        <a:pt x="873" y="262"/>
                      </a:lnTo>
                      <a:lnTo>
                        <a:pt x="764" y="371"/>
                      </a:lnTo>
                      <a:lnTo>
                        <a:pt x="107" y="371"/>
                      </a:lnTo>
                      <a:lnTo>
                        <a:pt x="0" y="262"/>
                      </a:lnTo>
                      <a:lnTo>
                        <a:pt x="0" y="107"/>
                      </a:lnTo>
                      <a:lnTo>
                        <a:pt x="107" y="0"/>
                      </a:lnTo>
                    </a:path>
                  </a:pathLst>
                </a:custGeom>
                <a:solidFill>
                  <a:srgbClr val="A2C1FE"/>
                </a:solidFill>
                <a:ln w="25560">
                  <a:solidFill>
                    <a:srgbClr val="000000"/>
                  </a:solidFill>
                  <a:round/>
                  <a:headEnd/>
                  <a:tailEnd/>
                </a:ln>
              </p:spPr>
              <p:txBody>
                <a:bodyPr wrap="none" anchor="ctr"/>
                <a:lstStyle/>
                <a:p>
                  <a:endParaRPr lang="en-IN"/>
                </a:p>
              </p:txBody>
            </p:sp>
          </p:grpSp>
          <p:sp>
            <p:nvSpPr>
              <p:cNvPr id="12459" name="Freeform 171"/>
              <p:cNvSpPr>
                <a:spLocks noChangeArrowheads="1"/>
              </p:cNvSpPr>
              <p:nvPr/>
            </p:nvSpPr>
            <p:spPr bwMode="auto">
              <a:xfrm>
                <a:off x="3053" y="3281"/>
                <a:ext cx="85" cy="191"/>
              </a:xfrm>
              <a:custGeom>
                <a:avLst/>
                <a:gdLst>
                  <a:gd name="T0" fmla="*/ 273 w 376"/>
                  <a:gd name="T1" fmla="*/ 0 h 844"/>
                  <a:gd name="T2" fmla="*/ 375 w 376"/>
                  <a:gd name="T3" fmla="*/ 0 h 844"/>
                  <a:gd name="T4" fmla="*/ 101 w 376"/>
                  <a:gd name="T5" fmla="*/ 843 h 844"/>
                  <a:gd name="T6" fmla="*/ 0 w 376"/>
                  <a:gd name="T7" fmla="*/ 843 h 844"/>
                  <a:gd name="T8" fmla="*/ 273 w 376"/>
                  <a:gd name="T9" fmla="*/ 0 h 844"/>
                </a:gdLst>
                <a:ahLst/>
                <a:cxnLst>
                  <a:cxn ang="0">
                    <a:pos x="T0" y="T1"/>
                  </a:cxn>
                  <a:cxn ang="0">
                    <a:pos x="T2" y="T3"/>
                  </a:cxn>
                  <a:cxn ang="0">
                    <a:pos x="T4" y="T5"/>
                  </a:cxn>
                  <a:cxn ang="0">
                    <a:pos x="T6" y="T7"/>
                  </a:cxn>
                  <a:cxn ang="0">
                    <a:pos x="T8" y="T9"/>
                  </a:cxn>
                </a:cxnLst>
                <a:rect l="0" t="0" r="r" b="b"/>
                <a:pathLst>
                  <a:path w="376" h="844">
                    <a:moveTo>
                      <a:pt x="273" y="0"/>
                    </a:moveTo>
                    <a:lnTo>
                      <a:pt x="375" y="0"/>
                    </a:lnTo>
                    <a:lnTo>
                      <a:pt x="101" y="843"/>
                    </a:lnTo>
                    <a:lnTo>
                      <a:pt x="0" y="843"/>
                    </a:lnTo>
                    <a:lnTo>
                      <a:pt x="273" y="0"/>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460" name="AutoShape 172"/>
              <p:cNvSpPr>
                <a:spLocks noChangeArrowheads="1"/>
              </p:cNvSpPr>
              <p:nvPr/>
            </p:nvSpPr>
            <p:spPr bwMode="auto">
              <a:xfrm>
                <a:off x="3049" y="3281"/>
                <a:ext cx="106"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461" name="AutoShape 173"/>
              <p:cNvSpPr>
                <a:spLocks noChangeArrowheads="1"/>
              </p:cNvSpPr>
              <p:nvPr/>
            </p:nvSpPr>
            <p:spPr bwMode="auto">
              <a:xfrm>
                <a:off x="3056" y="3362"/>
                <a:ext cx="82" cy="16"/>
              </a:xfrm>
              <a:prstGeom prst="roundRect">
                <a:avLst>
                  <a:gd name="adj" fmla="val 625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sp>
            <p:nvSpPr>
              <p:cNvPr id="12462" name="AutoShape 174"/>
              <p:cNvSpPr>
                <a:spLocks noChangeArrowheads="1"/>
              </p:cNvSpPr>
              <p:nvPr/>
            </p:nvSpPr>
            <p:spPr bwMode="auto">
              <a:xfrm>
                <a:off x="2873" y="3362"/>
                <a:ext cx="103" cy="11"/>
              </a:xfrm>
              <a:prstGeom prst="roundRect">
                <a:avLst>
                  <a:gd name="adj" fmla="val 10000"/>
                </a:avLst>
              </a:pr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nvGrpSpPr>
              <p:cNvPr id="12463" name="Group 175"/>
              <p:cNvGrpSpPr>
                <a:grpSpLocks/>
              </p:cNvGrpSpPr>
              <p:nvPr/>
            </p:nvGrpSpPr>
            <p:grpSpPr bwMode="auto">
              <a:xfrm>
                <a:off x="2871" y="3109"/>
                <a:ext cx="193" cy="363"/>
                <a:chOff x="2871" y="3109"/>
                <a:chExt cx="193" cy="363"/>
              </a:xfrm>
            </p:grpSpPr>
            <p:sp>
              <p:nvSpPr>
                <p:cNvPr id="12464" name="Oval 176"/>
                <p:cNvSpPr>
                  <a:spLocks noChangeArrowheads="1"/>
                </p:cNvSpPr>
                <p:nvPr/>
              </p:nvSpPr>
              <p:spPr bwMode="auto">
                <a:xfrm>
                  <a:off x="2947" y="3109"/>
                  <a:ext cx="49" cy="48"/>
                </a:xfrm>
                <a:prstGeom prst="ellipse">
                  <a:avLst/>
                </a:prstGeom>
                <a:solidFill>
                  <a:srgbClr val="FC0128"/>
                </a:solidFill>
                <a:ln w="12600">
                  <a:solidFill>
                    <a:srgbClr val="000000"/>
                  </a:solidFill>
                  <a:round/>
                  <a:headEnd/>
                  <a:tailEnd/>
                </a:ln>
              </p:spPr>
              <p:txBody>
                <a:bodyPr wrap="none" anchor="ctr"/>
                <a:lstStyle/>
                <a:p>
                  <a:endParaRPr lang="en-IN"/>
                </a:p>
              </p:txBody>
            </p:sp>
            <p:sp>
              <p:nvSpPr>
                <p:cNvPr id="12465" name="Freeform 177"/>
                <p:cNvSpPr>
                  <a:spLocks noChangeArrowheads="1"/>
                </p:cNvSpPr>
                <p:nvPr/>
              </p:nvSpPr>
              <p:spPr bwMode="auto">
                <a:xfrm>
                  <a:off x="2871" y="3178"/>
                  <a:ext cx="194" cy="296"/>
                </a:xfrm>
                <a:custGeom>
                  <a:avLst/>
                  <a:gdLst>
                    <a:gd name="T0" fmla="*/ 8 w 857"/>
                    <a:gd name="T1" fmla="*/ 605 h 1304"/>
                    <a:gd name="T2" fmla="*/ 4 w 857"/>
                    <a:gd name="T3" fmla="*/ 618 h 1304"/>
                    <a:gd name="T4" fmla="*/ 0 w 857"/>
                    <a:gd name="T5" fmla="*/ 640 h 1304"/>
                    <a:gd name="T6" fmla="*/ 0 w 857"/>
                    <a:gd name="T7" fmla="*/ 662 h 1304"/>
                    <a:gd name="T8" fmla="*/ 8 w 857"/>
                    <a:gd name="T9" fmla="*/ 684 h 1304"/>
                    <a:gd name="T10" fmla="*/ 17 w 857"/>
                    <a:gd name="T11" fmla="*/ 702 h 1304"/>
                    <a:gd name="T12" fmla="*/ 35 w 857"/>
                    <a:gd name="T13" fmla="*/ 720 h 1304"/>
                    <a:gd name="T14" fmla="*/ 53 w 857"/>
                    <a:gd name="T15" fmla="*/ 729 h 1304"/>
                    <a:gd name="T16" fmla="*/ 70 w 857"/>
                    <a:gd name="T17" fmla="*/ 733 h 1304"/>
                    <a:gd name="T18" fmla="*/ 92 w 857"/>
                    <a:gd name="T19" fmla="*/ 733 h 1304"/>
                    <a:gd name="T20" fmla="*/ 559 w 857"/>
                    <a:gd name="T21" fmla="*/ 1303 h 1304"/>
                    <a:gd name="T22" fmla="*/ 705 w 857"/>
                    <a:gd name="T23" fmla="*/ 627 h 1304"/>
                    <a:gd name="T24" fmla="*/ 705 w 857"/>
                    <a:gd name="T25" fmla="*/ 609 h 1304"/>
                    <a:gd name="T26" fmla="*/ 696 w 857"/>
                    <a:gd name="T27" fmla="*/ 601 h 1304"/>
                    <a:gd name="T28" fmla="*/ 683 w 857"/>
                    <a:gd name="T29" fmla="*/ 587 h 1304"/>
                    <a:gd name="T30" fmla="*/ 674 w 857"/>
                    <a:gd name="T31" fmla="*/ 578 h 1304"/>
                    <a:gd name="T32" fmla="*/ 656 w 857"/>
                    <a:gd name="T33" fmla="*/ 574 h 1304"/>
                    <a:gd name="T34" fmla="*/ 639 w 857"/>
                    <a:gd name="T35" fmla="*/ 570 h 1304"/>
                    <a:gd name="T36" fmla="*/ 621 w 857"/>
                    <a:gd name="T37" fmla="*/ 570 h 1304"/>
                    <a:gd name="T38" fmla="*/ 608 w 857"/>
                    <a:gd name="T39" fmla="*/ 570 h 1304"/>
                    <a:gd name="T40" fmla="*/ 412 w 857"/>
                    <a:gd name="T41" fmla="*/ 330 h 1304"/>
                    <a:gd name="T42" fmla="*/ 794 w 857"/>
                    <a:gd name="T43" fmla="*/ 410 h 1304"/>
                    <a:gd name="T44" fmla="*/ 812 w 857"/>
                    <a:gd name="T45" fmla="*/ 405 h 1304"/>
                    <a:gd name="T46" fmla="*/ 821 w 857"/>
                    <a:gd name="T47" fmla="*/ 401 h 1304"/>
                    <a:gd name="T48" fmla="*/ 838 w 857"/>
                    <a:gd name="T49" fmla="*/ 392 h 1304"/>
                    <a:gd name="T50" fmla="*/ 847 w 857"/>
                    <a:gd name="T51" fmla="*/ 379 h 1304"/>
                    <a:gd name="T52" fmla="*/ 852 w 857"/>
                    <a:gd name="T53" fmla="*/ 366 h 1304"/>
                    <a:gd name="T54" fmla="*/ 856 w 857"/>
                    <a:gd name="T55" fmla="*/ 344 h 1304"/>
                    <a:gd name="T56" fmla="*/ 852 w 857"/>
                    <a:gd name="T57" fmla="*/ 326 h 1304"/>
                    <a:gd name="T58" fmla="*/ 843 w 857"/>
                    <a:gd name="T59" fmla="*/ 308 h 1304"/>
                    <a:gd name="T60" fmla="*/ 834 w 857"/>
                    <a:gd name="T61" fmla="*/ 300 h 1304"/>
                    <a:gd name="T62" fmla="*/ 816 w 857"/>
                    <a:gd name="T63" fmla="*/ 286 h 1304"/>
                    <a:gd name="T64" fmla="*/ 803 w 857"/>
                    <a:gd name="T65" fmla="*/ 282 h 1304"/>
                    <a:gd name="T66" fmla="*/ 541 w 857"/>
                    <a:gd name="T67" fmla="*/ 282 h 1304"/>
                    <a:gd name="T68" fmla="*/ 496 w 857"/>
                    <a:gd name="T69" fmla="*/ 185 h 1304"/>
                    <a:gd name="T70" fmla="*/ 501 w 857"/>
                    <a:gd name="T71" fmla="*/ 163 h 1304"/>
                    <a:gd name="T72" fmla="*/ 505 w 857"/>
                    <a:gd name="T73" fmla="*/ 132 h 1304"/>
                    <a:gd name="T74" fmla="*/ 505 w 857"/>
                    <a:gd name="T75" fmla="*/ 105 h 1304"/>
                    <a:gd name="T76" fmla="*/ 496 w 857"/>
                    <a:gd name="T77" fmla="*/ 83 h 1304"/>
                    <a:gd name="T78" fmla="*/ 487 w 857"/>
                    <a:gd name="T79" fmla="*/ 66 h 1304"/>
                    <a:gd name="T80" fmla="*/ 474 w 857"/>
                    <a:gd name="T81" fmla="*/ 44 h 1304"/>
                    <a:gd name="T82" fmla="*/ 457 w 857"/>
                    <a:gd name="T83" fmla="*/ 30 h 1304"/>
                    <a:gd name="T84" fmla="*/ 434 w 857"/>
                    <a:gd name="T85" fmla="*/ 13 h 1304"/>
                    <a:gd name="T86" fmla="*/ 412 w 857"/>
                    <a:gd name="T87" fmla="*/ 4 h 1304"/>
                    <a:gd name="T88" fmla="*/ 386 w 857"/>
                    <a:gd name="T89" fmla="*/ 0 h 1304"/>
                    <a:gd name="T90" fmla="*/ 359 w 857"/>
                    <a:gd name="T91" fmla="*/ 0 h 1304"/>
                    <a:gd name="T92" fmla="*/ 333 w 857"/>
                    <a:gd name="T93" fmla="*/ 4 h 1304"/>
                    <a:gd name="T94" fmla="*/ 305 w 857"/>
                    <a:gd name="T95" fmla="*/ 13 h 1304"/>
                    <a:gd name="T96" fmla="*/ 279 w 857"/>
                    <a:gd name="T97" fmla="*/ 26 h 1304"/>
                    <a:gd name="T98" fmla="*/ 261 w 857"/>
                    <a:gd name="T99" fmla="*/ 48 h 1304"/>
                    <a:gd name="T100" fmla="*/ 243 w 857"/>
                    <a:gd name="T101" fmla="*/ 75 h 1304"/>
                    <a:gd name="T102" fmla="*/ 235 w 857"/>
                    <a:gd name="T103" fmla="*/ 101 h 1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57" h="1304">
                      <a:moveTo>
                        <a:pt x="235" y="101"/>
                      </a:moveTo>
                      <a:lnTo>
                        <a:pt x="8" y="605"/>
                      </a:lnTo>
                      <a:lnTo>
                        <a:pt x="4" y="609"/>
                      </a:lnTo>
                      <a:lnTo>
                        <a:pt x="4" y="618"/>
                      </a:lnTo>
                      <a:lnTo>
                        <a:pt x="0" y="627"/>
                      </a:lnTo>
                      <a:lnTo>
                        <a:pt x="0" y="640"/>
                      </a:lnTo>
                      <a:lnTo>
                        <a:pt x="0" y="649"/>
                      </a:lnTo>
                      <a:lnTo>
                        <a:pt x="0" y="662"/>
                      </a:lnTo>
                      <a:lnTo>
                        <a:pt x="4" y="671"/>
                      </a:lnTo>
                      <a:lnTo>
                        <a:pt x="8" y="684"/>
                      </a:lnTo>
                      <a:lnTo>
                        <a:pt x="13" y="693"/>
                      </a:lnTo>
                      <a:lnTo>
                        <a:pt x="17" y="702"/>
                      </a:lnTo>
                      <a:lnTo>
                        <a:pt x="26" y="711"/>
                      </a:lnTo>
                      <a:lnTo>
                        <a:pt x="35" y="720"/>
                      </a:lnTo>
                      <a:lnTo>
                        <a:pt x="44" y="724"/>
                      </a:lnTo>
                      <a:lnTo>
                        <a:pt x="53" y="729"/>
                      </a:lnTo>
                      <a:lnTo>
                        <a:pt x="61" y="729"/>
                      </a:lnTo>
                      <a:lnTo>
                        <a:pt x="70" y="733"/>
                      </a:lnTo>
                      <a:lnTo>
                        <a:pt x="79" y="733"/>
                      </a:lnTo>
                      <a:lnTo>
                        <a:pt x="92" y="733"/>
                      </a:lnTo>
                      <a:lnTo>
                        <a:pt x="559" y="733"/>
                      </a:lnTo>
                      <a:lnTo>
                        <a:pt x="559" y="1303"/>
                      </a:lnTo>
                      <a:lnTo>
                        <a:pt x="705" y="1303"/>
                      </a:lnTo>
                      <a:lnTo>
                        <a:pt x="705" y="627"/>
                      </a:lnTo>
                      <a:lnTo>
                        <a:pt x="705" y="618"/>
                      </a:lnTo>
                      <a:lnTo>
                        <a:pt x="705" y="609"/>
                      </a:lnTo>
                      <a:lnTo>
                        <a:pt x="700" y="605"/>
                      </a:lnTo>
                      <a:lnTo>
                        <a:pt x="696" y="601"/>
                      </a:lnTo>
                      <a:lnTo>
                        <a:pt x="692" y="596"/>
                      </a:lnTo>
                      <a:lnTo>
                        <a:pt x="683" y="587"/>
                      </a:lnTo>
                      <a:lnTo>
                        <a:pt x="678" y="583"/>
                      </a:lnTo>
                      <a:lnTo>
                        <a:pt x="674" y="578"/>
                      </a:lnTo>
                      <a:lnTo>
                        <a:pt x="665" y="578"/>
                      </a:lnTo>
                      <a:lnTo>
                        <a:pt x="656" y="574"/>
                      </a:lnTo>
                      <a:lnTo>
                        <a:pt x="647" y="574"/>
                      </a:lnTo>
                      <a:lnTo>
                        <a:pt x="639" y="570"/>
                      </a:lnTo>
                      <a:lnTo>
                        <a:pt x="630" y="570"/>
                      </a:lnTo>
                      <a:lnTo>
                        <a:pt x="621" y="570"/>
                      </a:lnTo>
                      <a:lnTo>
                        <a:pt x="617" y="570"/>
                      </a:lnTo>
                      <a:lnTo>
                        <a:pt x="608" y="570"/>
                      </a:lnTo>
                      <a:lnTo>
                        <a:pt x="337" y="552"/>
                      </a:lnTo>
                      <a:lnTo>
                        <a:pt x="412" y="330"/>
                      </a:lnTo>
                      <a:lnTo>
                        <a:pt x="465" y="410"/>
                      </a:lnTo>
                      <a:lnTo>
                        <a:pt x="794" y="410"/>
                      </a:lnTo>
                      <a:lnTo>
                        <a:pt x="803" y="405"/>
                      </a:lnTo>
                      <a:lnTo>
                        <a:pt x="812" y="405"/>
                      </a:lnTo>
                      <a:lnTo>
                        <a:pt x="816" y="401"/>
                      </a:lnTo>
                      <a:lnTo>
                        <a:pt x="821" y="401"/>
                      </a:lnTo>
                      <a:lnTo>
                        <a:pt x="830" y="397"/>
                      </a:lnTo>
                      <a:lnTo>
                        <a:pt x="838" y="392"/>
                      </a:lnTo>
                      <a:lnTo>
                        <a:pt x="843" y="383"/>
                      </a:lnTo>
                      <a:lnTo>
                        <a:pt x="847" y="379"/>
                      </a:lnTo>
                      <a:lnTo>
                        <a:pt x="852" y="370"/>
                      </a:lnTo>
                      <a:lnTo>
                        <a:pt x="852" y="366"/>
                      </a:lnTo>
                      <a:lnTo>
                        <a:pt x="856" y="357"/>
                      </a:lnTo>
                      <a:lnTo>
                        <a:pt x="856" y="344"/>
                      </a:lnTo>
                      <a:lnTo>
                        <a:pt x="856" y="335"/>
                      </a:lnTo>
                      <a:lnTo>
                        <a:pt x="852" y="326"/>
                      </a:lnTo>
                      <a:lnTo>
                        <a:pt x="847" y="317"/>
                      </a:lnTo>
                      <a:lnTo>
                        <a:pt x="843" y="308"/>
                      </a:lnTo>
                      <a:lnTo>
                        <a:pt x="838" y="304"/>
                      </a:lnTo>
                      <a:lnTo>
                        <a:pt x="834" y="300"/>
                      </a:lnTo>
                      <a:lnTo>
                        <a:pt x="825" y="291"/>
                      </a:lnTo>
                      <a:lnTo>
                        <a:pt x="816" y="286"/>
                      </a:lnTo>
                      <a:lnTo>
                        <a:pt x="816" y="282"/>
                      </a:lnTo>
                      <a:lnTo>
                        <a:pt x="803" y="282"/>
                      </a:lnTo>
                      <a:lnTo>
                        <a:pt x="794" y="282"/>
                      </a:lnTo>
                      <a:lnTo>
                        <a:pt x="541" y="282"/>
                      </a:lnTo>
                      <a:lnTo>
                        <a:pt x="487" y="194"/>
                      </a:lnTo>
                      <a:lnTo>
                        <a:pt x="496" y="185"/>
                      </a:lnTo>
                      <a:lnTo>
                        <a:pt x="501" y="172"/>
                      </a:lnTo>
                      <a:lnTo>
                        <a:pt x="501" y="163"/>
                      </a:lnTo>
                      <a:lnTo>
                        <a:pt x="505" y="150"/>
                      </a:lnTo>
                      <a:lnTo>
                        <a:pt x="505" y="132"/>
                      </a:lnTo>
                      <a:lnTo>
                        <a:pt x="505" y="123"/>
                      </a:lnTo>
                      <a:lnTo>
                        <a:pt x="505" y="105"/>
                      </a:lnTo>
                      <a:lnTo>
                        <a:pt x="501" y="97"/>
                      </a:lnTo>
                      <a:lnTo>
                        <a:pt x="496" y="83"/>
                      </a:lnTo>
                      <a:lnTo>
                        <a:pt x="492" y="75"/>
                      </a:lnTo>
                      <a:lnTo>
                        <a:pt x="487" y="66"/>
                      </a:lnTo>
                      <a:lnTo>
                        <a:pt x="483" y="57"/>
                      </a:lnTo>
                      <a:lnTo>
                        <a:pt x="474" y="44"/>
                      </a:lnTo>
                      <a:lnTo>
                        <a:pt x="465" y="39"/>
                      </a:lnTo>
                      <a:lnTo>
                        <a:pt x="457" y="30"/>
                      </a:lnTo>
                      <a:lnTo>
                        <a:pt x="448" y="22"/>
                      </a:lnTo>
                      <a:lnTo>
                        <a:pt x="434" y="13"/>
                      </a:lnTo>
                      <a:lnTo>
                        <a:pt x="426" y="13"/>
                      </a:lnTo>
                      <a:lnTo>
                        <a:pt x="412" y="4"/>
                      </a:lnTo>
                      <a:lnTo>
                        <a:pt x="399" y="4"/>
                      </a:lnTo>
                      <a:lnTo>
                        <a:pt x="386" y="0"/>
                      </a:lnTo>
                      <a:lnTo>
                        <a:pt x="373" y="0"/>
                      </a:lnTo>
                      <a:lnTo>
                        <a:pt x="359" y="0"/>
                      </a:lnTo>
                      <a:lnTo>
                        <a:pt x="346" y="0"/>
                      </a:lnTo>
                      <a:lnTo>
                        <a:pt x="333" y="4"/>
                      </a:lnTo>
                      <a:lnTo>
                        <a:pt x="319" y="8"/>
                      </a:lnTo>
                      <a:lnTo>
                        <a:pt x="305" y="13"/>
                      </a:lnTo>
                      <a:lnTo>
                        <a:pt x="292" y="17"/>
                      </a:lnTo>
                      <a:lnTo>
                        <a:pt x="279" y="26"/>
                      </a:lnTo>
                      <a:lnTo>
                        <a:pt x="270" y="39"/>
                      </a:lnTo>
                      <a:lnTo>
                        <a:pt x="261" y="48"/>
                      </a:lnTo>
                      <a:lnTo>
                        <a:pt x="252" y="57"/>
                      </a:lnTo>
                      <a:lnTo>
                        <a:pt x="243" y="75"/>
                      </a:lnTo>
                      <a:lnTo>
                        <a:pt x="235" y="83"/>
                      </a:lnTo>
                      <a:lnTo>
                        <a:pt x="235" y="101"/>
                      </a:lnTo>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IN"/>
                </a:p>
              </p:txBody>
            </p:sp>
          </p:grpSp>
        </p:grpSp>
      </p:grpSp>
    </p:spTree>
    <p:extLst>
      <p:ext uri="{BB962C8B-B14F-4D97-AF65-F5344CB8AC3E}">
        <p14:creationId xmlns:p14="http://schemas.microsoft.com/office/powerpoint/2010/main" val="1773249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29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30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3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30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30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30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30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30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3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3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3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34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P spid="12304" grpId="0"/>
      <p:bldP spid="12305" grpId="0" animBg="1"/>
      <p:bldP spid="12306" grpId="0" animBg="1"/>
      <p:bldP spid="12307" grpId="0"/>
      <p:bldP spid="12308" grpId="0"/>
      <p:bldP spid="12309" grpId="0"/>
      <p:bldP spid="12310" grpId="0"/>
      <p:bldP spid="12311" grpId="0" animBg="1"/>
      <p:bldP spid="123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zh-CN">
                <a:ea typeface="SimSun" pitchFamily="2" charset="-122"/>
              </a:rPr>
              <a:t>Use the Idea of Pipelining in a Computer</a:t>
            </a:r>
          </a:p>
        </p:txBody>
      </p:sp>
      <p:sp>
        <p:nvSpPr>
          <p:cNvPr id="14340" name="Freeform 4"/>
          <p:cNvSpPr>
            <a:spLocks/>
          </p:cNvSpPr>
          <p:nvPr/>
        </p:nvSpPr>
        <p:spPr bwMode="auto">
          <a:xfrm>
            <a:off x="2479675" y="4975225"/>
            <a:ext cx="754063" cy="244475"/>
          </a:xfrm>
          <a:custGeom>
            <a:avLst/>
            <a:gdLst>
              <a:gd name="T0" fmla="*/ 0 w 43"/>
              <a:gd name="T1" fmla="*/ 10 h 14"/>
              <a:gd name="T2" fmla="*/ 32 w 43"/>
              <a:gd name="T3" fmla="*/ 10 h 14"/>
              <a:gd name="T4" fmla="*/ 32 w 43"/>
              <a:gd name="T5" fmla="*/ 14 h 14"/>
              <a:gd name="T6" fmla="*/ 43 w 43"/>
              <a:gd name="T7" fmla="*/ 7 h 14"/>
              <a:gd name="T8" fmla="*/ 32 w 43"/>
              <a:gd name="T9" fmla="*/ 0 h 14"/>
              <a:gd name="T10" fmla="*/ 32 w 43"/>
              <a:gd name="T11" fmla="*/ 3 h 14"/>
              <a:gd name="T12" fmla="*/ 0 w 43"/>
              <a:gd name="T13" fmla="*/ 3 h 14"/>
            </a:gdLst>
            <a:ahLst/>
            <a:cxnLst>
              <a:cxn ang="0">
                <a:pos x="T0" y="T1"/>
              </a:cxn>
              <a:cxn ang="0">
                <a:pos x="T2" y="T3"/>
              </a:cxn>
              <a:cxn ang="0">
                <a:pos x="T4" y="T5"/>
              </a:cxn>
              <a:cxn ang="0">
                <a:pos x="T6" y="T7"/>
              </a:cxn>
              <a:cxn ang="0">
                <a:pos x="T8" y="T9"/>
              </a:cxn>
              <a:cxn ang="0">
                <a:pos x="T10" y="T11"/>
              </a:cxn>
              <a:cxn ang="0">
                <a:pos x="T12" y="T13"/>
              </a:cxn>
            </a:cxnLst>
            <a:rect l="0" t="0" r="r" b="b"/>
            <a:pathLst>
              <a:path w="43" h="14">
                <a:moveTo>
                  <a:pt x="0" y="10"/>
                </a:moveTo>
                <a:lnTo>
                  <a:pt x="32" y="10"/>
                </a:lnTo>
                <a:lnTo>
                  <a:pt x="32" y="14"/>
                </a:lnTo>
                <a:lnTo>
                  <a:pt x="43" y="7"/>
                </a:lnTo>
                <a:lnTo>
                  <a:pt x="32" y="0"/>
                </a:lnTo>
                <a:lnTo>
                  <a:pt x="32" y="3"/>
                </a:lnTo>
                <a:lnTo>
                  <a:pt x="0" y="3"/>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41" name="Freeform 5"/>
          <p:cNvSpPr>
            <a:spLocks/>
          </p:cNvSpPr>
          <p:nvPr/>
        </p:nvSpPr>
        <p:spPr bwMode="auto">
          <a:xfrm>
            <a:off x="1497013" y="4975225"/>
            <a:ext cx="736600" cy="244475"/>
          </a:xfrm>
          <a:custGeom>
            <a:avLst/>
            <a:gdLst>
              <a:gd name="T0" fmla="*/ 0 w 42"/>
              <a:gd name="T1" fmla="*/ 10 h 14"/>
              <a:gd name="T2" fmla="*/ 32 w 42"/>
              <a:gd name="T3" fmla="*/ 10 h 14"/>
              <a:gd name="T4" fmla="*/ 32 w 42"/>
              <a:gd name="T5" fmla="*/ 14 h 14"/>
              <a:gd name="T6" fmla="*/ 42 w 42"/>
              <a:gd name="T7" fmla="*/ 7 h 14"/>
              <a:gd name="T8" fmla="*/ 32 w 42"/>
              <a:gd name="T9" fmla="*/ 0 h 14"/>
              <a:gd name="T10" fmla="*/ 32 w 42"/>
              <a:gd name="T11" fmla="*/ 3 h 14"/>
              <a:gd name="T12" fmla="*/ 0 w 42"/>
              <a:gd name="T13" fmla="*/ 3 h 14"/>
            </a:gdLst>
            <a:ahLst/>
            <a:cxnLst>
              <a:cxn ang="0">
                <a:pos x="T0" y="T1"/>
              </a:cxn>
              <a:cxn ang="0">
                <a:pos x="T2" y="T3"/>
              </a:cxn>
              <a:cxn ang="0">
                <a:pos x="T4" y="T5"/>
              </a:cxn>
              <a:cxn ang="0">
                <a:pos x="T6" y="T7"/>
              </a:cxn>
              <a:cxn ang="0">
                <a:pos x="T8" y="T9"/>
              </a:cxn>
              <a:cxn ang="0">
                <a:pos x="T10" y="T11"/>
              </a:cxn>
              <a:cxn ang="0">
                <a:pos x="T12" y="T13"/>
              </a:cxn>
            </a:cxnLst>
            <a:rect l="0" t="0" r="r" b="b"/>
            <a:pathLst>
              <a:path w="42" h="14">
                <a:moveTo>
                  <a:pt x="0" y="10"/>
                </a:moveTo>
                <a:lnTo>
                  <a:pt x="32" y="10"/>
                </a:lnTo>
                <a:lnTo>
                  <a:pt x="32" y="14"/>
                </a:lnTo>
                <a:lnTo>
                  <a:pt x="42" y="7"/>
                </a:lnTo>
                <a:lnTo>
                  <a:pt x="32" y="0"/>
                </a:lnTo>
                <a:lnTo>
                  <a:pt x="32" y="3"/>
                </a:lnTo>
                <a:lnTo>
                  <a:pt x="0" y="3"/>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42" name="Rectangle 6"/>
          <p:cNvSpPr>
            <a:spLocks noChangeArrowheads="1"/>
          </p:cNvSpPr>
          <p:nvPr/>
        </p:nvSpPr>
        <p:spPr bwMode="auto">
          <a:xfrm>
            <a:off x="373063" y="2746375"/>
            <a:ext cx="3579812" cy="403225"/>
          </a:xfrm>
          <a:prstGeom prst="rect">
            <a:avLst/>
          </a:prstGeom>
          <a:noFill/>
          <a:ln w="17463">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43" name="Line 7"/>
          <p:cNvSpPr>
            <a:spLocks noChangeShapeType="1"/>
          </p:cNvSpPr>
          <p:nvPr/>
        </p:nvSpPr>
        <p:spPr bwMode="auto">
          <a:xfrm flipV="1">
            <a:off x="969963" y="2746375"/>
            <a:ext cx="1587" cy="403225"/>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4" name="Line 8"/>
          <p:cNvSpPr>
            <a:spLocks noChangeShapeType="1"/>
          </p:cNvSpPr>
          <p:nvPr/>
        </p:nvSpPr>
        <p:spPr bwMode="auto">
          <a:xfrm>
            <a:off x="1566863" y="2746375"/>
            <a:ext cx="1587" cy="403225"/>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5" name="Line 9"/>
          <p:cNvSpPr>
            <a:spLocks noChangeShapeType="1"/>
          </p:cNvSpPr>
          <p:nvPr/>
        </p:nvSpPr>
        <p:spPr bwMode="auto">
          <a:xfrm flipV="1">
            <a:off x="2163763" y="2746375"/>
            <a:ext cx="1587" cy="403225"/>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6" name="Line 10"/>
          <p:cNvSpPr>
            <a:spLocks noChangeShapeType="1"/>
          </p:cNvSpPr>
          <p:nvPr/>
        </p:nvSpPr>
        <p:spPr bwMode="auto">
          <a:xfrm>
            <a:off x="3355975" y="2746375"/>
            <a:ext cx="1588" cy="403225"/>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7" name="Line 11"/>
          <p:cNvSpPr>
            <a:spLocks noChangeShapeType="1"/>
          </p:cNvSpPr>
          <p:nvPr/>
        </p:nvSpPr>
        <p:spPr bwMode="auto">
          <a:xfrm flipV="1">
            <a:off x="2759075" y="2746375"/>
            <a:ext cx="1588" cy="403225"/>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8" name="Line 12"/>
          <p:cNvSpPr>
            <a:spLocks noChangeShapeType="1"/>
          </p:cNvSpPr>
          <p:nvPr/>
        </p:nvSpPr>
        <p:spPr bwMode="auto">
          <a:xfrm flipH="1">
            <a:off x="3952875" y="2746375"/>
            <a:ext cx="211138" cy="1588"/>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9" name="Line 13"/>
          <p:cNvSpPr>
            <a:spLocks noChangeShapeType="1"/>
          </p:cNvSpPr>
          <p:nvPr/>
        </p:nvSpPr>
        <p:spPr bwMode="auto">
          <a:xfrm flipH="1">
            <a:off x="3952875" y="3149600"/>
            <a:ext cx="211138" cy="1588"/>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50" name="Freeform 14"/>
          <p:cNvSpPr>
            <a:spLocks/>
          </p:cNvSpPr>
          <p:nvPr/>
        </p:nvSpPr>
        <p:spPr bwMode="auto">
          <a:xfrm>
            <a:off x="407988" y="2552700"/>
            <a:ext cx="561975" cy="71438"/>
          </a:xfrm>
          <a:custGeom>
            <a:avLst/>
            <a:gdLst>
              <a:gd name="T0" fmla="*/ 0 w 32"/>
              <a:gd name="T1" fmla="*/ 4 h 4"/>
              <a:gd name="T2" fmla="*/ 0 w 32"/>
              <a:gd name="T3" fmla="*/ 3 h 4"/>
              <a:gd name="T4" fmla="*/ 1 w 32"/>
              <a:gd name="T5" fmla="*/ 3 h 4"/>
              <a:gd name="T6" fmla="*/ 1 w 32"/>
              <a:gd name="T7" fmla="*/ 3 h 4"/>
              <a:gd name="T8" fmla="*/ 2 w 32"/>
              <a:gd name="T9" fmla="*/ 2 h 4"/>
              <a:gd name="T10" fmla="*/ 2 w 32"/>
              <a:gd name="T11" fmla="*/ 2 h 4"/>
              <a:gd name="T12" fmla="*/ 11 w 32"/>
              <a:gd name="T13" fmla="*/ 2 h 4"/>
              <a:gd name="T14" fmla="*/ 16 w 32"/>
              <a:gd name="T15" fmla="*/ 2 h 4"/>
              <a:gd name="T16" fmla="*/ 20 w 32"/>
              <a:gd name="T17" fmla="*/ 2 h 4"/>
              <a:gd name="T18" fmla="*/ 30 w 32"/>
              <a:gd name="T19" fmla="*/ 2 h 4"/>
              <a:gd name="T20" fmla="*/ 30 w 32"/>
              <a:gd name="T21" fmla="*/ 2 h 4"/>
              <a:gd name="T22" fmla="*/ 31 w 32"/>
              <a:gd name="T23" fmla="*/ 2 h 4"/>
              <a:gd name="T24" fmla="*/ 31 w 32"/>
              <a:gd name="T25" fmla="*/ 1 h 4"/>
              <a:gd name="T26" fmla="*/ 32 w 32"/>
              <a:gd name="T2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4">
                <a:moveTo>
                  <a:pt x="0" y="4"/>
                </a:moveTo>
                <a:lnTo>
                  <a:pt x="0" y="3"/>
                </a:lnTo>
                <a:lnTo>
                  <a:pt x="1" y="3"/>
                </a:lnTo>
                <a:lnTo>
                  <a:pt x="1" y="3"/>
                </a:lnTo>
                <a:lnTo>
                  <a:pt x="2" y="2"/>
                </a:lnTo>
                <a:lnTo>
                  <a:pt x="2" y="2"/>
                </a:lnTo>
                <a:lnTo>
                  <a:pt x="11" y="2"/>
                </a:lnTo>
                <a:lnTo>
                  <a:pt x="16" y="2"/>
                </a:lnTo>
                <a:lnTo>
                  <a:pt x="20" y="2"/>
                </a:lnTo>
                <a:lnTo>
                  <a:pt x="30" y="2"/>
                </a:lnTo>
                <a:lnTo>
                  <a:pt x="30" y="2"/>
                </a:lnTo>
                <a:lnTo>
                  <a:pt x="31" y="2"/>
                </a:lnTo>
                <a:lnTo>
                  <a:pt x="31" y="1"/>
                </a:lnTo>
                <a:lnTo>
                  <a:pt x="3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51" name="Freeform 15"/>
          <p:cNvSpPr>
            <a:spLocks/>
          </p:cNvSpPr>
          <p:nvPr/>
        </p:nvSpPr>
        <p:spPr bwMode="auto">
          <a:xfrm>
            <a:off x="969963" y="2552700"/>
            <a:ext cx="579437" cy="71438"/>
          </a:xfrm>
          <a:custGeom>
            <a:avLst/>
            <a:gdLst>
              <a:gd name="T0" fmla="*/ 33 w 33"/>
              <a:gd name="T1" fmla="*/ 4 h 4"/>
              <a:gd name="T2" fmla="*/ 32 w 33"/>
              <a:gd name="T3" fmla="*/ 3 h 4"/>
              <a:gd name="T4" fmla="*/ 32 w 33"/>
              <a:gd name="T5" fmla="*/ 3 h 4"/>
              <a:gd name="T6" fmla="*/ 31 w 33"/>
              <a:gd name="T7" fmla="*/ 3 h 4"/>
              <a:gd name="T8" fmla="*/ 31 w 33"/>
              <a:gd name="T9" fmla="*/ 2 h 4"/>
              <a:gd name="T10" fmla="*/ 30 w 33"/>
              <a:gd name="T11" fmla="*/ 2 h 4"/>
              <a:gd name="T12" fmla="*/ 21 w 33"/>
              <a:gd name="T13" fmla="*/ 2 h 4"/>
              <a:gd name="T14" fmla="*/ 17 w 33"/>
              <a:gd name="T15" fmla="*/ 2 h 4"/>
              <a:gd name="T16" fmla="*/ 12 w 33"/>
              <a:gd name="T17" fmla="*/ 2 h 4"/>
              <a:gd name="T18" fmla="*/ 3 w 33"/>
              <a:gd name="T19" fmla="*/ 2 h 4"/>
              <a:gd name="T20" fmla="*/ 2 w 33"/>
              <a:gd name="T21" fmla="*/ 2 h 4"/>
              <a:gd name="T22" fmla="*/ 2 w 33"/>
              <a:gd name="T23" fmla="*/ 2 h 4"/>
              <a:gd name="T24" fmla="*/ 1 w 33"/>
              <a:gd name="T25" fmla="*/ 1 h 4"/>
              <a:gd name="T26" fmla="*/ 0 w 33"/>
              <a:gd name="T2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 h="4">
                <a:moveTo>
                  <a:pt x="33" y="4"/>
                </a:moveTo>
                <a:lnTo>
                  <a:pt x="32" y="3"/>
                </a:lnTo>
                <a:lnTo>
                  <a:pt x="32" y="3"/>
                </a:lnTo>
                <a:lnTo>
                  <a:pt x="31" y="3"/>
                </a:lnTo>
                <a:lnTo>
                  <a:pt x="31" y="2"/>
                </a:lnTo>
                <a:lnTo>
                  <a:pt x="30" y="2"/>
                </a:lnTo>
                <a:lnTo>
                  <a:pt x="21" y="2"/>
                </a:lnTo>
                <a:lnTo>
                  <a:pt x="17" y="2"/>
                </a:lnTo>
                <a:lnTo>
                  <a:pt x="12" y="2"/>
                </a:lnTo>
                <a:lnTo>
                  <a:pt x="3" y="2"/>
                </a:lnTo>
                <a:lnTo>
                  <a:pt x="2" y="2"/>
                </a:lnTo>
                <a:lnTo>
                  <a:pt x="2" y="2"/>
                </a:lnTo>
                <a:lnTo>
                  <a:pt x="1" y="1"/>
                </a:lnTo>
                <a:lnTo>
                  <a:pt x="0"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52" name="Freeform 16"/>
          <p:cNvSpPr>
            <a:spLocks/>
          </p:cNvSpPr>
          <p:nvPr/>
        </p:nvSpPr>
        <p:spPr bwMode="auto">
          <a:xfrm>
            <a:off x="1601788" y="2552700"/>
            <a:ext cx="561975" cy="71438"/>
          </a:xfrm>
          <a:custGeom>
            <a:avLst/>
            <a:gdLst>
              <a:gd name="T0" fmla="*/ 0 w 32"/>
              <a:gd name="T1" fmla="*/ 4 h 4"/>
              <a:gd name="T2" fmla="*/ 0 w 32"/>
              <a:gd name="T3" fmla="*/ 3 h 4"/>
              <a:gd name="T4" fmla="*/ 1 w 32"/>
              <a:gd name="T5" fmla="*/ 3 h 4"/>
              <a:gd name="T6" fmla="*/ 1 w 32"/>
              <a:gd name="T7" fmla="*/ 3 h 4"/>
              <a:gd name="T8" fmla="*/ 2 w 32"/>
              <a:gd name="T9" fmla="*/ 2 h 4"/>
              <a:gd name="T10" fmla="*/ 2 w 32"/>
              <a:gd name="T11" fmla="*/ 2 h 4"/>
              <a:gd name="T12" fmla="*/ 11 w 32"/>
              <a:gd name="T13" fmla="*/ 2 h 4"/>
              <a:gd name="T14" fmla="*/ 16 w 32"/>
              <a:gd name="T15" fmla="*/ 2 h 4"/>
              <a:gd name="T16" fmla="*/ 20 w 32"/>
              <a:gd name="T17" fmla="*/ 2 h 4"/>
              <a:gd name="T18" fmla="*/ 30 w 32"/>
              <a:gd name="T19" fmla="*/ 2 h 4"/>
              <a:gd name="T20" fmla="*/ 30 w 32"/>
              <a:gd name="T21" fmla="*/ 2 h 4"/>
              <a:gd name="T22" fmla="*/ 31 w 32"/>
              <a:gd name="T23" fmla="*/ 2 h 4"/>
              <a:gd name="T24" fmla="*/ 31 w 32"/>
              <a:gd name="T25" fmla="*/ 1 h 4"/>
              <a:gd name="T26" fmla="*/ 32 w 32"/>
              <a:gd name="T2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4">
                <a:moveTo>
                  <a:pt x="0" y="4"/>
                </a:moveTo>
                <a:lnTo>
                  <a:pt x="0" y="3"/>
                </a:lnTo>
                <a:lnTo>
                  <a:pt x="1" y="3"/>
                </a:lnTo>
                <a:lnTo>
                  <a:pt x="1" y="3"/>
                </a:lnTo>
                <a:lnTo>
                  <a:pt x="2" y="2"/>
                </a:lnTo>
                <a:lnTo>
                  <a:pt x="2" y="2"/>
                </a:lnTo>
                <a:lnTo>
                  <a:pt x="11" y="2"/>
                </a:lnTo>
                <a:lnTo>
                  <a:pt x="16" y="2"/>
                </a:lnTo>
                <a:lnTo>
                  <a:pt x="20" y="2"/>
                </a:lnTo>
                <a:lnTo>
                  <a:pt x="30" y="2"/>
                </a:lnTo>
                <a:lnTo>
                  <a:pt x="30" y="2"/>
                </a:lnTo>
                <a:lnTo>
                  <a:pt x="31" y="2"/>
                </a:lnTo>
                <a:lnTo>
                  <a:pt x="31" y="1"/>
                </a:lnTo>
                <a:lnTo>
                  <a:pt x="3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53" name="Freeform 17"/>
          <p:cNvSpPr>
            <a:spLocks/>
          </p:cNvSpPr>
          <p:nvPr/>
        </p:nvSpPr>
        <p:spPr bwMode="auto">
          <a:xfrm>
            <a:off x="2163763" y="2552700"/>
            <a:ext cx="577850" cy="71438"/>
          </a:xfrm>
          <a:custGeom>
            <a:avLst/>
            <a:gdLst>
              <a:gd name="T0" fmla="*/ 33 w 33"/>
              <a:gd name="T1" fmla="*/ 4 h 4"/>
              <a:gd name="T2" fmla="*/ 32 w 33"/>
              <a:gd name="T3" fmla="*/ 3 h 4"/>
              <a:gd name="T4" fmla="*/ 32 w 33"/>
              <a:gd name="T5" fmla="*/ 3 h 4"/>
              <a:gd name="T6" fmla="*/ 31 w 33"/>
              <a:gd name="T7" fmla="*/ 3 h 4"/>
              <a:gd name="T8" fmla="*/ 31 w 33"/>
              <a:gd name="T9" fmla="*/ 2 h 4"/>
              <a:gd name="T10" fmla="*/ 30 w 33"/>
              <a:gd name="T11" fmla="*/ 2 h 4"/>
              <a:gd name="T12" fmla="*/ 21 w 33"/>
              <a:gd name="T13" fmla="*/ 2 h 4"/>
              <a:gd name="T14" fmla="*/ 17 w 33"/>
              <a:gd name="T15" fmla="*/ 2 h 4"/>
              <a:gd name="T16" fmla="*/ 12 w 33"/>
              <a:gd name="T17" fmla="*/ 2 h 4"/>
              <a:gd name="T18" fmla="*/ 3 w 33"/>
              <a:gd name="T19" fmla="*/ 2 h 4"/>
              <a:gd name="T20" fmla="*/ 2 w 33"/>
              <a:gd name="T21" fmla="*/ 2 h 4"/>
              <a:gd name="T22" fmla="*/ 2 w 33"/>
              <a:gd name="T23" fmla="*/ 2 h 4"/>
              <a:gd name="T24" fmla="*/ 1 w 33"/>
              <a:gd name="T25" fmla="*/ 1 h 4"/>
              <a:gd name="T26" fmla="*/ 0 w 33"/>
              <a:gd name="T2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 h="4">
                <a:moveTo>
                  <a:pt x="33" y="4"/>
                </a:moveTo>
                <a:lnTo>
                  <a:pt x="32" y="3"/>
                </a:lnTo>
                <a:lnTo>
                  <a:pt x="32" y="3"/>
                </a:lnTo>
                <a:lnTo>
                  <a:pt x="31" y="3"/>
                </a:lnTo>
                <a:lnTo>
                  <a:pt x="31" y="2"/>
                </a:lnTo>
                <a:lnTo>
                  <a:pt x="30" y="2"/>
                </a:lnTo>
                <a:lnTo>
                  <a:pt x="21" y="2"/>
                </a:lnTo>
                <a:lnTo>
                  <a:pt x="17" y="2"/>
                </a:lnTo>
                <a:lnTo>
                  <a:pt x="12" y="2"/>
                </a:lnTo>
                <a:lnTo>
                  <a:pt x="3" y="2"/>
                </a:lnTo>
                <a:lnTo>
                  <a:pt x="2" y="2"/>
                </a:lnTo>
                <a:lnTo>
                  <a:pt x="2" y="2"/>
                </a:lnTo>
                <a:lnTo>
                  <a:pt x="1" y="1"/>
                </a:lnTo>
                <a:lnTo>
                  <a:pt x="0"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54" name="Freeform 18"/>
          <p:cNvSpPr>
            <a:spLocks/>
          </p:cNvSpPr>
          <p:nvPr/>
        </p:nvSpPr>
        <p:spPr bwMode="auto">
          <a:xfrm>
            <a:off x="2794000" y="2552700"/>
            <a:ext cx="561975" cy="71438"/>
          </a:xfrm>
          <a:custGeom>
            <a:avLst/>
            <a:gdLst>
              <a:gd name="T0" fmla="*/ 0 w 32"/>
              <a:gd name="T1" fmla="*/ 4 h 4"/>
              <a:gd name="T2" fmla="*/ 0 w 32"/>
              <a:gd name="T3" fmla="*/ 3 h 4"/>
              <a:gd name="T4" fmla="*/ 1 w 32"/>
              <a:gd name="T5" fmla="*/ 3 h 4"/>
              <a:gd name="T6" fmla="*/ 1 w 32"/>
              <a:gd name="T7" fmla="*/ 3 h 4"/>
              <a:gd name="T8" fmla="*/ 2 w 32"/>
              <a:gd name="T9" fmla="*/ 2 h 4"/>
              <a:gd name="T10" fmla="*/ 2 w 32"/>
              <a:gd name="T11" fmla="*/ 2 h 4"/>
              <a:gd name="T12" fmla="*/ 11 w 32"/>
              <a:gd name="T13" fmla="*/ 2 h 4"/>
              <a:gd name="T14" fmla="*/ 16 w 32"/>
              <a:gd name="T15" fmla="*/ 2 h 4"/>
              <a:gd name="T16" fmla="*/ 20 w 32"/>
              <a:gd name="T17" fmla="*/ 2 h 4"/>
              <a:gd name="T18" fmla="*/ 30 w 32"/>
              <a:gd name="T19" fmla="*/ 2 h 4"/>
              <a:gd name="T20" fmla="*/ 30 w 32"/>
              <a:gd name="T21" fmla="*/ 2 h 4"/>
              <a:gd name="T22" fmla="*/ 31 w 32"/>
              <a:gd name="T23" fmla="*/ 2 h 4"/>
              <a:gd name="T24" fmla="*/ 31 w 32"/>
              <a:gd name="T25" fmla="*/ 2 h 4"/>
              <a:gd name="T26" fmla="*/ 32 w 32"/>
              <a:gd name="T27" fmla="*/ 1 h 4"/>
              <a:gd name="T28" fmla="*/ 32 w 32"/>
              <a:gd name="T29"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4">
                <a:moveTo>
                  <a:pt x="0" y="4"/>
                </a:moveTo>
                <a:lnTo>
                  <a:pt x="0" y="3"/>
                </a:lnTo>
                <a:lnTo>
                  <a:pt x="1" y="3"/>
                </a:lnTo>
                <a:lnTo>
                  <a:pt x="1" y="3"/>
                </a:lnTo>
                <a:lnTo>
                  <a:pt x="2" y="2"/>
                </a:lnTo>
                <a:lnTo>
                  <a:pt x="2" y="2"/>
                </a:lnTo>
                <a:lnTo>
                  <a:pt x="11" y="2"/>
                </a:lnTo>
                <a:lnTo>
                  <a:pt x="16" y="2"/>
                </a:lnTo>
                <a:lnTo>
                  <a:pt x="20" y="2"/>
                </a:lnTo>
                <a:lnTo>
                  <a:pt x="30" y="2"/>
                </a:lnTo>
                <a:lnTo>
                  <a:pt x="30" y="2"/>
                </a:lnTo>
                <a:lnTo>
                  <a:pt x="31" y="2"/>
                </a:lnTo>
                <a:lnTo>
                  <a:pt x="31" y="2"/>
                </a:lnTo>
                <a:lnTo>
                  <a:pt x="32" y="1"/>
                </a:lnTo>
                <a:lnTo>
                  <a:pt x="3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55" name="Freeform 19"/>
          <p:cNvSpPr>
            <a:spLocks/>
          </p:cNvSpPr>
          <p:nvPr/>
        </p:nvSpPr>
        <p:spPr bwMode="auto">
          <a:xfrm>
            <a:off x="3355975" y="2552700"/>
            <a:ext cx="579438" cy="71438"/>
          </a:xfrm>
          <a:custGeom>
            <a:avLst/>
            <a:gdLst>
              <a:gd name="T0" fmla="*/ 33 w 33"/>
              <a:gd name="T1" fmla="*/ 4 h 4"/>
              <a:gd name="T2" fmla="*/ 32 w 33"/>
              <a:gd name="T3" fmla="*/ 3 h 4"/>
              <a:gd name="T4" fmla="*/ 32 w 33"/>
              <a:gd name="T5" fmla="*/ 3 h 4"/>
              <a:gd name="T6" fmla="*/ 31 w 33"/>
              <a:gd name="T7" fmla="*/ 3 h 4"/>
              <a:gd name="T8" fmla="*/ 31 w 33"/>
              <a:gd name="T9" fmla="*/ 2 h 4"/>
              <a:gd name="T10" fmla="*/ 30 w 33"/>
              <a:gd name="T11" fmla="*/ 2 h 4"/>
              <a:gd name="T12" fmla="*/ 21 w 33"/>
              <a:gd name="T13" fmla="*/ 2 h 4"/>
              <a:gd name="T14" fmla="*/ 17 w 33"/>
              <a:gd name="T15" fmla="*/ 2 h 4"/>
              <a:gd name="T16" fmla="*/ 12 w 33"/>
              <a:gd name="T17" fmla="*/ 2 h 4"/>
              <a:gd name="T18" fmla="*/ 3 w 33"/>
              <a:gd name="T19" fmla="*/ 2 h 4"/>
              <a:gd name="T20" fmla="*/ 2 w 33"/>
              <a:gd name="T21" fmla="*/ 2 h 4"/>
              <a:gd name="T22" fmla="*/ 2 w 33"/>
              <a:gd name="T23" fmla="*/ 2 h 4"/>
              <a:gd name="T24" fmla="*/ 1 w 33"/>
              <a:gd name="T25" fmla="*/ 1 h 4"/>
              <a:gd name="T26" fmla="*/ 0 w 33"/>
              <a:gd name="T2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 h="4">
                <a:moveTo>
                  <a:pt x="33" y="4"/>
                </a:moveTo>
                <a:lnTo>
                  <a:pt x="32" y="3"/>
                </a:lnTo>
                <a:lnTo>
                  <a:pt x="32" y="3"/>
                </a:lnTo>
                <a:lnTo>
                  <a:pt x="31" y="3"/>
                </a:lnTo>
                <a:lnTo>
                  <a:pt x="31" y="2"/>
                </a:lnTo>
                <a:lnTo>
                  <a:pt x="30" y="2"/>
                </a:lnTo>
                <a:lnTo>
                  <a:pt x="21" y="2"/>
                </a:lnTo>
                <a:lnTo>
                  <a:pt x="17" y="2"/>
                </a:lnTo>
                <a:lnTo>
                  <a:pt x="12" y="2"/>
                </a:lnTo>
                <a:lnTo>
                  <a:pt x="3" y="2"/>
                </a:lnTo>
                <a:lnTo>
                  <a:pt x="2" y="2"/>
                </a:lnTo>
                <a:lnTo>
                  <a:pt x="2" y="2"/>
                </a:lnTo>
                <a:lnTo>
                  <a:pt x="1" y="1"/>
                </a:lnTo>
                <a:lnTo>
                  <a:pt x="0"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56" name="Freeform 20"/>
          <p:cNvSpPr>
            <a:spLocks/>
          </p:cNvSpPr>
          <p:nvPr/>
        </p:nvSpPr>
        <p:spPr bwMode="auto">
          <a:xfrm>
            <a:off x="4129088" y="2922588"/>
            <a:ext cx="34925" cy="34925"/>
          </a:xfrm>
          <a:custGeom>
            <a:avLst/>
            <a:gdLst>
              <a:gd name="T0" fmla="*/ 11 w 22"/>
              <a:gd name="T1" fmla="*/ 11 h 22"/>
              <a:gd name="T2" fmla="*/ 11 w 22"/>
              <a:gd name="T3" fmla="*/ 0 h 22"/>
              <a:gd name="T4" fmla="*/ 0 w 22"/>
              <a:gd name="T5" fmla="*/ 0 h 22"/>
              <a:gd name="T6" fmla="*/ 0 w 22"/>
              <a:gd name="T7" fmla="*/ 11 h 22"/>
              <a:gd name="T8" fmla="*/ 0 w 22"/>
              <a:gd name="T9" fmla="*/ 22 h 22"/>
              <a:gd name="T10" fmla="*/ 11 w 22"/>
              <a:gd name="T11" fmla="*/ 22 h 22"/>
              <a:gd name="T12" fmla="*/ 22 w 22"/>
              <a:gd name="T13" fmla="*/ 22 h 22"/>
              <a:gd name="T14" fmla="*/ 22 w 22"/>
              <a:gd name="T15" fmla="*/ 11 h 22"/>
              <a:gd name="T16" fmla="*/ 22 w 22"/>
              <a:gd name="T17" fmla="*/ 0 h 22"/>
              <a:gd name="T18" fmla="*/ 11 w 22"/>
              <a:gd name="T19" fmla="*/ 0 h 22"/>
              <a:gd name="T20" fmla="*/ 11 w 22"/>
              <a:gd name="T21"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22">
                <a:moveTo>
                  <a:pt x="11" y="11"/>
                </a:moveTo>
                <a:lnTo>
                  <a:pt x="11" y="0"/>
                </a:lnTo>
                <a:lnTo>
                  <a:pt x="0" y="0"/>
                </a:lnTo>
                <a:lnTo>
                  <a:pt x="0" y="11"/>
                </a:lnTo>
                <a:lnTo>
                  <a:pt x="0" y="22"/>
                </a:lnTo>
                <a:lnTo>
                  <a:pt x="11" y="22"/>
                </a:lnTo>
                <a:lnTo>
                  <a:pt x="22" y="22"/>
                </a:lnTo>
                <a:lnTo>
                  <a:pt x="22" y="11"/>
                </a:lnTo>
                <a:lnTo>
                  <a:pt x="22" y="0"/>
                </a:lnTo>
                <a:lnTo>
                  <a:pt x="11" y="0"/>
                </a:lnTo>
                <a:lnTo>
                  <a:pt x="11" y="11"/>
                </a:lnTo>
                <a:close/>
              </a:path>
            </a:pathLst>
          </a:custGeom>
          <a:solidFill>
            <a:srgbClr val="000000"/>
          </a:solidFill>
          <a:ln w="0">
            <a:solidFill>
              <a:srgbClr val="000000"/>
            </a:solidFill>
            <a:prstDash val="solid"/>
            <a:round/>
            <a:headEnd/>
            <a:tailEnd/>
          </a:ln>
        </p:spPr>
        <p:txBody>
          <a:bodyPr/>
          <a:lstStyle/>
          <a:p>
            <a:endParaRPr lang="en-IN"/>
          </a:p>
        </p:txBody>
      </p:sp>
      <p:sp>
        <p:nvSpPr>
          <p:cNvPr id="14357" name="Freeform 21"/>
          <p:cNvSpPr>
            <a:spLocks/>
          </p:cNvSpPr>
          <p:nvPr/>
        </p:nvSpPr>
        <p:spPr bwMode="auto">
          <a:xfrm>
            <a:off x="4129088" y="2940050"/>
            <a:ext cx="17462" cy="17463"/>
          </a:xfrm>
          <a:custGeom>
            <a:avLst/>
            <a:gdLst>
              <a:gd name="T0" fmla="*/ 0 w 1"/>
              <a:gd name="T1" fmla="*/ 0 h 1"/>
              <a:gd name="T2" fmla="*/ 0 w 1"/>
              <a:gd name="T3" fmla="*/ 0 h 1"/>
              <a:gd name="T4" fmla="*/ 0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lnTo>
                  <a:pt x="0" y="0"/>
                </a:lnTo>
                <a:lnTo>
                  <a:pt x="0" y="1"/>
                </a:lnTo>
                <a:lnTo>
                  <a:pt x="1" y="0"/>
                </a:lnTo>
                <a:lnTo>
                  <a:pt x="0"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58" name="Freeform 22"/>
          <p:cNvSpPr>
            <a:spLocks/>
          </p:cNvSpPr>
          <p:nvPr/>
        </p:nvSpPr>
        <p:spPr bwMode="auto">
          <a:xfrm>
            <a:off x="4216400" y="2922588"/>
            <a:ext cx="34925" cy="34925"/>
          </a:xfrm>
          <a:custGeom>
            <a:avLst/>
            <a:gdLst>
              <a:gd name="T0" fmla="*/ 11 w 22"/>
              <a:gd name="T1" fmla="*/ 11 h 22"/>
              <a:gd name="T2" fmla="*/ 11 w 22"/>
              <a:gd name="T3" fmla="*/ 0 h 22"/>
              <a:gd name="T4" fmla="*/ 0 w 22"/>
              <a:gd name="T5" fmla="*/ 0 h 22"/>
              <a:gd name="T6" fmla="*/ 0 w 22"/>
              <a:gd name="T7" fmla="*/ 11 h 22"/>
              <a:gd name="T8" fmla="*/ 0 w 22"/>
              <a:gd name="T9" fmla="*/ 22 h 22"/>
              <a:gd name="T10" fmla="*/ 11 w 22"/>
              <a:gd name="T11" fmla="*/ 22 h 22"/>
              <a:gd name="T12" fmla="*/ 22 w 22"/>
              <a:gd name="T13" fmla="*/ 22 h 22"/>
              <a:gd name="T14" fmla="*/ 22 w 22"/>
              <a:gd name="T15" fmla="*/ 11 h 22"/>
              <a:gd name="T16" fmla="*/ 22 w 22"/>
              <a:gd name="T17" fmla="*/ 0 h 22"/>
              <a:gd name="T18" fmla="*/ 11 w 22"/>
              <a:gd name="T19" fmla="*/ 0 h 22"/>
              <a:gd name="T20" fmla="*/ 11 w 22"/>
              <a:gd name="T21"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22">
                <a:moveTo>
                  <a:pt x="11" y="11"/>
                </a:moveTo>
                <a:lnTo>
                  <a:pt x="11" y="0"/>
                </a:lnTo>
                <a:lnTo>
                  <a:pt x="0" y="0"/>
                </a:lnTo>
                <a:lnTo>
                  <a:pt x="0" y="11"/>
                </a:lnTo>
                <a:lnTo>
                  <a:pt x="0" y="22"/>
                </a:lnTo>
                <a:lnTo>
                  <a:pt x="11" y="22"/>
                </a:lnTo>
                <a:lnTo>
                  <a:pt x="22" y="22"/>
                </a:lnTo>
                <a:lnTo>
                  <a:pt x="22" y="11"/>
                </a:lnTo>
                <a:lnTo>
                  <a:pt x="22" y="0"/>
                </a:lnTo>
                <a:lnTo>
                  <a:pt x="11" y="0"/>
                </a:lnTo>
                <a:lnTo>
                  <a:pt x="11" y="11"/>
                </a:lnTo>
                <a:close/>
              </a:path>
            </a:pathLst>
          </a:custGeom>
          <a:solidFill>
            <a:srgbClr val="000000"/>
          </a:solidFill>
          <a:ln w="0">
            <a:solidFill>
              <a:srgbClr val="000000"/>
            </a:solidFill>
            <a:prstDash val="solid"/>
            <a:round/>
            <a:headEnd/>
            <a:tailEnd/>
          </a:ln>
        </p:spPr>
        <p:txBody>
          <a:bodyPr/>
          <a:lstStyle/>
          <a:p>
            <a:endParaRPr lang="en-IN"/>
          </a:p>
        </p:txBody>
      </p:sp>
      <p:sp>
        <p:nvSpPr>
          <p:cNvPr id="14359" name="Freeform 23"/>
          <p:cNvSpPr>
            <a:spLocks/>
          </p:cNvSpPr>
          <p:nvPr/>
        </p:nvSpPr>
        <p:spPr bwMode="auto">
          <a:xfrm>
            <a:off x="4216400" y="2940050"/>
            <a:ext cx="17463" cy="17463"/>
          </a:xfrm>
          <a:custGeom>
            <a:avLst/>
            <a:gdLst>
              <a:gd name="T0" fmla="*/ 0 w 1"/>
              <a:gd name="T1" fmla="*/ 0 h 1"/>
              <a:gd name="T2" fmla="*/ 0 w 1"/>
              <a:gd name="T3" fmla="*/ 0 h 1"/>
              <a:gd name="T4" fmla="*/ 0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lnTo>
                  <a:pt x="0" y="0"/>
                </a:lnTo>
                <a:lnTo>
                  <a:pt x="0" y="1"/>
                </a:lnTo>
                <a:lnTo>
                  <a:pt x="1" y="0"/>
                </a:lnTo>
                <a:lnTo>
                  <a:pt x="0"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60" name="Freeform 24"/>
          <p:cNvSpPr>
            <a:spLocks/>
          </p:cNvSpPr>
          <p:nvPr/>
        </p:nvSpPr>
        <p:spPr bwMode="auto">
          <a:xfrm>
            <a:off x="4303713" y="2922588"/>
            <a:ext cx="34925" cy="34925"/>
          </a:xfrm>
          <a:custGeom>
            <a:avLst/>
            <a:gdLst>
              <a:gd name="T0" fmla="*/ 11 w 22"/>
              <a:gd name="T1" fmla="*/ 11 h 22"/>
              <a:gd name="T2" fmla="*/ 11 w 22"/>
              <a:gd name="T3" fmla="*/ 0 h 22"/>
              <a:gd name="T4" fmla="*/ 0 w 22"/>
              <a:gd name="T5" fmla="*/ 0 h 22"/>
              <a:gd name="T6" fmla="*/ 0 w 22"/>
              <a:gd name="T7" fmla="*/ 11 h 22"/>
              <a:gd name="T8" fmla="*/ 0 w 22"/>
              <a:gd name="T9" fmla="*/ 22 h 22"/>
              <a:gd name="T10" fmla="*/ 11 w 22"/>
              <a:gd name="T11" fmla="*/ 22 h 22"/>
              <a:gd name="T12" fmla="*/ 22 w 22"/>
              <a:gd name="T13" fmla="*/ 22 h 22"/>
              <a:gd name="T14" fmla="*/ 22 w 22"/>
              <a:gd name="T15" fmla="*/ 11 h 22"/>
              <a:gd name="T16" fmla="*/ 22 w 22"/>
              <a:gd name="T17" fmla="*/ 0 h 22"/>
              <a:gd name="T18" fmla="*/ 11 w 22"/>
              <a:gd name="T19" fmla="*/ 0 h 22"/>
              <a:gd name="T20" fmla="*/ 11 w 22"/>
              <a:gd name="T21"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22">
                <a:moveTo>
                  <a:pt x="11" y="11"/>
                </a:moveTo>
                <a:lnTo>
                  <a:pt x="11" y="0"/>
                </a:lnTo>
                <a:lnTo>
                  <a:pt x="0" y="0"/>
                </a:lnTo>
                <a:lnTo>
                  <a:pt x="0" y="11"/>
                </a:lnTo>
                <a:lnTo>
                  <a:pt x="0" y="22"/>
                </a:lnTo>
                <a:lnTo>
                  <a:pt x="11" y="22"/>
                </a:lnTo>
                <a:lnTo>
                  <a:pt x="22" y="22"/>
                </a:lnTo>
                <a:lnTo>
                  <a:pt x="22" y="11"/>
                </a:lnTo>
                <a:lnTo>
                  <a:pt x="22" y="0"/>
                </a:lnTo>
                <a:lnTo>
                  <a:pt x="11" y="0"/>
                </a:lnTo>
                <a:lnTo>
                  <a:pt x="11" y="11"/>
                </a:lnTo>
                <a:close/>
              </a:path>
            </a:pathLst>
          </a:custGeom>
          <a:solidFill>
            <a:srgbClr val="000000"/>
          </a:solidFill>
          <a:ln w="0">
            <a:solidFill>
              <a:srgbClr val="000000"/>
            </a:solidFill>
            <a:prstDash val="solid"/>
            <a:round/>
            <a:headEnd/>
            <a:tailEnd/>
          </a:ln>
        </p:spPr>
        <p:txBody>
          <a:bodyPr/>
          <a:lstStyle/>
          <a:p>
            <a:endParaRPr lang="en-IN"/>
          </a:p>
        </p:txBody>
      </p:sp>
      <p:sp>
        <p:nvSpPr>
          <p:cNvPr id="14361" name="Freeform 25"/>
          <p:cNvSpPr>
            <a:spLocks/>
          </p:cNvSpPr>
          <p:nvPr/>
        </p:nvSpPr>
        <p:spPr bwMode="auto">
          <a:xfrm>
            <a:off x="4321175" y="2940050"/>
            <a:ext cx="17463" cy="17463"/>
          </a:xfrm>
          <a:custGeom>
            <a:avLst/>
            <a:gdLst>
              <a:gd name="T0" fmla="*/ 0 w 1"/>
              <a:gd name="T1" fmla="*/ 0 h 1"/>
              <a:gd name="T2" fmla="*/ 0 w 1"/>
              <a:gd name="T3" fmla="*/ 0 h 1"/>
              <a:gd name="T4" fmla="*/ 0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lnTo>
                  <a:pt x="0" y="0"/>
                </a:lnTo>
                <a:lnTo>
                  <a:pt x="0" y="1"/>
                </a:lnTo>
                <a:lnTo>
                  <a:pt x="1" y="0"/>
                </a:lnTo>
                <a:lnTo>
                  <a:pt x="0"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62" name="Rectangle 26"/>
          <p:cNvSpPr>
            <a:spLocks noChangeArrowheads="1"/>
          </p:cNvSpPr>
          <p:nvPr/>
        </p:nvSpPr>
        <p:spPr bwMode="auto">
          <a:xfrm>
            <a:off x="601663" y="2835275"/>
            <a:ext cx="936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F</a:t>
            </a:r>
            <a:endParaRPr lang="en-US" altLang="zh-CN" sz="2400">
              <a:latin typeface="Times New Roman" pitchFamily="18" charset="0"/>
              <a:ea typeface="SimSun" pitchFamily="2" charset="-122"/>
            </a:endParaRPr>
          </a:p>
        </p:txBody>
      </p:sp>
      <p:sp>
        <p:nvSpPr>
          <p:cNvPr id="14363" name="Rectangle 27"/>
          <p:cNvSpPr>
            <a:spLocks noChangeArrowheads="1"/>
          </p:cNvSpPr>
          <p:nvPr/>
        </p:nvSpPr>
        <p:spPr bwMode="auto">
          <a:xfrm>
            <a:off x="688975" y="29400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1</a:t>
            </a:r>
            <a:endParaRPr lang="en-US" altLang="zh-CN" sz="2400">
              <a:latin typeface="Times New Roman" pitchFamily="18" charset="0"/>
              <a:ea typeface="SimSun" pitchFamily="2" charset="-122"/>
            </a:endParaRPr>
          </a:p>
        </p:txBody>
      </p:sp>
      <p:sp>
        <p:nvSpPr>
          <p:cNvPr id="14364" name="Rectangle 28"/>
          <p:cNvSpPr>
            <a:spLocks noChangeArrowheads="1"/>
          </p:cNvSpPr>
          <p:nvPr/>
        </p:nvSpPr>
        <p:spPr bwMode="auto">
          <a:xfrm>
            <a:off x="1198563" y="2835275"/>
            <a:ext cx="101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E</a:t>
            </a:r>
            <a:endParaRPr lang="en-US" altLang="zh-CN" sz="2400">
              <a:latin typeface="Times New Roman" pitchFamily="18" charset="0"/>
              <a:ea typeface="SimSun" pitchFamily="2" charset="-122"/>
            </a:endParaRPr>
          </a:p>
        </p:txBody>
      </p:sp>
      <p:sp>
        <p:nvSpPr>
          <p:cNvPr id="14365" name="Rectangle 29"/>
          <p:cNvSpPr>
            <a:spLocks noChangeArrowheads="1"/>
          </p:cNvSpPr>
          <p:nvPr/>
        </p:nvSpPr>
        <p:spPr bwMode="auto">
          <a:xfrm>
            <a:off x="1285875" y="29400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1</a:t>
            </a:r>
            <a:endParaRPr lang="en-US" altLang="zh-CN" sz="2400">
              <a:latin typeface="Times New Roman" pitchFamily="18" charset="0"/>
              <a:ea typeface="SimSun" pitchFamily="2" charset="-122"/>
            </a:endParaRPr>
          </a:p>
        </p:txBody>
      </p:sp>
      <p:sp>
        <p:nvSpPr>
          <p:cNvPr id="14366" name="Rectangle 30"/>
          <p:cNvSpPr>
            <a:spLocks noChangeArrowheads="1"/>
          </p:cNvSpPr>
          <p:nvPr/>
        </p:nvSpPr>
        <p:spPr bwMode="auto">
          <a:xfrm>
            <a:off x="1793875" y="2835275"/>
            <a:ext cx="936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F</a:t>
            </a:r>
            <a:endParaRPr lang="en-US" altLang="zh-CN" sz="2400">
              <a:latin typeface="Times New Roman" pitchFamily="18" charset="0"/>
              <a:ea typeface="SimSun" pitchFamily="2" charset="-122"/>
            </a:endParaRPr>
          </a:p>
        </p:txBody>
      </p:sp>
      <p:sp>
        <p:nvSpPr>
          <p:cNvPr id="14367" name="Rectangle 31"/>
          <p:cNvSpPr>
            <a:spLocks noChangeArrowheads="1"/>
          </p:cNvSpPr>
          <p:nvPr/>
        </p:nvSpPr>
        <p:spPr bwMode="auto">
          <a:xfrm>
            <a:off x="1882775" y="29400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2</a:t>
            </a:r>
            <a:endParaRPr lang="en-US" altLang="zh-CN" sz="2400">
              <a:latin typeface="Times New Roman" pitchFamily="18" charset="0"/>
              <a:ea typeface="SimSun" pitchFamily="2" charset="-122"/>
            </a:endParaRPr>
          </a:p>
        </p:txBody>
      </p:sp>
      <p:sp>
        <p:nvSpPr>
          <p:cNvPr id="14368" name="Rectangle 32"/>
          <p:cNvSpPr>
            <a:spLocks noChangeArrowheads="1"/>
          </p:cNvSpPr>
          <p:nvPr/>
        </p:nvSpPr>
        <p:spPr bwMode="auto">
          <a:xfrm>
            <a:off x="2390775" y="2835275"/>
            <a:ext cx="101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E</a:t>
            </a:r>
            <a:endParaRPr lang="en-US" altLang="zh-CN" sz="2400">
              <a:latin typeface="Times New Roman" pitchFamily="18" charset="0"/>
              <a:ea typeface="SimSun" pitchFamily="2" charset="-122"/>
            </a:endParaRPr>
          </a:p>
        </p:txBody>
      </p:sp>
      <p:sp>
        <p:nvSpPr>
          <p:cNvPr id="14369" name="Rectangle 33"/>
          <p:cNvSpPr>
            <a:spLocks noChangeArrowheads="1"/>
          </p:cNvSpPr>
          <p:nvPr/>
        </p:nvSpPr>
        <p:spPr bwMode="auto">
          <a:xfrm>
            <a:off x="2479675" y="29400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2</a:t>
            </a:r>
            <a:endParaRPr lang="en-US" altLang="zh-CN" sz="2400">
              <a:latin typeface="Times New Roman" pitchFamily="18" charset="0"/>
              <a:ea typeface="SimSun" pitchFamily="2" charset="-122"/>
            </a:endParaRPr>
          </a:p>
        </p:txBody>
      </p:sp>
      <p:sp>
        <p:nvSpPr>
          <p:cNvPr id="14370" name="Rectangle 34"/>
          <p:cNvSpPr>
            <a:spLocks noChangeArrowheads="1"/>
          </p:cNvSpPr>
          <p:nvPr/>
        </p:nvSpPr>
        <p:spPr bwMode="auto">
          <a:xfrm>
            <a:off x="2987675" y="2835275"/>
            <a:ext cx="936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F</a:t>
            </a:r>
            <a:endParaRPr lang="en-US" altLang="zh-CN" sz="2400">
              <a:latin typeface="Times New Roman" pitchFamily="18" charset="0"/>
              <a:ea typeface="SimSun" pitchFamily="2" charset="-122"/>
            </a:endParaRPr>
          </a:p>
        </p:txBody>
      </p:sp>
      <p:sp>
        <p:nvSpPr>
          <p:cNvPr id="14371" name="Rectangle 35"/>
          <p:cNvSpPr>
            <a:spLocks noChangeArrowheads="1"/>
          </p:cNvSpPr>
          <p:nvPr/>
        </p:nvSpPr>
        <p:spPr bwMode="auto">
          <a:xfrm>
            <a:off x="3074988" y="29400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3</a:t>
            </a:r>
            <a:endParaRPr lang="en-US" altLang="zh-CN" sz="2400">
              <a:latin typeface="Times New Roman" pitchFamily="18" charset="0"/>
              <a:ea typeface="SimSun" pitchFamily="2" charset="-122"/>
            </a:endParaRPr>
          </a:p>
        </p:txBody>
      </p:sp>
      <p:sp>
        <p:nvSpPr>
          <p:cNvPr id="14372" name="Rectangle 36"/>
          <p:cNvSpPr>
            <a:spLocks noChangeArrowheads="1"/>
          </p:cNvSpPr>
          <p:nvPr/>
        </p:nvSpPr>
        <p:spPr bwMode="auto">
          <a:xfrm>
            <a:off x="3584575" y="2835275"/>
            <a:ext cx="101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E</a:t>
            </a:r>
            <a:endParaRPr lang="en-US" altLang="zh-CN" sz="2400">
              <a:latin typeface="Times New Roman" pitchFamily="18" charset="0"/>
              <a:ea typeface="SimSun" pitchFamily="2" charset="-122"/>
            </a:endParaRPr>
          </a:p>
        </p:txBody>
      </p:sp>
      <p:sp>
        <p:nvSpPr>
          <p:cNvPr id="14373" name="Rectangle 37"/>
          <p:cNvSpPr>
            <a:spLocks noChangeArrowheads="1"/>
          </p:cNvSpPr>
          <p:nvPr/>
        </p:nvSpPr>
        <p:spPr bwMode="auto">
          <a:xfrm>
            <a:off x="3671888" y="29400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3</a:t>
            </a:r>
            <a:endParaRPr lang="en-US" altLang="zh-CN" sz="2400">
              <a:latin typeface="Times New Roman" pitchFamily="18" charset="0"/>
              <a:ea typeface="SimSun" pitchFamily="2" charset="-122"/>
            </a:endParaRPr>
          </a:p>
        </p:txBody>
      </p:sp>
      <p:sp>
        <p:nvSpPr>
          <p:cNvPr id="14374" name="Rectangle 38"/>
          <p:cNvSpPr>
            <a:spLocks noChangeArrowheads="1"/>
          </p:cNvSpPr>
          <p:nvPr/>
        </p:nvSpPr>
        <p:spPr bwMode="auto">
          <a:xfrm>
            <a:off x="917575" y="2273300"/>
            <a:ext cx="428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a:t>
            </a:r>
            <a:endParaRPr lang="en-US" altLang="zh-CN" sz="2400">
              <a:latin typeface="Times New Roman" pitchFamily="18" charset="0"/>
              <a:ea typeface="SimSun" pitchFamily="2" charset="-122"/>
            </a:endParaRPr>
          </a:p>
        </p:txBody>
      </p:sp>
      <p:sp>
        <p:nvSpPr>
          <p:cNvPr id="14375" name="Rectangle 39"/>
          <p:cNvSpPr>
            <a:spLocks noChangeArrowheads="1"/>
          </p:cNvSpPr>
          <p:nvPr/>
        </p:nvSpPr>
        <p:spPr bwMode="auto">
          <a:xfrm>
            <a:off x="969963" y="236061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1</a:t>
            </a:r>
            <a:endParaRPr lang="en-US" altLang="zh-CN" sz="2400">
              <a:latin typeface="Times New Roman" pitchFamily="18" charset="0"/>
              <a:ea typeface="SimSun" pitchFamily="2" charset="-122"/>
            </a:endParaRPr>
          </a:p>
        </p:txBody>
      </p:sp>
      <p:sp>
        <p:nvSpPr>
          <p:cNvPr id="14376" name="Rectangle 40"/>
          <p:cNvSpPr>
            <a:spLocks noChangeArrowheads="1"/>
          </p:cNvSpPr>
          <p:nvPr/>
        </p:nvSpPr>
        <p:spPr bwMode="auto">
          <a:xfrm>
            <a:off x="2109788" y="2273300"/>
            <a:ext cx="428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a:t>
            </a:r>
            <a:endParaRPr lang="en-US" altLang="zh-CN" sz="2400">
              <a:latin typeface="Times New Roman" pitchFamily="18" charset="0"/>
              <a:ea typeface="SimSun" pitchFamily="2" charset="-122"/>
            </a:endParaRPr>
          </a:p>
        </p:txBody>
      </p:sp>
      <p:sp>
        <p:nvSpPr>
          <p:cNvPr id="14377" name="Rectangle 41"/>
          <p:cNvSpPr>
            <a:spLocks noChangeArrowheads="1"/>
          </p:cNvSpPr>
          <p:nvPr/>
        </p:nvSpPr>
        <p:spPr bwMode="auto">
          <a:xfrm>
            <a:off x="2163763" y="236061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2</a:t>
            </a:r>
            <a:endParaRPr lang="en-US" altLang="zh-CN" sz="2400">
              <a:latin typeface="Times New Roman" pitchFamily="18" charset="0"/>
              <a:ea typeface="SimSun" pitchFamily="2" charset="-122"/>
            </a:endParaRPr>
          </a:p>
        </p:txBody>
      </p:sp>
      <p:sp>
        <p:nvSpPr>
          <p:cNvPr id="14378" name="Rectangle 42"/>
          <p:cNvSpPr>
            <a:spLocks noChangeArrowheads="1"/>
          </p:cNvSpPr>
          <p:nvPr/>
        </p:nvSpPr>
        <p:spPr bwMode="auto">
          <a:xfrm>
            <a:off x="3303588" y="2273300"/>
            <a:ext cx="428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a:t>
            </a:r>
            <a:endParaRPr lang="en-US" altLang="zh-CN" sz="2400">
              <a:latin typeface="Times New Roman" pitchFamily="18" charset="0"/>
              <a:ea typeface="SimSun" pitchFamily="2" charset="-122"/>
            </a:endParaRPr>
          </a:p>
        </p:txBody>
      </p:sp>
      <p:sp>
        <p:nvSpPr>
          <p:cNvPr id="14379" name="Rectangle 43"/>
          <p:cNvSpPr>
            <a:spLocks noChangeArrowheads="1"/>
          </p:cNvSpPr>
          <p:nvPr/>
        </p:nvSpPr>
        <p:spPr bwMode="auto">
          <a:xfrm>
            <a:off x="3355975" y="236061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3</a:t>
            </a:r>
            <a:endParaRPr lang="en-US" altLang="zh-CN" sz="2400">
              <a:latin typeface="Times New Roman" pitchFamily="18" charset="0"/>
              <a:ea typeface="SimSun" pitchFamily="2" charset="-122"/>
            </a:endParaRPr>
          </a:p>
        </p:txBody>
      </p:sp>
      <p:sp>
        <p:nvSpPr>
          <p:cNvPr id="14380" name="Rectangle 44"/>
          <p:cNvSpPr>
            <a:spLocks noChangeArrowheads="1"/>
          </p:cNvSpPr>
          <p:nvPr/>
        </p:nvSpPr>
        <p:spPr bwMode="auto">
          <a:xfrm>
            <a:off x="1531938" y="3395663"/>
            <a:ext cx="163671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Sans L" charset="0"/>
                <a:ea typeface="SimSun" pitchFamily="2" charset="-122"/>
              </a:rPr>
              <a:t>(a) Sequential execution</a:t>
            </a:r>
            <a:endParaRPr lang="en-US" altLang="zh-CN" sz="2400">
              <a:latin typeface="Times New Roman" pitchFamily="18" charset="0"/>
              <a:ea typeface="SimSun" pitchFamily="2" charset="-122"/>
            </a:endParaRPr>
          </a:p>
        </p:txBody>
      </p:sp>
      <p:sp>
        <p:nvSpPr>
          <p:cNvPr id="14381" name="Rectangle 45"/>
          <p:cNvSpPr>
            <a:spLocks noChangeArrowheads="1"/>
          </p:cNvSpPr>
          <p:nvPr/>
        </p:nvSpPr>
        <p:spPr bwMode="auto">
          <a:xfrm>
            <a:off x="512763" y="4589463"/>
            <a:ext cx="984250" cy="1000125"/>
          </a:xfrm>
          <a:prstGeom prst="rect">
            <a:avLst/>
          </a:prstGeom>
          <a:solidFill>
            <a:srgbClr val="FFFFFF"/>
          </a:solidFill>
          <a:ln w="0">
            <a:solidFill>
              <a:srgbClr val="FFFFFF"/>
            </a:solidFill>
            <a:miter lim="800000"/>
            <a:headEnd/>
            <a:tailEnd/>
          </a:ln>
        </p:spPr>
        <p:txBody>
          <a:bodyPr/>
          <a:lstStyle/>
          <a:p>
            <a:endParaRPr lang="en-IN"/>
          </a:p>
        </p:txBody>
      </p:sp>
      <p:sp>
        <p:nvSpPr>
          <p:cNvPr id="14382" name="Rectangle 46"/>
          <p:cNvSpPr>
            <a:spLocks noChangeArrowheads="1"/>
          </p:cNvSpPr>
          <p:nvPr/>
        </p:nvSpPr>
        <p:spPr bwMode="auto">
          <a:xfrm>
            <a:off x="512763" y="4589463"/>
            <a:ext cx="984250" cy="1000125"/>
          </a:xfrm>
          <a:prstGeom prst="rect">
            <a:avLst/>
          </a:prstGeom>
          <a:noFill/>
          <a:ln w="17463">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83" name="Rectangle 47"/>
          <p:cNvSpPr>
            <a:spLocks noChangeArrowheads="1"/>
          </p:cNvSpPr>
          <p:nvPr/>
        </p:nvSpPr>
        <p:spPr bwMode="auto">
          <a:xfrm>
            <a:off x="671513" y="4818063"/>
            <a:ext cx="7016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Instruction</a:t>
            </a:r>
            <a:endParaRPr lang="en-US" altLang="zh-CN" sz="2400">
              <a:latin typeface="Times New Roman" pitchFamily="18" charset="0"/>
              <a:ea typeface="SimSun" pitchFamily="2" charset="-122"/>
            </a:endParaRPr>
          </a:p>
        </p:txBody>
      </p:sp>
      <p:sp>
        <p:nvSpPr>
          <p:cNvPr id="14384" name="Rectangle 48"/>
          <p:cNvSpPr>
            <a:spLocks noChangeArrowheads="1"/>
          </p:cNvSpPr>
          <p:nvPr/>
        </p:nvSpPr>
        <p:spPr bwMode="auto">
          <a:xfrm>
            <a:off x="847725" y="4975225"/>
            <a:ext cx="330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fetch</a:t>
            </a:r>
            <a:endParaRPr lang="en-US" altLang="zh-CN" sz="2400">
              <a:latin typeface="Times New Roman" pitchFamily="18" charset="0"/>
              <a:ea typeface="SimSun" pitchFamily="2" charset="-122"/>
            </a:endParaRPr>
          </a:p>
        </p:txBody>
      </p:sp>
      <p:sp>
        <p:nvSpPr>
          <p:cNvPr id="14385" name="Rectangle 49"/>
          <p:cNvSpPr>
            <a:spLocks noChangeArrowheads="1"/>
          </p:cNvSpPr>
          <p:nvPr/>
        </p:nvSpPr>
        <p:spPr bwMode="auto">
          <a:xfrm>
            <a:off x="882650" y="5133975"/>
            <a:ext cx="2444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unit</a:t>
            </a:r>
            <a:endParaRPr lang="en-US" altLang="zh-CN" sz="2400">
              <a:latin typeface="Times New Roman" pitchFamily="18" charset="0"/>
              <a:ea typeface="SimSun" pitchFamily="2" charset="-122"/>
            </a:endParaRPr>
          </a:p>
        </p:txBody>
      </p:sp>
      <p:sp>
        <p:nvSpPr>
          <p:cNvPr id="14386" name="Rectangle 50"/>
          <p:cNvSpPr>
            <a:spLocks noChangeArrowheads="1"/>
          </p:cNvSpPr>
          <p:nvPr/>
        </p:nvSpPr>
        <p:spPr bwMode="auto">
          <a:xfrm>
            <a:off x="2251075" y="4589463"/>
            <a:ext cx="246063" cy="1000125"/>
          </a:xfrm>
          <a:prstGeom prst="rect">
            <a:avLst/>
          </a:prstGeom>
          <a:solidFill>
            <a:srgbClr val="FFFFFF"/>
          </a:solidFill>
          <a:ln w="0">
            <a:solidFill>
              <a:srgbClr val="FFFFFF"/>
            </a:solidFill>
            <a:miter lim="800000"/>
            <a:headEnd/>
            <a:tailEnd/>
          </a:ln>
        </p:spPr>
        <p:txBody>
          <a:bodyPr/>
          <a:lstStyle/>
          <a:p>
            <a:endParaRPr lang="en-IN"/>
          </a:p>
        </p:txBody>
      </p:sp>
      <p:sp>
        <p:nvSpPr>
          <p:cNvPr id="14387" name="Rectangle 51"/>
          <p:cNvSpPr>
            <a:spLocks noChangeArrowheads="1"/>
          </p:cNvSpPr>
          <p:nvPr/>
        </p:nvSpPr>
        <p:spPr bwMode="auto">
          <a:xfrm>
            <a:off x="2251075" y="4589463"/>
            <a:ext cx="246063" cy="1000125"/>
          </a:xfrm>
          <a:prstGeom prst="rect">
            <a:avLst/>
          </a:prstGeom>
          <a:noFill/>
          <a:ln w="17463">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88" name="Rectangle 52"/>
          <p:cNvSpPr>
            <a:spLocks noChangeArrowheads="1"/>
          </p:cNvSpPr>
          <p:nvPr/>
        </p:nvSpPr>
        <p:spPr bwMode="auto">
          <a:xfrm>
            <a:off x="3251200" y="4589463"/>
            <a:ext cx="982663" cy="1000125"/>
          </a:xfrm>
          <a:prstGeom prst="rect">
            <a:avLst/>
          </a:prstGeom>
          <a:noFill/>
          <a:ln w="17463">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89" name="Rectangle 53"/>
          <p:cNvSpPr>
            <a:spLocks noChangeArrowheads="1"/>
          </p:cNvSpPr>
          <p:nvPr/>
        </p:nvSpPr>
        <p:spPr bwMode="auto">
          <a:xfrm>
            <a:off x="3425825" y="4887913"/>
            <a:ext cx="177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Ex</a:t>
            </a:r>
            <a:endParaRPr lang="en-US" altLang="zh-CN" sz="2400">
              <a:latin typeface="Times New Roman" pitchFamily="18" charset="0"/>
              <a:ea typeface="SimSun" pitchFamily="2" charset="-122"/>
            </a:endParaRPr>
          </a:p>
        </p:txBody>
      </p:sp>
      <p:sp>
        <p:nvSpPr>
          <p:cNvPr id="14390" name="Rectangle 54"/>
          <p:cNvSpPr>
            <a:spLocks noChangeArrowheads="1"/>
          </p:cNvSpPr>
          <p:nvPr/>
        </p:nvSpPr>
        <p:spPr bwMode="auto">
          <a:xfrm>
            <a:off x="3586163" y="4887913"/>
            <a:ext cx="4889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ecution</a:t>
            </a:r>
            <a:endParaRPr lang="en-US" altLang="zh-CN" sz="2400">
              <a:latin typeface="Times New Roman" pitchFamily="18" charset="0"/>
              <a:ea typeface="SimSun" pitchFamily="2" charset="-122"/>
            </a:endParaRPr>
          </a:p>
        </p:txBody>
      </p:sp>
      <p:sp>
        <p:nvSpPr>
          <p:cNvPr id="14391" name="Rectangle 55"/>
          <p:cNvSpPr>
            <a:spLocks noChangeArrowheads="1"/>
          </p:cNvSpPr>
          <p:nvPr/>
        </p:nvSpPr>
        <p:spPr bwMode="auto">
          <a:xfrm>
            <a:off x="3619500" y="5045075"/>
            <a:ext cx="2444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unit</a:t>
            </a:r>
            <a:endParaRPr lang="en-US" altLang="zh-CN" sz="2400">
              <a:latin typeface="Times New Roman" pitchFamily="18" charset="0"/>
              <a:ea typeface="SimSun" pitchFamily="2" charset="-122"/>
            </a:endParaRPr>
          </a:p>
        </p:txBody>
      </p:sp>
      <p:sp>
        <p:nvSpPr>
          <p:cNvPr id="14392" name="Rectangle 56"/>
          <p:cNvSpPr>
            <a:spLocks noChangeArrowheads="1"/>
          </p:cNvSpPr>
          <p:nvPr/>
        </p:nvSpPr>
        <p:spPr bwMode="auto">
          <a:xfrm>
            <a:off x="1847850" y="4133850"/>
            <a:ext cx="11080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Interstage buffer</a:t>
            </a:r>
            <a:endParaRPr lang="en-US" altLang="zh-CN" sz="2400">
              <a:latin typeface="Times New Roman" pitchFamily="18" charset="0"/>
              <a:ea typeface="SimSun" pitchFamily="2" charset="-122"/>
            </a:endParaRPr>
          </a:p>
        </p:txBody>
      </p:sp>
      <p:sp>
        <p:nvSpPr>
          <p:cNvPr id="14393" name="Rectangle 57"/>
          <p:cNvSpPr>
            <a:spLocks noChangeArrowheads="1"/>
          </p:cNvSpPr>
          <p:nvPr/>
        </p:nvSpPr>
        <p:spPr bwMode="auto">
          <a:xfrm>
            <a:off x="2286000" y="4343400"/>
            <a:ext cx="1857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B1</a:t>
            </a:r>
            <a:endParaRPr lang="en-US" altLang="zh-CN" sz="2400">
              <a:latin typeface="Times New Roman" pitchFamily="18" charset="0"/>
              <a:ea typeface="SimSun" pitchFamily="2" charset="-122"/>
            </a:endParaRPr>
          </a:p>
        </p:txBody>
      </p:sp>
      <p:sp>
        <p:nvSpPr>
          <p:cNvPr id="14394" name="Rectangle 58"/>
          <p:cNvSpPr>
            <a:spLocks noChangeArrowheads="1"/>
          </p:cNvSpPr>
          <p:nvPr/>
        </p:nvSpPr>
        <p:spPr bwMode="auto">
          <a:xfrm>
            <a:off x="1460500" y="5835650"/>
            <a:ext cx="175418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Sans L" charset="0"/>
                <a:ea typeface="SimSun" pitchFamily="2" charset="-122"/>
              </a:rPr>
              <a:t>(b) Hardware organization</a:t>
            </a:r>
            <a:endParaRPr lang="en-US" altLang="zh-CN" sz="2400">
              <a:latin typeface="Times New Roman" pitchFamily="18" charset="0"/>
              <a:ea typeface="SimSun" pitchFamily="2" charset="-122"/>
            </a:endParaRPr>
          </a:p>
        </p:txBody>
      </p:sp>
      <p:sp>
        <p:nvSpPr>
          <p:cNvPr id="14395" name="Rectangle 59"/>
          <p:cNvSpPr>
            <a:spLocks noChangeArrowheads="1"/>
          </p:cNvSpPr>
          <p:nvPr/>
        </p:nvSpPr>
        <p:spPr bwMode="auto">
          <a:xfrm>
            <a:off x="4251325" y="2097088"/>
            <a:ext cx="936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T</a:t>
            </a:r>
            <a:endParaRPr lang="en-US" altLang="zh-CN" sz="2400">
              <a:latin typeface="Times New Roman" pitchFamily="18" charset="0"/>
              <a:ea typeface="SimSun" pitchFamily="2" charset="-122"/>
            </a:endParaRPr>
          </a:p>
        </p:txBody>
      </p:sp>
      <p:sp>
        <p:nvSpPr>
          <p:cNvPr id="14396" name="Rectangle 60"/>
          <p:cNvSpPr>
            <a:spLocks noChangeArrowheads="1"/>
          </p:cNvSpPr>
          <p:nvPr/>
        </p:nvSpPr>
        <p:spPr bwMode="auto">
          <a:xfrm>
            <a:off x="4356100" y="2097088"/>
            <a:ext cx="2444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ime</a:t>
            </a:r>
            <a:endParaRPr lang="en-US" altLang="zh-CN" sz="2400">
              <a:latin typeface="Times New Roman" pitchFamily="18" charset="0"/>
              <a:ea typeface="SimSun" pitchFamily="2" charset="-122"/>
            </a:endParaRPr>
          </a:p>
        </p:txBody>
      </p:sp>
      <p:sp>
        <p:nvSpPr>
          <p:cNvPr id="14397" name="Freeform 61"/>
          <p:cNvSpPr>
            <a:spLocks/>
          </p:cNvSpPr>
          <p:nvPr/>
        </p:nvSpPr>
        <p:spPr bwMode="auto">
          <a:xfrm>
            <a:off x="4057650" y="2201863"/>
            <a:ext cx="106363" cy="52387"/>
          </a:xfrm>
          <a:custGeom>
            <a:avLst/>
            <a:gdLst>
              <a:gd name="T0" fmla="*/ 0 w 6"/>
              <a:gd name="T1" fmla="*/ 3 h 3"/>
              <a:gd name="T2" fmla="*/ 6 w 6"/>
              <a:gd name="T3" fmla="*/ 2 h 3"/>
              <a:gd name="T4" fmla="*/ 0 w 6"/>
              <a:gd name="T5" fmla="*/ 0 h 3"/>
              <a:gd name="T6" fmla="*/ 0 w 6"/>
              <a:gd name="T7" fmla="*/ 2 h 3"/>
              <a:gd name="T8" fmla="*/ 0 w 6"/>
              <a:gd name="T9" fmla="*/ 3 h 3"/>
            </a:gdLst>
            <a:ahLst/>
            <a:cxnLst>
              <a:cxn ang="0">
                <a:pos x="T0" y="T1"/>
              </a:cxn>
              <a:cxn ang="0">
                <a:pos x="T2" y="T3"/>
              </a:cxn>
              <a:cxn ang="0">
                <a:pos x="T4" y="T5"/>
              </a:cxn>
              <a:cxn ang="0">
                <a:pos x="T6" y="T7"/>
              </a:cxn>
              <a:cxn ang="0">
                <a:pos x="T8" y="T9"/>
              </a:cxn>
            </a:cxnLst>
            <a:rect l="0" t="0" r="r" b="b"/>
            <a:pathLst>
              <a:path w="6" h="3">
                <a:moveTo>
                  <a:pt x="0" y="3"/>
                </a:moveTo>
                <a:lnTo>
                  <a:pt x="6" y="2"/>
                </a:lnTo>
                <a:lnTo>
                  <a:pt x="0" y="0"/>
                </a:lnTo>
                <a:lnTo>
                  <a:pt x="0" y="2"/>
                </a:lnTo>
                <a:lnTo>
                  <a:pt x="0" y="3"/>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398" name="Freeform 62"/>
          <p:cNvSpPr>
            <a:spLocks/>
          </p:cNvSpPr>
          <p:nvPr/>
        </p:nvSpPr>
        <p:spPr bwMode="auto">
          <a:xfrm>
            <a:off x="4057650" y="2201863"/>
            <a:ext cx="106363" cy="52387"/>
          </a:xfrm>
          <a:custGeom>
            <a:avLst/>
            <a:gdLst>
              <a:gd name="T0" fmla="*/ 0 w 67"/>
              <a:gd name="T1" fmla="*/ 33 h 33"/>
              <a:gd name="T2" fmla="*/ 67 w 67"/>
              <a:gd name="T3" fmla="*/ 22 h 33"/>
              <a:gd name="T4" fmla="*/ 0 w 67"/>
              <a:gd name="T5" fmla="*/ 0 h 33"/>
              <a:gd name="T6" fmla="*/ 0 w 67"/>
              <a:gd name="T7" fmla="*/ 22 h 33"/>
              <a:gd name="T8" fmla="*/ 0 w 67"/>
              <a:gd name="T9" fmla="*/ 33 h 33"/>
            </a:gdLst>
            <a:ahLst/>
            <a:cxnLst>
              <a:cxn ang="0">
                <a:pos x="T0" y="T1"/>
              </a:cxn>
              <a:cxn ang="0">
                <a:pos x="T2" y="T3"/>
              </a:cxn>
              <a:cxn ang="0">
                <a:pos x="T4" y="T5"/>
              </a:cxn>
              <a:cxn ang="0">
                <a:pos x="T6" y="T7"/>
              </a:cxn>
              <a:cxn ang="0">
                <a:pos x="T8" y="T9"/>
              </a:cxn>
            </a:cxnLst>
            <a:rect l="0" t="0" r="r" b="b"/>
            <a:pathLst>
              <a:path w="67" h="33">
                <a:moveTo>
                  <a:pt x="0" y="33"/>
                </a:moveTo>
                <a:lnTo>
                  <a:pt x="67" y="22"/>
                </a:lnTo>
                <a:lnTo>
                  <a:pt x="0" y="0"/>
                </a:lnTo>
                <a:lnTo>
                  <a:pt x="0" y="22"/>
                </a:lnTo>
                <a:lnTo>
                  <a:pt x="0" y="33"/>
                </a:lnTo>
                <a:close/>
              </a:path>
            </a:pathLst>
          </a:custGeom>
          <a:solidFill>
            <a:srgbClr val="000000"/>
          </a:solidFill>
          <a:ln w="0">
            <a:solidFill>
              <a:srgbClr val="000000"/>
            </a:solidFill>
            <a:prstDash val="solid"/>
            <a:round/>
            <a:headEnd/>
            <a:tailEnd/>
          </a:ln>
        </p:spPr>
        <p:txBody>
          <a:bodyPr/>
          <a:lstStyle/>
          <a:p>
            <a:endParaRPr lang="en-IN"/>
          </a:p>
        </p:txBody>
      </p:sp>
      <p:sp>
        <p:nvSpPr>
          <p:cNvPr id="14399" name="Line 63"/>
          <p:cNvSpPr>
            <a:spLocks noChangeShapeType="1"/>
          </p:cNvSpPr>
          <p:nvPr/>
        </p:nvSpPr>
        <p:spPr bwMode="auto">
          <a:xfrm flipH="1">
            <a:off x="3759200" y="2236788"/>
            <a:ext cx="280988"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00" name="Rectangle 64"/>
          <p:cNvSpPr>
            <a:spLocks noChangeArrowheads="1"/>
          </p:cNvSpPr>
          <p:nvPr/>
        </p:nvSpPr>
        <p:spPr bwMode="auto">
          <a:xfrm>
            <a:off x="5724525" y="3186113"/>
            <a:ext cx="1193800" cy="403225"/>
          </a:xfrm>
          <a:prstGeom prst="rect">
            <a:avLst/>
          </a:prstGeom>
          <a:noFill/>
          <a:ln w="17463">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401" name="Line 65"/>
          <p:cNvSpPr>
            <a:spLocks noChangeShapeType="1"/>
          </p:cNvSpPr>
          <p:nvPr/>
        </p:nvSpPr>
        <p:spPr bwMode="auto">
          <a:xfrm flipV="1">
            <a:off x="6321425" y="3186113"/>
            <a:ext cx="1588" cy="403225"/>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02" name="Rectangle 66"/>
          <p:cNvSpPr>
            <a:spLocks noChangeArrowheads="1"/>
          </p:cNvSpPr>
          <p:nvPr/>
        </p:nvSpPr>
        <p:spPr bwMode="auto">
          <a:xfrm>
            <a:off x="6321425" y="3783013"/>
            <a:ext cx="1192213" cy="403225"/>
          </a:xfrm>
          <a:prstGeom prst="rect">
            <a:avLst/>
          </a:prstGeom>
          <a:noFill/>
          <a:ln w="17463">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403" name="Line 67"/>
          <p:cNvSpPr>
            <a:spLocks noChangeShapeType="1"/>
          </p:cNvSpPr>
          <p:nvPr/>
        </p:nvSpPr>
        <p:spPr bwMode="auto">
          <a:xfrm flipV="1">
            <a:off x="6918325" y="3783013"/>
            <a:ext cx="1588" cy="403225"/>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04" name="Rectangle 68"/>
          <p:cNvSpPr>
            <a:spLocks noChangeArrowheads="1"/>
          </p:cNvSpPr>
          <p:nvPr/>
        </p:nvSpPr>
        <p:spPr bwMode="auto">
          <a:xfrm>
            <a:off x="6918325" y="4379913"/>
            <a:ext cx="1192213" cy="403225"/>
          </a:xfrm>
          <a:prstGeom prst="rect">
            <a:avLst/>
          </a:prstGeom>
          <a:noFill/>
          <a:ln w="17463">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405" name="Line 69"/>
          <p:cNvSpPr>
            <a:spLocks noChangeShapeType="1"/>
          </p:cNvSpPr>
          <p:nvPr/>
        </p:nvSpPr>
        <p:spPr bwMode="auto">
          <a:xfrm flipV="1">
            <a:off x="7513638" y="4379913"/>
            <a:ext cx="1587" cy="403225"/>
          </a:xfrm>
          <a:prstGeom prst="line">
            <a:avLst/>
          </a:prstGeom>
          <a:noFill/>
          <a:ln w="17463">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06" name="Rectangle 70"/>
          <p:cNvSpPr>
            <a:spLocks noChangeArrowheads="1"/>
          </p:cNvSpPr>
          <p:nvPr/>
        </p:nvSpPr>
        <p:spPr bwMode="auto">
          <a:xfrm>
            <a:off x="5935663" y="3292475"/>
            <a:ext cx="936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F</a:t>
            </a:r>
            <a:endParaRPr lang="en-US" altLang="zh-CN" sz="2400">
              <a:latin typeface="Times New Roman" pitchFamily="18" charset="0"/>
              <a:ea typeface="SimSun" pitchFamily="2" charset="-122"/>
            </a:endParaRPr>
          </a:p>
        </p:txBody>
      </p:sp>
      <p:sp>
        <p:nvSpPr>
          <p:cNvPr id="14407" name="Rectangle 71"/>
          <p:cNvSpPr>
            <a:spLocks noChangeArrowheads="1"/>
          </p:cNvSpPr>
          <p:nvPr/>
        </p:nvSpPr>
        <p:spPr bwMode="auto">
          <a:xfrm>
            <a:off x="6022975" y="33797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1</a:t>
            </a:r>
            <a:endParaRPr lang="en-US" altLang="zh-CN" sz="2400">
              <a:latin typeface="Times New Roman" pitchFamily="18" charset="0"/>
              <a:ea typeface="SimSun" pitchFamily="2" charset="-122"/>
            </a:endParaRPr>
          </a:p>
        </p:txBody>
      </p:sp>
      <p:sp>
        <p:nvSpPr>
          <p:cNvPr id="14408" name="Rectangle 72"/>
          <p:cNvSpPr>
            <a:spLocks noChangeArrowheads="1"/>
          </p:cNvSpPr>
          <p:nvPr/>
        </p:nvSpPr>
        <p:spPr bwMode="auto">
          <a:xfrm>
            <a:off x="6530975" y="3292475"/>
            <a:ext cx="101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E</a:t>
            </a:r>
            <a:endParaRPr lang="en-US" altLang="zh-CN" sz="2400">
              <a:latin typeface="Times New Roman" pitchFamily="18" charset="0"/>
              <a:ea typeface="SimSun" pitchFamily="2" charset="-122"/>
            </a:endParaRPr>
          </a:p>
        </p:txBody>
      </p:sp>
      <p:sp>
        <p:nvSpPr>
          <p:cNvPr id="14409" name="Rectangle 73"/>
          <p:cNvSpPr>
            <a:spLocks noChangeArrowheads="1"/>
          </p:cNvSpPr>
          <p:nvPr/>
        </p:nvSpPr>
        <p:spPr bwMode="auto">
          <a:xfrm>
            <a:off x="6637338" y="33797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1</a:t>
            </a:r>
            <a:endParaRPr lang="en-US" altLang="zh-CN" sz="2400">
              <a:latin typeface="Times New Roman" pitchFamily="18" charset="0"/>
              <a:ea typeface="SimSun" pitchFamily="2" charset="-122"/>
            </a:endParaRPr>
          </a:p>
        </p:txBody>
      </p:sp>
      <p:sp>
        <p:nvSpPr>
          <p:cNvPr id="14410" name="Rectangle 74"/>
          <p:cNvSpPr>
            <a:spLocks noChangeArrowheads="1"/>
          </p:cNvSpPr>
          <p:nvPr/>
        </p:nvSpPr>
        <p:spPr bwMode="auto">
          <a:xfrm>
            <a:off x="6530975" y="3889375"/>
            <a:ext cx="936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F</a:t>
            </a:r>
            <a:endParaRPr lang="en-US" altLang="zh-CN" sz="2400">
              <a:latin typeface="Times New Roman" pitchFamily="18" charset="0"/>
              <a:ea typeface="SimSun" pitchFamily="2" charset="-122"/>
            </a:endParaRPr>
          </a:p>
        </p:txBody>
      </p:sp>
      <p:sp>
        <p:nvSpPr>
          <p:cNvPr id="14411" name="Rectangle 75"/>
          <p:cNvSpPr>
            <a:spLocks noChangeArrowheads="1"/>
          </p:cNvSpPr>
          <p:nvPr/>
        </p:nvSpPr>
        <p:spPr bwMode="auto">
          <a:xfrm>
            <a:off x="6619875" y="39766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2</a:t>
            </a:r>
            <a:endParaRPr lang="en-US" altLang="zh-CN" sz="2400">
              <a:latin typeface="Times New Roman" pitchFamily="18" charset="0"/>
              <a:ea typeface="SimSun" pitchFamily="2" charset="-122"/>
            </a:endParaRPr>
          </a:p>
        </p:txBody>
      </p:sp>
      <p:sp>
        <p:nvSpPr>
          <p:cNvPr id="14412" name="Rectangle 76"/>
          <p:cNvSpPr>
            <a:spLocks noChangeArrowheads="1"/>
          </p:cNvSpPr>
          <p:nvPr/>
        </p:nvSpPr>
        <p:spPr bwMode="auto">
          <a:xfrm>
            <a:off x="7127875" y="3889375"/>
            <a:ext cx="101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E</a:t>
            </a:r>
            <a:endParaRPr lang="en-US" altLang="zh-CN" sz="2400">
              <a:latin typeface="Times New Roman" pitchFamily="18" charset="0"/>
              <a:ea typeface="SimSun" pitchFamily="2" charset="-122"/>
            </a:endParaRPr>
          </a:p>
        </p:txBody>
      </p:sp>
      <p:sp>
        <p:nvSpPr>
          <p:cNvPr id="14413" name="Rectangle 77"/>
          <p:cNvSpPr>
            <a:spLocks noChangeArrowheads="1"/>
          </p:cNvSpPr>
          <p:nvPr/>
        </p:nvSpPr>
        <p:spPr bwMode="auto">
          <a:xfrm>
            <a:off x="7234238" y="39766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2</a:t>
            </a:r>
            <a:endParaRPr lang="en-US" altLang="zh-CN" sz="2400">
              <a:latin typeface="Times New Roman" pitchFamily="18" charset="0"/>
              <a:ea typeface="SimSun" pitchFamily="2" charset="-122"/>
            </a:endParaRPr>
          </a:p>
        </p:txBody>
      </p:sp>
      <p:sp>
        <p:nvSpPr>
          <p:cNvPr id="14414" name="Rectangle 78"/>
          <p:cNvSpPr>
            <a:spLocks noChangeArrowheads="1"/>
          </p:cNvSpPr>
          <p:nvPr/>
        </p:nvSpPr>
        <p:spPr bwMode="auto">
          <a:xfrm>
            <a:off x="7127875" y="4484688"/>
            <a:ext cx="936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F</a:t>
            </a:r>
            <a:endParaRPr lang="en-US" altLang="zh-CN" sz="2400">
              <a:latin typeface="Times New Roman" pitchFamily="18" charset="0"/>
              <a:ea typeface="SimSun" pitchFamily="2" charset="-122"/>
            </a:endParaRPr>
          </a:p>
        </p:txBody>
      </p:sp>
      <p:sp>
        <p:nvSpPr>
          <p:cNvPr id="14415" name="Rectangle 79"/>
          <p:cNvSpPr>
            <a:spLocks noChangeArrowheads="1"/>
          </p:cNvSpPr>
          <p:nvPr/>
        </p:nvSpPr>
        <p:spPr bwMode="auto">
          <a:xfrm>
            <a:off x="7216775" y="4572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3</a:t>
            </a:r>
            <a:endParaRPr lang="en-US" altLang="zh-CN" sz="2400">
              <a:latin typeface="Times New Roman" pitchFamily="18" charset="0"/>
              <a:ea typeface="SimSun" pitchFamily="2" charset="-122"/>
            </a:endParaRPr>
          </a:p>
        </p:txBody>
      </p:sp>
      <p:sp>
        <p:nvSpPr>
          <p:cNvPr id="14416" name="Rectangle 80"/>
          <p:cNvSpPr>
            <a:spLocks noChangeArrowheads="1"/>
          </p:cNvSpPr>
          <p:nvPr/>
        </p:nvSpPr>
        <p:spPr bwMode="auto">
          <a:xfrm>
            <a:off x="7724775" y="4484688"/>
            <a:ext cx="101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E</a:t>
            </a:r>
            <a:endParaRPr lang="en-US" altLang="zh-CN" sz="2400">
              <a:latin typeface="Times New Roman" pitchFamily="18" charset="0"/>
              <a:ea typeface="SimSun" pitchFamily="2" charset="-122"/>
            </a:endParaRPr>
          </a:p>
        </p:txBody>
      </p:sp>
      <p:sp>
        <p:nvSpPr>
          <p:cNvPr id="14417" name="Rectangle 81"/>
          <p:cNvSpPr>
            <a:spLocks noChangeArrowheads="1"/>
          </p:cNvSpPr>
          <p:nvPr/>
        </p:nvSpPr>
        <p:spPr bwMode="auto">
          <a:xfrm>
            <a:off x="7829550" y="4572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3</a:t>
            </a:r>
            <a:endParaRPr lang="en-US" altLang="zh-CN" sz="2400">
              <a:latin typeface="Times New Roman" pitchFamily="18" charset="0"/>
              <a:ea typeface="SimSun" pitchFamily="2" charset="-122"/>
            </a:endParaRPr>
          </a:p>
        </p:txBody>
      </p:sp>
      <p:sp>
        <p:nvSpPr>
          <p:cNvPr id="14418" name="Rectangle 82"/>
          <p:cNvSpPr>
            <a:spLocks noChangeArrowheads="1"/>
          </p:cNvSpPr>
          <p:nvPr/>
        </p:nvSpPr>
        <p:spPr bwMode="auto">
          <a:xfrm>
            <a:off x="5127625" y="3292475"/>
            <a:ext cx="428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a:t>
            </a:r>
            <a:endParaRPr lang="en-US" altLang="zh-CN" sz="2400">
              <a:latin typeface="Times New Roman" pitchFamily="18" charset="0"/>
              <a:ea typeface="SimSun" pitchFamily="2" charset="-122"/>
            </a:endParaRPr>
          </a:p>
        </p:txBody>
      </p:sp>
      <p:sp>
        <p:nvSpPr>
          <p:cNvPr id="14419" name="Rectangle 83"/>
          <p:cNvSpPr>
            <a:spLocks noChangeArrowheads="1"/>
          </p:cNvSpPr>
          <p:nvPr/>
        </p:nvSpPr>
        <p:spPr bwMode="auto">
          <a:xfrm>
            <a:off x="5180013" y="33797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1</a:t>
            </a:r>
            <a:endParaRPr lang="en-US" altLang="zh-CN" sz="2400">
              <a:latin typeface="Times New Roman" pitchFamily="18" charset="0"/>
              <a:ea typeface="SimSun" pitchFamily="2" charset="-122"/>
            </a:endParaRPr>
          </a:p>
        </p:txBody>
      </p:sp>
      <p:sp>
        <p:nvSpPr>
          <p:cNvPr id="14420" name="Rectangle 84"/>
          <p:cNvSpPr>
            <a:spLocks noChangeArrowheads="1"/>
          </p:cNvSpPr>
          <p:nvPr/>
        </p:nvSpPr>
        <p:spPr bwMode="auto">
          <a:xfrm>
            <a:off x="5127625" y="3889375"/>
            <a:ext cx="428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a:t>
            </a:r>
            <a:endParaRPr lang="en-US" altLang="zh-CN" sz="2400">
              <a:latin typeface="Times New Roman" pitchFamily="18" charset="0"/>
              <a:ea typeface="SimSun" pitchFamily="2" charset="-122"/>
            </a:endParaRPr>
          </a:p>
        </p:txBody>
      </p:sp>
      <p:sp>
        <p:nvSpPr>
          <p:cNvPr id="14421" name="Rectangle 85"/>
          <p:cNvSpPr>
            <a:spLocks noChangeArrowheads="1"/>
          </p:cNvSpPr>
          <p:nvPr/>
        </p:nvSpPr>
        <p:spPr bwMode="auto">
          <a:xfrm>
            <a:off x="5180013" y="39766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2</a:t>
            </a:r>
            <a:endParaRPr lang="en-US" altLang="zh-CN" sz="2400">
              <a:latin typeface="Times New Roman" pitchFamily="18" charset="0"/>
              <a:ea typeface="SimSun" pitchFamily="2" charset="-122"/>
            </a:endParaRPr>
          </a:p>
        </p:txBody>
      </p:sp>
      <p:sp>
        <p:nvSpPr>
          <p:cNvPr id="14422" name="Rectangle 86"/>
          <p:cNvSpPr>
            <a:spLocks noChangeArrowheads="1"/>
          </p:cNvSpPr>
          <p:nvPr/>
        </p:nvSpPr>
        <p:spPr bwMode="auto">
          <a:xfrm>
            <a:off x="5127625" y="4484688"/>
            <a:ext cx="428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a:t>
            </a:r>
            <a:endParaRPr lang="en-US" altLang="zh-CN" sz="2400">
              <a:latin typeface="Times New Roman" pitchFamily="18" charset="0"/>
              <a:ea typeface="SimSun" pitchFamily="2" charset="-122"/>
            </a:endParaRPr>
          </a:p>
        </p:txBody>
      </p:sp>
      <p:sp>
        <p:nvSpPr>
          <p:cNvPr id="14423" name="Rectangle 87"/>
          <p:cNvSpPr>
            <a:spLocks noChangeArrowheads="1"/>
          </p:cNvSpPr>
          <p:nvPr/>
        </p:nvSpPr>
        <p:spPr bwMode="auto">
          <a:xfrm>
            <a:off x="5180013" y="4572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000">
                <a:solidFill>
                  <a:srgbClr val="000000"/>
                </a:solidFill>
                <a:latin typeface="Nimbus Roman No9 L" charset="0"/>
                <a:ea typeface="SimSun" pitchFamily="2" charset="-122"/>
              </a:rPr>
              <a:t>3</a:t>
            </a:r>
            <a:endParaRPr lang="en-US" altLang="zh-CN" sz="2400">
              <a:latin typeface="Times New Roman" pitchFamily="18" charset="0"/>
              <a:ea typeface="SimSun" pitchFamily="2" charset="-122"/>
            </a:endParaRPr>
          </a:p>
        </p:txBody>
      </p:sp>
      <p:sp>
        <p:nvSpPr>
          <p:cNvPr id="14424" name="Rectangle 88"/>
          <p:cNvSpPr>
            <a:spLocks noChangeArrowheads="1"/>
          </p:cNvSpPr>
          <p:nvPr/>
        </p:nvSpPr>
        <p:spPr bwMode="auto">
          <a:xfrm>
            <a:off x="4811713" y="2976563"/>
            <a:ext cx="7889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b="1">
                <a:solidFill>
                  <a:srgbClr val="000000"/>
                </a:solidFill>
                <a:latin typeface="Nimbus Roman No9 L" charset="0"/>
                <a:ea typeface="SimSun" pitchFamily="2" charset="-122"/>
              </a:rPr>
              <a:t>Instruction</a:t>
            </a:r>
            <a:endParaRPr lang="en-US" altLang="zh-CN" sz="2400">
              <a:latin typeface="Times New Roman" pitchFamily="18" charset="0"/>
              <a:ea typeface="SimSun" pitchFamily="2" charset="-122"/>
            </a:endParaRPr>
          </a:p>
        </p:txBody>
      </p:sp>
      <p:sp>
        <p:nvSpPr>
          <p:cNvPr id="14425" name="Rectangle 89"/>
          <p:cNvSpPr>
            <a:spLocks noChangeArrowheads="1"/>
          </p:cNvSpPr>
          <p:nvPr/>
        </p:nvSpPr>
        <p:spPr bwMode="auto">
          <a:xfrm>
            <a:off x="5672138" y="4994275"/>
            <a:ext cx="153511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Sans L" charset="0"/>
                <a:ea typeface="SimSun" pitchFamily="2" charset="-122"/>
              </a:rPr>
              <a:t>(c) Pipelined execution</a:t>
            </a:r>
            <a:endParaRPr lang="en-US" altLang="zh-CN" sz="2400">
              <a:latin typeface="Times New Roman" pitchFamily="18" charset="0"/>
              <a:ea typeface="SimSun" pitchFamily="2" charset="-122"/>
            </a:endParaRPr>
          </a:p>
        </p:txBody>
      </p:sp>
      <p:sp>
        <p:nvSpPr>
          <p:cNvPr id="14426" name="Rectangle 90"/>
          <p:cNvSpPr>
            <a:spLocks noChangeArrowheads="1"/>
          </p:cNvSpPr>
          <p:nvPr/>
        </p:nvSpPr>
        <p:spPr bwMode="auto">
          <a:xfrm>
            <a:off x="4741863" y="5705475"/>
            <a:ext cx="36163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400">
                <a:solidFill>
                  <a:srgbClr val="000000"/>
                </a:solidFill>
                <a:latin typeface="Nimbus Roman No9 L" charset="0"/>
                <a:ea typeface="SimSun" pitchFamily="2" charset="-122"/>
              </a:rPr>
              <a:t>Figure 8.1. Basic idea of instruction pipelining.</a:t>
            </a:r>
            <a:endParaRPr lang="en-US" altLang="zh-CN" sz="2400">
              <a:latin typeface="Times New Roman" pitchFamily="18" charset="0"/>
              <a:ea typeface="SimSun" pitchFamily="2" charset="-122"/>
            </a:endParaRPr>
          </a:p>
        </p:txBody>
      </p:sp>
      <p:sp>
        <p:nvSpPr>
          <p:cNvPr id="14427" name="Rectangle 91"/>
          <p:cNvSpPr>
            <a:spLocks noChangeArrowheads="1"/>
          </p:cNvSpPr>
          <p:nvPr/>
        </p:nvSpPr>
        <p:spPr bwMode="auto">
          <a:xfrm>
            <a:off x="4811713" y="2590800"/>
            <a:ext cx="7683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Clock cycle</a:t>
            </a:r>
            <a:endParaRPr lang="en-US" altLang="zh-CN" sz="2400">
              <a:latin typeface="Times New Roman" pitchFamily="18" charset="0"/>
              <a:ea typeface="SimSun" pitchFamily="2" charset="-122"/>
            </a:endParaRPr>
          </a:p>
        </p:txBody>
      </p:sp>
      <p:sp>
        <p:nvSpPr>
          <p:cNvPr id="14428" name="Rectangle 92"/>
          <p:cNvSpPr>
            <a:spLocks noChangeArrowheads="1"/>
          </p:cNvSpPr>
          <p:nvPr/>
        </p:nvSpPr>
        <p:spPr bwMode="auto">
          <a:xfrm>
            <a:off x="5970588" y="2590800"/>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1</a:t>
            </a:r>
            <a:endParaRPr lang="en-US" altLang="zh-CN" sz="2400">
              <a:latin typeface="Times New Roman" pitchFamily="18" charset="0"/>
              <a:ea typeface="SimSun" pitchFamily="2" charset="-122"/>
            </a:endParaRPr>
          </a:p>
        </p:txBody>
      </p:sp>
      <p:sp>
        <p:nvSpPr>
          <p:cNvPr id="14429" name="Rectangle 93"/>
          <p:cNvSpPr>
            <a:spLocks noChangeArrowheads="1"/>
          </p:cNvSpPr>
          <p:nvPr/>
        </p:nvSpPr>
        <p:spPr bwMode="auto">
          <a:xfrm>
            <a:off x="6567488" y="2590800"/>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2</a:t>
            </a:r>
            <a:endParaRPr lang="en-US" altLang="zh-CN" sz="2400">
              <a:latin typeface="Times New Roman" pitchFamily="18" charset="0"/>
              <a:ea typeface="SimSun" pitchFamily="2" charset="-122"/>
            </a:endParaRPr>
          </a:p>
        </p:txBody>
      </p:sp>
      <p:sp>
        <p:nvSpPr>
          <p:cNvPr id="14430" name="Rectangle 94"/>
          <p:cNvSpPr>
            <a:spLocks noChangeArrowheads="1"/>
          </p:cNvSpPr>
          <p:nvPr/>
        </p:nvSpPr>
        <p:spPr bwMode="auto">
          <a:xfrm>
            <a:off x="7162800" y="259080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3</a:t>
            </a:r>
            <a:endParaRPr lang="en-US" altLang="zh-CN" sz="2400">
              <a:latin typeface="Times New Roman" pitchFamily="18" charset="0"/>
              <a:ea typeface="SimSun" pitchFamily="2" charset="-122"/>
            </a:endParaRPr>
          </a:p>
        </p:txBody>
      </p:sp>
      <p:sp>
        <p:nvSpPr>
          <p:cNvPr id="14431" name="Rectangle 95"/>
          <p:cNvSpPr>
            <a:spLocks noChangeArrowheads="1"/>
          </p:cNvSpPr>
          <p:nvPr/>
        </p:nvSpPr>
        <p:spPr bwMode="auto">
          <a:xfrm>
            <a:off x="7759700" y="259080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4</a:t>
            </a:r>
            <a:endParaRPr lang="en-US" altLang="zh-CN" sz="2400">
              <a:latin typeface="Times New Roman" pitchFamily="18" charset="0"/>
              <a:ea typeface="SimSun" pitchFamily="2" charset="-122"/>
            </a:endParaRPr>
          </a:p>
        </p:txBody>
      </p:sp>
      <p:sp>
        <p:nvSpPr>
          <p:cNvPr id="14432" name="Rectangle 96"/>
          <p:cNvSpPr>
            <a:spLocks noChangeArrowheads="1"/>
          </p:cNvSpPr>
          <p:nvPr/>
        </p:nvSpPr>
        <p:spPr bwMode="auto">
          <a:xfrm>
            <a:off x="8075613" y="2414588"/>
            <a:ext cx="936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T</a:t>
            </a:r>
            <a:endParaRPr lang="en-US" altLang="zh-CN" sz="2400">
              <a:latin typeface="Times New Roman" pitchFamily="18" charset="0"/>
              <a:ea typeface="SimSun" pitchFamily="2" charset="-122"/>
            </a:endParaRPr>
          </a:p>
        </p:txBody>
      </p:sp>
      <p:sp>
        <p:nvSpPr>
          <p:cNvPr id="14433" name="Rectangle 97"/>
          <p:cNvSpPr>
            <a:spLocks noChangeArrowheads="1"/>
          </p:cNvSpPr>
          <p:nvPr/>
        </p:nvSpPr>
        <p:spPr bwMode="auto">
          <a:xfrm>
            <a:off x="8162925" y="2414588"/>
            <a:ext cx="2444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200">
                <a:solidFill>
                  <a:srgbClr val="000000"/>
                </a:solidFill>
                <a:latin typeface="Nimbus Roman No9 L" charset="0"/>
                <a:ea typeface="SimSun" pitchFamily="2" charset="-122"/>
              </a:rPr>
              <a:t>ime</a:t>
            </a:r>
            <a:endParaRPr lang="en-US" altLang="zh-CN" sz="2400">
              <a:latin typeface="Times New Roman" pitchFamily="18" charset="0"/>
              <a:ea typeface="SimSun" pitchFamily="2" charset="-122"/>
            </a:endParaRPr>
          </a:p>
        </p:txBody>
      </p:sp>
      <p:sp>
        <p:nvSpPr>
          <p:cNvPr id="14434" name="Freeform 98"/>
          <p:cNvSpPr>
            <a:spLocks/>
          </p:cNvSpPr>
          <p:nvPr/>
        </p:nvSpPr>
        <p:spPr bwMode="auto">
          <a:xfrm>
            <a:off x="7866063" y="2519363"/>
            <a:ext cx="104775" cy="52387"/>
          </a:xfrm>
          <a:custGeom>
            <a:avLst/>
            <a:gdLst>
              <a:gd name="T0" fmla="*/ 0 w 6"/>
              <a:gd name="T1" fmla="*/ 3 h 3"/>
              <a:gd name="T2" fmla="*/ 6 w 6"/>
              <a:gd name="T3" fmla="*/ 1 h 3"/>
              <a:gd name="T4" fmla="*/ 0 w 6"/>
              <a:gd name="T5" fmla="*/ 0 h 3"/>
              <a:gd name="T6" fmla="*/ 0 w 6"/>
              <a:gd name="T7" fmla="*/ 1 h 3"/>
              <a:gd name="T8" fmla="*/ 0 w 6"/>
              <a:gd name="T9" fmla="*/ 3 h 3"/>
            </a:gdLst>
            <a:ahLst/>
            <a:cxnLst>
              <a:cxn ang="0">
                <a:pos x="T0" y="T1"/>
              </a:cxn>
              <a:cxn ang="0">
                <a:pos x="T2" y="T3"/>
              </a:cxn>
              <a:cxn ang="0">
                <a:pos x="T4" y="T5"/>
              </a:cxn>
              <a:cxn ang="0">
                <a:pos x="T6" y="T7"/>
              </a:cxn>
              <a:cxn ang="0">
                <a:pos x="T8" y="T9"/>
              </a:cxn>
            </a:cxnLst>
            <a:rect l="0" t="0" r="r" b="b"/>
            <a:pathLst>
              <a:path w="6" h="3">
                <a:moveTo>
                  <a:pt x="0" y="3"/>
                </a:moveTo>
                <a:lnTo>
                  <a:pt x="6" y="1"/>
                </a:lnTo>
                <a:lnTo>
                  <a:pt x="0" y="0"/>
                </a:lnTo>
                <a:lnTo>
                  <a:pt x="0" y="1"/>
                </a:lnTo>
                <a:lnTo>
                  <a:pt x="0" y="3"/>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435" name="Freeform 99"/>
          <p:cNvSpPr>
            <a:spLocks/>
          </p:cNvSpPr>
          <p:nvPr/>
        </p:nvSpPr>
        <p:spPr bwMode="auto">
          <a:xfrm>
            <a:off x="7866063" y="2519363"/>
            <a:ext cx="104775" cy="52387"/>
          </a:xfrm>
          <a:custGeom>
            <a:avLst/>
            <a:gdLst>
              <a:gd name="T0" fmla="*/ 0 w 66"/>
              <a:gd name="T1" fmla="*/ 33 h 33"/>
              <a:gd name="T2" fmla="*/ 66 w 66"/>
              <a:gd name="T3" fmla="*/ 11 h 33"/>
              <a:gd name="T4" fmla="*/ 0 w 66"/>
              <a:gd name="T5" fmla="*/ 0 h 33"/>
              <a:gd name="T6" fmla="*/ 0 w 66"/>
              <a:gd name="T7" fmla="*/ 11 h 33"/>
              <a:gd name="T8" fmla="*/ 0 w 66"/>
              <a:gd name="T9" fmla="*/ 33 h 33"/>
            </a:gdLst>
            <a:ahLst/>
            <a:cxnLst>
              <a:cxn ang="0">
                <a:pos x="T0" y="T1"/>
              </a:cxn>
              <a:cxn ang="0">
                <a:pos x="T2" y="T3"/>
              </a:cxn>
              <a:cxn ang="0">
                <a:pos x="T4" y="T5"/>
              </a:cxn>
              <a:cxn ang="0">
                <a:pos x="T6" y="T7"/>
              </a:cxn>
              <a:cxn ang="0">
                <a:pos x="T8" y="T9"/>
              </a:cxn>
            </a:cxnLst>
            <a:rect l="0" t="0" r="r" b="b"/>
            <a:pathLst>
              <a:path w="66" h="33">
                <a:moveTo>
                  <a:pt x="0" y="33"/>
                </a:moveTo>
                <a:lnTo>
                  <a:pt x="66" y="11"/>
                </a:lnTo>
                <a:lnTo>
                  <a:pt x="0" y="0"/>
                </a:lnTo>
                <a:lnTo>
                  <a:pt x="0" y="11"/>
                </a:lnTo>
                <a:lnTo>
                  <a:pt x="0" y="33"/>
                </a:lnTo>
                <a:close/>
              </a:path>
            </a:pathLst>
          </a:custGeom>
          <a:solidFill>
            <a:srgbClr val="000000"/>
          </a:solidFill>
          <a:ln w="0">
            <a:solidFill>
              <a:srgbClr val="000000"/>
            </a:solidFill>
            <a:prstDash val="solid"/>
            <a:round/>
            <a:headEnd/>
            <a:tailEnd/>
          </a:ln>
        </p:spPr>
        <p:txBody>
          <a:bodyPr/>
          <a:lstStyle/>
          <a:p>
            <a:endParaRPr lang="en-IN"/>
          </a:p>
        </p:txBody>
      </p:sp>
      <p:sp>
        <p:nvSpPr>
          <p:cNvPr id="14436" name="Line 100"/>
          <p:cNvSpPr>
            <a:spLocks noChangeShapeType="1"/>
          </p:cNvSpPr>
          <p:nvPr/>
        </p:nvSpPr>
        <p:spPr bwMode="auto">
          <a:xfrm flipH="1">
            <a:off x="7585075" y="2536825"/>
            <a:ext cx="280988"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37" name="Text Box 101"/>
          <p:cNvSpPr txBox="1">
            <a:spLocks noChangeArrowheads="1"/>
          </p:cNvSpPr>
          <p:nvPr/>
        </p:nvSpPr>
        <p:spPr bwMode="auto">
          <a:xfrm>
            <a:off x="669925" y="1560513"/>
            <a:ext cx="2019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SimSun" pitchFamily="2" charset="-122"/>
              </a:rPr>
              <a:t>Fetch + Execution</a:t>
            </a:r>
          </a:p>
        </p:txBody>
      </p:sp>
    </p:spTree>
    <p:extLst>
      <p:ext uri="{BB962C8B-B14F-4D97-AF65-F5344CB8AC3E}">
        <p14:creationId xmlns:p14="http://schemas.microsoft.com/office/powerpoint/2010/main" val="42052427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a:ea typeface="SimSun" pitchFamily="2" charset="-122"/>
              </a:rPr>
              <a:t>Use the Idea of Pipelining in a Computer</a:t>
            </a:r>
          </a:p>
        </p:txBody>
      </p:sp>
      <p:pic>
        <p:nvPicPr>
          <p:cNvPr id="15364" name="Picture 4" descr="figure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066800"/>
            <a:ext cx="4351338" cy="5483225"/>
          </a:xfrm>
          <a:prstGeom prst="rect">
            <a:avLst/>
          </a:prstGeom>
          <a:noFill/>
          <a:extLst>
            <a:ext uri="{909E8E84-426E-40DD-AFC4-6F175D3DCCD1}">
              <a14:hiddenFill xmlns:a14="http://schemas.microsoft.com/office/drawing/2010/main">
                <a:solidFill>
                  <a:srgbClr val="FFFFFF"/>
                </a:solidFill>
              </a14:hiddenFill>
            </a:ext>
          </a:extLst>
        </p:spPr>
      </p:pic>
      <p:sp>
        <p:nvSpPr>
          <p:cNvPr id="15365" name="Text Box 5"/>
          <p:cNvSpPr txBox="1">
            <a:spLocks noChangeArrowheads="1"/>
          </p:cNvSpPr>
          <p:nvPr/>
        </p:nvSpPr>
        <p:spPr bwMode="auto">
          <a:xfrm>
            <a:off x="593725" y="1712913"/>
            <a:ext cx="2178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SimSun" pitchFamily="2" charset="-122"/>
              </a:rPr>
              <a:t>Fetch + Decode</a:t>
            </a:r>
          </a:p>
          <a:p>
            <a:r>
              <a:rPr lang="en-US" altLang="zh-CN">
                <a:ea typeface="SimSun" pitchFamily="2" charset="-122"/>
              </a:rPr>
              <a:t>+ Execution + Write</a:t>
            </a:r>
          </a:p>
        </p:txBody>
      </p:sp>
      <p:sp>
        <p:nvSpPr>
          <p:cNvPr id="15366" name="Text Box 6"/>
          <p:cNvSpPr txBox="1">
            <a:spLocks noChangeArrowheads="1"/>
          </p:cNvSpPr>
          <p:nvPr/>
        </p:nvSpPr>
        <p:spPr bwMode="auto">
          <a:xfrm>
            <a:off x="381000" y="5562600"/>
            <a:ext cx="2362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Textbook page: 457</a:t>
            </a:r>
          </a:p>
        </p:txBody>
      </p:sp>
    </p:spTree>
    <p:extLst>
      <p:ext uri="{BB962C8B-B14F-4D97-AF65-F5344CB8AC3E}">
        <p14:creationId xmlns:p14="http://schemas.microsoft.com/office/powerpoint/2010/main" val="358858509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a:ea typeface="SimSun" pitchFamily="2" charset="-122"/>
              </a:rPr>
              <a:t>Role of Cache Memory</a:t>
            </a:r>
          </a:p>
        </p:txBody>
      </p:sp>
      <p:sp>
        <p:nvSpPr>
          <p:cNvPr id="16387" name="Rectangle 3"/>
          <p:cNvSpPr>
            <a:spLocks noGrp="1" noChangeArrowheads="1"/>
          </p:cNvSpPr>
          <p:nvPr>
            <p:ph type="body" idx="1"/>
          </p:nvPr>
        </p:nvSpPr>
        <p:spPr/>
        <p:txBody>
          <a:bodyPr/>
          <a:lstStyle/>
          <a:p>
            <a:r>
              <a:rPr lang="en-US" altLang="zh-CN" sz="2600">
                <a:ea typeface="SimSun" pitchFamily="2" charset="-122"/>
              </a:rPr>
              <a:t>Each pipeline stage is expected to complete in one clock cycle.</a:t>
            </a:r>
          </a:p>
          <a:p>
            <a:r>
              <a:rPr lang="en-US" altLang="zh-CN" sz="2600">
                <a:ea typeface="SimSun" pitchFamily="2" charset="-122"/>
              </a:rPr>
              <a:t>The clock period should be long enough to let the slowest pipeline stage to complete.</a:t>
            </a:r>
          </a:p>
          <a:p>
            <a:r>
              <a:rPr lang="en-US" altLang="zh-CN" sz="2600">
                <a:ea typeface="SimSun" pitchFamily="2" charset="-122"/>
              </a:rPr>
              <a:t>Faster stages can only wait for the slowest one to complete.</a:t>
            </a:r>
          </a:p>
          <a:p>
            <a:r>
              <a:rPr lang="en-US" altLang="zh-CN" sz="2600">
                <a:ea typeface="SimSun" pitchFamily="2" charset="-122"/>
              </a:rPr>
              <a:t>Since main memory is very slow compared to the execution, if each instruction needs to be fetched from main memory, pipeline is almost useless.</a:t>
            </a:r>
          </a:p>
          <a:p>
            <a:r>
              <a:rPr lang="en-US" altLang="zh-CN" sz="2600">
                <a:ea typeface="SimSun" pitchFamily="2" charset="-122"/>
              </a:rPr>
              <a:t>Fortunately, we have cache.</a:t>
            </a:r>
          </a:p>
        </p:txBody>
      </p:sp>
    </p:spTree>
    <p:extLst>
      <p:ext uri="{BB962C8B-B14F-4D97-AF65-F5344CB8AC3E}">
        <p14:creationId xmlns:p14="http://schemas.microsoft.com/office/powerpoint/2010/main" val="21800580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zh-CN">
                <a:ea typeface="SimSun" pitchFamily="2" charset="-122"/>
              </a:rPr>
              <a:t>Pipeline Performance</a:t>
            </a:r>
          </a:p>
        </p:txBody>
      </p:sp>
      <p:sp>
        <p:nvSpPr>
          <p:cNvPr id="17411" name="Rectangle 3"/>
          <p:cNvSpPr>
            <a:spLocks noGrp="1" noChangeArrowheads="1"/>
          </p:cNvSpPr>
          <p:nvPr>
            <p:ph type="body" idx="1"/>
          </p:nvPr>
        </p:nvSpPr>
        <p:spPr/>
        <p:txBody>
          <a:bodyPr/>
          <a:lstStyle/>
          <a:p>
            <a:r>
              <a:rPr lang="en-US" altLang="zh-CN">
                <a:ea typeface="SimSun" pitchFamily="2" charset="-122"/>
              </a:rPr>
              <a:t>The potential increase in performance resulting from pipelining is proportional to the number of pipeline stages.</a:t>
            </a:r>
          </a:p>
          <a:p>
            <a:r>
              <a:rPr lang="en-US" altLang="zh-CN">
                <a:ea typeface="SimSun" pitchFamily="2" charset="-122"/>
              </a:rPr>
              <a:t>However, this increase would be achieved only if all pipeline stages require the same time to complete, and there is no interruption throughout program execution.</a:t>
            </a:r>
          </a:p>
          <a:p>
            <a:r>
              <a:rPr lang="en-US" altLang="zh-CN">
                <a:ea typeface="SimSun" pitchFamily="2" charset="-122"/>
              </a:rPr>
              <a:t>Unfortunately, this is not true.</a:t>
            </a:r>
          </a:p>
        </p:txBody>
      </p:sp>
    </p:spTree>
    <p:extLst>
      <p:ext uri="{BB962C8B-B14F-4D97-AF65-F5344CB8AC3E}">
        <p14:creationId xmlns:p14="http://schemas.microsoft.com/office/powerpoint/2010/main" val="22889544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zh-CN">
                <a:ea typeface="SimSun" pitchFamily="2" charset="-122"/>
              </a:rPr>
              <a:t>Pipeline Performance</a:t>
            </a:r>
          </a:p>
        </p:txBody>
      </p:sp>
      <p:pic>
        <p:nvPicPr>
          <p:cNvPr id="18436" name="Picture 4" descr="figure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00200"/>
            <a:ext cx="7223125" cy="484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388755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a:ea typeface="SimSun" pitchFamily="2" charset="-122"/>
              </a:rPr>
              <a:t>Pipeline Performance</a:t>
            </a:r>
          </a:p>
        </p:txBody>
      </p:sp>
      <p:sp>
        <p:nvSpPr>
          <p:cNvPr id="19459" name="Rectangle 3"/>
          <p:cNvSpPr>
            <a:spLocks noGrp="1" noChangeArrowheads="1"/>
          </p:cNvSpPr>
          <p:nvPr>
            <p:ph type="body" idx="1"/>
          </p:nvPr>
        </p:nvSpPr>
        <p:spPr/>
        <p:txBody>
          <a:bodyPr/>
          <a:lstStyle/>
          <a:p>
            <a:pPr>
              <a:lnSpc>
                <a:spcPct val="90000"/>
              </a:lnSpc>
            </a:pPr>
            <a:r>
              <a:rPr lang="en-US" altLang="zh-CN" sz="2100">
                <a:ea typeface="SimSun" pitchFamily="2" charset="-122"/>
              </a:rPr>
              <a:t>The previous pipeline is said to have been stalled for two clock cycles.</a:t>
            </a:r>
          </a:p>
          <a:p>
            <a:pPr>
              <a:lnSpc>
                <a:spcPct val="90000"/>
              </a:lnSpc>
            </a:pPr>
            <a:r>
              <a:rPr lang="en-US" altLang="zh-CN" sz="2100">
                <a:ea typeface="SimSun" pitchFamily="2" charset="-122"/>
              </a:rPr>
              <a:t>Any condition that causes a pipeline to stall is called a hazard.</a:t>
            </a:r>
          </a:p>
          <a:p>
            <a:pPr>
              <a:lnSpc>
                <a:spcPct val="90000"/>
              </a:lnSpc>
            </a:pPr>
            <a:r>
              <a:rPr lang="en-US" altLang="zh-CN" sz="2100">
                <a:ea typeface="SimSun" pitchFamily="2" charset="-122"/>
              </a:rPr>
              <a:t>Data hazard – any condition in which either the source or the destination operands of an instruction are not available at the time expected in the pipeline. So some operation has to be delayed, and the pipeline stalls.</a:t>
            </a:r>
          </a:p>
          <a:p>
            <a:pPr>
              <a:lnSpc>
                <a:spcPct val="90000"/>
              </a:lnSpc>
            </a:pPr>
            <a:r>
              <a:rPr lang="en-US" altLang="zh-CN" sz="2100">
                <a:ea typeface="SimSun" pitchFamily="2" charset="-122"/>
              </a:rPr>
              <a:t>Instruction (control) hazard – a delay in the availability of an instruction causes the pipeline to stall.</a:t>
            </a:r>
          </a:p>
          <a:p>
            <a:pPr>
              <a:lnSpc>
                <a:spcPct val="90000"/>
              </a:lnSpc>
            </a:pPr>
            <a:r>
              <a:rPr lang="en-US" altLang="zh-CN" sz="2100">
                <a:ea typeface="SimSun" pitchFamily="2" charset="-122"/>
              </a:rPr>
              <a:t>Structural hazard – the situation when two instructions require the use of a given hardware resource at the same time.</a:t>
            </a:r>
          </a:p>
        </p:txBody>
      </p:sp>
    </p:spTree>
    <p:extLst>
      <p:ext uri="{BB962C8B-B14F-4D97-AF65-F5344CB8AC3E}">
        <p14:creationId xmlns:p14="http://schemas.microsoft.com/office/powerpoint/2010/main" val="20237738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CN">
                <a:ea typeface="SimSun" pitchFamily="2" charset="-122"/>
              </a:rPr>
              <a:t>Pipeline Performance</a:t>
            </a:r>
          </a:p>
        </p:txBody>
      </p:sp>
      <p:pic>
        <p:nvPicPr>
          <p:cNvPr id="20484" name="Picture 4" descr="figure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374775"/>
            <a:ext cx="4818063" cy="5483225"/>
          </a:xfrm>
          <a:prstGeom prst="rect">
            <a:avLst/>
          </a:prstGeom>
          <a:noFill/>
          <a:extLst>
            <a:ext uri="{909E8E84-426E-40DD-AFC4-6F175D3DCCD1}">
              <a14:hiddenFill xmlns:a14="http://schemas.microsoft.com/office/drawing/2010/main">
                <a:solidFill>
                  <a:srgbClr val="FFFFFF"/>
                </a:solidFill>
              </a14:hiddenFill>
            </a:ext>
          </a:extLst>
        </p:spPr>
      </p:pic>
      <p:sp>
        <p:nvSpPr>
          <p:cNvPr id="20485" name="Text Box 5"/>
          <p:cNvSpPr txBox="1">
            <a:spLocks noChangeArrowheads="1"/>
          </p:cNvSpPr>
          <p:nvPr/>
        </p:nvSpPr>
        <p:spPr bwMode="auto">
          <a:xfrm>
            <a:off x="7010400" y="4419600"/>
            <a:ext cx="1828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Idle periods – stalls (bubbles)</a:t>
            </a:r>
          </a:p>
        </p:txBody>
      </p:sp>
      <p:sp>
        <p:nvSpPr>
          <p:cNvPr id="20486" name="Text Box 6"/>
          <p:cNvSpPr txBox="1">
            <a:spLocks noChangeArrowheads="1"/>
          </p:cNvSpPr>
          <p:nvPr/>
        </p:nvSpPr>
        <p:spPr bwMode="auto">
          <a:xfrm>
            <a:off x="228600" y="1600200"/>
            <a:ext cx="1828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SimSun" pitchFamily="2" charset="-122"/>
              </a:rPr>
              <a:t>Instruction hazard</a:t>
            </a:r>
            <a:endParaRPr lang="en-US" altLang="en-US"/>
          </a:p>
        </p:txBody>
      </p:sp>
    </p:spTree>
    <p:extLst>
      <p:ext uri="{BB962C8B-B14F-4D97-AF65-F5344CB8AC3E}">
        <p14:creationId xmlns:p14="http://schemas.microsoft.com/office/powerpoint/2010/main" val="235621294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zh-CN">
                <a:ea typeface="SimSun" pitchFamily="2" charset="-122"/>
              </a:rPr>
              <a:t>Pipeline Performance</a:t>
            </a:r>
          </a:p>
        </p:txBody>
      </p:sp>
      <p:pic>
        <p:nvPicPr>
          <p:cNvPr id="21508" name="Picture 4" descr="figure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828800"/>
            <a:ext cx="5702300" cy="4876800"/>
          </a:xfrm>
          <a:prstGeom prst="rect">
            <a:avLst/>
          </a:prstGeom>
          <a:noFill/>
          <a:extLst>
            <a:ext uri="{909E8E84-426E-40DD-AFC4-6F175D3DCCD1}">
              <a14:hiddenFill xmlns:a14="http://schemas.microsoft.com/office/drawing/2010/main">
                <a:solidFill>
                  <a:srgbClr val="FFFFFF"/>
                </a:solidFill>
              </a14:hiddenFill>
            </a:ext>
          </a:extLst>
        </p:spPr>
      </p:pic>
      <p:sp>
        <p:nvSpPr>
          <p:cNvPr id="21509" name="Text Box 5"/>
          <p:cNvSpPr txBox="1">
            <a:spLocks noChangeArrowheads="1"/>
          </p:cNvSpPr>
          <p:nvPr/>
        </p:nvSpPr>
        <p:spPr bwMode="auto">
          <a:xfrm>
            <a:off x="1279525" y="1484313"/>
            <a:ext cx="1835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SimSun" pitchFamily="2" charset="-122"/>
              </a:rPr>
              <a:t>Load  X(R1), R2</a:t>
            </a:r>
          </a:p>
        </p:txBody>
      </p:sp>
      <p:sp>
        <p:nvSpPr>
          <p:cNvPr id="21510" name="Text Box 6"/>
          <p:cNvSpPr txBox="1">
            <a:spLocks noChangeArrowheads="1"/>
          </p:cNvSpPr>
          <p:nvPr/>
        </p:nvSpPr>
        <p:spPr bwMode="auto">
          <a:xfrm>
            <a:off x="228600" y="1600200"/>
            <a:ext cx="1828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SimSun" pitchFamily="2" charset="-122"/>
              </a:rPr>
              <a:t>Structural hazard</a:t>
            </a:r>
            <a:endParaRPr lang="en-US" altLang="en-US"/>
          </a:p>
        </p:txBody>
      </p:sp>
    </p:spTree>
    <p:extLst>
      <p:ext uri="{BB962C8B-B14F-4D97-AF65-F5344CB8AC3E}">
        <p14:creationId xmlns:p14="http://schemas.microsoft.com/office/powerpoint/2010/main" val="14278229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zh-CN">
                <a:ea typeface="SimSun" pitchFamily="2" charset="-122"/>
              </a:rPr>
              <a:t>Pipeline Performance</a:t>
            </a:r>
          </a:p>
        </p:txBody>
      </p:sp>
      <p:sp>
        <p:nvSpPr>
          <p:cNvPr id="22531" name="Rectangle 3"/>
          <p:cNvSpPr>
            <a:spLocks noGrp="1" noChangeArrowheads="1"/>
          </p:cNvSpPr>
          <p:nvPr>
            <p:ph type="body" idx="1"/>
          </p:nvPr>
        </p:nvSpPr>
        <p:spPr/>
        <p:txBody>
          <a:bodyPr/>
          <a:lstStyle/>
          <a:p>
            <a:r>
              <a:rPr lang="en-US" altLang="zh-CN" sz="2600">
                <a:ea typeface="SimSun" pitchFamily="2" charset="-122"/>
              </a:rPr>
              <a:t>Again, pipelining does not result in individual instructions being executed faster; rather, it is the throughput that increases.</a:t>
            </a:r>
          </a:p>
          <a:p>
            <a:r>
              <a:rPr lang="en-US" altLang="zh-CN" sz="2600">
                <a:ea typeface="SimSun" pitchFamily="2" charset="-122"/>
              </a:rPr>
              <a:t>Throughput is measured by the rate at which instruction execution is completed.</a:t>
            </a:r>
          </a:p>
          <a:p>
            <a:r>
              <a:rPr lang="en-US" altLang="zh-CN" sz="2600">
                <a:ea typeface="SimSun" pitchFamily="2" charset="-122"/>
              </a:rPr>
              <a:t>Pipeline stall causes degradation in pipeline performance.</a:t>
            </a:r>
          </a:p>
          <a:p>
            <a:r>
              <a:rPr lang="en-US" altLang="zh-CN" sz="2600">
                <a:ea typeface="SimSun" pitchFamily="2" charset="-122"/>
              </a:rPr>
              <a:t>We need to identify all hazards that may cause the pipeline to stall and to find ways to minimize their impact.</a:t>
            </a:r>
          </a:p>
        </p:txBody>
      </p:sp>
    </p:spTree>
    <p:extLst>
      <p:ext uri="{BB962C8B-B14F-4D97-AF65-F5344CB8AC3E}">
        <p14:creationId xmlns:p14="http://schemas.microsoft.com/office/powerpoint/2010/main" val="42270507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US" altLang="en-US"/>
              <a:t>Quiz</a:t>
            </a:r>
          </a:p>
        </p:txBody>
      </p:sp>
      <p:sp>
        <p:nvSpPr>
          <p:cNvPr id="152579" name="Rectangle 3"/>
          <p:cNvSpPr>
            <a:spLocks noGrp="1" noChangeArrowheads="1"/>
          </p:cNvSpPr>
          <p:nvPr>
            <p:ph type="body" idx="1"/>
          </p:nvPr>
        </p:nvSpPr>
        <p:spPr/>
        <p:txBody>
          <a:bodyPr/>
          <a:lstStyle/>
          <a:p>
            <a:r>
              <a:rPr lang="en-US" altLang="en-US"/>
              <a:t>Four instructions, the I2 takes two clock cycles for execution. Pls draw the figure for 4-stage pipeline, and figure out the total cycles needed for the four instructions to complete.</a:t>
            </a:r>
          </a:p>
        </p:txBody>
      </p:sp>
    </p:spTree>
    <p:extLst>
      <p:ext uri="{BB962C8B-B14F-4D97-AF65-F5344CB8AC3E}">
        <p14:creationId xmlns:p14="http://schemas.microsoft.com/office/powerpoint/2010/main" val="21952401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684A034-3429-45F6-904C-E1C978F069AA}" type="datetime2">
              <a:rPr lang="en-US" smtClean="0">
                <a:solidFill>
                  <a:schemeClr val="tx2"/>
                </a:solidFill>
              </a:rPr>
              <a:pPr/>
              <a:t>Tuesday, December 10, 2024</a:t>
            </a:fld>
            <a:endParaRPr lang="en-US" smtClean="0">
              <a:solidFill>
                <a:schemeClr val="tx2"/>
              </a:solidFill>
            </a:endParaRPr>
          </a:p>
        </p:txBody>
      </p:sp>
      <p:sp>
        <p:nvSpPr>
          <p:cNvPr id="819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24FDF55-A727-408A-BA72-C6895788B22D}" type="slidenum">
              <a:rPr lang="en-US" smtClean="0">
                <a:solidFill>
                  <a:srgbClr val="FFFFFF"/>
                </a:solidFill>
                <a:latin typeface="Franklin Gothic Book" panose="020B0503020102020204" pitchFamily="34" charset="0"/>
              </a:rPr>
              <a:pPr/>
              <a:t>50</a:t>
            </a:fld>
            <a:endParaRPr lang="en-US" smtClean="0">
              <a:solidFill>
                <a:srgbClr val="FFFFFF"/>
              </a:solidFill>
              <a:latin typeface="Franklin Gothic Book" panose="020B0503020102020204" pitchFamily="34" charset="0"/>
            </a:endParaRPr>
          </a:p>
        </p:txBody>
      </p:sp>
      <p:sp>
        <p:nvSpPr>
          <p:cNvPr id="2" name="TextBox 1"/>
          <p:cNvSpPr txBox="1"/>
          <p:nvPr/>
        </p:nvSpPr>
        <p:spPr>
          <a:xfrm>
            <a:off x="1066800" y="2819400"/>
            <a:ext cx="6705600" cy="584775"/>
          </a:xfrm>
          <a:prstGeom prst="rect">
            <a:avLst/>
          </a:prstGeom>
          <a:noFill/>
        </p:spPr>
        <p:txBody>
          <a:bodyPr wrap="square" rtlCol="0">
            <a:spAutoFit/>
          </a:bodyPr>
          <a:lstStyle/>
          <a:p>
            <a:pPr eaLnBrk="1" hangingPunct="1"/>
            <a:r>
              <a:rPr lang="en-US" sz="3000" dirty="0" smtClean="0">
                <a:solidFill>
                  <a:schemeClr val="accent2"/>
                </a:solidFill>
                <a:latin typeface="Comic Sans MS" panose="030F0702030302020204" pitchFamily="66" charset="0"/>
              </a:rPr>
              <a:t>END of Module 4 Part B: </a:t>
            </a:r>
            <a:r>
              <a:rPr lang="en-US" altLang="zh-CN" sz="3200" dirty="0">
                <a:ea typeface="SimSun" pitchFamily="2" charset="-122"/>
              </a:rPr>
              <a:t>Pipelining</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994765"/>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0675B2085329D408DAE265FD1E815C6" ma:contentTypeVersion="2" ma:contentTypeDescription="Create a new document." ma:contentTypeScope="" ma:versionID="178c7ef17b2891e5e79a3c457c8447a9">
  <xsd:schema xmlns:xsd="http://www.w3.org/2001/XMLSchema" xmlns:xs="http://www.w3.org/2001/XMLSchema" xmlns:p="http://schemas.microsoft.com/office/2006/metadata/properties" xmlns:ns2="6aef3fba-21f0-4319-8b84-e9eb757b945a" targetNamespace="http://schemas.microsoft.com/office/2006/metadata/properties" ma:root="true" ma:fieldsID="fcae34231838de6e4e10b14c2c92c8c6" ns2:_="">
    <xsd:import namespace="6aef3fba-21f0-4319-8b84-e9eb757b945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ef3fba-21f0-4319-8b84-e9eb757b94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1009AE-5B1F-43D3-8297-CAB7CBE29110}">
  <ds:schemaRefs>
    <ds:schemaRef ds:uri="6aef3fba-21f0-4319-8b84-e9eb757b945a"/>
    <ds:schemaRef ds:uri="http://purl.org/dc/dcmitype/"/>
    <ds:schemaRef ds:uri="http://schemas.microsoft.com/office/2006/metadata/properties"/>
    <ds:schemaRef ds:uri="http://schemas.microsoft.com/office/2006/documentManagement/types"/>
    <ds:schemaRef ds:uri="http://www.w3.org/XML/1998/namespace"/>
    <ds:schemaRef ds:uri="http://purl.org/dc/elements/1.1/"/>
    <ds:schemaRef ds:uri="http://purl.org/dc/term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B9A661F2-89F0-4D7E-8DE6-05C026F9AB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ef3fba-21f0-4319-8b84-e9eb757b945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E7A8D3-C163-45B3-9882-2EC1BC9262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6705</TotalTime>
  <Pages>47</Pages>
  <Words>2574</Words>
  <Application>Microsoft Office PowerPoint</Application>
  <PresentationFormat>Letter Paper (8.5x11 in)</PresentationFormat>
  <Paragraphs>471</Paragraphs>
  <Slides>50</Slides>
  <Notes>16</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Default Design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Storing into 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MODULE 4B. Pipelining</vt:lpstr>
      <vt:lpstr>Making the Execution of Programs Faster</vt:lpstr>
      <vt:lpstr>Traditional Pipeline Concept</vt:lpstr>
      <vt:lpstr>Traditional Pipeline Concept</vt:lpstr>
      <vt:lpstr>Traditional Pipeline Concept</vt:lpstr>
      <vt:lpstr>Traditional Pipeline Concept</vt:lpstr>
      <vt:lpstr>Use the Idea of Pipelining in a Computer</vt:lpstr>
      <vt:lpstr>Use the Idea of Pipelining in a Computer</vt:lpstr>
      <vt:lpstr>Role of Cache Memory</vt:lpstr>
      <vt:lpstr>Pipeline Performance</vt:lpstr>
      <vt:lpstr>Pipeline Performance</vt:lpstr>
      <vt:lpstr>Pipeline Performance</vt:lpstr>
      <vt:lpstr>Pipeline Performance</vt:lpstr>
      <vt:lpstr>Pipeline Performance</vt:lpstr>
      <vt:lpstr>Pipeline Performance</vt:lpstr>
      <vt:lpstr>Quiz</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ENGIN112 - lecture 2</dc:title>
  <dc:creator>Russ Tessier</dc:creator>
  <cp:lastModifiedBy>admin</cp:lastModifiedBy>
  <cp:revision>219</cp:revision>
  <cp:lastPrinted>1997-08-27T08:28:34Z</cp:lastPrinted>
  <dcterms:created xsi:type="dcterms:W3CDTF">1997-08-19T16:58:46Z</dcterms:created>
  <dcterms:modified xsi:type="dcterms:W3CDTF">2024-12-10T07:01:38Z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0x01010080675B2085329D408DAE265FD1E815C6</vt:lpwstr>
  </property>
</Properties>
</file>