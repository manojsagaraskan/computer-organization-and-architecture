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89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and introduce yourself. State the course code and subject name, and give a one-line preview: today we begin the heart of computer architecture -- how a CPU actually reads and carries out instructions. Mention that by the end of this hour they will be able to read register-transfer notation, tell RISC apart from CISC, and trace how a program's instruction sequence flows including branches. Keep energy high and pace slow for this first slide since latecomers are still settling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orient students to the course context: this is Computer Organization and Architecture, course code CSS2257, taught within the Department of AI and Robotics. Explain that although they are AI and Robotics students, understanding how a processor executes instructions at the hardware level is foundational -- it explains why some code runs faster than other code and how compilers and hardware cooperate. Keep this slide quick, under one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each objective briefly and tell students these are exactly the skills you will check in the quiz at the end of the session, so they know what to listen for. Reassure them that if any term sounds unfamiliar right now -- RTN, RISC, CISC, addressing modes -- that is expected, and each will be built up from scratch with examples. This sets expectations and reduces first-day anxiety for freshers.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show-of-hands and open-floor activity -- do not let it run past four to five minutes. Ask Question 1 and take two or three quick verbal responses; write a couple of the more interesting answers up if you have a whiteboard. For Question 2, just let students nod or murmur -- it is meant to plant curiosity, not to be answered fully yet. For Question 3, take a genuine poll by show of hands and note the split -- you will directly reference this split later when you introduce RISC versus CISC, so remember the numbers. Use their answers to segue: 'Today we are going to open up that black box and see exactly what an instruction is and how the processor works through many of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directly to their identity as AI and Robotics students so it doesn't feel like 'someone else's subject.' Point out that the microcontrollers used in robotics projects, and the edge-AI chips used to deploy trained models, are almost always RISC-based -- so this lecture is not abstract theory, it is the toolkit for their own future projects. Mention briefly that even a high-level Python or C++ program is eventually translated down into exactly the kind of instructions we study today. Keep the tone motivating, not alarming.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something concrete: hold up (or describe) a single instruction like 'add two numbers' and explain that this simple idea, repeated millions of times per second, is literally all a CPU does. Clarify the layered relationship: high-level code like Python is translated into assembly, which is then encoded into binary machine instructions the hardware executes. Don't worry if this feels abstract right now -- we will ground every idea in a concrete notation over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an instruction into its two parts: the opcode, which is the verb telling the CPU what to do, and the operands, which are the nouns telling it what to do it to. Walk through the example ADD R1, R2, R3 slowly: ADD is the opcode, R2 and R3 are source operands, and R1 is the destination. Use the analogy of a recipe instruction like 'add flour and sugar into the bowl' -- ADD is the verb, flour and sugar are sources, and the bowl is the destination. This anatomy will reappear in every notation we study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heartbeat of every CPU. Trace the loop with your hand as you speak: fetch brings the instruction in from memory at the address held in the Program Counter, decode figures out what the opcode and operands mean, and execute actually performs the action. Emphasize that after execute, control returns to fetch for the next instruction -- and this is exactly the straight-line sequencing we will formalize in a few slides. Ask a rhetorical question: 'What do you think happens to the Program Counter after each fetch?' and let that hang as a teaser.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RTN as the 'grammar' computer architects use to talk precisely about what hardware does, similar to how chemists use chemical equations. Write the general form R_dest ← R_source on the board and read it aloud as 'destination gets source.' Clarify the bracket convention early since it will matter later for memory addressing: MEM[address] means 'the contents stored at that memory address', while a bare register name like R1 means 'the value currently sitting in register R1'. Reassure students this notation looks intimidating for thirty seconds and then becomes completely natural.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left to right, reading the RTN aloud and then its plain-English meaning, so students build the habit of translating fluently in both directions. Pause on the third and fourth rows -- loading from memory and storing to memory are mirror images of each other, and confusing the direction of the arrow is the single most common beginner mistake. The last row, PC ← PC + 1, is a preview of straight-line sequencing: point out that this one line of RTN is literally what makes a CPU move forward through a program automatically.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assembly language as the middle rung of a three-level ladder: high-level languages like Python or C++ at the top, assembly in the middle, and raw binary machine code at the bottom. Stress the one-to-one relationship between an assembly instruction and a machine instruction -- this is very different from a high-level language, where one line of Python might expand into dozens of machine instructions. Use the analogy of a translator who converts a English sentence word to word into another language versus one who summarizes a whole paragraph into one word.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of the last three slides: side by side, students can now see that assembly language and RTN describe exactly the same hardware action, just with different notations -- one is closer to what a programmer types, the other is closer to what the hardware actually does. Walk down the rows and for each one, cover one side with your hand and ask the class to supply the other, turning this into a quick verbal drill. Point out the last row, JMP 200, and tell them to hold that thought -- this is our first sighting of a branch instruction, which breaks the straight-line flow we are about to study.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like a story with four beats: first we bring A home into a register, then we bring B home, then we combine them, and finally we send the answer back out to memory. As you reveal each step, explain the reasoning out loud: 'Why do we need to load A into a register first instead of adding directly from memory? Because the ALU can only operate on values that are already inside registers.' After the four steps, interpret the final result in plain language: 'We have now computed C equals A plus B and safely stored it back in memory at address 1008.' This four-step pattern -- load, load, compute, store -- reappears constantly in real programs.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the poll we took during the icebreaker about which sounds faster, and reveal the honest answer: it depends, and that is exactly why both philosophies still exist today. Explain CISC first since it is the older, more intuitive idea -- pack more power into each instruction so programs need fewer lines of assembly. Then explain RISC's counter-argument: if every instruction is simple and uniform, the hardware can execute them extremely fast and overlap them efficiently, so even though you need more instructions, the total time can be lower. Don't worry if this feels new -- we will make it concrete with real chips in a couple of slides.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reference students can revisit while revising -- go row by row rather than reading it all at once. Spend the most time on the memory-access row, since the RISC load-store restriction is the single idea students most often forget, and it directly explains why RISC assembly programs need more lines: you cannot add two numbers straight from memory, you must load them into registers first, exactly like our C equals A plus B example earlier. Tie the pipelining row back to the instruction cycle diagram from earlier -- fixed-length, simple instructions are much easier to overlap in a fetch-decode-execute pipeline.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together everything so far into a formal definition of RISC design. Emphasize the load-store rule again since it is the defining feature: only two instruction types are allowed to touch memory, LOAD and STORE, and every arithmetic instruction like ADD or SUB must work purely on registers. Explain why more registers help: registers are far faster than memory, so keeping frequently used values in a large register file avoids costly memory trips. End by restating the RISC design goal in one sentence: it is not about doing more per instruction, it is about doing each instruction blazingly fast and doing many of them per second.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fixed-width layout and explain that this is essentially a form with the same boxes every time -- the opcode is always in the same bit positions, the destination register is always in the same bit positions, and so on. Contrast this with filling out a form where sometimes there are three fields and sometimes twelve, which is what CISC decoding effectively looks like. Ask a check-your-understanding question: 'If the decoder always knows exactly where to look for the opcode, what does that let the hardware do in parallel?' Guide them toward the idea of overlapping fetch and decode across multiple instructions -- pipelining.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personal: ask how many students have an Android or Apple smartphone in their pocket right now, then tell them that chip is a direct descendant of the RISC ideas we just covered. Connect explicitly to their coursework in AI and Robotics -- Raspberry Pi boards and many Arduino variants they may use for robotics projects are ARM-based RISC devices, and models they deploy at the edge often target RISC-V accelerators. Emphasize the power-efficiency angle: fewer transistors doing simpler, more predictable work translates directly into longer battery life, which is why RISC dominates mobile and embedded computing.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laptop many students are taking notes on right now, or the desktop in the campus lab, very likely runs an x86 CISC processor. Share the fascinating twist: modern Intel and AMD chips are secretly RISC on the inside -- they translate incoming CISC instructions into simpler internal micro-operations before executing them, which is a clever engineering compromise. Explain the real reason CISC has survived commercially: enormous amounts of existing software were compiled for x86, and full backward compatibility has enormous economic value, even though RISC has technical execution advantages.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Program Counter as the CPU's 'bookmark' -- it always tells the control unit exactly which page, that is, which memory address, to read next. Walk through the natural lifecycle: the PC starts at the program's entry address, the CPU fetches the instruction sitting there, and then the PC must be updated before the next fetch can happen. Pose the transition question directly: 'In the most common case, does the CPU just move to the very next address, or can it jump somewhere else entirely?' Tell them both happen, and that is exactly what the next two sections cover.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Formalize what students already saw in the instruction cycle diagram: by default, once an instruction finishes, the PC simply advances to the very next address in memory, and execution proceeds top to bottom like reading a page. Do the arithmetic with them explicitly: if instructions are 4 bytes wide and the current PC is 200, the next PC becomes 204, then 208, then 212 -- point at the little ladder diagram on the right as you count up. Stress the key exam-relevant sentence: straight-line sequencing is the default; a branch is the only thing that overrides it. This sets up the next few slides perfectly.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table one row at a time, speaking the arithmetic out loud: 'We start at address 300, fetch the LOAD instruction, and immediately after fetch the PC updates to 304 because each instruction is exactly four bytes wide.' Repeat for rows two and three, letting students predict the next PC value before you reveal it -- this active-recall moment works well as a quick class-wide call and response. In your final interpretation, connect back explicitly to the earlier C = A + B worked example so students see that abstract PC tracing and concrete program behaviour are the same thing viewed two ways.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directly: 'Every for-loop and every if statement you have ever written in Python -- what do you think it becomes at the machine level?' Let a couple of answers come in, then reveal that it becomes exactly this: a branch instruction that redirects the Program Counter. Make the motivation vivid: without branching, a program could never repeat a block of code or make a decision, it would just be one long straight recipe executed once from top to bottom. Contrast the RTN clearly: default sequencing is PC gets PC plus four, while a branch overwrites PC with an entirely new target address.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class's intuition cleanly: an unconditional branch is like an unavoidable detour sign, everyone must take it, no questions asked. A conditional branch is like a fork with a checkpoint guard -- the CPU checks a condition, such as whether two registers are equal, and only takes the detour if the condition holds true; otherwise it just continues straight ahead with the normal PC plus four. Read the BEQ example slowly and translate it into an everyday if-statement: 'if R1 equals R2, jump to address 500, otherwise just move to the next instruction as usual.' Mention that comparisons like less-than and not-equal work the same way with different mnemonics.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a for-loop truly clicks for freshers, so slow down here. Point at address 100 and 104 and explain the round trip: subtract one from R1, then check whether R1 has reached zero yet; if not, jump backward to address 100 and repeat. Trace the concrete numeric example with R1 starting at 3 -- count the branch-taken loops out loud one, two, three -- and show the moment the condition finally fails and the CPU falls through to address 108 instead of branching. End with the punchline: this exact two-line pattern, decrement-and-branch-if-not-equal, is what every counted for-loop compiles down to.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idea of an effective address with an everyday analogy: giving someone directions to a house can be a full street address, or it can be 'three houses down from where I'm standing' -- both eventually lead to the same physical location, but the CPU has to do a little calculation for the second style. Explain that addressing modes exist precisely because programs need to access many different data patterns, like single variables versus elements inside an array, without needing a completely new instruction for each pattern. Preview the four modes we're about to cover so students have a mental checklist.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addressing mode with a one-line real-world analogy. Immediate is like being handed the value itself, no lookup needed. Direct is like being given the exact street address to walk to. Register indirect is like being handed a note that says 'the address you want is written on this other note' -- you must read the register first to discover where to actually go. Indexed is the classic array-access pattern: base plus offset, exactly what happens when your code does array[i], where the base address of the array sits in a register and i supplies the offset. This last one is worth emphasizing since it directly explains how array indexing works at the hardware level.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exactly like a numerical problem in any engineering course: first identify what kind of problem it is, then list the given data, then apply the right formula, then compute, then interpret the answer in plain language. Ask students to identify the addressing mode themselves before you reveal it -- the presence of both a register in parentheses and a constant offset is the giveaway for indexed addressing. Do the arithmetic on the board: 100 plus 2000 equals 2100. Finish by translating the final answer back into RTN and plain English so the abstract addressing-mode idea reconnects with the concrete LOAD-instruction meaning from earlier in the lecture.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friendly myth-busting rather than as criticism -- tell students these are the exact same mix-ups toppers made when they were freshers. Pause after each one and ask 'does anyone remember why?' before revealing the correction, since it works as a quick recall check on everything covered so far. Spend extra time on the RISC memory-access misconception since it is the most commonly tested point, and the PC-direction misconception since it directly sets up their understanding of loops in the quiz.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exactly two minutes with a neighbour to work through all three prompts before revealing any answers -- set a visible timer if you have one. Walk around the room while they work and listen for common errors, especially getting the subtraction order backwards in the RTN or mixing up branch direction. Reveal the answer strip only after time is up, and address any error pattern you overheard directly with the whole class. This activity doubles as a low-stakes rehearsal for the quiz coming up shortly.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each point briskly, connecting it back to a specific moment in the lecture -- 'remember our C equals A plus B example' for the first point, 'remember the smartphone in your pocket' for the second, 'remember the countdown loop' for the fourth, and 'remember the base-plus-offset calculation' for the last. This is a good moment to ask if there are any lingering questions before moving into the quiz, since the quiz will directly test everything on this slide.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clearly as a self-check, not a graded test, to keep the tone supportive: 'This is to check your own understanding, not for grading.' Give students three to five minutes to answer individually or in pairs on paper or mentally. As they work, walk around and note which questions people hesitate on -- that tells you where to spend more time on the answers slide. Briefly mention which part of the lecture each question maps to: Q1 is RTN, Q2 is RISC/CISC, Q3 is straight-line sequencing, Q4 is branching, and Q5 is addressing modes.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revealing one at a time if your presentation software allows a click-to-reveal animation. For any question you noticed several students hesitate on while circulating earlier, slow down and re-explain using the same worked example from the main lecture rather than a new one, since familiarity helps retention. Clarify common misconceptions revealed by wrong answers, especially the load-store rule from Q2 which typically catches the most people. Close by encouraging students to note down any question they found tricky for further revision before the next class.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and remind students that today's material is foundational for everything ahead in the course, so it is worth revisiting the slides before next class. Recommend the Ripes emulator specifically for students who want hands-on reinforcement, since watching the PC and registers change live makes the abstract ideas concrete very quickly. Explain the swap assignment briefly as a fun logic puzzle -- worth a hint that XOR or addition/subtraction tricks can do it without a spare register, but let them discover it themselves. Open the floor for questions and mention your office hours before dismissing the class.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41B45"/>
          </a:solidFill>
          <a:ln/>
        </p:spPr>
      </p:sp>
      <p:sp>
        <p:nvSpPr>
          <p:cNvPr id="3" name="Shape 1"/>
          <p:cNvSpPr/>
          <p:nvPr/>
        </p:nvSpPr>
        <p:spPr>
          <a:xfrm>
            <a:off x="-1280160" y="4754880"/>
            <a:ext cx="3291840" cy="3291840"/>
          </a:xfrm>
          <a:prstGeom prst="ellipse">
            <a:avLst/>
          </a:prstGeom>
          <a:solidFill>
            <a:srgbClr val="141B45"/>
          </a:solidFill>
          <a:ln/>
        </p:spPr>
      </p:sp>
      <p:sp>
        <p:nvSpPr>
          <p:cNvPr id="4" name="Text 2"/>
          <p:cNvSpPr/>
          <p:nvPr/>
        </p:nvSpPr>
        <p:spPr>
          <a:xfrm>
            <a:off x="822960" y="640080"/>
            <a:ext cx="7315200" cy="457200"/>
          </a:xfrm>
          <a:prstGeom prst="rect">
            <a:avLst/>
          </a:prstGeom>
          <a:noFill/>
          <a:ln/>
        </p:spPr>
        <p:txBody>
          <a:bodyPr wrap="square" lIns="0" tIns="0" rIns="0" bIns="0" rtlCol="0" anchor="ctr"/>
          <a:lstStyle/>
          <a:p>
            <a:pPr marL="0" indent="0">
              <a:buNone/>
            </a:pPr>
            <a:r>
              <a:rPr lang="en-US" sz="1500" b="1" kern="0" spc="200" dirty="0">
                <a:solidFill>
                  <a:srgbClr val="F2A93B"/>
                </a:solidFill>
                <a:latin typeface="Calibri" pitchFamily="34" charset="0"/>
                <a:ea typeface="Calibri" pitchFamily="34" charset="-122"/>
                <a:cs typeface="Calibri" pitchFamily="34" charset="-120"/>
              </a:rPr>
              <a:t>PRESIDENCY UNIVERSITY</a:t>
            </a:r>
            <a:endParaRPr lang="en-US" sz="1500" dirty="0"/>
          </a:p>
        </p:txBody>
      </p:sp>
      <p:sp>
        <p:nvSpPr>
          <p:cNvPr id="5" name="Text 3"/>
          <p:cNvSpPr/>
          <p:nvPr/>
        </p:nvSpPr>
        <p:spPr>
          <a:xfrm>
            <a:off x="822960" y="1051560"/>
            <a:ext cx="82296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PSAIAC  |  Department of AI and Robotics</a:t>
            </a:r>
            <a:endParaRPr lang="en-US" sz="1300" dirty="0"/>
          </a:p>
        </p:txBody>
      </p:sp>
      <p:sp>
        <p:nvSpPr>
          <p:cNvPr id="6" name="Text 4"/>
          <p:cNvSpPr/>
          <p:nvPr/>
        </p:nvSpPr>
        <p:spPr>
          <a:xfrm>
            <a:off x="822960" y="2377440"/>
            <a:ext cx="10241280" cy="164592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Instructions and Instruction Sequencing</a:t>
            </a:r>
            <a:endParaRPr lang="en-US" sz="4200" dirty="0"/>
          </a:p>
        </p:txBody>
      </p:sp>
      <p:sp>
        <p:nvSpPr>
          <p:cNvPr id="7" name="Text 5"/>
          <p:cNvSpPr/>
          <p:nvPr/>
        </p:nvSpPr>
        <p:spPr>
          <a:xfrm>
            <a:off x="822960" y="4069080"/>
            <a:ext cx="96012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Computer Organization and Architecture  (CSS2257)</a:t>
            </a:r>
            <a:endParaRPr lang="en-US" sz="1800" dirty="0"/>
          </a:p>
        </p:txBody>
      </p:sp>
      <p:sp>
        <p:nvSpPr>
          <p:cNvPr id="8" name="Text 6"/>
          <p:cNvSpPr/>
          <p:nvPr/>
        </p:nvSpPr>
        <p:spPr>
          <a:xfrm>
            <a:off x="822960" y="4846320"/>
            <a:ext cx="5486400" cy="365760"/>
          </a:xfrm>
          <a:prstGeom prst="rect">
            <a:avLst/>
          </a:prstGeom>
          <a:noFill/>
          <a:ln/>
        </p:spPr>
        <p:txBody>
          <a:bodyPr wrap="square" lIns="0" tIns="0" rIns="0" bIns="0" rtlCol="0" anchor="ctr"/>
          <a:lstStyle/>
          <a:p>
            <a:pPr marL="0" indent="0">
              <a:buNone/>
            </a:pPr>
            <a:r>
              <a:rPr lang="en-US" sz="1400" b="1" dirty="0">
                <a:solidFill>
                  <a:srgbClr val="F2A93B"/>
                </a:solidFill>
                <a:latin typeface="Calibri" pitchFamily="34" charset="0"/>
                <a:ea typeface="Calibri" pitchFamily="34" charset="-122"/>
                <a:cs typeface="Calibri" pitchFamily="34" charset="-120"/>
              </a:rPr>
              <a:t>Faculty: </a:t>
            </a:r>
            <a:r>
              <a:rPr lang="en-US" sz="1400" dirty="0">
                <a:solidFill>
                  <a:srgbClr val="FFFFFF"/>
                </a:solidFill>
                <a:latin typeface="Calibri" pitchFamily="34" charset="0"/>
                <a:ea typeface="Calibri" pitchFamily="34" charset="-122"/>
                <a:cs typeface="Calibri" pitchFamily="34" charset="-120"/>
              </a:rPr>
              <a:t>D. Venkatesan</a:t>
            </a:r>
            <a:endParaRPr lang="en-US" sz="1400" dirty="0"/>
          </a:p>
        </p:txBody>
      </p:sp>
      <p:sp>
        <p:nvSpPr>
          <p:cNvPr id="9" name="Text 7"/>
          <p:cNvSpPr/>
          <p:nvPr/>
        </p:nvSpPr>
        <p:spPr>
          <a:xfrm>
            <a:off x="822960" y="5257800"/>
            <a:ext cx="54864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Semester: III  |  Academic Year 2026–27</a:t>
            </a:r>
            <a:endParaRPr lang="en-US" sz="1200" dirty="0"/>
          </a:p>
        </p:txBody>
      </p:sp>
      <p:sp>
        <p:nvSpPr>
          <p:cNvPr id="10" name="Text 8"/>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0" cy="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ABOUT THIS SESSION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Course &amp; Institute Details</a:t>
            </a:r>
            <a:endParaRPr lang="en-US" sz="3000" dirty="0"/>
          </a:p>
        </p:txBody>
      </p:sp>
      <p:sp>
        <p:nvSpPr>
          <p:cNvPr id="4" name="Shape 2"/>
          <p:cNvSpPr/>
          <p:nvPr/>
        </p:nvSpPr>
        <p:spPr>
          <a:xfrm>
            <a:off x="548640" y="1645920"/>
            <a:ext cx="11094415" cy="566928"/>
          </a:xfrm>
          <a:prstGeom prst="roundRect">
            <a:avLst>
              <a:gd name="adj" fmla="val 9677"/>
            </a:avLst>
          </a:prstGeom>
          <a:solidFill>
            <a:srgbClr val="E9F0FC"/>
          </a:solidFill>
          <a:ln/>
        </p:spPr>
      </p:sp>
      <p:sp>
        <p:nvSpPr>
          <p:cNvPr id="5" name="Text 3"/>
          <p:cNvSpPr/>
          <p:nvPr/>
        </p:nvSpPr>
        <p:spPr>
          <a:xfrm>
            <a:off x="822960" y="1645920"/>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University</a:t>
            </a:r>
            <a:endParaRPr lang="en-US" sz="1300" dirty="0"/>
          </a:p>
        </p:txBody>
      </p:sp>
      <p:sp>
        <p:nvSpPr>
          <p:cNvPr id="6" name="Text 4"/>
          <p:cNvSpPr/>
          <p:nvPr/>
        </p:nvSpPr>
        <p:spPr>
          <a:xfrm>
            <a:off x="3749040" y="1645920"/>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Presidency University</a:t>
            </a:r>
            <a:endParaRPr lang="en-US" sz="1300" dirty="0"/>
          </a:p>
        </p:txBody>
      </p:sp>
      <p:sp>
        <p:nvSpPr>
          <p:cNvPr id="7" name="Shape 5"/>
          <p:cNvSpPr/>
          <p:nvPr/>
        </p:nvSpPr>
        <p:spPr>
          <a:xfrm>
            <a:off x="548640" y="2267712"/>
            <a:ext cx="11094415" cy="566928"/>
          </a:xfrm>
          <a:prstGeom prst="roundRect">
            <a:avLst>
              <a:gd name="adj" fmla="val 9677"/>
            </a:avLst>
          </a:prstGeom>
          <a:solidFill>
            <a:srgbClr val="FFFFFF"/>
          </a:solidFill>
          <a:ln/>
        </p:spPr>
      </p:sp>
      <p:sp>
        <p:nvSpPr>
          <p:cNvPr id="8" name="Text 6"/>
          <p:cNvSpPr/>
          <p:nvPr/>
        </p:nvSpPr>
        <p:spPr>
          <a:xfrm>
            <a:off x="822960" y="2267712"/>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School</a:t>
            </a:r>
            <a:endParaRPr lang="en-US" sz="1300" dirty="0"/>
          </a:p>
        </p:txBody>
      </p:sp>
      <p:sp>
        <p:nvSpPr>
          <p:cNvPr id="9" name="Text 7"/>
          <p:cNvSpPr/>
          <p:nvPr/>
        </p:nvSpPr>
        <p:spPr>
          <a:xfrm>
            <a:off x="3749040" y="2267712"/>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PSAIAC</a:t>
            </a:r>
            <a:endParaRPr lang="en-US" sz="1300" dirty="0"/>
          </a:p>
        </p:txBody>
      </p:sp>
      <p:sp>
        <p:nvSpPr>
          <p:cNvPr id="10" name="Shape 8"/>
          <p:cNvSpPr/>
          <p:nvPr/>
        </p:nvSpPr>
        <p:spPr>
          <a:xfrm>
            <a:off x="548640" y="2889504"/>
            <a:ext cx="11094415" cy="566928"/>
          </a:xfrm>
          <a:prstGeom prst="roundRect">
            <a:avLst>
              <a:gd name="adj" fmla="val 9677"/>
            </a:avLst>
          </a:prstGeom>
          <a:solidFill>
            <a:srgbClr val="E9F0FC"/>
          </a:solidFill>
          <a:ln/>
        </p:spPr>
      </p:sp>
      <p:sp>
        <p:nvSpPr>
          <p:cNvPr id="11" name="Text 9"/>
          <p:cNvSpPr/>
          <p:nvPr/>
        </p:nvSpPr>
        <p:spPr>
          <a:xfrm>
            <a:off x="822960" y="2889504"/>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Department</a:t>
            </a:r>
            <a:endParaRPr lang="en-US" sz="1300" dirty="0"/>
          </a:p>
        </p:txBody>
      </p:sp>
      <p:sp>
        <p:nvSpPr>
          <p:cNvPr id="12" name="Text 10"/>
          <p:cNvSpPr/>
          <p:nvPr/>
        </p:nvSpPr>
        <p:spPr>
          <a:xfrm>
            <a:off x="3749040" y="2889504"/>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Department of AI and Robotics</a:t>
            </a:r>
            <a:endParaRPr lang="en-US" sz="1300" dirty="0"/>
          </a:p>
        </p:txBody>
      </p:sp>
      <p:sp>
        <p:nvSpPr>
          <p:cNvPr id="13" name="Shape 11"/>
          <p:cNvSpPr/>
          <p:nvPr/>
        </p:nvSpPr>
        <p:spPr>
          <a:xfrm>
            <a:off x="548640" y="3511296"/>
            <a:ext cx="11094415" cy="566928"/>
          </a:xfrm>
          <a:prstGeom prst="roundRect">
            <a:avLst>
              <a:gd name="adj" fmla="val 9677"/>
            </a:avLst>
          </a:prstGeom>
          <a:solidFill>
            <a:srgbClr val="FFFFFF"/>
          </a:solidFill>
          <a:ln/>
        </p:spPr>
      </p:sp>
      <p:sp>
        <p:nvSpPr>
          <p:cNvPr id="14" name="Text 12"/>
          <p:cNvSpPr/>
          <p:nvPr/>
        </p:nvSpPr>
        <p:spPr>
          <a:xfrm>
            <a:off x="822960" y="3511296"/>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Subject</a:t>
            </a:r>
            <a:endParaRPr lang="en-US" sz="1300" dirty="0"/>
          </a:p>
        </p:txBody>
      </p:sp>
      <p:sp>
        <p:nvSpPr>
          <p:cNvPr id="15" name="Text 13"/>
          <p:cNvSpPr/>
          <p:nvPr/>
        </p:nvSpPr>
        <p:spPr>
          <a:xfrm>
            <a:off x="3749040" y="3511296"/>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Computer Organization and Architecture (CSS2257)</a:t>
            </a:r>
            <a:endParaRPr lang="en-US" sz="1300" dirty="0"/>
          </a:p>
        </p:txBody>
      </p:sp>
      <p:sp>
        <p:nvSpPr>
          <p:cNvPr id="16" name="Shape 14"/>
          <p:cNvSpPr/>
          <p:nvPr/>
        </p:nvSpPr>
        <p:spPr>
          <a:xfrm>
            <a:off x="548640" y="4133088"/>
            <a:ext cx="11094415" cy="566928"/>
          </a:xfrm>
          <a:prstGeom prst="roundRect">
            <a:avLst>
              <a:gd name="adj" fmla="val 9677"/>
            </a:avLst>
          </a:prstGeom>
          <a:solidFill>
            <a:srgbClr val="E9F0FC"/>
          </a:solidFill>
          <a:ln/>
        </p:spPr>
      </p:sp>
      <p:sp>
        <p:nvSpPr>
          <p:cNvPr id="17" name="Text 15"/>
          <p:cNvSpPr/>
          <p:nvPr/>
        </p:nvSpPr>
        <p:spPr>
          <a:xfrm>
            <a:off x="822960" y="4133088"/>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Faculty</a:t>
            </a:r>
            <a:endParaRPr lang="en-US" sz="1300" dirty="0"/>
          </a:p>
        </p:txBody>
      </p:sp>
      <p:sp>
        <p:nvSpPr>
          <p:cNvPr id="18" name="Text 16"/>
          <p:cNvSpPr/>
          <p:nvPr/>
        </p:nvSpPr>
        <p:spPr>
          <a:xfrm>
            <a:off x="3749040" y="4133088"/>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D. Venkatesan</a:t>
            </a:r>
            <a:endParaRPr lang="en-US" sz="1300" dirty="0"/>
          </a:p>
        </p:txBody>
      </p:sp>
      <p:sp>
        <p:nvSpPr>
          <p:cNvPr id="19" name="Shape 17"/>
          <p:cNvSpPr/>
          <p:nvPr/>
        </p:nvSpPr>
        <p:spPr>
          <a:xfrm>
            <a:off x="548640" y="4754880"/>
            <a:ext cx="11094415" cy="566928"/>
          </a:xfrm>
          <a:prstGeom prst="roundRect">
            <a:avLst>
              <a:gd name="adj" fmla="val 9677"/>
            </a:avLst>
          </a:prstGeom>
          <a:solidFill>
            <a:srgbClr val="FFFFFF"/>
          </a:solidFill>
          <a:ln/>
        </p:spPr>
      </p:sp>
      <p:sp>
        <p:nvSpPr>
          <p:cNvPr id="20" name="Text 18"/>
          <p:cNvSpPr/>
          <p:nvPr/>
        </p:nvSpPr>
        <p:spPr>
          <a:xfrm>
            <a:off x="822960" y="4754880"/>
            <a:ext cx="2743200" cy="56692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Session Length</a:t>
            </a:r>
            <a:endParaRPr lang="en-US" sz="1300" dirty="0"/>
          </a:p>
        </p:txBody>
      </p:sp>
      <p:sp>
        <p:nvSpPr>
          <p:cNvPr id="21" name="Text 19"/>
          <p:cNvSpPr/>
          <p:nvPr/>
        </p:nvSpPr>
        <p:spPr>
          <a:xfrm>
            <a:off x="3749040" y="4754880"/>
            <a:ext cx="7498080" cy="566928"/>
          </a:xfrm>
          <a:prstGeom prst="rect">
            <a:avLst/>
          </a:prstGeom>
          <a:noFill/>
          <a:ln/>
        </p:spPr>
        <p:txBody>
          <a:bodyPr wrap="square" lIns="0" tIns="0" rIns="0" bIns="0" rtlCol="0" anchor="ctr"/>
          <a:lstStyle/>
          <a:p>
            <a:pPr marL="0" indent="0">
              <a:buNone/>
            </a:pPr>
            <a:r>
              <a:rPr lang="en-US" sz="1300" dirty="0">
                <a:solidFill>
                  <a:srgbClr val="212A4E"/>
                </a:solidFill>
                <a:latin typeface="Calibri" pitchFamily="34" charset="0"/>
                <a:ea typeface="Calibri" pitchFamily="34" charset="-122"/>
                <a:cs typeface="Calibri" pitchFamily="34" charset="-120"/>
              </a:rPr>
              <a:t>60 minutes</a:t>
            </a:r>
            <a:endParaRPr lang="en-US" sz="1300" dirty="0"/>
          </a:p>
        </p:txBody>
      </p:sp>
      <p:sp>
        <p:nvSpPr>
          <p:cNvPr id="22" name="Text 2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3" name="Text 21"/>
          <p:cNvSpPr/>
          <p:nvPr/>
        </p:nvSpPr>
        <p:spPr>
          <a:xfrm>
            <a:off x="0" y="0"/>
            <a:ext cx="0" cy="0"/>
          </a:xfrm>
          <a:prstGeom prst="rect">
            <a:avLst/>
          </a:prstGeom>
          <a:noFill/>
          <a:ln/>
        </p:spPr>
        <p:txBody>
          <a:bodyPr wrap="square" rtlCol="0" anchor="ctr"/>
          <a:lstStyle/>
          <a:p>
            <a:pPr marL="0" indent="0">
              <a:buNone/>
            </a:pPr>
            <a:endParaRPr lang="en-US" dirty="0"/>
          </a:p>
        </p:txBody>
      </p:sp>
      <p:sp>
        <p:nvSpPr>
          <p:cNvPr id="24"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LEARNING OBJECTIVES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By the End of This Lecture, You Will Be Able To…</a:t>
            </a:r>
            <a:endParaRPr lang="en-US" sz="3000" dirty="0"/>
          </a:p>
        </p:txBody>
      </p:sp>
      <p:sp>
        <p:nvSpPr>
          <p:cNvPr id="4" name="Shape 2"/>
          <p:cNvSpPr/>
          <p:nvPr/>
        </p:nvSpPr>
        <p:spPr>
          <a:xfrm>
            <a:off x="548640" y="1600200"/>
            <a:ext cx="457200" cy="457200"/>
          </a:xfrm>
          <a:prstGeom prst="ellipse">
            <a:avLst/>
          </a:prstGeom>
          <a:solidFill>
            <a:srgbClr val="F2A93B"/>
          </a:solidFill>
          <a:ln/>
        </p:spPr>
      </p:sp>
      <p:sp>
        <p:nvSpPr>
          <p:cNvPr id="5" name="Text 3"/>
          <p:cNvSpPr/>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554480"/>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Explain what a machine instruction is and describe Register Transfer Notation (RTN).</a:t>
            </a:r>
            <a:endParaRPr lang="en-US" sz="1450" dirty="0"/>
          </a:p>
        </p:txBody>
      </p:sp>
      <p:sp>
        <p:nvSpPr>
          <p:cNvPr id="7" name="Shape 5"/>
          <p:cNvSpPr/>
          <p:nvPr/>
        </p:nvSpPr>
        <p:spPr>
          <a:xfrm>
            <a:off x="548640" y="2313432"/>
            <a:ext cx="457200" cy="457200"/>
          </a:xfrm>
          <a:prstGeom prst="ellipse">
            <a:avLst/>
          </a:prstGeom>
          <a:solidFill>
            <a:srgbClr val="F2A93B"/>
          </a:solidFill>
          <a:ln/>
        </p:spPr>
      </p:sp>
      <p:sp>
        <p:nvSpPr>
          <p:cNvPr id="8" name="Text 6"/>
          <p:cNvSpPr/>
          <p:nvPr/>
        </p:nvSpPr>
        <p:spPr>
          <a:xfrm>
            <a:off x="548640" y="2313432"/>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267712"/>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Read and write simple statements in assembly-language notation.</a:t>
            </a:r>
            <a:endParaRPr lang="en-US" sz="1450" dirty="0"/>
          </a:p>
        </p:txBody>
      </p:sp>
      <p:sp>
        <p:nvSpPr>
          <p:cNvPr id="10" name="Shape 8"/>
          <p:cNvSpPr/>
          <p:nvPr/>
        </p:nvSpPr>
        <p:spPr>
          <a:xfrm>
            <a:off x="548640" y="3026664"/>
            <a:ext cx="457200" cy="457200"/>
          </a:xfrm>
          <a:prstGeom prst="ellipse">
            <a:avLst/>
          </a:prstGeom>
          <a:solidFill>
            <a:srgbClr val="F2A93B"/>
          </a:solidFill>
          <a:ln/>
        </p:spPr>
      </p:sp>
      <p:sp>
        <p:nvSpPr>
          <p:cNvPr id="11" name="Text 9"/>
          <p:cNvSpPr/>
          <p:nvPr/>
        </p:nvSpPr>
        <p:spPr>
          <a:xfrm>
            <a:off x="548640" y="3026664"/>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2980944"/>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Distinguish RISC and CISC instruction set philosophies with real examples.</a:t>
            </a:r>
            <a:endParaRPr lang="en-US" sz="1450" dirty="0"/>
          </a:p>
        </p:txBody>
      </p:sp>
      <p:sp>
        <p:nvSpPr>
          <p:cNvPr id="13" name="Shape 11"/>
          <p:cNvSpPr/>
          <p:nvPr/>
        </p:nvSpPr>
        <p:spPr>
          <a:xfrm>
            <a:off x="548640" y="3739896"/>
            <a:ext cx="457200" cy="457200"/>
          </a:xfrm>
          <a:prstGeom prst="ellipse">
            <a:avLst/>
          </a:prstGeom>
          <a:solidFill>
            <a:srgbClr val="F2A93B"/>
          </a:solidFill>
          <a:ln/>
        </p:spPr>
      </p:sp>
      <p:sp>
        <p:nvSpPr>
          <p:cNvPr id="14" name="Text 12"/>
          <p:cNvSpPr/>
          <p:nvPr/>
        </p:nvSpPr>
        <p:spPr>
          <a:xfrm>
            <a:off x="548640" y="3739896"/>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694176"/>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Trace straight-line instruction sequencing using the Program Counter (PC).</a:t>
            </a:r>
            <a:endParaRPr lang="en-US" sz="1450" dirty="0"/>
          </a:p>
        </p:txBody>
      </p:sp>
      <p:sp>
        <p:nvSpPr>
          <p:cNvPr id="16" name="Shape 14"/>
          <p:cNvSpPr/>
          <p:nvPr/>
        </p:nvSpPr>
        <p:spPr>
          <a:xfrm>
            <a:off x="548640" y="4453128"/>
            <a:ext cx="457200" cy="457200"/>
          </a:xfrm>
          <a:prstGeom prst="ellipse">
            <a:avLst/>
          </a:prstGeom>
          <a:solidFill>
            <a:srgbClr val="F2A93B"/>
          </a:solidFill>
          <a:ln/>
        </p:spPr>
      </p:sp>
      <p:sp>
        <p:nvSpPr>
          <p:cNvPr id="17" name="Text 15"/>
          <p:cNvSpPr/>
          <p:nvPr/>
        </p:nvSpPr>
        <p:spPr>
          <a:xfrm>
            <a:off x="548640" y="4453128"/>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407408"/>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Explain how branch instructions alter the normal flow of execution.</a:t>
            </a:r>
            <a:endParaRPr lang="en-US" sz="1450" dirty="0"/>
          </a:p>
        </p:txBody>
      </p:sp>
      <p:sp>
        <p:nvSpPr>
          <p:cNvPr id="19" name="Shape 17"/>
          <p:cNvSpPr/>
          <p:nvPr/>
        </p:nvSpPr>
        <p:spPr>
          <a:xfrm>
            <a:off x="548640" y="5166360"/>
            <a:ext cx="457200" cy="457200"/>
          </a:xfrm>
          <a:prstGeom prst="ellipse">
            <a:avLst/>
          </a:prstGeom>
          <a:solidFill>
            <a:srgbClr val="F2A93B"/>
          </a:solidFill>
          <a:ln/>
        </p:spPr>
      </p:sp>
      <p:sp>
        <p:nvSpPr>
          <p:cNvPr id="20" name="Text 18"/>
          <p:cNvSpPr/>
          <p:nvPr/>
        </p:nvSpPr>
        <p:spPr>
          <a:xfrm>
            <a:off x="548640" y="516636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34440" y="5120640"/>
            <a:ext cx="10271455" cy="548640"/>
          </a:xfrm>
          <a:prstGeom prst="rect">
            <a:avLst/>
          </a:prstGeom>
          <a:noFill/>
          <a:ln/>
        </p:spPr>
        <p:txBody>
          <a:bodyPr wrap="square" lIns="0" tIns="0" rIns="0" bIns="0" rtlCol="0" anchor="ctr"/>
          <a:lstStyle/>
          <a:p>
            <a:pPr marL="0" indent="0">
              <a:buNone/>
            </a:pPr>
            <a:r>
              <a:rPr lang="en-US" sz="1450" dirty="0">
                <a:solidFill>
                  <a:srgbClr val="212A4E"/>
                </a:solidFill>
                <a:latin typeface="Calibri" pitchFamily="34" charset="0"/>
                <a:ea typeface="Calibri" pitchFamily="34" charset="-122"/>
                <a:cs typeface="Calibri" pitchFamily="34" charset="-120"/>
              </a:rPr>
              <a:t>Compute effective memory addresses using common addressing modes.</a:t>
            </a:r>
            <a:endParaRPr lang="en-US" sz="1450" dirty="0"/>
          </a:p>
        </p:txBody>
      </p:sp>
      <p:sp>
        <p:nvSpPr>
          <p:cNvPr id="22" name="Text 2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3" name="Text 21"/>
          <p:cNvSpPr/>
          <p:nvPr/>
        </p:nvSpPr>
        <p:spPr>
          <a:xfrm>
            <a:off x="0" y="0"/>
            <a:ext cx="0" cy="0"/>
          </a:xfrm>
          <a:prstGeom prst="rect">
            <a:avLst/>
          </a:prstGeom>
          <a:noFill/>
          <a:ln/>
        </p:spPr>
        <p:txBody>
          <a:bodyPr wrap="square" rtlCol="0" anchor="ctr"/>
          <a:lstStyle/>
          <a:p>
            <a:pPr marL="0" indent="0">
              <a:buNone/>
            </a:pPr>
            <a:endParaRPr lang="en-US" dirty="0"/>
          </a:p>
        </p:txBody>
      </p:sp>
      <p:sp>
        <p:nvSpPr>
          <p:cNvPr id="24"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ICEBREAKER — LET'S WARM UP</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Before We Dive In…</a:t>
            </a:r>
            <a:endParaRPr lang="en-US" sz="3000" dirty="0"/>
          </a:p>
        </p:txBody>
      </p:sp>
      <p:sp>
        <p:nvSpPr>
          <p:cNvPr id="4" name="Shape 2"/>
          <p:cNvSpPr/>
          <p:nvPr/>
        </p:nvSpPr>
        <p:spPr>
          <a:xfrm>
            <a:off x="640080" y="1737360"/>
            <a:ext cx="502920" cy="502920"/>
          </a:xfrm>
          <a:prstGeom prst="ellipse">
            <a:avLst/>
          </a:prstGeom>
          <a:solidFill>
            <a:srgbClr val="F2A93B"/>
          </a:solidFill>
          <a:ln/>
        </p:spPr>
      </p:sp>
      <p:sp>
        <p:nvSpPr>
          <p:cNvPr id="5" name="Text 3"/>
          <p:cNvSpPr/>
          <p:nvPr/>
        </p:nvSpPr>
        <p:spPr>
          <a:xfrm>
            <a:off x="640080" y="1737360"/>
            <a:ext cx="502920" cy="50292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Q1</a:t>
            </a:r>
            <a:endParaRPr lang="en-US" sz="1500" dirty="0"/>
          </a:p>
        </p:txBody>
      </p:sp>
      <p:sp>
        <p:nvSpPr>
          <p:cNvPr id="6" name="Shape 4"/>
          <p:cNvSpPr/>
          <p:nvPr/>
        </p:nvSpPr>
        <p:spPr>
          <a:xfrm>
            <a:off x="1371600" y="1627632"/>
            <a:ext cx="10088575" cy="822960"/>
          </a:xfrm>
          <a:prstGeom prst="roundRect">
            <a:avLst>
              <a:gd name="adj" fmla="val 8889"/>
            </a:avLst>
          </a:prstGeom>
          <a:solidFill>
            <a:srgbClr val="141B45"/>
          </a:solidFill>
          <a:ln/>
        </p:spPr>
      </p:sp>
      <p:sp>
        <p:nvSpPr>
          <p:cNvPr id="7" name="Text 5"/>
          <p:cNvSpPr/>
          <p:nvPr/>
        </p:nvSpPr>
        <p:spPr>
          <a:xfrm>
            <a:off x="1600200" y="1627632"/>
            <a:ext cx="9631375" cy="8229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When you hear the word ‘instruction’, what comes to mind first?</a:t>
            </a:r>
            <a:endParaRPr lang="en-US" sz="1450" dirty="0"/>
          </a:p>
        </p:txBody>
      </p:sp>
      <p:sp>
        <p:nvSpPr>
          <p:cNvPr id="8" name="Shape 6"/>
          <p:cNvSpPr/>
          <p:nvPr/>
        </p:nvSpPr>
        <p:spPr>
          <a:xfrm>
            <a:off x="640080" y="2788920"/>
            <a:ext cx="502920" cy="502920"/>
          </a:xfrm>
          <a:prstGeom prst="ellipse">
            <a:avLst/>
          </a:prstGeom>
          <a:solidFill>
            <a:srgbClr val="F2A93B"/>
          </a:solidFill>
          <a:ln/>
        </p:spPr>
      </p:sp>
      <p:sp>
        <p:nvSpPr>
          <p:cNvPr id="9" name="Text 7"/>
          <p:cNvSpPr/>
          <p:nvPr/>
        </p:nvSpPr>
        <p:spPr>
          <a:xfrm>
            <a:off x="640080" y="2788920"/>
            <a:ext cx="502920" cy="50292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Q2</a:t>
            </a:r>
            <a:endParaRPr lang="en-US" sz="1500" dirty="0"/>
          </a:p>
        </p:txBody>
      </p:sp>
      <p:sp>
        <p:nvSpPr>
          <p:cNvPr id="10" name="Shape 8"/>
          <p:cNvSpPr/>
          <p:nvPr/>
        </p:nvSpPr>
        <p:spPr>
          <a:xfrm>
            <a:off x="1371600" y="2679192"/>
            <a:ext cx="10088575" cy="822960"/>
          </a:xfrm>
          <a:prstGeom prst="roundRect">
            <a:avLst>
              <a:gd name="adj" fmla="val 8889"/>
            </a:avLst>
          </a:prstGeom>
          <a:solidFill>
            <a:srgbClr val="141B45"/>
          </a:solidFill>
          <a:ln/>
        </p:spPr>
      </p:sp>
      <p:sp>
        <p:nvSpPr>
          <p:cNvPr id="11" name="Text 9"/>
          <p:cNvSpPr/>
          <p:nvPr/>
        </p:nvSpPr>
        <p:spPr>
          <a:xfrm>
            <a:off x="1600200" y="2679192"/>
            <a:ext cx="9631375" cy="8229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Have you ever wondered what actually happens inside a CPU when you run a line of Python code?</a:t>
            </a:r>
            <a:endParaRPr lang="en-US" sz="1450" dirty="0"/>
          </a:p>
        </p:txBody>
      </p:sp>
      <p:sp>
        <p:nvSpPr>
          <p:cNvPr id="12" name="Shape 10"/>
          <p:cNvSpPr/>
          <p:nvPr/>
        </p:nvSpPr>
        <p:spPr>
          <a:xfrm>
            <a:off x="640080" y="3840480"/>
            <a:ext cx="502920" cy="502920"/>
          </a:xfrm>
          <a:prstGeom prst="ellipse">
            <a:avLst/>
          </a:prstGeom>
          <a:solidFill>
            <a:srgbClr val="F2A93B"/>
          </a:solidFill>
          <a:ln/>
        </p:spPr>
      </p:sp>
      <p:sp>
        <p:nvSpPr>
          <p:cNvPr id="13" name="Text 11"/>
          <p:cNvSpPr/>
          <p:nvPr/>
        </p:nvSpPr>
        <p:spPr>
          <a:xfrm>
            <a:off x="640080" y="3840480"/>
            <a:ext cx="502920" cy="50292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Q3</a:t>
            </a:r>
            <a:endParaRPr lang="en-US" sz="1500" dirty="0"/>
          </a:p>
        </p:txBody>
      </p:sp>
      <p:sp>
        <p:nvSpPr>
          <p:cNvPr id="14" name="Shape 12"/>
          <p:cNvSpPr/>
          <p:nvPr/>
        </p:nvSpPr>
        <p:spPr>
          <a:xfrm>
            <a:off x="1371600" y="3730752"/>
            <a:ext cx="10088575" cy="822960"/>
          </a:xfrm>
          <a:prstGeom prst="roundRect">
            <a:avLst>
              <a:gd name="adj" fmla="val 8889"/>
            </a:avLst>
          </a:prstGeom>
          <a:solidFill>
            <a:srgbClr val="141B45"/>
          </a:solidFill>
          <a:ln/>
        </p:spPr>
      </p:sp>
      <p:sp>
        <p:nvSpPr>
          <p:cNvPr id="15" name="Text 13"/>
          <p:cNvSpPr/>
          <p:nvPr/>
        </p:nvSpPr>
        <p:spPr>
          <a:xfrm>
            <a:off x="1600200" y="3730752"/>
            <a:ext cx="9631375" cy="82296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Quick poll: which sounds faster to you — a CPU with a few simple instructions, or one with many powerful complex ones? (No wrong answers!)</a:t>
            </a:r>
            <a:endParaRPr lang="en-US" sz="145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Should You Care How Instructions Work?</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Every app, game, and AI model you build eventually becomes a stream of machine instructions — understanding this stream demystifies performance.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Compiler design, embedded systems, robotics firmware, and GPU programming all depend on knowing how instructions are fetched and sequenced.</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Interview questions on CPU pipelines, branch prediction, and RISC-V/ARM architectures assume this foundation.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As AI &amp; Robotics engineers, you will deploy models on edge devices (RISC-based microcontrollers) — this is not just theory, it is your toolkit.</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Photo collage: a smartphone chip, a robotics microcontroller board, and a line of assembly code side by side, captioned ‘One Language Underneath It All.’</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Is a Machine Instruction?</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 machine instruction is a binary-encoded command that tells the CPU to perform one basic operation.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Examples of basic operations: add two numbers, move data between registers, compare values, or jump to another instruction.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Instructions live in main memory and are fetched one at a time by the CPU's control unit.</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 program is simply an ordered sequence of such instructions — our job today is to understand that sequence.</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Simple diagram: a punch-card-like binary string 10110100 01100010 with an arrow pointing to a plain-English label ‘ADD R1, R2’, showing binary vs. human-readable form.</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Anatomy of an Instruction</a:t>
            </a:r>
            <a:endParaRPr lang="en-US" sz="3000" dirty="0"/>
          </a:p>
        </p:txBody>
      </p:sp>
      <p:sp>
        <p:nvSpPr>
          <p:cNvPr id="4" name="Shape 2"/>
          <p:cNvSpPr/>
          <p:nvPr/>
        </p:nvSpPr>
        <p:spPr>
          <a:xfrm>
            <a:off x="700888" y="2011680"/>
            <a:ext cx="3291840" cy="1188720"/>
          </a:xfrm>
          <a:prstGeom prst="roundRect">
            <a:avLst>
              <a:gd name="adj" fmla="val 7692"/>
            </a:avLst>
          </a:prstGeom>
          <a:solidFill>
            <a:srgbClr val="1E2761"/>
          </a:solidFill>
          <a:ln w="12700">
            <a:solidFill>
              <a:srgbClr val="CADCFC"/>
            </a:solidFill>
            <a:prstDash val="solid"/>
          </a:ln>
        </p:spPr>
      </p:sp>
      <p:sp>
        <p:nvSpPr>
          <p:cNvPr id="5" name="Text 3"/>
          <p:cNvSpPr/>
          <p:nvPr/>
        </p:nvSpPr>
        <p:spPr>
          <a:xfrm>
            <a:off x="700888" y="2121408"/>
            <a:ext cx="329184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Opcode</a:t>
            </a:r>
            <a:endParaRPr lang="en-US" sz="1400" dirty="0"/>
          </a:p>
        </p:txBody>
      </p:sp>
      <p:sp>
        <p:nvSpPr>
          <p:cNvPr id="6" name="Text 4"/>
          <p:cNvSpPr/>
          <p:nvPr/>
        </p:nvSpPr>
        <p:spPr>
          <a:xfrm>
            <a:off x="838048" y="2468880"/>
            <a:ext cx="3017520" cy="640080"/>
          </a:xfrm>
          <a:prstGeom prst="rect">
            <a:avLst/>
          </a:prstGeom>
          <a:noFill/>
          <a:ln/>
        </p:spPr>
        <p:txBody>
          <a:bodyPr wrap="square" lIns="0" tIns="0" rIns="0" bIns="0"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What to do</a:t>
            </a:r>
            <a:endParaRPr lang="en-US" sz="1150" dirty="0"/>
          </a:p>
          <a:p>
            <a:pPr marL="0" indent="0" algn="ctr">
              <a:buNone/>
            </a:pPr>
            <a:r>
              <a:rPr lang="en-US" sz="1150" dirty="0">
                <a:solidFill>
                  <a:srgbClr val="CADCFC"/>
                </a:solidFill>
                <a:latin typeface="Calibri" pitchFamily="34" charset="0"/>
                <a:ea typeface="Calibri" pitchFamily="34" charset="-122"/>
                <a:cs typeface="Calibri" pitchFamily="34" charset="-120"/>
              </a:rPr>
              <a:t>(e.g., ADD, MOV, JMP)</a:t>
            </a:r>
            <a:endParaRPr lang="en-US" sz="1150" dirty="0"/>
          </a:p>
        </p:txBody>
      </p:sp>
      <p:sp>
        <p:nvSpPr>
          <p:cNvPr id="7" name="Text 5"/>
          <p:cNvSpPr/>
          <p:nvPr/>
        </p:nvSpPr>
        <p:spPr>
          <a:xfrm>
            <a:off x="3992728" y="2377440"/>
            <a:ext cx="457200" cy="45720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4449928" y="2011680"/>
            <a:ext cx="3291840" cy="1188720"/>
          </a:xfrm>
          <a:prstGeom prst="roundRect">
            <a:avLst>
              <a:gd name="adj" fmla="val 7692"/>
            </a:avLst>
          </a:prstGeom>
          <a:solidFill>
            <a:srgbClr val="E9F0FC"/>
          </a:solidFill>
          <a:ln w="12700">
            <a:solidFill>
              <a:srgbClr val="CADCFC"/>
            </a:solidFill>
            <a:prstDash val="solid"/>
          </a:ln>
        </p:spPr>
      </p:sp>
      <p:sp>
        <p:nvSpPr>
          <p:cNvPr id="9" name="Text 7"/>
          <p:cNvSpPr/>
          <p:nvPr/>
        </p:nvSpPr>
        <p:spPr>
          <a:xfrm>
            <a:off x="4449928" y="2121408"/>
            <a:ext cx="329184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Source Operand(s)</a:t>
            </a:r>
            <a:endParaRPr lang="en-US" sz="1400" dirty="0"/>
          </a:p>
        </p:txBody>
      </p:sp>
      <p:sp>
        <p:nvSpPr>
          <p:cNvPr id="10" name="Text 8"/>
          <p:cNvSpPr/>
          <p:nvPr/>
        </p:nvSpPr>
        <p:spPr>
          <a:xfrm>
            <a:off x="4587088" y="2468880"/>
            <a:ext cx="3017520" cy="640080"/>
          </a:xfrm>
          <a:prstGeom prst="rect">
            <a:avLst/>
          </a:prstGeom>
          <a:noFill/>
          <a:ln/>
        </p:spPr>
        <p:txBody>
          <a:bodyPr wrap="square" lIns="0" tIns="0" rIns="0" bIns="0" rtlCol="0" anchor="ctr"/>
          <a:lstStyle/>
          <a:p>
            <a:pPr marL="0" indent="0" algn="ctr">
              <a:buNone/>
            </a:pPr>
            <a:r>
              <a:rPr lang="en-US" sz="1150" dirty="0">
                <a:solidFill>
                  <a:srgbClr val="5B6690"/>
                </a:solidFill>
                <a:latin typeface="Calibri" pitchFamily="34" charset="0"/>
                <a:ea typeface="Calibri" pitchFamily="34" charset="-122"/>
                <a:cs typeface="Calibri" pitchFamily="34" charset="-120"/>
              </a:rPr>
              <a:t>Where the data</a:t>
            </a:r>
            <a:endParaRPr lang="en-US" sz="1150" dirty="0"/>
          </a:p>
          <a:p>
            <a:pPr marL="0" indent="0" algn="ctr">
              <a:buNone/>
            </a:pPr>
            <a:r>
              <a:rPr lang="en-US" sz="1150" dirty="0">
                <a:solidFill>
                  <a:srgbClr val="5B6690"/>
                </a:solidFill>
                <a:latin typeface="Calibri" pitchFamily="34" charset="0"/>
                <a:ea typeface="Calibri" pitchFamily="34" charset="-122"/>
                <a:cs typeface="Calibri" pitchFamily="34" charset="-120"/>
              </a:rPr>
              <a:t>comes from</a:t>
            </a:r>
            <a:endParaRPr lang="en-US" sz="1150" dirty="0"/>
          </a:p>
        </p:txBody>
      </p:sp>
      <p:sp>
        <p:nvSpPr>
          <p:cNvPr id="11" name="Text 9"/>
          <p:cNvSpPr/>
          <p:nvPr/>
        </p:nvSpPr>
        <p:spPr>
          <a:xfrm>
            <a:off x="7741768" y="2377440"/>
            <a:ext cx="457200" cy="45720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8198968" y="2011680"/>
            <a:ext cx="3291840" cy="1188720"/>
          </a:xfrm>
          <a:prstGeom prst="roundRect">
            <a:avLst>
              <a:gd name="adj" fmla="val 7692"/>
            </a:avLst>
          </a:prstGeom>
          <a:solidFill>
            <a:srgbClr val="E9F0FC"/>
          </a:solidFill>
          <a:ln w="12700">
            <a:solidFill>
              <a:srgbClr val="CADCFC"/>
            </a:solidFill>
            <a:prstDash val="solid"/>
          </a:ln>
        </p:spPr>
      </p:sp>
      <p:sp>
        <p:nvSpPr>
          <p:cNvPr id="13" name="Text 11"/>
          <p:cNvSpPr/>
          <p:nvPr/>
        </p:nvSpPr>
        <p:spPr>
          <a:xfrm>
            <a:off x="8198968" y="2121408"/>
            <a:ext cx="329184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Destination Operand</a:t>
            </a:r>
            <a:endParaRPr lang="en-US" sz="1400" dirty="0"/>
          </a:p>
        </p:txBody>
      </p:sp>
      <p:sp>
        <p:nvSpPr>
          <p:cNvPr id="14" name="Text 12"/>
          <p:cNvSpPr/>
          <p:nvPr/>
        </p:nvSpPr>
        <p:spPr>
          <a:xfrm>
            <a:off x="8336128" y="2468880"/>
            <a:ext cx="3017520" cy="640080"/>
          </a:xfrm>
          <a:prstGeom prst="rect">
            <a:avLst/>
          </a:prstGeom>
          <a:noFill/>
          <a:ln/>
        </p:spPr>
        <p:txBody>
          <a:bodyPr wrap="square" lIns="0" tIns="0" rIns="0" bIns="0" rtlCol="0" anchor="ctr"/>
          <a:lstStyle/>
          <a:p>
            <a:pPr marL="0" indent="0" algn="ctr">
              <a:buNone/>
            </a:pPr>
            <a:r>
              <a:rPr lang="en-US" sz="1150" dirty="0">
                <a:solidFill>
                  <a:srgbClr val="5B6690"/>
                </a:solidFill>
                <a:latin typeface="Calibri" pitchFamily="34" charset="0"/>
                <a:ea typeface="Calibri" pitchFamily="34" charset="-122"/>
                <a:cs typeface="Calibri" pitchFamily="34" charset="-120"/>
              </a:rPr>
              <a:t>Where the result</a:t>
            </a:r>
            <a:endParaRPr lang="en-US" sz="1150" dirty="0"/>
          </a:p>
          <a:p>
            <a:pPr marL="0" indent="0" algn="ctr">
              <a:buNone/>
            </a:pPr>
            <a:r>
              <a:rPr lang="en-US" sz="1150" dirty="0">
                <a:solidFill>
                  <a:srgbClr val="5B6690"/>
                </a:solidFill>
                <a:latin typeface="Calibri" pitchFamily="34" charset="0"/>
                <a:ea typeface="Calibri" pitchFamily="34" charset="-122"/>
                <a:cs typeface="Calibri" pitchFamily="34" charset="-120"/>
              </a:rPr>
              <a:t>is stored</a:t>
            </a:r>
            <a:endParaRPr lang="en-US" sz="1150" dirty="0"/>
          </a:p>
        </p:txBody>
      </p:sp>
      <p:sp>
        <p:nvSpPr>
          <p:cNvPr id="15" name="Text 13"/>
          <p:cNvSpPr/>
          <p:nvPr/>
        </p:nvSpPr>
        <p:spPr>
          <a:xfrm>
            <a:off x="700888" y="3566160"/>
            <a:ext cx="1078992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ourier New" pitchFamily="34" charset="0"/>
                <a:ea typeface="Courier New" pitchFamily="34" charset="-122"/>
                <a:cs typeface="Courier New" pitchFamily="34" charset="-120"/>
              </a:rPr>
              <a:t>Example:  ADD  R1, R2, R3    →    R1 ← R2 + R3</a:t>
            </a:r>
            <a:endParaRPr lang="en-US" sz="1600" dirty="0"/>
          </a:p>
        </p:txBody>
      </p:sp>
      <p:sp>
        <p:nvSpPr>
          <p:cNvPr id="16" name="Text 14"/>
          <p:cNvSpPr/>
          <p:nvPr/>
        </p:nvSpPr>
        <p:spPr>
          <a:xfrm>
            <a:off x="548640" y="4160520"/>
            <a:ext cx="11094415" cy="12801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Opcode = the operation code, identifying which action the CPU performs.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Operands identify the registers, memory locations, or constants involved.</a:t>
            </a:r>
            <a:endParaRPr lang="en-US" sz="1500" dirty="0"/>
          </a:p>
        </p:txBody>
      </p:sp>
      <p:sp>
        <p:nvSpPr>
          <p:cNvPr id="17" name="Shape 15"/>
          <p:cNvSpPr/>
          <p:nvPr/>
        </p:nvSpPr>
        <p:spPr>
          <a:xfrm>
            <a:off x="548640" y="5806440"/>
            <a:ext cx="11094415" cy="658368"/>
          </a:xfrm>
          <a:prstGeom prst="roundRect">
            <a:avLst>
              <a:gd name="adj" fmla="val 11111"/>
            </a:avLst>
          </a:prstGeom>
          <a:solidFill>
            <a:srgbClr val="E9F0FC"/>
          </a:solidFill>
          <a:ln w="12700">
            <a:solidFill>
              <a:srgbClr val="CADCFC"/>
            </a:solidFill>
            <a:prstDash val="solid"/>
          </a:ln>
        </p:spPr>
      </p:sp>
      <p:sp>
        <p:nvSpPr>
          <p:cNvPr id="18" name="Text 16"/>
          <p:cNvSpPr/>
          <p:nvPr/>
        </p:nvSpPr>
        <p:spPr>
          <a:xfrm>
            <a:off x="731520" y="580644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Animate the three boxes appearing left-to-right, then reveal the worked example below with a wipe animation.</a:t>
            </a:r>
            <a:endParaRPr lang="en-US" sz="105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Instruction Cycle: Fetch → Decode → Execute</a:t>
            </a:r>
            <a:endParaRPr lang="en-US" sz="3000" dirty="0"/>
          </a:p>
        </p:txBody>
      </p:sp>
      <p:sp>
        <p:nvSpPr>
          <p:cNvPr id="4" name="Shape 2"/>
          <p:cNvSpPr/>
          <p:nvPr/>
        </p:nvSpPr>
        <p:spPr>
          <a:xfrm>
            <a:off x="754380" y="1760220"/>
            <a:ext cx="1417320" cy="1417320"/>
          </a:xfrm>
          <a:prstGeom prst="ellipse">
            <a:avLst/>
          </a:prstGeom>
          <a:solidFill>
            <a:srgbClr val="1E2761"/>
          </a:solidFill>
          <a:ln/>
        </p:spPr>
      </p:sp>
      <p:sp>
        <p:nvSpPr>
          <p:cNvPr id="5" name="Text 3"/>
          <p:cNvSpPr/>
          <p:nvPr/>
        </p:nvSpPr>
        <p:spPr>
          <a:xfrm>
            <a:off x="754380" y="1897380"/>
            <a:ext cx="1417320" cy="41148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754380" y="2263140"/>
            <a:ext cx="14173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FETCH</a:t>
            </a:r>
            <a:endParaRPr lang="en-US" sz="1500" dirty="0"/>
          </a:p>
        </p:txBody>
      </p:sp>
      <p:sp>
        <p:nvSpPr>
          <p:cNvPr id="7" name="Text 5"/>
          <p:cNvSpPr/>
          <p:nvPr/>
        </p:nvSpPr>
        <p:spPr>
          <a:xfrm>
            <a:off x="45720" y="3314700"/>
            <a:ext cx="2834640" cy="914400"/>
          </a:xfrm>
          <a:prstGeom prst="rect">
            <a:avLst/>
          </a:prstGeom>
          <a:noFill/>
          <a:ln/>
        </p:spPr>
        <p:txBody>
          <a:bodyPr wrap="square" lIns="0" tIns="0" rIns="0" bIns="0" rtlCol="0" anchor="ctr"/>
          <a:lstStyle/>
          <a:p>
            <a:pPr marL="0" indent="0" algn="ctr">
              <a:buNone/>
            </a:pPr>
            <a:r>
              <a:rPr lang="en-US" sz="1100" dirty="0">
                <a:solidFill>
                  <a:srgbClr val="5B6690"/>
                </a:solidFill>
                <a:latin typeface="Calibri" pitchFamily="34" charset="0"/>
                <a:ea typeface="Calibri" pitchFamily="34" charset="-122"/>
                <a:cs typeface="Calibri" pitchFamily="34" charset="-120"/>
              </a:rPr>
              <a:t>Get the instruction from memory using the Program Counter (PC)</a:t>
            </a:r>
            <a:endParaRPr lang="en-US" sz="1100" dirty="0"/>
          </a:p>
        </p:txBody>
      </p:sp>
      <p:sp>
        <p:nvSpPr>
          <p:cNvPr id="8" name="Text 6"/>
          <p:cNvSpPr/>
          <p:nvPr/>
        </p:nvSpPr>
        <p:spPr>
          <a:xfrm>
            <a:off x="2171700" y="2148840"/>
            <a:ext cx="2514600" cy="640080"/>
          </a:xfrm>
          <a:prstGeom prst="rect">
            <a:avLst/>
          </a:prstGeom>
          <a:noFill/>
          <a:ln/>
        </p:spPr>
        <p:txBody>
          <a:bodyPr wrap="square" lIns="0" tIns="0" rIns="0" bIns="0" rtlCol="0" anchor="ctr"/>
          <a:lstStyle/>
          <a:p>
            <a:pPr marL="0" indent="0" algn="ctr">
              <a:buNone/>
            </a:pPr>
            <a:r>
              <a:rPr lang="en-US" sz="3000" b="1" dirty="0">
                <a:solidFill>
                  <a:srgbClr val="F2A93B"/>
                </a:solidFill>
                <a:latin typeface="Calibri" pitchFamily="34" charset="0"/>
                <a:ea typeface="Calibri" pitchFamily="34" charset="-122"/>
                <a:cs typeface="Calibri" pitchFamily="34" charset="-120"/>
              </a:rPr>
              <a:t>→</a:t>
            </a:r>
            <a:endParaRPr lang="en-US" sz="3000" dirty="0"/>
          </a:p>
        </p:txBody>
      </p:sp>
      <p:sp>
        <p:nvSpPr>
          <p:cNvPr id="9" name="Shape 7"/>
          <p:cNvSpPr/>
          <p:nvPr/>
        </p:nvSpPr>
        <p:spPr>
          <a:xfrm>
            <a:off x="4686300" y="1760220"/>
            <a:ext cx="1417320" cy="1417320"/>
          </a:xfrm>
          <a:prstGeom prst="ellipse">
            <a:avLst/>
          </a:prstGeom>
          <a:solidFill>
            <a:srgbClr val="1E2761"/>
          </a:solidFill>
          <a:ln/>
        </p:spPr>
      </p:sp>
      <p:sp>
        <p:nvSpPr>
          <p:cNvPr id="10" name="Text 8"/>
          <p:cNvSpPr/>
          <p:nvPr/>
        </p:nvSpPr>
        <p:spPr>
          <a:xfrm>
            <a:off x="4686300" y="1897380"/>
            <a:ext cx="1417320" cy="411480"/>
          </a:xfrm>
          <a:prstGeom prst="rect">
            <a:avLst/>
          </a:prstGeom>
          <a:noFill/>
          <a:ln/>
        </p:spPr>
        <p:txBody>
          <a:bodyPr wrap="square" lIns="0" tIns="0" rIns="0" bIns="0" rtlCol="0" anchor="ctr"/>
          <a:lstStyle/>
          <a:p>
            <a:pPr marL="0" indent="0" algn="ctr">
              <a:buNone/>
            </a:pPr>
            <a:r>
              <a:rPr lang="en-US" sz="2000" b="1" dirty="0">
                <a:solidFill>
                  <a:srgbClr val="F2A93B"/>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4686300" y="2263140"/>
            <a:ext cx="14173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DECODE</a:t>
            </a:r>
            <a:endParaRPr lang="en-US" sz="1500" dirty="0"/>
          </a:p>
        </p:txBody>
      </p:sp>
      <p:sp>
        <p:nvSpPr>
          <p:cNvPr id="12" name="Text 10"/>
          <p:cNvSpPr/>
          <p:nvPr/>
        </p:nvSpPr>
        <p:spPr>
          <a:xfrm>
            <a:off x="3977640" y="3314700"/>
            <a:ext cx="2834640" cy="914400"/>
          </a:xfrm>
          <a:prstGeom prst="rect">
            <a:avLst/>
          </a:prstGeom>
          <a:noFill/>
          <a:ln/>
        </p:spPr>
        <p:txBody>
          <a:bodyPr wrap="square" lIns="0" tIns="0" rIns="0" bIns="0" rtlCol="0" anchor="ctr"/>
          <a:lstStyle/>
          <a:p>
            <a:pPr marL="0" indent="0" algn="ctr">
              <a:buNone/>
            </a:pPr>
            <a:r>
              <a:rPr lang="en-US" sz="1100" dirty="0">
                <a:solidFill>
                  <a:srgbClr val="5B6690"/>
                </a:solidFill>
                <a:latin typeface="Calibri" pitchFamily="34" charset="0"/>
                <a:ea typeface="Calibri" pitchFamily="34" charset="-122"/>
                <a:cs typeface="Calibri" pitchFamily="34" charset="-120"/>
              </a:rPr>
              <a:t>Control unit interprets the opcode and operands</a:t>
            </a:r>
            <a:endParaRPr lang="en-US" sz="1100" dirty="0"/>
          </a:p>
        </p:txBody>
      </p:sp>
      <p:sp>
        <p:nvSpPr>
          <p:cNvPr id="13" name="Text 11"/>
          <p:cNvSpPr/>
          <p:nvPr/>
        </p:nvSpPr>
        <p:spPr>
          <a:xfrm>
            <a:off x="6103620" y="2148840"/>
            <a:ext cx="2514600" cy="640080"/>
          </a:xfrm>
          <a:prstGeom prst="rect">
            <a:avLst/>
          </a:prstGeom>
          <a:noFill/>
          <a:ln/>
        </p:spPr>
        <p:txBody>
          <a:bodyPr wrap="square" lIns="0" tIns="0" rIns="0" bIns="0" rtlCol="0" anchor="ctr"/>
          <a:lstStyle/>
          <a:p>
            <a:pPr marL="0" indent="0" algn="ctr">
              <a:buNone/>
            </a:pPr>
            <a:r>
              <a:rPr lang="en-US" sz="3000" b="1" dirty="0">
                <a:solidFill>
                  <a:srgbClr val="F2A93B"/>
                </a:solidFill>
                <a:latin typeface="Calibri" pitchFamily="34" charset="0"/>
                <a:ea typeface="Calibri" pitchFamily="34" charset="-122"/>
                <a:cs typeface="Calibri" pitchFamily="34" charset="-120"/>
              </a:rPr>
              <a:t>→</a:t>
            </a:r>
            <a:endParaRPr lang="en-US" sz="3000" dirty="0"/>
          </a:p>
        </p:txBody>
      </p:sp>
      <p:sp>
        <p:nvSpPr>
          <p:cNvPr id="14" name="Shape 12"/>
          <p:cNvSpPr/>
          <p:nvPr/>
        </p:nvSpPr>
        <p:spPr>
          <a:xfrm>
            <a:off x="8618220" y="1760220"/>
            <a:ext cx="1417320" cy="1417320"/>
          </a:xfrm>
          <a:prstGeom prst="ellipse">
            <a:avLst/>
          </a:prstGeom>
          <a:solidFill>
            <a:srgbClr val="F2A93B"/>
          </a:solidFill>
          <a:ln/>
        </p:spPr>
      </p:sp>
      <p:sp>
        <p:nvSpPr>
          <p:cNvPr id="15" name="Text 13"/>
          <p:cNvSpPr/>
          <p:nvPr/>
        </p:nvSpPr>
        <p:spPr>
          <a:xfrm>
            <a:off x="8618220" y="1897380"/>
            <a:ext cx="1417320" cy="41148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8618220" y="2263140"/>
            <a:ext cx="1417320"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EXECUTE</a:t>
            </a:r>
            <a:endParaRPr lang="en-US" sz="1500" dirty="0"/>
          </a:p>
        </p:txBody>
      </p:sp>
      <p:sp>
        <p:nvSpPr>
          <p:cNvPr id="17" name="Text 15"/>
          <p:cNvSpPr/>
          <p:nvPr/>
        </p:nvSpPr>
        <p:spPr>
          <a:xfrm>
            <a:off x="7909560" y="3314700"/>
            <a:ext cx="2834640" cy="914400"/>
          </a:xfrm>
          <a:prstGeom prst="rect">
            <a:avLst/>
          </a:prstGeom>
          <a:noFill/>
          <a:ln/>
        </p:spPr>
        <p:txBody>
          <a:bodyPr wrap="square" lIns="0" tIns="0" rIns="0" bIns="0" rtlCol="0" anchor="ctr"/>
          <a:lstStyle/>
          <a:p>
            <a:pPr marL="0" indent="0" algn="ctr">
              <a:buNone/>
            </a:pPr>
            <a:r>
              <a:rPr lang="en-US" sz="1100" dirty="0">
                <a:solidFill>
                  <a:srgbClr val="5B6690"/>
                </a:solidFill>
                <a:latin typeface="Calibri" pitchFamily="34" charset="0"/>
                <a:ea typeface="Calibri" pitchFamily="34" charset="-122"/>
                <a:cs typeface="Calibri" pitchFamily="34" charset="-120"/>
              </a:rPr>
              <a:t>ALU or control unit performs the operation</a:t>
            </a:r>
            <a:endParaRPr lang="en-US" sz="1100" dirty="0"/>
          </a:p>
        </p:txBody>
      </p:sp>
      <p:sp>
        <p:nvSpPr>
          <p:cNvPr id="18" name="Text 16"/>
          <p:cNvSpPr/>
          <p:nvPr/>
        </p:nvSpPr>
        <p:spPr>
          <a:xfrm>
            <a:off x="731520" y="5120640"/>
            <a:ext cx="10728655" cy="457200"/>
          </a:xfrm>
          <a:prstGeom prst="rect">
            <a:avLst/>
          </a:prstGeom>
          <a:noFill/>
          <a:ln/>
        </p:spPr>
        <p:txBody>
          <a:bodyPr wrap="square" lIns="0" tIns="0" rIns="0" bIns="0" rtlCol="0" anchor="ctr"/>
          <a:lstStyle/>
          <a:p>
            <a:pPr marL="0" indent="0" algn="ctr">
              <a:buNone/>
            </a:pPr>
            <a:r>
              <a:rPr lang="en-US" sz="1250" i="1" dirty="0">
                <a:solidFill>
                  <a:srgbClr val="1E2761"/>
                </a:solidFill>
                <a:latin typeface="Calibri" pitchFamily="34" charset="0"/>
                <a:ea typeface="Calibri" pitchFamily="34" charset="-122"/>
                <a:cs typeface="Calibri" pitchFamily="34" charset="-120"/>
              </a:rPr>
              <a:t>This cycle repeats continuously — and then loops back to Fetch — for every single instruction in a program.</a:t>
            </a:r>
            <a:endParaRPr lang="en-US" sz="125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REGISTER TRANSFER NOTATION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Register Transfer Notation (RTN) — Introduction</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RTN is a symbolic shorthand used to precisely describe data movement between registers and memory.</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It expresses ‘what moves where’ without worrying about binary encoding — a bridge between hardware behaviour and human understanding.</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General form:  Destination ← Source   (read as ‘destination gets the value of source’).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Square brackets [ ] denote memory contents; plain register names denote register contents.</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left-pointing arrow (←) in a colored circle. Diagram: two register boxes with an animated arrow flowing from one to the other labelled R1 ← R2.</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REGISTER TRANSFER NOTATION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RTN — Notation Rules &amp; Worked Examples</a:t>
            </a:r>
            <a:endParaRPr lang="en-US" sz="3000" dirty="0"/>
          </a:p>
        </p:txBody>
      </p:sp>
      <p:sp>
        <p:nvSpPr>
          <p:cNvPr id="4" name="Shape 2"/>
          <p:cNvSpPr/>
          <p:nvPr/>
        </p:nvSpPr>
        <p:spPr>
          <a:xfrm>
            <a:off x="548640" y="1691640"/>
            <a:ext cx="11094415" cy="603504"/>
          </a:xfrm>
          <a:prstGeom prst="roundRect">
            <a:avLst>
              <a:gd name="adj" fmla="val 9091"/>
            </a:avLst>
          </a:prstGeom>
          <a:solidFill>
            <a:srgbClr val="E9F0FC"/>
          </a:solidFill>
          <a:ln/>
        </p:spPr>
      </p:sp>
      <p:sp>
        <p:nvSpPr>
          <p:cNvPr id="5" name="Text 3"/>
          <p:cNvSpPr/>
          <p:nvPr/>
        </p:nvSpPr>
        <p:spPr>
          <a:xfrm>
            <a:off x="777240" y="1691640"/>
            <a:ext cx="3017520" cy="603504"/>
          </a:xfrm>
          <a:prstGeom prst="rect">
            <a:avLst/>
          </a:prstGeom>
          <a:noFill/>
          <a:ln/>
        </p:spPr>
        <p:txBody>
          <a:bodyPr wrap="square" lIns="0" tIns="0" rIns="0" bIns="0" rtlCol="0" anchor="ctr"/>
          <a:lstStyle/>
          <a:p>
            <a:pPr marL="0" indent="0">
              <a:buNone/>
            </a:pPr>
            <a:r>
              <a:rPr lang="en-US" sz="1400" b="1" dirty="0">
                <a:solidFill>
                  <a:srgbClr val="1E2761"/>
                </a:solidFill>
                <a:latin typeface="Courier New" pitchFamily="34" charset="0"/>
                <a:ea typeface="Courier New" pitchFamily="34" charset="-122"/>
                <a:cs typeface="Courier New" pitchFamily="34" charset="-120"/>
              </a:rPr>
              <a:t>R1 ← R2</a:t>
            </a:r>
            <a:endParaRPr lang="en-US" sz="1400" dirty="0"/>
          </a:p>
        </p:txBody>
      </p:sp>
      <p:sp>
        <p:nvSpPr>
          <p:cNvPr id="6" name="Text 4"/>
          <p:cNvSpPr/>
          <p:nvPr/>
        </p:nvSpPr>
        <p:spPr>
          <a:xfrm>
            <a:off x="3931920" y="1691640"/>
            <a:ext cx="7498080" cy="603504"/>
          </a:xfrm>
          <a:prstGeom prst="rect">
            <a:avLst/>
          </a:prstGeom>
          <a:noFill/>
          <a:ln/>
        </p:spPr>
        <p:txBody>
          <a:bodyPr wrap="square" lIns="0" tIns="0" rIns="0" bIns="0" rtlCol="0" anchor="ctr"/>
          <a:lstStyle/>
          <a:p>
            <a:pPr marL="0" indent="0">
              <a:buNone/>
            </a:pPr>
            <a:r>
              <a:rPr lang="en-US" sz="1250" dirty="0">
                <a:solidFill>
                  <a:srgbClr val="212A4E"/>
                </a:solidFill>
                <a:latin typeface="Calibri" pitchFamily="34" charset="0"/>
                <a:ea typeface="Calibri" pitchFamily="34" charset="-122"/>
                <a:cs typeface="Calibri" pitchFamily="34" charset="-120"/>
              </a:rPr>
              <a:t>Copy the contents of register R2 into register R1</a:t>
            </a:r>
            <a:endParaRPr lang="en-US" sz="1250" dirty="0"/>
          </a:p>
        </p:txBody>
      </p:sp>
      <p:sp>
        <p:nvSpPr>
          <p:cNvPr id="7" name="Shape 5"/>
          <p:cNvSpPr/>
          <p:nvPr/>
        </p:nvSpPr>
        <p:spPr>
          <a:xfrm>
            <a:off x="548640" y="2350008"/>
            <a:ext cx="11094415" cy="603504"/>
          </a:xfrm>
          <a:prstGeom prst="roundRect">
            <a:avLst>
              <a:gd name="adj" fmla="val 9091"/>
            </a:avLst>
          </a:prstGeom>
          <a:solidFill>
            <a:srgbClr val="FFFFFF"/>
          </a:solidFill>
          <a:ln/>
        </p:spPr>
      </p:sp>
      <p:sp>
        <p:nvSpPr>
          <p:cNvPr id="8" name="Text 6"/>
          <p:cNvSpPr/>
          <p:nvPr/>
        </p:nvSpPr>
        <p:spPr>
          <a:xfrm>
            <a:off x="777240" y="2350008"/>
            <a:ext cx="3017520" cy="603504"/>
          </a:xfrm>
          <a:prstGeom prst="rect">
            <a:avLst/>
          </a:prstGeom>
          <a:noFill/>
          <a:ln/>
        </p:spPr>
        <p:txBody>
          <a:bodyPr wrap="square" lIns="0" tIns="0" rIns="0" bIns="0" rtlCol="0" anchor="ctr"/>
          <a:lstStyle/>
          <a:p>
            <a:pPr marL="0" indent="0">
              <a:buNone/>
            </a:pPr>
            <a:r>
              <a:rPr lang="en-US" sz="1400" b="1" dirty="0">
                <a:solidFill>
                  <a:srgbClr val="1E2761"/>
                </a:solidFill>
                <a:latin typeface="Courier New" pitchFamily="34" charset="0"/>
                <a:ea typeface="Courier New" pitchFamily="34" charset="-122"/>
                <a:cs typeface="Courier New" pitchFamily="34" charset="-120"/>
              </a:rPr>
              <a:t>R3 ← R1 + R2</a:t>
            </a:r>
            <a:endParaRPr lang="en-US" sz="1400" dirty="0"/>
          </a:p>
        </p:txBody>
      </p:sp>
      <p:sp>
        <p:nvSpPr>
          <p:cNvPr id="9" name="Text 7"/>
          <p:cNvSpPr/>
          <p:nvPr/>
        </p:nvSpPr>
        <p:spPr>
          <a:xfrm>
            <a:off x="3931920" y="2350008"/>
            <a:ext cx="7498080" cy="603504"/>
          </a:xfrm>
          <a:prstGeom prst="rect">
            <a:avLst/>
          </a:prstGeom>
          <a:noFill/>
          <a:ln/>
        </p:spPr>
        <p:txBody>
          <a:bodyPr wrap="square" lIns="0" tIns="0" rIns="0" bIns="0" rtlCol="0" anchor="ctr"/>
          <a:lstStyle/>
          <a:p>
            <a:pPr marL="0" indent="0">
              <a:buNone/>
            </a:pPr>
            <a:r>
              <a:rPr lang="en-US" sz="1250" dirty="0">
                <a:solidFill>
                  <a:srgbClr val="212A4E"/>
                </a:solidFill>
                <a:latin typeface="Calibri" pitchFamily="34" charset="0"/>
                <a:ea typeface="Calibri" pitchFamily="34" charset="-122"/>
                <a:cs typeface="Calibri" pitchFamily="34" charset="-120"/>
              </a:rPr>
              <a:t>Add R1 and R2; store the result in R3</a:t>
            </a:r>
            <a:endParaRPr lang="en-US" sz="1250" dirty="0"/>
          </a:p>
        </p:txBody>
      </p:sp>
      <p:sp>
        <p:nvSpPr>
          <p:cNvPr id="10" name="Shape 8"/>
          <p:cNvSpPr/>
          <p:nvPr/>
        </p:nvSpPr>
        <p:spPr>
          <a:xfrm>
            <a:off x="548640" y="3008376"/>
            <a:ext cx="11094415" cy="603504"/>
          </a:xfrm>
          <a:prstGeom prst="roundRect">
            <a:avLst>
              <a:gd name="adj" fmla="val 9091"/>
            </a:avLst>
          </a:prstGeom>
          <a:solidFill>
            <a:srgbClr val="E9F0FC"/>
          </a:solidFill>
          <a:ln/>
        </p:spPr>
      </p:sp>
      <p:sp>
        <p:nvSpPr>
          <p:cNvPr id="11" name="Text 9"/>
          <p:cNvSpPr/>
          <p:nvPr/>
        </p:nvSpPr>
        <p:spPr>
          <a:xfrm>
            <a:off x="777240" y="3008376"/>
            <a:ext cx="3017520" cy="603504"/>
          </a:xfrm>
          <a:prstGeom prst="rect">
            <a:avLst/>
          </a:prstGeom>
          <a:noFill/>
          <a:ln/>
        </p:spPr>
        <p:txBody>
          <a:bodyPr wrap="square" lIns="0" tIns="0" rIns="0" bIns="0" rtlCol="0" anchor="ctr"/>
          <a:lstStyle/>
          <a:p>
            <a:pPr marL="0" indent="0">
              <a:buNone/>
            </a:pPr>
            <a:r>
              <a:rPr lang="en-US" sz="1400" b="1" dirty="0">
                <a:solidFill>
                  <a:srgbClr val="1E2761"/>
                </a:solidFill>
                <a:latin typeface="Courier New" pitchFamily="34" charset="0"/>
                <a:ea typeface="Courier New" pitchFamily="34" charset="-122"/>
                <a:cs typeface="Courier New" pitchFamily="34" charset="-120"/>
              </a:rPr>
              <a:t>R1 ← M[1000]</a:t>
            </a:r>
            <a:endParaRPr lang="en-US" sz="1400" dirty="0"/>
          </a:p>
        </p:txBody>
      </p:sp>
      <p:sp>
        <p:nvSpPr>
          <p:cNvPr id="12" name="Text 10"/>
          <p:cNvSpPr/>
          <p:nvPr/>
        </p:nvSpPr>
        <p:spPr>
          <a:xfrm>
            <a:off x="3931920" y="3008376"/>
            <a:ext cx="7498080" cy="603504"/>
          </a:xfrm>
          <a:prstGeom prst="rect">
            <a:avLst/>
          </a:prstGeom>
          <a:noFill/>
          <a:ln/>
        </p:spPr>
        <p:txBody>
          <a:bodyPr wrap="square" lIns="0" tIns="0" rIns="0" bIns="0" rtlCol="0" anchor="ctr"/>
          <a:lstStyle/>
          <a:p>
            <a:pPr marL="0" indent="0">
              <a:buNone/>
            </a:pPr>
            <a:r>
              <a:rPr lang="en-US" sz="1250" dirty="0">
                <a:solidFill>
                  <a:srgbClr val="212A4E"/>
                </a:solidFill>
                <a:latin typeface="Calibri" pitchFamily="34" charset="0"/>
                <a:ea typeface="Calibri" pitchFamily="34" charset="-122"/>
                <a:cs typeface="Calibri" pitchFamily="34" charset="-120"/>
              </a:rPr>
              <a:t>Load the value at memory address 1000 into R1</a:t>
            </a:r>
            <a:endParaRPr lang="en-US" sz="1250" dirty="0"/>
          </a:p>
        </p:txBody>
      </p:sp>
      <p:sp>
        <p:nvSpPr>
          <p:cNvPr id="13" name="Shape 11"/>
          <p:cNvSpPr/>
          <p:nvPr/>
        </p:nvSpPr>
        <p:spPr>
          <a:xfrm>
            <a:off x="548640" y="3666744"/>
            <a:ext cx="11094415" cy="603504"/>
          </a:xfrm>
          <a:prstGeom prst="roundRect">
            <a:avLst>
              <a:gd name="adj" fmla="val 9091"/>
            </a:avLst>
          </a:prstGeom>
          <a:solidFill>
            <a:srgbClr val="FFFFFF"/>
          </a:solidFill>
          <a:ln/>
        </p:spPr>
      </p:sp>
      <p:sp>
        <p:nvSpPr>
          <p:cNvPr id="14" name="Text 12"/>
          <p:cNvSpPr/>
          <p:nvPr/>
        </p:nvSpPr>
        <p:spPr>
          <a:xfrm>
            <a:off x="777240" y="3666744"/>
            <a:ext cx="3017520" cy="603504"/>
          </a:xfrm>
          <a:prstGeom prst="rect">
            <a:avLst/>
          </a:prstGeom>
          <a:noFill/>
          <a:ln/>
        </p:spPr>
        <p:txBody>
          <a:bodyPr wrap="square" lIns="0" tIns="0" rIns="0" bIns="0" rtlCol="0" anchor="ctr"/>
          <a:lstStyle/>
          <a:p>
            <a:pPr marL="0" indent="0">
              <a:buNone/>
            </a:pPr>
            <a:r>
              <a:rPr lang="en-US" sz="1400" b="1" dirty="0">
                <a:solidFill>
                  <a:srgbClr val="1E2761"/>
                </a:solidFill>
                <a:latin typeface="Courier New" pitchFamily="34" charset="0"/>
                <a:ea typeface="Courier New" pitchFamily="34" charset="-122"/>
                <a:cs typeface="Courier New" pitchFamily="34" charset="-120"/>
              </a:rPr>
              <a:t>M[1000] ← R1</a:t>
            </a:r>
            <a:endParaRPr lang="en-US" sz="1400" dirty="0"/>
          </a:p>
        </p:txBody>
      </p:sp>
      <p:sp>
        <p:nvSpPr>
          <p:cNvPr id="15" name="Text 13"/>
          <p:cNvSpPr/>
          <p:nvPr/>
        </p:nvSpPr>
        <p:spPr>
          <a:xfrm>
            <a:off x="3931920" y="3666744"/>
            <a:ext cx="7498080" cy="603504"/>
          </a:xfrm>
          <a:prstGeom prst="rect">
            <a:avLst/>
          </a:prstGeom>
          <a:noFill/>
          <a:ln/>
        </p:spPr>
        <p:txBody>
          <a:bodyPr wrap="square" lIns="0" tIns="0" rIns="0" bIns="0" rtlCol="0" anchor="ctr"/>
          <a:lstStyle/>
          <a:p>
            <a:pPr marL="0" indent="0">
              <a:buNone/>
            </a:pPr>
            <a:r>
              <a:rPr lang="en-US" sz="1250" dirty="0">
                <a:solidFill>
                  <a:srgbClr val="212A4E"/>
                </a:solidFill>
                <a:latin typeface="Calibri" pitchFamily="34" charset="0"/>
                <a:ea typeface="Calibri" pitchFamily="34" charset="-122"/>
                <a:cs typeface="Calibri" pitchFamily="34" charset="-120"/>
              </a:rPr>
              <a:t>Store the contents of R1 into memory address 1000</a:t>
            </a:r>
            <a:endParaRPr lang="en-US" sz="1250" dirty="0"/>
          </a:p>
        </p:txBody>
      </p:sp>
      <p:sp>
        <p:nvSpPr>
          <p:cNvPr id="16" name="Shape 14"/>
          <p:cNvSpPr/>
          <p:nvPr/>
        </p:nvSpPr>
        <p:spPr>
          <a:xfrm>
            <a:off x="548640" y="4325112"/>
            <a:ext cx="11094415" cy="603504"/>
          </a:xfrm>
          <a:prstGeom prst="roundRect">
            <a:avLst>
              <a:gd name="adj" fmla="val 9091"/>
            </a:avLst>
          </a:prstGeom>
          <a:solidFill>
            <a:srgbClr val="E9F0FC"/>
          </a:solidFill>
          <a:ln/>
        </p:spPr>
      </p:sp>
      <p:sp>
        <p:nvSpPr>
          <p:cNvPr id="17" name="Text 15"/>
          <p:cNvSpPr/>
          <p:nvPr/>
        </p:nvSpPr>
        <p:spPr>
          <a:xfrm>
            <a:off x="777240" y="4325112"/>
            <a:ext cx="3017520" cy="603504"/>
          </a:xfrm>
          <a:prstGeom prst="rect">
            <a:avLst/>
          </a:prstGeom>
          <a:noFill/>
          <a:ln/>
        </p:spPr>
        <p:txBody>
          <a:bodyPr wrap="square" lIns="0" tIns="0" rIns="0" bIns="0" rtlCol="0" anchor="ctr"/>
          <a:lstStyle/>
          <a:p>
            <a:pPr marL="0" indent="0">
              <a:buNone/>
            </a:pPr>
            <a:r>
              <a:rPr lang="en-US" sz="1400" b="1" dirty="0">
                <a:solidFill>
                  <a:srgbClr val="1E2761"/>
                </a:solidFill>
                <a:latin typeface="Courier New" pitchFamily="34" charset="0"/>
                <a:ea typeface="Courier New" pitchFamily="34" charset="-122"/>
                <a:cs typeface="Courier New" pitchFamily="34" charset="-120"/>
              </a:rPr>
              <a:t>PC ← PC + 1</a:t>
            </a:r>
            <a:endParaRPr lang="en-US" sz="1400" dirty="0"/>
          </a:p>
        </p:txBody>
      </p:sp>
      <p:sp>
        <p:nvSpPr>
          <p:cNvPr id="18" name="Text 16"/>
          <p:cNvSpPr/>
          <p:nvPr/>
        </p:nvSpPr>
        <p:spPr>
          <a:xfrm>
            <a:off x="3931920" y="4325112"/>
            <a:ext cx="7498080" cy="603504"/>
          </a:xfrm>
          <a:prstGeom prst="rect">
            <a:avLst/>
          </a:prstGeom>
          <a:noFill/>
          <a:ln/>
        </p:spPr>
        <p:txBody>
          <a:bodyPr wrap="square" lIns="0" tIns="0" rIns="0" bIns="0" rtlCol="0" anchor="ctr"/>
          <a:lstStyle/>
          <a:p>
            <a:pPr marL="0" indent="0">
              <a:buNone/>
            </a:pPr>
            <a:r>
              <a:rPr lang="en-US" sz="1250" dirty="0">
                <a:solidFill>
                  <a:srgbClr val="212A4E"/>
                </a:solidFill>
                <a:latin typeface="Calibri" pitchFamily="34" charset="0"/>
                <a:ea typeface="Calibri" pitchFamily="34" charset="-122"/>
                <a:cs typeface="Calibri" pitchFamily="34" charset="-120"/>
              </a:rPr>
              <a:t>Advance the Program Counter to the next instruction</a:t>
            </a:r>
            <a:endParaRPr lang="en-US" sz="125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ASSEMBLY-LANGUAGE NOTATION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Assembly-Language Notation — Introduction</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Assembly language is a human-readable, mnemonic form of machine instructions — one step above raw binary.</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General syntax:  OPCODE  Destination, Source1, Source2   (e.g., ADD R1, R2, R3).</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Each assembly mnemonic corresponds to exactly one machine instruction — a 1-to-1 mapping (unlike high-level languages).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An assembler translates this mnemonic form into the binary machine code the CPU actually executes.</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translator/document icon. Diagram: three stacked boxes ‘High-Level Code’ → ‘Assembly Language’ → ‘Machine Code (binary)’ with downward arrows.</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ASSEMBLY-LANGUAGE NOTATION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Assembly ↔ RTN: Two Views of the Same Action</a:t>
            </a:r>
            <a:endParaRPr lang="en-US" sz="3000" dirty="0"/>
          </a:p>
        </p:txBody>
      </p:sp>
      <p:sp>
        <p:nvSpPr>
          <p:cNvPr id="4" name="Shape 2"/>
          <p:cNvSpPr/>
          <p:nvPr/>
        </p:nvSpPr>
        <p:spPr>
          <a:xfrm>
            <a:off x="685800" y="1508760"/>
            <a:ext cx="5303520" cy="502920"/>
          </a:xfrm>
          <a:prstGeom prst="roundRect">
            <a:avLst>
              <a:gd name="adj" fmla="val 10909"/>
            </a:avLst>
          </a:prstGeom>
          <a:solidFill>
            <a:srgbClr val="1E2761"/>
          </a:solidFill>
          <a:ln/>
        </p:spPr>
      </p:sp>
      <p:sp>
        <p:nvSpPr>
          <p:cNvPr id="5" name="Text 3"/>
          <p:cNvSpPr/>
          <p:nvPr/>
        </p:nvSpPr>
        <p:spPr>
          <a:xfrm>
            <a:off x="822960" y="1508760"/>
            <a:ext cx="50292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Assembly-Language Form</a:t>
            </a:r>
            <a:endParaRPr lang="en-US" sz="1400" dirty="0"/>
          </a:p>
        </p:txBody>
      </p:sp>
      <p:sp>
        <p:nvSpPr>
          <p:cNvPr id="6" name="Shape 4"/>
          <p:cNvSpPr/>
          <p:nvPr/>
        </p:nvSpPr>
        <p:spPr>
          <a:xfrm>
            <a:off x="6355080" y="1508760"/>
            <a:ext cx="5303520" cy="502920"/>
          </a:xfrm>
          <a:prstGeom prst="roundRect">
            <a:avLst>
              <a:gd name="adj" fmla="val 10909"/>
            </a:avLst>
          </a:prstGeom>
          <a:solidFill>
            <a:srgbClr val="F2A93B"/>
          </a:solidFill>
          <a:ln/>
        </p:spPr>
      </p:sp>
      <p:sp>
        <p:nvSpPr>
          <p:cNvPr id="7" name="Text 5"/>
          <p:cNvSpPr/>
          <p:nvPr/>
        </p:nvSpPr>
        <p:spPr>
          <a:xfrm>
            <a:off x="6492240" y="1508760"/>
            <a:ext cx="5029200" cy="50292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Register Transfer Notation</a:t>
            </a:r>
            <a:endParaRPr lang="en-US" sz="1400" dirty="0"/>
          </a:p>
        </p:txBody>
      </p:sp>
      <p:sp>
        <p:nvSpPr>
          <p:cNvPr id="8" name="Shape 6"/>
          <p:cNvSpPr/>
          <p:nvPr/>
        </p:nvSpPr>
        <p:spPr>
          <a:xfrm>
            <a:off x="685800" y="2148840"/>
            <a:ext cx="5303520" cy="548640"/>
          </a:xfrm>
          <a:prstGeom prst="rect">
            <a:avLst/>
          </a:prstGeom>
          <a:solidFill>
            <a:srgbClr val="E9F0FC"/>
          </a:solidFill>
          <a:ln/>
        </p:spPr>
      </p:sp>
      <p:sp>
        <p:nvSpPr>
          <p:cNvPr id="9" name="Shape 7"/>
          <p:cNvSpPr/>
          <p:nvPr/>
        </p:nvSpPr>
        <p:spPr>
          <a:xfrm>
            <a:off x="6355080" y="2148840"/>
            <a:ext cx="5303520" cy="548640"/>
          </a:xfrm>
          <a:prstGeom prst="rect">
            <a:avLst/>
          </a:prstGeom>
          <a:solidFill>
            <a:srgbClr val="E9F0FC"/>
          </a:solidFill>
          <a:ln/>
        </p:spPr>
      </p:sp>
      <p:sp>
        <p:nvSpPr>
          <p:cNvPr id="10" name="Text 8"/>
          <p:cNvSpPr/>
          <p:nvPr/>
        </p:nvSpPr>
        <p:spPr>
          <a:xfrm>
            <a:off x="822960" y="2148840"/>
            <a:ext cx="50292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MOV R1, R2</a:t>
            </a:r>
            <a:endParaRPr lang="en-US" sz="1400" dirty="0"/>
          </a:p>
        </p:txBody>
      </p:sp>
      <p:sp>
        <p:nvSpPr>
          <p:cNvPr id="11" name="Text 9"/>
          <p:cNvSpPr/>
          <p:nvPr/>
        </p:nvSpPr>
        <p:spPr>
          <a:xfrm>
            <a:off x="6492240" y="2148840"/>
            <a:ext cx="5029200" cy="548640"/>
          </a:xfrm>
          <a:prstGeom prst="rect">
            <a:avLst/>
          </a:prstGeom>
          <a:noFill/>
          <a:ln/>
        </p:spPr>
        <p:txBody>
          <a:bodyPr wrap="square" lIns="0" tIns="0" rIns="0" bIns="0" rtlCol="0" anchor="ctr"/>
          <a:lstStyle/>
          <a:p>
            <a:pPr marL="0" indent="0" algn="ctr">
              <a:buNone/>
            </a:pPr>
            <a:r>
              <a:rPr lang="en-US" sz="1400" b="1" dirty="0">
                <a:solidFill>
                  <a:srgbClr val="212A4E"/>
                </a:solidFill>
                <a:latin typeface="Courier New" pitchFamily="34" charset="0"/>
                <a:ea typeface="Courier New" pitchFamily="34" charset="-122"/>
                <a:cs typeface="Courier New" pitchFamily="34" charset="-120"/>
              </a:rPr>
              <a:t>R1 ← R2</a:t>
            </a:r>
            <a:endParaRPr lang="en-US" sz="1400" dirty="0"/>
          </a:p>
        </p:txBody>
      </p:sp>
      <p:sp>
        <p:nvSpPr>
          <p:cNvPr id="12" name="Shape 10"/>
          <p:cNvSpPr/>
          <p:nvPr/>
        </p:nvSpPr>
        <p:spPr>
          <a:xfrm>
            <a:off x="685800" y="2752344"/>
            <a:ext cx="5303520" cy="548640"/>
          </a:xfrm>
          <a:prstGeom prst="rect">
            <a:avLst/>
          </a:prstGeom>
          <a:solidFill>
            <a:srgbClr val="FFFFFF"/>
          </a:solidFill>
          <a:ln/>
        </p:spPr>
      </p:sp>
      <p:sp>
        <p:nvSpPr>
          <p:cNvPr id="13" name="Shape 11"/>
          <p:cNvSpPr/>
          <p:nvPr/>
        </p:nvSpPr>
        <p:spPr>
          <a:xfrm>
            <a:off x="6355080" y="2752344"/>
            <a:ext cx="5303520" cy="548640"/>
          </a:xfrm>
          <a:prstGeom prst="rect">
            <a:avLst/>
          </a:prstGeom>
          <a:solidFill>
            <a:srgbClr val="FFFFFF"/>
          </a:solidFill>
          <a:ln/>
        </p:spPr>
      </p:sp>
      <p:sp>
        <p:nvSpPr>
          <p:cNvPr id="14" name="Text 12"/>
          <p:cNvSpPr/>
          <p:nvPr/>
        </p:nvSpPr>
        <p:spPr>
          <a:xfrm>
            <a:off x="822960" y="2752344"/>
            <a:ext cx="50292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ADD R1, R2, R3</a:t>
            </a:r>
            <a:endParaRPr lang="en-US" sz="1400" dirty="0"/>
          </a:p>
        </p:txBody>
      </p:sp>
      <p:sp>
        <p:nvSpPr>
          <p:cNvPr id="15" name="Text 13"/>
          <p:cNvSpPr/>
          <p:nvPr/>
        </p:nvSpPr>
        <p:spPr>
          <a:xfrm>
            <a:off x="6492240" y="2752344"/>
            <a:ext cx="5029200" cy="548640"/>
          </a:xfrm>
          <a:prstGeom prst="rect">
            <a:avLst/>
          </a:prstGeom>
          <a:noFill/>
          <a:ln/>
        </p:spPr>
        <p:txBody>
          <a:bodyPr wrap="square" lIns="0" tIns="0" rIns="0" bIns="0" rtlCol="0" anchor="ctr"/>
          <a:lstStyle/>
          <a:p>
            <a:pPr marL="0" indent="0" algn="ctr">
              <a:buNone/>
            </a:pPr>
            <a:r>
              <a:rPr lang="en-US" sz="1400" b="1" dirty="0">
                <a:solidFill>
                  <a:srgbClr val="212A4E"/>
                </a:solidFill>
                <a:latin typeface="Courier New" pitchFamily="34" charset="0"/>
                <a:ea typeface="Courier New" pitchFamily="34" charset="-122"/>
                <a:cs typeface="Courier New" pitchFamily="34" charset="-120"/>
              </a:rPr>
              <a:t>R1 ← R2 + R3</a:t>
            </a:r>
            <a:endParaRPr lang="en-US" sz="1400" dirty="0"/>
          </a:p>
        </p:txBody>
      </p:sp>
      <p:sp>
        <p:nvSpPr>
          <p:cNvPr id="16" name="Shape 14"/>
          <p:cNvSpPr/>
          <p:nvPr/>
        </p:nvSpPr>
        <p:spPr>
          <a:xfrm>
            <a:off x="685800" y="3355848"/>
            <a:ext cx="5303520" cy="548640"/>
          </a:xfrm>
          <a:prstGeom prst="rect">
            <a:avLst/>
          </a:prstGeom>
          <a:solidFill>
            <a:srgbClr val="E9F0FC"/>
          </a:solidFill>
          <a:ln/>
        </p:spPr>
      </p:sp>
      <p:sp>
        <p:nvSpPr>
          <p:cNvPr id="17" name="Shape 15"/>
          <p:cNvSpPr/>
          <p:nvPr/>
        </p:nvSpPr>
        <p:spPr>
          <a:xfrm>
            <a:off x="6355080" y="3355848"/>
            <a:ext cx="5303520" cy="548640"/>
          </a:xfrm>
          <a:prstGeom prst="rect">
            <a:avLst/>
          </a:prstGeom>
          <a:solidFill>
            <a:srgbClr val="E9F0FC"/>
          </a:solidFill>
          <a:ln/>
        </p:spPr>
      </p:sp>
      <p:sp>
        <p:nvSpPr>
          <p:cNvPr id="18" name="Text 16"/>
          <p:cNvSpPr/>
          <p:nvPr/>
        </p:nvSpPr>
        <p:spPr>
          <a:xfrm>
            <a:off x="822960" y="3355848"/>
            <a:ext cx="50292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LOAD R1, 1000</a:t>
            </a:r>
            <a:endParaRPr lang="en-US" sz="1400" dirty="0"/>
          </a:p>
        </p:txBody>
      </p:sp>
      <p:sp>
        <p:nvSpPr>
          <p:cNvPr id="19" name="Text 17"/>
          <p:cNvSpPr/>
          <p:nvPr/>
        </p:nvSpPr>
        <p:spPr>
          <a:xfrm>
            <a:off x="6492240" y="3355848"/>
            <a:ext cx="5029200" cy="548640"/>
          </a:xfrm>
          <a:prstGeom prst="rect">
            <a:avLst/>
          </a:prstGeom>
          <a:noFill/>
          <a:ln/>
        </p:spPr>
        <p:txBody>
          <a:bodyPr wrap="square" lIns="0" tIns="0" rIns="0" bIns="0" rtlCol="0" anchor="ctr"/>
          <a:lstStyle/>
          <a:p>
            <a:pPr marL="0" indent="0" algn="ctr">
              <a:buNone/>
            </a:pPr>
            <a:r>
              <a:rPr lang="en-US" sz="1400" b="1" dirty="0">
                <a:solidFill>
                  <a:srgbClr val="212A4E"/>
                </a:solidFill>
                <a:latin typeface="Courier New" pitchFamily="34" charset="0"/>
                <a:ea typeface="Courier New" pitchFamily="34" charset="-122"/>
                <a:cs typeface="Courier New" pitchFamily="34" charset="-120"/>
              </a:rPr>
              <a:t>R1 ← M[1000]</a:t>
            </a:r>
            <a:endParaRPr lang="en-US" sz="1400" dirty="0"/>
          </a:p>
        </p:txBody>
      </p:sp>
      <p:sp>
        <p:nvSpPr>
          <p:cNvPr id="20" name="Shape 18"/>
          <p:cNvSpPr/>
          <p:nvPr/>
        </p:nvSpPr>
        <p:spPr>
          <a:xfrm>
            <a:off x="685800" y="3959352"/>
            <a:ext cx="5303520" cy="548640"/>
          </a:xfrm>
          <a:prstGeom prst="rect">
            <a:avLst/>
          </a:prstGeom>
          <a:solidFill>
            <a:srgbClr val="FFFFFF"/>
          </a:solidFill>
          <a:ln/>
        </p:spPr>
      </p:sp>
      <p:sp>
        <p:nvSpPr>
          <p:cNvPr id="21" name="Shape 19"/>
          <p:cNvSpPr/>
          <p:nvPr/>
        </p:nvSpPr>
        <p:spPr>
          <a:xfrm>
            <a:off x="6355080" y="3959352"/>
            <a:ext cx="5303520" cy="548640"/>
          </a:xfrm>
          <a:prstGeom prst="rect">
            <a:avLst/>
          </a:prstGeom>
          <a:solidFill>
            <a:srgbClr val="FFFFFF"/>
          </a:solidFill>
          <a:ln/>
        </p:spPr>
      </p:sp>
      <p:sp>
        <p:nvSpPr>
          <p:cNvPr id="22" name="Text 20"/>
          <p:cNvSpPr/>
          <p:nvPr/>
        </p:nvSpPr>
        <p:spPr>
          <a:xfrm>
            <a:off x="822960" y="3959352"/>
            <a:ext cx="50292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STORE R1, 1000</a:t>
            </a:r>
            <a:endParaRPr lang="en-US" sz="1400" dirty="0"/>
          </a:p>
        </p:txBody>
      </p:sp>
      <p:sp>
        <p:nvSpPr>
          <p:cNvPr id="23" name="Text 21"/>
          <p:cNvSpPr/>
          <p:nvPr/>
        </p:nvSpPr>
        <p:spPr>
          <a:xfrm>
            <a:off x="6492240" y="3959352"/>
            <a:ext cx="5029200" cy="548640"/>
          </a:xfrm>
          <a:prstGeom prst="rect">
            <a:avLst/>
          </a:prstGeom>
          <a:noFill/>
          <a:ln/>
        </p:spPr>
        <p:txBody>
          <a:bodyPr wrap="square" lIns="0" tIns="0" rIns="0" bIns="0" rtlCol="0" anchor="ctr"/>
          <a:lstStyle/>
          <a:p>
            <a:pPr marL="0" indent="0" algn="ctr">
              <a:buNone/>
            </a:pPr>
            <a:r>
              <a:rPr lang="en-US" sz="1400" b="1" dirty="0">
                <a:solidFill>
                  <a:srgbClr val="212A4E"/>
                </a:solidFill>
                <a:latin typeface="Courier New" pitchFamily="34" charset="0"/>
                <a:ea typeface="Courier New" pitchFamily="34" charset="-122"/>
                <a:cs typeface="Courier New" pitchFamily="34" charset="-120"/>
              </a:rPr>
              <a:t>M[1000] ← R1</a:t>
            </a:r>
            <a:endParaRPr lang="en-US" sz="1400" dirty="0"/>
          </a:p>
        </p:txBody>
      </p:sp>
      <p:sp>
        <p:nvSpPr>
          <p:cNvPr id="24" name="Shape 22"/>
          <p:cNvSpPr/>
          <p:nvPr/>
        </p:nvSpPr>
        <p:spPr>
          <a:xfrm>
            <a:off x="685800" y="4562856"/>
            <a:ext cx="5303520" cy="548640"/>
          </a:xfrm>
          <a:prstGeom prst="rect">
            <a:avLst/>
          </a:prstGeom>
          <a:solidFill>
            <a:srgbClr val="E9F0FC"/>
          </a:solidFill>
          <a:ln/>
        </p:spPr>
      </p:sp>
      <p:sp>
        <p:nvSpPr>
          <p:cNvPr id="25" name="Shape 23"/>
          <p:cNvSpPr/>
          <p:nvPr/>
        </p:nvSpPr>
        <p:spPr>
          <a:xfrm>
            <a:off x="6355080" y="4562856"/>
            <a:ext cx="5303520" cy="548640"/>
          </a:xfrm>
          <a:prstGeom prst="rect">
            <a:avLst/>
          </a:prstGeom>
          <a:solidFill>
            <a:srgbClr val="E9F0FC"/>
          </a:solidFill>
          <a:ln/>
        </p:spPr>
      </p:sp>
      <p:sp>
        <p:nvSpPr>
          <p:cNvPr id="26" name="Text 24"/>
          <p:cNvSpPr/>
          <p:nvPr/>
        </p:nvSpPr>
        <p:spPr>
          <a:xfrm>
            <a:off x="822960" y="4562856"/>
            <a:ext cx="5029200" cy="548640"/>
          </a:xfrm>
          <a:prstGeom prst="rect">
            <a:avLst/>
          </a:prstGeom>
          <a:noFill/>
          <a:ln/>
        </p:spPr>
        <p:txBody>
          <a:bodyPr wrap="square" lIns="0" tIns="0" rIns="0" bIns="0" rtlCol="0" anchor="ctr"/>
          <a:lstStyle/>
          <a:p>
            <a:pPr marL="0" indent="0" algn="ctr">
              <a:buNone/>
            </a:pPr>
            <a:r>
              <a:rPr lang="en-US" sz="1400" b="1" dirty="0">
                <a:solidFill>
                  <a:srgbClr val="1E2761"/>
                </a:solidFill>
                <a:latin typeface="Courier New" pitchFamily="34" charset="0"/>
                <a:ea typeface="Courier New" pitchFamily="34" charset="-122"/>
                <a:cs typeface="Courier New" pitchFamily="34" charset="-120"/>
              </a:rPr>
              <a:t>JMP 200</a:t>
            </a:r>
            <a:endParaRPr lang="en-US" sz="1400" dirty="0"/>
          </a:p>
        </p:txBody>
      </p:sp>
      <p:sp>
        <p:nvSpPr>
          <p:cNvPr id="27" name="Text 25"/>
          <p:cNvSpPr/>
          <p:nvPr/>
        </p:nvSpPr>
        <p:spPr>
          <a:xfrm>
            <a:off x="6492240" y="4562856"/>
            <a:ext cx="5029200" cy="548640"/>
          </a:xfrm>
          <a:prstGeom prst="rect">
            <a:avLst/>
          </a:prstGeom>
          <a:noFill/>
          <a:ln/>
        </p:spPr>
        <p:txBody>
          <a:bodyPr wrap="square" lIns="0" tIns="0" rIns="0" bIns="0" rtlCol="0" anchor="ctr"/>
          <a:lstStyle/>
          <a:p>
            <a:pPr marL="0" indent="0" algn="ctr">
              <a:buNone/>
            </a:pPr>
            <a:r>
              <a:rPr lang="en-US" sz="1400" b="1" dirty="0">
                <a:solidFill>
                  <a:srgbClr val="212A4E"/>
                </a:solidFill>
                <a:latin typeface="Courier New" pitchFamily="34" charset="0"/>
                <a:ea typeface="Courier New" pitchFamily="34" charset="-122"/>
                <a:cs typeface="Courier New" pitchFamily="34" charset="-120"/>
              </a:rPr>
              <a:t>PC ← 200</a:t>
            </a:r>
            <a:endParaRPr lang="en-US" sz="1400" dirty="0"/>
          </a:p>
        </p:txBody>
      </p:sp>
      <p:sp>
        <p:nvSpPr>
          <p:cNvPr id="28" name="Text 26"/>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9" name="Text 27"/>
          <p:cNvSpPr/>
          <p:nvPr/>
        </p:nvSpPr>
        <p:spPr>
          <a:xfrm>
            <a:off x="0" y="0"/>
            <a:ext cx="0" cy="0"/>
          </a:xfrm>
          <a:prstGeom prst="rect">
            <a:avLst/>
          </a:prstGeom>
          <a:noFill/>
          <a:ln/>
        </p:spPr>
        <p:txBody>
          <a:bodyPr wrap="square" rtlCol="0" anchor="ctr"/>
          <a:lstStyle/>
          <a:p>
            <a:pPr marL="0" indent="0">
              <a:buNone/>
            </a:pPr>
            <a:endParaRPr lang="en-US" dirty="0"/>
          </a:p>
        </p:txBody>
      </p:sp>
      <p:sp>
        <p:nvSpPr>
          <p:cNvPr id="30" name="Text 2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Worked Example: Translate  C = A + B</a:t>
            </a:r>
            <a:endParaRPr lang="en-US" sz="3000" dirty="0"/>
          </a:p>
        </p:txBody>
      </p:sp>
      <p:sp>
        <p:nvSpPr>
          <p:cNvPr id="4" name="Shape 2"/>
          <p:cNvSpPr/>
          <p:nvPr/>
        </p:nvSpPr>
        <p:spPr>
          <a:xfrm>
            <a:off x="548640" y="1508760"/>
            <a:ext cx="11094415" cy="548640"/>
          </a:xfrm>
          <a:prstGeom prst="roundRect">
            <a:avLst>
              <a:gd name="adj" fmla="val 10000"/>
            </a:avLst>
          </a:prstGeom>
          <a:solidFill>
            <a:srgbClr val="1E2761"/>
          </a:solidFill>
          <a:ln/>
        </p:spPr>
      </p:sp>
      <p:sp>
        <p:nvSpPr>
          <p:cNvPr id="5" name="Text 3"/>
          <p:cNvSpPr/>
          <p:nvPr/>
        </p:nvSpPr>
        <p:spPr>
          <a:xfrm>
            <a:off x="777240" y="1508760"/>
            <a:ext cx="10637215"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Problem: A is stored at memory address 1000, B at 1004, and the result C must be stored at 1008.</a:t>
            </a:r>
            <a:endParaRPr lang="en-US" sz="1300" dirty="0"/>
          </a:p>
        </p:txBody>
      </p:sp>
      <p:sp>
        <p:nvSpPr>
          <p:cNvPr id="6" name="Shape 4"/>
          <p:cNvSpPr/>
          <p:nvPr/>
        </p:nvSpPr>
        <p:spPr>
          <a:xfrm>
            <a:off x="548640" y="2240280"/>
            <a:ext cx="11094415" cy="621792"/>
          </a:xfrm>
          <a:prstGeom prst="roundRect">
            <a:avLst>
              <a:gd name="adj" fmla="val 8824"/>
            </a:avLst>
          </a:prstGeom>
          <a:solidFill>
            <a:srgbClr val="E9F0FC"/>
          </a:solidFill>
          <a:ln w="9525">
            <a:solidFill>
              <a:srgbClr val="CADCFC"/>
            </a:solidFill>
            <a:prstDash val="solid"/>
          </a:ln>
        </p:spPr>
      </p:sp>
      <p:sp>
        <p:nvSpPr>
          <p:cNvPr id="7" name="Text 5"/>
          <p:cNvSpPr/>
          <p:nvPr/>
        </p:nvSpPr>
        <p:spPr>
          <a:xfrm>
            <a:off x="777240" y="2240280"/>
            <a:ext cx="2651760" cy="62179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Step 1: Load A</a:t>
            </a:r>
            <a:endParaRPr lang="en-US" sz="1250" dirty="0"/>
          </a:p>
        </p:txBody>
      </p:sp>
      <p:sp>
        <p:nvSpPr>
          <p:cNvPr id="8" name="Text 6"/>
          <p:cNvSpPr/>
          <p:nvPr/>
        </p:nvSpPr>
        <p:spPr>
          <a:xfrm>
            <a:off x="3566160" y="2240280"/>
            <a:ext cx="3749040" cy="621792"/>
          </a:xfrm>
          <a:prstGeom prst="rect">
            <a:avLst/>
          </a:prstGeom>
          <a:noFill/>
          <a:ln/>
        </p:spPr>
        <p:txBody>
          <a:bodyPr wrap="square" lIns="0" tIns="0" rIns="0" bIns="0" rtlCol="0" anchor="ctr"/>
          <a:lstStyle/>
          <a:p>
            <a:pPr marL="0" indent="0">
              <a:buNone/>
            </a:pPr>
            <a:r>
              <a:rPr lang="en-US" sz="1300" dirty="0">
                <a:solidFill>
                  <a:srgbClr val="212A4E"/>
                </a:solidFill>
                <a:latin typeface="Courier New" pitchFamily="34" charset="0"/>
                <a:ea typeface="Courier New" pitchFamily="34" charset="-122"/>
                <a:cs typeface="Courier New" pitchFamily="34" charset="-120"/>
              </a:rPr>
              <a:t>R1 ← M[1000]</a:t>
            </a:r>
            <a:endParaRPr lang="en-US" sz="1300" dirty="0"/>
          </a:p>
        </p:txBody>
      </p:sp>
      <p:sp>
        <p:nvSpPr>
          <p:cNvPr id="9" name="Text 7"/>
          <p:cNvSpPr/>
          <p:nvPr/>
        </p:nvSpPr>
        <p:spPr>
          <a:xfrm>
            <a:off x="7498080" y="2240280"/>
            <a:ext cx="4023360" cy="621792"/>
          </a:xfrm>
          <a:prstGeom prst="rect">
            <a:avLst/>
          </a:prstGeom>
          <a:noFill/>
          <a:ln/>
        </p:spPr>
        <p:txBody>
          <a:bodyPr wrap="square" lIns="0" tIns="0" rIns="0" bIns="0" rtlCol="0" anchor="ctr"/>
          <a:lstStyle/>
          <a:p>
            <a:pPr marL="0" indent="0">
              <a:buNone/>
            </a:pPr>
            <a:r>
              <a:rPr lang="en-US" sz="1300" b="1" dirty="0">
                <a:solidFill>
                  <a:srgbClr val="9C6A00"/>
                </a:solidFill>
                <a:latin typeface="Courier New" pitchFamily="34" charset="0"/>
                <a:ea typeface="Courier New" pitchFamily="34" charset="-122"/>
                <a:cs typeface="Courier New" pitchFamily="34" charset="-120"/>
              </a:rPr>
              <a:t>LOAD R1, [1000]</a:t>
            </a:r>
            <a:endParaRPr lang="en-US" sz="1300" dirty="0"/>
          </a:p>
        </p:txBody>
      </p:sp>
      <p:sp>
        <p:nvSpPr>
          <p:cNvPr id="10" name="Shape 8"/>
          <p:cNvSpPr/>
          <p:nvPr/>
        </p:nvSpPr>
        <p:spPr>
          <a:xfrm>
            <a:off x="548640" y="2916936"/>
            <a:ext cx="11094415" cy="621792"/>
          </a:xfrm>
          <a:prstGeom prst="roundRect">
            <a:avLst>
              <a:gd name="adj" fmla="val 8824"/>
            </a:avLst>
          </a:prstGeom>
          <a:solidFill>
            <a:srgbClr val="FFFFFF"/>
          </a:solidFill>
          <a:ln w="9525">
            <a:solidFill>
              <a:srgbClr val="CADCFC"/>
            </a:solidFill>
            <a:prstDash val="solid"/>
          </a:ln>
        </p:spPr>
      </p:sp>
      <p:sp>
        <p:nvSpPr>
          <p:cNvPr id="11" name="Text 9"/>
          <p:cNvSpPr/>
          <p:nvPr/>
        </p:nvSpPr>
        <p:spPr>
          <a:xfrm>
            <a:off x="777240" y="2916936"/>
            <a:ext cx="2651760" cy="62179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Step 2: Load B</a:t>
            </a:r>
            <a:endParaRPr lang="en-US" sz="1250" dirty="0"/>
          </a:p>
        </p:txBody>
      </p:sp>
      <p:sp>
        <p:nvSpPr>
          <p:cNvPr id="12" name="Text 10"/>
          <p:cNvSpPr/>
          <p:nvPr/>
        </p:nvSpPr>
        <p:spPr>
          <a:xfrm>
            <a:off x="3566160" y="2916936"/>
            <a:ext cx="3749040" cy="621792"/>
          </a:xfrm>
          <a:prstGeom prst="rect">
            <a:avLst/>
          </a:prstGeom>
          <a:noFill/>
          <a:ln/>
        </p:spPr>
        <p:txBody>
          <a:bodyPr wrap="square" lIns="0" tIns="0" rIns="0" bIns="0" rtlCol="0" anchor="ctr"/>
          <a:lstStyle/>
          <a:p>
            <a:pPr marL="0" indent="0">
              <a:buNone/>
            </a:pPr>
            <a:r>
              <a:rPr lang="en-US" sz="1300" dirty="0">
                <a:solidFill>
                  <a:srgbClr val="212A4E"/>
                </a:solidFill>
                <a:latin typeface="Courier New" pitchFamily="34" charset="0"/>
                <a:ea typeface="Courier New" pitchFamily="34" charset="-122"/>
                <a:cs typeface="Courier New" pitchFamily="34" charset="-120"/>
              </a:rPr>
              <a:t>R2 ← M[1004]</a:t>
            </a:r>
            <a:endParaRPr lang="en-US" sz="1300" dirty="0"/>
          </a:p>
        </p:txBody>
      </p:sp>
      <p:sp>
        <p:nvSpPr>
          <p:cNvPr id="13" name="Text 11"/>
          <p:cNvSpPr/>
          <p:nvPr/>
        </p:nvSpPr>
        <p:spPr>
          <a:xfrm>
            <a:off x="7498080" y="2916936"/>
            <a:ext cx="4023360" cy="621792"/>
          </a:xfrm>
          <a:prstGeom prst="rect">
            <a:avLst/>
          </a:prstGeom>
          <a:noFill/>
          <a:ln/>
        </p:spPr>
        <p:txBody>
          <a:bodyPr wrap="square" lIns="0" tIns="0" rIns="0" bIns="0" rtlCol="0" anchor="ctr"/>
          <a:lstStyle/>
          <a:p>
            <a:pPr marL="0" indent="0">
              <a:buNone/>
            </a:pPr>
            <a:r>
              <a:rPr lang="en-US" sz="1300" b="1" dirty="0">
                <a:solidFill>
                  <a:srgbClr val="9C6A00"/>
                </a:solidFill>
                <a:latin typeface="Courier New" pitchFamily="34" charset="0"/>
                <a:ea typeface="Courier New" pitchFamily="34" charset="-122"/>
                <a:cs typeface="Courier New" pitchFamily="34" charset="-120"/>
              </a:rPr>
              <a:t>LOAD R2, [1004]</a:t>
            </a:r>
            <a:endParaRPr lang="en-US" sz="1300" dirty="0"/>
          </a:p>
        </p:txBody>
      </p:sp>
      <p:sp>
        <p:nvSpPr>
          <p:cNvPr id="14" name="Shape 12"/>
          <p:cNvSpPr/>
          <p:nvPr/>
        </p:nvSpPr>
        <p:spPr>
          <a:xfrm>
            <a:off x="548640" y="3593592"/>
            <a:ext cx="11094415" cy="621792"/>
          </a:xfrm>
          <a:prstGeom prst="roundRect">
            <a:avLst>
              <a:gd name="adj" fmla="val 8824"/>
            </a:avLst>
          </a:prstGeom>
          <a:solidFill>
            <a:srgbClr val="E9F0FC"/>
          </a:solidFill>
          <a:ln w="9525">
            <a:solidFill>
              <a:srgbClr val="CADCFC"/>
            </a:solidFill>
            <a:prstDash val="solid"/>
          </a:ln>
        </p:spPr>
      </p:sp>
      <p:sp>
        <p:nvSpPr>
          <p:cNvPr id="15" name="Text 13"/>
          <p:cNvSpPr/>
          <p:nvPr/>
        </p:nvSpPr>
        <p:spPr>
          <a:xfrm>
            <a:off x="777240" y="3593592"/>
            <a:ext cx="2651760" cy="62179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Step 3: Add</a:t>
            </a:r>
            <a:endParaRPr lang="en-US" sz="1250" dirty="0"/>
          </a:p>
        </p:txBody>
      </p:sp>
      <p:sp>
        <p:nvSpPr>
          <p:cNvPr id="16" name="Text 14"/>
          <p:cNvSpPr/>
          <p:nvPr/>
        </p:nvSpPr>
        <p:spPr>
          <a:xfrm>
            <a:off x="3566160" y="3593592"/>
            <a:ext cx="3749040" cy="621792"/>
          </a:xfrm>
          <a:prstGeom prst="rect">
            <a:avLst/>
          </a:prstGeom>
          <a:noFill/>
          <a:ln/>
        </p:spPr>
        <p:txBody>
          <a:bodyPr wrap="square" lIns="0" tIns="0" rIns="0" bIns="0" rtlCol="0" anchor="ctr"/>
          <a:lstStyle/>
          <a:p>
            <a:pPr marL="0" indent="0">
              <a:buNone/>
            </a:pPr>
            <a:r>
              <a:rPr lang="en-US" sz="1300" dirty="0">
                <a:solidFill>
                  <a:srgbClr val="212A4E"/>
                </a:solidFill>
                <a:latin typeface="Courier New" pitchFamily="34" charset="0"/>
                <a:ea typeface="Courier New" pitchFamily="34" charset="-122"/>
                <a:cs typeface="Courier New" pitchFamily="34" charset="-120"/>
              </a:rPr>
              <a:t>R3 ← R1 + R2</a:t>
            </a:r>
            <a:endParaRPr lang="en-US" sz="1300" dirty="0"/>
          </a:p>
        </p:txBody>
      </p:sp>
      <p:sp>
        <p:nvSpPr>
          <p:cNvPr id="17" name="Text 15"/>
          <p:cNvSpPr/>
          <p:nvPr/>
        </p:nvSpPr>
        <p:spPr>
          <a:xfrm>
            <a:off x="7498080" y="3593592"/>
            <a:ext cx="4023360" cy="621792"/>
          </a:xfrm>
          <a:prstGeom prst="rect">
            <a:avLst/>
          </a:prstGeom>
          <a:noFill/>
          <a:ln/>
        </p:spPr>
        <p:txBody>
          <a:bodyPr wrap="square" lIns="0" tIns="0" rIns="0" bIns="0" rtlCol="0" anchor="ctr"/>
          <a:lstStyle/>
          <a:p>
            <a:pPr marL="0" indent="0">
              <a:buNone/>
            </a:pPr>
            <a:r>
              <a:rPr lang="en-US" sz="1300" b="1" dirty="0">
                <a:solidFill>
                  <a:srgbClr val="9C6A00"/>
                </a:solidFill>
                <a:latin typeface="Courier New" pitchFamily="34" charset="0"/>
                <a:ea typeface="Courier New" pitchFamily="34" charset="-122"/>
                <a:cs typeface="Courier New" pitchFamily="34" charset="-120"/>
              </a:rPr>
              <a:t>ADD R3, R1, R2</a:t>
            </a:r>
            <a:endParaRPr lang="en-US" sz="1300" dirty="0"/>
          </a:p>
        </p:txBody>
      </p:sp>
      <p:sp>
        <p:nvSpPr>
          <p:cNvPr id="18" name="Shape 16"/>
          <p:cNvSpPr/>
          <p:nvPr/>
        </p:nvSpPr>
        <p:spPr>
          <a:xfrm>
            <a:off x="548640" y="4270248"/>
            <a:ext cx="11094415" cy="621792"/>
          </a:xfrm>
          <a:prstGeom prst="roundRect">
            <a:avLst>
              <a:gd name="adj" fmla="val 8824"/>
            </a:avLst>
          </a:prstGeom>
          <a:solidFill>
            <a:srgbClr val="FFFFFF"/>
          </a:solidFill>
          <a:ln w="9525">
            <a:solidFill>
              <a:srgbClr val="CADCFC"/>
            </a:solidFill>
            <a:prstDash val="solid"/>
          </a:ln>
        </p:spPr>
        <p:txBody>
          <a:bodyPr/>
          <a:lstStyle/>
          <a:p>
            <a:endParaRPr lang="en-IN" dirty="0"/>
          </a:p>
        </p:txBody>
      </p:sp>
      <p:sp>
        <p:nvSpPr>
          <p:cNvPr id="19" name="Text 17"/>
          <p:cNvSpPr/>
          <p:nvPr/>
        </p:nvSpPr>
        <p:spPr>
          <a:xfrm>
            <a:off x="777240" y="4270248"/>
            <a:ext cx="2651760" cy="621792"/>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Step 4: Store C</a:t>
            </a:r>
            <a:endParaRPr lang="en-US" sz="1250" dirty="0"/>
          </a:p>
        </p:txBody>
      </p:sp>
      <p:sp>
        <p:nvSpPr>
          <p:cNvPr id="20" name="Text 18"/>
          <p:cNvSpPr/>
          <p:nvPr/>
        </p:nvSpPr>
        <p:spPr>
          <a:xfrm>
            <a:off x="3566160" y="4270248"/>
            <a:ext cx="3749040" cy="621792"/>
          </a:xfrm>
          <a:prstGeom prst="rect">
            <a:avLst/>
          </a:prstGeom>
          <a:noFill/>
          <a:ln/>
        </p:spPr>
        <p:txBody>
          <a:bodyPr wrap="square" lIns="0" tIns="0" rIns="0" bIns="0" rtlCol="0" anchor="ctr"/>
          <a:lstStyle/>
          <a:p>
            <a:pPr marL="0" indent="0">
              <a:buNone/>
            </a:pPr>
            <a:r>
              <a:rPr lang="en-US" sz="1300" dirty="0">
                <a:solidFill>
                  <a:srgbClr val="212A4E"/>
                </a:solidFill>
                <a:latin typeface="Courier New" pitchFamily="34" charset="0"/>
                <a:ea typeface="Courier New" pitchFamily="34" charset="-122"/>
                <a:cs typeface="Courier New" pitchFamily="34" charset="-120"/>
              </a:rPr>
              <a:t>M[1008] ← R3</a:t>
            </a:r>
            <a:endParaRPr lang="en-US" sz="1300" dirty="0"/>
          </a:p>
        </p:txBody>
      </p:sp>
      <p:sp>
        <p:nvSpPr>
          <p:cNvPr id="21" name="Text 19"/>
          <p:cNvSpPr/>
          <p:nvPr/>
        </p:nvSpPr>
        <p:spPr>
          <a:xfrm>
            <a:off x="7498080" y="4270248"/>
            <a:ext cx="4023360" cy="621792"/>
          </a:xfrm>
          <a:prstGeom prst="rect">
            <a:avLst/>
          </a:prstGeom>
          <a:noFill/>
          <a:ln/>
        </p:spPr>
        <p:txBody>
          <a:bodyPr wrap="square" lIns="0" tIns="0" rIns="0" bIns="0" rtlCol="0" anchor="ctr"/>
          <a:lstStyle/>
          <a:p>
            <a:pPr marL="0" indent="0">
              <a:buNone/>
            </a:pPr>
            <a:r>
              <a:rPr lang="en-US" sz="1300" b="1" dirty="0">
                <a:solidFill>
                  <a:srgbClr val="9C6A00"/>
                </a:solidFill>
                <a:latin typeface="Courier New" pitchFamily="34" charset="0"/>
                <a:ea typeface="Courier New" pitchFamily="34" charset="-122"/>
                <a:cs typeface="Courier New" pitchFamily="34" charset="-120"/>
              </a:rPr>
              <a:t>STORE [1008], R3</a:t>
            </a:r>
            <a:endParaRPr lang="en-US" sz="1300" dirty="0"/>
          </a:p>
        </p:txBody>
      </p:sp>
      <p:sp>
        <p:nvSpPr>
          <p:cNvPr id="22" name="Text 2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3" name="Text 21"/>
          <p:cNvSpPr/>
          <p:nvPr/>
        </p:nvSpPr>
        <p:spPr>
          <a:xfrm>
            <a:off x="0" y="0"/>
            <a:ext cx="0" cy="0"/>
          </a:xfrm>
          <a:prstGeom prst="rect">
            <a:avLst/>
          </a:prstGeom>
          <a:noFill/>
          <a:ln/>
        </p:spPr>
        <p:txBody>
          <a:bodyPr wrap="square" rtlCol="0" anchor="ctr"/>
          <a:lstStyle/>
          <a:p>
            <a:pPr marL="0" indent="0">
              <a:buNone/>
            </a:pPr>
            <a:endParaRPr lang="en-US" dirty="0"/>
          </a:p>
        </p:txBody>
      </p:sp>
      <p:sp>
        <p:nvSpPr>
          <p:cNvPr id="24" name="Text 2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RISC AND CISC INSTRUCTION SETS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Two Philosophies of Instruction Set Design</a:t>
            </a:r>
            <a:endParaRPr lang="en-US" sz="3000" dirty="0"/>
          </a:p>
        </p:txBody>
      </p:sp>
      <p:sp>
        <p:nvSpPr>
          <p:cNvPr id="4" name="Shape 2"/>
          <p:cNvSpPr/>
          <p:nvPr/>
        </p:nvSpPr>
        <p:spPr>
          <a:xfrm>
            <a:off x="655168" y="1691640"/>
            <a:ext cx="5212080" cy="3566160"/>
          </a:xfrm>
          <a:prstGeom prst="roundRect">
            <a:avLst>
              <a:gd name="adj" fmla="val 2564"/>
            </a:avLst>
          </a:prstGeom>
          <a:solidFill>
            <a:srgbClr val="1E2761"/>
          </a:solidFill>
          <a:ln/>
        </p:spPr>
      </p:sp>
      <p:sp>
        <p:nvSpPr>
          <p:cNvPr id="5" name="Text 3"/>
          <p:cNvSpPr/>
          <p:nvPr/>
        </p:nvSpPr>
        <p:spPr>
          <a:xfrm>
            <a:off x="655168" y="1856232"/>
            <a:ext cx="521208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CISC</a:t>
            </a:r>
            <a:endParaRPr lang="en-US" sz="2200" dirty="0"/>
          </a:p>
        </p:txBody>
      </p:sp>
      <p:sp>
        <p:nvSpPr>
          <p:cNvPr id="6" name="Text 4"/>
          <p:cNvSpPr/>
          <p:nvPr/>
        </p:nvSpPr>
        <p:spPr>
          <a:xfrm>
            <a:off x="655168" y="2286000"/>
            <a:ext cx="5212080" cy="320040"/>
          </a:xfrm>
          <a:prstGeom prst="rect">
            <a:avLst/>
          </a:prstGeom>
          <a:noFill/>
          <a:ln/>
        </p:spPr>
        <p:txBody>
          <a:bodyPr wrap="square" lIns="0" tIns="0" rIns="0" bIns="0" rtlCol="0" anchor="ctr"/>
          <a:lstStyle/>
          <a:p>
            <a:pPr marL="0" indent="0" algn="ctr">
              <a:buNone/>
            </a:pPr>
            <a:r>
              <a:rPr lang="en-US" sz="1150" i="1" dirty="0">
                <a:solidFill>
                  <a:srgbClr val="CADCFC"/>
                </a:solidFill>
                <a:latin typeface="Calibri" pitchFamily="34" charset="0"/>
                <a:ea typeface="Calibri" pitchFamily="34" charset="-122"/>
                <a:cs typeface="Calibri" pitchFamily="34" charset="-120"/>
              </a:rPr>
              <a:t>Complex Instruction Set Computer</a:t>
            </a:r>
            <a:endParaRPr lang="en-US" sz="1150" dirty="0"/>
          </a:p>
        </p:txBody>
      </p:sp>
      <p:sp>
        <p:nvSpPr>
          <p:cNvPr id="7" name="Text 5"/>
          <p:cNvSpPr/>
          <p:nvPr/>
        </p:nvSpPr>
        <p:spPr>
          <a:xfrm>
            <a:off x="975208" y="2697480"/>
            <a:ext cx="4572000" cy="2377440"/>
          </a:xfrm>
          <a:prstGeom prst="rect">
            <a:avLst/>
          </a:prstGeom>
          <a:noFill/>
          <a:ln/>
        </p:spPr>
        <p:txBody>
          <a:bodyPr wrap="square" lIns="0" tIns="0" rIns="0" bIns="0" rtlCol="0" anchor="t"/>
          <a:lstStyle/>
          <a:p>
            <a:pPr marL="177800" indent="-1778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Many instructions, some very powerful</a:t>
            </a:r>
            <a:endParaRPr lang="en-US" sz="1200" dirty="0"/>
          </a:p>
          <a:p>
            <a:pPr marL="177800" indent="-1778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Instructions can directly access memory</a:t>
            </a:r>
            <a:endParaRPr lang="en-US" sz="1200" dirty="0"/>
          </a:p>
          <a:p>
            <a:pPr marL="177800" indent="-1778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Variable instruction length</a:t>
            </a:r>
            <a:endParaRPr lang="en-US" sz="1200" dirty="0"/>
          </a:p>
          <a:p>
            <a:pPr marL="177800" indent="-1778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Fewer lines of assembly per task</a:t>
            </a:r>
            <a:endParaRPr lang="en-US" sz="1200" dirty="0"/>
          </a:p>
          <a:p>
            <a:pPr marL="177800" indent="-1778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Example families: x86, x86-64</a:t>
            </a:r>
            <a:endParaRPr lang="en-US" sz="1200" dirty="0"/>
          </a:p>
        </p:txBody>
      </p:sp>
      <p:sp>
        <p:nvSpPr>
          <p:cNvPr id="8" name="Shape 6"/>
          <p:cNvSpPr/>
          <p:nvPr/>
        </p:nvSpPr>
        <p:spPr>
          <a:xfrm>
            <a:off x="6324448" y="1691640"/>
            <a:ext cx="5212080" cy="3566160"/>
          </a:xfrm>
          <a:prstGeom prst="roundRect">
            <a:avLst>
              <a:gd name="adj" fmla="val 2564"/>
            </a:avLst>
          </a:prstGeom>
          <a:solidFill>
            <a:srgbClr val="F2A93B"/>
          </a:solidFill>
          <a:ln/>
        </p:spPr>
      </p:sp>
      <p:sp>
        <p:nvSpPr>
          <p:cNvPr id="9" name="Text 7"/>
          <p:cNvSpPr/>
          <p:nvPr/>
        </p:nvSpPr>
        <p:spPr>
          <a:xfrm>
            <a:off x="6324448" y="1856232"/>
            <a:ext cx="5212080" cy="457200"/>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pitchFamily="34" charset="0"/>
                <a:ea typeface="Cambria" pitchFamily="34" charset="-122"/>
                <a:cs typeface="Cambria" pitchFamily="34" charset="-120"/>
              </a:rPr>
              <a:t>RISC</a:t>
            </a:r>
            <a:endParaRPr lang="en-US" sz="2200" dirty="0"/>
          </a:p>
        </p:txBody>
      </p:sp>
      <p:sp>
        <p:nvSpPr>
          <p:cNvPr id="10" name="Text 8"/>
          <p:cNvSpPr/>
          <p:nvPr/>
        </p:nvSpPr>
        <p:spPr>
          <a:xfrm>
            <a:off x="6324448" y="2286000"/>
            <a:ext cx="5212080" cy="320040"/>
          </a:xfrm>
          <a:prstGeom prst="rect">
            <a:avLst/>
          </a:prstGeom>
          <a:noFill/>
          <a:ln/>
        </p:spPr>
        <p:txBody>
          <a:bodyPr wrap="square" lIns="0" tIns="0" rIns="0" bIns="0" rtlCol="0" anchor="ctr"/>
          <a:lstStyle/>
          <a:p>
            <a:pPr marL="0" indent="0" algn="ctr">
              <a:buNone/>
            </a:pPr>
            <a:r>
              <a:rPr lang="en-US" sz="1150" i="1" dirty="0">
                <a:solidFill>
                  <a:srgbClr val="1E2761"/>
                </a:solidFill>
                <a:latin typeface="Calibri" pitchFamily="34" charset="0"/>
                <a:ea typeface="Calibri" pitchFamily="34" charset="-122"/>
                <a:cs typeface="Calibri" pitchFamily="34" charset="-120"/>
              </a:rPr>
              <a:t>Reduced Instruction Set Computer</a:t>
            </a:r>
            <a:endParaRPr lang="en-US" sz="1150" dirty="0"/>
          </a:p>
        </p:txBody>
      </p:sp>
      <p:sp>
        <p:nvSpPr>
          <p:cNvPr id="11" name="Text 9"/>
          <p:cNvSpPr/>
          <p:nvPr/>
        </p:nvSpPr>
        <p:spPr>
          <a:xfrm>
            <a:off x="6644488" y="2697480"/>
            <a:ext cx="4572000" cy="2377440"/>
          </a:xfrm>
          <a:prstGeom prst="rect">
            <a:avLst/>
          </a:prstGeom>
          <a:noFill/>
          <a:ln/>
        </p:spPr>
        <p:txBody>
          <a:bodyPr wrap="square" lIns="0" tIns="0" rIns="0" bIns="0" rtlCol="0" anchor="t"/>
          <a:lstStyle/>
          <a:p>
            <a:pPr marL="177800" indent="-177800">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Small set of simple, fast instructions</a:t>
            </a:r>
            <a:endParaRPr lang="en-US" sz="1200" dirty="0"/>
          </a:p>
          <a:p>
            <a:pPr marL="177800" indent="-177800">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Only LOAD/STORE touch memory directly</a:t>
            </a:r>
            <a:endParaRPr lang="en-US" sz="1200" dirty="0"/>
          </a:p>
          <a:p>
            <a:pPr marL="177800" indent="-177800">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Fixed instruction length</a:t>
            </a:r>
            <a:endParaRPr lang="en-US" sz="1200" dirty="0"/>
          </a:p>
          <a:p>
            <a:pPr marL="177800" indent="-177800">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More instructions, but each is fast &amp; pipeline-friendly</a:t>
            </a:r>
            <a:endParaRPr lang="en-US" sz="1200" dirty="0"/>
          </a:p>
          <a:p>
            <a:pPr marL="177800" indent="-177800">
              <a:spcAft>
                <a:spcPts val="1000"/>
              </a:spcAft>
              <a:buSzPct val="100000"/>
              <a:buChar char="▪"/>
            </a:pPr>
            <a:r>
              <a:rPr lang="en-US" sz="1200" dirty="0">
                <a:solidFill>
                  <a:srgbClr val="1E2761"/>
                </a:solidFill>
                <a:latin typeface="Calibri" pitchFamily="34" charset="0"/>
                <a:ea typeface="Calibri" pitchFamily="34" charset="-122"/>
                <a:cs typeface="Calibri" pitchFamily="34" charset="-120"/>
              </a:rPr>
              <a:t>Example families: ARM, RISC-V, MIPS</a:t>
            </a:r>
            <a:endParaRPr lang="en-US" sz="1200" dirty="0"/>
          </a:p>
        </p:txBody>
      </p:sp>
      <p:sp>
        <p:nvSpPr>
          <p:cNvPr id="12" name="Text 1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3" name="Text 11"/>
          <p:cNvSpPr/>
          <p:nvPr/>
        </p:nvSpPr>
        <p:spPr>
          <a:xfrm>
            <a:off x="0" y="0"/>
            <a:ext cx="0" cy="0"/>
          </a:xfrm>
          <a:prstGeom prst="rect">
            <a:avLst/>
          </a:prstGeom>
          <a:noFill/>
          <a:ln/>
        </p:spPr>
        <p:txBody>
          <a:bodyPr wrap="square" rtlCol="0" anchor="ctr"/>
          <a:lstStyle/>
          <a:p>
            <a:pPr marL="0" indent="0">
              <a:buNone/>
            </a:pPr>
            <a:endParaRPr lang="en-US" dirty="0"/>
          </a:p>
        </p:txBody>
      </p:sp>
      <p:sp>
        <p:nvSpPr>
          <p:cNvPr id="14" name="Text 1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RISC AND CISC INSTRUCTION SETS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RISC vs CISC — Side-by-Side Comparison</a:t>
            </a:r>
            <a:endParaRPr lang="en-US" sz="3000" dirty="0"/>
          </a:p>
        </p:txBody>
      </p:sp>
      <p:sp>
        <p:nvSpPr>
          <p:cNvPr id="4" name="Shape 2"/>
          <p:cNvSpPr/>
          <p:nvPr/>
        </p:nvSpPr>
        <p:spPr>
          <a:xfrm>
            <a:off x="548640" y="1572768"/>
            <a:ext cx="11094415" cy="502920"/>
          </a:xfrm>
          <a:prstGeom prst="rect">
            <a:avLst/>
          </a:prstGeom>
          <a:solidFill>
            <a:srgbClr val="1E2761"/>
          </a:solidFill>
          <a:ln/>
        </p:spPr>
      </p:sp>
      <p:sp>
        <p:nvSpPr>
          <p:cNvPr id="5" name="Text 3"/>
          <p:cNvSpPr/>
          <p:nvPr/>
        </p:nvSpPr>
        <p:spPr>
          <a:xfrm>
            <a:off x="548640" y="1572768"/>
            <a:ext cx="3383280" cy="502920"/>
          </a:xfrm>
          <a:prstGeom prst="rect">
            <a:avLst/>
          </a:prstGeom>
          <a:noFill/>
          <a:ln/>
        </p:spPr>
        <p:txBody>
          <a:bodyPr wrap="square" lIns="0" tIns="12700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Feature</a:t>
            </a:r>
            <a:endParaRPr lang="en-US" sz="1300" dirty="0"/>
          </a:p>
        </p:txBody>
      </p:sp>
      <p:sp>
        <p:nvSpPr>
          <p:cNvPr id="6" name="Text 4"/>
          <p:cNvSpPr/>
          <p:nvPr/>
        </p:nvSpPr>
        <p:spPr>
          <a:xfrm>
            <a:off x="4023360" y="1572768"/>
            <a:ext cx="40233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CISC</a:t>
            </a:r>
            <a:endParaRPr lang="en-US" sz="1300" dirty="0"/>
          </a:p>
        </p:txBody>
      </p:sp>
      <p:sp>
        <p:nvSpPr>
          <p:cNvPr id="7" name="Text 5"/>
          <p:cNvSpPr/>
          <p:nvPr/>
        </p:nvSpPr>
        <p:spPr>
          <a:xfrm>
            <a:off x="8138160" y="1572768"/>
            <a:ext cx="3657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RISC</a:t>
            </a:r>
            <a:endParaRPr lang="en-US" sz="1300" dirty="0"/>
          </a:p>
        </p:txBody>
      </p:sp>
      <p:sp>
        <p:nvSpPr>
          <p:cNvPr id="8" name="Shape 6"/>
          <p:cNvSpPr/>
          <p:nvPr/>
        </p:nvSpPr>
        <p:spPr>
          <a:xfrm>
            <a:off x="548640" y="2075688"/>
            <a:ext cx="11094415" cy="566928"/>
          </a:xfrm>
          <a:prstGeom prst="rect">
            <a:avLst/>
          </a:prstGeom>
          <a:solidFill>
            <a:srgbClr val="E9F0FC"/>
          </a:solidFill>
          <a:ln/>
        </p:spPr>
      </p:sp>
      <p:sp>
        <p:nvSpPr>
          <p:cNvPr id="9" name="Text 7"/>
          <p:cNvSpPr/>
          <p:nvPr/>
        </p:nvSpPr>
        <p:spPr>
          <a:xfrm>
            <a:off x="658368" y="2075688"/>
            <a:ext cx="3273552"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Instruction count</a:t>
            </a:r>
            <a:endParaRPr lang="en-US" sz="1150" dirty="0"/>
          </a:p>
        </p:txBody>
      </p:sp>
      <p:sp>
        <p:nvSpPr>
          <p:cNvPr id="10" name="Text 8"/>
          <p:cNvSpPr/>
          <p:nvPr/>
        </p:nvSpPr>
        <p:spPr>
          <a:xfrm>
            <a:off x="4023360" y="2075688"/>
            <a:ext cx="388620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Large, many specialized</a:t>
            </a:r>
            <a:endParaRPr lang="en-US" sz="1100" dirty="0"/>
          </a:p>
        </p:txBody>
      </p:sp>
      <p:sp>
        <p:nvSpPr>
          <p:cNvPr id="11" name="Text 9"/>
          <p:cNvSpPr/>
          <p:nvPr/>
        </p:nvSpPr>
        <p:spPr>
          <a:xfrm>
            <a:off x="8138160" y="2075688"/>
            <a:ext cx="352044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Small, general-purpose</a:t>
            </a:r>
            <a:endParaRPr lang="en-US" sz="1100" dirty="0"/>
          </a:p>
        </p:txBody>
      </p:sp>
      <p:sp>
        <p:nvSpPr>
          <p:cNvPr id="12" name="Shape 10"/>
          <p:cNvSpPr/>
          <p:nvPr/>
        </p:nvSpPr>
        <p:spPr>
          <a:xfrm>
            <a:off x="548640" y="2697480"/>
            <a:ext cx="11094415" cy="566928"/>
          </a:xfrm>
          <a:prstGeom prst="rect">
            <a:avLst/>
          </a:prstGeom>
          <a:solidFill>
            <a:srgbClr val="FFFFFF"/>
          </a:solidFill>
          <a:ln/>
        </p:spPr>
      </p:sp>
      <p:sp>
        <p:nvSpPr>
          <p:cNvPr id="13" name="Text 11"/>
          <p:cNvSpPr/>
          <p:nvPr/>
        </p:nvSpPr>
        <p:spPr>
          <a:xfrm>
            <a:off x="658368" y="2697480"/>
            <a:ext cx="3273552"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Instruction length</a:t>
            </a:r>
            <a:endParaRPr lang="en-US" sz="1150" dirty="0"/>
          </a:p>
        </p:txBody>
      </p:sp>
      <p:sp>
        <p:nvSpPr>
          <p:cNvPr id="14" name="Text 12"/>
          <p:cNvSpPr/>
          <p:nvPr/>
        </p:nvSpPr>
        <p:spPr>
          <a:xfrm>
            <a:off x="4023360" y="2697480"/>
            <a:ext cx="388620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Variable</a:t>
            </a:r>
            <a:endParaRPr lang="en-US" sz="1100" dirty="0"/>
          </a:p>
        </p:txBody>
      </p:sp>
      <p:sp>
        <p:nvSpPr>
          <p:cNvPr id="15" name="Text 13"/>
          <p:cNvSpPr/>
          <p:nvPr/>
        </p:nvSpPr>
        <p:spPr>
          <a:xfrm>
            <a:off x="8138160" y="2697480"/>
            <a:ext cx="352044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Fixed</a:t>
            </a:r>
            <a:endParaRPr lang="en-US" sz="1100" dirty="0"/>
          </a:p>
        </p:txBody>
      </p:sp>
      <p:sp>
        <p:nvSpPr>
          <p:cNvPr id="16" name="Shape 14"/>
          <p:cNvSpPr/>
          <p:nvPr/>
        </p:nvSpPr>
        <p:spPr>
          <a:xfrm>
            <a:off x="548640" y="3319272"/>
            <a:ext cx="11094415" cy="566928"/>
          </a:xfrm>
          <a:prstGeom prst="rect">
            <a:avLst/>
          </a:prstGeom>
          <a:solidFill>
            <a:srgbClr val="E9F0FC"/>
          </a:solidFill>
          <a:ln/>
        </p:spPr>
      </p:sp>
      <p:sp>
        <p:nvSpPr>
          <p:cNvPr id="17" name="Text 15"/>
          <p:cNvSpPr/>
          <p:nvPr/>
        </p:nvSpPr>
        <p:spPr>
          <a:xfrm>
            <a:off x="658368" y="3319272"/>
            <a:ext cx="3273552"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Memory access</a:t>
            </a:r>
            <a:endParaRPr lang="en-US" sz="1150" dirty="0"/>
          </a:p>
        </p:txBody>
      </p:sp>
      <p:sp>
        <p:nvSpPr>
          <p:cNvPr id="18" name="Text 16"/>
          <p:cNvSpPr/>
          <p:nvPr/>
        </p:nvSpPr>
        <p:spPr>
          <a:xfrm>
            <a:off x="4023360" y="3319272"/>
            <a:ext cx="388620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Many instructions can access memory</a:t>
            </a:r>
            <a:endParaRPr lang="en-US" sz="1100" dirty="0"/>
          </a:p>
        </p:txBody>
      </p:sp>
      <p:sp>
        <p:nvSpPr>
          <p:cNvPr id="19" name="Text 17"/>
          <p:cNvSpPr/>
          <p:nvPr/>
        </p:nvSpPr>
        <p:spPr>
          <a:xfrm>
            <a:off x="8138160" y="3319272"/>
            <a:ext cx="352044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Only LOAD / STORE access memory</a:t>
            </a:r>
            <a:endParaRPr lang="en-US" sz="1100" dirty="0"/>
          </a:p>
        </p:txBody>
      </p:sp>
      <p:sp>
        <p:nvSpPr>
          <p:cNvPr id="20" name="Shape 18"/>
          <p:cNvSpPr/>
          <p:nvPr/>
        </p:nvSpPr>
        <p:spPr>
          <a:xfrm>
            <a:off x="548640" y="3941064"/>
            <a:ext cx="11094415" cy="566928"/>
          </a:xfrm>
          <a:prstGeom prst="rect">
            <a:avLst/>
          </a:prstGeom>
          <a:solidFill>
            <a:srgbClr val="FFFFFF"/>
          </a:solidFill>
          <a:ln/>
        </p:spPr>
      </p:sp>
      <p:sp>
        <p:nvSpPr>
          <p:cNvPr id="21" name="Text 19"/>
          <p:cNvSpPr/>
          <p:nvPr/>
        </p:nvSpPr>
        <p:spPr>
          <a:xfrm>
            <a:off x="658368" y="3941064"/>
            <a:ext cx="3273552"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Execution style</a:t>
            </a:r>
            <a:endParaRPr lang="en-US" sz="1150" dirty="0"/>
          </a:p>
        </p:txBody>
      </p:sp>
      <p:sp>
        <p:nvSpPr>
          <p:cNvPr id="22" name="Text 20"/>
          <p:cNvSpPr/>
          <p:nvPr/>
        </p:nvSpPr>
        <p:spPr>
          <a:xfrm>
            <a:off x="4023360" y="3941064"/>
            <a:ext cx="388620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Instructions may take multiple cycles</a:t>
            </a:r>
            <a:endParaRPr lang="en-US" sz="1100" dirty="0"/>
          </a:p>
        </p:txBody>
      </p:sp>
      <p:sp>
        <p:nvSpPr>
          <p:cNvPr id="23" name="Text 21"/>
          <p:cNvSpPr/>
          <p:nvPr/>
        </p:nvSpPr>
        <p:spPr>
          <a:xfrm>
            <a:off x="8138160" y="3941064"/>
            <a:ext cx="352044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Most instructions take one cycle</a:t>
            </a:r>
            <a:endParaRPr lang="en-US" sz="1100" dirty="0"/>
          </a:p>
        </p:txBody>
      </p:sp>
      <p:sp>
        <p:nvSpPr>
          <p:cNvPr id="24" name="Shape 22"/>
          <p:cNvSpPr/>
          <p:nvPr/>
        </p:nvSpPr>
        <p:spPr>
          <a:xfrm>
            <a:off x="548640" y="4562856"/>
            <a:ext cx="11094415" cy="566928"/>
          </a:xfrm>
          <a:prstGeom prst="rect">
            <a:avLst/>
          </a:prstGeom>
          <a:solidFill>
            <a:srgbClr val="E9F0FC"/>
          </a:solidFill>
          <a:ln/>
        </p:spPr>
      </p:sp>
      <p:sp>
        <p:nvSpPr>
          <p:cNvPr id="25" name="Text 23"/>
          <p:cNvSpPr/>
          <p:nvPr/>
        </p:nvSpPr>
        <p:spPr>
          <a:xfrm>
            <a:off x="658368" y="4562856"/>
            <a:ext cx="3273552"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Compiler complexity</a:t>
            </a:r>
            <a:endParaRPr lang="en-US" sz="1150" dirty="0"/>
          </a:p>
        </p:txBody>
      </p:sp>
      <p:sp>
        <p:nvSpPr>
          <p:cNvPr id="26" name="Text 24"/>
          <p:cNvSpPr/>
          <p:nvPr/>
        </p:nvSpPr>
        <p:spPr>
          <a:xfrm>
            <a:off x="4023360" y="4562856"/>
            <a:ext cx="388620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Simpler compiler, complex hardware</a:t>
            </a:r>
            <a:endParaRPr lang="en-US" sz="1100" dirty="0"/>
          </a:p>
        </p:txBody>
      </p:sp>
      <p:sp>
        <p:nvSpPr>
          <p:cNvPr id="27" name="Text 25"/>
          <p:cNvSpPr/>
          <p:nvPr/>
        </p:nvSpPr>
        <p:spPr>
          <a:xfrm>
            <a:off x="8138160" y="4562856"/>
            <a:ext cx="352044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Complex compiler, simpler hardware</a:t>
            </a:r>
            <a:endParaRPr lang="en-US" sz="1100" dirty="0"/>
          </a:p>
        </p:txBody>
      </p:sp>
      <p:sp>
        <p:nvSpPr>
          <p:cNvPr id="28" name="Shape 26"/>
          <p:cNvSpPr/>
          <p:nvPr/>
        </p:nvSpPr>
        <p:spPr>
          <a:xfrm>
            <a:off x="548640" y="5184648"/>
            <a:ext cx="11094415" cy="566928"/>
          </a:xfrm>
          <a:prstGeom prst="rect">
            <a:avLst/>
          </a:prstGeom>
          <a:solidFill>
            <a:srgbClr val="FFFFFF"/>
          </a:solidFill>
          <a:ln/>
        </p:spPr>
      </p:sp>
      <p:sp>
        <p:nvSpPr>
          <p:cNvPr id="29" name="Text 27"/>
          <p:cNvSpPr/>
          <p:nvPr/>
        </p:nvSpPr>
        <p:spPr>
          <a:xfrm>
            <a:off x="658368" y="5184648"/>
            <a:ext cx="3273552" cy="566928"/>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Pipelining</a:t>
            </a:r>
            <a:endParaRPr lang="en-US" sz="1150" dirty="0"/>
          </a:p>
        </p:txBody>
      </p:sp>
      <p:sp>
        <p:nvSpPr>
          <p:cNvPr id="30" name="Text 28"/>
          <p:cNvSpPr/>
          <p:nvPr/>
        </p:nvSpPr>
        <p:spPr>
          <a:xfrm>
            <a:off x="4023360" y="5184648"/>
            <a:ext cx="388620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Harder due to variable length</a:t>
            </a:r>
            <a:endParaRPr lang="en-US" sz="1100" dirty="0"/>
          </a:p>
        </p:txBody>
      </p:sp>
      <p:sp>
        <p:nvSpPr>
          <p:cNvPr id="31" name="Text 29"/>
          <p:cNvSpPr/>
          <p:nvPr/>
        </p:nvSpPr>
        <p:spPr>
          <a:xfrm>
            <a:off x="8138160" y="5184648"/>
            <a:ext cx="3520440" cy="566928"/>
          </a:xfrm>
          <a:prstGeom prst="rect">
            <a:avLst/>
          </a:prstGeom>
          <a:noFill/>
          <a:ln/>
        </p:spPr>
        <p:txBody>
          <a:bodyPr wrap="square" lIns="0" tIns="0" rIns="0" bIns="0" rtlCol="0" anchor="ctr"/>
          <a:lstStyle/>
          <a:p>
            <a:pPr marL="0" indent="0" algn="ctr">
              <a:buNone/>
            </a:pPr>
            <a:r>
              <a:rPr lang="en-US" sz="1100" dirty="0">
                <a:solidFill>
                  <a:srgbClr val="212A4E"/>
                </a:solidFill>
                <a:latin typeface="Calibri" pitchFamily="34" charset="0"/>
                <a:ea typeface="Calibri" pitchFamily="34" charset="-122"/>
                <a:cs typeface="Calibri" pitchFamily="34" charset="-120"/>
              </a:rPr>
              <a:t>Very well suited</a:t>
            </a:r>
            <a:endParaRPr lang="en-US" sz="1100" dirty="0"/>
          </a:p>
        </p:txBody>
      </p:sp>
      <p:sp>
        <p:nvSpPr>
          <p:cNvPr id="32" name="Text 30"/>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33" name="Text 31"/>
          <p:cNvSpPr/>
          <p:nvPr/>
        </p:nvSpPr>
        <p:spPr>
          <a:xfrm>
            <a:off x="0" y="0"/>
            <a:ext cx="0" cy="0"/>
          </a:xfrm>
          <a:prstGeom prst="rect">
            <a:avLst/>
          </a:prstGeom>
          <a:noFill/>
          <a:ln/>
        </p:spPr>
        <p:txBody>
          <a:bodyPr wrap="square" rtlCol="0" anchor="ctr"/>
          <a:lstStyle/>
          <a:p>
            <a:pPr marL="0" indent="0">
              <a:buNone/>
            </a:pPr>
            <a:endParaRPr lang="en-US" dirty="0"/>
          </a:p>
        </p:txBody>
      </p:sp>
      <p:sp>
        <p:nvSpPr>
          <p:cNvPr id="34" name="Text 3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INTRODUCTION TO RISC INSTRUCTION SETS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Introduction to RISC Instruction Sets</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RISC instruction sets are built around a load-store architecture — arithmetic and logic instructions operate only on registers.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 large uniform register file (often 16, 32, or more registers) reduces the number of slow memory accesses.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Fixed-format, fixed-length instructions simplify decoding hardware and speed up the fetch and decode stages.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Simple addressing modes keep every instruction's timing predictable, which is essential for efficient pipelining.</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Design goal: maximize instructions executed per second, not minimize instructions per program.</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microchip icon inside a colored circle. Diagram: a small register file grid (16 boxes labelled R0–R15) beside a single ALU box, showing the load-store data path.</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INTRODUCTION TO RISC INSTRUCTION SETS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RISC Instruction Formats — Fixed-Width Fields</a:t>
            </a:r>
            <a:endParaRPr lang="en-US" sz="3000" dirty="0"/>
          </a:p>
        </p:txBody>
      </p:sp>
      <p:sp>
        <p:nvSpPr>
          <p:cNvPr id="4" name="Shape 2"/>
          <p:cNvSpPr/>
          <p:nvPr/>
        </p:nvSpPr>
        <p:spPr>
          <a:xfrm>
            <a:off x="822960" y="2011680"/>
            <a:ext cx="2280168" cy="822960"/>
          </a:xfrm>
          <a:prstGeom prst="rect">
            <a:avLst/>
          </a:prstGeom>
          <a:solidFill>
            <a:srgbClr val="1E2761"/>
          </a:solidFill>
          <a:ln w="19050">
            <a:solidFill>
              <a:srgbClr val="FFFFFF"/>
            </a:solidFill>
            <a:prstDash val="solid"/>
          </a:ln>
        </p:spPr>
      </p:sp>
      <p:sp>
        <p:nvSpPr>
          <p:cNvPr id="5" name="Text 3"/>
          <p:cNvSpPr/>
          <p:nvPr/>
        </p:nvSpPr>
        <p:spPr>
          <a:xfrm>
            <a:off x="822960" y="2011680"/>
            <a:ext cx="2280168" cy="8229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Opcode</a:t>
            </a:r>
            <a:endParaRPr lang="en-US" sz="1150" dirty="0"/>
          </a:p>
        </p:txBody>
      </p:sp>
      <p:sp>
        <p:nvSpPr>
          <p:cNvPr id="6" name="Shape 4"/>
          <p:cNvSpPr/>
          <p:nvPr/>
        </p:nvSpPr>
        <p:spPr>
          <a:xfrm>
            <a:off x="3103128" y="2011680"/>
            <a:ext cx="1805133" cy="822960"/>
          </a:xfrm>
          <a:prstGeom prst="rect">
            <a:avLst/>
          </a:prstGeom>
          <a:solidFill>
            <a:srgbClr val="CADCFC"/>
          </a:solidFill>
          <a:ln w="19050">
            <a:solidFill>
              <a:srgbClr val="FFFFFF"/>
            </a:solidFill>
            <a:prstDash val="solid"/>
          </a:ln>
        </p:spPr>
      </p:sp>
      <p:sp>
        <p:nvSpPr>
          <p:cNvPr id="7" name="Text 5"/>
          <p:cNvSpPr/>
          <p:nvPr/>
        </p:nvSpPr>
        <p:spPr>
          <a:xfrm>
            <a:off x="3103128" y="2011680"/>
            <a:ext cx="1805133" cy="82296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Rd (dest.)</a:t>
            </a:r>
            <a:endParaRPr lang="en-US" sz="1150" dirty="0"/>
          </a:p>
        </p:txBody>
      </p:sp>
      <p:sp>
        <p:nvSpPr>
          <p:cNvPr id="8" name="Shape 6"/>
          <p:cNvSpPr/>
          <p:nvPr/>
        </p:nvSpPr>
        <p:spPr>
          <a:xfrm>
            <a:off x="4908260" y="2011680"/>
            <a:ext cx="1805133" cy="822960"/>
          </a:xfrm>
          <a:prstGeom prst="rect">
            <a:avLst/>
          </a:prstGeom>
          <a:solidFill>
            <a:srgbClr val="E9F0FC"/>
          </a:solidFill>
          <a:ln w="19050">
            <a:solidFill>
              <a:srgbClr val="FFFFFF"/>
            </a:solidFill>
            <a:prstDash val="solid"/>
          </a:ln>
        </p:spPr>
      </p:sp>
      <p:sp>
        <p:nvSpPr>
          <p:cNvPr id="9" name="Text 7"/>
          <p:cNvSpPr/>
          <p:nvPr/>
        </p:nvSpPr>
        <p:spPr>
          <a:xfrm>
            <a:off x="4908260" y="2011680"/>
            <a:ext cx="1805133" cy="82296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Rs1 (src.)</a:t>
            </a:r>
            <a:endParaRPr lang="en-US" sz="1150" dirty="0"/>
          </a:p>
        </p:txBody>
      </p:sp>
      <p:sp>
        <p:nvSpPr>
          <p:cNvPr id="10" name="Shape 8"/>
          <p:cNvSpPr/>
          <p:nvPr/>
        </p:nvSpPr>
        <p:spPr>
          <a:xfrm>
            <a:off x="6713393" y="2011680"/>
            <a:ext cx="1805133" cy="822960"/>
          </a:xfrm>
          <a:prstGeom prst="rect">
            <a:avLst/>
          </a:prstGeom>
          <a:solidFill>
            <a:srgbClr val="CADCFC"/>
          </a:solidFill>
          <a:ln w="19050">
            <a:solidFill>
              <a:srgbClr val="FFFFFF"/>
            </a:solidFill>
            <a:prstDash val="solid"/>
          </a:ln>
        </p:spPr>
      </p:sp>
      <p:sp>
        <p:nvSpPr>
          <p:cNvPr id="11" name="Text 9"/>
          <p:cNvSpPr/>
          <p:nvPr/>
        </p:nvSpPr>
        <p:spPr>
          <a:xfrm>
            <a:off x="6713393" y="2011680"/>
            <a:ext cx="1805133" cy="82296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Rs2 (src.)</a:t>
            </a:r>
            <a:endParaRPr lang="en-US" sz="1150" dirty="0"/>
          </a:p>
        </p:txBody>
      </p:sp>
      <p:sp>
        <p:nvSpPr>
          <p:cNvPr id="12" name="Shape 10"/>
          <p:cNvSpPr/>
          <p:nvPr/>
        </p:nvSpPr>
        <p:spPr>
          <a:xfrm>
            <a:off x="8518526" y="2011680"/>
            <a:ext cx="2850210" cy="822960"/>
          </a:xfrm>
          <a:prstGeom prst="rect">
            <a:avLst/>
          </a:prstGeom>
          <a:solidFill>
            <a:srgbClr val="E9F0FC"/>
          </a:solidFill>
          <a:ln w="19050">
            <a:solidFill>
              <a:srgbClr val="FFFFFF"/>
            </a:solidFill>
            <a:prstDash val="solid"/>
          </a:ln>
        </p:spPr>
      </p:sp>
      <p:sp>
        <p:nvSpPr>
          <p:cNvPr id="13" name="Text 11"/>
          <p:cNvSpPr/>
          <p:nvPr/>
        </p:nvSpPr>
        <p:spPr>
          <a:xfrm>
            <a:off x="8518526" y="2011680"/>
            <a:ext cx="2850210" cy="82296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Unused / Immediate</a:t>
            </a:r>
            <a:endParaRPr lang="en-US" sz="1150" dirty="0"/>
          </a:p>
        </p:txBody>
      </p:sp>
      <p:sp>
        <p:nvSpPr>
          <p:cNvPr id="14" name="Text 12"/>
          <p:cNvSpPr/>
          <p:nvPr/>
        </p:nvSpPr>
        <p:spPr>
          <a:xfrm>
            <a:off x="822960" y="2971800"/>
            <a:ext cx="10545775" cy="365760"/>
          </a:xfrm>
          <a:prstGeom prst="rect">
            <a:avLst/>
          </a:prstGeom>
          <a:noFill/>
          <a:ln/>
        </p:spPr>
        <p:txBody>
          <a:bodyPr wrap="square" lIns="0" tIns="0" rIns="0" bIns="0" rtlCol="0" anchor="ctr"/>
          <a:lstStyle/>
          <a:p>
            <a:pPr marL="0" indent="0" algn="ctr">
              <a:buNone/>
            </a:pPr>
            <a:r>
              <a:rPr lang="en-US" sz="1150" i="1" dirty="0">
                <a:solidFill>
                  <a:srgbClr val="5B6690"/>
                </a:solidFill>
                <a:latin typeface="Calibri" pitchFamily="34" charset="0"/>
                <a:ea typeface="Calibri" pitchFamily="34" charset="-122"/>
                <a:cs typeface="Calibri" pitchFamily="34" charset="-120"/>
              </a:rPr>
              <a:t>32-bit instruction word — every field always sits in the same position, regardless of the opcode.</a:t>
            </a:r>
            <a:endParaRPr lang="en-US" sz="1150" dirty="0"/>
          </a:p>
        </p:txBody>
      </p:sp>
      <p:sp>
        <p:nvSpPr>
          <p:cNvPr id="15" name="Text 13"/>
          <p:cNvSpPr/>
          <p:nvPr/>
        </p:nvSpPr>
        <p:spPr>
          <a:xfrm>
            <a:off x="548640" y="3291840"/>
            <a:ext cx="11094415" cy="1920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50" dirty="0">
                <a:solidFill>
                  <a:srgbClr val="212A4E"/>
                </a:solidFill>
                <a:latin typeface="Calibri" pitchFamily="34" charset="0"/>
                <a:ea typeface="Calibri" pitchFamily="34" charset="-122"/>
                <a:cs typeface="Calibri" pitchFamily="34" charset="-120"/>
              </a:rPr>
              <a:t>Because field positions never change, the decoder can extract the opcode and operands in parallel — no guessing where fields start.</a:t>
            </a:r>
            <a:endParaRPr lang="en-US" sz="1350" dirty="0"/>
          </a:p>
          <a:p>
            <a:pPr marL="228600" indent="-228600">
              <a:lnSpc>
                <a:spcPct val="115000"/>
              </a:lnSpc>
              <a:spcAft>
                <a:spcPts val="1200"/>
              </a:spcAft>
              <a:buSzPct val="100000"/>
              <a:buChar char="▪"/>
            </a:pPr>
            <a:r>
              <a:rPr lang="en-US" sz="1350" dirty="0">
                <a:solidFill>
                  <a:srgbClr val="212A4E"/>
                </a:solidFill>
                <a:latin typeface="Calibri" pitchFamily="34" charset="0"/>
                <a:ea typeface="Calibri" pitchFamily="34" charset="-122"/>
                <a:cs typeface="Calibri" pitchFamily="34" charset="-120"/>
              </a:rPr>
              <a:t>Compare this to CISC, where instruction length itself can vary from 1 to 15 bytes, forcing sequential, slower decoding.</a:t>
            </a:r>
            <a:endParaRPr lang="en-US" sz="1350" dirty="0"/>
          </a:p>
          <a:p>
            <a:pPr marL="228600" indent="-228600">
              <a:lnSpc>
                <a:spcPct val="115000"/>
              </a:lnSpc>
              <a:spcAft>
                <a:spcPts val="1200"/>
              </a:spcAft>
              <a:buSzPct val="100000"/>
              <a:buChar char="▪"/>
            </a:pPr>
            <a:r>
              <a:rPr lang="en-US" sz="1350" dirty="0">
                <a:solidFill>
                  <a:srgbClr val="212A4E"/>
                </a:solidFill>
                <a:latin typeface="Calibri" pitchFamily="34" charset="0"/>
                <a:ea typeface="Calibri" pitchFamily="34" charset="-122"/>
                <a:cs typeface="Calibri" pitchFamily="34" charset="-120"/>
              </a:rPr>
              <a:t>This predictability is a major reason RISC chips pipeline so efficiently.</a:t>
            </a:r>
            <a:endParaRPr lang="en-US" sz="135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REAL-WORLD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RISC in the Real World: ARM &amp; RISC-V</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Almost every smartphone (Android and iPhone alike) runs on an ARM RISC processor.</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Robotics platforms such as Arduino (AVR/ARM cores) and Raspberry Pi (ARM) rely on RISC design for low power draw and predictable timing.</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RISC-V is a free, open instruction set now widely used in research chips, IoT devices, and edge-AI accelerators.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Why RISC wins here: battery-powered and embedded devices need high performance per watt — exactly what simple, pipeline-friendly instructions deliver.</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Photos: an ARM chip die shot, an Android phone, and a Raspberry Pi board arranged in a row, each labelled with its RISC lineage.</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REAL-WORLD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CISC in the Real World: Intel &amp; AMD x86</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Most laptops and desktop PCs run Intel or AMD processors using the x86 / x86-64 CISC instruction set.</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x86 includes powerful instructions that combine multiple operations (e.g., operate directly on a memory operand) for compact code.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Modern x86 chips internally translate CISC instructions into simpler RISC-like micro-operations before execution — the best of both worlds.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Why CISC persists: decades of existing software (Windows, professional applications) depend on x86 compatibility.</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Photo: a laptop and a desktop tower PC, with a zoomed inset of an Intel/AMD processor package, captioned ‘Backward Compatibility Keeps CISC Alive.’</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INSTRUCTION EXECUTION</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Instruction Execution &amp; the Program Counter (PC)</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The Program Counter (PC) is a special register that always holds the memory address of the next instruction to fetch.</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Before execution begins, the PC is initialized to the address of the program's first instruction.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After each fetch, the PC is automatically updated so the CPU knows where to go next.</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Whether that update is ‘just move forward’ or ‘jump elsewhere’ defines the two sequencing behaviours we study next: straight-line sequencing and branching.</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Diagram: a single register box labelled PC with an arrow pointing into a column of memory addresses (200, 204, 208...), highlighting the currently pointed-to address.</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INSTRUCTION EXECUTION AND STRAIGHT-LINE SEQUENCING</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Straight-Line Sequencing</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In straight-line sequencing, instructions execute in the exact order they are stored in memory, address after address.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After fetching the instruction at address i, the default rule is:  PC ← PC + instruction length.</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For a machine with 4-byte (word-aligned) instructions, this simplifies to:  PC ← PC + 4.</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This is the default behaviour of every CPU — it only changes when a branch instruction explicitly redirects the PC.</a:t>
            </a:r>
            <a:endParaRPr lang="en-US" sz="1500" dirty="0"/>
          </a:p>
        </p:txBody>
      </p:sp>
      <p:sp>
        <p:nvSpPr>
          <p:cNvPr id="5" name="Shape 3"/>
          <p:cNvSpPr/>
          <p:nvPr/>
        </p:nvSpPr>
        <p:spPr>
          <a:xfrm>
            <a:off x="9418320" y="1600200"/>
            <a:ext cx="2011680" cy="548640"/>
          </a:xfrm>
          <a:prstGeom prst="roundRect">
            <a:avLst>
              <a:gd name="adj" fmla="val 10000"/>
            </a:avLst>
          </a:prstGeom>
          <a:solidFill>
            <a:srgbClr val="F2A93B"/>
          </a:solidFill>
          <a:ln w="12700">
            <a:solidFill>
              <a:srgbClr val="CADCFC"/>
            </a:solidFill>
            <a:prstDash val="solid"/>
          </a:ln>
        </p:spPr>
      </p:sp>
      <p:sp>
        <p:nvSpPr>
          <p:cNvPr id="6" name="Text 4"/>
          <p:cNvSpPr/>
          <p:nvPr/>
        </p:nvSpPr>
        <p:spPr>
          <a:xfrm>
            <a:off x="9418320" y="1600200"/>
            <a:ext cx="2011680" cy="548640"/>
          </a:xfrm>
          <a:prstGeom prst="rect">
            <a:avLst/>
          </a:prstGeom>
          <a:noFill/>
          <a:ln/>
        </p:spPr>
        <p:txBody>
          <a:bodyPr wrap="square" lIns="0" tIns="0" rIns="0" bIns="0" rtlCol="0" anchor="ctr"/>
          <a:lstStyle/>
          <a:p>
            <a:pPr marL="0" indent="0" algn="ctr">
              <a:buNone/>
            </a:pPr>
            <a:r>
              <a:rPr lang="en-US" sz="1100" b="1" dirty="0">
                <a:solidFill>
                  <a:srgbClr val="1E2761"/>
                </a:solidFill>
                <a:latin typeface="Courier New" pitchFamily="34" charset="0"/>
                <a:ea typeface="Courier New" pitchFamily="34" charset="-122"/>
                <a:cs typeface="Courier New" pitchFamily="34" charset="-120"/>
              </a:rPr>
              <a:t>200: instr</a:t>
            </a:r>
            <a:endParaRPr lang="en-US" sz="1100" dirty="0"/>
          </a:p>
        </p:txBody>
      </p:sp>
      <p:sp>
        <p:nvSpPr>
          <p:cNvPr id="7" name="Text 5"/>
          <p:cNvSpPr/>
          <p:nvPr/>
        </p:nvSpPr>
        <p:spPr>
          <a:xfrm>
            <a:off x="10241280" y="2103120"/>
            <a:ext cx="365760" cy="27432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9418320" y="2377440"/>
            <a:ext cx="2011680" cy="548640"/>
          </a:xfrm>
          <a:prstGeom prst="roundRect">
            <a:avLst>
              <a:gd name="adj" fmla="val 10000"/>
            </a:avLst>
          </a:prstGeom>
          <a:solidFill>
            <a:srgbClr val="E9F0FC"/>
          </a:solidFill>
          <a:ln w="12700">
            <a:solidFill>
              <a:srgbClr val="CADCFC"/>
            </a:solidFill>
            <a:prstDash val="solid"/>
          </a:ln>
        </p:spPr>
      </p:sp>
      <p:sp>
        <p:nvSpPr>
          <p:cNvPr id="9" name="Text 7"/>
          <p:cNvSpPr/>
          <p:nvPr/>
        </p:nvSpPr>
        <p:spPr>
          <a:xfrm>
            <a:off x="9418320" y="2377440"/>
            <a:ext cx="2011680" cy="548640"/>
          </a:xfrm>
          <a:prstGeom prst="rect">
            <a:avLst/>
          </a:prstGeom>
          <a:noFill/>
          <a:ln/>
        </p:spPr>
        <p:txBody>
          <a:bodyPr wrap="square" lIns="0" tIns="0" rIns="0" bIns="0" rtlCol="0" anchor="ctr"/>
          <a:lstStyle/>
          <a:p>
            <a:pPr marL="0" indent="0" algn="ctr">
              <a:buNone/>
            </a:pPr>
            <a:r>
              <a:rPr lang="en-US" sz="1100" b="1" dirty="0">
                <a:solidFill>
                  <a:srgbClr val="1E2761"/>
                </a:solidFill>
                <a:latin typeface="Courier New" pitchFamily="34" charset="0"/>
                <a:ea typeface="Courier New" pitchFamily="34" charset="-122"/>
                <a:cs typeface="Courier New" pitchFamily="34" charset="-120"/>
              </a:rPr>
              <a:t>204: instr</a:t>
            </a:r>
            <a:endParaRPr lang="en-US" sz="1100" dirty="0"/>
          </a:p>
        </p:txBody>
      </p:sp>
      <p:sp>
        <p:nvSpPr>
          <p:cNvPr id="10" name="Text 8"/>
          <p:cNvSpPr/>
          <p:nvPr/>
        </p:nvSpPr>
        <p:spPr>
          <a:xfrm>
            <a:off x="10241280" y="2880360"/>
            <a:ext cx="365760" cy="27432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9418320" y="3154680"/>
            <a:ext cx="2011680" cy="548640"/>
          </a:xfrm>
          <a:prstGeom prst="roundRect">
            <a:avLst>
              <a:gd name="adj" fmla="val 10000"/>
            </a:avLst>
          </a:prstGeom>
          <a:solidFill>
            <a:srgbClr val="E9F0FC"/>
          </a:solidFill>
          <a:ln w="12700">
            <a:solidFill>
              <a:srgbClr val="CADCFC"/>
            </a:solidFill>
            <a:prstDash val="solid"/>
          </a:ln>
        </p:spPr>
      </p:sp>
      <p:sp>
        <p:nvSpPr>
          <p:cNvPr id="12" name="Text 10"/>
          <p:cNvSpPr/>
          <p:nvPr/>
        </p:nvSpPr>
        <p:spPr>
          <a:xfrm>
            <a:off x="9418320" y="3154680"/>
            <a:ext cx="2011680" cy="548640"/>
          </a:xfrm>
          <a:prstGeom prst="rect">
            <a:avLst/>
          </a:prstGeom>
          <a:noFill/>
          <a:ln/>
        </p:spPr>
        <p:txBody>
          <a:bodyPr wrap="square" lIns="0" tIns="0" rIns="0" bIns="0" rtlCol="0" anchor="ctr"/>
          <a:lstStyle/>
          <a:p>
            <a:pPr marL="0" indent="0" algn="ctr">
              <a:buNone/>
            </a:pPr>
            <a:r>
              <a:rPr lang="en-US" sz="1100" b="1" dirty="0">
                <a:solidFill>
                  <a:srgbClr val="1E2761"/>
                </a:solidFill>
                <a:latin typeface="Courier New" pitchFamily="34" charset="0"/>
                <a:ea typeface="Courier New" pitchFamily="34" charset="-122"/>
                <a:cs typeface="Courier New" pitchFamily="34" charset="-120"/>
              </a:rPr>
              <a:t>208: instr</a:t>
            </a:r>
            <a:endParaRPr lang="en-US" sz="1100" dirty="0"/>
          </a:p>
        </p:txBody>
      </p:sp>
      <p:sp>
        <p:nvSpPr>
          <p:cNvPr id="13" name="Text 11"/>
          <p:cNvSpPr/>
          <p:nvPr/>
        </p:nvSpPr>
        <p:spPr>
          <a:xfrm>
            <a:off x="10241280" y="3657600"/>
            <a:ext cx="365760" cy="274320"/>
          </a:xfrm>
          <a:prstGeom prst="rect">
            <a:avLst/>
          </a:prstGeom>
          <a:noFill/>
          <a:ln/>
        </p:spPr>
        <p:txBody>
          <a:bodyPr wrap="square" lIns="0" tIns="0" rIns="0" bIns="0" rtlCol="0" anchor="ctr"/>
          <a:lstStyle/>
          <a:p>
            <a:pPr marL="0" indent="0" algn="ctr">
              <a:buNone/>
            </a:pPr>
            <a:r>
              <a:rPr lang="en-US" sz="1600" b="1" dirty="0">
                <a:solidFill>
                  <a:srgbClr val="F2A93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9418320" y="3931920"/>
            <a:ext cx="2011680" cy="548640"/>
          </a:xfrm>
          <a:prstGeom prst="roundRect">
            <a:avLst>
              <a:gd name="adj" fmla="val 10000"/>
            </a:avLst>
          </a:prstGeom>
          <a:solidFill>
            <a:srgbClr val="E9F0FC"/>
          </a:solidFill>
          <a:ln w="12700">
            <a:solidFill>
              <a:srgbClr val="CADCFC"/>
            </a:solidFill>
            <a:prstDash val="solid"/>
          </a:ln>
        </p:spPr>
      </p:sp>
      <p:sp>
        <p:nvSpPr>
          <p:cNvPr id="15" name="Text 13"/>
          <p:cNvSpPr/>
          <p:nvPr/>
        </p:nvSpPr>
        <p:spPr>
          <a:xfrm>
            <a:off x="9418320" y="3931920"/>
            <a:ext cx="2011680" cy="548640"/>
          </a:xfrm>
          <a:prstGeom prst="rect">
            <a:avLst/>
          </a:prstGeom>
          <a:noFill/>
          <a:ln/>
        </p:spPr>
        <p:txBody>
          <a:bodyPr wrap="square" lIns="0" tIns="0" rIns="0" bIns="0" rtlCol="0" anchor="ctr"/>
          <a:lstStyle/>
          <a:p>
            <a:pPr marL="0" indent="0" algn="ctr">
              <a:buNone/>
            </a:pPr>
            <a:r>
              <a:rPr lang="en-US" sz="1100" b="1" dirty="0">
                <a:solidFill>
                  <a:srgbClr val="1E2761"/>
                </a:solidFill>
                <a:latin typeface="Courier New" pitchFamily="34" charset="0"/>
                <a:ea typeface="Courier New" pitchFamily="34" charset="-122"/>
                <a:cs typeface="Courier New" pitchFamily="34" charset="-120"/>
              </a:rPr>
              <a:t>212: instr</a:t>
            </a:r>
            <a:endParaRPr lang="en-US" sz="110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Worked Example: Tracing Straight-Line Sequencing</a:t>
            </a:r>
            <a:endParaRPr lang="en-US" sz="3000" dirty="0"/>
          </a:p>
        </p:txBody>
      </p:sp>
      <p:sp>
        <p:nvSpPr>
          <p:cNvPr id="4" name="Shape 2"/>
          <p:cNvSpPr/>
          <p:nvPr/>
        </p:nvSpPr>
        <p:spPr>
          <a:xfrm>
            <a:off x="548640" y="1463040"/>
            <a:ext cx="11094415" cy="502920"/>
          </a:xfrm>
          <a:prstGeom prst="roundRect">
            <a:avLst>
              <a:gd name="adj" fmla="val 10909"/>
            </a:avLst>
          </a:prstGeom>
          <a:solidFill>
            <a:srgbClr val="1E2761"/>
          </a:solidFill>
          <a:ln/>
        </p:spPr>
      </p:sp>
      <p:sp>
        <p:nvSpPr>
          <p:cNvPr id="5" name="Text 3"/>
          <p:cNvSpPr/>
          <p:nvPr/>
        </p:nvSpPr>
        <p:spPr>
          <a:xfrm>
            <a:off x="777240" y="1463040"/>
            <a:ext cx="10637215"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Trace the PC for a 3-instruction program starting at address 300 (each instruction is 4 bytes).</a:t>
            </a:r>
            <a:endParaRPr lang="en-US" sz="1300" dirty="0"/>
          </a:p>
        </p:txBody>
      </p:sp>
      <p:sp>
        <p:nvSpPr>
          <p:cNvPr id="6" name="Shape 4"/>
          <p:cNvSpPr/>
          <p:nvPr/>
        </p:nvSpPr>
        <p:spPr>
          <a:xfrm>
            <a:off x="548640" y="2148840"/>
            <a:ext cx="11094415" cy="457200"/>
          </a:xfrm>
          <a:prstGeom prst="rect">
            <a:avLst/>
          </a:prstGeom>
          <a:solidFill>
            <a:srgbClr val="CADCFC"/>
          </a:solidFill>
          <a:ln/>
        </p:spPr>
      </p:sp>
      <p:sp>
        <p:nvSpPr>
          <p:cNvPr id="7" name="Text 5"/>
          <p:cNvSpPr/>
          <p:nvPr/>
        </p:nvSpPr>
        <p:spPr>
          <a:xfrm>
            <a:off x="822960" y="2148840"/>
            <a:ext cx="1920240" cy="45720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Address</a:t>
            </a:r>
            <a:endParaRPr lang="en-US" sz="1150" dirty="0"/>
          </a:p>
        </p:txBody>
      </p:sp>
      <p:sp>
        <p:nvSpPr>
          <p:cNvPr id="8" name="Text 6"/>
          <p:cNvSpPr/>
          <p:nvPr/>
        </p:nvSpPr>
        <p:spPr>
          <a:xfrm>
            <a:off x="2834640" y="2148840"/>
            <a:ext cx="3383280" cy="45720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Instruction</a:t>
            </a:r>
            <a:endParaRPr lang="en-US" sz="1150" dirty="0"/>
          </a:p>
        </p:txBody>
      </p:sp>
      <p:sp>
        <p:nvSpPr>
          <p:cNvPr id="9" name="Text 7"/>
          <p:cNvSpPr/>
          <p:nvPr/>
        </p:nvSpPr>
        <p:spPr>
          <a:xfrm>
            <a:off x="6400800" y="2148840"/>
            <a:ext cx="2560320" cy="45720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PC Before Fetch</a:t>
            </a:r>
            <a:endParaRPr lang="en-US" sz="1150" dirty="0"/>
          </a:p>
        </p:txBody>
      </p:sp>
      <p:sp>
        <p:nvSpPr>
          <p:cNvPr id="10" name="Text 8"/>
          <p:cNvSpPr/>
          <p:nvPr/>
        </p:nvSpPr>
        <p:spPr>
          <a:xfrm>
            <a:off x="9144000" y="2148840"/>
            <a:ext cx="2377440" cy="457200"/>
          </a:xfrm>
          <a:prstGeom prst="rect">
            <a:avLst/>
          </a:prstGeom>
          <a:noFill/>
          <a:ln/>
        </p:spPr>
        <p:txBody>
          <a:bodyPr wrap="square" lIns="0" tIns="0" rIns="0" bIns="0"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PC After Fetch (PC + 4)</a:t>
            </a:r>
            <a:endParaRPr lang="en-US" sz="1150" dirty="0"/>
          </a:p>
        </p:txBody>
      </p:sp>
      <p:sp>
        <p:nvSpPr>
          <p:cNvPr id="11" name="Shape 9"/>
          <p:cNvSpPr/>
          <p:nvPr/>
        </p:nvSpPr>
        <p:spPr>
          <a:xfrm>
            <a:off x="548640" y="2660904"/>
            <a:ext cx="11094415" cy="530352"/>
          </a:xfrm>
          <a:prstGeom prst="rect">
            <a:avLst/>
          </a:prstGeom>
          <a:solidFill>
            <a:srgbClr val="E9F0FC"/>
          </a:solidFill>
          <a:ln/>
        </p:spPr>
      </p:sp>
      <p:sp>
        <p:nvSpPr>
          <p:cNvPr id="12" name="Text 10"/>
          <p:cNvSpPr/>
          <p:nvPr/>
        </p:nvSpPr>
        <p:spPr>
          <a:xfrm>
            <a:off x="822960" y="2660904"/>
            <a:ext cx="192024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300</a:t>
            </a:r>
            <a:endParaRPr lang="en-US" sz="1200" dirty="0"/>
          </a:p>
        </p:txBody>
      </p:sp>
      <p:sp>
        <p:nvSpPr>
          <p:cNvPr id="13" name="Text 11"/>
          <p:cNvSpPr/>
          <p:nvPr/>
        </p:nvSpPr>
        <p:spPr>
          <a:xfrm>
            <a:off x="2834640" y="2660904"/>
            <a:ext cx="3383280" cy="530352"/>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LOAD R1, 1000</a:t>
            </a:r>
            <a:endParaRPr lang="en-US" sz="1200" dirty="0"/>
          </a:p>
        </p:txBody>
      </p:sp>
      <p:sp>
        <p:nvSpPr>
          <p:cNvPr id="14" name="Text 12"/>
          <p:cNvSpPr/>
          <p:nvPr/>
        </p:nvSpPr>
        <p:spPr>
          <a:xfrm>
            <a:off x="6400800" y="2660904"/>
            <a:ext cx="256032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300</a:t>
            </a:r>
            <a:endParaRPr lang="en-US" sz="1200" dirty="0"/>
          </a:p>
        </p:txBody>
      </p:sp>
      <p:sp>
        <p:nvSpPr>
          <p:cNvPr id="15" name="Text 13"/>
          <p:cNvSpPr/>
          <p:nvPr/>
        </p:nvSpPr>
        <p:spPr>
          <a:xfrm>
            <a:off x="9144000" y="2660904"/>
            <a:ext cx="237744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304</a:t>
            </a:r>
            <a:endParaRPr lang="en-US" sz="1200" dirty="0"/>
          </a:p>
        </p:txBody>
      </p:sp>
      <p:sp>
        <p:nvSpPr>
          <p:cNvPr id="16" name="Shape 14"/>
          <p:cNvSpPr/>
          <p:nvPr/>
        </p:nvSpPr>
        <p:spPr>
          <a:xfrm>
            <a:off x="548640" y="3246120"/>
            <a:ext cx="11094415" cy="530352"/>
          </a:xfrm>
          <a:prstGeom prst="rect">
            <a:avLst/>
          </a:prstGeom>
          <a:solidFill>
            <a:srgbClr val="FFFFFF"/>
          </a:solidFill>
          <a:ln/>
        </p:spPr>
      </p:sp>
      <p:sp>
        <p:nvSpPr>
          <p:cNvPr id="17" name="Text 15"/>
          <p:cNvSpPr/>
          <p:nvPr/>
        </p:nvSpPr>
        <p:spPr>
          <a:xfrm>
            <a:off x="822960" y="3246120"/>
            <a:ext cx="192024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304</a:t>
            </a:r>
            <a:endParaRPr lang="en-US" sz="1200" dirty="0"/>
          </a:p>
        </p:txBody>
      </p:sp>
      <p:sp>
        <p:nvSpPr>
          <p:cNvPr id="18" name="Text 16"/>
          <p:cNvSpPr/>
          <p:nvPr/>
        </p:nvSpPr>
        <p:spPr>
          <a:xfrm>
            <a:off x="2834640" y="3246120"/>
            <a:ext cx="3383280" cy="530352"/>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LOAD R2, 1004</a:t>
            </a:r>
            <a:endParaRPr lang="en-US" sz="1200" dirty="0"/>
          </a:p>
        </p:txBody>
      </p:sp>
      <p:sp>
        <p:nvSpPr>
          <p:cNvPr id="19" name="Text 17"/>
          <p:cNvSpPr/>
          <p:nvPr/>
        </p:nvSpPr>
        <p:spPr>
          <a:xfrm>
            <a:off x="6400800" y="3246120"/>
            <a:ext cx="256032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304</a:t>
            </a:r>
            <a:endParaRPr lang="en-US" sz="1200" dirty="0"/>
          </a:p>
        </p:txBody>
      </p:sp>
      <p:sp>
        <p:nvSpPr>
          <p:cNvPr id="20" name="Text 18"/>
          <p:cNvSpPr/>
          <p:nvPr/>
        </p:nvSpPr>
        <p:spPr>
          <a:xfrm>
            <a:off x="9144000" y="3246120"/>
            <a:ext cx="237744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308</a:t>
            </a:r>
            <a:endParaRPr lang="en-US" sz="1200" dirty="0"/>
          </a:p>
        </p:txBody>
      </p:sp>
      <p:sp>
        <p:nvSpPr>
          <p:cNvPr id="21" name="Shape 19"/>
          <p:cNvSpPr/>
          <p:nvPr/>
        </p:nvSpPr>
        <p:spPr>
          <a:xfrm>
            <a:off x="548640" y="3831336"/>
            <a:ext cx="11094415" cy="530352"/>
          </a:xfrm>
          <a:prstGeom prst="rect">
            <a:avLst/>
          </a:prstGeom>
          <a:solidFill>
            <a:srgbClr val="E9F0FC"/>
          </a:solidFill>
          <a:ln/>
        </p:spPr>
      </p:sp>
      <p:sp>
        <p:nvSpPr>
          <p:cNvPr id="22" name="Text 20"/>
          <p:cNvSpPr/>
          <p:nvPr/>
        </p:nvSpPr>
        <p:spPr>
          <a:xfrm>
            <a:off x="822960" y="3831336"/>
            <a:ext cx="192024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308</a:t>
            </a:r>
            <a:endParaRPr lang="en-US" sz="1200" dirty="0"/>
          </a:p>
        </p:txBody>
      </p:sp>
      <p:sp>
        <p:nvSpPr>
          <p:cNvPr id="23" name="Text 21"/>
          <p:cNvSpPr/>
          <p:nvPr/>
        </p:nvSpPr>
        <p:spPr>
          <a:xfrm>
            <a:off x="2834640" y="3831336"/>
            <a:ext cx="3383280" cy="530352"/>
          </a:xfrm>
          <a:prstGeom prst="rect">
            <a:avLst/>
          </a:prstGeom>
          <a:noFill/>
          <a:ln/>
        </p:spPr>
        <p:txBody>
          <a:bodyPr wrap="square" lIns="0" tIns="0" rIns="0" bIns="0" rtlCol="0" anchor="ctr"/>
          <a:lstStyle/>
          <a:p>
            <a:pPr marL="0" indent="0" algn="ctr">
              <a:buNone/>
            </a:pPr>
            <a:r>
              <a:rPr lang="en-US" sz="1200" b="1" dirty="0">
                <a:solidFill>
                  <a:srgbClr val="1E2761"/>
                </a:solidFill>
                <a:latin typeface="Courier New" pitchFamily="34" charset="0"/>
                <a:ea typeface="Courier New" pitchFamily="34" charset="-122"/>
                <a:cs typeface="Courier New" pitchFamily="34" charset="-120"/>
              </a:rPr>
              <a:t>ADD R3, R1, R2</a:t>
            </a:r>
            <a:endParaRPr lang="en-US" sz="1200" dirty="0"/>
          </a:p>
        </p:txBody>
      </p:sp>
      <p:sp>
        <p:nvSpPr>
          <p:cNvPr id="24" name="Text 22"/>
          <p:cNvSpPr/>
          <p:nvPr/>
        </p:nvSpPr>
        <p:spPr>
          <a:xfrm>
            <a:off x="6400800" y="3831336"/>
            <a:ext cx="256032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308</a:t>
            </a:r>
            <a:endParaRPr lang="en-US" sz="1200" dirty="0"/>
          </a:p>
        </p:txBody>
      </p:sp>
      <p:sp>
        <p:nvSpPr>
          <p:cNvPr id="25" name="Text 23"/>
          <p:cNvSpPr/>
          <p:nvPr/>
        </p:nvSpPr>
        <p:spPr>
          <a:xfrm>
            <a:off x="9144000" y="3831336"/>
            <a:ext cx="2377440" cy="530352"/>
          </a:xfrm>
          <a:prstGeom prst="rect">
            <a:avLst/>
          </a:prstGeom>
          <a:noFill/>
          <a:ln/>
        </p:spPr>
        <p:txBody>
          <a:bodyPr wrap="square" lIns="0" tIns="0" rIns="0" bIns="0" rtlCol="0" anchor="ctr"/>
          <a:lstStyle/>
          <a:p>
            <a:pPr marL="0" indent="0" algn="ctr">
              <a:buNone/>
            </a:pPr>
            <a:r>
              <a:rPr lang="en-US" sz="1200" dirty="0">
                <a:solidFill>
                  <a:srgbClr val="212A4E"/>
                </a:solidFill>
                <a:latin typeface="Courier New" pitchFamily="34" charset="0"/>
                <a:ea typeface="Courier New" pitchFamily="34" charset="-122"/>
                <a:cs typeface="Courier New" pitchFamily="34" charset="-120"/>
              </a:rPr>
              <a:t>312</a:t>
            </a:r>
            <a:endParaRPr lang="en-US" sz="1200" dirty="0"/>
          </a:p>
        </p:txBody>
      </p:sp>
      <p:sp>
        <p:nvSpPr>
          <p:cNvPr id="26" name="Text 24"/>
          <p:cNvSpPr/>
          <p:nvPr/>
        </p:nvSpPr>
        <p:spPr>
          <a:xfrm>
            <a:off x="548640" y="4160520"/>
            <a:ext cx="11094415" cy="16916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50" dirty="0">
                <a:solidFill>
                  <a:srgbClr val="212A4E"/>
                </a:solidFill>
                <a:latin typeface="Calibri" pitchFamily="34" charset="0"/>
                <a:ea typeface="Calibri" pitchFamily="34" charset="-122"/>
                <a:cs typeface="Calibri" pitchFamily="34" charset="-120"/>
              </a:rPr>
              <a:t>Understanding the problem: three instructions sit back-to-back in memory with no jumps between them.</a:t>
            </a:r>
            <a:endParaRPr lang="en-US" sz="1250" dirty="0"/>
          </a:p>
          <a:p>
            <a:pPr marL="228600" indent="-228600">
              <a:lnSpc>
                <a:spcPct val="115000"/>
              </a:lnSpc>
              <a:spcAft>
                <a:spcPts val="1200"/>
              </a:spcAft>
              <a:buSzPct val="100000"/>
              <a:buChar char="▪"/>
            </a:pPr>
            <a:r>
              <a:rPr lang="en-US" sz="1250" dirty="0">
                <a:solidFill>
                  <a:srgbClr val="212A4E"/>
                </a:solidFill>
                <a:latin typeface="Calibri" pitchFamily="34" charset="0"/>
                <a:ea typeface="Calibri" pitchFamily="34" charset="-122"/>
                <a:cs typeface="Calibri" pitchFamily="34" charset="-120"/>
              </a:rPr>
              <a:t>Method: apply PC ← PC + 4 after every fetch since each instruction occupies exactly 4 bytes.</a:t>
            </a:r>
            <a:endParaRPr lang="en-US" sz="1250" dirty="0"/>
          </a:p>
          <a:p>
            <a:pPr marL="228600" indent="-228600">
              <a:lnSpc>
                <a:spcPct val="115000"/>
              </a:lnSpc>
              <a:spcAft>
                <a:spcPts val="1200"/>
              </a:spcAft>
              <a:buSzPct val="100000"/>
              <a:buChar char="▪"/>
            </a:pPr>
            <a:r>
              <a:rPr lang="en-US" sz="1250" dirty="0">
                <a:solidFill>
                  <a:srgbClr val="212A4E"/>
                </a:solidFill>
                <a:latin typeface="Calibri" pitchFamily="34" charset="0"/>
                <a:ea typeface="Calibri" pitchFamily="34" charset="-122"/>
                <a:cs typeface="Calibri" pitchFamily="34" charset="-120"/>
              </a:rPr>
              <a:t>Result interpretation: execution naturally flows 300 → 304 → 308 → 312, loading A and B and adding them — exactly the C = A + B program from earlier, now viewed through the lens of PC movement.</a:t>
            </a:r>
            <a:endParaRPr lang="en-US" sz="1250" dirty="0"/>
          </a:p>
        </p:txBody>
      </p:sp>
      <p:sp>
        <p:nvSpPr>
          <p:cNvPr id="27" name="Text 2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8" name="Text 26"/>
          <p:cNvSpPr/>
          <p:nvPr/>
        </p:nvSpPr>
        <p:spPr>
          <a:xfrm>
            <a:off x="0" y="0"/>
            <a:ext cx="0" cy="0"/>
          </a:xfrm>
          <a:prstGeom prst="rect">
            <a:avLst/>
          </a:prstGeom>
          <a:noFill/>
          <a:ln/>
        </p:spPr>
        <p:txBody>
          <a:bodyPr wrap="square" rtlCol="0" anchor="ctr"/>
          <a:lstStyle/>
          <a:p>
            <a:pPr marL="0" indent="0">
              <a:buNone/>
            </a:pPr>
            <a:endParaRPr lang="en-US" dirty="0"/>
          </a:p>
        </p:txBody>
      </p:sp>
      <p:sp>
        <p:nvSpPr>
          <p:cNvPr id="29" name="Text 2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Branching — Breaking the Straight Line</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 branch instruction explicitly loads a new value into the PC instead of simply adding the instruction length.</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This lets programs implement loops, if-else decisions, and function calls — the building blocks of real software.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RTN form:  PC ← target address     (instead of the default PC ← PC + 4).</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Without branching, every program would be a single straight sequence with no repetition or decision-making — essentially useless for real tasks.</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Diagram: the straight-line ladder of addresses from the earlier slide, but now with a curved arrow looping from address 320 back up to address 216, labelled ‘branch taken’.</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BRANCHING</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Conditional vs. Unconditional Branches</a:t>
            </a:r>
            <a:endParaRPr lang="en-US" sz="3000" dirty="0"/>
          </a:p>
        </p:txBody>
      </p:sp>
      <p:sp>
        <p:nvSpPr>
          <p:cNvPr id="4" name="Shape 2"/>
          <p:cNvSpPr/>
          <p:nvPr/>
        </p:nvSpPr>
        <p:spPr>
          <a:xfrm>
            <a:off x="655168" y="1691640"/>
            <a:ext cx="5212080" cy="3520440"/>
          </a:xfrm>
          <a:prstGeom prst="roundRect">
            <a:avLst>
              <a:gd name="adj" fmla="val 2597"/>
            </a:avLst>
          </a:prstGeom>
          <a:solidFill>
            <a:srgbClr val="1E2761"/>
          </a:solidFill>
          <a:ln/>
        </p:spPr>
      </p:sp>
      <p:sp>
        <p:nvSpPr>
          <p:cNvPr id="5" name="Text 3"/>
          <p:cNvSpPr/>
          <p:nvPr/>
        </p:nvSpPr>
        <p:spPr>
          <a:xfrm>
            <a:off x="655168" y="1920240"/>
            <a:ext cx="521208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Unconditional Branch</a:t>
            </a:r>
            <a:endParaRPr lang="en-US" sz="1800" dirty="0"/>
          </a:p>
        </p:txBody>
      </p:sp>
      <p:sp>
        <p:nvSpPr>
          <p:cNvPr id="6" name="Text 4"/>
          <p:cNvSpPr/>
          <p:nvPr/>
        </p:nvSpPr>
        <p:spPr>
          <a:xfrm>
            <a:off x="975208" y="2651760"/>
            <a:ext cx="4572000" cy="2331720"/>
          </a:xfrm>
          <a:prstGeom prst="rect">
            <a:avLst/>
          </a:prstGeom>
          <a:noFill/>
          <a:ln/>
        </p:spPr>
        <p:txBody>
          <a:bodyPr wrap="square" lIns="0" tIns="0" rIns="0" bIns="0" rtlCol="0" anchor="t"/>
          <a:lstStyle/>
          <a:p>
            <a:pPr marL="177800" indent="-177800">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Always jumps to the target address, no condition checked</a:t>
            </a:r>
            <a:endParaRPr lang="en-US" sz="1250" dirty="0"/>
          </a:p>
          <a:p>
            <a:pPr marL="177800" indent="-177800">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Example:  JMP 500   →   PC ← 500</a:t>
            </a:r>
            <a:endParaRPr lang="en-US" sz="1250" dirty="0"/>
          </a:p>
          <a:p>
            <a:pPr marL="177800" indent="-177800">
              <a:spcAft>
                <a:spcPts val="1400"/>
              </a:spcAft>
              <a:buSzPct val="100000"/>
              <a:buChar char="▪"/>
            </a:pPr>
            <a:r>
              <a:rPr lang="en-US" sz="1250" dirty="0">
                <a:solidFill>
                  <a:srgbClr val="FFFFFF"/>
                </a:solidFill>
                <a:latin typeface="Calibri" pitchFamily="34" charset="0"/>
                <a:ea typeface="Calibri" pitchFamily="34" charset="-122"/>
                <a:cs typeface="Calibri" pitchFamily="34" charset="-120"/>
              </a:rPr>
              <a:t>Used for: implementing loops back-edges, function calls, GOTO</a:t>
            </a:r>
            <a:endParaRPr lang="en-US" sz="1250" dirty="0"/>
          </a:p>
        </p:txBody>
      </p:sp>
      <p:sp>
        <p:nvSpPr>
          <p:cNvPr id="7" name="Shape 5"/>
          <p:cNvSpPr/>
          <p:nvPr/>
        </p:nvSpPr>
        <p:spPr>
          <a:xfrm>
            <a:off x="6324448" y="1691640"/>
            <a:ext cx="5212080" cy="3520440"/>
          </a:xfrm>
          <a:prstGeom prst="roundRect">
            <a:avLst>
              <a:gd name="adj" fmla="val 2597"/>
            </a:avLst>
          </a:prstGeom>
          <a:solidFill>
            <a:srgbClr val="F2A93B"/>
          </a:solidFill>
          <a:ln/>
        </p:spPr>
      </p:sp>
      <p:sp>
        <p:nvSpPr>
          <p:cNvPr id="8" name="Text 6"/>
          <p:cNvSpPr/>
          <p:nvPr/>
        </p:nvSpPr>
        <p:spPr>
          <a:xfrm>
            <a:off x="6324448" y="1920240"/>
            <a:ext cx="5212080" cy="54864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Conditional Branch</a:t>
            </a:r>
            <a:endParaRPr lang="en-US" sz="1800" dirty="0"/>
          </a:p>
        </p:txBody>
      </p:sp>
      <p:sp>
        <p:nvSpPr>
          <p:cNvPr id="9" name="Text 7"/>
          <p:cNvSpPr/>
          <p:nvPr/>
        </p:nvSpPr>
        <p:spPr>
          <a:xfrm>
            <a:off x="6644488" y="2651760"/>
            <a:ext cx="4572000" cy="2331720"/>
          </a:xfrm>
          <a:prstGeom prst="rect">
            <a:avLst/>
          </a:prstGeom>
          <a:noFill/>
          <a:ln/>
        </p:spPr>
        <p:txBody>
          <a:bodyPr wrap="square" lIns="0" tIns="0" rIns="0" bIns="0" rtlCol="0" anchor="t"/>
          <a:lstStyle/>
          <a:p>
            <a:pPr marL="177800" indent="-177800">
              <a:spcAft>
                <a:spcPts val="1400"/>
              </a:spcAft>
              <a:buSzPct val="100000"/>
              <a:buChar char="▪"/>
            </a:pPr>
            <a:r>
              <a:rPr lang="en-US" sz="1250" dirty="0">
                <a:solidFill>
                  <a:srgbClr val="1E2761"/>
                </a:solidFill>
                <a:latin typeface="Calibri" pitchFamily="34" charset="0"/>
                <a:ea typeface="Calibri" pitchFamily="34" charset="-122"/>
                <a:cs typeface="Calibri" pitchFamily="34" charset="-120"/>
              </a:rPr>
              <a:t>Jumps only if a specified condition is true; otherwise falls through</a:t>
            </a:r>
            <a:endParaRPr lang="en-US" sz="1250" dirty="0"/>
          </a:p>
          <a:p>
            <a:pPr marL="177800" indent="-177800">
              <a:spcAft>
                <a:spcPts val="1400"/>
              </a:spcAft>
              <a:buSzPct val="100000"/>
              <a:buChar char="▪"/>
            </a:pPr>
            <a:r>
              <a:rPr lang="en-US" sz="1250" dirty="0">
                <a:solidFill>
                  <a:srgbClr val="1E2761"/>
                </a:solidFill>
                <a:latin typeface="Calibri" pitchFamily="34" charset="0"/>
                <a:ea typeface="Calibri" pitchFamily="34" charset="-122"/>
                <a:cs typeface="Calibri" pitchFamily="34" charset="-120"/>
              </a:rPr>
              <a:t>Example:  BEQ R1, R2, 500  →  if (R1 = R2) then PC ← 500, else PC ← PC + 4</a:t>
            </a:r>
            <a:endParaRPr lang="en-US" sz="1250" dirty="0"/>
          </a:p>
          <a:p>
            <a:pPr marL="177800" indent="-177800">
              <a:spcAft>
                <a:spcPts val="1400"/>
              </a:spcAft>
              <a:buSzPct val="100000"/>
              <a:buChar char="▪"/>
            </a:pPr>
            <a:r>
              <a:rPr lang="en-US" sz="1250" dirty="0">
                <a:solidFill>
                  <a:srgbClr val="1E2761"/>
                </a:solidFill>
                <a:latin typeface="Calibri" pitchFamily="34" charset="0"/>
                <a:ea typeface="Calibri" pitchFamily="34" charset="-122"/>
                <a:cs typeface="Calibri" pitchFamily="34" charset="-120"/>
              </a:rPr>
              <a:t>Used for: if-else statements, loop exit conditions, comparisons</a:t>
            </a:r>
            <a:endParaRPr lang="en-US" sz="1250" dirty="0"/>
          </a:p>
        </p:txBody>
      </p:sp>
      <p:sp>
        <p:nvSpPr>
          <p:cNvPr id="10" name="Text 8"/>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1" name="Text 9"/>
          <p:cNvSpPr/>
          <p:nvPr/>
        </p:nvSpPr>
        <p:spPr>
          <a:xfrm>
            <a:off x="0" y="0"/>
            <a:ext cx="0" cy="0"/>
          </a:xfrm>
          <a:prstGeom prst="rect">
            <a:avLst/>
          </a:prstGeom>
          <a:noFill/>
          <a:ln/>
        </p:spPr>
        <p:txBody>
          <a:bodyPr wrap="square" rtlCol="0" anchor="ctr"/>
          <a:lstStyle/>
          <a:p>
            <a:pPr marL="0" indent="0">
              <a:buNone/>
            </a:pPr>
            <a:endParaRPr lang="en-US" dirty="0"/>
          </a:p>
        </p:txBody>
      </p:sp>
      <p:sp>
        <p:nvSpPr>
          <p:cNvPr id="12" name="Text 1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Worked Example: Tracing a Simple Loop</a:t>
            </a:r>
            <a:endParaRPr lang="en-US" sz="3000" dirty="0"/>
          </a:p>
        </p:txBody>
      </p:sp>
      <p:sp>
        <p:nvSpPr>
          <p:cNvPr id="4" name="Shape 2"/>
          <p:cNvSpPr/>
          <p:nvPr/>
        </p:nvSpPr>
        <p:spPr>
          <a:xfrm>
            <a:off x="548640" y="1417320"/>
            <a:ext cx="11094415" cy="502920"/>
          </a:xfrm>
          <a:prstGeom prst="roundRect">
            <a:avLst>
              <a:gd name="adj" fmla="val 10909"/>
            </a:avLst>
          </a:prstGeom>
          <a:solidFill>
            <a:srgbClr val="1E2761"/>
          </a:solidFill>
          <a:ln/>
        </p:spPr>
      </p:sp>
      <p:sp>
        <p:nvSpPr>
          <p:cNvPr id="5" name="Text 3"/>
          <p:cNvSpPr/>
          <p:nvPr/>
        </p:nvSpPr>
        <p:spPr>
          <a:xfrm>
            <a:off x="777240" y="1417320"/>
            <a:ext cx="10637215"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Problem: Decrement R1 until it reaches 0, then stop — a classic countdown loop.</a:t>
            </a:r>
            <a:endParaRPr lang="en-US" sz="1300" dirty="0"/>
          </a:p>
        </p:txBody>
      </p:sp>
      <p:sp>
        <p:nvSpPr>
          <p:cNvPr id="6" name="Shape 4"/>
          <p:cNvSpPr/>
          <p:nvPr/>
        </p:nvSpPr>
        <p:spPr>
          <a:xfrm>
            <a:off x="548640" y="2103120"/>
            <a:ext cx="11094415" cy="621792"/>
          </a:xfrm>
          <a:prstGeom prst="roundRect">
            <a:avLst>
              <a:gd name="adj" fmla="val 8824"/>
            </a:avLst>
          </a:prstGeom>
          <a:solidFill>
            <a:srgbClr val="E9F0FC"/>
          </a:solidFill>
          <a:ln w="9525">
            <a:solidFill>
              <a:srgbClr val="CADCFC"/>
            </a:solidFill>
            <a:prstDash val="solid"/>
          </a:ln>
        </p:spPr>
      </p:sp>
      <p:sp>
        <p:nvSpPr>
          <p:cNvPr id="7" name="Text 5"/>
          <p:cNvSpPr/>
          <p:nvPr/>
        </p:nvSpPr>
        <p:spPr>
          <a:xfrm>
            <a:off x="777240" y="2103120"/>
            <a:ext cx="1188720" cy="621792"/>
          </a:xfrm>
          <a:prstGeom prst="rect">
            <a:avLst/>
          </a:prstGeom>
          <a:noFill/>
          <a:ln/>
        </p:spPr>
        <p:txBody>
          <a:bodyPr wrap="square" lIns="0" tIns="0" rIns="0" bIns="0" rtlCol="0" anchor="ctr"/>
          <a:lstStyle/>
          <a:p>
            <a:pPr marL="0" indent="0">
              <a:buNone/>
            </a:pPr>
            <a:r>
              <a:rPr lang="en-US" sz="1250" b="1" dirty="0">
                <a:solidFill>
                  <a:srgbClr val="1E2761"/>
                </a:solidFill>
                <a:latin typeface="Courier New" pitchFamily="34" charset="0"/>
                <a:ea typeface="Courier New" pitchFamily="34" charset="-122"/>
                <a:cs typeface="Courier New" pitchFamily="34" charset="-120"/>
              </a:rPr>
              <a:t>100</a:t>
            </a:r>
            <a:endParaRPr lang="en-US" sz="1250" dirty="0"/>
          </a:p>
        </p:txBody>
      </p:sp>
      <p:sp>
        <p:nvSpPr>
          <p:cNvPr id="8" name="Text 6"/>
          <p:cNvSpPr/>
          <p:nvPr/>
        </p:nvSpPr>
        <p:spPr>
          <a:xfrm>
            <a:off x="2011680" y="2103120"/>
            <a:ext cx="4206240" cy="621792"/>
          </a:xfrm>
          <a:prstGeom prst="rect">
            <a:avLst/>
          </a:prstGeom>
          <a:noFill/>
          <a:ln/>
        </p:spPr>
        <p:txBody>
          <a:bodyPr wrap="square" lIns="0" tIns="0" rIns="0" bIns="0" rtlCol="0" anchor="ctr"/>
          <a:lstStyle/>
          <a:p>
            <a:pPr marL="0" indent="0">
              <a:buNone/>
            </a:pPr>
            <a:r>
              <a:rPr lang="en-US" sz="1250" dirty="0">
                <a:solidFill>
                  <a:srgbClr val="212A4E"/>
                </a:solidFill>
                <a:latin typeface="Courier New" pitchFamily="34" charset="0"/>
                <a:ea typeface="Courier New" pitchFamily="34" charset="-122"/>
                <a:cs typeface="Courier New" pitchFamily="34" charset="-120"/>
              </a:rPr>
              <a:t>LOOP:  SUB R1, R1, 1</a:t>
            </a:r>
            <a:endParaRPr lang="en-US" sz="1250" dirty="0"/>
          </a:p>
        </p:txBody>
      </p:sp>
      <p:sp>
        <p:nvSpPr>
          <p:cNvPr id="9" name="Text 7"/>
          <p:cNvSpPr/>
          <p:nvPr/>
        </p:nvSpPr>
        <p:spPr>
          <a:xfrm>
            <a:off x="6309360" y="2103120"/>
            <a:ext cx="5212080" cy="621792"/>
          </a:xfrm>
          <a:prstGeom prst="rect">
            <a:avLst/>
          </a:prstGeom>
          <a:noFill/>
          <a:ln/>
        </p:spPr>
        <p:txBody>
          <a:bodyPr wrap="square" lIns="0" tIns="0" rIns="0" bIns="0" rtlCol="0" anchor="ctr"/>
          <a:lstStyle/>
          <a:p>
            <a:pPr marL="0" indent="0">
              <a:buNone/>
            </a:pPr>
            <a:r>
              <a:rPr lang="en-US" sz="1200" dirty="0">
                <a:solidFill>
                  <a:srgbClr val="5B6690"/>
                </a:solidFill>
                <a:latin typeface="Calibri" pitchFamily="34" charset="0"/>
                <a:ea typeface="Calibri" pitchFamily="34" charset="-122"/>
                <a:cs typeface="Calibri" pitchFamily="34" charset="-120"/>
              </a:rPr>
              <a:t>Decrement R1 by 1</a:t>
            </a:r>
            <a:endParaRPr lang="en-US" sz="1200" dirty="0"/>
          </a:p>
        </p:txBody>
      </p:sp>
      <p:sp>
        <p:nvSpPr>
          <p:cNvPr id="10" name="Shape 8"/>
          <p:cNvSpPr/>
          <p:nvPr/>
        </p:nvSpPr>
        <p:spPr>
          <a:xfrm>
            <a:off x="548640" y="2779776"/>
            <a:ext cx="11094415" cy="621792"/>
          </a:xfrm>
          <a:prstGeom prst="roundRect">
            <a:avLst>
              <a:gd name="adj" fmla="val 8824"/>
            </a:avLst>
          </a:prstGeom>
          <a:solidFill>
            <a:srgbClr val="FFFFFF"/>
          </a:solidFill>
          <a:ln w="9525">
            <a:solidFill>
              <a:srgbClr val="CADCFC"/>
            </a:solidFill>
            <a:prstDash val="solid"/>
          </a:ln>
        </p:spPr>
      </p:sp>
      <p:sp>
        <p:nvSpPr>
          <p:cNvPr id="11" name="Text 9"/>
          <p:cNvSpPr/>
          <p:nvPr/>
        </p:nvSpPr>
        <p:spPr>
          <a:xfrm>
            <a:off x="777240" y="2779776"/>
            <a:ext cx="1188720" cy="621792"/>
          </a:xfrm>
          <a:prstGeom prst="rect">
            <a:avLst/>
          </a:prstGeom>
          <a:noFill/>
          <a:ln/>
        </p:spPr>
        <p:txBody>
          <a:bodyPr wrap="square" lIns="0" tIns="0" rIns="0" bIns="0" rtlCol="0" anchor="ctr"/>
          <a:lstStyle/>
          <a:p>
            <a:pPr marL="0" indent="0">
              <a:buNone/>
            </a:pPr>
            <a:r>
              <a:rPr lang="en-US" sz="1250" b="1" dirty="0">
                <a:solidFill>
                  <a:srgbClr val="1E2761"/>
                </a:solidFill>
                <a:latin typeface="Courier New" pitchFamily="34" charset="0"/>
                <a:ea typeface="Courier New" pitchFamily="34" charset="-122"/>
                <a:cs typeface="Courier New" pitchFamily="34" charset="-120"/>
              </a:rPr>
              <a:t>104</a:t>
            </a:r>
            <a:endParaRPr lang="en-US" sz="1250" dirty="0"/>
          </a:p>
        </p:txBody>
      </p:sp>
      <p:sp>
        <p:nvSpPr>
          <p:cNvPr id="12" name="Text 10"/>
          <p:cNvSpPr/>
          <p:nvPr/>
        </p:nvSpPr>
        <p:spPr>
          <a:xfrm>
            <a:off x="2011680" y="2779776"/>
            <a:ext cx="4206240" cy="621792"/>
          </a:xfrm>
          <a:prstGeom prst="rect">
            <a:avLst/>
          </a:prstGeom>
          <a:noFill/>
          <a:ln/>
        </p:spPr>
        <p:txBody>
          <a:bodyPr wrap="square" lIns="0" tIns="0" rIns="0" bIns="0" rtlCol="0" anchor="ctr"/>
          <a:lstStyle/>
          <a:p>
            <a:pPr marL="0" indent="0">
              <a:buNone/>
            </a:pPr>
            <a:r>
              <a:rPr lang="en-US" sz="1250" dirty="0">
                <a:solidFill>
                  <a:srgbClr val="212A4E"/>
                </a:solidFill>
                <a:latin typeface="Courier New" pitchFamily="34" charset="0"/>
                <a:ea typeface="Courier New" pitchFamily="34" charset="-122"/>
                <a:cs typeface="Courier New" pitchFamily="34" charset="-120"/>
              </a:rPr>
              <a:t>BNE R1, 0, LOOP</a:t>
            </a:r>
            <a:endParaRPr lang="en-US" sz="1250" dirty="0"/>
          </a:p>
        </p:txBody>
      </p:sp>
      <p:sp>
        <p:nvSpPr>
          <p:cNvPr id="13" name="Text 11"/>
          <p:cNvSpPr/>
          <p:nvPr/>
        </p:nvSpPr>
        <p:spPr>
          <a:xfrm>
            <a:off x="6309360" y="2779776"/>
            <a:ext cx="5212080" cy="621792"/>
          </a:xfrm>
          <a:prstGeom prst="rect">
            <a:avLst/>
          </a:prstGeom>
          <a:noFill/>
          <a:ln/>
        </p:spPr>
        <p:txBody>
          <a:bodyPr wrap="square" lIns="0" tIns="0" rIns="0" bIns="0" rtlCol="0" anchor="ctr"/>
          <a:lstStyle/>
          <a:p>
            <a:pPr marL="0" indent="0">
              <a:buNone/>
            </a:pPr>
            <a:r>
              <a:rPr lang="en-US" sz="1200" dirty="0">
                <a:solidFill>
                  <a:srgbClr val="5B6690"/>
                </a:solidFill>
                <a:latin typeface="Calibri" pitchFamily="34" charset="0"/>
                <a:ea typeface="Calibri" pitchFamily="34" charset="-122"/>
                <a:cs typeface="Calibri" pitchFamily="34" charset="-120"/>
              </a:rPr>
              <a:t>If R1 ≠ 0, branch back to address 100</a:t>
            </a:r>
            <a:endParaRPr lang="en-US" sz="1200" dirty="0"/>
          </a:p>
        </p:txBody>
      </p:sp>
      <p:sp>
        <p:nvSpPr>
          <p:cNvPr id="14" name="Shape 12"/>
          <p:cNvSpPr/>
          <p:nvPr/>
        </p:nvSpPr>
        <p:spPr>
          <a:xfrm>
            <a:off x="548640" y="3456432"/>
            <a:ext cx="11094415" cy="621792"/>
          </a:xfrm>
          <a:prstGeom prst="roundRect">
            <a:avLst>
              <a:gd name="adj" fmla="val 8824"/>
            </a:avLst>
          </a:prstGeom>
          <a:solidFill>
            <a:srgbClr val="E9F0FC"/>
          </a:solidFill>
          <a:ln w="9525">
            <a:solidFill>
              <a:srgbClr val="CADCFC"/>
            </a:solidFill>
            <a:prstDash val="solid"/>
          </a:ln>
        </p:spPr>
      </p:sp>
      <p:sp>
        <p:nvSpPr>
          <p:cNvPr id="15" name="Text 13"/>
          <p:cNvSpPr/>
          <p:nvPr/>
        </p:nvSpPr>
        <p:spPr>
          <a:xfrm>
            <a:off x="777240" y="3456432"/>
            <a:ext cx="1188720" cy="621792"/>
          </a:xfrm>
          <a:prstGeom prst="rect">
            <a:avLst/>
          </a:prstGeom>
          <a:noFill/>
          <a:ln/>
        </p:spPr>
        <p:txBody>
          <a:bodyPr wrap="square" lIns="0" tIns="0" rIns="0" bIns="0" rtlCol="0" anchor="ctr"/>
          <a:lstStyle/>
          <a:p>
            <a:pPr marL="0" indent="0">
              <a:buNone/>
            </a:pPr>
            <a:r>
              <a:rPr lang="en-US" sz="1250" b="1" dirty="0">
                <a:solidFill>
                  <a:srgbClr val="1E2761"/>
                </a:solidFill>
                <a:latin typeface="Courier New" pitchFamily="34" charset="0"/>
                <a:ea typeface="Courier New" pitchFamily="34" charset="-122"/>
                <a:cs typeface="Courier New" pitchFamily="34" charset="-120"/>
              </a:rPr>
              <a:t>108</a:t>
            </a:r>
            <a:endParaRPr lang="en-US" sz="1250" dirty="0"/>
          </a:p>
        </p:txBody>
      </p:sp>
      <p:sp>
        <p:nvSpPr>
          <p:cNvPr id="16" name="Text 14"/>
          <p:cNvSpPr/>
          <p:nvPr/>
        </p:nvSpPr>
        <p:spPr>
          <a:xfrm>
            <a:off x="2011680" y="3456432"/>
            <a:ext cx="4206240" cy="621792"/>
          </a:xfrm>
          <a:prstGeom prst="rect">
            <a:avLst/>
          </a:prstGeom>
          <a:noFill/>
          <a:ln/>
        </p:spPr>
        <p:txBody>
          <a:bodyPr wrap="square" lIns="0" tIns="0" rIns="0" bIns="0" rtlCol="0" anchor="ctr"/>
          <a:lstStyle/>
          <a:p>
            <a:pPr marL="0" indent="0">
              <a:buNone/>
            </a:pPr>
            <a:r>
              <a:rPr lang="en-US" sz="1250" dirty="0">
                <a:solidFill>
                  <a:srgbClr val="212A4E"/>
                </a:solidFill>
                <a:latin typeface="Courier New" pitchFamily="34" charset="0"/>
                <a:ea typeface="Courier New" pitchFamily="34" charset="-122"/>
                <a:cs typeface="Courier New" pitchFamily="34" charset="-120"/>
              </a:rPr>
              <a:t>next instruction</a:t>
            </a:r>
            <a:endParaRPr lang="en-US" sz="1250" dirty="0"/>
          </a:p>
        </p:txBody>
      </p:sp>
      <p:sp>
        <p:nvSpPr>
          <p:cNvPr id="17" name="Text 15"/>
          <p:cNvSpPr/>
          <p:nvPr/>
        </p:nvSpPr>
        <p:spPr>
          <a:xfrm>
            <a:off x="6309360" y="3456432"/>
            <a:ext cx="5212080" cy="621792"/>
          </a:xfrm>
          <a:prstGeom prst="rect">
            <a:avLst/>
          </a:prstGeom>
          <a:noFill/>
          <a:ln/>
        </p:spPr>
        <p:txBody>
          <a:bodyPr wrap="square" lIns="0" tIns="0" rIns="0" bIns="0" rtlCol="0" anchor="ctr"/>
          <a:lstStyle/>
          <a:p>
            <a:pPr marL="0" indent="0">
              <a:buNone/>
            </a:pPr>
            <a:r>
              <a:rPr lang="en-US" sz="1200" dirty="0">
                <a:solidFill>
                  <a:srgbClr val="5B6690"/>
                </a:solidFill>
                <a:latin typeface="Calibri" pitchFamily="34" charset="0"/>
                <a:ea typeface="Calibri" pitchFamily="34" charset="-122"/>
                <a:cs typeface="Calibri" pitchFamily="34" charset="-120"/>
              </a:rPr>
              <a:t>Falls through here once R1 = 0</a:t>
            </a:r>
            <a:endParaRPr lang="en-US" sz="1200" dirty="0"/>
          </a:p>
        </p:txBody>
      </p:sp>
      <p:sp>
        <p:nvSpPr>
          <p:cNvPr id="18" name="Text 16"/>
          <p:cNvSpPr/>
          <p:nvPr/>
        </p:nvSpPr>
        <p:spPr>
          <a:xfrm>
            <a:off x="548640" y="4160520"/>
            <a:ext cx="11094415" cy="16916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212A4E"/>
                </a:solidFill>
                <a:latin typeface="Calibri" pitchFamily="34" charset="0"/>
                <a:ea typeface="Calibri" pitchFamily="34" charset="-122"/>
                <a:cs typeface="Calibri" pitchFamily="34" charset="-120"/>
              </a:rPr>
              <a:t>Understanding: as long as R1 is not yet zero, the BNE (‘branch if not equal’) instruction sends the PC back to address 100 to repeat the subtraction.</a:t>
            </a:r>
            <a:endParaRPr lang="en-US" sz="1200" dirty="0"/>
          </a:p>
          <a:p>
            <a:pPr marL="228600" indent="-228600">
              <a:lnSpc>
                <a:spcPct val="115000"/>
              </a:lnSpc>
              <a:spcAft>
                <a:spcPts val="1200"/>
              </a:spcAft>
              <a:buSzPct val="100000"/>
              <a:buChar char="▪"/>
            </a:pPr>
            <a:r>
              <a:rPr lang="en-US" sz="1200" dirty="0">
                <a:solidFill>
                  <a:srgbClr val="212A4E"/>
                </a:solidFill>
                <a:latin typeface="Calibri" pitchFamily="34" charset="0"/>
                <a:ea typeface="Calibri" pitchFamily="34" charset="-122"/>
                <a:cs typeface="Calibri" pitchFamily="34" charset="-120"/>
              </a:rPr>
              <a:t>Step-by-step: if R1 starts at 3 → executes 100, 104(branch taken), 100, 104(branch taken), 100, 104(branch NOT taken since R1=0) → falls through to 108.</a:t>
            </a:r>
            <a:endParaRPr lang="en-US" sz="1200" dirty="0"/>
          </a:p>
          <a:p>
            <a:pPr marL="228600" indent="-228600">
              <a:lnSpc>
                <a:spcPct val="115000"/>
              </a:lnSpc>
              <a:spcAft>
                <a:spcPts val="1200"/>
              </a:spcAft>
              <a:buSzPct val="100000"/>
              <a:buChar char="▪"/>
            </a:pPr>
            <a:r>
              <a:rPr lang="en-US" sz="1200" dirty="0">
                <a:solidFill>
                  <a:srgbClr val="212A4E"/>
                </a:solidFill>
                <a:latin typeface="Calibri" pitchFamily="34" charset="0"/>
                <a:ea typeface="Calibri" pitchFamily="34" charset="-122"/>
                <a:cs typeface="Calibri" pitchFamily="34" charset="-120"/>
              </a:rPr>
              <a:t>Result: this two-instruction pattern repeats exactly R1's starting value times — the essence of every counted loop you write in code.</a:t>
            </a:r>
            <a:endParaRPr lang="en-US" sz="120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GENERATING MEMORY ADDRESSES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Generating Memory Addresses — Overview</a:t>
            </a:r>
            <a:endParaRPr lang="en-US" sz="3000" dirty="0"/>
          </a:p>
        </p:txBody>
      </p:sp>
      <p:sp>
        <p:nvSpPr>
          <p:cNvPr id="4" name="Text 2"/>
          <p:cNvSpPr/>
          <p:nvPr/>
        </p:nvSpPr>
        <p:spPr>
          <a:xfrm>
            <a:off x="548640" y="1600200"/>
            <a:ext cx="11094415" cy="36576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An addressing mode is the rule the CPU uses to compute the effective address — the actual memory location an instruction operates 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Operands rarely contain a raw memory address directly; instead they contain information the CPU combines to calculate one.</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Why this matters: addressing modes let the same small instruction set flexibly access single variables, arrays, and dynamic data structures.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We will look at the four most common modes: immediate, direct, register indirect, and indexed.</a:t>
            </a:r>
            <a:endParaRPr lang="en-US" sz="1500" dirty="0"/>
          </a:p>
        </p:txBody>
      </p:sp>
      <p:sp>
        <p:nvSpPr>
          <p:cNvPr id="5" name="Shape 3"/>
          <p:cNvSpPr/>
          <p:nvPr/>
        </p:nvSpPr>
        <p:spPr>
          <a:xfrm>
            <a:off x="548640" y="5623560"/>
            <a:ext cx="11094415" cy="658368"/>
          </a:xfrm>
          <a:prstGeom prst="roundRect">
            <a:avLst>
              <a:gd name="adj" fmla="val 11111"/>
            </a:avLst>
          </a:prstGeom>
          <a:solidFill>
            <a:srgbClr val="E9F0FC"/>
          </a:solidFill>
          <a:ln w="12700">
            <a:solidFill>
              <a:srgbClr val="CADCFC"/>
            </a:solidFill>
            <a:prstDash val="solid"/>
          </a:ln>
        </p:spPr>
      </p:sp>
      <p:sp>
        <p:nvSpPr>
          <p:cNvPr id="6" name="Text 4"/>
          <p:cNvSpPr/>
          <p:nvPr/>
        </p:nvSpPr>
        <p:spPr>
          <a:xfrm>
            <a:off x="731520" y="5623560"/>
            <a:ext cx="10728655" cy="658368"/>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VISUAL  </a:t>
            </a:r>
            <a:r>
              <a:rPr lang="en-US" sz="1050" dirty="0">
                <a:solidFill>
                  <a:srgbClr val="5B6690"/>
                </a:solidFill>
                <a:latin typeface="Calibri" pitchFamily="34" charset="0"/>
                <a:ea typeface="Calibri" pitchFamily="34" charset="-122"/>
                <a:cs typeface="Calibri" pitchFamily="34" charset="-120"/>
              </a:rPr>
              <a:t>Icon: a map-pin/target icon inside a colored circle, symbolizing ‘finding the exact address’. Diagram teaser: a magnifying glass over a memory grid.</a:t>
            </a:r>
            <a:endParaRPr lang="en-US" sz="10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GENERATING MEMORY ADDRESSES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Common Addressing Modes</a:t>
            </a:r>
            <a:endParaRPr lang="en-US" sz="3000" dirty="0"/>
          </a:p>
        </p:txBody>
      </p:sp>
      <p:sp>
        <p:nvSpPr>
          <p:cNvPr id="4" name="Shape 2"/>
          <p:cNvSpPr/>
          <p:nvPr/>
        </p:nvSpPr>
        <p:spPr>
          <a:xfrm>
            <a:off x="548640" y="1600200"/>
            <a:ext cx="11094415" cy="502920"/>
          </a:xfrm>
          <a:prstGeom prst="rect">
            <a:avLst/>
          </a:prstGeom>
          <a:solidFill>
            <a:srgbClr val="1E2761"/>
          </a:solidFill>
          <a:ln/>
        </p:spPr>
      </p:sp>
      <p:sp>
        <p:nvSpPr>
          <p:cNvPr id="5" name="Text 3"/>
          <p:cNvSpPr/>
          <p:nvPr/>
        </p:nvSpPr>
        <p:spPr>
          <a:xfrm>
            <a:off x="685800" y="1600200"/>
            <a:ext cx="297180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Mode</a:t>
            </a:r>
            <a:endParaRPr lang="en-US" sz="1300" dirty="0"/>
          </a:p>
        </p:txBody>
      </p:sp>
      <p:sp>
        <p:nvSpPr>
          <p:cNvPr id="6" name="Text 4"/>
          <p:cNvSpPr/>
          <p:nvPr/>
        </p:nvSpPr>
        <p:spPr>
          <a:xfrm>
            <a:off x="3886200" y="1600200"/>
            <a:ext cx="288036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Syntax Example</a:t>
            </a:r>
            <a:endParaRPr lang="en-US" sz="1300" dirty="0"/>
          </a:p>
        </p:txBody>
      </p:sp>
      <p:sp>
        <p:nvSpPr>
          <p:cNvPr id="7" name="Text 5"/>
          <p:cNvSpPr/>
          <p:nvPr/>
        </p:nvSpPr>
        <p:spPr>
          <a:xfrm>
            <a:off x="6995160" y="1600200"/>
            <a:ext cx="480060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Effective Address</a:t>
            </a:r>
            <a:endParaRPr lang="en-US" sz="1300" dirty="0"/>
          </a:p>
        </p:txBody>
      </p:sp>
      <p:sp>
        <p:nvSpPr>
          <p:cNvPr id="8" name="Shape 6"/>
          <p:cNvSpPr/>
          <p:nvPr/>
        </p:nvSpPr>
        <p:spPr>
          <a:xfrm>
            <a:off x="548640" y="2121408"/>
            <a:ext cx="11094415" cy="777240"/>
          </a:xfrm>
          <a:prstGeom prst="rect">
            <a:avLst/>
          </a:prstGeom>
          <a:solidFill>
            <a:srgbClr val="E9F0FC"/>
          </a:solidFill>
          <a:ln/>
        </p:spPr>
      </p:sp>
      <p:sp>
        <p:nvSpPr>
          <p:cNvPr id="9" name="Text 7"/>
          <p:cNvSpPr/>
          <p:nvPr/>
        </p:nvSpPr>
        <p:spPr>
          <a:xfrm>
            <a:off x="685800" y="2121408"/>
            <a:ext cx="2971800" cy="7772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Immediate</a:t>
            </a:r>
            <a:endParaRPr lang="en-US" sz="1300" dirty="0"/>
          </a:p>
        </p:txBody>
      </p:sp>
      <p:sp>
        <p:nvSpPr>
          <p:cNvPr id="10" name="Text 8"/>
          <p:cNvSpPr/>
          <p:nvPr/>
        </p:nvSpPr>
        <p:spPr>
          <a:xfrm>
            <a:off x="3886200" y="2121408"/>
            <a:ext cx="2880360" cy="777240"/>
          </a:xfrm>
          <a:prstGeom prst="rect">
            <a:avLst/>
          </a:prstGeom>
          <a:noFill/>
          <a:ln/>
        </p:spPr>
        <p:txBody>
          <a:bodyPr wrap="square" lIns="0" tIns="0" rIns="0" bIns="0" rtlCol="0" anchor="ctr"/>
          <a:lstStyle/>
          <a:p>
            <a:pPr marL="0" indent="0">
              <a:buNone/>
            </a:pPr>
            <a:r>
              <a:rPr lang="en-US" sz="1200" dirty="0">
                <a:solidFill>
                  <a:srgbClr val="212A4E"/>
                </a:solidFill>
                <a:latin typeface="Courier New" pitchFamily="34" charset="0"/>
                <a:ea typeface="Courier New" pitchFamily="34" charset="-122"/>
                <a:cs typeface="Courier New" pitchFamily="34" charset="-120"/>
              </a:rPr>
              <a:t>ADD R1, #5</a:t>
            </a:r>
            <a:endParaRPr lang="en-US" sz="1200" dirty="0"/>
          </a:p>
        </p:txBody>
      </p:sp>
      <p:sp>
        <p:nvSpPr>
          <p:cNvPr id="11" name="Text 9"/>
          <p:cNvSpPr/>
          <p:nvPr/>
        </p:nvSpPr>
        <p:spPr>
          <a:xfrm>
            <a:off x="6995160" y="2121408"/>
            <a:ext cx="4800600" cy="777240"/>
          </a:xfrm>
          <a:prstGeom prst="rect">
            <a:avLst/>
          </a:prstGeom>
          <a:noFill/>
          <a:ln/>
        </p:spPr>
        <p:txBody>
          <a:bodyPr wrap="square" lIns="0" tIns="0" rIns="0" bIns="0" rtlCol="0" anchor="ctr"/>
          <a:lstStyle/>
          <a:p>
            <a:pPr marL="0" indent="0">
              <a:buNone/>
            </a:pPr>
            <a:r>
              <a:rPr lang="en-US" sz="1150" dirty="0">
                <a:solidFill>
                  <a:srgbClr val="5B6690"/>
                </a:solidFill>
                <a:latin typeface="Calibri" pitchFamily="34" charset="0"/>
                <a:ea typeface="Calibri" pitchFamily="34" charset="-122"/>
                <a:cs typeface="Calibri" pitchFamily="34" charset="-120"/>
              </a:rPr>
              <a:t>Operand is the constant 5 itself — no memory access</a:t>
            </a:r>
            <a:endParaRPr lang="en-US" sz="1150" dirty="0"/>
          </a:p>
        </p:txBody>
      </p:sp>
      <p:sp>
        <p:nvSpPr>
          <p:cNvPr id="12" name="Shape 10"/>
          <p:cNvSpPr/>
          <p:nvPr/>
        </p:nvSpPr>
        <p:spPr>
          <a:xfrm>
            <a:off x="548640" y="2953512"/>
            <a:ext cx="11094415" cy="777240"/>
          </a:xfrm>
          <a:prstGeom prst="rect">
            <a:avLst/>
          </a:prstGeom>
          <a:solidFill>
            <a:srgbClr val="FFFFFF"/>
          </a:solidFill>
          <a:ln/>
        </p:spPr>
      </p:sp>
      <p:sp>
        <p:nvSpPr>
          <p:cNvPr id="13" name="Text 11"/>
          <p:cNvSpPr/>
          <p:nvPr/>
        </p:nvSpPr>
        <p:spPr>
          <a:xfrm>
            <a:off x="685800" y="2953512"/>
            <a:ext cx="2971800" cy="7772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Direct</a:t>
            </a:r>
            <a:endParaRPr lang="en-US" sz="1300" dirty="0"/>
          </a:p>
        </p:txBody>
      </p:sp>
      <p:sp>
        <p:nvSpPr>
          <p:cNvPr id="14" name="Text 12"/>
          <p:cNvSpPr/>
          <p:nvPr/>
        </p:nvSpPr>
        <p:spPr>
          <a:xfrm>
            <a:off x="3886200" y="2953512"/>
            <a:ext cx="2880360" cy="777240"/>
          </a:xfrm>
          <a:prstGeom prst="rect">
            <a:avLst/>
          </a:prstGeom>
          <a:noFill/>
          <a:ln/>
        </p:spPr>
        <p:txBody>
          <a:bodyPr wrap="square" lIns="0" tIns="0" rIns="0" bIns="0" rtlCol="0" anchor="ctr"/>
          <a:lstStyle/>
          <a:p>
            <a:pPr marL="0" indent="0">
              <a:buNone/>
            </a:pPr>
            <a:r>
              <a:rPr lang="en-US" sz="1200" dirty="0">
                <a:solidFill>
                  <a:srgbClr val="212A4E"/>
                </a:solidFill>
                <a:latin typeface="Courier New" pitchFamily="34" charset="0"/>
                <a:ea typeface="Courier New" pitchFamily="34" charset="-122"/>
                <a:cs typeface="Courier New" pitchFamily="34" charset="-120"/>
              </a:rPr>
              <a:t>LOAD R1, 1000</a:t>
            </a:r>
            <a:endParaRPr lang="en-US" sz="1200" dirty="0"/>
          </a:p>
        </p:txBody>
      </p:sp>
      <p:sp>
        <p:nvSpPr>
          <p:cNvPr id="15" name="Text 13"/>
          <p:cNvSpPr/>
          <p:nvPr/>
        </p:nvSpPr>
        <p:spPr>
          <a:xfrm>
            <a:off x="6995160" y="2953512"/>
            <a:ext cx="4800600" cy="777240"/>
          </a:xfrm>
          <a:prstGeom prst="rect">
            <a:avLst/>
          </a:prstGeom>
          <a:noFill/>
          <a:ln/>
        </p:spPr>
        <p:txBody>
          <a:bodyPr wrap="square" lIns="0" tIns="0" rIns="0" bIns="0" rtlCol="0" anchor="ctr"/>
          <a:lstStyle/>
          <a:p>
            <a:pPr marL="0" indent="0">
              <a:buNone/>
            </a:pPr>
            <a:r>
              <a:rPr lang="en-US" sz="1150" dirty="0">
                <a:solidFill>
                  <a:srgbClr val="5B6690"/>
                </a:solidFill>
                <a:latin typeface="Calibri" pitchFamily="34" charset="0"/>
                <a:ea typeface="Calibri" pitchFamily="34" charset="-122"/>
                <a:cs typeface="Calibri" pitchFamily="34" charset="-120"/>
              </a:rPr>
              <a:t>EA = 1000 (the address is given directly)</a:t>
            </a:r>
            <a:endParaRPr lang="en-US" sz="1150" dirty="0"/>
          </a:p>
        </p:txBody>
      </p:sp>
      <p:sp>
        <p:nvSpPr>
          <p:cNvPr id="16" name="Shape 14"/>
          <p:cNvSpPr/>
          <p:nvPr/>
        </p:nvSpPr>
        <p:spPr>
          <a:xfrm>
            <a:off x="548640" y="3785616"/>
            <a:ext cx="11094415" cy="777240"/>
          </a:xfrm>
          <a:prstGeom prst="rect">
            <a:avLst/>
          </a:prstGeom>
          <a:solidFill>
            <a:srgbClr val="E9F0FC"/>
          </a:solidFill>
          <a:ln/>
        </p:spPr>
      </p:sp>
      <p:sp>
        <p:nvSpPr>
          <p:cNvPr id="17" name="Text 15"/>
          <p:cNvSpPr/>
          <p:nvPr/>
        </p:nvSpPr>
        <p:spPr>
          <a:xfrm>
            <a:off x="685800" y="3785616"/>
            <a:ext cx="2971800" cy="7772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Register Indirect</a:t>
            </a:r>
            <a:endParaRPr lang="en-US" sz="1300" dirty="0"/>
          </a:p>
        </p:txBody>
      </p:sp>
      <p:sp>
        <p:nvSpPr>
          <p:cNvPr id="18" name="Text 16"/>
          <p:cNvSpPr/>
          <p:nvPr/>
        </p:nvSpPr>
        <p:spPr>
          <a:xfrm>
            <a:off x="3886200" y="3785616"/>
            <a:ext cx="2880360" cy="777240"/>
          </a:xfrm>
          <a:prstGeom prst="rect">
            <a:avLst/>
          </a:prstGeom>
          <a:noFill/>
          <a:ln/>
        </p:spPr>
        <p:txBody>
          <a:bodyPr wrap="square" lIns="0" tIns="0" rIns="0" bIns="0" rtlCol="0" anchor="ctr"/>
          <a:lstStyle/>
          <a:p>
            <a:pPr marL="0" indent="0">
              <a:buNone/>
            </a:pPr>
            <a:r>
              <a:rPr lang="en-US" sz="1200" dirty="0">
                <a:solidFill>
                  <a:srgbClr val="212A4E"/>
                </a:solidFill>
                <a:latin typeface="Courier New" pitchFamily="34" charset="0"/>
                <a:ea typeface="Courier New" pitchFamily="34" charset="-122"/>
                <a:cs typeface="Courier New" pitchFamily="34" charset="-120"/>
              </a:rPr>
              <a:t>LOAD R1, (R2)</a:t>
            </a:r>
            <a:endParaRPr lang="en-US" sz="1200" dirty="0"/>
          </a:p>
        </p:txBody>
      </p:sp>
      <p:sp>
        <p:nvSpPr>
          <p:cNvPr id="19" name="Text 17"/>
          <p:cNvSpPr/>
          <p:nvPr/>
        </p:nvSpPr>
        <p:spPr>
          <a:xfrm>
            <a:off x="6995160" y="3785616"/>
            <a:ext cx="4800600" cy="777240"/>
          </a:xfrm>
          <a:prstGeom prst="rect">
            <a:avLst/>
          </a:prstGeom>
          <a:noFill/>
          <a:ln/>
        </p:spPr>
        <p:txBody>
          <a:bodyPr wrap="square" lIns="0" tIns="0" rIns="0" bIns="0" rtlCol="0" anchor="ctr"/>
          <a:lstStyle/>
          <a:p>
            <a:pPr marL="0" indent="0">
              <a:buNone/>
            </a:pPr>
            <a:r>
              <a:rPr lang="en-US" sz="1150" dirty="0">
                <a:solidFill>
                  <a:srgbClr val="5B6690"/>
                </a:solidFill>
                <a:latin typeface="Calibri" pitchFamily="34" charset="0"/>
                <a:ea typeface="Calibri" pitchFamily="34" charset="-122"/>
                <a:cs typeface="Calibri" pitchFamily="34" charset="-120"/>
              </a:rPr>
              <a:t>EA = contents of R2 (R2 holds a pointer/address)</a:t>
            </a:r>
            <a:endParaRPr lang="en-US" sz="1150" dirty="0"/>
          </a:p>
        </p:txBody>
      </p:sp>
      <p:sp>
        <p:nvSpPr>
          <p:cNvPr id="20" name="Shape 18"/>
          <p:cNvSpPr/>
          <p:nvPr/>
        </p:nvSpPr>
        <p:spPr>
          <a:xfrm>
            <a:off x="548640" y="4617720"/>
            <a:ext cx="11094415" cy="777240"/>
          </a:xfrm>
          <a:prstGeom prst="rect">
            <a:avLst/>
          </a:prstGeom>
          <a:solidFill>
            <a:srgbClr val="FFFFFF"/>
          </a:solidFill>
          <a:ln/>
        </p:spPr>
      </p:sp>
      <p:sp>
        <p:nvSpPr>
          <p:cNvPr id="21" name="Text 19"/>
          <p:cNvSpPr/>
          <p:nvPr/>
        </p:nvSpPr>
        <p:spPr>
          <a:xfrm>
            <a:off x="685800" y="4617720"/>
            <a:ext cx="2971800" cy="7772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Indexed</a:t>
            </a:r>
            <a:endParaRPr lang="en-US" sz="1300" dirty="0"/>
          </a:p>
        </p:txBody>
      </p:sp>
      <p:sp>
        <p:nvSpPr>
          <p:cNvPr id="22" name="Text 20"/>
          <p:cNvSpPr/>
          <p:nvPr/>
        </p:nvSpPr>
        <p:spPr>
          <a:xfrm>
            <a:off x="3886200" y="4617720"/>
            <a:ext cx="2880360" cy="777240"/>
          </a:xfrm>
          <a:prstGeom prst="rect">
            <a:avLst/>
          </a:prstGeom>
          <a:noFill/>
          <a:ln/>
        </p:spPr>
        <p:txBody>
          <a:bodyPr wrap="square" lIns="0" tIns="0" rIns="0" bIns="0" rtlCol="0" anchor="ctr"/>
          <a:lstStyle/>
          <a:p>
            <a:pPr marL="0" indent="0">
              <a:buNone/>
            </a:pPr>
            <a:r>
              <a:rPr lang="en-US" sz="1200" dirty="0">
                <a:solidFill>
                  <a:srgbClr val="212A4E"/>
                </a:solidFill>
                <a:latin typeface="Courier New" pitchFamily="34" charset="0"/>
                <a:ea typeface="Courier New" pitchFamily="34" charset="-122"/>
                <a:cs typeface="Courier New" pitchFamily="34" charset="-120"/>
              </a:rPr>
              <a:t>LOAD R1, 100(R2)</a:t>
            </a:r>
            <a:endParaRPr lang="en-US" sz="1200" dirty="0"/>
          </a:p>
        </p:txBody>
      </p:sp>
      <p:sp>
        <p:nvSpPr>
          <p:cNvPr id="23" name="Text 21"/>
          <p:cNvSpPr/>
          <p:nvPr/>
        </p:nvSpPr>
        <p:spPr>
          <a:xfrm>
            <a:off x="6995160" y="4617720"/>
            <a:ext cx="4800600" cy="777240"/>
          </a:xfrm>
          <a:prstGeom prst="rect">
            <a:avLst/>
          </a:prstGeom>
          <a:noFill/>
          <a:ln/>
        </p:spPr>
        <p:txBody>
          <a:bodyPr wrap="square" lIns="0" tIns="0" rIns="0" bIns="0" rtlCol="0" anchor="ctr"/>
          <a:lstStyle/>
          <a:p>
            <a:pPr marL="0" indent="0">
              <a:buNone/>
            </a:pPr>
            <a:r>
              <a:rPr lang="en-US" sz="1150" dirty="0">
                <a:solidFill>
                  <a:srgbClr val="5B6690"/>
                </a:solidFill>
                <a:latin typeface="Calibri" pitchFamily="34" charset="0"/>
                <a:ea typeface="Calibri" pitchFamily="34" charset="-122"/>
                <a:cs typeface="Calibri" pitchFamily="34" charset="-120"/>
              </a:rPr>
              <a:t>EA = 100 + contents of R2 (base + offset)</a:t>
            </a:r>
            <a:endParaRPr lang="en-US" sz="1150" dirty="0"/>
          </a:p>
        </p:txBody>
      </p:sp>
      <p:sp>
        <p:nvSpPr>
          <p:cNvPr id="24" name="Text 22"/>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0" y="0"/>
            <a:ext cx="0" cy="0"/>
          </a:xfrm>
          <a:prstGeom prst="rect">
            <a:avLst/>
          </a:prstGeom>
          <a:noFill/>
          <a:ln/>
        </p:spPr>
        <p:txBody>
          <a:bodyPr wrap="square" rtlCol="0" anchor="ctr"/>
          <a:lstStyle/>
          <a:p>
            <a:pPr marL="0" indent="0">
              <a:buNone/>
            </a:pPr>
            <a:endParaRPr lang="en-US" dirty="0"/>
          </a:p>
        </p:txBody>
      </p:sp>
      <p:sp>
        <p:nvSpPr>
          <p:cNvPr id="26" name="Text 2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Worked Example: Computing an Effective Address</a:t>
            </a:r>
            <a:endParaRPr lang="en-US" sz="3000" dirty="0"/>
          </a:p>
        </p:txBody>
      </p:sp>
      <p:sp>
        <p:nvSpPr>
          <p:cNvPr id="4" name="Shape 2"/>
          <p:cNvSpPr/>
          <p:nvPr/>
        </p:nvSpPr>
        <p:spPr>
          <a:xfrm>
            <a:off x="548640" y="1463040"/>
            <a:ext cx="11094415" cy="640080"/>
          </a:xfrm>
          <a:prstGeom prst="roundRect">
            <a:avLst>
              <a:gd name="adj" fmla="val 8571"/>
            </a:avLst>
          </a:prstGeom>
          <a:solidFill>
            <a:srgbClr val="1E2761"/>
          </a:solidFill>
          <a:ln/>
        </p:spPr>
      </p:sp>
      <p:sp>
        <p:nvSpPr>
          <p:cNvPr id="5" name="Text 3"/>
          <p:cNvSpPr/>
          <p:nvPr/>
        </p:nvSpPr>
        <p:spPr>
          <a:xfrm>
            <a:off x="777240" y="1463040"/>
            <a:ext cx="10637215" cy="64008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Problem: Execute  LOAD R1, 100(R2)   given that register R2 currently holds the value 2000.</a:t>
            </a:r>
            <a:endParaRPr lang="en-US" sz="1350" dirty="0"/>
          </a:p>
        </p:txBody>
      </p:sp>
      <p:sp>
        <p:nvSpPr>
          <p:cNvPr id="6" name="Shape 4"/>
          <p:cNvSpPr/>
          <p:nvPr/>
        </p:nvSpPr>
        <p:spPr>
          <a:xfrm>
            <a:off x="548640" y="2286000"/>
            <a:ext cx="11094415" cy="548640"/>
          </a:xfrm>
          <a:prstGeom prst="roundRect">
            <a:avLst>
              <a:gd name="adj" fmla="val 8333"/>
            </a:avLst>
          </a:prstGeom>
          <a:solidFill>
            <a:srgbClr val="E9F0FC"/>
          </a:solidFill>
          <a:ln/>
        </p:spPr>
      </p:sp>
      <p:sp>
        <p:nvSpPr>
          <p:cNvPr id="7" name="Text 5"/>
          <p:cNvSpPr/>
          <p:nvPr/>
        </p:nvSpPr>
        <p:spPr>
          <a:xfrm>
            <a:off x="777240" y="2286000"/>
            <a:ext cx="3017520"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1. Identify the mode</a:t>
            </a:r>
            <a:endParaRPr lang="en-US" sz="1200" dirty="0"/>
          </a:p>
        </p:txBody>
      </p:sp>
      <p:sp>
        <p:nvSpPr>
          <p:cNvPr id="8" name="Text 6"/>
          <p:cNvSpPr/>
          <p:nvPr/>
        </p:nvSpPr>
        <p:spPr>
          <a:xfrm>
            <a:off x="3840480" y="2286000"/>
            <a:ext cx="7589520" cy="54864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This is Indexed Addressing: base register + constant offset.</a:t>
            </a:r>
            <a:endParaRPr lang="en-US" sz="1200" dirty="0"/>
          </a:p>
        </p:txBody>
      </p:sp>
      <p:sp>
        <p:nvSpPr>
          <p:cNvPr id="9" name="Shape 7"/>
          <p:cNvSpPr/>
          <p:nvPr/>
        </p:nvSpPr>
        <p:spPr>
          <a:xfrm>
            <a:off x="548640" y="2889504"/>
            <a:ext cx="11094415" cy="548640"/>
          </a:xfrm>
          <a:prstGeom prst="roundRect">
            <a:avLst>
              <a:gd name="adj" fmla="val 8333"/>
            </a:avLst>
          </a:prstGeom>
          <a:solidFill>
            <a:srgbClr val="FFFFFF"/>
          </a:solidFill>
          <a:ln/>
        </p:spPr>
      </p:sp>
      <p:sp>
        <p:nvSpPr>
          <p:cNvPr id="10" name="Text 8"/>
          <p:cNvSpPr/>
          <p:nvPr/>
        </p:nvSpPr>
        <p:spPr>
          <a:xfrm>
            <a:off x="777240" y="2889504"/>
            <a:ext cx="3017520"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2. Identify the given data</a:t>
            </a:r>
            <a:endParaRPr lang="en-US" sz="1200" dirty="0"/>
          </a:p>
        </p:txBody>
      </p:sp>
      <p:sp>
        <p:nvSpPr>
          <p:cNvPr id="11" name="Text 9"/>
          <p:cNvSpPr/>
          <p:nvPr/>
        </p:nvSpPr>
        <p:spPr>
          <a:xfrm>
            <a:off x="3840480" y="2889504"/>
            <a:ext cx="7589520" cy="54864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Offset = 100 (from the instruction);  Base = contents of R2 = 2000.</a:t>
            </a:r>
            <a:endParaRPr lang="en-US" sz="1200" dirty="0"/>
          </a:p>
        </p:txBody>
      </p:sp>
      <p:sp>
        <p:nvSpPr>
          <p:cNvPr id="12" name="Shape 10"/>
          <p:cNvSpPr/>
          <p:nvPr/>
        </p:nvSpPr>
        <p:spPr>
          <a:xfrm>
            <a:off x="548640" y="3493008"/>
            <a:ext cx="11094415" cy="548640"/>
          </a:xfrm>
          <a:prstGeom prst="roundRect">
            <a:avLst>
              <a:gd name="adj" fmla="val 8333"/>
            </a:avLst>
          </a:prstGeom>
          <a:solidFill>
            <a:srgbClr val="E9F0FC"/>
          </a:solidFill>
          <a:ln/>
        </p:spPr>
      </p:sp>
      <p:sp>
        <p:nvSpPr>
          <p:cNvPr id="13" name="Text 11"/>
          <p:cNvSpPr/>
          <p:nvPr/>
        </p:nvSpPr>
        <p:spPr>
          <a:xfrm>
            <a:off x="777240" y="3493008"/>
            <a:ext cx="3017520"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3. Apply the formula</a:t>
            </a:r>
            <a:endParaRPr lang="en-US" sz="1200" dirty="0"/>
          </a:p>
        </p:txBody>
      </p:sp>
      <p:sp>
        <p:nvSpPr>
          <p:cNvPr id="14" name="Text 12"/>
          <p:cNvSpPr/>
          <p:nvPr/>
        </p:nvSpPr>
        <p:spPr>
          <a:xfrm>
            <a:off x="3840480" y="3493008"/>
            <a:ext cx="7589520" cy="54864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Effective Address (EA) = Offset + [R2]  =  100 + 2000</a:t>
            </a:r>
            <a:endParaRPr lang="en-US" sz="1200" dirty="0"/>
          </a:p>
        </p:txBody>
      </p:sp>
      <p:sp>
        <p:nvSpPr>
          <p:cNvPr id="15" name="Shape 13"/>
          <p:cNvSpPr/>
          <p:nvPr/>
        </p:nvSpPr>
        <p:spPr>
          <a:xfrm>
            <a:off x="548640" y="4096512"/>
            <a:ext cx="11094415" cy="548640"/>
          </a:xfrm>
          <a:prstGeom prst="roundRect">
            <a:avLst>
              <a:gd name="adj" fmla="val 8333"/>
            </a:avLst>
          </a:prstGeom>
          <a:solidFill>
            <a:srgbClr val="FDF1DC"/>
          </a:solidFill>
          <a:ln w="15240">
            <a:solidFill>
              <a:srgbClr val="F2A93B"/>
            </a:solidFill>
            <a:prstDash val="solid"/>
          </a:ln>
        </p:spPr>
      </p:sp>
      <p:sp>
        <p:nvSpPr>
          <p:cNvPr id="16" name="Text 14"/>
          <p:cNvSpPr/>
          <p:nvPr/>
        </p:nvSpPr>
        <p:spPr>
          <a:xfrm>
            <a:off x="777240" y="4096512"/>
            <a:ext cx="3017520"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4. Compute</a:t>
            </a:r>
            <a:endParaRPr lang="en-US" sz="1200" dirty="0"/>
          </a:p>
        </p:txBody>
      </p:sp>
      <p:sp>
        <p:nvSpPr>
          <p:cNvPr id="17" name="Text 15"/>
          <p:cNvSpPr/>
          <p:nvPr/>
        </p:nvSpPr>
        <p:spPr>
          <a:xfrm>
            <a:off x="3840480" y="4096512"/>
            <a:ext cx="7589520" cy="548640"/>
          </a:xfrm>
          <a:prstGeom prst="rect">
            <a:avLst/>
          </a:prstGeom>
          <a:noFill/>
          <a:ln/>
        </p:spPr>
        <p:txBody>
          <a:bodyPr wrap="square" lIns="0" tIns="0" rIns="0" bIns="0" rtlCol="0" anchor="ctr"/>
          <a:lstStyle/>
          <a:p>
            <a:pPr marL="0" indent="0">
              <a:buNone/>
            </a:pPr>
            <a:r>
              <a:rPr lang="en-US" sz="1500" b="1" dirty="0">
                <a:solidFill>
                  <a:srgbClr val="212A4E"/>
                </a:solidFill>
                <a:latin typeface="Courier New" pitchFamily="34" charset="0"/>
                <a:ea typeface="Courier New" pitchFamily="34" charset="-122"/>
                <a:cs typeface="Courier New" pitchFamily="34" charset="-120"/>
              </a:rPr>
              <a:t>EA = 2100</a:t>
            </a:r>
            <a:endParaRPr lang="en-US" sz="1500" dirty="0"/>
          </a:p>
        </p:txBody>
      </p:sp>
      <p:sp>
        <p:nvSpPr>
          <p:cNvPr id="18" name="Shape 16"/>
          <p:cNvSpPr/>
          <p:nvPr/>
        </p:nvSpPr>
        <p:spPr>
          <a:xfrm>
            <a:off x="548640" y="4700016"/>
            <a:ext cx="11094415" cy="548640"/>
          </a:xfrm>
          <a:prstGeom prst="roundRect">
            <a:avLst>
              <a:gd name="adj" fmla="val 8333"/>
            </a:avLst>
          </a:prstGeom>
          <a:solidFill>
            <a:srgbClr val="E9F0FC"/>
          </a:solidFill>
          <a:ln/>
        </p:spPr>
      </p:sp>
      <p:sp>
        <p:nvSpPr>
          <p:cNvPr id="19" name="Text 17"/>
          <p:cNvSpPr/>
          <p:nvPr/>
        </p:nvSpPr>
        <p:spPr>
          <a:xfrm>
            <a:off x="777240" y="4700016"/>
            <a:ext cx="3017520" cy="5486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5. Interpret the result</a:t>
            </a:r>
            <a:endParaRPr lang="en-US" sz="1200" dirty="0"/>
          </a:p>
        </p:txBody>
      </p:sp>
      <p:sp>
        <p:nvSpPr>
          <p:cNvPr id="20" name="Text 18"/>
          <p:cNvSpPr/>
          <p:nvPr/>
        </p:nvSpPr>
        <p:spPr>
          <a:xfrm>
            <a:off x="3840480" y="4700016"/>
            <a:ext cx="7589520" cy="54864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R1 ← M[2100]  —  the CPU loads whatever value is stored at memory address 2100 into R1.</a:t>
            </a:r>
            <a:endParaRPr lang="en-US" sz="1200" dirty="0"/>
          </a:p>
        </p:txBody>
      </p:sp>
      <p:sp>
        <p:nvSpPr>
          <p:cNvPr id="21" name="Text 19"/>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2" name="Text 20"/>
          <p:cNvSpPr/>
          <p:nvPr/>
        </p:nvSpPr>
        <p:spPr>
          <a:xfrm>
            <a:off x="0" y="0"/>
            <a:ext cx="0" cy="0"/>
          </a:xfrm>
          <a:prstGeom prst="rect">
            <a:avLst/>
          </a:prstGeom>
          <a:noFill/>
          <a:ln/>
        </p:spPr>
        <p:txBody>
          <a:bodyPr wrap="square" rtlCol="0" anchor="ctr"/>
          <a:lstStyle/>
          <a:p>
            <a:pPr marL="0" indent="0">
              <a:buNone/>
            </a:pPr>
            <a:endParaRPr lang="en-US" dirty="0"/>
          </a:p>
        </p:txBody>
      </p:sp>
      <p:sp>
        <p:nvSpPr>
          <p:cNvPr id="23" name="Text 2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COMMON MISCONCEPTIONS</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Common Misconceptions &amp; Pitfalls</a:t>
            </a:r>
            <a:endParaRPr lang="en-US" sz="3000" dirty="0"/>
          </a:p>
        </p:txBody>
      </p:sp>
      <p:sp>
        <p:nvSpPr>
          <p:cNvPr id="4" name="Shape 2"/>
          <p:cNvSpPr/>
          <p:nvPr/>
        </p:nvSpPr>
        <p:spPr>
          <a:xfrm>
            <a:off x="548640" y="1645920"/>
            <a:ext cx="11094415" cy="914400"/>
          </a:xfrm>
          <a:prstGeom prst="roundRect">
            <a:avLst>
              <a:gd name="adj" fmla="val 7000"/>
            </a:avLst>
          </a:prstGeom>
          <a:solidFill>
            <a:srgbClr val="E9F0FC"/>
          </a:solidFill>
          <a:ln w="12700">
            <a:solidFill>
              <a:srgbClr val="CADCFC"/>
            </a:solidFill>
            <a:prstDash val="solid"/>
          </a:ln>
        </p:spPr>
      </p:sp>
      <p:sp>
        <p:nvSpPr>
          <p:cNvPr id="5" name="Text 3"/>
          <p:cNvSpPr/>
          <p:nvPr/>
        </p:nvSpPr>
        <p:spPr>
          <a:xfrm>
            <a:off x="777240" y="1719072"/>
            <a:ext cx="10637215" cy="365760"/>
          </a:xfrm>
          <a:prstGeom prst="rect">
            <a:avLst/>
          </a:prstGeom>
          <a:noFill/>
          <a:ln/>
        </p:spPr>
        <p:txBody>
          <a:bodyPr wrap="square" lIns="0" tIns="0" rIns="0" bIns="0" rtlCol="0" anchor="ctr"/>
          <a:lstStyle/>
          <a:p>
            <a:pPr marL="0" indent="0">
              <a:buNone/>
            </a:pPr>
            <a:r>
              <a:rPr lang="en-US" sz="1300" b="1" dirty="0">
                <a:solidFill>
                  <a:srgbClr val="9C3232"/>
                </a:solidFill>
                <a:latin typeface="Calibri" pitchFamily="34" charset="0"/>
                <a:ea typeface="Calibri" pitchFamily="34" charset="-122"/>
                <a:cs typeface="Calibri" pitchFamily="34" charset="-120"/>
              </a:rPr>
              <a:t>✖ ‘RISC always means fewer instructions to write.’</a:t>
            </a:r>
            <a:endParaRPr lang="en-US" sz="1300" dirty="0"/>
          </a:p>
        </p:txBody>
      </p:sp>
      <p:sp>
        <p:nvSpPr>
          <p:cNvPr id="6" name="Text 4"/>
          <p:cNvSpPr/>
          <p:nvPr/>
        </p:nvSpPr>
        <p:spPr>
          <a:xfrm>
            <a:off x="777240" y="2084832"/>
            <a:ext cx="10637215" cy="41148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RISC means simpler instructions, not fewer lines of assembly — programs often need MORE instructions.</a:t>
            </a:r>
            <a:endParaRPr lang="en-US" sz="1200" dirty="0"/>
          </a:p>
        </p:txBody>
      </p:sp>
      <p:sp>
        <p:nvSpPr>
          <p:cNvPr id="7" name="Shape 5"/>
          <p:cNvSpPr/>
          <p:nvPr/>
        </p:nvSpPr>
        <p:spPr>
          <a:xfrm>
            <a:off x="548640" y="2633472"/>
            <a:ext cx="11094415" cy="914400"/>
          </a:xfrm>
          <a:prstGeom prst="roundRect">
            <a:avLst>
              <a:gd name="adj" fmla="val 7000"/>
            </a:avLst>
          </a:prstGeom>
          <a:solidFill>
            <a:srgbClr val="FFFFFF"/>
          </a:solidFill>
          <a:ln w="12700">
            <a:solidFill>
              <a:srgbClr val="CADCFC"/>
            </a:solidFill>
            <a:prstDash val="solid"/>
          </a:ln>
        </p:spPr>
      </p:sp>
      <p:sp>
        <p:nvSpPr>
          <p:cNvPr id="8" name="Text 6"/>
          <p:cNvSpPr/>
          <p:nvPr/>
        </p:nvSpPr>
        <p:spPr>
          <a:xfrm>
            <a:off x="777240" y="2706624"/>
            <a:ext cx="10637215" cy="365760"/>
          </a:xfrm>
          <a:prstGeom prst="rect">
            <a:avLst/>
          </a:prstGeom>
          <a:noFill/>
          <a:ln/>
        </p:spPr>
        <p:txBody>
          <a:bodyPr wrap="square" lIns="0" tIns="0" rIns="0" bIns="0" rtlCol="0" anchor="ctr"/>
          <a:lstStyle/>
          <a:p>
            <a:pPr marL="0" indent="0">
              <a:buNone/>
            </a:pPr>
            <a:r>
              <a:rPr lang="en-US" sz="1300" b="1" dirty="0">
                <a:solidFill>
                  <a:srgbClr val="9C3232"/>
                </a:solidFill>
                <a:latin typeface="Calibri" pitchFamily="34" charset="0"/>
                <a:ea typeface="Calibri" pitchFamily="34" charset="-122"/>
                <a:cs typeface="Calibri" pitchFamily="34" charset="-120"/>
              </a:rPr>
              <a:t>✖ ‘CISC is always slower.’</a:t>
            </a:r>
            <a:endParaRPr lang="en-US" sz="1300" dirty="0"/>
          </a:p>
        </p:txBody>
      </p:sp>
      <p:sp>
        <p:nvSpPr>
          <p:cNvPr id="9" name="Text 7"/>
          <p:cNvSpPr/>
          <p:nvPr/>
        </p:nvSpPr>
        <p:spPr>
          <a:xfrm>
            <a:off x="777240" y="3072384"/>
            <a:ext cx="10637215" cy="41148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Modern x86 chips internally decompose CISC instructions into RISC-like micro-ops — speed depends on implementation, not just the ISA.</a:t>
            </a:r>
            <a:endParaRPr lang="en-US" sz="1200" dirty="0"/>
          </a:p>
        </p:txBody>
      </p:sp>
      <p:sp>
        <p:nvSpPr>
          <p:cNvPr id="10" name="Shape 8"/>
          <p:cNvSpPr/>
          <p:nvPr/>
        </p:nvSpPr>
        <p:spPr>
          <a:xfrm>
            <a:off x="548640" y="3621024"/>
            <a:ext cx="11094415" cy="914400"/>
          </a:xfrm>
          <a:prstGeom prst="roundRect">
            <a:avLst>
              <a:gd name="adj" fmla="val 7000"/>
            </a:avLst>
          </a:prstGeom>
          <a:solidFill>
            <a:srgbClr val="E9F0FC"/>
          </a:solidFill>
          <a:ln w="12700">
            <a:solidFill>
              <a:srgbClr val="CADCFC"/>
            </a:solidFill>
            <a:prstDash val="solid"/>
          </a:ln>
        </p:spPr>
      </p:sp>
      <p:sp>
        <p:nvSpPr>
          <p:cNvPr id="11" name="Text 9"/>
          <p:cNvSpPr/>
          <p:nvPr/>
        </p:nvSpPr>
        <p:spPr>
          <a:xfrm>
            <a:off x="777240" y="3694176"/>
            <a:ext cx="10637215" cy="365760"/>
          </a:xfrm>
          <a:prstGeom prst="rect">
            <a:avLst/>
          </a:prstGeom>
          <a:noFill/>
          <a:ln/>
        </p:spPr>
        <p:txBody>
          <a:bodyPr wrap="square" lIns="0" tIns="0" rIns="0" bIns="0" rtlCol="0" anchor="ctr"/>
          <a:lstStyle/>
          <a:p>
            <a:pPr marL="0" indent="0">
              <a:buNone/>
            </a:pPr>
            <a:r>
              <a:rPr lang="en-US" sz="1300" b="1" dirty="0">
                <a:solidFill>
                  <a:srgbClr val="9C3232"/>
                </a:solidFill>
                <a:latin typeface="Calibri" pitchFamily="34" charset="0"/>
                <a:ea typeface="Calibri" pitchFamily="34" charset="-122"/>
                <a:cs typeface="Calibri" pitchFamily="34" charset="-120"/>
              </a:rPr>
              <a:t>✖ ‘Any instruction can access memory directly in RISC.’</a:t>
            </a:r>
            <a:endParaRPr lang="en-US" sz="1300" dirty="0"/>
          </a:p>
        </p:txBody>
      </p:sp>
      <p:sp>
        <p:nvSpPr>
          <p:cNvPr id="12" name="Text 10"/>
          <p:cNvSpPr/>
          <p:nvPr/>
        </p:nvSpPr>
        <p:spPr>
          <a:xfrm>
            <a:off x="777240" y="4059936"/>
            <a:ext cx="10637215" cy="41148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Only LOAD and STORE touch memory in RISC — arithmetic instructions work on registers only.</a:t>
            </a:r>
            <a:endParaRPr lang="en-US" sz="1200" dirty="0"/>
          </a:p>
        </p:txBody>
      </p:sp>
      <p:sp>
        <p:nvSpPr>
          <p:cNvPr id="13" name="Shape 11"/>
          <p:cNvSpPr/>
          <p:nvPr/>
        </p:nvSpPr>
        <p:spPr>
          <a:xfrm>
            <a:off x="548640" y="4608576"/>
            <a:ext cx="11094415" cy="914400"/>
          </a:xfrm>
          <a:prstGeom prst="roundRect">
            <a:avLst>
              <a:gd name="adj" fmla="val 7000"/>
            </a:avLst>
          </a:prstGeom>
          <a:solidFill>
            <a:srgbClr val="FFFFFF"/>
          </a:solidFill>
          <a:ln w="12700">
            <a:solidFill>
              <a:srgbClr val="CADCFC"/>
            </a:solidFill>
            <a:prstDash val="solid"/>
          </a:ln>
        </p:spPr>
      </p:sp>
      <p:sp>
        <p:nvSpPr>
          <p:cNvPr id="14" name="Text 12"/>
          <p:cNvSpPr/>
          <p:nvPr/>
        </p:nvSpPr>
        <p:spPr>
          <a:xfrm>
            <a:off x="777240" y="4681728"/>
            <a:ext cx="10637215" cy="365760"/>
          </a:xfrm>
          <a:prstGeom prst="rect">
            <a:avLst/>
          </a:prstGeom>
          <a:noFill/>
          <a:ln/>
        </p:spPr>
        <p:txBody>
          <a:bodyPr wrap="square" lIns="0" tIns="0" rIns="0" bIns="0" rtlCol="0" anchor="ctr"/>
          <a:lstStyle/>
          <a:p>
            <a:pPr marL="0" indent="0">
              <a:buNone/>
            </a:pPr>
            <a:r>
              <a:rPr lang="en-US" sz="1300" b="1" dirty="0">
                <a:solidFill>
                  <a:srgbClr val="9C3232"/>
                </a:solidFill>
                <a:latin typeface="Calibri" pitchFamily="34" charset="0"/>
                <a:ea typeface="Calibri" pitchFamily="34" charset="-122"/>
                <a:cs typeface="Calibri" pitchFamily="34" charset="-120"/>
              </a:rPr>
              <a:t>✖ ‘The PC only ever moves forward.’</a:t>
            </a:r>
            <a:endParaRPr lang="en-US" sz="1300" dirty="0"/>
          </a:p>
        </p:txBody>
      </p:sp>
      <p:sp>
        <p:nvSpPr>
          <p:cNvPr id="15" name="Text 13"/>
          <p:cNvSpPr/>
          <p:nvPr/>
        </p:nvSpPr>
        <p:spPr>
          <a:xfrm>
            <a:off x="777240" y="5047488"/>
            <a:ext cx="10637215" cy="411480"/>
          </a:xfrm>
          <a:prstGeom prst="rect">
            <a:avLst/>
          </a:prstGeom>
          <a:noFill/>
          <a:ln/>
        </p:spPr>
        <p:txBody>
          <a:bodyPr wrap="square" lIns="0" tIns="0" rIns="0" bIns="0" rtlCol="0" anchor="ctr"/>
          <a:lstStyle/>
          <a:p>
            <a:pPr marL="0" indent="0">
              <a:buNone/>
            </a:pPr>
            <a:r>
              <a:rPr lang="en-US" sz="1200" dirty="0">
                <a:solidFill>
                  <a:srgbClr val="212A4E"/>
                </a:solidFill>
                <a:latin typeface="Calibri" pitchFamily="34" charset="0"/>
                <a:ea typeface="Calibri" pitchFamily="34" charset="-122"/>
                <a:cs typeface="Calibri" pitchFamily="34" charset="-120"/>
              </a:rPr>
              <a:t>Branches can move the PC backward (loops) or forward past several instructions (skipping an if-block).</a:t>
            </a:r>
            <a:endParaRPr lang="en-US" sz="1200" dirty="0"/>
          </a:p>
        </p:txBody>
      </p:sp>
      <p:sp>
        <p:nvSpPr>
          <p:cNvPr id="16" name="Text 14"/>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17" name="Text 15"/>
          <p:cNvSpPr/>
          <p:nvPr/>
        </p:nvSpPr>
        <p:spPr>
          <a:xfrm>
            <a:off x="0" y="0"/>
            <a:ext cx="0" cy="0"/>
          </a:xfrm>
          <a:prstGeom prst="rect">
            <a:avLst/>
          </a:prstGeom>
          <a:noFill/>
          <a:ln/>
        </p:spPr>
        <p:txBody>
          <a:bodyPr wrap="square" rtlCol="0" anchor="ctr"/>
          <a:lstStyle/>
          <a:p>
            <a:pPr marL="0" indent="0">
              <a:buNone/>
            </a:pPr>
            <a:endParaRPr lang="en-US" dirty="0"/>
          </a:p>
        </p:txBody>
      </p:sp>
      <p:sp>
        <p:nvSpPr>
          <p:cNvPr id="18" name="Text 16"/>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QUICK CHECK</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Mini Activity — Think, Pair, Share (2 minutes)</a:t>
            </a:r>
            <a:endParaRPr lang="en-US" sz="3000" dirty="0"/>
          </a:p>
        </p:txBody>
      </p:sp>
      <p:sp>
        <p:nvSpPr>
          <p:cNvPr id="4" name="Text 2"/>
          <p:cNvSpPr/>
          <p:nvPr/>
        </p:nvSpPr>
        <p:spPr>
          <a:xfrm>
            <a:off x="548640" y="1691640"/>
            <a:ext cx="11094415" cy="2743200"/>
          </a:xfrm>
          <a:prstGeom prst="rect">
            <a:avLst/>
          </a:prstGeom>
          <a:noFill/>
          <a:ln/>
        </p:spPr>
        <p:txBody>
          <a:bodyPr wrap="square" lIns="0" tIns="0" rIns="0" bIns="0" rtlCol="0" anchor="t"/>
          <a:lstStyle/>
          <a:p>
            <a:pPr marL="228600" indent="-228600">
              <a:lnSpc>
                <a:spcPct val="115000"/>
              </a:lnSpc>
              <a:spcAft>
                <a:spcPts val="2200"/>
              </a:spcAft>
              <a:buSzPct val="100000"/>
              <a:buChar char="▪"/>
            </a:pPr>
            <a:r>
              <a:rPr lang="en-US" sz="1550" dirty="0">
                <a:solidFill>
                  <a:srgbClr val="212A4E"/>
                </a:solidFill>
                <a:latin typeface="Calibri" pitchFamily="34" charset="0"/>
                <a:ea typeface="Calibri" pitchFamily="34" charset="-122"/>
                <a:cs typeface="Calibri" pitchFamily="34" charset="-120"/>
              </a:rPr>
              <a:t>In pairs, write the RTN for:  ‘Subtract the value in R4 from R3 and store the result back in R3.’</a:t>
            </a:r>
            <a:endParaRPr lang="en-US" sz="1550" dirty="0"/>
          </a:p>
          <a:p>
            <a:pPr marL="228600" indent="-228600">
              <a:lnSpc>
                <a:spcPct val="115000"/>
              </a:lnSpc>
              <a:spcAft>
                <a:spcPts val="2200"/>
              </a:spcAft>
              <a:buSzPct val="100000"/>
              <a:buChar char="▪"/>
            </a:pPr>
            <a:r>
              <a:rPr lang="en-US" sz="1550" dirty="0">
                <a:solidFill>
                  <a:srgbClr val="212A4E"/>
                </a:solidFill>
                <a:latin typeface="Calibri" pitchFamily="34" charset="0"/>
                <a:ea typeface="Calibri" pitchFamily="34" charset="-122"/>
                <a:cs typeface="Calibri" pitchFamily="34" charset="-120"/>
              </a:rPr>
              <a:t>Then decide: is the instruction  BEQ R1, R2, 300  conditional or unconditional? Justify in one sentence.</a:t>
            </a:r>
            <a:endParaRPr lang="en-US" sz="1550" dirty="0"/>
          </a:p>
          <a:p>
            <a:pPr marL="228600" indent="-228600">
              <a:lnSpc>
                <a:spcPct val="115000"/>
              </a:lnSpc>
              <a:spcAft>
                <a:spcPts val="2200"/>
              </a:spcAft>
              <a:buSzPct val="100000"/>
              <a:buChar char="▪"/>
            </a:pPr>
            <a:r>
              <a:rPr lang="en-US" sz="1550" dirty="0">
                <a:solidFill>
                  <a:srgbClr val="212A4E"/>
                </a:solidFill>
                <a:latin typeface="Calibri" pitchFamily="34" charset="0"/>
                <a:ea typeface="Calibri" pitchFamily="34" charset="-122"/>
                <a:cs typeface="Calibri" pitchFamily="34" charset="-120"/>
              </a:rPr>
              <a:t>Finally: if PC = 500 and instructions are 4 bytes wide, what is the PC right after the next straight-line fetch?</a:t>
            </a:r>
            <a:endParaRPr lang="en-US" sz="1550" dirty="0"/>
          </a:p>
        </p:txBody>
      </p:sp>
      <p:sp>
        <p:nvSpPr>
          <p:cNvPr id="5" name="Shape 3"/>
          <p:cNvSpPr/>
          <p:nvPr/>
        </p:nvSpPr>
        <p:spPr>
          <a:xfrm>
            <a:off x="548640" y="4617720"/>
            <a:ext cx="11094415" cy="777240"/>
          </a:xfrm>
          <a:prstGeom prst="roundRect">
            <a:avLst>
              <a:gd name="adj" fmla="val 9412"/>
            </a:avLst>
          </a:prstGeom>
          <a:solidFill>
            <a:srgbClr val="1E2761"/>
          </a:solidFill>
          <a:ln/>
        </p:spPr>
      </p:sp>
      <p:sp>
        <p:nvSpPr>
          <p:cNvPr id="6" name="Text 4"/>
          <p:cNvSpPr/>
          <p:nvPr/>
        </p:nvSpPr>
        <p:spPr>
          <a:xfrm>
            <a:off x="777240" y="4617720"/>
            <a:ext cx="10637215" cy="777240"/>
          </a:xfrm>
          <a:prstGeom prst="rect">
            <a:avLst/>
          </a:prstGeom>
          <a:noFill/>
          <a:ln/>
        </p:spPr>
        <p:txBody>
          <a:bodyPr wrap="square" lIns="0" tIns="0" rIns="0" bIns="0" rtlCol="0" anchor="ctr"/>
          <a:lstStyle/>
          <a:p>
            <a:pPr marL="0" indent="0">
              <a:buNone/>
            </a:pPr>
            <a:r>
              <a:rPr lang="en-US" sz="1350" b="1" dirty="0">
                <a:solidFill>
                  <a:srgbClr val="F2A93B"/>
                </a:solidFill>
                <a:latin typeface="Courier New" pitchFamily="34" charset="0"/>
                <a:ea typeface="Courier New" pitchFamily="34" charset="-122"/>
                <a:cs typeface="Courier New" pitchFamily="34" charset="-120"/>
              </a:rPr>
              <a:t>Answers:  R3 ← R3 − R4   |   Conditional (checks R1 = R2)   |   PC = 504</a:t>
            </a:r>
            <a:endParaRPr lang="en-US" sz="135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640080" y="1691640"/>
            <a:ext cx="457200" cy="457200"/>
          </a:xfrm>
          <a:prstGeom prst="ellipse">
            <a:avLst/>
          </a:prstGeom>
          <a:solidFill>
            <a:srgbClr val="F2A93B"/>
          </a:solidFill>
          <a:ln/>
        </p:spPr>
      </p:sp>
      <p:sp>
        <p:nvSpPr>
          <p:cNvPr id="5" name="Text 3"/>
          <p:cNvSpPr/>
          <p:nvPr/>
        </p:nvSpPr>
        <p:spPr>
          <a:xfrm>
            <a:off x="640080" y="169164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325880" y="164592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An instruction has an opcode and operands; RTN and assembly are two notations for the same underlying action.</a:t>
            </a:r>
            <a:endParaRPr lang="en-US" sz="1400" dirty="0"/>
          </a:p>
        </p:txBody>
      </p:sp>
      <p:sp>
        <p:nvSpPr>
          <p:cNvPr id="7" name="Shape 5"/>
          <p:cNvSpPr/>
          <p:nvPr/>
        </p:nvSpPr>
        <p:spPr>
          <a:xfrm>
            <a:off x="640080" y="2468880"/>
            <a:ext cx="457200" cy="457200"/>
          </a:xfrm>
          <a:prstGeom prst="ellipse">
            <a:avLst/>
          </a:prstGeom>
          <a:solidFill>
            <a:srgbClr val="F2A93B"/>
          </a:solidFill>
          <a:ln/>
        </p:spPr>
      </p:sp>
      <p:sp>
        <p:nvSpPr>
          <p:cNvPr id="8" name="Text 6"/>
          <p:cNvSpPr/>
          <p:nvPr/>
        </p:nvSpPr>
        <p:spPr>
          <a:xfrm>
            <a:off x="640080" y="246888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325880" y="242316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RISC favors many simple, fixed-length, fast instructions; CISC favors fewer, powerful, variable-length instructions.</a:t>
            </a:r>
            <a:endParaRPr lang="en-US" sz="1400" dirty="0"/>
          </a:p>
        </p:txBody>
      </p:sp>
      <p:sp>
        <p:nvSpPr>
          <p:cNvPr id="10" name="Shape 8"/>
          <p:cNvSpPr/>
          <p:nvPr/>
        </p:nvSpPr>
        <p:spPr>
          <a:xfrm>
            <a:off x="640080" y="3246120"/>
            <a:ext cx="457200" cy="457200"/>
          </a:xfrm>
          <a:prstGeom prst="ellipse">
            <a:avLst/>
          </a:prstGeom>
          <a:solidFill>
            <a:srgbClr val="F2A93B"/>
          </a:solidFill>
          <a:ln/>
        </p:spPr>
      </p:sp>
      <p:sp>
        <p:nvSpPr>
          <p:cNvPr id="11" name="Text 9"/>
          <p:cNvSpPr/>
          <p:nvPr/>
        </p:nvSpPr>
        <p:spPr>
          <a:xfrm>
            <a:off x="640080" y="324612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325880" y="320040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Straight-line sequencing is the default: PC ← PC + instruction length after every fetch.</a:t>
            </a:r>
            <a:endParaRPr lang="en-US" sz="1400" dirty="0"/>
          </a:p>
        </p:txBody>
      </p:sp>
      <p:sp>
        <p:nvSpPr>
          <p:cNvPr id="13" name="Shape 11"/>
          <p:cNvSpPr/>
          <p:nvPr/>
        </p:nvSpPr>
        <p:spPr>
          <a:xfrm>
            <a:off x="640080" y="4023360"/>
            <a:ext cx="457200" cy="457200"/>
          </a:xfrm>
          <a:prstGeom prst="ellipse">
            <a:avLst/>
          </a:prstGeom>
          <a:solidFill>
            <a:srgbClr val="F2A93B"/>
          </a:solidFill>
          <a:ln/>
        </p:spPr>
      </p:sp>
      <p:sp>
        <p:nvSpPr>
          <p:cNvPr id="14" name="Text 12"/>
          <p:cNvSpPr/>
          <p:nvPr/>
        </p:nvSpPr>
        <p:spPr>
          <a:xfrm>
            <a:off x="640080" y="402336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325880" y="397764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Branching overrides that default — conditionally or unconditionally — enabling loops and decisions.</a:t>
            </a:r>
            <a:endParaRPr lang="en-US" sz="1400" dirty="0"/>
          </a:p>
        </p:txBody>
      </p:sp>
      <p:sp>
        <p:nvSpPr>
          <p:cNvPr id="16" name="Shape 14"/>
          <p:cNvSpPr/>
          <p:nvPr/>
        </p:nvSpPr>
        <p:spPr>
          <a:xfrm>
            <a:off x="640080" y="4800600"/>
            <a:ext cx="457200" cy="457200"/>
          </a:xfrm>
          <a:prstGeom prst="ellipse">
            <a:avLst/>
          </a:prstGeom>
          <a:solidFill>
            <a:srgbClr val="F2A93B"/>
          </a:solidFill>
          <a:ln/>
        </p:spPr>
      </p:sp>
      <p:sp>
        <p:nvSpPr>
          <p:cNvPr id="17" name="Text 15"/>
          <p:cNvSpPr/>
          <p:nvPr/>
        </p:nvSpPr>
        <p:spPr>
          <a:xfrm>
            <a:off x="640080" y="4800600"/>
            <a:ext cx="457200" cy="457200"/>
          </a:xfrm>
          <a:prstGeom prst="rect">
            <a:avLst/>
          </a:prstGeom>
          <a:noFill/>
          <a:ln/>
        </p:spPr>
        <p:txBody>
          <a:bodyPr wrap="square" lIns="0" tIns="0" rIns="0" bIns="0" rtlCol="0" anchor="ctr"/>
          <a:lstStyle/>
          <a:p>
            <a:pPr marL="0" indent="0" algn="ctr">
              <a:buNone/>
            </a:pPr>
            <a:r>
              <a:rPr lang="en-US" sz="1800" b="1" dirty="0">
                <a:solidFill>
                  <a:srgbClr val="1E2761"/>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325880" y="4754880"/>
            <a:ext cx="10180015"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Addressing modes (immediate, direct, register indirect, indexed) define how the effective memory address is computed.</a:t>
            </a:r>
            <a:endParaRPr lang="en-US" sz="1400" dirty="0"/>
          </a:p>
        </p:txBody>
      </p:sp>
      <p:sp>
        <p:nvSpPr>
          <p:cNvPr id="19" name="Text 17"/>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0" name="Text 18"/>
          <p:cNvSpPr/>
          <p:nvPr/>
        </p:nvSpPr>
        <p:spPr>
          <a:xfrm>
            <a:off x="0" y="0"/>
            <a:ext cx="0" cy="0"/>
          </a:xfrm>
          <a:prstGeom prst="rect">
            <a:avLst/>
          </a:prstGeom>
          <a:noFill/>
          <a:ln/>
        </p:spPr>
        <p:txBody>
          <a:bodyPr wrap="square" rtlCol="0" anchor="ctr"/>
          <a:lstStyle/>
          <a:p>
            <a:pPr marL="0" indent="0">
              <a:buNone/>
            </a:pPr>
            <a:endParaRPr lang="en-US"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QUIZ — CSS2257</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Quiz Time! (5 Questions, 4 Minutes)</a:t>
            </a:r>
            <a:endParaRPr lang="en-US" sz="3000" dirty="0"/>
          </a:p>
        </p:txBody>
      </p:sp>
      <p:sp>
        <p:nvSpPr>
          <p:cNvPr id="4" name="Text 2"/>
          <p:cNvSpPr/>
          <p:nvPr/>
        </p:nvSpPr>
        <p:spPr>
          <a:xfrm>
            <a:off x="548640" y="1554480"/>
            <a:ext cx="11094415" cy="4206240"/>
          </a:xfrm>
          <a:prstGeom prst="rect">
            <a:avLst/>
          </a:prstGeom>
          <a:noFill/>
          <a:ln/>
        </p:spPr>
        <p:txBody>
          <a:bodyPr wrap="square" lIns="0" tIns="0" rIns="0" bIns="0" rtlCol="0" anchor="t"/>
          <a:lstStyle/>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Q1 (MCQ): In RTN, what does  M[1000] ← R1  mean?  (a) Load R1 from memory  (b) Store R1 to memory  (c) Compare R1 and memory  (d) Jump to address 1000</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Q2 (True/False): In a RISC architecture, an ADD instruction can read one operand directly from memory.</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Q3 (MCQ): Which best describes straight-line sequencing?  (a) PC always jumps  (b) PC ← PC + instruction length by default  (c) PC never changes  (d) Only used in CISC</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Q4 (MCQ): A conditional branch differs from an unconditional branch because it —  (a) never executes  (b) jumps only if a condition holds  (c) always jumps  (d) only works in loops</a:t>
            </a:r>
            <a:endParaRPr lang="en-US" sz="1300" dirty="0"/>
          </a:p>
          <a:p>
            <a:pPr marL="203200" indent="-203200">
              <a:spcAft>
                <a:spcPts val="1600"/>
              </a:spcAft>
              <a:buSzPct val="100000"/>
              <a:buChar char="▪"/>
            </a:pPr>
            <a:r>
              <a:rPr lang="en-US" sz="1300" dirty="0">
                <a:solidFill>
                  <a:srgbClr val="212A4E"/>
                </a:solidFill>
                <a:latin typeface="Calibri" pitchFamily="34" charset="0"/>
                <a:ea typeface="Calibri" pitchFamily="34" charset="-122"/>
                <a:cs typeface="Calibri" pitchFamily="34" charset="-120"/>
              </a:rPr>
              <a:t>Q5 (Short answer): Given LOAD R1, 50(R2) and R2 = 3000, what is the effective address?</a:t>
            </a:r>
            <a:endParaRPr lang="en-US" sz="1300" dirty="0"/>
          </a:p>
        </p:txBody>
      </p:sp>
      <p:sp>
        <p:nvSpPr>
          <p:cNvPr id="5" name="Text 3"/>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6" name="Text 4"/>
          <p:cNvSpPr/>
          <p:nvPr/>
        </p:nvSpPr>
        <p:spPr>
          <a:xfrm>
            <a:off x="0" y="0"/>
            <a:ext cx="0" cy="0"/>
          </a:xfrm>
          <a:prstGeom prst="rect">
            <a:avLst/>
          </a:prstGeom>
          <a:noFill/>
          <a:ln/>
        </p:spPr>
        <p:txBody>
          <a:bodyPr wrap="square" rtlCol="0" anchor="ctr"/>
          <a:lstStyle/>
          <a:p>
            <a:pPr marL="0" indent="0">
              <a:buNone/>
            </a:pPr>
            <a:endParaRPr lang="en-US" dirty="0"/>
          </a:p>
        </p:txBody>
      </p:sp>
      <p:sp>
        <p:nvSpPr>
          <p:cNvPr id="7" name="Text 5"/>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QUIZ ANSWERS — CSS2257</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Quiz Answers &amp; Explanations</a:t>
            </a:r>
            <a:endParaRPr lang="en-US" sz="3000" dirty="0"/>
          </a:p>
        </p:txBody>
      </p:sp>
      <p:sp>
        <p:nvSpPr>
          <p:cNvPr id="4" name="Shape 2"/>
          <p:cNvSpPr/>
          <p:nvPr/>
        </p:nvSpPr>
        <p:spPr>
          <a:xfrm>
            <a:off x="594360" y="1600200"/>
            <a:ext cx="384048" cy="384048"/>
          </a:xfrm>
          <a:prstGeom prst="ellipse">
            <a:avLst/>
          </a:prstGeom>
          <a:solidFill>
            <a:srgbClr val="F2A93B"/>
          </a:solidFill>
          <a:ln/>
        </p:spPr>
      </p:sp>
      <p:sp>
        <p:nvSpPr>
          <p:cNvPr id="5" name="Text 3"/>
          <p:cNvSpPr/>
          <p:nvPr/>
        </p:nvSpPr>
        <p:spPr>
          <a:xfrm>
            <a:off x="594360" y="1600200"/>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188720" y="1554480"/>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A1: (b) Store R1 to memory</a:t>
            </a:r>
            <a:endParaRPr lang="en-US" sz="1400" dirty="0"/>
          </a:p>
        </p:txBody>
      </p:sp>
      <p:sp>
        <p:nvSpPr>
          <p:cNvPr id="7" name="Text 5"/>
          <p:cNvSpPr/>
          <p:nvPr/>
        </p:nvSpPr>
        <p:spPr>
          <a:xfrm>
            <a:off x="1188720" y="1892808"/>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Contents of R1 are written into memory address 1000.</a:t>
            </a:r>
            <a:endParaRPr lang="en-US" sz="1150" dirty="0"/>
          </a:p>
        </p:txBody>
      </p:sp>
      <p:sp>
        <p:nvSpPr>
          <p:cNvPr id="8" name="Shape 6"/>
          <p:cNvSpPr/>
          <p:nvPr/>
        </p:nvSpPr>
        <p:spPr>
          <a:xfrm>
            <a:off x="594360" y="2441448"/>
            <a:ext cx="384048" cy="384048"/>
          </a:xfrm>
          <a:prstGeom prst="ellipse">
            <a:avLst/>
          </a:prstGeom>
          <a:solidFill>
            <a:srgbClr val="F2A93B"/>
          </a:solidFill>
          <a:ln/>
        </p:spPr>
      </p:sp>
      <p:sp>
        <p:nvSpPr>
          <p:cNvPr id="9" name="Text 7"/>
          <p:cNvSpPr/>
          <p:nvPr/>
        </p:nvSpPr>
        <p:spPr>
          <a:xfrm>
            <a:off x="594360" y="2441448"/>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188720" y="2395728"/>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A2: False</a:t>
            </a:r>
            <a:endParaRPr lang="en-US" sz="1400" dirty="0"/>
          </a:p>
        </p:txBody>
      </p:sp>
      <p:sp>
        <p:nvSpPr>
          <p:cNvPr id="11" name="Text 9"/>
          <p:cNvSpPr/>
          <p:nvPr/>
        </p:nvSpPr>
        <p:spPr>
          <a:xfrm>
            <a:off x="1188720" y="2734056"/>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RISC's load-store rule means arithmetic instructions like ADD operate only on registers, never memory directly.</a:t>
            </a:r>
            <a:endParaRPr lang="en-US" sz="1150" dirty="0"/>
          </a:p>
        </p:txBody>
      </p:sp>
      <p:sp>
        <p:nvSpPr>
          <p:cNvPr id="12" name="Shape 10"/>
          <p:cNvSpPr/>
          <p:nvPr/>
        </p:nvSpPr>
        <p:spPr>
          <a:xfrm>
            <a:off x="594360" y="3282696"/>
            <a:ext cx="384048" cy="384048"/>
          </a:xfrm>
          <a:prstGeom prst="ellipse">
            <a:avLst/>
          </a:prstGeom>
          <a:solidFill>
            <a:srgbClr val="F2A93B"/>
          </a:solidFill>
          <a:ln/>
        </p:spPr>
      </p:sp>
      <p:sp>
        <p:nvSpPr>
          <p:cNvPr id="13" name="Text 11"/>
          <p:cNvSpPr/>
          <p:nvPr/>
        </p:nvSpPr>
        <p:spPr>
          <a:xfrm>
            <a:off x="594360" y="3282696"/>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188720" y="3236976"/>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A3: (b) PC ← PC + instruction length</a:t>
            </a:r>
            <a:endParaRPr lang="en-US" sz="1400" dirty="0"/>
          </a:p>
        </p:txBody>
      </p:sp>
      <p:sp>
        <p:nvSpPr>
          <p:cNvPr id="15" name="Text 13"/>
          <p:cNvSpPr/>
          <p:nvPr/>
        </p:nvSpPr>
        <p:spPr>
          <a:xfrm>
            <a:off x="1188720" y="3575304"/>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This is the default action after every fetch, unless overridden by a branch.</a:t>
            </a:r>
            <a:endParaRPr lang="en-US" sz="1150" dirty="0"/>
          </a:p>
        </p:txBody>
      </p:sp>
      <p:sp>
        <p:nvSpPr>
          <p:cNvPr id="16" name="Shape 14"/>
          <p:cNvSpPr/>
          <p:nvPr/>
        </p:nvSpPr>
        <p:spPr>
          <a:xfrm>
            <a:off x="594360" y="4123944"/>
            <a:ext cx="384048" cy="384048"/>
          </a:xfrm>
          <a:prstGeom prst="ellipse">
            <a:avLst/>
          </a:prstGeom>
          <a:solidFill>
            <a:srgbClr val="F2A93B"/>
          </a:solidFill>
          <a:ln/>
        </p:spPr>
      </p:sp>
      <p:sp>
        <p:nvSpPr>
          <p:cNvPr id="17" name="Text 15"/>
          <p:cNvSpPr/>
          <p:nvPr/>
        </p:nvSpPr>
        <p:spPr>
          <a:xfrm>
            <a:off x="594360" y="4123944"/>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188720" y="4078224"/>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A4: (b) Jumps only if a condition holds</a:t>
            </a:r>
            <a:endParaRPr lang="en-US" sz="1400" dirty="0"/>
          </a:p>
        </p:txBody>
      </p:sp>
      <p:sp>
        <p:nvSpPr>
          <p:cNvPr id="19" name="Text 17"/>
          <p:cNvSpPr/>
          <p:nvPr/>
        </p:nvSpPr>
        <p:spPr>
          <a:xfrm>
            <a:off x="1188720" y="4416552"/>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Unconditional branches always jump; conditional branches check a condition first.</a:t>
            </a:r>
            <a:endParaRPr lang="en-US" sz="1150" dirty="0"/>
          </a:p>
        </p:txBody>
      </p:sp>
      <p:sp>
        <p:nvSpPr>
          <p:cNvPr id="20" name="Shape 18"/>
          <p:cNvSpPr/>
          <p:nvPr/>
        </p:nvSpPr>
        <p:spPr>
          <a:xfrm>
            <a:off x="594360" y="4965192"/>
            <a:ext cx="384048" cy="384048"/>
          </a:xfrm>
          <a:prstGeom prst="ellipse">
            <a:avLst/>
          </a:prstGeom>
          <a:solidFill>
            <a:srgbClr val="F2A93B"/>
          </a:solidFill>
          <a:ln/>
        </p:spPr>
      </p:sp>
      <p:sp>
        <p:nvSpPr>
          <p:cNvPr id="21" name="Text 19"/>
          <p:cNvSpPr/>
          <p:nvPr/>
        </p:nvSpPr>
        <p:spPr>
          <a:xfrm>
            <a:off x="594360" y="4965192"/>
            <a:ext cx="384048" cy="384048"/>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188720" y="4919472"/>
            <a:ext cx="10362895"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A5: EA = 50 + 3000 = 3050</a:t>
            </a:r>
            <a:endParaRPr lang="en-US" sz="1400" dirty="0"/>
          </a:p>
        </p:txBody>
      </p:sp>
      <p:sp>
        <p:nvSpPr>
          <p:cNvPr id="23" name="Text 21"/>
          <p:cNvSpPr/>
          <p:nvPr/>
        </p:nvSpPr>
        <p:spPr>
          <a:xfrm>
            <a:off x="1188720" y="5257800"/>
            <a:ext cx="10362895" cy="41148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Indexed addressing: offset (50) + contents of base register R2 (3000).</a:t>
            </a:r>
            <a:endParaRPr lang="en-US" sz="1150" dirty="0"/>
          </a:p>
        </p:txBody>
      </p:sp>
      <p:sp>
        <p:nvSpPr>
          <p:cNvPr id="24" name="Text 22"/>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25" name="Text 23"/>
          <p:cNvSpPr/>
          <p:nvPr/>
        </p:nvSpPr>
        <p:spPr>
          <a:xfrm>
            <a:off x="0" y="0"/>
            <a:ext cx="0" cy="0"/>
          </a:xfrm>
          <a:prstGeom prst="rect">
            <a:avLst/>
          </a:prstGeom>
          <a:noFill/>
          <a:ln/>
        </p:spPr>
        <p:txBody>
          <a:bodyPr wrap="square" rtlCol="0" anchor="ctr"/>
          <a:lstStyle/>
          <a:p>
            <a:pPr marL="0" indent="0">
              <a:buNone/>
            </a:pPr>
            <a:endParaRPr lang="en-US" dirty="0"/>
          </a:p>
        </p:txBody>
      </p:sp>
      <p:sp>
        <p:nvSpPr>
          <p:cNvPr id="26" name="Text 2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lIns="0" tIns="0" rIns="0" bIns="0" rtlCol="0" anchor="ctr"/>
          <a:lstStyle/>
          <a:p>
            <a:pPr marL="0" indent="0">
              <a:buNone/>
            </a:pPr>
            <a:r>
              <a:rPr lang="en-US" sz="1200" b="1" kern="0" spc="200" dirty="0">
                <a:solidFill>
                  <a:srgbClr val="F2A93B"/>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621792"/>
            <a:ext cx="11094415" cy="73152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Further Reading &amp; What's Next</a:t>
            </a:r>
            <a:endParaRPr lang="en-US" sz="3000" dirty="0"/>
          </a:p>
        </p:txBody>
      </p:sp>
      <p:sp>
        <p:nvSpPr>
          <p:cNvPr id="4" name="Text 2"/>
          <p:cNvSpPr/>
          <p:nvPr/>
        </p:nvSpPr>
        <p:spPr>
          <a:xfrm>
            <a:off x="548640" y="1600200"/>
            <a:ext cx="11094415" cy="32918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Textbook: Carl Hamacher, Zvonko Vranesic &amp; Safwat Zaky, ‘Computer Organization and Embedded Systems’ — Chapter on Machine Instructions.</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Try it yourself: install a RISC-V or ARM emulator (e.g., Ripes) and step through a small assembly program instruction by instruction.</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Assignment: write RTN and assembly for a 3-instruction program that swaps the values in R1 and R2 without a third register.</a:t>
            </a:r>
            <a:endParaRPr lang="en-US" sz="1500" dirty="0"/>
          </a:p>
          <a:p>
            <a:pPr marL="228600" indent="-228600">
              <a:lnSpc>
                <a:spcPct val="115000"/>
              </a:lnSpc>
              <a:spcAft>
                <a:spcPts val="1200"/>
              </a:spcAft>
              <a:buSzPct val="100000"/>
              <a:buChar char="▪"/>
            </a:pPr>
            <a:r>
              <a:rPr lang="en-US" sz="1500" dirty="0">
                <a:solidFill>
                  <a:srgbClr val="212A4E"/>
                </a:solidFill>
                <a:latin typeface="Calibri" pitchFamily="34" charset="0"/>
                <a:ea typeface="Calibri" pitchFamily="34" charset="-122"/>
                <a:cs typeface="Calibri" pitchFamily="34" charset="-120"/>
              </a:rPr>
              <a:t>Next class: Addressing modes in depth, and an introduction to instruction pipelining.</a:t>
            </a:r>
            <a:endParaRPr lang="en-US" sz="1500" dirty="0"/>
          </a:p>
        </p:txBody>
      </p:sp>
      <p:sp>
        <p:nvSpPr>
          <p:cNvPr id="5" name="Shape 3"/>
          <p:cNvSpPr/>
          <p:nvPr/>
        </p:nvSpPr>
        <p:spPr>
          <a:xfrm>
            <a:off x="548640" y="5074920"/>
            <a:ext cx="11094415" cy="640080"/>
          </a:xfrm>
          <a:prstGeom prst="roundRect">
            <a:avLst>
              <a:gd name="adj" fmla="val 11429"/>
            </a:avLst>
          </a:prstGeom>
          <a:solidFill>
            <a:srgbClr val="E9F0FC"/>
          </a:solidFill>
          <a:ln w="12700">
            <a:solidFill>
              <a:srgbClr val="CADCFC"/>
            </a:solidFill>
            <a:prstDash val="solid"/>
          </a:ln>
        </p:spPr>
      </p:sp>
      <p:sp>
        <p:nvSpPr>
          <p:cNvPr id="6" name="Text 4"/>
          <p:cNvSpPr/>
          <p:nvPr/>
        </p:nvSpPr>
        <p:spPr>
          <a:xfrm>
            <a:off x="777240" y="5074920"/>
            <a:ext cx="10637215" cy="640080"/>
          </a:xfrm>
          <a:prstGeom prst="rect">
            <a:avLst/>
          </a:prstGeom>
          <a:noFill/>
          <a:ln/>
        </p:spPr>
        <p:txBody>
          <a:bodyPr wrap="square" lIns="0" tIns="0" rIns="0" bIns="0"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Thank you! Questions are welcome — office hours posted on the department noticeboard.</a:t>
            </a:r>
            <a:endParaRPr lang="en-US" sz="1300" dirty="0"/>
          </a:p>
        </p:txBody>
      </p:sp>
      <p:sp>
        <p:nvSpPr>
          <p:cNvPr id="7" name="Text 5"/>
          <p:cNvSpPr/>
          <p:nvPr/>
        </p:nvSpPr>
        <p:spPr>
          <a:xfrm>
            <a:off x="457200" y="6473952"/>
            <a:ext cx="10728655" cy="274320"/>
          </a:xfrm>
          <a:prstGeom prst="rect">
            <a:avLst/>
          </a:prstGeom>
          <a:noFill/>
          <a:ln/>
        </p:spPr>
        <p:txBody>
          <a:bodyPr wrap="square" lIns="0" tIns="0" rIns="0" bIns="0" rtlCol="0" anchor="ctr"/>
          <a:lstStyle/>
          <a:p>
            <a:pPr marL="0" indent="0" algn="l">
              <a:buNone/>
            </a:pPr>
            <a:r>
              <a:rPr lang="en-US" sz="900" dirty="0">
                <a:solidFill>
                  <a:srgbClr val="5B6690"/>
                </a:solidFill>
                <a:latin typeface="Calibri" pitchFamily="34" charset="0"/>
                <a:ea typeface="Calibri" pitchFamily="34" charset="-122"/>
                <a:cs typeface="Calibri" pitchFamily="34" charset="-120"/>
              </a:rPr>
              <a:t>Presidency University  |  Department of AI and Robotics  |  CSS2257  |  Computer Organization and Architecture</a:t>
            </a:r>
            <a:endParaRPr lang="en-US" sz="900" dirty="0"/>
          </a:p>
        </p:txBody>
      </p:sp>
      <p:sp>
        <p:nvSpPr>
          <p:cNvPr id="8" name="Text 6"/>
          <p:cNvSpPr/>
          <p:nvPr/>
        </p:nvSpPr>
        <p:spPr>
          <a:xfrm>
            <a:off x="0" y="0"/>
            <a:ext cx="0" cy="0"/>
          </a:xfrm>
          <a:prstGeom prst="rect">
            <a:avLst/>
          </a:prstGeom>
          <a:noFill/>
          <a:ln/>
        </p:spPr>
        <p:txBody>
          <a:bodyPr wrap="square" rtlCol="0" anchor="ctr"/>
          <a:lstStyle/>
          <a:p>
            <a:pPr marL="0" indent="0">
              <a:buNone/>
            </a:pPr>
            <a:endParaRPr lang="en-US" dirty="0"/>
          </a:p>
        </p:txBody>
      </p:sp>
      <p:sp>
        <p:nvSpPr>
          <p:cNvPr id="9" name="Text 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900" dirty="0">
                <a:solidFill>
                  <a:srgbClr val="5B669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7840</Words>
  <Application>Microsoft Office PowerPoint</Application>
  <PresentationFormat>Widescreen</PresentationFormat>
  <Paragraphs>520</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2</cp:revision>
  <dcterms:created xsi:type="dcterms:W3CDTF">2026-08-19T04:35:07Z</dcterms:created>
  <dcterms:modified xsi:type="dcterms:W3CDTF">2026-08-24T03:40:33Z</dcterms:modified>
</cp:coreProperties>
</file>