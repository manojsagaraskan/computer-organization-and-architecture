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today's session. Today we're going deep into two closely related ideas that sit right at the heart of how computers store and retrieve information quickly: how memory chips are organized internally, and how the cache — a small, fast memory — decides where to place data borrowed from main memory. By the end of this hour, you'll be able to look at a memory chip's pin count and tell me its capacity, and you'll be able to work out, by hand, which cache line a given memory address maps to.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 quick note on where this fits in your program. Computer Organization and Architecture is a foundation course — everything you learn here about how hardware actually stores and moves data will resurface later in AI and robotics courses, especially when we talk about why some models run faster on certain hardware. So treat today's topic as infrastructure knowledge that will pay off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hour. We'll start with the "inside" of a single memory chip — think of it like opening up the hood of a car. Then we'll zoom out to the bigger picture of why cache memory exists at all, and finally get hands-on with the three main ways cache decides where to store data. By the end, these five objectives should all feel comfortable, and you'll be ready for the quiz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warm up before diving into the technical content. Ask Q1 and take two or three quick verbal answers — don't correct them yet, just collect ideas. Then ask Q2 and let a couple of students respond; most will intuitively say "it's saved somewhere" — that's exactly the caching intuition we're building toward. For Q3, the "keep it on your desk" answer is the perfect analogy for cache: keeping frequently used data close by instead of fetching it from far away every single time. Use these three questions as a bridge — tell students, "Everything you just guessed at is what we're going to formalize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should you care about something as "low-level" as memory chip pins and cache mapping? Two reasons. First, practically: this exact gap between a blazing-fast CPU and comparatively sluggish main memory is why cache exists at all, and understanding it helps you write faster code later, especially in AI workloads where memory access patterns can make or break performance. Second, practically for your careers: cache mapping numericals are extremely common in technical interviews and competitive exams. So today isn't just theory — it's exam-relevant and career-relevant.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build from the ground up. A memory chip, physically, is just a tiny piece of silicon packed with millions (or billions) of memory cells, where each cell can hold a single bit. Don't worry about the electronics of how a cell stores a bit — for this course, what matters is how we access that stored data from outside the chip. And for that, every memory chip exposes three kinds of connections: address lines that say "which cell do I want," data lines that carry the actual bit values in or out, and control lines that say "read or write, and are you even talking to me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testable ideas in this whole topic, so let's slow down here. If a chip has n address pins, it can uniquely address 2 to the power n locations — because each address pin can independently be 0 or 1, giving you 2ⁿ combinations. So 10 address pins gives you 1024, or "1K," addressable locations. This is exactly how we talk about "1K x 8" or "4K x 4" memory chips — the first number is 2 raised to the number of address pins, and the second number is the number of data pins. Keep this formula in your notes; we'll use it constantly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see a spec sheet say "1K by 8," don't panic — it's just telling you two numbers. The first number, before the "x," is how many separate storage locations exist. The second number, after the "x," is how wide each location is, in bits. So 1K x 8 has 1024 locations, each holding 8 bits, giving a total of 8192 bits, which conveniently works out to exactly 1 kilobyte. This notation is universal in datasheets, so getting comfortable reading it now will save you time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and data lines tell the chip "where" and "what," but control lines tell it "when" and "how." Chip Select is especially important — imagine you have four small chips, but only one system bus. Chip Select lets the system say "only you, chip number 2, should respond right now," while the other three stay silent. This is exactly how designers build large memory systems out of many smaller, cheaper chips, which we'll see in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go inside the chip. Instead of storing all locations in a single long line, designers arrange memory cells in a two-dimensional grid — this dramatically reduces the wiring complexity. To access one specific location, the incoming address is split into two parts: a row address and a column address. Each part goes into its own decoder, a circuit whose entire job is "given n input bits, activate exactly one of 2ⁿ output lines." The row decoder activates one row, the column decoder activates one column, and the single cell where they intersect is the one we're reading or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the decoder idea concrete. A 3-to-8 decoder takes 3 input bits and produces 8 output lines, and for any given input combination, exactly one output line goes high — the rest stay low. Now here's the clever engineering trick: if you needed to select 1 of 1024 locations directly, you'd need a single decoder with 1024 output lines, which is a lot of circuitry. Instead, designers split the address in half — say 5 bits to a row decoder and 5 bits to a column decoder — giving 32 rows and 32 columns, whose intersection covers all 1024 locations, but using far fewer total decoder outputs. This is a big reason memory arrays are physically laid out as roughly square grids.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detail that directly connects to our cache discussion later. SRAM cells use flip-flop circuits — typically six transistors — to hold a bit stably as long as power is on, no refreshing needed, which makes SRAM fast but expensive and less dense. DRAM cells use just one transistor and a capacitor, which is much cheaper and denser, but the capacitor slowly leaks charge, so it must be refreshed thousands of times per second. This tradeoff is exactly why cache memory — which needs to be small and blazing fast — is built from SRAM, while main memory — which needs to be large and affordable — is built from DRAM.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chip typically holds all the memory a computer needs, so designers combine multiple chips. There are two directions to expand in. To make a wider word — say from 8 bits to 32 bits — you connect four 8-bit chips in parallel, all sharing the same address lines, but each contributing its own 8 data lines. To make more locations — say combining four 1K-location chips into a 4K-location memory — you use two extra address bits to decide, through Chip Select, which one of the four chips is "listening" for that particular address. This is a very common exam question, so let's work through the numbers together in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solve this step by step, the way you would in an exam. We're told we need 8K by 8 total memory, built from 2K by 8 chips. First question: how many chips do we need? Just divide the total locations needed by what one chip provides — 8192 divided by 2048 gives us 4 chips. Second question: how many extra address bits do we need to pick which of those 4 chips is active? Since 4 equals 2 squared, we need exactly 2 extra address bits feeding a small 2-to-4 decoder, whose four outputs connect to the four chips' Chip Select pins. Notice the word size, 8 bits, didn't change at all here — because we're expanding locations, not word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just theoretical. If you ever open up a laptop or look at a RAM stick, you'll see several small black rectangular chips on it — that's exactly the chip-combination idea from the last slide in action. In robotics projects, which connect directly to your department, you'll often see engineers combine small, cheap memory chips instead of buying one large expensive chip, precisely because of cost and availability. And in high-end GPUs, extremely wide memory buses are built by running many chips in parallel to move huge amounts of data per cycle. So this "boring" chip math directly explains hardware you interact with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practice reading a real spec the way an engineer would. If a datasheet says "256K by 16," we can extract three facts instantly using what we've learned. Address lines: since 256K equals 2 to the 18th power, we need 18 address pins. Data lines: the word size is 16, so we need 16 data pins. Total capacity: multiply locations by width — 256K times 16 bits — which comes out to 4 megabits, or 512 kilobytes. Try pausing and working this out yourself before I reveal each answer — this exact skill of decoding a spec is genuinely useful, not just exam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 we now understand how a single memory chip is organized internally, and how chips combine into larger memories. But here's the catch: if we built an entire computer's memory out of the fastest possible technology, it would be prohibitively expensive and physically difficult to make large. So real computer systems use a layered strategy called the memory hierarchy: tiny, extremely fast registers right inside the CPU; a small, fast cache just outside it; a much larger but slower main memory; and finally, a huge but comparatively very slow disk or SSD. This sets up exactly why cache memory exists — which is our focus for the rest of the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keeping a small amount of data "close by" even help? Because of a property almost all programs share, called locality of reference, and it comes in two flavors. Temporal locality means if you used a piece of data once, you're likely to use it again very soon — think of a loop variable that gets checked every iteration. Spatial locality means if you accessed one memory location, you're likely to access nearby locations soon too — think of scanning through an array element by element. Cache memory is designed specifically to exploit both of these patterns, which is why it works so well in practice even though it's much smaller than main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Structurally, cache is organized into fixed-size chunks called lines or blocks — commonly 32 or 64 bytes. Each line stores three things: the actual copied data, a tag that records which specific block of main memory this data came from, and a valid bit that says whether this line currently holds meaningful data at all. When the CPU asks for a memory address, the cache controller checks whether it already holds the relevant block — if yes, that's a cache hit, and data comes back almost instantly; if no, that's a cache miss, and the system has to go all the way to main memory, which is much slower. Cache mapping techniques, which we cover next, are exactly the rules for where a given main memory block is allowed to be placed within the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cache lookup starts by slicing the incoming memory address into three pieces. The offset — the rightmost bits — tells us which specific byte within a block we want; its size is determined entirely by the block size, since log base 2 of the block size gives the number of offset bits. The index, sometimes called the line number, tells the hardware which cache line to check — this piece only exists for direct-mapped and set-associative caches, as we'll see. And the tag — the remaining, leftmost bits — is stored alongside the data specifically so the cache can verify "is this really the block I think it is." Keep this three-part breakdown in mind; it's the backbone of every cache mapping numerical you'll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simplest mapping strategy is direct mapping. Here, every block of main memory has exactly one, fixed cache line it's allowed to live in — determined by taking the block number modulo the total number of cache lines. This makes direct mapping wonderfully simple and fast in hardware, because there's no searching involved; you compute one index and check one line. But it has a real weakness: if a program happens to alternate between two blocks that map to the same line, the cache will constantly evict one to bring in the other, even if every other cache line is sitting empty. This repeated back-and-forth eviction is called thrashing, and it's the main motivation for the next two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opposite extreme is fully associative mapping, where a memory block can be placed in absolutely any cache line — there's no fixed rule at all. Because there's no index needed, essentially the entire address, apart from the offset, becomes the tag. The tradeoff is in hardware complexity: to find whether a block is present, the cache must compare the incoming tag against every single line's tag simultaneously, which needs a dedicated comparator per line. This gives excellent flexibility and minimizes thrashing, but it's expensive in silicon and power, so it's typically only used for small, specialized caches.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Set-associative mapping is the practical middle ground that most real CPUs actually use. The cache is divided into groups called sets, and each set contains a small fixed number of lines — say 4, giving us "4-way set associative." A memory block is still restricted to exactly one set, computed the same way as direct mapping, but within that set, it can occupy any of the available lines, just like fully associative mapping. This gives most of the thrashing-resistance benefit of full associativity, while keeping the hardware comparator cost manageable, since you only need to compare against the handful of lines within one set, not the whole cache. This is why you'll commonly hear real processors described as having "8-way set-associative L1 cache," for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consolidate what we just covered into one comparison. Direct mapping gives you the least flexibility but the cheapest, fastest hardware, and the highest chance of thrashing. Fully associative mapping gives maximum flexibility and the lowest thrashing risk, but at the highest hardware cost. Set-associative mapping sits in between on every single dimension — which is exactly why it's the most commonly used approach in real, modern processors. If an exam asks you to justify why set-associative caches are popular, this tradeoff table is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apply direct mapping to real numbers. We're told main memory has 4096 blocks and cache has 128 lines, direct mapped, and we want to know where block 260 lands. The rule for direct mapping is always the same: take the block number modulo the number of cache lines. So 260 mod 128 — 128 goes into 260 once with remainder 132, then 128 goes into 132 once more with remainder 4. So 260 mod 128 equals 4, meaning block 260 always maps to cache line number 4, no matter what — and note that block 4, block 132, block 260, block 388, and so on, all compete for that exact same line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cache numerical, so let's go carefully. We have a 32-bit address, a direct-mapped cache of 64 kilobytes, and a block size of 32 bytes. First, the offset: since each block holds 32 bytes, we need log base 2 of 32, which is 5 offset bits, to select a byte within a block. Next, the index: the total number of lines equals cache size divided by block size — 64 kilobytes divided by 32 bytes gives 2048 lines — and log base 2 of 2048 is 11 index bits. Finally, whatever bits remain from the full 32-bit address become the tag: 32 minus 11 minus 5 gives us 16 tag bits. So our final address breakdown is 16 bits of tag, 11 bits of index, and 5 bits of offset — and this exact style of problem, just with different numbers, shows up constantly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numerical, this time for set-associative mapping. We're told the cache has 256 total lines arranged as 4-way set-associative — meaning each set contains 4 lines. To find the number of sets, divide total lines by the number of ways: 256 divided by 4 gives us 64 sets. The index field only needs to identify which set, not which exact line, so we take log base 2 of 64, giving us 6 index bits. Once the correct set is located using those 6 bits, the hardware then compares the tag against all 4 lines within that one set in parallel — that parallel comparison within a small set, rather than the whole cache, is exactly what keeps set-associative caches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wrap up the core content, let's flag a few traps students commonly fall into. First, don't assume a bigger cache automatically makes everything faster — the actual benefit depends heavily on whether the program's access pattern has good locality; a program that jumps around memory unpredictably won't benefit as much. Second, don't assume fully associative caching is simply "the best" — yes, it minimizes thrashing, but the hardware cost usually makes it impractical for large caches, which is exactly why set-associative won out in practice. And in your numericals, the single most common calculation mistake is confusing the offset bit-width, which comes from block size, with the index bit-width, which comes from cache size — keep those formulas straight.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do a quick, low-stakes check before we move to the summary. Pair up with the person next to you and work out: with 32 direct-mapped cache lines, where does block number 100 land? Give them about ninety seconds. [After time is up] Let's check together: 100 mod 32 — 32 goes into 100 three times, using 96, with a remainder of 4 — so block 100 maps to cache line 4. If your pair got that, great, you've got the core mechanic down. If not, no worries — that's exactly why we're reviewing it now, before the graded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tie everything together. We started inside a single memory chip, learning that address pins determine capacity through the 2 to the n relationship, and that real systems combine multiple chips either to widen the data word or to add more addressable locations using Chip Select. Then we zoomed out to see why cache memory exists at all — because of the enormous speed gap between CPUs and main memory, and because programs naturally reuse the same and nearby data. Finally, we worked through the three cache mapping techniques and practiced splitting addresses into tag, index, and offset by hand. All of this comes together in the quiz next, so take a breath, and let's test your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4 to 5 minutes to attempt this individually — remind them this is a self-check, not for grading, so honest effort matters more than getting every answer right. Q1 and Q3 directly test the address-line and data-line formulas from slides 7 to 8. Q2 and Q6 test conceptual understanding from slides 20 to 22 — watch for students confusing "no index needed" with "no lookup needed" in Q2. Q4 tests whether students can explain set-associative mapping in their own words, tying back to slide 24's comparison table. Q5 is a direct numerical, same style as slide 27's worked example. After time is up, move to the next slide and reveal answers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through these quickly. Q1: 2 to the 12 is 4096, so (c) is correct — a very common mistake here is students accidentally computing 12 times 2 instead of 2 to the power 12, so flag that if you see it. Q2: false, and this is the single most-missed concept — many students think "fully associative" means "no lookup at all," when really it means "check everywhere," which is actually more comparator work, not less. Q3: (c) 16, straight from the "size x width" notation. Q4 is open-ended; accept any answer that captures the "restricted set, flexible line within it" idea. Q5: 512 divided by 8 is 64 sets — a direct application of slide 27's method. Q6: false — remind students this offset-versus-index mix-up is the number one calculation error in this topic, so it's worth re-reading slide 20 tonight if they got this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close, a quick look ahead. Today we focused on where a block gets placed in cache — the mapping techniques. What we haven't covered yet, and will next time, is what happens when we write to cache — the write-through versus write-back policies — and what happens when the cache is full and something has to be evicted, which is where replacement policies like LRU come in. For practice before then, I'd like you to attempt five more mapping numericals from the problem set; the pattern is always the same three steps we used today. Thank you all for a great session — see you next class for cache performance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761"/>
          </a:solidFill>
          <a:ln/>
        </p:spPr>
      </p:sp>
      <p:sp>
        <p:nvSpPr>
          <p:cNvPr id="3" name="Shape 1"/>
          <p:cNvSpPr/>
          <p:nvPr/>
        </p:nvSpPr>
        <p:spPr>
          <a:xfrm>
            <a:off x="8899855" y="-1463040"/>
            <a:ext cx="4754880" cy="4754880"/>
          </a:xfrm>
          <a:prstGeom prst="ellipse">
            <a:avLst/>
          </a:prstGeom>
          <a:solidFill>
            <a:srgbClr val="242E75"/>
          </a:solidFill>
          <a:ln/>
        </p:spPr>
      </p:sp>
      <p:sp>
        <p:nvSpPr>
          <p:cNvPr id="4" name="Shape 2"/>
          <p:cNvSpPr/>
          <p:nvPr/>
        </p:nvSpPr>
        <p:spPr>
          <a:xfrm>
            <a:off x="-1645920" y="4480560"/>
            <a:ext cx="3840480" cy="3840480"/>
          </a:xfrm>
          <a:prstGeom prst="ellipse">
            <a:avLst/>
          </a:prstGeom>
          <a:solidFill>
            <a:srgbClr val="242E75"/>
          </a:solidFill>
          <a:ln/>
        </p:spPr>
      </p:sp>
      <p:sp>
        <p:nvSpPr>
          <p:cNvPr id="5" name="Shape 3"/>
          <p:cNvSpPr/>
          <p:nvPr/>
        </p:nvSpPr>
        <p:spPr>
          <a:xfrm>
            <a:off x="5592928" y="822960"/>
            <a:ext cx="1005840" cy="1005840"/>
          </a:xfrm>
          <a:prstGeom prst="ellipse">
            <a:avLst/>
          </a:prstGeom>
          <a:solidFill>
            <a:srgbClr val="D4AF37"/>
          </a:solidFill>
          <a:ln/>
          <a:effectLst>
            <a:outerShdw sx="100000" sy="100000" kx="0" ky="0" algn="bl" rotWithShape="0" blurRad="76200" dist="25400" dir="5400000">
              <a:srgbClr val="000000">
                <a:alpha val="25000"/>
              </a:srgbClr>
            </a:outerShdw>
          </a:effectLst>
        </p:spPr>
      </p:sp>
      <p:pic>
        <p:nvPicPr>
          <p:cNvPr id="6" name="Image 0" descr="icons/chip_navy.png">    </p:cNvPr>
          <p:cNvPicPr>
            <a:picLocks noChangeAspect="1"/>
          </p:cNvPicPr>
          <p:nvPr/>
        </p:nvPicPr>
        <p:blipFill>
          <a:blip r:embed="rId1"/>
          <a:stretch>
            <a:fillRect/>
          </a:stretch>
        </p:blipFill>
        <p:spPr>
          <a:xfrm>
            <a:off x="5834329" y="1064362"/>
            <a:ext cx="523037" cy="523037"/>
          </a:xfrm>
          <a:prstGeom prst="rect">
            <a:avLst/>
          </a:prstGeom>
        </p:spPr>
      </p:pic>
      <p:sp>
        <p:nvSpPr>
          <p:cNvPr id="7" name="Text 4"/>
          <p:cNvSpPr txBox="1"/>
          <p:nvPr/>
        </p:nvSpPr>
        <p:spPr>
          <a:xfrm>
            <a:off x="914400" y="2148840"/>
            <a:ext cx="10362895" cy="17373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Internal Organization of Memory Chips</a:t>
            </a:r>
            <a:endParaRPr lang="en-US" sz="3400" dirty="0"/>
          </a:p>
          <a:p>
            <a:pPr algn="ctr" indent="0" marL="0">
              <a:buNone/>
            </a:pPr>
            <a:r>
              <a:rPr lang="en-US" sz="3400" b="1" dirty="0">
                <a:solidFill>
                  <a:srgbClr val="FFFFFF"/>
                </a:solidFill>
                <a:latin typeface="Cambria" pitchFamily="34" charset="0"/>
                <a:ea typeface="Cambria" pitchFamily="34" charset="-122"/>
                <a:cs typeface="Cambria" pitchFamily="34" charset="-120"/>
              </a:rPr>
              <a:t>&amp; Cache Memory Mapping Techniques</a:t>
            </a:r>
            <a:endParaRPr lang="en-US" sz="3400" dirty="0"/>
          </a:p>
        </p:txBody>
      </p:sp>
      <p:sp>
        <p:nvSpPr>
          <p:cNvPr id="8" name="Shape 5"/>
          <p:cNvSpPr/>
          <p:nvPr/>
        </p:nvSpPr>
        <p:spPr>
          <a:xfrm>
            <a:off x="4998568" y="3977640"/>
            <a:ext cx="2194560" cy="0"/>
          </a:xfrm>
          <a:prstGeom prst="line">
            <a:avLst/>
          </a:prstGeom>
          <a:noFill/>
          <a:ln w="25400">
            <a:solidFill>
              <a:srgbClr val="D4AF37"/>
            </a:solidFill>
            <a:prstDash val="solid"/>
          </a:ln>
        </p:spPr>
      </p:sp>
      <p:sp>
        <p:nvSpPr>
          <p:cNvPr id="9" name="Text 6"/>
          <p:cNvSpPr txBox="1"/>
          <p:nvPr/>
        </p:nvSpPr>
        <p:spPr>
          <a:xfrm>
            <a:off x="914400" y="4160520"/>
            <a:ext cx="10362895" cy="457200"/>
          </a:xfrm>
          <a:prstGeom prst="rect">
            <a:avLst/>
          </a:prstGeom>
          <a:noFill/>
          <a:ln/>
        </p:spPr>
        <p:txBody>
          <a:bodyPr wrap="square" lIns="0" tIns="0" rIns="0" bIns="0" rtlCol="0" anchor="ctr"/>
          <a:lstStyle/>
          <a:p>
            <a:pPr algn="ctr" indent="0" marL="0">
              <a:buNone/>
            </a:pPr>
            <a:r>
              <a:rPr lang="en-US" sz="2000" dirty="0">
                <a:solidFill>
                  <a:srgbClr val="CADCFC"/>
                </a:solidFill>
                <a:latin typeface="Calibri" pitchFamily="34" charset="0"/>
                <a:ea typeface="Calibri" pitchFamily="34" charset="-122"/>
                <a:cs typeface="Calibri" pitchFamily="34" charset="-120"/>
              </a:rPr>
              <a:t>CSS2257 — Computer Organization and Architecture</a:t>
            </a:r>
            <a:endParaRPr lang="en-US" sz="2000" dirty="0"/>
          </a:p>
        </p:txBody>
      </p:sp>
      <p:sp>
        <p:nvSpPr>
          <p:cNvPr id="10" name="Text 7"/>
          <p:cNvSpPr txBox="1"/>
          <p:nvPr/>
        </p:nvSpPr>
        <p:spPr>
          <a:xfrm>
            <a:off x="914400" y="5074920"/>
            <a:ext cx="10362895" cy="73152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Presidency University</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School of Artificial Intelligence and Advanced Computing | Department of AI &amp; Robotics</a:t>
            </a:r>
            <a:endParaRPr lang="en-US" sz="1500" dirty="0"/>
          </a:p>
        </p:txBody>
      </p:sp>
      <p:sp>
        <p:nvSpPr>
          <p:cNvPr id="11" name="Text 8"/>
          <p:cNvSpPr txBox="1"/>
          <p:nvPr/>
        </p:nvSpPr>
        <p:spPr>
          <a:xfrm>
            <a:off x="914400" y="5989320"/>
            <a:ext cx="10362895" cy="411480"/>
          </a:xfrm>
          <a:prstGeom prst="rect">
            <a:avLst/>
          </a:prstGeom>
          <a:noFill/>
          <a:ln/>
        </p:spPr>
        <p:txBody>
          <a:bodyPr wrap="square" lIns="0" tIns="0" rIns="0" bIns="0" rtlCol="0" anchor="ctr"/>
          <a:lstStyle/>
          <a:p>
            <a:pPr algn="ctr" indent="0" marL="0">
              <a:buNone/>
            </a:pPr>
            <a:r>
              <a:rPr lang="en-US" sz="1600" b="1" dirty="0">
                <a:solidFill>
                  <a:srgbClr val="D4AF37"/>
                </a:solidFill>
                <a:latin typeface="Calibri" pitchFamily="34" charset="0"/>
                <a:ea typeface="Calibri" pitchFamily="34" charset="-122"/>
                <a:cs typeface="Calibri" pitchFamily="34" charset="-120"/>
              </a:rPr>
              <a:t>Faculty: Manoj Sagar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5455768" y="822960"/>
            <a:ext cx="1280160" cy="12801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university_white.png">    </p:cNvPr>
          <p:cNvPicPr>
            <a:picLocks noChangeAspect="1"/>
          </p:cNvPicPr>
          <p:nvPr/>
        </p:nvPicPr>
        <p:blipFill>
          <a:blip r:embed="rId1"/>
          <a:stretch>
            <a:fillRect/>
          </a:stretch>
        </p:blipFill>
        <p:spPr>
          <a:xfrm>
            <a:off x="5763006" y="1130198"/>
            <a:ext cx="665683" cy="665683"/>
          </a:xfrm>
          <a:prstGeom prst="rect">
            <a:avLst/>
          </a:prstGeom>
        </p:spPr>
      </p:pic>
      <p:sp>
        <p:nvSpPr>
          <p:cNvPr id="4" name="Text 1"/>
          <p:cNvSpPr txBox="1"/>
          <p:nvPr/>
        </p:nvSpPr>
        <p:spPr>
          <a:xfrm>
            <a:off x="914400" y="2331720"/>
            <a:ext cx="10362895" cy="640080"/>
          </a:xfrm>
          <a:prstGeom prst="rect">
            <a:avLst/>
          </a:prstGeom>
          <a:noFill/>
          <a:ln/>
        </p:spPr>
        <p:txBody>
          <a:bodyPr wrap="square" lIns="0" tIns="0" rIns="0" bIns="0" rtlCol="0" anchor="ctr"/>
          <a:lstStyle/>
          <a:p>
            <a:pPr algn="ctr" indent="0" marL="0">
              <a:buNone/>
            </a:pPr>
            <a:r>
              <a:rPr lang="en-US" sz="3200" b="1" dirty="0">
                <a:solidFill>
                  <a:srgbClr val="1E2761"/>
                </a:solidFill>
                <a:latin typeface="Cambria" pitchFamily="34" charset="0"/>
                <a:ea typeface="Cambria" pitchFamily="34" charset="-122"/>
                <a:cs typeface="Cambria" pitchFamily="34" charset="-120"/>
              </a:rPr>
              <a:t>Presidency University</a:t>
            </a:r>
            <a:endParaRPr lang="en-US" sz="3200" dirty="0"/>
          </a:p>
        </p:txBody>
      </p:sp>
      <p:sp>
        <p:nvSpPr>
          <p:cNvPr id="5" name="Text 2"/>
          <p:cNvSpPr txBox="1"/>
          <p:nvPr/>
        </p:nvSpPr>
        <p:spPr>
          <a:xfrm>
            <a:off x="914400" y="3063240"/>
            <a:ext cx="10362895" cy="457200"/>
          </a:xfrm>
          <a:prstGeom prst="rect">
            <a:avLst/>
          </a:prstGeom>
          <a:noFill/>
          <a:ln/>
        </p:spPr>
        <p:txBody>
          <a:bodyPr wrap="square" lIns="0" tIns="0" rIns="0" bIns="0" rtlCol="0" anchor="ctr"/>
          <a:lstStyle/>
          <a:p>
            <a:pPr algn="ctr" indent="0" marL="0">
              <a:buNone/>
            </a:pPr>
            <a:r>
              <a:rPr lang="en-US" sz="1900" dirty="0">
                <a:solidFill>
                  <a:srgbClr val="2A2A3C"/>
                </a:solidFill>
                <a:latin typeface="Calibri" pitchFamily="34" charset="0"/>
                <a:ea typeface="Calibri" pitchFamily="34" charset="-122"/>
                <a:cs typeface="Calibri" pitchFamily="34" charset="-120"/>
              </a:rPr>
              <a:t>School of Artificial Intelligence and Advanced Computing</a:t>
            </a:r>
            <a:endParaRPr lang="en-US" sz="1900" dirty="0"/>
          </a:p>
        </p:txBody>
      </p:sp>
      <p:sp>
        <p:nvSpPr>
          <p:cNvPr id="6" name="Text 3"/>
          <p:cNvSpPr txBox="1"/>
          <p:nvPr/>
        </p:nvSpPr>
        <p:spPr>
          <a:xfrm>
            <a:off x="914400" y="3520440"/>
            <a:ext cx="10362895" cy="457200"/>
          </a:xfrm>
          <a:prstGeom prst="rect">
            <a:avLst/>
          </a:prstGeom>
          <a:noFill/>
          <a:ln/>
        </p:spPr>
        <p:txBody>
          <a:bodyPr wrap="square" lIns="0" tIns="0" rIns="0" bIns="0" rtlCol="0" anchor="ctr"/>
          <a:lstStyle/>
          <a:p>
            <a:pPr algn="ctr" indent="0" marL="0">
              <a:buNone/>
            </a:pPr>
            <a:r>
              <a:rPr lang="en-US" sz="1900" dirty="0">
                <a:solidFill>
                  <a:srgbClr val="2A2A3C"/>
                </a:solidFill>
                <a:latin typeface="Calibri" pitchFamily="34" charset="0"/>
                <a:ea typeface="Calibri" pitchFamily="34" charset="-122"/>
                <a:cs typeface="Calibri" pitchFamily="34" charset="-120"/>
              </a:rPr>
              <a:t>Department of AI &amp; Robotics</a:t>
            </a:r>
            <a:endParaRPr lang="en-US" sz="1900" dirty="0"/>
          </a:p>
        </p:txBody>
      </p:sp>
      <p:sp>
        <p:nvSpPr>
          <p:cNvPr id="7" name="Shape 4"/>
          <p:cNvSpPr/>
          <p:nvPr/>
        </p:nvSpPr>
        <p:spPr>
          <a:xfrm>
            <a:off x="4998568" y="4206240"/>
            <a:ext cx="2194560" cy="0"/>
          </a:xfrm>
          <a:prstGeom prst="line">
            <a:avLst/>
          </a:prstGeom>
          <a:noFill/>
          <a:ln w="25400">
            <a:solidFill>
              <a:srgbClr val="D4AF37"/>
            </a:solidFill>
            <a:prstDash val="solid"/>
          </a:ln>
        </p:spPr>
      </p:sp>
      <p:sp>
        <p:nvSpPr>
          <p:cNvPr id="8" name="Text 5"/>
          <p:cNvSpPr txBox="1"/>
          <p:nvPr/>
        </p:nvSpPr>
        <p:spPr>
          <a:xfrm>
            <a:off x="914400" y="4434840"/>
            <a:ext cx="10362895" cy="548640"/>
          </a:xfrm>
          <a:prstGeom prst="rect">
            <a:avLst/>
          </a:prstGeom>
          <a:noFill/>
          <a:ln/>
        </p:spPr>
        <p:txBody>
          <a:bodyPr wrap="square" lIns="0" tIns="0" rIns="0" bIns="0" rtlCol="0" anchor="ctr"/>
          <a:lstStyle/>
          <a:p>
            <a:pPr algn="ctr" indent="0" marL="0">
              <a:buNone/>
            </a:pPr>
            <a:r>
              <a:rPr lang="en-US" sz="1800" i="1" dirty="0">
                <a:solidFill>
                  <a:srgbClr val="1E2761"/>
                </a:solidFill>
                <a:latin typeface="Cambria" pitchFamily="34" charset="0"/>
                <a:ea typeface="Cambria" pitchFamily="34" charset="-122"/>
                <a:cs typeface="Cambria" pitchFamily="34" charset="-120"/>
              </a:rPr>
              <a:t>"Building strong foundations in computing systems"</a:t>
            </a:r>
            <a:endParaRPr lang="en-US" sz="1800" dirty="0"/>
          </a:p>
        </p:txBody>
      </p:sp>
      <p:sp>
        <p:nvSpPr>
          <p:cNvPr id="9" name="Text 6"/>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0"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target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Learning Objectives</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Explain how a memory chip is internally organized (address lines, data lines, decoders)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Calculate a memory chip's capacity and pin requirements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Explain why cache memory exists (the memory hierarchy)</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Compare direct, fully associative, and set-associative mapping</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Solve numerical problems on cache address mapping</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D4AF37"/>
          </a:solidFill>
          <a:ln/>
          <a:effectLst>
            <a:outerShdw sx="100000" sy="100000" kx="0" ky="0" algn="bl" rotWithShape="0" blurRad="76200" dist="25400" dir="5400000">
              <a:srgbClr val="000000">
                <a:alpha val="25000"/>
              </a:srgbClr>
            </a:outerShdw>
          </a:effectLst>
        </p:spPr>
      </p:sp>
      <p:pic>
        <p:nvPicPr>
          <p:cNvPr id="3" name="Image 0" descr="icons/bulb_navy.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Warm-Up — A Few Quick Questions</a:t>
            </a:r>
            <a:endParaRPr lang="en-US" sz="2800" dirty="0"/>
          </a:p>
        </p:txBody>
      </p:sp>
      <p:sp>
        <p:nvSpPr>
          <p:cNvPr id="5" name="Shape 2"/>
          <p:cNvSpPr/>
          <p:nvPr/>
        </p:nvSpPr>
        <p:spPr>
          <a:xfrm>
            <a:off x="822960" y="1783080"/>
            <a:ext cx="10515600" cy="1051560"/>
          </a:xfrm>
          <a:prstGeom prst="roundRect">
            <a:avLst>
              <a:gd name="adj" fmla="val 6957"/>
            </a:avLst>
          </a:prstGeom>
          <a:solidFill>
            <a:srgbClr val="242E75"/>
          </a:solidFill>
          <a:ln/>
        </p:spPr>
      </p:sp>
      <p:sp>
        <p:nvSpPr>
          <p:cNvPr id="6" name="Text 3"/>
          <p:cNvSpPr txBox="1"/>
          <p:nvPr/>
        </p:nvSpPr>
        <p:spPr>
          <a:xfrm>
            <a:off x="1051560" y="1783080"/>
            <a:ext cx="731520" cy="1051560"/>
          </a:xfrm>
          <a:prstGeom prst="rect">
            <a:avLst/>
          </a:prstGeom>
          <a:noFill/>
          <a:ln/>
        </p:spPr>
        <p:txBody>
          <a:bodyPr wrap="square" lIns="0" tIns="0" rIns="0" bIns="0" rtlCol="0" anchor="ctr"/>
          <a:lstStyle/>
          <a:p>
            <a:pPr indent="0" marL="0">
              <a:buNone/>
            </a:pPr>
            <a:r>
              <a:rPr lang="en-US" sz="2400" b="1" dirty="0">
                <a:solidFill>
                  <a:srgbClr val="D4AF37"/>
                </a:solidFill>
                <a:latin typeface="Cambria" pitchFamily="34" charset="0"/>
                <a:ea typeface="Cambria" pitchFamily="34" charset="-122"/>
                <a:cs typeface="Cambria" pitchFamily="34" charset="-120"/>
              </a:rPr>
              <a:t>Q1</a:t>
            </a:r>
            <a:endParaRPr lang="en-US" sz="2400" dirty="0"/>
          </a:p>
        </p:txBody>
      </p:sp>
      <p:sp>
        <p:nvSpPr>
          <p:cNvPr id="7" name="Text 4"/>
          <p:cNvSpPr txBox="1"/>
          <p:nvPr/>
        </p:nvSpPr>
        <p:spPr>
          <a:xfrm>
            <a:off x="1874520" y="1783080"/>
            <a:ext cx="9281160" cy="10515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When your laptop feels "slow," what do you think is actually happening inside it?</a:t>
            </a:r>
            <a:endParaRPr lang="en-US" sz="1800" dirty="0"/>
          </a:p>
        </p:txBody>
      </p:sp>
      <p:sp>
        <p:nvSpPr>
          <p:cNvPr id="8" name="Shape 5"/>
          <p:cNvSpPr/>
          <p:nvPr/>
        </p:nvSpPr>
        <p:spPr>
          <a:xfrm>
            <a:off x="822960" y="3063240"/>
            <a:ext cx="10515600" cy="1051560"/>
          </a:xfrm>
          <a:prstGeom prst="roundRect">
            <a:avLst>
              <a:gd name="adj" fmla="val 6957"/>
            </a:avLst>
          </a:prstGeom>
          <a:solidFill>
            <a:srgbClr val="242E75"/>
          </a:solidFill>
          <a:ln/>
        </p:spPr>
      </p:sp>
      <p:sp>
        <p:nvSpPr>
          <p:cNvPr id="9" name="Text 6"/>
          <p:cNvSpPr txBox="1"/>
          <p:nvPr/>
        </p:nvSpPr>
        <p:spPr>
          <a:xfrm>
            <a:off x="1051560" y="3063240"/>
            <a:ext cx="731520" cy="1051560"/>
          </a:xfrm>
          <a:prstGeom prst="rect">
            <a:avLst/>
          </a:prstGeom>
          <a:noFill/>
          <a:ln/>
        </p:spPr>
        <p:txBody>
          <a:bodyPr wrap="square" lIns="0" tIns="0" rIns="0" bIns="0" rtlCol="0" anchor="ctr"/>
          <a:lstStyle/>
          <a:p>
            <a:pPr indent="0" marL="0">
              <a:buNone/>
            </a:pPr>
            <a:r>
              <a:rPr lang="en-US" sz="2400" b="1" dirty="0">
                <a:solidFill>
                  <a:srgbClr val="D4AF37"/>
                </a:solidFill>
                <a:latin typeface="Cambria" pitchFamily="34" charset="0"/>
                <a:ea typeface="Cambria" pitchFamily="34" charset="-122"/>
                <a:cs typeface="Cambria" pitchFamily="34" charset="-120"/>
              </a:rPr>
              <a:t>Q2</a:t>
            </a:r>
            <a:endParaRPr lang="en-US" sz="2400" dirty="0"/>
          </a:p>
        </p:txBody>
      </p:sp>
      <p:sp>
        <p:nvSpPr>
          <p:cNvPr id="10" name="Text 7"/>
          <p:cNvSpPr txBox="1"/>
          <p:nvPr/>
        </p:nvSpPr>
        <p:spPr>
          <a:xfrm>
            <a:off x="1874520" y="3063240"/>
            <a:ext cx="9281160" cy="10515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Have you ever noticed an app opens faster the second time you use it? Why might that be?</a:t>
            </a:r>
            <a:endParaRPr lang="en-US" sz="1800" dirty="0"/>
          </a:p>
        </p:txBody>
      </p:sp>
      <p:sp>
        <p:nvSpPr>
          <p:cNvPr id="11" name="Shape 8"/>
          <p:cNvSpPr/>
          <p:nvPr/>
        </p:nvSpPr>
        <p:spPr>
          <a:xfrm>
            <a:off x="822960" y="4343400"/>
            <a:ext cx="10515600" cy="1051560"/>
          </a:xfrm>
          <a:prstGeom prst="roundRect">
            <a:avLst>
              <a:gd name="adj" fmla="val 6957"/>
            </a:avLst>
          </a:prstGeom>
          <a:solidFill>
            <a:srgbClr val="242E75"/>
          </a:solidFill>
          <a:ln/>
        </p:spPr>
      </p:sp>
      <p:sp>
        <p:nvSpPr>
          <p:cNvPr id="12" name="Text 9"/>
          <p:cNvSpPr txBox="1"/>
          <p:nvPr/>
        </p:nvSpPr>
        <p:spPr>
          <a:xfrm>
            <a:off x="1051560" y="4343400"/>
            <a:ext cx="731520" cy="1051560"/>
          </a:xfrm>
          <a:prstGeom prst="rect">
            <a:avLst/>
          </a:prstGeom>
          <a:noFill/>
          <a:ln/>
        </p:spPr>
        <p:txBody>
          <a:bodyPr wrap="square" lIns="0" tIns="0" rIns="0" bIns="0" rtlCol="0" anchor="ctr"/>
          <a:lstStyle/>
          <a:p>
            <a:pPr indent="0" marL="0">
              <a:buNone/>
            </a:pPr>
            <a:r>
              <a:rPr lang="en-US" sz="2400" b="1" dirty="0">
                <a:solidFill>
                  <a:srgbClr val="D4AF37"/>
                </a:solidFill>
                <a:latin typeface="Cambria" pitchFamily="34" charset="0"/>
                <a:ea typeface="Cambria" pitchFamily="34" charset="-122"/>
                <a:cs typeface="Cambria" pitchFamily="34" charset="-120"/>
              </a:rPr>
              <a:t>Q3</a:t>
            </a:r>
            <a:endParaRPr lang="en-US" sz="2400" dirty="0"/>
          </a:p>
        </p:txBody>
      </p:sp>
      <p:sp>
        <p:nvSpPr>
          <p:cNvPr id="13" name="Text 10"/>
          <p:cNvSpPr txBox="1"/>
          <p:nvPr/>
        </p:nvSpPr>
        <p:spPr>
          <a:xfrm>
            <a:off x="1874520" y="4343400"/>
            <a:ext cx="9281160" cy="10515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If you needed the same 5 books every day, would you check them out fresh each time, or keep them on your desk?</a:t>
            </a:r>
            <a:endParaRPr lang="en-US" sz="1800" dirty="0"/>
          </a:p>
        </p:txBody>
      </p:sp>
      <p:sp>
        <p:nvSpPr>
          <p:cNvPr id="14" name="Text 11"/>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5"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rocket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This Topic Matters</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6035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Every program you write eventually becomes bits stored in memory chips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CPUs are extremely fast; main memory (DRAM) is comparatively slow — the "memory wall"</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Cache mapping decisions directly affect real-world speed: gaming, ML training, browsing</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Exam &amp; interview favorite: cache-mapping numericals appear constantly in GATE and placements</a:t>
            </a:r>
            <a:endParaRPr lang="en-US" sz="2000" dirty="0"/>
          </a:p>
        </p:txBody>
      </p:sp>
      <p:sp>
        <p:nvSpPr>
          <p:cNvPr id="7" name="Text 4"/>
          <p:cNvSpPr/>
          <p:nvPr/>
        </p:nvSpPr>
        <p:spPr>
          <a:xfrm>
            <a:off x="7223760" y="1691640"/>
            <a:ext cx="3566160" cy="36576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Speed Gap</a:t>
            </a:r>
            <a:endParaRPr lang="en-US" sz="1300" dirty="0"/>
          </a:p>
        </p:txBody>
      </p:sp>
      <p:sp>
        <p:nvSpPr>
          <p:cNvPr id="8" name="Shape 5"/>
          <p:cNvSpPr/>
          <p:nvPr/>
        </p:nvSpPr>
        <p:spPr>
          <a:xfrm>
            <a:off x="7223760" y="2148840"/>
            <a:ext cx="3566160" cy="502920"/>
          </a:xfrm>
          <a:prstGeom prst="rect">
            <a:avLst/>
          </a:prstGeom>
          <a:solidFill>
            <a:srgbClr val="1E2761"/>
          </a:solidFill>
          <a:ln/>
        </p:spPr>
      </p:sp>
      <p:sp>
        <p:nvSpPr>
          <p:cNvPr id="9" name="Text 6"/>
          <p:cNvSpPr/>
          <p:nvPr/>
        </p:nvSpPr>
        <p:spPr>
          <a:xfrm>
            <a:off x="7315200" y="2148840"/>
            <a:ext cx="338328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CPU (very fast)</a:t>
            </a:r>
            <a:endParaRPr lang="en-US" sz="1300" dirty="0"/>
          </a:p>
        </p:txBody>
      </p:sp>
      <p:sp>
        <p:nvSpPr>
          <p:cNvPr id="10" name="Shape 7"/>
          <p:cNvSpPr/>
          <p:nvPr/>
        </p:nvSpPr>
        <p:spPr>
          <a:xfrm>
            <a:off x="7223760" y="2880360"/>
            <a:ext cx="1248156" cy="502920"/>
          </a:xfrm>
          <a:prstGeom prst="rect">
            <a:avLst/>
          </a:prstGeom>
          <a:solidFill>
            <a:srgbClr val="CADCFC"/>
          </a:solidFill>
          <a:ln/>
        </p:spPr>
      </p:sp>
      <p:sp>
        <p:nvSpPr>
          <p:cNvPr id="11" name="Text 8"/>
          <p:cNvSpPr/>
          <p:nvPr/>
        </p:nvSpPr>
        <p:spPr>
          <a:xfrm>
            <a:off x="7315200" y="2880360"/>
            <a:ext cx="3566160" cy="502920"/>
          </a:xfrm>
          <a:prstGeom prst="rect">
            <a:avLst/>
          </a:prstGeom>
          <a:noFill/>
          <a:ln/>
        </p:spPr>
        <p:txBody>
          <a:bodyPr wrap="square" lIns="0" tIns="0" rIns="0" bIns="0" rtlCol="0" anchor="ctr"/>
          <a:lstStyle/>
          <a:p>
            <a:pPr indent="0" marL="0">
              <a:buNone/>
            </a:pPr>
            <a:r>
              <a:rPr lang="en-US" sz="1300" dirty="0">
                <a:solidFill>
                  <a:srgbClr val="1E2761"/>
                </a:solidFill>
                <a:latin typeface="Calibri" pitchFamily="34" charset="0"/>
                <a:ea typeface="Calibri" pitchFamily="34" charset="-122"/>
                <a:cs typeface="Calibri" pitchFamily="34" charset="-120"/>
              </a:rPr>
              <a:t>DRAM (slow)</a:t>
            </a:r>
            <a:endParaRPr lang="en-US" sz="1300" dirty="0"/>
          </a:p>
        </p:txBody>
      </p:sp>
      <p:sp>
        <p:nvSpPr>
          <p:cNvPr id="12" name="Shape 9"/>
          <p:cNvSpPr/>
          <p:nvPr/>
        </p:nvSpPr>
        <p:spPr>
          <a:xfrm>
            <a:off x="7223760" y="3749040"/>
            <a:ext cx="3566160" cy="1737360"/>
          </a:xfrm>
          <a:prstGeom prst="roundRect">
            <a:avLst>
              <a:gd name="adj" fmla="val 4211"/>
            </a:avLst>
          </a:prstGeom>
          <a:solidFill>
            <a:srgbClr val="F7F8FC"/>
          </a:solidFill>
          <a:ln w="12700">
            <a:solidFill>
              <a:srgbClr val="CADCFC"/>
            </a:solidFill>
            <a:prstDash val="solid"/>
          </a:ln>
        </p:spPr>
      </p:sp>
      <p:sp>
        <p:nvSpPr>
          <p:cNvPr id="13" name="Text 10"/>
          <p:cNvSpPr/>
          <p:nvPr/>
        </p:nvSpPr>
        <p:spPr>
          <a:xfrm>
            <a:off x="7452360" y="3931920"/>
            <a:ext cx="3108960" cy="1371600"/>
          </a:xfrm>
          <a:prstGeom prst="rect">
            <a:avLst/>
          </a:prstGeom>
          <a:noFill/>
          <a:ln/>
        </p:spPr>
        <p:txBody>
          <a:bodyPr wrap="square" lIns="0" tIns="0" rIns="0" bIns="0" rtlCol="0" anchor="ctr"/>
          <a:lstStyle/>
          <a:p>
            <a:pPr indent="0" marL="0">
              <a:buNone/>
            </a:pPr>
            <a:r>
              <a:rPr lang="en-US" sz="1300" i="1" dirty="0">
                <a:solidFill>
                  <a:srgbClr val="2A2A3C"/>
                </a:solidFill>
                <a:latin typeface="Calibri" pitchFamily="34" charset="0"/>
                <a:ea typeface="Calibri" pitchFamily="34" charset="-122"/>
                <a:cs typeface="Calibri" pitchFamily="34" charset="-120"/>
              </a:rPr>
              <a:t>Cache sits between the two — small, fast, and placed right next to the CPU to bridge this gap.</a:t>
            </a:r>
            <a:endParaRPr lang="en-US" sz="1300" dirty="0"/>
          </a:p>
        </p:txBody>
      </p:sp>
      <p:sp>
        <p:nvSpPr>
          <p:cNvPr id="14" name="Text 11"/>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5"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chip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Is a Memory Chip?</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6035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An integrated circuit that stores binary data (0s and 1s)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Organized as an array of memory cells, each cell storing 1 bit</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Two main types: RAM (volatile) and ROM (non-volatile)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Every memory chip exposes three connection types: address lines, data lines, control lines</a:t>
            </a:r>
            <a:endParaRPr lang="en-US" sz="2000" dirty="0"/>
          </a:p>
        </p:txBody>
      </p:sp>
      <p:sp>
        <p:nvSpPr>
          <p:cNvPr id="7" name="Shape 4"/>
          <p:cNvSpPr/>
          <p:nvPr/>
        </p:nvSpPr>
        <p:spPr>
          <a:xfrm>
            <a:off x="7223760" y="1783080"/>
            <a:ext cx="3566160" cy="3657600"/>
          </a:xfrm>
          <a:prstGeom prst="roundRect">
            <a:avLst>
              <a:gd name="adj" fmla="val 2564"/>
            </a:avLst>
          </a:prstGeom>
          <a:solidFill>
            <a:srgbClr val="1E2761"/>
          </a:solidFill>
          <a:ln/>
        </p:spPr>
      </p:sp>
      <p:sp>
        <p:nvSpPr>
          <p:cNvPr id="8" name="Shape 5"/>
          <p:cNvSpPr/>
          <p:nvPr/>
        </p:nvSpPr>
        <p:spPr>
          <a:xfrm>
            <a:off x="7498080" y="2103120"/>
            <a:ext cx="3017520" cy="868680"/>
          </a:xfrm>
          <a:prstGeom prst="roundRect">
            <a:avLst>
              <a:gd name="adj" fmla="val 8421"/>
            </a:avLst>
          </a:prstGeom>
          <a:solidFill>
            <a:srgbClr val="242E75"/>
          </a:solidFill>
          <a:ln/>
        </p:spPr>
      </p:sp>
      <p:sp>
        <p:nvSpPr>
          <p:cNvPr id="9" name="Text 6"/>
          <p:cNvSpPr/>
          <p:nvPr/>
        </p:nvSpPr>
        <p:spPr>
          <a:xfrm>
            <a:off x="7680960" y="2176272"/>
            <a:ext cx="2651760" cy="365760"/>
          </a:xfrm>
          <a:prstGeom prst="rect">
            <a:avLst/>
          </a:prstGeom>
          <a:noFill/>
          <a:ln/>
        </p:spPr>
        <p:txBody>
          <a:bodyPr wrap="square" lIns="0" tIns="0" rIns="0" bIns="0" rtlCol="0" anchor="ctr"/>
          <a:lstStyle/>
          <a:p>
            <a:pPr indent="0" marL="0">
              <a:buNone/>
            </a:pPr>
            <a:r>
              <a:rPr lang="en-US" sz="1400" b="1" dirty="0">
                <a:solidFill>
                  <a:srgbClr val="D4AF37"/>
                </a:solidFill>
                <a:latin typeface="Calibri" pitchFamily="34" charset="0"/>
                <a:ea typeface="Calibri" pitchFamily="34" charset="-122"/>
                <a:cs typeface="Calibri" pitchFamily="34" charset="-120"/>
              </a:rPr>
              <a:t>Address lines</a:t>
            </a:r>
            <a:endParaRPr lang="en-US" sz="1400" dirty="0"/>
          </a:p>
        </p:txBody>
      </p:sp>
      <p:sp>
        <p:nvSpPr>
          <p:cNvPr id="10" name="Text 7"/>
          <p:cNvSpPr/>
          <p:nvPr/>
        </p:nvSpPr>
        <p:spPr>
          <a:xfrm>
            <a:off x="7680960" y="2514600"/>
            <a:ext cx="26517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Which location?</a:t>
            </a:r>
            <a:endParaRPr lang="en-US" sz="1200" dirty="0"/>
          </a:p>
        </p:txBody>
      </p:sp>
      <p:sp>
        <p:nvSpPr>
          <p:cNvPr id="11" name="Shape 8"/>
          <p:cNvSpPr/>
          <p:nvPr/>
        </p:nvSpPr>
        <p:spPr>
          <a:xfrm>
            <a:off x="7498080" y="3154680"/>
            <a:ext cx="3017520" cy="868680"/>
          </a:xfrm>
          <a:prstGeom prst="roundRect">
            <a:avLst>
              <a:gd name="adj" fmla="val 8421"/>
            </a:avLst>
          </a:prstGeom>
          <a:solidFill>
            <a:srgbClr val="242E75"/>
          </a:solidFill>
          <a:ln/>
        </p:spPr>
      </p:sp>
      <p:sp>
        <p:nvSpPr>
          <p:cNvPr id="12" name="Text 9"/>
          <p:cNvSpPr/>
          <p:nvPr/>
        </p:nvSpPr>
        <p:spPr>
          <a:xfrm>
            <a:off x="7680960" y="3227832"/>
            <a:ext cx="2651760" cy="365760"/>
          </a:xfrm>
          <a:prstGeom prst="rect">
            <a:avLst/>
          </a:prstGeom>
          <a:noFill/>
          <a:ln/>
        </p:spPr>
        <p:txBody>
          <a:bodyPr wrap="square" lIns="0" tIns="0" rIns="0" bIns="0" rtlCol="0" anchor="ctr"/>
          <a:lstStyle/>
          <a:p>
            <a:pPr indent="0" marL="0">
              <a:buNone/>
            </a:pPr>
            <a:r>
              <a:rPr lang="en-US" sz="1400" b="1" dirty="0">
                <a:solidFill>
                  <a:srgbClr val="D4AF37"/>
                </a:solidFill>
                <a:latin typeface="Calibri" pitchFamily="34" charset="0"/>
                <a:ea typeface="Calibri" pitchFamily="34" charset="-122"/>
                <a:cs typeface="Calibri" pitchFamily="34" charset="-120"/>
              </a:rPr>
              <a:t>Data lines</a:t>
            </a:r>
            <a:endParaRPr lang="en-US" sz="1400" dirty="0"/>
          </a:p>
        </p:txBody>
      </p:sp>
      <p:sp>
        <p:nvSpPr>
          <p:cNvPr id="13" name="Text 10"/>
          <p:cNvSpPr/>
          <p:nvPr/>
        </p:nvSpPr>
        <p:spPr>
          <a:xfrm>
            <a:off x="7680960" y="3566160"/>
            <a:ext cx="26517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What value?</a:t>
            </a:r>
            <a:endParaRPr lang="en-US" sz="1200" dirty="0"/>
          </a:p>
        </p:txBody>
      </p:sp>
      <p:sp>
        <p:nvSpPr>
          <p:cNvPr id="14" name="Shape 11"/>
          <p:cNvSpPr/>
          <p:nvPr/>
        </p:nvSpPr>
        <p:spPr>
          <a:xfrm>
            <a:off x="7498080" y="4206240"/>
            <a:ext cx="3017520" cy="868680"/>
          </a:xfrm>
          <a:prstGeom prst="roundRect">
            <a:avLst>
              <a:gd name="adj" fmla="val 8421"/>
            </a:avLst>
          </a:prstGeom>
          <a:solidFill>
            <a:srgbClr val="242E75"/>
          </a:solidFill>
          <a:ln/>
        </p:spPr>
      </p:sp>
      <p:sp>
        <p:nvSpPr>
          <p:cNvPr id="15" name="Text 12"/>
          <p:cNvSpPr/>
          <p:nvPr/>
        </p:nvSpPr>
        <p:spPr>
          <a:xfrm>
            <a:off x="7680960" y="4279392"/>
            <a:ext cx="2651760" cy="365760"/>
          </a:xfrm>
          <a:prstGeom prst="rect">
            <a:avLst/>
          </a:prstGeom>
          <a:noFill/>
          <a:ln/>
        </p:spPr>
        <p:txBody>
          <a:bodyPr wrap="square" lIns="0" tIns="0" rIns="0" bIns="0" rtlCol="0" anchor="ctr"/>
          <a:lstStyle/>
          <a:p>
            <a:pPr indent="0" marL="0">
              <a:buNone/>
            </a:pPr>
            <a:r>
              <a:rPr lang="en-US" sz="1400" b="1" dirty="0">
                <a:solidFill>
                  <a:srgbClr val="D4AF37"/>
                </a:solidFill>
                <a:latin typeface="Calibri" pitchFamily="34" charset="0"/>
                <a:ea typeface="Calibri" pitchFamily="34" charset="-122"/>
                <a:cs typeface="Calibri" pitchFamily="34" charset="-120"/>
              </a:rPr>
              <a:t>Control lines</a:t>
            </a:r>
            <a:endParaRPr lang="en-US" sz="1400" dirty="0"/>
          </a:p>
        </p:txBody>
      </p:sp>
      <p:sp>
        <p:nvSpPr>
          <p:cNvPr id="16" name="Text 13"/>
          <p:cNvSpPr/>
          <p:nvPr/>
        </p:nvSpPr>
        <p:spPr>
          <a:xfrm>
            <a:off x="7680960" y="4617720"/>
            <a:ext cx="26517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Read/Write? Active?</a:t>
            </a:r>
            <a:endParaRPr lang="en-US" sz="1200" dirty="0"/>
          </a:p>
        </p:txBody>
      </p:sp>
      <p:sp>
        <p:nvSpPr>
          <p:cNvPr id="17" name="Text 1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8" name="Text 1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hash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Address Lines &amp; Chip Capacity</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6035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Address lines determine how many unique locations can be addressed</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n address lines  →  2ⁿ addressable locations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Example: 10 address lines → 2¹⁰ = 1024 locations (1K)</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Number of data lines = number of bits stored per location (word size)</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223760" y="1783080"/>
          <a:ext cx="3566160" cy="2468880"/>
        </p:xfrm>
        <a:graphic>
          <a:graphicData uri="http://schemas.openxmlformats.org/drawingml/2006/table">
            <a:tbl>
              <a:tblPr/>
              <a:tblGrid>
                <a:gridCol w="1783080"/>
                <a:gridCol w="1783080"/>
              </a:tblGrid>
              <a:tr h="493776">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Address lines (n)</a:t>
                      </a:r>
                      <a:endParaRPr lang="en-US" sz="13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Locations (2ⁿ)</a:t>
                      </a:r>
                      <a:endParaRPr lang="en-US" sz="13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493776">
                <a:tc>
                  <a:txBody>
                    <a:bodyPr/>
                    <a:lstStyle/>
                    <a:p>
                      <a:pPr algn="ctr" indent="0" marL="0">
                        <a:buNone/>
                      </a:pPr>
                      <a:r>
                        <a:rPr lang="en-US" sz="1300" dirty="0">
                          <a:solidFill>
                            <a:srgbClr val="2A2A3C"/>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300" dirty="0">
                          <a:solidFill>
                            <a:srgbClr val="2A2A3C"/>
                          </a:solidFill>
                          <a:latin typeface="Calibri" pitchFamily="34" charset="0"/>
                          <a:ea typeface="Calibri" pitchFamily="34" charset="-122"/>
                          <a:cs typeface="Calibri" pitchFamily="34" charset="-120"/>
                        </a:rPr>
                        <a:t>256</a:t>
                      </a:r>
                      <a:endParaRPr lang="en-US" sz="13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93776">
                <a:tc>
                  <a:txBody>
                    <a:bodyPr/>
                    <a:lstStyle/>
                    <a:p>
                      <a:pPr algn="ctr" indent="0" marL="0">
                        <a:buNone/>
                      </a:pPr>
                      <a:r>
                        <a:rPr lang="en-US" sz="1300" dirty="0">
                          <a:solidFill>
                            <a:srgbClr val="2A2A3C"/>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300" dirty="0">
                          <a:solidFill>
                            <a:srgbClr val="2A2A3C"/>
                          </a:solidFill>
                          <a:latin typeface="Calibri" pitchFamily="34" charset="0"/>
                          <a:ea typeface="Calibri" pitchFamily="34" charset="-122"/>
                          <a:cs typeface="Calibri" pitchFamily="34" charset="-120"/>
                        </a:rPr>
                        <a:t>1,024 (1K)</a:t>
                      </a:r>
                      <a:endParaRPr lang="en-US" sz="13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93776">
                <a:tc>
                  <a:txBody>
                    <a:bodyPr/>
                    <a:lstStyle/>
                    <a:p>
                      <a:pPr algn="ctr" indent="0" marL="0">
                        <a:buNone/>
                      </a:pPr>
                      <a:r>
                        <a:rPr lang="en-US" sz="1300" dirty="0">
                          <a:solidFill>
                            <a:srgbClr val="2A2A3C"/>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300" dirty="0">
                          <a:solidFill>
                            <a:srgbClr val="2A2A3C"/>
                          </a:solidFill>
                          <a:latin typeface="Calibri" pitchFamily="34" charset="0"/>
                          <a:ea typeface="Calibri" pitchFamily="34" charset="-122"/>
                          <a:cs typeface="Calibri" pitchFamily="34" charset="-120"/>
                        </a:rPr>
                        <a:t>65,536 (64K)</a:t>
                      </a:r>
                      <a:endParaRPr lang="en-US" sz="13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93776">
                <a:tc>
                  <a:txBody>
                    <a:bodyPr/>
                    <a:lstStyle/>
                    <a:p>
                      <a:pPr algn="ctr" indent="0" marL="0">
                        <a:buNone/>
                      </a:pPr>
                      <a:r>
                        <a:rPr lang="en-US" sz="1300" dirty="0">
                          <a:solidFill>
                            <a:srgbClr val="2A2A3C"/>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300" dirty="0">
                          <a:solidFill>
                            <a:srgbClr val="2A2A3C"/>
                          </a:solidFill>
                          <a:latin typeface="Calibri" pitchFamily="34" charset="0"/>
                          <a:ea typeface="Calibri" pitchFamily="34" charset="-122"/>
                          <a:cs typeface="Calibri" pitchFamily="34" charset="-120"/>
                        </a:rPr>
                        <a:t>1,048,576 (1M)</a:t>
                      </a:r>
                      <a:endParaRPr lang="en-US" sz="13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bl>
          </a:graphicData>
        </a:graphic>
      </p:graphicFrame>
      <p:sp>
        <p:nvSpPr>
          <p:cNvPr id="8"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9"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calc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Notation — "Size × Width"</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6035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Chips are described as: Number of locations × Word size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Example: 1K × 8 means 1024 locations, each storing 8 bits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Total capacity (bits) = locations × word size = 1024 × 8 = 8192 bits = 1 KB</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Address pins = log₂(locations)  |  Data pins = word size</a:t>
            </a:r>
            <a:endParaRPr lang="en-US" sz="2000" dirty="0"/>
          </a:p>
        </p:txBody>
      </p:sp>
      <p:sp>
        <p:nvSpPr>
          <p:cNvPr id="7" name="Shape 4"/>
          <p:cNvSpPr/>
          <p:nvPr/>
        </p:nvSpPr>
        <p:spPr>
          <a:xfrm>
            <a:off x="7223760" y="2194560"/>
            <a:ext cx="1554480" cy="1188720"/>
          </a:xfrm>
          <a:prstGeom prst="roundRect">
            <a:avLst>
              <a:gd name="adj" fmla="val 6154"/>
            </a:avLst>
          </a:prstGeom>
          <a:solidFill>
            <a:srgbClr val="1E2761"/>
          </a:solidFill>
          <a:ln/>
        </p:spPr>
      </p:sp>
      <p:sp>
        <p:nvSpPr>
          <p:cNvPr id="8" name="Text 5"/>
          <p:cNvSpPr/>
          <p:nvPr/>
        </p:nvSpPr>
        <p:spPr>
          <a:xfrm>
            <a:off x="7223760" y="2194560"/>
            <a:ext cx="1554480" cy="777240"/>
          </a:xfrm>
          <a:prstGeom prst="rect">
            <a:avLst/>
          </a:prstGeom>
          <a:noFill/>
          <a:ln/>
        </p:spPr>
        <p:txBody>
          <a:bodyPr wrap="square" lIns="0" tIns="0" rIns="0" bIns="0" rtlCol="0" anchor="b"/>
          <a:lstStyle/>
          <a:p>
            <a:pPr algn="ctr" indent="0" marL="0">
              <a:buNone/>
            </a:pPr>
            <a:r>
              <a:rPr lang="en-US" sz="2600" b="1" dirty="0">
                <a:solidFill>
                  <a:srgbClr val="D4AF37"/>
                </a:solidFill>
                <a:latin typeface="Cambria" pitchFamily="34" charset="0"/>
                <a:ea typeface="Cambria" pitchFamily="34" charset="-122"/>
                <a:cs typeface="Cambria" pitchFamily="34" charset="-120"/>
              </a:rPr>
              <a:t>1K</a:t>
            </a:r>
            <a:endParaRPr lang="en-US" sz="2600" dirty="0"/>
          </a:p>
        </p:txBody>
      </p:sp>
      <p:sp>
        <p:nvSpPr>
          <p:cNvPr id="9" name="Text 6"/>
          <p:cNvSpPr/>
          <p:nvPr/>
        </p:nvSpPr>
        <p:spPr>
          <a:xfrm>
            <a:off x="7223760" y="2971800"/>
            <a:ext cx="1554480" cy="4114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locations</a:t>
            </a:r>
            <a:endParaRPr lang="en-US" sz="1100" dirty="0"/>
          </a:p>
        </p:txBody>
      </p:sp>
      <p:sp>
        <p:nvSpPr>
          <p:cNvPr id="10" name="Text 7"/>
          <p:cNvSpPr/>
          <p:nvPr/>
        </p:nvSpPr>
        <p:spPr>
          <a:xfrm>
            <a:off x="8778240" y="2194560"/>
            <a:ext cx="457200" cy="118872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a:t>
            </a:r>
            <a:endParaRPr lang="en-US" sz="2800" dirty="0"/>
          </a:p>
        </p:txBody>
      </p:sp>
      <p:sp>
        <p:nvSpPr>
          <p:cNvPr id="11" name="Shape 8"/>
          <p:cNvSpPr/>
          <p:nvPr/>
        </p:nvSpPr>
        <p:spPr>
          <a:xfrm>
            <a:off x="9235440" y="2194560"/>
            <a:ext cx="1554480" cy="1188720"/>
          </a:xfrm>
          <a:prstGeom prst="roundRect">
            <a:avLst>
              <a:gd name="adj" fmla="val 6154"/>
            </a:avLst>
          </a:prstGeom>
          <a:solidFill>
            <a:srgbClr val="1E2761"/>
          </a:solidFill>
          <a:ln/>
        </p:spPr>
      </p:sp>
      <p:sp>
        <p:nvSpPr>
          <p:cNvPr id="12" name="Text 9"/>
          <p:cNvSpPr/>
          <p:nvPr/>
        </p:nvSpPr>
        <p:spPr>
          <a:xfrm>
            <a:off x="9235440" y="2194560"/>
            <a:ext cx="1554480" cy="777240"/>
          </a:xfrm>
          <a:prstGeom prst="rect">
            <a:avLst/>
          </a:prstGeom>
          <a:noFill/>
          <a:ln/>
        </p:spPr>
        <p:txBody>
          <a:bodyPr wrap="square" lIns="0" tIns="0" rIns="0" bIns="0" rtlCol="0" anchor="b"/>
          <a:lstStyle/>
          <a:p>
            <a:pPr algn="ctr" indent="0" marL="0">
              <a:buNone/>
            </a:pPr>
            <a:r>
              <a:rPr lang="en-US" sz="2600" b="1" dirty="0">
                <a:solidFill>
                  <a:srgbClr val="D4AF37"/>
                </a:solidFill>
                <a:latin typeface="Cambria" pitchFamily="34" charset="0"/>
                <a:ea typeface="Cambria" pitchFamily="34" charset="-122"/>
                <a:cs typeface="Cambria" pitchFamily="34" charset="-120"/>
              </a:rPr>
              <a:t>8</a:t>
            </a:r>
            <a:endParaRPr lang="en-US" sz="2600" dirty="0"/>
          </a:p>
        </p:txBody>
      </p:sp>
      <p:sp>
        <p:nvSpPr>
          <p:cNvPr id="13" name="Text 10"/>
          <p:cNvSpPr/>
          <p:nvPr/>
        </p:nvSpPr>
        <p:spPr>
          <a:xfrm>
            <a:off x="9235440" y="2971800"/>
            <a:ext cx="1554480" cy="4114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bits wide</a:t>
            </a:r>
            <a:endParaRPr lang="en-US" sz="1100" dirty="0"/>
          </a:p>
        </p:txBody>
      </p:sp>
      <p:sp>
        <p:nvSpPr>
          <p:cNvPr id="14" name="Text 11"/>
          <p:cNvSpPr/>
          <p:nvPr/>
        </p:nvSpPr>
        <p:spPr>
          <a:xfrm>
            <a:off x="7223760" y="3611880"/>
            <a:ext cx="3566160" cy="457200"/>
          </a:xfrm>
          <a:prstGeom prst="rect">
            <a:avLst/>
          </a:prstGeom>
          <a:noFill/>
          <a:ln/>
        </p:spPr>
        <p:txBody>
          <a:bodyPr wrap="square" lIns="0" tIns="0" rIns="0" bIns="0" rtlCol="0" anchor="ctr"/>
          <a:lstStyle/>
          <a:p>
            <a:pPr algn="ctr" indent="0" marL="0">
              <a:buNone/>
            </a:pPr>
            <a:r>
              <a:rPr lang="en-US" sz="1400" i="1" dirty="0">
                <a:solidFill>
                  <a:srgbClr val="2A2A3C"/>
                </a:solidFill>
                <a:latin typeface="Calibri" pitchFamily="34" charset="0"/>
                <a:ea typeface="Calibri" pitchFamily="34" charset="-122"/>
                <a:cs typeface="Calibri" pitchFamily="34" charset="-120"/>
              </a:rPr>
              <a:t>= 8,192 bits = 1 KB total</a:t>
            </a:r>
            <a:endParaRPr lang="en-US" sz="1400" dirty="0"/>
          </a:p>
        </p:txBody>
      </p:sp>
      <p:sp>
        <p:nvSpPr>
          <p:cNvPr id="15" name="Text 12"/>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6" name="Text 1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toggle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Control Lines — CS, R/W, OE</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Chip Select (CS): enables/disables the chip so several chips can share one bus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Read/Write (R/W): tells the chip to output data (read) or accept data (write)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Output Enable (OE): controls whether the data lines are actively driven</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Together these let a system combine several small chips into one large memory</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grid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Internal Organization — The Memory Array</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6035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Memory cells arranged in a 2D grid: rows and columns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Address is split into a row address and a column address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A decoder converts a binary address into "select exactly one row/column"</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Intersection of selected row and column = the one cell (or word) being accessed</a:t>
            </a:r>
            <a:endParaRPr lang="en-US" sz="2000" dirty="0"/>
          </a:p>
        </p:txBody>
      </p:sp>
      <p:sp>
        <p:nvSpPr>
          <p:cNvPr id="7" name="Shape 4"/>
          <p:cNvSpPr/>
          <p:nvPr/>
        </p:nvSpPr>
        <p:spPr>
          <a:xfrm>
            <a:off x="7498080" y="1828800"/>
            <a:ext cx="347472" cy="347472"/>
          </a:xfrm>
          <a:prstGeom prst="rect">
            <a:avLst/>
          </a:prstGeom>
          <a:solidFill>
            <a:srgbClr val="CADCFC"/>
          </a:solidFill>
          <a:ln w="12700">
            <a:solidFill>
              <a:srgbClr val="FFFFFF"/>
            </a:solidFill>
            <a:prstDash val="solid"/>
          </a:ln>
        </p:spPr>
      </p:sp>
      <p:sp>
        <p:nvSpPr>
          <p:cNvPr id="8" name="Shape 5"/>
          <p:cNvSpPr/>
          <p:nvPr/>
        </p:nvSpPr>
        <p:spPr>
          <a:xfrm>
            <a:off x="7882128" y="1828800"/>
            <a:ext cx="347472" cy="347472"/>
          </a:xfrm>
          <a:prstGeom prst="rect">
            <a:avLst/>
          </a:prstGeom>
          <a:solidFill>
            <a:srgbClr val="CADCFC"/>
          </a:solidFill>
          <a:ln w="12700">
            <a:solidFill>
              <a:srgbClr val="FFFFFF"/>
            </a:solidFill>
            <a:prstDash val="solid"/>
          </a:ln>
        </p:spPr>
      </p:sp>
      <p:sp>
        <p:nvSpPr>
          <p:cNvPr id="9" name="Shape 6"/>
          <p:cNvSpPr/>
          <p:nvPr/>
        </p:nvSpPr>
        <p:spPr>
          <a:xfrm>
            <a:off x="8266176" y="1828800"/>
            <a:ext cx="347472" cy="347472"/>
          </a:xfrm>
          <a:prstGeom prst="rect">
            <a:avLst/>
          </a:prstGeom>
          <a:solidFill>
            <a:srgbClr val="CADCFC"/>
          </a:solidFill>
          <a:ln w="12700">
            <a:solidFill>
              <a:srgbClr val="FFFFFF"/>
            </a:solidFill>
            <a:prstDash val="solid"/>
          </a:ln>
        </p:spPr>
      </p:sp>
      <p:sp>
        <p:nvSpPr>
          <p:cNvPr id="10" name="Shape 7"/>
          <p:cNvSpPr/>
          <p:nvPr/>
        </p:nvSpPr>
        <p:spPr>
          <a:xfrm>
            <a:off x="8650224" y="1828800"/>
            <a:ext cx="347472" cy="347472"/>
          </a:xfrm>
          <a:prstGeom prst="rect">
            <a:avLst/>
          </a:prstGeom>
          <a:solidFill>
            <a:srgbClr val="CADCFC"/>
          </a:solidFill>
          <a:ln w="12700">
            <a:solidFill>
              <a:srgbClr val="FFFFFF"/>
            </a:solidFill>
            <a:prstDash val="solid"/>
          </a:ln>
        </p:spPr>
      </p:sp>
      <p:sp>
        <p:nvSpPr>
          <p:cNvPr id="11" name="Shape 8"/>
          <p:cNvSpPr/>
          <p:nvPr/>
        </p:nvSpPr>
        <p:spPr>
          <a:xfrm>
            <a:off x="9034272" y="1828800"/>
            <a:ext cx="347472" cy="347472"/>
          </a:xfrm>
          <a:prstGeom prst="rect">
            <a:avLst/>
          </a:prstGeom>
          <a:solidFill>
            <a:srgbClr val="CADCFC"/>
          </a:solidFill>
          <a:ln w="12700">
            <a:solidFill>
              <a:srgbClr val="FFFFFF"/>
            </a:solidFill>
            <a:prstDash val="solid"/>
          </a:ln>
        </p:spPr>
      </p:sp>
      <p:sp>
        <p:nvSpPr>
          <p:cNvPr id="12" name="Shape 9"/>
          <p:cNvSpPr/>
          <p:nvPr/>
        </p:nvSpPr>
        <p:spPr>
          <a:xfrm>
            <a:off x="9418320" y="1828800"/>
            <a:ext cx="347472" cy="347472"/>
          </a:xfrm>
          <a:prstGeom prst="rect">
            <a:avLst/>
          </a:prstGeom>
          <a:solidFill>
            <a:srgbClr val="CADCFC"/>
          </a:solidFill>
          <a:ln w="12700">
            <a:solidFill>
              <a:srgbClr val="FFFFFF"/>
            </a:solidFill>
            <a:prstDash val="solid"/>
          </a:ln>
        </p:spPr>
      </p:sp>
      <p:sp>
        <p:nvSpPr>
          <p:cNvPr id="13" name="Shape 10"/>
          <p:cNvSpPr/>
          <p:nvPr/>
        </p:nvSpPr>
        <p:spPr>
          <a:xfrm>
            <a:off x="7498080" y="2212848"/>
            <a:ext cx="347472" cy="347472"/>
          </a:xfrm>
          <a:prstGeom prst="rect">
            <a:avLst/>
          </a:prstGeom>
          <a:solidFill>
            <a:srgbClr val="CADCFC"/>
          </a:solidFill>
          <a:ln w="12700">
            <a:solidFill>
              <a:srgbClr val="FFFFFF"/>
            </a:solidFill>
            <a:prstDash val="solid"/>
          </a:ln>
        </p:spPr>
      </p:sp>
      <p:sp>
        <p:nvSpPr>
          <p:cNvPr id="14" name="Shape 11"/>
          <p:cNvSpPr/>
          <p:nvPr/>
        </p:nvSpPr>
        <p:spPr>
          <a:xfrm>
            <a:off x="7882128" y="2212848"/>
            <a:ext cx="347472" cy="347472"/>
          </a:xfrm>
          <a:prstGeom prst="rect">
            <a:avLst/>
          </a:prstGeom>
          <a:solidFill>
            <a:srgbClr val="CADCFC"/>
          </a:solidFill>
          <a:ln w="12700">
            <a:solidFill>
              <a:srgbClr val="FFFFFF"/>
            </a:solidFill>
            <a:prstDash val="solid"/>
          </a:ln>
        </p:spPr>
      </p:sp>
      <p:sp>
        <p:nvSpPr>
          <p:cNvPr id="15" name="Shape 12"/>
          <p:cNvSpPr/>
          <p:nvPr/>
        </p:nvSpPr>
        <p:spPr>
          <a:xfrm>
            <a:off x="8266176" y="2212848"/>
            <a:ext cx="347472" cy="347472"/>
          </a:xfrm>
          <a:prstGeom prst="rect">
            <a:avLst/>
          </a:prstGeom>
          <a:solidFill>
            <a:srgbClr val="CADCFC"/>
          </a:solidFill>
          <a:ln w="12700">
            <a:solidFill>
              <a:srgbClr val="FFFFFF"/>
            </a:solidFill>
            <a:prstDash val="solid"/>
          </a:ln>
        </p:spPr>
      </p:sp>
      <p:sp>
        <p:nvSpPr>
          <p:cNvPr id="16" name="Shape 13"/>
          <p:cNvSpPr/>
          <p:nvPr/>
        </p:nvSpPr>
        <p:spPr>
          <a:xfrm>
            <a:off x="8650224" y="2212848"/>
            <a:ext cx="347472" cy="347472"/>
          </a:xfrm>
          <a:prstGeom prst="rect">
            <a:avLst/>
          </a:prstGeom>
          <a:solidFill>
            <a:srgbClr val="CADCFC"/>
          </a:solidFill>
          <a:ln w="12700">
            <a:solidFill>
              <a:srgbClr val="FFFFFF"/>
            </a:solidFill>
            <a:prstDash val="solid"/>
          </a:ln>
        </p:spPr>
      </p:sp>
      <p:sp>
        <p:nvSpPr>
          <p:cNvPr id="17" name="Shape 14"/>
          <p:cNvSpPr/>
          <p:nvPr/>
        </p:nvSpPr>
        <p:spPr>
          <a:xfrm>
            <a:off x="9034272" y="2212848"/>
            <a:ext cx="347472" cy="347472"/>
          </a:xfrm>
          <a:prstGeom prst="rect">
            <a:avLst/>
          </a:prstGeom>
          <a:solidFill>
            <a:srgbClr val="CADCFC"/>
          </a:solidFill>
          <a:ln w="12700">
            <a:solidFill>
              <a:srgbClr val="FFFFFF"/>
            </a:solidFill>
            <a:prstDash val="solid"/>
          </a:ln>
        </p:spPr>
      </p:sp>
      <p:sp>
        <p:nvSpPr>
          <p:cNvPr id="18" name="Shape 15"/>
          <p:cNvSpPr/>
          <p:nvPr/>
        </p:nvSpPr>
        <p:spPr>
          <a:xfrm>
            <a:off x="9418320" y="2212848"/>
            <a:ext cx="347472" cy="347472"/>
          </a:xfrm>
          <a:prstGeom prst="rect">
            <a:avLst/>
          </a:prstGeom>
          <a:solidFill>
            <a:srgbClr val="CADCFC"/>
          </a:solidFill>
          <a:ln w="12700">
            <a:solidFill>
              <a:srgbClr val="FFFFFF"/>
            </a:solidFill>
            <a:prstDash val="solid"/>
          </a:ln>
        </p:spPr>
      </p:sp>
      <p:sp>
        <p:nvSpPr>
          <p:cNvPr id="19" name="Shape 16"/>
          <p:cNvSpPr/>
          <p:nvPr/>
        </p:nvSpPr>
        <p:spPr>
          <a:xfrm>
            <a:off x="7498080" y="2596896"/>
            <a:ext cx="347472" cy="347472"/>
          </a:xfrm>
          <a:prstGeom prst="rect">
            <a:avLst/>
          </a:prstGeom>
          <a:solidFill>
            <a:srgbClr val="CADCFC"/>
          </a:solidFill>
          <a:ln w="12700">
            <a:solidFill>
              <a:srgbClr val="FFFFFF"/>
            </a:solidFill>
            <a:prstDash val="solid"/>
          </a:ln>
        </p:spPr>
      </p:sp>
      <p:sp>
        <p:nvSpPr>
          <p:cNvPr id="20" name="Shape 17"/>
          <p:cNvSpPr/>
          <p:nvPr/>
        </p:nvSpPr>
        <p:spPr>
          <a:xfrm>
            <a:off x="7882128" y="2596896"/>
            <a:ext cx="347472" cy="347472"/>
          </a:xfrm>
          <a:prstGeom prst="rect">
            <a:avLst/>
          </a:prstGeom>
          <a:solidFill>
            <a:srgbClr val="CADCFC"/>
          </a:solidFill>
          <a:ln w="12700">
            <a:solidFill>
              <a:srgbClr val="FFFFFF"/>
            </a:solidFill>
            <a:prstDash val="solid"/>
          </a:ln>
        </p:spPr>
      </p:sp>
      <p:sp>
        <p:nvSpPr>
          <p:cNvPr id="21" name="Shape 18"/>
          <p:cNvSpPr/>
          <p:nvPr/>
        </p:nvSpPr>
        <p:spPr>
          <a:xfrm>
            <a:off x="8266176" y="2596896"/>
            <a:ext cx="347472" cy="347472"/>
          </a:xfrm>
          <a:prstGeom prst="rect">
            <a:avLst/>
          </a:prstGeom>
          <a:solidFill>
            <a:srgbClr val="CADCFC"/>
          </a:solidFill>
          <a:ln w="12700">
            <a:solidFill>
              <a:srgbClr val="FFFFFF"/>
            </a:solidFill>
            <a:prstDash val="solid"/>
          </a:ln>
        </p:spPr>
      </p:sp>
      <p:sp>
        <p:nvSpPr>
          <p:cNvPr id="22" name="Shape 19"/>
          <p:cNvSpPr/>
          <p:nvPr/>
        </p:nvSpPr>
        <p:spPr>
          <a:xfrm>
            <a:off x="8650224" y="2596896"/>
            <a:ext cx="347472" cy="347472"/>
          </a:xfrm>
          <a:prstGeom prst="rect">
            <a:avLst/>
          </a:prstGeom>
          <a:solidFill>
            <a:srgbClr val="CADCFC"/>
          </a:solidFill>
          <a:ln w="12700">
            <a:solidFill>
              <a:srgbClr val="FFFFFF"/>
            </a:solidFill>
            <a:prstDash val="solid"/>
          </a:ln>
        </p:spPr>
      </p:sp>
      <p:sp>
        <p:nvSpPr>
          <p:cNvPr id="23" name="Shape 20"/>
          <p:cNvSpPr/>
          <p:nvPr/>
        </p:nvSpPr>
        <p:spPr>
          <a:xfrm>
            <a:off x="9034272" y="2596896"/>
            <a:ext cx="347472" cy="347472"/>
          </a:xfrm>
          <a:prstGeom prst="rect">
            <a:avLst/>
          </a:prstGeom>
          <a:solidFill>
            <a:srgbClr val="D4AF37"/>
          </a:solidFill>
          <a:ln w="12700">
            <a:solidFill>
              <a:srgbClr val="FFFFFF"/>
            </a:solidFill>
            <a:prstDash val="solid"/>
          </a:ln>
        </p:spPr>
      </p:sp>
      <p:sp>
        <p:nvSpPr>
          <p:cNvPr id="24" name="Shape 21"/>
          <p:cNvSpPr/>
          <p:nvPr/>
        </p:nvSpPr>
        <p:spPr>
          <a:xfrm>
            <a:off x="9418320" y="2596896"/>
            <a:ext cx="347472" cy="347472"/>
          </a:xfrm>
          <a:prstGeom prst="rect">
            <a:avLst/>
          </a:prstGeom>
          <a:solidFill>
            <a:srgbClr val="CADCFC"/>
          </a:solidFill>
          <a:ln w="12700">
            <a:solidFill>
              <a:srgbClr val="FFFFFF"/>
            </a:solidFill>
            <a:prstDash val="solid"/>
          </a:ln>
        </p:spPr>
      </p:sp>
      <p:sp>
        <p:nvSpPr>
          <p:cNvPr id="25" name="Shape 22"/>
          <p:cNvSpPr/>
          <p:nvPr/>
        </p:nvSpPr>
        <p:spPr>
          <a:xfrm>
            <a:off x="7498080" y="2980944"/>
            <a:ext cx="347472" cy="347472"/>
          </a:xfrm>
          <a:prstGeom prst="rect">
            <a:avLst/>
          </a:prstGeom>
          <a:solidFill>
            <a:srgbClr val="CADCFC"/>
          </a:solidFill>
          <a:ln w="12700">
            <a:solidFill>
              <a:srgbClr val="FFFFFF"/>
            </a:solidFill>
            <a:prstDash val="solid"/>
          </a:ln>
        </p:spPr>
      </p:sp>
      <p:sp>
        <p:nvSpPr>
          <p:cNvPr id="26" name="Shape 23"/>
          <p:cNvSpPr/>
          <p:nvPr/>
        </p:nvSpPr>
        <p:spPr>
          <a:xfrm>
            <a:off x="7882128" y="2980944"/>
            <a:ext cx="347472" cy="347472"/>
          </a:xfrm>
          <a:prstGeom prst="rect">
            <a:avLst/>
          </a:prstGeom>
          <a:solidFill>
            <a:srgbClr val="CADCFC"/>
          </a:solidFill>
          <a:ln w="12700">
            <a:solidFill>
              <a:srgbClr val="FFFFFF"/>
            </a:solidFill>
            <a:prstDash val="solid"/>
          </a:ln>
        </p:spPr>
      </p:sp>
      <p:sp>
        <p:nvSpPr>
          <p:cNvPr id="27" name="Shape 24"/>
          <p:cNvSpPr/>
          <p:nvPr/>
        </p:nvSpPr>
        <p:spPr>
          <a:xfrm>
            <a:off x="8266176" y="2980944"/>
            <a:ext cx="347472" cy="347472"/>
          </a:xfrm>
          <a:prstGeom prst="rect">
            <a:avLst/>
          </a:prstGeom>
          <a:solidFill>
            <a:srgbClr val="CADCFC"/>
          </a:solidFill>
          <a:ln w="12700">
            <a:solidFill>
              <a:srgbClr val="FFFFFF"/>
            </a:solidFill>
            <a:prstDash val="solid"/>
          </a:ln>
        </p:spPr>
      </p:sp>
      <p:sp>
        <p:nvSpPr>
          <p:cNvPr id="28" name="Shape 25"/>
          <p:cNvSpPr/>
          <p:nvPr/>
        </p:nvSpPr>
        <p:spPr>
          <a:xfrm>
            <a:off x="8650224" y="2980944"/>
            <a:ext cx="347472" cy="347472"/>
          </a:xfrm>
          <a:prstGeom prst="rect">
            <a:avLst/>
          </a:prstGeom>
          <a:solidFill>
            <a:srgbClr val="CADCFC"/>
          </a:solidFill>
          <a:ln w="12700">
            <a:solidFill>
              <a:srgbClr val="FFFFFF"/>
            </a:solidFill>
            <a:prstDash val="solid"/>
          </a:ln>
        </p:spPr>
      </p:sp>
      <p:sp>
        <p:nvSpPr>
          <p:cNvPr id="29" name="Shape 26"/>
          <p:cNvSpPr/>
          <p:nvPr/>
        </p:nvSpPr>
        <p:spPr>
          <a:xfrm>
            <a:off x="9034272" y="2980944"/>
            <a:ext cx="347472" cy="347472"/>
          </a:xfrm>
          <a:prstGeom prst="rect">
            <a:avLst/>
          </a:prstGeom>
          <a:solidFill>
            <a:srgbClr val="CADCFC"/>
          </a:solidFill>
          <a:ln w="12700">
            <a:solidFill>
              <a:srgbClr val="FFFFFF"/>
            </a:solidFill>
            <a:prstDash val="solid"/>
          </a:ln>
        </p:spPr>
      </p:sp>
      <p:sp>
        <p:nvSpPr>
          <p:cNvPr id="30" name="Shape 27"/>
          <p:cNvSpPr/>
          <p:nvPr/>
        </p:nvSpPr>
        <p:spPr>
          <a:xfrm>
            <a:off x="9418320" y="2980944"/>
            <a:ext cx="347472" cy="347472"/>
          </a:xfrm>
          <a:prstGeom prst="rect">
            <a:avLst/>
          </a:prstGeom>
          <a:solidFill>
            <a:srgbClr val="CADCFC"/>
          </a:solidFill>
          <a:ln w="12700">
            <a:solidFill>
              <a:srgbClr val="FFFFFF"/>
            </a:solidFill>
            <a:prstDash val="solid"/>
          </a:ln>
        </p:spPr>
      </p:sp>
      <p:sp>
        <p:nvSpPr>
          <p:cNvPr id="31" name="Shape 28"/>
          <p:cNvSpPr/>
          <p:nvPr/>
        </p:nvSpPr>
        <p:spPr>
          <a:xfrm>
            <a:off x="7498080" y="3364992"/>
            <a:ext cx="347472" cy="347472"/>
          </a:xfrm>
          <a:prstGeom prst="rect">
            <a:avLst/>
          </a:prstGeom>
          <a:solidFill>
            <a:srgbClr val="CADCFC"/>
          </a:solidFill>
          <a:ln w="12700">
            <a:solidFill>
              <a:srgbClr val="FFFFFF"/>
            </a:solidFill>
            <a:prstDash val="solid"/>
          </a:ln>
        </p:spPr>
      </p:sp>
      <p:sp>
        <p:nvSpPr>
          <p:cNvPr id="32" name="Shape 29"/>
          <p:cNvSpPr/>
          <p:nvPr/>
        </p:nvSpPr>
        <p:spPr>
          <a:xfrm>
            <a:off x="7882128" y="3364992"/>
            <a:ext cx="347472" cy="347472"/>
          </a:xfrm>
          <a:prstGeom prst="rect">
            <a:avLst/>
          </a:prstGeom>
          <a:solidFill>
            <a:srgbClr val="CADCFC"/>
          </a:solidFill>
          <a:ln w="12700">
            <a:solidFill>
              <a:srgbClr val="FFFFFF"/>
            </a:solidFill>
            <a:prstDash val="solid"/>
          </a:ln>
        </p:spPr>
      </p:sp>
      <p:sp>
        <p:nvSpPr>
          <p:cNvPr id="33" name="Shape 30"/>
          <p:cNvSpPr/>
          <p:nvPr/>
        </p:nvSpPr>
        <p:spPr>
          <a:xfrm>
            <a:off x="8266176" y="3364992"/>
            <a:ext cx="347472" cy="347472"/>
          </a:xfrm>
          <a:prstGeom prst="rect">
            <a:avLst/>
          </a:prstGeom>
          <a:solidFill>
            <a:srgbClr val="CADCFC"/>
          </a:solidFill>
          <a:ln w="12700">
            <a:solidFill>
              <a:srgbClr val="FFFFFF"/>
            </a:solidFill>
            <a:prstDash val="solid"/>
          </a:ln>
        </p:spPr>
      </p:sp>
      <p:sp>
        <p:nvSpPr>
          <p:cNvPr id="34" name="Shape 31"/>
          <p:cNvSpPr/>
          <p:nvPr/>
        </p:nvSpPr>
        <p:spPr>
          <a:xfrm>
            <a:off x="8650224" y="3364992"/>
            <a:ext cx="347472" cy="347472"/>
          </a:xfrm>
          <a:prstGeom prst="rect">
            <a:avLst/>
          </a:prstGeom>
          <a:solidFill>
            <a:srgbClr val="CADCFC"/>
          </a:solidFill>
          <a:ln w="12700">
            <a:solidFill>
              <a:srgbClr val="FFFFFF"/>
            </a:solidFill>
            <a:prstDash val="solid"/>
          </a:ln>
        </p:spPr>
      </p:sp>
      <p:sp>
        <p:nvSpPr>
          <p:cNvPr id="35" name="Shape 32"/>
          <p:cNvSpPr/>
          <p:nvPr/>
        </p:nvSpPr>
        <p:spPr>
          <a:xfrm>
            <a:off x="9034272" y="3364992"/>
            <a:ext cx="347472" cy="347472"/>
          </a:xfrm>
          <a:prstGeom prst="rect">
            <a:avLst/>
          </a:prstGeom>
          <a:solidFill>
            <a:srgbClr val="CADCFC"/>
          </a:solidFill>
          <a:ln w="12700">
            <a:solidFill>
              <a:srgbClr val="FFFFFF"/>
            </a:solidFill>
            <a:prstDash val="solid"/>
          </a:ln>
        </p:spPr>
      </p:sp>
      <p:sp>
        <p:nvSpPr>
          <p:cNvPr id="36" name="Shape 33"/>
          <p:cNvSpPr/>
          <p:nvPr/>
        </p:nvSpPr>
        <p:spPr>
          <a:xfrm>
            <a:off x="9418320" y="3364992"/>
            <a:ext cx="347472" cy="347472"/>
          </a:xfrm>
          <a:prstGeom prst="rect">
            <a:avLst/>
          </a:prstGeom>
          <a:solidFill>
            <a:srgbClr val="CADCFC"/>
          </a:solidFill>
          <a:ln w="12700">
            <a:solidFill>
              <a:srgbClr val="FFFFFF"/>
            </a:solidFill>
            <a:prstDash val="solid"/>
          </a:ln>
        </p:spPr>
      </p:sp>
      <p:sp>
        <p:nvSpPr>
          <p:cNvPr id="37" name="Shape 34"/>
          <p:cNvSpPr/>
          <p:nvPr/>
        </p:nvSpPr>
        <p:spPr>
          <a:xfrm>
            <a:off x="7498080" y="3749040"/>
            <a:ext cx="347472" cy="347472"/>
          </a:xfrm>
          <a:prstGeom prst="rect">
            <a:avLst/>
          </a:prstGeom>
          <a:solidFill>
            <a:srgbClr val="CADCFC"/>
          </a:solidFill>
          <a:ln w="12700">
            <a:solidFill>
              <a:srgbClr val="FFFFFF"/>
            </a:solidFill>
            <a:prstDash val="solid"/>
          </a:ln>
        </p:spPr>
      </p:sp>
      <p:sp>
        <p:nvSpPr>
          <p:cNvPr id="38" name="Shape 35"/>
          <p:cNvSpPr/>
          <p:nvPr/>
        </p:nvSpPr>
        <p:spPr>
          <a:xfrm>
            <a:off x="7882128" y="3749040"/>
            <a:ext cx="347472" cy="347472"/>
          </a:xfrm>
          <a:prstGeom prst="rect">
            <a:avLst/>
          </a:prstGeom>
          <a:solidFill>
            <a:srgbClr val="CADCFC"/>
          </a:solidFill>
          <a:ln w="12700">
            <a:solidFill>
              <a:srgbClr val="FFFFFF"/>
            </a:solidFill>
            <a:prstDash val="solid"/>
          </a:ln>
        </p:spPr>
      </p:sp>
      <p:sp>
        <p:nvSpPr>
          <p:cNvPr id="39" name="Shape 36"/>
          <p:cNvSpPr/>
          <p:nvPr/>
        </p:nvSpPr>
        <p:spPr>
          <a:xfrm>
            <a:off x="8266176" y="3749040"/>
            <a:ext cx="347472" cy="347472"/>
          </a:xfrm>
          <a:prstGeom prst="rect">
            <a:avLst/>
          </a:prstGeom>
          <a:solidFill>
            <a:srgbClr val="CADCFC"/>
          </a:solidFill>
          <a:ln w="12700">
            <a:solidFill>
              <a:srgbClr val="FFFFFF"/>
            </a:solidFill>
            <a:prstDash val="solid"/>
          </a:ln>
        </p:spPr>
      </p:sp>
      <p:sp>
        <p:nvSpPr>
          <p:cNvPr id="40" name="Shape 37"/>
          <p:cNvSpPr/>
          <p:nvPr/>
        </p:nvSpPr>
        <p:spPr>
          <a:xfrm>
            <a:off x="8650224" y="3749040"/>
            <a:ext cx="347472" cy="347472"/>
          </a:xfrm>
          <a:prstGeom prst="rect">
            <a:avLst/>
          </a:prstGeom>
          <a:solidFill>
            <a:srgbClr val="CADCFC"/>
          </a:solidFill>
          <a:ln w="12700">
            <a:solidFill>
              <a:srgbClr val="FFFFFF"/>
            </a:solidFill>
            <a:prstDash val="solid"/>
          </a:ln>
        </p:spPr>
      </p:sp>
      <p:sp>
        <p:nvSpPr>
          <p:cNvPr id="41" name="Shape 38"/>
          <p:cNvSpPr/>
          <p:nvPr/>
        </p:nvSpPr>
        <p:spPr>
          <a:xfrm>
            <a:off x="9034272" y="3749040"/>
            <a:ext cx="347472" cy="347472"/>
          </a:xfrm>
          <a:prstGeom prst="rect">
            <a:avLst/>
          </a:prstGeom>
          <a:solidFill>
            <a:srgbClr val="CADCFC"/>
          </a:solidFill>
          <a:ln w="12700">
            <a:solidFill>
              <a:srgbClr val="FFFFFF"/>
            </a:solidFill>
            <a:prstDash val="solid"/>
          </a:ln>
        </p:spPr>
      </p:sp>
      <p:sp>
        <p:nvSpPr>
          <p:cNvPr id="42" name="Shape 39"/>
          <p:cNvSpPr/>
          <p:nvPr/>
        </p:nvSpPr>
        <p:spPr>
          <a:xfrm>
            <a:off x="9418320" y="3749040"/>
            <a:ext cx="347472" cy="347472"/>
          </a:xfrm>
          <a:prstGeom prst="rect">
            <a:avLst/>
          </a:prstGeom>
          <a:solidFill>
            <a:srgbClr val="CADCFC"/>
          </a:solidFill>
          <a:ln w="12700">
            <a:solidFill>
              <a:srgbClr val="FFFFFF"/>
            </a:solidFill>
            <a:prstDash val="solid"/>
          </a:ln>
        </p:spPr>
      </p:sp>
      <p:sp>
        <p:nvSpPr>
          <p:cNvPr id="43" name="Text 40"/>
          <p:cNvSpPr/>
          <p:nvPr/>
        </p:nvSpPr>
        <p:spPr>
          <a:xfrm>
            <a:off x="7315200" y="4270248"/>
            <a:ext cx="3291840" cy="36576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Row × Column → 1 cell</a:t>
            </a:r>
            <a:endParaRPr lang="en-US" sz="1200" dirty="0"/>
          </a:p>
        </p:txBody>
      </p:sp>
      <p:sp>
        <p:nvSpPr>
          <p:cNvPr id="44" name="Text 41"/>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45" name="Text 4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sitemap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Row &amp; Column Decoders — Step by Step</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A decoder with n inputs has 2ⁿ outputs — exactly one active at a time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Example: a 3-to-8 decoder — 3 address bits select 1 of 8 rows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Splitting the address keeps decoders small (√N × √N instead of one 1-to-N decoder)</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This is why memory arrays are often laid out as roughly square grids</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balance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Static vs Dynamic Memory Chips</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6035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SRAM: stores bits using flip-flops (~6 transistors); fast, no refresh needed</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DRAM: stores bits as capacitor charge; needs periodic refreshing; denser and cheaper</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SRAM → used in cache  |  DRAM → used in main memory</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This tradeoff explains why cache is fast but small, and main memory is large but slower</a:t>
            </a:r>
            <a:endParaRPr lang="en-US" sz="2000" dirty="0"/>
          </a:p>
        </p:txBody>
      </p:sp>
      <p:sp>
        <p:nvSpPr>
          <p:cNvPr id="7" name="Shape 4"/>
          <p:cNvSpPr/>
          <p:nvPr/>
        </p:nvSpPr>
        <p:spPr>
          <a:xfrm>
            <a:off x="7223760" y="1828800"/>
            <a:ext cx="1691640" cy="3017520"/>
          </a:xfrm>
          <a:prstGeom prst="roundRect">
            <a:avLst>
              <a:gd name="adj" fmla="val 4324"/>
            </a:avLst>
          </a:prstGeom>
          <a:solidFill>
            <a:srgbClr val="1E2761"/>
          </a:solidFill>
          <a:ln/>
        </p:spPr>
      </p:sp>
      <p:sp>
        <p:nvSpPr>
          <p:cNvPr id="8" name="Text 5"/>
          <p:cNvSpPr/>
          <p:nvPr/>
        </p:nvSpPr>
        <p:spPr>
          <a:xfrm>
            <a:off x="7223760" y="2011680"/>
            <a:ext cx="1691640" cy="457200"/>
          </a:xfrm>
          <a:prstGeom prst="rect">
            <a:avLst/>
          </a:prstGeom>
          <a:noFill/>
          <a:ln/>
        </p:spPr>
        <p:txBody>
          <a:bodyPr wrap="square" lIns="0" tIns="0" rIns="0" bIns="0" rtlCol="0" anchor="ctr"/>
          <a:lstStyle/>
          <a:p>
            <a:pPr algn="ctr" indent="0" marL="0">
              <a:buNone/>
            </a:pPr>
            <a:r>
              <a:rPr lang="en-US" sz="1800" b="1" dirty="0">
                <a:solidFill>
                  <a:srgbClr val="D4AF37"/>
                </a:solidFill>
                <a:latin typeface="Cambria" pitchFamily="34" charset="0"/>
                <a:ea typeface="Cambria" pitchFamily="34" charset="-122"/>
                <a:cs typeface="Cambria" pitchFamily="34" charset="-120"/>
              </a:rPr>
              <a:t>SRAM</a:t>
            </a:r>
            <a:endParaRPr lang="en-US" sz="1800" dirty="0"/>
          </a:p>
        </p:txBody>
      </p:sp>
      <p:sp>
        <p:nvSpPr>
          <p:cNvPr id="9" name="Text 6"/>
          <p:cNvSpPr/>
          <p:nvPr/>
        </p:nvSpPr>
        <p:spPr>
          <a:xfrm>
            <a:off x="7223760" y="2651760"/>
            <a:ext cx="1691640" cy="82296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Flip-flop</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(6T)</a:t>
            </a:r>
            <a:endParaRPr lang="en-US" sz="1300" dirty="0"/>
          </a:p>
        </p:txBody>
      </p:sp>
      <p:sp>
        <p:nvSpPr>
          <p:cNvPr id="10" name="Text 7"/>
          <p:cNvSpPr/>
          <p:nvPr/>
        </p:nvSpPr>
        <p:spPr>
          <a:xfrm>
            <a:off x="7223760" y="4297680"/>
            <a:ext cx="1691640" cy="365760"/>
          </a:xfrm>
          <a:prstGeom prst="rect">
            <a:avLst/>
          </a:prstGeom>
          <a:noFill/>
          <a:ln/>
        </p:spPr>
        <p:txBody>
          <a:bodyPr wrap="square" lIns="0" tIns="0" rIns="0" bIns="0" rtlCol="0" anchor="ctr"/>
          <a:lstStyle/>
          <a:p>
            <a:pPr algn="ctr" indent="0" marL="0">
              <a:buNone/>
            </a:pPr>
            <a:r>
              <a:rPr lang="en-US" sz="1300" i="1" dirty="0">
                <a:solidFill>
                  <a:srgbClr val="CADCFC"/>
                </a:solidFill>
                <a:latin typeface="Calibri" pitchFamily="34" charset="0"/>
                <a:ea typeface="Calibri" pitchFamily="34" charset="-122"/>
                <a:cs typeface="Calibri" pitchFamily="34" charset="-120"/>
              </a:rPr>
              <a:t>Fast</a:t>
            </a:r>
            <a:endParaRPr lang="en-US" sz="1300" dirty="0"/>
          </a:p>
        </p:txBody>
      </p:sp>
      <p:sp>
        <p:nvSpPr>
          <p:cNvPr id="11" name="Shape 8"/>
          <p:cNvSpPr/>
          <p:nvPr/>
        </p:nvSpPr>
        <p:spPr>
          <a:xfrm>
            <a:off x="9098280" y="1828800"/>
            <a:ext cx="1691640" cy="3017520"/>
          </a:xfrm>
          <a:prstGeom prst="roundRect">
            <a:avLst>
              <a:gd name="adj" fmla="val 4324"/>
            </a:avLst>
          </a:prstGeom>
          <a:solidFill>
            <a:srgbClr val="CADCFC"/>
          </a:solidFill>
          <a:ln/>
        </p:spPr>
      </p:sp>
      <p:sp>
        <p:nvSpPr>
          <p:cNvPr id="12" name="Text 9"/>
          <p:cNvSpPr/>
          <p:nvPr/>
        </p:nvSpPr>
        <p:spPr>
          <a:xfrm>
            <a:off x="9098280" y="2011680"/>
            <a:ext cx="169164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DRAM</a:t>
            </a:r>
            <a:endParaRPr lang="en-US" sz="1800" dirty="0"/>
          </a:p>
        </p:txBody>
      </p:sp>
      <p:sp>
        <p:nvSpPr>
          <p:cNvPr id="13" name="Text 10"/>
          <p:cNvSpPr/>
          <p:nvPr/>
        </p:nvSpPr>
        <p:spPr>
          <a:xfrm>
            <a:off x="9098280" y="2651760"/>
            <a:ext cx="1691640" cy="822960"/>
          </a:xfrm>
          <a:prstGeom prst="rect">
            <a:avLst/>
          </a:prstGeom>
          <a:noFill/>
          <a:ln/>
        </p:spPr>
        <p:txBody>
          <a:bodyPr wrap="square" lIns="0" tIns="0" rIns="0" bIns="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Capacitor</a:t>
            </a:r>
            <a:endParaRPr lang="en-US" sz="1300" dirty="0"/>
          </a:p>
          <a:p>
            <a:pPr algn="ctr" indent="0" marL="0">
              <a:buNone/>
            </a:pPr>
            <a:r>
              <a:rPr lang="en-US" sz="1300" dirty="0">
                <a:solidFill>
                  <a:srgbClr val="1E2761"/>
                </a:solidFill>
                <a:latin typeface="Calibri" pitchFamily="34" charset="0"/>
                <a:ea typeface="Calibri" pitchFamily="34" charset="-122"/>
                <a:cs typeface="Calibri" pitchFamily="34" charset="-120"/>
              </a:rPr>
              <a:t>(1T)</a:t>
            </a:r>
            <a:endParaRPr lang="en-US" sz="1300" dirty="0"/>
          </a:p>
        </p:txBody>
      </p:sp>
      <p:sp>
        <p:nvSpPr>
          <p:cNvPr id="14" name="Text 11"/>
          <p:cNvSpPr/>
          <p:nvPr/>
        </p:nvSpPr>
        <p:spPr>
          <a:xfrm>
            <a:off x="9098280" y="4297680"/>
            <a:ext cx="1691640" cy="365760"/>
          </a:xfrm>
          <a:prstGeom prst="rect">
            <a:avLst/>
          </a:prstGeom>
          <a:noFill/>
          <a:ln/>
        </p:spPr>
        <p:txBody>
          <a:bodyPr wrap="square" lIns="0" tIns="0" rIns="0" bIns="0" rtlCol="0" anchor="ctr"/>
          <a:lstStyle/>
          <a:p>
            <a:pPr algn="ctr" indent="0" marL="0">
              <a:buNone/>
            </a:pPr>
            <a:r>
              <a:rPr lang="en-US" sz="1300" i="1" dirty="0">
                <a:solidFill>
                  <a:srgbClr val="1E2761"/>
                </a:solidFill>
                <a:latin typeface="Calibri" pitchFamily="34" charset="0"/>
                <a:ea typeface="Calibri" pitchFamily="34" charset="-122"/>
                <a:cs typeface="Calibri" pitchFamily="34" charset="-120"/>
              </a:rPr>
              <a:t>Dense</a:t>
            </a:r>
            <a:endParaRPr lang="en-US" sz="1300" dirty="0"/>
          </a:p>
        </p:txBody>
      </p:sp>
      <p:sp>
        <p:nvSpPr>
          <p:cNvPr id="15" name="Text 12"/>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6" name="Text 1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puzzle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Memory Expansion — Combining Chips</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Real systems need more memory than one chip provides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Wider word: connect chips side-by-side, same address lines, different data lines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More locations: connect chips using Chip Select lines with extra address bits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Example: four 1K×8 chips → 4K×8 memory using 2 extra address bits for chip selection</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calc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Worked Example — Combining Chips</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Design an 8K×8 memory using 2K×8 chips. How many chips? How many extra address lines?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Step 1: Total locations needed = 8K = 8192; each chip gives 2K = 2048</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Step 2: Number of chips = 8192 / 2048 = 4 chips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Step 3: Extra address bits for selection = log₂(4) = 2 bits</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laptop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Real-World Example — Where This Shows Up</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Your laptop's RAM modules are literally multiple DRAM chips combined this way</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Embedded/robotics systems often combine small memory chips to save cost</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Graphics cards use very wide memory buses (256-bit, 384-bit) built from many chips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Understanding chip organization helps you read a datasheet or a system spec</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file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Industry Example — Reading a Datasheet</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Datasheets list: capacity (e.g. "256K × 16"), access time, pin diagram, voltage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Practice: given 256K × 16, find address lines, data lines, total capacity</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Address lines = log₂(256K) = 18  |  Data lines = 16</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Total = 256K × 16 bits = 4 Mbits = 512 KB</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layers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Transition — From Chips to Hierarchy</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6035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We now understand a single memory chip inside and out</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Real systems use several levels: registers, cache, main memory, secondary storage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Why? Faster memory is always more expensive and smaller</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This tradeoff is called the Memory Hierarchy</a:t>
            </a:r>
            <a:endParaRPr lang="en-US" sz="2000" dirty="0"/>
          </a:p>
        </p:txBody>
      </p:sp>
      <p:sp>
        <p:nvSpPr>
          <p:cNvPr id="7" name="Shape 4"/>
          <p:cNvSpPr/>
          <p:nvPr/>
        </p:nvSpPr>
        <p:spPr>
          <a:xfrm>
            <a:off x="7498080" y="1783080"/>
            <a:ext cx="3291840" cy="621792"/>
          </a:xfrm>
          <a:prstGeom prst="rect">
            <a:avLst/>
          </a:prstGeom>
          <a:solidFill>
            <a:srgbClr val="D4AF37"/>
          </a:solidFill>
          <a:ln w="12700">
            <a:solidFill>
              <a:srgbClr val="FFFFFF"/>
            </a:solidFill>
            <a:prstDash val="solid"/>
          </a:ln>
        </p:spPr>
      </p:sp>
      <p:sp>
        <p:nvSpPr>
          <p:cNvPr id="8" name="Text 5"/>
          <p:cNvSpPr/>
          <p:nvPr/>
        </p:nvSpPr>
        <p:spPr>
          <a:xfrm>
            <a:off x="7498080" y="1783080"/>
            <a:ext cx="3291840" cy="62179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Registers</a:t>
            </a:r>
            <a:endParaRPr lang="en-US" sz="1300" dirty="0"/>
          </a:p>
        </p:txBody>
      </p:sp>
      <p:sp>
        <p:nvSpPr>
          <p:cNvPr id="9" name="Shape 6"/>
          <p:cNvSpPr/>
          <p:nvPr/>
        </p:nvSpPr>
        <p:spPr>
          <a:xfrm>
            <a:off x="7658100" y="2496312"/>
            <a:ext cx="2971800" cy="621792"/>
          </a:xfrm>
          <a:prstGeom prst="rect">
            <a:avLst/>
          </a:prstGeom>
          <a:solidFill>
            <a:srgbClr val="1E2761"/>
          </a:solidFill>
          <a:ln w="12700">
            <a:solidFill>
              <a:srgbClr val="FFFFFF"/>
            </a:solidFill>
            <a:prstDash val="solid"/>
          </a:ln>
        </p:spPr>
      </p:sp>
      <p:sp>
        <p:nvSpPr>
          <p:cNvPr id="10" name="Text 7"/>
          <p:cNvSpPr/>
          <p:nvPr/>
        </p:nvSpPr>
        <p:spPr>
          <a:xfrm>
            <a:off x="7658100" y="2496312"/>
            <a:ext cx="297180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Cache</a:t>
            </a:r>
            <a:endParaRPr lang="en-US" sz="1300" dirty="0"/>
          </a:p>
        </p:txBody>
      </p:sp>
      <p:sp>
        <p:nvSpPr>
          <p:cNvPr id="11" name="Shape 8"/>
          <p:cNvSpPr/>
          <p:nvPr/>
        </p:nvSpPr>
        <p:spPr>
          <a:xfrm>
            <a:off x="7818120" y="3209544"/>
            <a:ext cx="2651760" cy="621792"/>
          </a:xfrm>
          <a:prstGeom prst="rect">
            <a:avLst/>
          </a:prstGeom>
          <a:solidFill>
            <a:srgbClr val="1E2761"/>
          </a:solidFill>
          <a:ln w="12700">
            <a:solidFill>
              <a:srgbClr val="FFFFFF"/>
            </a:solidFill>
            <a:prstDash val="solid"/>
          </a:ln>
        </p:spPr>
      </p:sp>
      <p:sp>
        <p:nvSpPr>
          <p:cNvPr id="12" name="Text 9"/>
          <p:cNvSpPr/>
          <p:nvPr/>
        </p:nvSpPr>
        <p:spPr>
          <a:xfrm>
            <a:off x="7818120" y="3209544"/>
            <a:ext cx="265176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Main Memory</a:t>
            </a:r>
            <a:endParaRPr lang="en-US" sz="1300" dirty="0"/>
          </a:p>
        </p:txBody>
      </p:sp>
      <p:sp>
        <p:nvSpPr>
          <p:cNvPr id="13" name="Shape 10"/>
          <p:cNvSpPr/>
          <p:nvPr/>
        </p:nvSpPr>
        <p:spPr>
          <a:xfrm>
            <a:off x="7978140" y="3922776"/>
            <a:ext cx="2331720" cy="621792"/>
          </a:xfrm>
          <a:prstGeom prst="rect">
            <a:avLst/>
          </a:prstGeom>
          <a:solidFill>
            <a:srgbClr val="1E2761"/>
          </a:solidFill>
          <a:ln w="12700">
            <a:solidFill>
              <a:srgbClr val="FFFFFF"/>
            </a:solidFill>
            <a:prstDash val="solid"/>
          </a:ln>
        </p:spPr>
      </p:sp>
      <p:sp>
        <p:nvSpPr>
          <p:cNvPr id="14" name="Text 11"/>
          <p:cNvSpPr/>
          <p:nvPr/>
        </p:nvSpPr>
        <p:spPr>
          <a:xfrm>
            <a:off x="7978140" y="3922776"/>
            <a:ext cx="233172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Secondary Storage</a:t>
            </a:r>
            <a:endParaRPr lang="en-US" sz="1300" dirty="0"/>
          </a:p>
        </p:txBody>
      </p:sp>
      <p:sp>
        <p:nvSpPr>
          <p:cNvPr id="15" name="Text 12"/>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6" name="Text 1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sync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Cache Works — Principle of Locality</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Temporal locality: a location accessed once is likely accessed again soon</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Spatial locality: nearby locations are likely to be accessed soon too</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Programs naturally show both — loops (temporal), array traversal (spatial)</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Cache exploits locality by keeping recently/nearby-used data close to the CPU</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box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Is Cache Memory, Structurally?</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6035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Divided into fixed-size lines/blocks (e.g. 32 or 64 bytes each)</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Each line stores: data, a tag (identifies the source block), and a valid bit</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On a CPU request, cache checks: "Do I have this address's data?" → Hit or Miss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A cache hit is fast; a cache miss requires fetching from slower main memory</a:t>
            </a:r>
            <a:endParaRPr lang="en-US" sz="2000" dirty="0"/>
          </a:p>
        </p:txBody>
      </p:sp>
      <p:sp>
        <p:nvSpPr>
          <p:cNvPr id="7" name="Shape 4"/>
          <p:cNvSpPr/>
          <p:nvPr/>
        </p:nvSpPr>
        <p:spPr>
          <a:xfrm>
            <a:off x="7498080" y="2103120"/>
            <a:ext cx="822960" cy="914400"/>
          </a:xfrm>
          <a:prstGeom prst="rect">
            <a:avLst/>
          </a:prstGeom>
          <a:solidFill>
            <a:srgbClr val="1E2761"/>
          </a:solidFill>
          <a:ln w="19050">
            <a:solidFill>
              <a:srgbClr val="FFFFFF"/>
            </a:solidFill>
            <a:prstDash val="solid"/>
          </a:ln>
        </p:spPr>
      </p:sp>
      <p:sp>
        <p:nvSpPr>
          <p:cNvPr id="8" name="Text 5"/>
          <p:cNvSpPr/>
          <p:nvPr/>
        </p:nvSpPr>
        <p:spPr>
          <a:xfrm>
            <a:off x="7498080" y="2103120"/>
            <a:ext cx="822960" cy="914400"/>
          </a:xfrm>
          <a:prstGeom prst="rect">
            <a:avLst/>
          </a:prstGeom>
          <a:noFill/>
          <a:ln/>
        </p:spPr>
        <p:txBody>
          <a:bodyPr wrap="square" lIns="0" tIns="0" rIns="0" bIns="0" rtlCol="0" anchor="ctr"/>
          <a:lstStyle/>
          <a:p>
            <a:pPr algn="ctr" indent="0" marL="0">
              <a:buNone/>
            </a:pPr>
            <a:r>
              <a:rPr lang="en-US" sz="1300" b="1" dirty="0">
                <a:solidFill>
                  <a:srgbClr val="D4AF37"/>
                </a:solidFill>
                <a:latin typeface="Calibri" pitchFamily="34" charset="0"/>
                <a:ea typeface="Calibri" pitchFamily="34" charset="-122"/>
                <a:cs typeface="Calibri" pitchFamily="34" charset="-120"/>
              </a:rPr>
              <a:t>Valid</a:t>
            </a:r>
            <a:endParaRPr lang="en-US" sz="1300" dirty="0"/>
          </a:p>
        </p:txBody>
      </p:sp>
      <p:sp>
        <p:nvSpPr>
          <p:cNvPr id="9" name="Shape 6"/>
          <p:cNvSpPr/>
          <p:nvPr/>
        </p:nvSpPr>
        <p:spPr>
          <a:xfrm>
            <a:off x="8321040" y="2103120"/>
            <a:ext cx="1188720" cy="914400"/>
          </a:xfrm>
          <a:prstGeom prst="rect">
            <a:avLst/>
          </a:prstGeom>
          <a:solidFill>
            <a:srgbClr val="1E2761"/>
          </a:solidFill>
          <a:ln w="19050">
            <a:solidFill>
              <a:srgbClr val="FFFFFF"/>
            </a:solidFill>
            <a:prstDash val="solid"/>
          </a:ln>
        </p:spPr>
      </p:sp>
      <p:sp>
        <p:nvSpPr>
          <p:cNvPr id="10" name="Text 7"/>
          <p:cNvSpPr/>
          <p:nvPr/>
        </p:nvSpPr>
        <p:spPr>
          <a:xfrm>
            <a:off x="8321040" y="2103120"/>
            <a:ext cx="1188720" cy="914400"/>
          </a:xfrm>
          <a:prstGeom prst="rect">
            <a:avLst/>
          </a:prstGeom>
          <a:noFill/>
          <a:ln/>
        </p:spPr>
        <p:txBody>
          <a:bodyPr wrap="square" lIns="0" tIns="0" rIns="0" bIns="0" rtlCol="0" anchor="ctr"/>
          <a:lstStyle/>
          <a:p>
            <a:pPr algn="ctr" indent="0" marL="0">
              <a:buNone/>
            </a:pPr>
            <a:r>
              <a:rPr lang="en-US" sz="1300" b="1" dirty="0">
                <a:solidFill>
                  <a:srgbClr val="D4AF37"/>
                </a:solidFill>
                <a:latin typeface="Calibri" pitchFamily="34" charset="0"/>
                <a:ea typeface="Calibri" pitchFamily="34" charset="-122"/>
                <a:cs typeface="Calibri" pitchFamily="34" charset="-120"/>
              </a:rPr>
              <a:t>Tag</a:t>
            </a:r>
            <a:endParaRPr lang="en-US" sz="1300" dirty="0"/>
          </a:p>
        </p:txBody>
      </p:sp>
      <p:sp>
        <p:nvSpPr>
          <p:cNvPr id="11" name="Shape 8"/>
          <p:cNvSpPr/>
          <p:nvPr/>
        </p:nvSpPr>
        <p:spPr>
          <a:xfrm>
            <a:off x="9509760" y="2103120"/>
            <a:ext cx="1371600" cy="914400"/>
          </a:xfrm>
          <a:prstGeom prst="rect">
            <a:avLst/>
          </a:prstGeom>
          <a:solidFill>
            <a:srgbClr val="1E2761"/>
          </a:solidFill>
          <a:ln w="19050">
            <a:solidFill>
              <a:srgbClr val="FFFFFF"/>
            </a:solidFill>
            <a:prstDash val="solid"/>
          </a:ln>
        </p:spPr>
      </p:sp>
      <p:sp>
        <p:nvSpPr>
          <p:cNvPr id="12" name="Text 9"/>
          <p:cNvSpPr/>
          <p:nvPr/>
        </p:nvSpPr>
        <p:spPr>
          <a:xfrm>
            <a:off x="9509760" y="2103120"/>
            <a:ext cx="1371600" cy="914400"/>
          </a:xfrm>
          <a:prstGeom prst="rect">
            <a:avLst/>
          </a:prstGeom>
          <a:noFill/>
          <a:ln/>
        </p:spPr>
        <p:txBody>
          <a:bodyPr wrap="square" lIns="0" tIns="0" rIns="0" bIns="0" rtlCol="0" anchor="ctr"/>
          <a:lstStyle/>
          <a:p>
            <a:pPr algn="ctr" indent="0" marL="0">
              <a:buNone/>
            </a:pPr>
            <a:r>
              <a:rPr lang="en-US" sz="1300" b="1" dirty="0">
                <a:solidFill>
                  <a:srgbClr val="D4AF37"/>
                </a:solidFill>
                <a:latin typeface="Calibri" pitchFamily="34" charset="0"/>
                <a:ea typeface="Calibri" pitchFamily="34" charset="-122"/>
                <a:cs typeface="Calibri" pitchFamily="34" charset="-120"/>
              </a:rPr>
              <a:t>Data</a:t>
            </a:r>
            <a:endParaRPr lang="en-US" sz="1300" dirty="0"/>
          </a:p>
        </p:txBody>
      </p:sp>
      <p:sp>
        <p:nvSpPr>
          <p:cNvPr id="13" name="Text 10"/>
          <p:cNvSpPr/>
          <p:nvPr/>
        </p:nvSpPr>
        <p:spPr>
          <a:xfrm>
            <a:off x="7498080" y="3154680"/>
            <a:ext cx="3383280" cy="36576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One cache line</a:t>
            </a:r>
            <a:endParaRPr lang="en-US" sz="1200" dirty="0"/>
          </a:p>
        </p:txBody>
      </p:sp>
      <p:sp>
        <p:nvSpPr>
          <p:cNvPr id="14" name="Text 11"/>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5"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ruler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Address Breakdown — Tag, Index, Offset</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6035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Offset: which byte within the block (depends on block size)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Index/Line: which cache line this address could map to (depends on mapping type)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Tag: remaining bits, stored to verify a match</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Offset bits = log₂(block size)</a:t>
            </a:r>
            <a:endParaRPr lang="en-US" sz="2000" dirty="0"/>
          </a:p>
        </p:txBody>
      </p:sp>
      <p:sp>
        <p:nvSpPr>
          <p:cNvPr id="7" name="Shape 4"/>
          <p:cNvSpPr/>
          <p:nvPr/>
        </p:nvSpPr>
        <p:spPr>
          <a:xfrm>
            <a:off x="7315200" y="2926080"/>
            <a:ext cx="1645920" cy="822960"/>
          </a:xfrm>
          <a:prstGeom prst="rect">
            <a:avLst/>
          </a:prstGeom>
          <a:solidFill>
            <a:srgbClr val="1E2761"/>
          </a:solidFill>
          <a:ln w="19050">
            <a:solidFill>
              <a:srgbClr val="FFFFFF"/>
            </a:solidFill>
            <a:prstDash val="solid"/>
          </a:ln>
        </p:spPr>
      </p:sp>
      <p:sp>
        <p:nvSpPr>
          <p:cNvPr id="8" name="Text 5"/>
          <p:cNvSpPr/>
          <p:nvPr/>
        </p:nvSpPr>
        <p:spPr>
          <a:xfrm>
            <a:off x="7315200" y="2926080"/>
            <a:ext cx="1645920" cy="822960"/>
          </a:xfrm>
          <a:prstGeom prst="rect">
            <a:avLst/>
          </a:prstGeom>
          <a:noFill/>
          <a:ln/>
        </p:spPr>
        <p:txBody>
          <a:bodyPr wrap="square" lIns="0" tIns="0" rIns="0" bIns="0" rtlCol="0" anchor="ctr"/>
          <a:lstStyle/>
          <a:p>
            <a:pPr algn="ctr" indent="0" marL="0">
              <a:buNone/>
            </a:pPr>
            <a:r>
              <a:rPr lang="en-US" sz="1300" b="1" dirty="0">
                <a:solidFill>
                  <a:srgbClr val="D4AF37"/>
                </a:solidFill>
                <a:latin typeface="Calibri" pitchFamily="34" charset="0"/>
                <a:ea typeface="Calibri" pitchFamily="34" charset="-122"/>
                <a:cs typeface="Calibri" pitchFamily="34" charset="-120"/>
              </a:rPr>
              <a:t>Tag</a:t>
            </a:r>
            <a:endParaRPr lang="en-US" sz="1300" dirty="0"/>
          </a:p>
        </p:txBody>
      </p:sp>
      <p:sp>
        <p:nvSpPr>
          <p:cNvPr id="9" name="Shape 6"/>
          <p:cNvSpPr/>
          <p:nvPr/>
        </p:nvSpPr>
        <p:spPr>
          <a:xfrm>
            <a:off x="8961120" y="2926080"/>
            <a:ext cx="1188720" cy="822960"/>
          </a:xfrm>
          <a:prstGeom prst="rect">
            <a:avLst/>
          </a:prstGeom>
          <a:solidFill>
            <a:srgbClr val="CADCFC"/>
          </a:solidFill>
          <a:ln w="19050">
            <a:solidFill>
              <a:srgbClr val="FFFFFF"/>
            </a:solidFill>
            <a:prstDash val="solid"/>
          </a:ln>
        </p:spPr>
      </p:sp>
      <p:sp>
        <p:nvSpPr>
          <p:cNvPr id="10" name="Text 7"/>
          <p:cNvSpPr/>
          <p:nvPr/>
        </p:nvSpPr>
        <p:spPr>
          <a:xfrm>
            <a:off x="8961120" y="2926080"/>
            <a:ext cx="1188720" cy="8229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Index</a:t>
            </a:r>
            <a:endParaRPr lang="en-US" sz="1300" dirty="0"/>
          </a:p>
        </p:txBody>
      </p:sp>
      <p:sp>
        <p:nvSpPr>
          <p:cNvPr id="11" name="Shape 8"/>
          <p:cNvSpPr/>
          <p:nvPr/>
        </p:nvSpPr>
        <p:spPr>
          <a:xfrm>
            <a:off x="10149840" y="2926080"/>
            <a:ext cx="822960" cy="822960"/>
          </a:xfrm>
          <a:prstGeom prst="rect">
            <a:avLst/>
          </a:prstGeom>
          <a:solidFill>
            <a:srgbClr val="D4AF37"/>
          </a:solidFill>
          <a:ln w="19050">
            <a:solidFill>
              <a:srgbClr val="FFFFFF"/>
            </a:solidFill>
            <a:prstDash val="solid"/>
          </a:ln>
        </p:spPr>
      </p:sp>
      <p:sp>
        <p:nvSpPr>
          <p:cNvPr id="12" name="Text 9"/>
          <p:cNvSpPr/>
          <p:nvPr/>
        </p:nvSpPr>
        <p:spPr>
          <a:xfrm>
            <a:off x="10149840" y="2926080"/>
            <a:ext cx="822960" cy="8229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Offset</a:t>
            </a:r>
            <a:endParaRPr lang="en-US" sz="1300" dirty="0"/>
          </a:p>
        </p:txBody>
      </p:sp>
      <p:sp>
        <p:nvSpPr>
          <p:cNvPr id="13" name="Text 10"/>
          <p:cNvSpPr/>
          <p:nvPr/>
        </p:nvSpPr>
        <p:spPr>
          <a:xfrm>
            <a:off x="7315200" y="2560320"/>
            <a:ext cx="3657600" cy="32004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32-bit memory address</a:t>
            </a:r>
            <a:endParaRPr lang="en-US" sz="1200" dirty="0"/>
          </a:p>
        </p:txBody>
      </p:sp>
      <p:sp>
        <p:nvSpPr>
          <p:cNvPr id="14" name="Text 11"/>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5"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arrow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Mapping Technique 1 — Direct Mapping</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Each main memory block maps to exactly one cache line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Line = Block number MOD number of cache lines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Simple hardware, very fast lookup</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Drawback: two blocks sharing a line evict each other repeatedly ("thrashing")</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project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Mapping Technique 2 — Fully Associative</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A memory block can go into any cache line — no fixed rule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No index bits needed — the entire address (minus offset) is the tag</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Requires checking all tags in parallel (a comparator per line)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Very flexible, but expensive and power-hungry for large caches</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object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Mapping Technique 3 — Set-Associative</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A compromise between direct and fully associative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Cache divided into sets, each containing k lines ("k-way set associative")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A block maps to exactly one set, but any line within that set</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Common in real CPUs: 4-way, 8-way, 16-way set-associative caches</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balance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Comparing the Three Techniques</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22960" y="1920240"/>
          <a:ext cx="10515600" cy="2743200"/>
        </p:xfrm>
        <a:graphic>
          <a:graphicData uri="http://schemas.openxmlformats.org/drawingml/2006/table">
            <a:tbl>
              <a:tblPr/>
              <a:tblGrid>
                <a:gridCol w="2628900"/>
                <a:gridCol w="2628900"/>
                <a:gridCol w="2628900"/>
                <a:gridCol w="2628900"/>
              </a:tblGrid>
              <a:tr h="68580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Technique</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Placement Flexibility</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Hardware Cost</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Thrashing Risk</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685800">
                <a:tc>
                  <a:txBody>
                    <a:bodyPr/>
                    <a:lstStyle/>
                    <a:p>
                      <a:pPr algn="ctr" indent="0" marL="0">
                        <a:buNone/>
                      </a:pPr>
                      <a:r>
                        <a:rPr lang="en-US" sz="1800" dirty="0">
                          <a:solidFill>
                            <a:srgbClr val="2A2A3C"/>
                          </a:solidFill>
                          <a:latin typeface="Calibri" pitchFamily="34" charset="0"/>
                          <a:ea typeface="Calibri" pitchFamily="34" charset="-122"/>
                          <a:cs typeface="Calibri" pitchFamily="34" charset="-120"/>
                        </a:rPr>
                        <a:t>Direct Mapped</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800" dirty="0">
                          <a:solidFill>
                            <a:srgbClr val="2A2A3C"/>
                          </a:solidFill>
                          <a:latin typeface="Calibri" pitchFamily="34" charset="0"/>
                          <a:ea typeface="Calibri" pitchFamily="34" charset="-122"/>
                          <a:cs typeface="Calibri" pitchFamily="34" charset="-120"/>
                        </a:rPr>
                        <a:t>1 specific line</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800" dirty="0">
                          <a:solidFill>
                            <a:srgbClr val="2A2A3C"/>
                          </a:solidFill>
                          <a:latin typeface="Calibri" pitchFamily="34" charset="0"/>
                          <a:ea typeface="Calibri" pitchFamily="34" charset="-122"/>
                          <a:cs typeface="Calibri" pitchFamily="34" charset="-120"/>
                        </a:rPr>
                        <a:t>Lowest</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800" dirty="0">
                          <a:solidFill>
                            <a:srgbClr val="2A2A3C"/>
                          </a:solidFill>
                          <a:latin typeface="Calibri" pitchFamily="34" charset="0"/>
                          <a:ea typeface="Calibri" pitchFamily="34" charset="-122"/>
                          <a:cs typeface="Calibri" pitchFamily="34" charset="-120"/>
                        </a:rPr>
                        <a:t>Highest</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685800">
                <a:tc>
                  <a:txBody>
                    <a:bodyPr/>
                    <a:lstStyle/>
                    <a:p>
                      <a:pPr algn="ctr" indent="0" marL="0">
                        <a:buNone/>
                      </a:pPr>
                      <a:r>
                        <a:rPr lang="en-US" sz="1800" dirty="0">
                          <a:solidFill>
                            <a:srgbClr val="2A2A3C"/>
                          </a:solidFill>
                          <a:latin typeface="Calibri" pitchFamily="34" charset="0"/>
                          <a:ea typeface="Calibri" pitchFamily="34" charset="-122"/>
                          <a:cs typeface="Calibri" pitchFamily="34" charset="-120"/>
                        </a:rPr>
                        <a:t>Fully Associative</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800" dirty="0">
                          <a:solidFill>
                            <a:srgbClr val="2A2A3C"/>
                          </a:solidFill>
                          <a:latin typeface="Calibri" pitchFamily="34" charset="0"/>
                          <a:ea typeface="Calibri" pitchFamily="34" charset="-122"/>
                          <a:cs typeface="Calibri" pitchFamily="34" charset="-120"/>
                        </a:rPr>
                        <a:t>Any line</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800" dirty="0">
                          <a:solidFill>
                            <a:srgbClr val="2A2A3C"/>
                          </a:solidFill>
                          <a:latin typeface="Calibri" pitchFamily="34" charset="0"/>
                          <a:ea typeface="Calibri" pitchFamily="34" charset="-122"/>
                          <a:cs typeface="Calibri" pitchFamily="34" charset="-120"/>
                        </a:rPr>
                        <a:t>Highest</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800" dirty="0">
                          <a:solidFill>
                            <a:srgbClr val="2A2A3C"/>
                          </a:solidFill>
                          <a:latin typeface="Calibri" pitchFamily="34" charset="0"/>
                          <a:ea typeface="Calibri" pitchFamily="34" charset="-122"/>
                          <a:cs typeface="Calibri" pitchFamily="34" charset="-120"/>
                        </a:rPr>
                        <a:t>Lowest</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685800">
                <a:tc>
                  <a:txBody>
                    <a:bodyPr/>
                    <a:lstStyle/>
                    <a:p>
                      <a:pPr algn="ctr" indent="0" marL="0">
                        <a:buNone/>
                      </a:pPr>
                      <a:r>
                        <a:rPr lang="en-US" sz="1800" dirty="0">
                          <a:solidFill>
                            <a:srgbClr val="2A2A3C"/>
                          </a:solidFill>
                          <a:latin typeface="Calibri" pitchFamily="34" charset="0"/>
                          <a:ea typeface="Calibri" pitchFamily="34" charset="-122"/>
                          <a:cs typeface="Calibri" pitchFamily="34" charset="-120"/>
                        </a:rPr>
                        <a:t>Set-Associative</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800" dirty="0">
                          <a:solidFill>
                            <a:srgbClr val="2A2A3C"/>
                          </a:solidFill>
                          <a:latin typeface="Calibri" pitchFamily="34" charset="0"/>
                          <a:ea typeface="Calibri" pitchFamily="34" charset="-122"/>
                          <a:cs typeface="Calibri" pitchFamily="34" charset="-120"/>
                        </a:rPr>
                        <a:t>Any line within 1 set</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800" dirty="0">
                          <a:solidFill>
                            <a:srgbClr val="2A2A3C"/>
                          </a:solidFill>
                          <a:latin typeface="Calibri" pitchFamily="34" charset="0"/>
                          <a:ea typeface="Calibri" pitchFamily="34" charset="-122"/>
                          <a:cs typeface="Calibri" pitchFamily="34" charset="-120"/>
                        </a:rPr>
                        <a:t>Moderate</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800" dirty="0">
                          <a:solidFill>
                            <a:srgbClr val="2A2A3C"/>
                          </a:solidFill>
                          <a:latin typeface="Calibri" pitchFamily="34" charset="0"/>
                          <a:ea typeface="Calibri" pitchFamily="34" charset="-122"/>
                          <a:cs typeface="Calibri" pitchFamily="34" charset="-120"/>
                        </a:rPr>
                        <a:t>Moderate</a:t>
                      </a:r>
                      <a:endParaRPr lang="en-US" sz="18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bl>
          </a:graphicData>
        </a:graphic>
      </p:graphicFrame>
      <p:sp>
        <p:nvSpPr>
          <p:cNvPr id="7" name="Text 3"/>
          <p:cNvSpPr/>
          <p:nvPr/>
        </p:nvSpPr>
        <p:spPr>
          <a:xfrm>
            <a:off x="822960" y="5029200"/>
            <a:ext cx="10515600" cy="640080"/>
          </a:xfrm>
          <a:prstGeom prst="rect">
            <a:avLst/>
          </a:prstGeom>
          <a:noFill/>
          <a:ln/>
        </p:spPr>
        <p:txBody>
          <a:bodyPr wrap="square" lIns="0" tIns="0" rIns="0" bIns="0" rtlCol="0" anchor="ctr"/>
          <a:lstStyle/>
          <a:p>
            <a:pPr indent="0" marL="0">
              <a:buNone/>
            </a:pPr>
            <a:r>
              <a:rPr lang="en-US" sz="1600" i="1" dirty="0">
                <a:solidFill>
                  <a:srgbClr val="1E2761"/>
                </a:solidFill>
                <a:latin typeface="Calibri" pitchFamily="34" charset="0"/>
                <a:ea typeface="Calibri" pitchFamily="34" charset="-122"/>
                <a:cs typeface="Calibri" pitchFamily="34" charset="-120"/>
              </a:rPr>
              <a:t>Set-associative caching is the most common choice in real processors because it balances all three dimensions.</a:t>
            </a:r>
            <a:endParaRPr lang="en-US" sz="1600" dirty="0"/>
          </a:p>
        </p:txBody>
      </p:sp>
      <p:sp>
        <p:nvSpPr>
          <p:cNvPr id="8"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9"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calc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Worked Numerical — Direct Mapping</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Main memory = 4096 blocks; Cache = 128 lines (direct mapped)</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Which cache line does block number 260 map to?</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Line = Block number MOD number of cache lines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Line = 260 MOD 128 = 4   →   Block 260 maps to cache line 4</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calc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Worked Numerical — Address Bit Breakdown</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6035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32-bit address, direct-mapped cache = 64 KB, block size = 32 bytes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Offset bits = log₂(32) = 5</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Lines = 64KB / 32B = 2048  →  Index bits = log₂(2048) = 11</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Tag bits = 32 − (11 + 5) = 16</a:t>
            </a:r>
            <a:endParaRPr lang="en-US" sz="2000" dirty="0"/>
          </a:p>
        </p:txBody>
      </p:sp>
      <p:sp>
        <p:nvSpPr>
          <p:cNvPr id="7" name="Shape 4"/>
          <p:cNvSpPr/>
          <p:nvPr/>
        </p:nvSpPr>
        <p:spPr>
          <a:xfrm>
            <a:off x="7223760" y="4206240"/>
            <a:ext cx="1645920" cy="822960"/>
          </a:xfrm>
          <a:prstGeom prst="rect">
            <a:avLst/>
          </a:prstGeom>
          <a:solidFill>
            <a:srgbClr val="1E2761"/>
          </a:solidFill>
          <a:ln w="19050">
            <a:solidFill>
              <a:srgbClr val="FFFFFF"/>
            </a:solidFill>
            <a:prstDash val="solid"/>
          </a:ln>
        </p:spPr>
      </p:sp>
      <p:sp>
        <p:nvSpPr>
          <p:cNvPr id="8" name="Text 5"/>
          <p:cNvSpPr/>
          <p:nvPr/>
        </p:nvSpPr>
        <p:spPr>
          <a:xfrm>
            <a:off x="7223760" y="4206240"/>
            <a:ext cx="1645920" cy="8229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Tag</a:t>
            </a:r>
            <a:endParaRPr lang="en-US" sz="1200" dirty="0"/>
          </a:p>
          <a:p>
            <a:pPr algn="ctr" indent="0" marL="0">
              <a:buNone/>
            </a:pPr>
            <a:r>
              <a:rPr lang="en-US" sz="1200" b="1" dirty="0">
                <a:solidFill>
                  <a:srgbClr val="D4AF37"/>
                </a:solidFill>
                <a:latin typeface="Calibri" pitchFamily="34" charset="0"/>
                <a:ea typeface="Calibri" pitchFamily="34" charset="-122"/>
                <a:cs typeface="Calibri" pitchFamily="34" charset="-120"/>
              </a:rPr>
              <a:t>16b</a:t>
            </a:r>
            <a:endParaRPr lang="en-US" sz="1200" dirty="0"/>
          </a:p>
        </p:txBody>
      </p:sp>
      <p:sp>
        <p:nvSpPr>
          <p:cNvPr id="9" name="Shape 6"/>
          <p:cNvSpPr/>
          <p:nvPr/>
        </p:nvSpPr>
        <p:spPr>
          <a:xfrm>
            <a:off x="8869680" y="4206240"/>
            <a:ext cx="1188720" cy="822960"/>
          </a:xfrm>
          <a:prstGeom prst="rect">
            <a:avLst/>
          </a:prstGeom>
          <a:solidFill>
            <a:srgbClr val="CADCFC"/>
          </a:solidFill>
          <a:ln w="19050">
            <a:solidFill>
              <a:srgbClr val="FFFFFF"/>
            </a:solidFill>
            <a:prstDash val="solid"/>
          </a:ln>
        </p:spPr>
      </p:sp>
      <p:sp>
        <p:nvSpPr>
          <p:cNvPr id="10" name="Text 7"/>
          <p:cNvSpPr/>
          <p:nvPr/>
        </p:nvSpPr>
        <p:spPr>
          <a:xfrm>
            <a:off x="8869680" y="4206240"/>
            <a:ext cx="1188720" cy="82296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Index</a:t>
            </a:r>
            <a:endParaRPr lang="en-US" sz="1200" dirty="0"/>
          </a:p>
          <a:p>
            <a:pPr algn="ctr" indent="0" marL="0">
              <a:buNone/>
            </a:pPr>
            <a:r>
              <a:rPr lang="en-US" sz="1200" b="1" dirty="0">
                <a:solidFill>
                  <a:srgbClr val="1E2761"/>
                </a:solidFill>
                <a:latin typeface="Calibri" pitchFamily="34" charset="0"/>
                <a:ea typeface="Calibri" pitchFamily="34" charset="-122"/>
                <a:cs typeface="Calibri" pitchFamily="34" charset="-120"/>
              </a:rPr>
              <a:t>11b</a:t>
            </a:r>
            <a:endParaRPr lang="en-US" sz="1200" dirty="0"/>
          </a:p>
        </p:txBody>
      </p:sp>
      <p:sp>
        <p:nvSpPr>
          <p:cNvPr id="11" name="Shape 8"/>
          <p:cNvSpPr/>
          <p:nvPr/>
        </p:nvSpPr>
        <p:spPr>
          <a:xfrm>
            <a:off x="10058400" y="4206240"/>
            <a:ext cx="822960" cy="822960"/>
          </a:xfrm>
          <a:prstGeom prst="rect">
            <a:avLst/>
          </a:prstGeom>
          <a:solidFill>
            <a:srgbClr val="D4AF37"/>
          </a:solidFill>
          <a:ln w="19050">
            <a:solidFill>
              <a:srgbClr val="FFFFFF"/>
            </a:solidFill>
            <a:prstDash val="solid"/>
          </a:ln>
        </p:spPr>
      </p:sp>
      <p:sp>
        <p:nvSpPr>
          <p:cNvPr id="12" name="Text 9"/>
          <p:cNvSpPr/>
          <p:nvPr/>
        </p:nvSpPr>
        <p:spPr>
          <a:xfrm>
            <a:off x="10058400" y="4206240"/>
            <a:ext cx="822960" cy="82296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Off</a:t>
            </a:r>
            <a:endParaRPr lang="en-US" sz="1200" dirty="0"/>
          </a:p>
          <a:p>
            <a:pPr algn="ctr" indent="0" marL="0">
              <a:buNone/>
            </a:pPr>
            <a:r>
              <a:rPr lang="en-US" sz="1200" b="1" dirty="0">
                <a:solidFill>
                  <a:srgbClr val="1E2761"/>
                </a:solidFill>
                <a:latin typeface="Calibri" pitchFamily="34" charset="0"/>
                <a:ea typeface="Calibri" pitchFamily="34" charset="-122"/>
                <a:cs typeface="Calibri" pitchFamily="34" charset="-120"/>
              </a:rPr>
              <a:t>5b</a:t>
            </a:r>
            <a:endParaRPr lang="en-US" sz="1200" dirty="0"/>
          </a:p>
        </p:txBody>
      </p:sp>
      <p:sp>
        <p:nvSpPr>
          <p:cNvPr id="13" name="Text 10"/>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4" name="Text 1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calc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Worked Numerical — Set-Associative Mapping</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Cache has 256 lines, 4-way set-associative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How many sets? How many index bits?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Sets = Total lines / Ways = 256 / 4 = 64 sets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Index bits = log₂(64) = 6  (tag still compared against all 4 lines in the set)</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warn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Common Misconceptions &amp; Pitfalls</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"Bigger cache always means proportionally faster" — depends on locality of access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"Fully associative is always best" — most flexible, but not most cost-effective at scale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Pitfall: offset bits depend on block size, not cache size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Pitfall: confusing "line/block number" with "byte address" in calculations</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clock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Mini Activity — Quick Check</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Shape 3"/>
          <p:cNvSpPr/>
          <p:nvPr/>
        </p:nvSpPr>
        <p:spPr>
          <a:xfrm>
            <a:off x="822960" y="1920240"/>
            <a:ext cx="10515600" cy="2377440"/>
          </a:xfrm>
          <a:prstGeom prst="roundRect">
            <a:avLst>
              <a:gd name="adj" fmla="val 3846"/>
            </a:avLst>
          </a:prstGeom>
          <a:solidFill>
            <a:srgbClr val="FFFFFF"/>
          </a:solidFill>
          <a:ln w="19050">
            <a:solidFill>
              <a:srgbClr val="CADCFC"/>
            </a:solidFill>
            <a:prstDash val="solid"/>
          </a:ln>
        </p:spPr>
      </p:sp>
      <p:sp>
        <p:nvSpPr>
          <p:cNvPr id="7" name="Text 4"/>
          <p:cNvSpPr/>
          <p:nvPr/>
        </p:nvSpPr>
        <p:spPr>
          <a:xfrm>
            <a:off x="1188720" y="2194560"/>
            <a:ext cx="9784080" cy="118872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In pairs: A cache has 32 lines, direct mapped.</a:t>
            </a:r>
            <a:endParaRPr lang="en-US" sz="2200" dirty="0"/>
          </a:p>
          <a:p>
            <a:pPr algn="ctr" indent="0" marL="0">
              <a:buNone/>
            </a:pPr>
            <a:r>
              <a:rPr lang="en-US" sz="2200" b="1" dirty="0">
                <a:solidFill>
                  <a:srgbClr val="1E2761"/>
                </a:solidFill>
                <a:latin typeface="Cambria" pitchFamily="34" charset="0"/>
                <a:ea typeface="Cambria" pitchFamily="34" charset="-122"/>
                <a:cs typeface="Cambria" pitchFamily="34" charset="-120"/>
              </a:rPr>
              <a:t>Which line does block number 100 map to?</a:t>
            </a:r>
            <a:endParaRPr lang="en-US" sz="2200" dirty="0"/>
          </a:p>
        </p:txBody>
      </p:sp>
      <p:sp>
        <p:nvSpPr>
          <p:cNvPr id="8" name="Text 5"/>
          <p:cNvSpPr/>
          <p:nvPr/>
        </p:nvSpPr>
        <p:spPr>
          <a:xfrm>
            <a:off x="1188720" y="3429000"/>
            <a:ext cx="9784080" cy="548640"/>
          </a:xfrm>
          <a:prstGeom prst="rect">
            <a:avLst/>
          </a:prstGeom>
          <a:noFill/>
          <a:ln/>
        </p:spPr>
        <p:txBody>
          <a:bodyPr wrap="square" lIns="0" tIns="0" rIns="0" bIns="0" rtlCol="0" anchor="ctr"/>
          <a:lstStyle/>
          <a:p>
            <a:pPr algn="ctr" indent="0" marL="0">
              <a:buNone/>
            </a:pPr>
            <a:r>
              <a:rPr lang="en-US" sz="1500" i="1" dirty="0">
                <a:solidFill>
                  <a:srgbClr val="6B7280"/>
                </a:solidFill>
                <a:latin typeface="Calibri" pitchFamily="34" charset="0"/>
                <a:ea typeface="Calibri" pitchFamily="34" charset="-122"/>
                <a:cs typeface="Calibri" pitchFamily="34" charset="-120"/>
              </a:rPr>
              <a:t>Hint: use the modulo rule.   |   Take 90 seconds.</a:t>
            </a:r>
            <a:endParaRPr lang="en-US" sz="1500" dirty="0"/>
          </a:p>
        </p:txBody>
      </p:sp>
      <p:sp>
        <p:nvSpPr>
          <p:cNvPr id="9" name="Text 6"/>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0"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check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Summary of Key Points</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Memory chips: n address lines → 2ⁿ locations; capacity = locations × word size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Chips combine via shared address lines (wider word) or Chip Select (more locations)</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Cache exploits temporal &amp; spatial locality to bridge the CPU–memory speed gap</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Three mapping techniques: Direct (1 line), Fully Associative (any line), Set-Associative</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Address splits into Tag + Index + Offset for every cache lookup</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D4AF37"/>
          </a:solidFill>
          <a:ln/>
          <a:effectLst>
            <a:outerShdw sx="100000" sy="100000" kx="0" ky="0" algn="bl" rotWithShape="0" blurRad="76200" dist="25400" dir="5400000">
              <a:srgbClr val="000000">
                <a:alpha val="25000"/>
              </a:srgbClr>
            </a:outerShdw>
          </a:effectLst>
        </p:spPr>
      </p:sp>
      <p:pic>
        <p:nvPicPr>
          <p:cNvPr id="3" name="Image 0" descr="icons/question_navy.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Quiz — Memory Chips &amp; Cache Mapping</a:t>
            </a:r>
            <a:endParaRPr lang="en-US" sz="2700" dirty="0"/>
          </a:p>
        </p:txBody>
      </p:sp>
      <p:sp>
        <p:nvSpPr>
          <p:cNvPr id="5" name="Text 2"/>
          <p:cNvSpPr txBox="1"/>
          <p:nvPr/>
        </p:nvSpPr>
        <p:spPr>
          <a:xfrm>
            <a:off x="822960" y="1508760"/>
            <a:ext cx="10515600" cy="4846320"/>
          </a:xfrm>
          <a:prstGeom prst="rect">
            <a:avLst/>
          </a:prstGeom>
          <a:noFill/>
          <a:ln/>
        </p:spPr>
        <p:txBody>
          <a:bodyPr wrap="square" lIns="0" tIns="0" rIns="0" bIns="0" rtlCol="0" anchor="t"/>
          <a:lstStyle/>
          <a:p>
            <a:pPr marL="342900" indent="-342900">
              <a:lnSpc>
                <a:spcPct val="105000"/>
              </a:lnSpc>
              <a:spcAft>
                <a:spcPts val="1500"/>
              </a:spcAft>
              <a:buSzPct val="100000"/>
              <a:buChar char="▪"/>
            </a:pPr>
            <a:r>
              <a:rPr lang="en-US" sz="1700" dirty="0">
                <a:solidFill>
                  <a:srgbClr val="FFFFFF"/>
                </a:solidFill>
                <a:latin typeface="Calibri" pitchFamily="34" charset="0"/>
                <a:ea typeface="Calibri" pitchFamily="34" charset="-122"/>
                <a:cs typeface="Calibri" pitchFamily="34" charset="-120"/>
              </a:rPr>
              <a:t>Q1. A chip has 12 address lines. How many locations can it address? (a) 1024 (b) 2048 (c) 4096 (d) 8192</a:t>
            </a:r>
            <a:endParaRPr lang="en-US" sz="1700" dirty="0"/>
          </a:p>
          <a:p>
            <a:pPr marL="342900" indent="-342900">
              <a:lnSpc>
                <a:spcPct val="105000"/>
              </a:lnSpc>
              <a:spcAft>
                <a:spcPts val="1500"/>
              </a:spcAft>
              <a:buSzPct val="100000"/>
              <a:buChar char="▪"/>
            </a:pPr>
            <a:r>
              <a:rPr lang="en-US" sz="1700" dirty="0">
                <a:solidFill>
                  <a:srgbClr val="FFFFFF"/>
                </a:solidFill>
                <a:latin typeface="Calibri" pitchFamily="34" charset="0"/>
                <a:ea typeface="Calibri" pitchFamily="34" charset="-122"/>
                <a:cs typeface="Calibri" pitchFamily="34" charset="-120"/>
              </a:rPr>
              <a:t>Q2. True/False: Fully associative mapping requires index bits to locate a cache line.</a:t>
            </a:r>
            <a:endParaRPr lang="en-US" sz="1700" dirty="0"/>
          </a:p>
          <a:p>
            <a:pPr marL="342900" indent="-342900">
              <a:lnSpc>
                <a:spcPct val="105000"/>
              </a:lnSpc>
              <a:spcAft>
                <a:spcPts val="1500"/>
              </a:spcAft>
              <a:buSzPct val="100000"/>
              <a:buChar char="▪"/>
            </a:pPr>
            <a:r>
              <a:rPr lang="en-US" sz="1700" dirty="0">
                <a:solidFill>
                  <a:srgbClr val="FFFFFF"/>
                </a:solidFill>
                <a:latin typeface="Calibri" pitchFamily="34" charset="0"/>
                <a:ea typeface="Calibri" pitchFamily="34" charset="-122"/>
                <a:cs typeface="Calibri" pitchFamily="34" charset="-120"/>
              </a:rPr>
              <a:t>Q3. In a "2K × 16" chip, how many data lines are needed? (a) 8 (b) 11 (c) 16 (d) 2048</a:t>
            </a:r>
            <a:endParaRPr lang="en-US" sz="1700" dirty="0"/>
          </a:p>
          <a:p>
            <a:pPr marL="342900" indent="-342900">
              <a:lnSpc>
                <a:spcPct val="105000"/>
              </a:lnSpc>
              <a:spcAft>
                <a:spcPts val="1500"/>
              </a:spcAft>
              <a:buSzPct val="100000"/>
              <a:buChar char="▪"/>
            </a:pPr>
            <a:r>
              <a:rPr lang="en-US" sz="1700" dirty="0">
                <a:solidFill>
                  <a:srgbClr val="FFFFFF"/>
                </a:solidFill>
                <a:latin typeface="Calibri" pitchFamily="34" charset="0"/>
                <a:ea typeface="Calibri" pitchFamily="34" charset="-122"/>
                <a:cs typeface="Calibri" pitchFamily="34" charset="-120"/>
              </a:rPr>
              <a:t>Q4. In one sentence: why is set-associative mapping a compromise between direct and fully associative?</a:t>
            </a:r>
            <a:endParaRPr lang="en-US" sz="1700" dirty="0"/>
          </a:p>
          <a:p>
            <a:pPr marL="342900" indent="-342900">
              <a:lnSpc>
                <a:spcPct val="105000"/>
              </a:lnSpc>
              <a:spcAft>
                <a:spcPts val="1500"/>
              </a:spcAft>
              <a:buSzPct val="100000"/>
              <a:buChar char="▪"/>
            </a:pPr>
            <a:r>
              <a:rPr lang="en-US" sz="1700" dirty="0">
                <a:solidFill>
                  <a:srgbClr val="FFFFFF"/>
                </a:solidFill>
                <a:latin typeface="Calibri" pitchFamily="34" charset="0"/>
                <a:ea typeface="Calibri" pitchFamily="34" charset="-122"/>
                <a:cs typeface="Calibri" pitchFamily="34" charset="-120"/>
              </a:rPr>
              <a:t>Q5. A cache has 512 lines, 8-way set associative. How many sets exist? (a) 32 (b) 64 (c) 128 (d) 512</a:t>
            </a:r>
            <a:endParaRPr lang="en-US" sz="1700" dirty="0"/>
          </a:p>
          <a:p>
            <a:pPr marL="342900" indent="-342900">
              <a:lnSpc>
                <a:spcPct val="105000"/>
              </a:lnSpc>
              <a:spcAft>
                <a:spcPts val="1500"/>
              </a:spcAft>
              <a:buSzPct val="100000"/>
              <a:buChar char="▪"/>
            </a:pPr>
            <a:r>
              <a:rPr lang="en-US" sz="1700" dirty="0">
                <a:solidFill>
                  <a:srgbClr val="FFFFFF"/>
                </a:solidFill>
                <a:latin typeface="Calibri" pitchFamily="34" charset="0"/>
                <a:ea typeface="Calibri" pitchFamily="34" charset="-122"/>
                <a:cs typeface="Calibri" pitchFamily="34" charset="-120"/>
              </a:rPr>
              <a:t>Q6. True/False: Offset bit-width depends on cache size, not block size.</a:t>
            </a:r>
            <a:endParaRPr lang="en-US" sz="1700" dirty="0"/>
          </a:p>
        </p:txBody>
      </p:sp>
      <p:sp>
        <p:nvSpPr>
          <p:cNvPr id="6" name="Text 3"/>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7" name="Text 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D4AF37"/>
          </a:solidFill>
          <a:ln/>
          <a:effectLst>
            <a:outerShdw sx="100000" sy="100000" kx="0" ky="0" algn="bl" rotWithShape="0" blurRad="76200" dist="25400" dir="5400000">
              <a:srgbClr val="000000">
                <a:alpha val="25000"/>
              </a:srgbClr>
            </a:outerShdw>
          </a:effectLst>
        </p:spPr>
      </p:sp>
      <p:pic>
        <p:nvPicPr>
          <p:cNvPr id="3" name="Image 0" descr="icons/checksimple_navy.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Quiz Answers — Memory Chips &amp; Cache Mapping</a:t>
            </a:r>
            <a:endParaRPr lang="en-US" sz="2500" dirty="0"/>
          </a:p>
        </p:txBody>
      </p:sp>
      <p:sp>
        <p:nvSpPr>
          <p:cNvPr id="5" name="Text 2"/>
          <p:cNvSpPr txBox="1"/>
          <p:nvPr/>
        </p:nvSpPr>
        <p:spPr>
          <a:xfrm>
            <a:off x="822960" y="1508760"/>
            <a:ext cx="10515600" cy="4846320"/>
          </a:xfrm>
          <a:prstGeom prst="rect">
            <a:avLst/>
          </a:prstGeom>
          <a:noFill/>
          <a:ln/>
        </p:spPr>
        <p:txBody>
          <a:bodyPr wrap="square" lIns="0" tIns="0" rIns="0" bIns="0" rtlCol="0" anchor="t"/>
          <a:lstStyle/>
          <a:p>
            <a:pPr marL="342900" indent="-342900">
              <a:lnSpc>
                <a:spcPct val="105000"/>
              </a:lnSpc>
              <a:spcAft>
                <a:spcPts val="1500"/>
              </a:spcAft>
              <a:buSzPct val="100000"/>
              <a:buChar char="✔"/>
            </a:pPr>
            <a:r>
              <a:rPr lang="en-US" sz="1600" dirty="0">
                <a:solidFill>
                  <a:srgbClr val="FFFFFF"/>
                </a:solidFill>
                <a:latin typeface="Calibri" pitchFamily="34" charset="0"/>
                <a:ea typeface="Calibri" pitchFamily="34" charset="-122"/>
                <a:cs typeface="Calibri" pitchFamily="34" charset="-120"/>
              </a:rPr>
              <a:t>A1. (c) 4096 — because 2¹² = 4096</a:t>
            </a:r>
            <a:endParaRPr lang="en-US" sz="1600" dirty="0"/>
          </a:p>
          <a:p>
            <a:pPr marL="342900" indent="-342900">
              <a:lnSpc>
                <a:spcPct val="105000"/>
              </a:lnSpc>
              <a:spcAft>
                <a:spcPts val="1500"/>
              </a:spcAft>
              <a:buSzPct val="100000"/>
              <a:buChar char="✔"/>
            </a:pPr>
            <a:r>
              <a:rPr lang="en-US" sz="1600" dirty="0">
                <a:solidFill>
                  <a:srgbClr val="FFFFFF"/>
                </a:solidFill>
                <a:latin typeface="Calibri" pitchFamily="34" charset="0"/>
                <a:ea typeface="Calibri" pitchFamily="34" charset="-122"/>
                <a:cs typeface="Calibri" pitchFamily="34" charset="-120"/>
              </a:rPr>
              <a:t>A2. False — fully associative needs no index; the whole address (minus offset) is the tag</a:t>
            </a:r>
            <a:endParaRPr lang="en-US" sz="1600" dirty="0"/>
          </a:p>
          <a:p>
            <a:pPr marL="342900" indent="-342900">
              <a:lnSpc>
                <a:spcPct val="105000"/>
              </a:lnSpc>
              <a:spcAft>
                <a:spcPts val="1500"/>
              </a:spcAft>
              <a:buSzPct val="100000"/>
              <a:buChar char="✔"/>
            </a:pPr>
            <a:r>
              <a:rPr lang="en-US" sz="1600" dirty="0">
                <a:solidFill>
                  <a:srgbClr val="FFFFFF"/>
                </a:solidFill>
                <a:latin typeface="Calibri" pitchFamily="34" charset="0"/>
                <a:ea typeface="Calibri" pitchFamily="34" charset="-122"/>
                <a:cs typeface="Calibri" pitchFamily="34" charset="-120"/>
              </a:rPr>
              <a:t>A3. (c) 16 — the "16" in "2K × 16" is the word size, which equals the number of data lines</a:t>
            </a:r>
            <a:endParaRPr lang="en-US" sz="1600" dirty="0"/>
          </a:p>
          <a:p>
            <a:pPr marL="342900" indent="-342900">
              <a:lnSpc>
                <a:spcPct val="105000"/>
              </a:lnSpc>
              <a:spcAft>
                <a:spcPts val="1500"/>
              </a:spcAft>
              <a:buSzPct val="100000"/>
              <a:buChar char="✔"/>
            </a:pPr>
            <a:r>
              <a:rPr lang="en-US" sz="1600" dirty="0">
                <a:solidFill>
                  <a:srgbClr val="FFFFFF"/>
                </a:solidFill>
                <a:latin typeface="Calibri" pitchFamily="34" charset="0"/>
                <a:ea typeface="Calibri" pitchFamily="34" charset="-122"/>
                <a:cs typeface="Calibri" pitchFamily="34" charset="-120"/>
              </a:rPr>
              <a:t>A4. It restricts a block to one set (like direct) but allows any line within that set (like fully associative)</a:t>
            </a:r>
            <a:endParaRPr lang="en-US" sz="1600" dirty="0"/>
          </a:p>
          <a:p>
            <a:pPr marL="342900" indent="-342900">
              <a:lnSpc>
                <a:spcPct val="105000"/>
              </a:lnSpc>
              <a:spcAft>
                <a:spcPts val="1500"/>
              </a:spcAft>
              <a:buSzPct val="100000"/>
              <a:buChar char="✔"/>
            </a:pPr>
            <a:r>
              <a:rPr lang="en-US" sz="1600" dirty="0">
                <a:solidFill>
                  <a:srgbClr val="FFFFFF"/>
                </a:solidFill>
                <a:latin typeface="Calibri" pitchFamily="34" charset="0"/>
                <a:ea typeface="Calibri" pitchFamily="34" charset="-122"/>
                <a:cs typeface="Calibri" pitchFamily="34" charset="-120"/>
              </a:rPr>
              <a:t>A5. (b) 64 — since 512 ÷ 8 = 64 sets</a:t>
            </a:r>
            <a:endParaRPr lang="en-US" sz="1600" dirty="0"/>
          </a:p>
          <a:p>
            <a:pPr marL="342900" indent="-342900">
              <a:lnSpc>
                <a:spcPct val="105000"/>
              </a:lnSpc>
              <a:spcAft>
                <a:spcPts val="1500"/>
              </a:spcAft>
              <a:buSzPct val="100000"/>
              <a:buChar char="✔"/>
            </a:pPr>
            <a:r>
              <a:rPr lang="en-US" sz="1600" dirty="0">
                <a:solidFill>
                  <a:srgbClr val="FFFFFF"/>
                </a:solidFill>
                <a:latin typeface="Calibri" pitchFamily="34" charset="0"/>
                <a:ea typeface="Calibri" pitchFamily="34" charset="-122"/>
                <a:cs typeface="Calibri" pitchFamily="34" charset="-120"/>
              </a:rPr>
              <a:t>A6. False — offset bit-width depends on block size (log₂ of block size), not cache size</a:t>
            </a:r>
            <a:endParaRPr lang="en-US" sz="1600" dirty="0"/>
          </a:p>
        </p:txBody>
      </p:sp>
      <p:sp>
        <p:nvSpPr>
          <p:cNvPr id="6" name="Text 3"/>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7" name="Text 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02920" y="457200"/>
            <a:ext cx="822960" cy="822960"/>
          </a:xfrm>
          <a:prstGeom prst="ellipse">
            <a:avLst/>
          </a:prstGeom>
          <a:solidFill>
            <a:srgbClr val="1E2761"/>
          </a:solidFill>
          <a:ln/>
          <a:effectLst>
            <a:outerShdw sx="100000" sy="100000" kx="0" ky="0" algn="bl" rotWithShape="0" blurRad="76200" dist="25400" dir="5400000">
              <a:srgbClr val="000000">
                <a:alpha val="25000"/>
              </a:srgbClr>
            </a:outerShdw>
          </a:effectLst>
        </p:spPr>
      </p:sp>
      <p:pic>
        <p:nvPicPr>
          <p:cNvPr id="3" name="Image 0" descr="icons/book_white.png">    </p:cNvPr>
          <p:cNvPicPr>
            <a:picLocks noChangeAspect="1"/>
          </p:cNvPicPr>
          <p:nvPr/>
        </p:nvPicPr>
        <p:blipFill>
          <a:blip r:embed="rId1"/>
          <a:stretch>
            <a:fillRect/>
          </a:stretch>
        </p:blipFill>
        <p:spPr>
          <a:xfrm>
            <a:off x="700430" y="654710"/>
            <a:ext cx="427939" cy="427939"/>
          </a:xfrm>
          <a:prstGeom prst="rect">
            <a:avLst/>
          </a:prstGeom>
        </p:spPr>
      </p:pic>
      <p:sp>
        <p:nvSpPr>
          <p:cNvPr id="4" name="Text 1"/>
          <p:cNvSpPr txBox="1"/>
          <p:nvPr/>
        </p:nvSpPr>
        <p:spPr>
          <a:xfrm>
            <a:off x="1508760" y="411480"/>
            <a:ext cx="10149840" cy="9144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Further Reading &amp; What's Next</a:t>
            </a:r>
            <a:endParaRPr lang="en-US" sz="3000" dirty="0"/>
          </a:p>
        </p:txBody>
      </p:sp>
      <p:sp>
        <p:nvSpPr>
          <p:cNvPr id="5" name="Shape 2"/>
          <p:cNvSpPr/>
          <p:nvPr/>
        </p:nvSpPr>
        <p:spPr>
          <a:xfrm>
            <a:off x="502920" y="1371600"/>
            <a:ext cx="11201400" cy="0"/>
          </a:xfrm>
          <a:prstGeom prst="line">
            <a:avLst/>
          </a:prstGeom>
          <a:noFill/>
          <a:ln w="19050">
            <a:solidFill>
              <a:srgbClr val="CADCFC"/>
            </a:solidFill>
            <a:prstDash val="solid"/>
          </a:ln>
        </p:spPr>
      </p:sp>
      <p:sp>
        <p:nvSpPr>
          <p:cNvPr id="6" name="Text 3"/>
          <p:cNvSpPr txBox="1"/>
          <p:nvPr/>
        </p:nvSpPr>
        <p:spPr>
          <a:xfrm>
            <a:off x="822960" y="1691640"/>
            <a:ext cx="10607040" cy="429768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Recommended: Cache write policies — Write-Through vs Write-Back (next topic)</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Recommended: Cache replacement policies — LRU, FIFO, Random (next topic)</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Practice: attempt 5 more cache-mapping numericals from the course problem set</a:t>
            </a:r>
            <a:endParaRPr lang="en-US" sz="2000" dirty="0"/>
          </a:p>
          <a:p>
            <a:pPr marL="342900" indent="-342900">
              <a:lnSpc>
                <a:spcPct val="105000"/>
              </a:lnSpc>
              <a:spcAft>
                <a:spcPts val="1400"/>
              </a:spcAft>
              <a:buSzPct val="100000"/>
              <a:buChar char="▪"/>
            </a:pPr>
            <a:r>
              <a:rPr lang="en-US" sz="2000" dirty="0">
                <a:solidFill>
                  <a:srgbClr val="2A2A3C"/>
                </a:solidFill>
                <a:latin typeface="Calibri" pitchFamily="34" charset="0"/>
                <a:ea typeface="Calibri" pitchFamily="34" charset="-122"/>
                <a:cs typeface="Calibri" pitchFamily="34" charset="-120"/>
              </a:rPr>
              <a:t>Next lecture: Cache Performance — Hit Ratio, Average Memory Access Time (AMAT)</a:t>
            </a:r>
            <a:endParaRPr lang="en-US" sz="2000" dirty="0"/>
          </a:p>
        </p:txBody>
      </p:sp>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2026-09-27T15:48:17Z</dcterms:created>
  <dcterms:modified xsi:type="dcterms:W3CDTF">2026-09-27T15:48:17Z</dcterms:modified>
</cp:coreProperties>
</file>