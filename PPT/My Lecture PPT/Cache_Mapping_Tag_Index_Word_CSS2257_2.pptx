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72" r:id="rId13"/>
    <p:sldId id="267" r:id="rId14"/>
    <p:sldId id="268" r:id="rId15"/>
    <p:sldId id="269" r:id="rId16"/>
    <p:sldId id="270" r:id="rId17"/>
    <p:sldId id="271"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5292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Today we solve one classic cache problem three ways: direct, fully associative and 4-way set-associative. The main memory and cache never change; only the way an address is split changes. By the end, students should split any address in under a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four outcomes. Tell students the worked problem has three parts and each part needs only powers of two and subtraction. Assure them nothing here needs a calculator.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of hands, 3 minutes. Q1: a library shelf label such as 'Row 4, Shelf 2, Book 7' is exactly tag, index and offset. Q2: browsers cache pages so repeat visits load faster. Use answers to introduce why a cache must quickly recognise which block it holds.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each term with the library example. A block is the unit copied from main memory into a cache line. The tag says WHICH memory block currently sits in the line, since many blocks compete for one line. A hit means the tag matches; a miss means we fetch the block from memory.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mapping cuts the 20-bit address into fields. Word offset picks a word inside the block. Index (line or set) picks where to look in the cache. Tag is whatever remains, used for comparison. Rule: tag = address bits minus index bits minus word bits.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problem. Step 1 is common to all three mappings. Address has 20 bits so memory has 2 to the 20 words. It has 32K equals 2 to the 15 blocks, so each block holds 2 to the 5 equals 32 words. This agrees with the cache line size of 32 words. So the word offset is 5 bits, always.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memory block maps to exactly one line: line number equals block number modulo 512. So we need log2 512 equals 9 line bits. Tag is 20 minus 9 minus 5 equals 6. Check: 2 to the 15 blocks divided by 512 lines gives 64 blocks per line, and 64 needs 6 tag bits. Animation: reveal fields one by one.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may go in any line, so there is no index field at all. The whole block number must be stored as the tag: 20 minus 5 equals 15 bits. Cost: the cache must compare the incoming tag with all 512 stored tags in parallel, which needs more hardware.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 512 lines into sets of 2. Number of sets equals 512 divided by 2 equals 256, which is 2 to the 8, so 8 set bits. A block maps to one set but can use either of its 2 lines. Tag is 20 minus 8 minus 5 equals 7. Only 2 comparators are needed per lookup. Animation: reveal fields one by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 512 lines into sets of 4. Number of sets equals 512 divided by 4 equals 128, which is 2 to the 7, so 7 set bits. A block maps to one set but can use any of its 4 lines. Tag is 20 minus 7 minus 5 equals 8. Note the tag sits between the direct and fully associative values.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 each column. The word field is fixed at 5. As associativity grows, index bits shrink and tag bits grow, since more blocks share fewer index positions. Direct has the fewest tag bits and simplest hardware; fully associative has the most flexibility and the largest tags.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13A84-E1A2-5BD3-6273-27648F5F4E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52CE85-F52D-52A8-C732-922CC27A63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D239C0-87A4-6E2D-BA69-C5979A36CA5E}"/>
              </a:ext>
            </a:extLst>
          </p:cNvPr>
          <p:cNvSpPr>
            <a:spLocks noGrp="1"/>
          </p:cNvSpPr>
          <p:nvPr>
            <p:ph type="body" idx="1"/>
          </p:nvPr>
        </p:nvSpPr>
        <p:spPr/>
        <p:txBody>
          <a:bodyPr/>
          <a:lstStyle/>
          <a:p>
            <a:r>
              <a:rPr lang="en-US" dirty="0"/>
              <a:t>Group the 512 lines into sets of 4. Number of sets equals 512 divided by 4 equals 128, which is 2 to the 7, so 7 set bits. A block maps to one set but can use any of its 4 lines. Tag is 20 minus 7 minus 5 equals 8. Note the tag sits between the direct and fully associative values.</a:t>
            </a:r>
          </a:p>
        </p:txBody>
      </p:sp>
      <p:sp>
        <p:nvSpPr>
          <p:cNvPr id="4" name="Slide Number Placeholder 3">
            <a:extLst>
              <a:ext uri="{FF2B5EF4-FFF2-40B4-BE49-F238E27FC236}">
                <a16:creationId xmlns:a16="http://schemas.microsoft.com/office/drawing/2014/main" id="{C5CCB7E3-3576-B635-D844-5861E7DBE97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477898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slip. Students often forget that word offset comes from block size, not cache size. Another slip is using 512 instead of 128 for the set count. A third is giving fully associative an index field. Encourage them to always check that the fields add to 20.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work it out for 2 minutes. Sets equal 512 divided by 8 equals 64, which is 2 to the 6, so 6 set bits. Word stays 5. Tag equals 20 minus 6 minus 5 equals 9. Notice the trend: doubling ways removes one index bit and adds one tag bit.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the offset is fixed at 5, the index depends on lines or sets, and the tag is the remainder. Answers: direct 6, 9, 5; fully associative 15, 0, 5; 2-way 7, 8, 5; 4-way 8, 7, 5. The quiz comes next as a self-check.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 minutes, individually or in pairs. Q1 and Q2 test the fixed offset, Q3 and Q4 test direct and associative fields, Q5 tests set count, Q6 tests the trend. Say clearly that this is a self-check. Animation: reveal questions one by 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For Q4, remind students that with no index the entire block number is the tag. For Q6: sets equal 32, which is 5 bits, so tag equals 20 minus 5 minus 5 equals 10, continuing the trend. Ask students to note anything tricky for revision. Animation: reveal answers one by one.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Text 2"/>
          <p:cNvSpPr txBox="1"/>
          <p:nvPr/>
        </p:nvSpPr>
        <p:spPr>
          <a:xfrm>
            <a:off x="548640" y="548640"/>
            <a:ext cx="8229600" cy="548640"/>
          </a:xfrm>
          <a:prstGeom prst="rect">
            <a:avLst/>
          </a:prstGeom>
          <a:noFill/>
          <a:ln/>
        </p:spPr>
        <p:txBody>
          <a:bodyPr wrap="square" lIns="0" tIns="0" rIns="0" bIns="0" rtlCol="0" anchor="ctr"/>
          <a:lstStyle/>
          <a:p>
            <a:pPr marL="0" indent="0">
              <a:buNone/>
            </a:pPr>
            <a:r>
              <a:rPr lang="en-US" sz="2800" b="1" dirty="0">
                <a:solidFill>
                  <a:srgbClr val="E8B923"/>
                </a:solidFill>
                <a:latin typeface="Calibri" pitchFamily="34" charset="0"/>
                <a:ea typeface="Calibri" pitchFamily="34" charset="-122"/>
                <a:cs typeface="Calibri" pitchFamily="34" charset="-120"/>
              </a:rPr>
              <a:t>Presidency University</a:t>
            </a:r>
            <a:endParaRPr lang="en-US" sz="2800" dirty="0"/>
          </a:p>
        </p:txBody>
      </p:sp>
      <p:sp>
        <p:nvSpPr>
          <p:cNvPr id="6" name="Text 3"/>
          <p:cNvSpPr txBox="1"/>
          <p:nvPr/>
        </p:nvSpPr>
        <p:spPr>
          <a:xfrm>
            <a:off x="548640" y="1371600"/>
            <a:ext cx="7863840" cy="201168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Cache Mapping: Tag, Index and Word Fields</a:t>
            </a:r>
            <a:endParaRPr lang="en-US" sz="4000" dirty="0"/>
          </a:p>
        </p:txBody>
      </p:sp>
      <p:sp>
        <p:nvSpPr>
          <p:cNvPr id="7" name="Text 4"/>
          <p:cNvSpPr txBox="1"/>
          <p:nvPr/>
        </p:nvSpPr>
        <p:spPr>
          <a:xfrm>
            <a:off x="548640" y="3566160"/>
            <a:ext cx="8229600" cy="457200"/>
          </a:xfrm>
          <a:prstGeom prst="rect">
            <a:avLst/>
          </a:prstGeom>
          <a:noFill/>
          <a:ln/>
        </p:spPr>
        <p:txBody>
          <a:bodyPr wrap="square" lIns="0" tIns="0" rIns="0" bIns="0" rtlCol="0" anchor="ctr"/>
          <a:lstStyle/>
          <a:p>
            <a:pPr marL="0" indent="0">
              <a:buNone/>
            </a:pPr>
            <a:r>
              <a:rPr lang="en-US" sz="2400" dirty="0">
                <a:solidFill>
                  <a:srgbClr val="CADCFC"/>
                </a:solidFill>
                <a:latin typeface="Calibri" pitchFamily="34" charset="0"/>
                <a:ea typeface="Calibri" pitchFamily="34" charset="-122"/>
                <a:cs typeface="Calibri" pitchFamily="34" charset="-120"/>
              </a:rPr>
              <a:t>Computer Organization and Architecture | CSS2257</a:t>
            </a:r>
            <a:endParaRPr lang="en-US" sz="2400" dirty="0"/>
          </a:p>
        </p:txBody>
      </p:sp>
      <p:sp>
        <p:nvSpPr>
          <p:cNvPr id="8" name="Text 5"/>
          <p:cNvSpPr txBox="1"/>
          <p:nvPr/>
        </p:nvSpPr>
        <p:spPr>
          <a:xfrm>
            <a:off x="548640" y="4114800"/>
            <a:ext cx="8229600" cy="45720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School of Artificial Intelligence and Advanced Computing</a:t>
            </a:r>
            <a:endParaRPr lang="en-US" sz="2000" dirty="0"/>
          </a:p>
        </p:txBody>
      </p:sp>
      <p:sp>
        <p:nvSpPr>
          <p:cNvPr id="9" name="Text 6"/>
          <p:cNvSpPr txBox="1"/>
          <p:nvPr/>
        </p:nvSpPr>
        <p:spPr>
          <a:xfrm>
            <a:off x="548640" y="4572000"/>
            <a:ext cx="8229600" cy="45720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Department of AI &amp; Robotics</a:t>
            </a:r>
            <a:endParaRPr lang="en-US" sz="2000" dirty="0"/>
          </a:p>
        </p:txBody>
      </p:sp>
      <p:sp>
        <p:nvSpPr>
          <p:cNvPr id="10" name="Text 7"/>
          <p:cNvSpPr txBox="1"/>
          <p:nvPr/>
        </p:nvSpPr>
        <p:spPr>
          <a:xfrm>
            <a:off x="548640" y="5120640"/>
            <a:ext cx="8229600"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Faculty: Manoj Sagar</a:t>
            </a:r>
            <a:endParaRPr lang="en-US" sz="2000" dirty="0"/>
          </a:p>
        </p:txBody>
      </p:sp>
      <p:sp>
        <p:nvSpPr>
          <p:cNvPr id="11" name="Shape 8"/>
          <p:cNvSpPr/>
          <p:nvPr/>
        </p:nvSpPr>
        <p:spPr>
          <a:xfrm>
            <a:off x="8138160" y="2103120"/>
            <a:ext cx="1463040" cy="1097280"/>
          </a:xfrm>
          <a:prstGeom prst="rect">
            <a:avLst/>
          </a:prstGeom>
          <a:solidFill>
            <a:srgbClr val="E8B923"/>
          </a:solidFill>
          <a:ln w="9525">
            <a:solidFill>
              <a:srgbClr val="1E2761"/>
            </a:solidFill>
            <a:prstDash val="solid"/>
          </a:ln>
        </p:spPr>
      </p:sp>
      <p:sp>
        <p:nvSpPr>
          <p:cNvPr id="12" name="Text 9"/>
          <p:cNvSpPr txBox="1"/>
          <p:nvPr/>
        </p:nvSpPr>
        <p:spPr>
          <a:xfrm>
            <a:off x="8138160" y="2103120"/>
            <a:ext cx="1463040" cy="109728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Tag</a:t>
            </a:r>
            <a:endParaRPr lang="en-US" sz="2000" dirty="0"/>
          </a:p>
        </p:txBody>
      </p:sp>
      <p:sp>
        <p:nvSpPr>
          <p:cNvPr id="13" name="Shape 10"/>
          <p:cNvSpPr/>
          <p:nvPr/>
        </p:nvSpPr>
        <p:spPr>
          <a:xfrm>
            <a:off x="9601200" y="2103120"/>
            <a:ext cx="1097280" cy="1097280"/>
          </a:xfrm>
          <a:prstGeom prst="rect">
            <a:avLst/>
          </a:prstGeom>
          <a:solidFill>
            <a:srgbClr val="CADCFC"/>
          </a:solidFill>
          <a:ln w="9525">
            <a:solidFill>
              <a:srgbClr val="1E2761"/>
            </a:solidFill>
            <a:prstDash val="solid"/>
          </a:ln>
        </p:spPr>
      </p:sp>
      <p:sp>
        <p:nvSpPr>
          <p:cNvPr id="14" name="Text 11"/>
          <p:cNvSpPr txBox="1"/>
          <p:nvPr/>
        </p:nvSpPr>
        <p:spPr>
          <a:xfrm>
            <a:off x="9601200" y="2103120"/>
            <a:ext cx="1097280" cy="109728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Index</a:t>
            </a:r>
            <a:endParaRPr lang="en-US" sz="2000" dirty="0"/>
          </a:p>
        </p:txBody>
      </p:sp>
      <p:sp>
        <p:nvSpPr>
          <p:cNvPr id="15" name="Shape 12"/>
          <p:cNvSpPr/>
          <p:nvPr/>
        </p:nvSpPr>
        <p:spPr>
          <a:xfrm>
            <a:off x="10698480" y="2103120"/>
            <a:ext cx="914400" cy="1097280"/>
          </a:xfrm>
          <a:prstGeom prst="rect">
            <a:avLst/>
          </a:prstGeom>
          <a:solidFill>
            <a:srgbClr val="FFFFFF"/>
          </a:solidFill>
          <a:ln w="9525">
            <a:solidFill>
              <a:srgbClr val="1E2761"/>
            </a:solidFill>
            <a:prstDash val="solid"/>
          </a:ln>
        </p:spPr>
      </p:sp>
      <p:sp>
        <p:nvSpPr>
          <p:cNvPr id="16" name="Text 13"/>
          <p:cNvSpPr txBox="1"/>
          <p:nvPr/>
        </p:nvSpPr>
        <p:spPr>
          <a:xfrm>
            <a:off x="10698480" y="2103120"/>
            <a:ext cx="914400" cy="109728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Word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Learning Objectives</a:t>
            </a: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4A5A8A"/>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Text 2"/>
          <p:cNvSpPr txBox="1"/>
          <p:nvPr/>
        </p:nvSpPr>
        <p:spPr>
          <a:xfrm>
            <a:off x="548640" y="1463040"/>
            <a:ext cx="10972800" cy="4389120"/>
          </a:xfrm>
          <a:prstGeom prst="rect">
            <a:avLst/>
          </a:prstGeom>
          <a:noFill/>
          <a:ln/>
        </p:spPr>
        <p:txBody>
          <a:bodyPr wrap="square" lIns="0" tIns="0" rIns="0" bIns="0" rtlCol="0" anchor="t"/>
          <a:lstStyle/>
          <a:p>
            <a:pPr marL="342900" indent="-342900">
              <a:spcAft>
                <a:spcPts val="1000"/>
              </a:spcAft>
              <a:buSzPct val="100000"/>
              <a:buChar char="•"/>
            </a:pPr>
            <a:r>
              <a:rPr lang="en-US" sz="2600" dirty="0">
                <a:solidFill>
                  <a:srgbClr val="1E2761"/>
                </a:solidFill>
                <a:latin typeface="Calibri" pitchFamily="34" charset="0"/>
                <a:ea typeface="Calibri" pitchFamily="34" charset="-122"/>
                <a:cs typeface="Calibri" pitchFamily="34" charset="-120"/>
              </a:rPr>
              <a:t>Explain lines, blocks, tag, index and word offset</a:t>
            </a:r>
            <a:endParaRPr lang="en-US" sz="2600" dirty="0"/>
          </a:p>
          <a:p>
            <a:pPr marL="342900" indent="-342900">
              <a:spcAft>
                <a:spcPts val="1000"/>
              </a:spcAft>
              <a:buSzPct val="100000"/>
              <a:buChar char="•"/>
            </a:pPr>
            <a:r>
              <a:rPr lang="en-US" sz="2600" dirty="0">
                <a:solidFill>
                  <a:srgbClr val="1E2761"/>
                </a:solidFill>
                <a:latin typeface="Calibri" pitchFamily="34" charset="0"/>
                <a:ea typeface="Calibri" pitchFamily="34" charset="-122"/>
                <a:cs typeface="Calibri" pitchFamily="34" charset="-120"/>
              </a:rPr>
              <a:t>Compute the word offset from block size</a:t>
            </a:r>
            <a:endParaRPr lang="en-US" sz="2600" dirty="0"/>
          </a:p>
          <a:p>
            <a:pPr marL="342900" indent="-342900">
              <a:spcAft>
                <a:spcPts val="1000"/>
              </a:spcAft>
              <a:buSzPct val="100000"/>
              <a:buChar char="•"/>
            </a:pPr>
            <a:r>
              <a:rPr lang="en-US" sz="2600" dirty="0">
                <a:solidFill>
                  <a:srgbClr val="1E2761"/>
                </a:solidFill>
                <a:latin typeface="Calibri" pitchFamily="34" charset="0"/>
                <a:ea typeface="Calibri" pitchFamily="34" charset="-122"/>
                <a:cs typeface="Calibri" pitchFamily="34" charset="-120"/>
              </a:rPr>
              <a:t>Find Tag, Line/Set and Word bits for three mappings</a:t>
            </a:r>
            <a:endParaRPr lang="en-US" sz="2600" dirty="0"/>
          </a:p>
          <a:p>
            <a:pPr marL="342900" indent="-342900">
              <a:spcAft>
                <a:spcPts val="1000"/>
              </a:spcAft>
              <a:buSzPct val="100000"/>
              <a:buChar char="•"/>
            </a:pPr>
            <a:r>
              <a:rPr lang="en-US" sz="2600" dirty="0">
                <a:solidFill>
                  <a:srgbClr val="1E2761"/>
                </a:solidFill>
                <a:latin typeface="Calibri" pitchFamily="34" charset="0"/>
                <a:ea typeface="Calibri" pitchFamily="34" charset="-122"/>
                <a:cs typeface="Calibri" pitchFamily="34" charset="-120"/>
              </a:rPr>
              <a:t>Compare the mappings and avoid common slips</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Icebreaker: Warm-up Questions</a:t>
            </a: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4A5A8A"/>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Shape 2"/>
          <p:cNvSpPr/>
          <p:nvPr/>
        </p:nvSpPr>
        <p:spPr>
          <a:xfrm>
            <a:off x="548640" y="1371600"/>
            <a:ext cx="11064240" cy="1280160"/>
          </a:xfrm>
          <a:prstGeom prst="rect">
            <a:avLst/>
          </a:prstGeom>
          <a:solidFill>
            <a:srgbClr val="EEF3FC"/>
          </a:solidFill>
          <a:ln w="12700">
            <a:solidFill>
              <a:srgbClr val="EEF3FC"/>
            </a:solidFill>
            <a:prstDash val="solid"/>
          </a:ln>
        </p:spPr>
      </p:sp>
      <p:sp>
        <p:nvSpPr>
          <p:cNvPr id="6" name="Shape 3"/>
          <p:cNvSpPr/>
          <p:nvPr/>
        </p:nvSpPr>
        <p:spPr>
          <a:xfrm>
            <a:off x="777240" y="1760220"/>
            <a:ext cx="502920" cy="502920"/>
          </a:xfrm>
          <a:prstGeom prst="ellipse">
            <a:avLst/>
          </a:prstGeom>
          <a:solidFill>
            <a:srgbClr val="E8B923"/>
          </a:solidFill>
          <a:ln w="12700">
            <a:solidFill>
              <a:srgbClr val="E8B923"/>
            </a:solidFill>
            <a:prstDash val="solid"/>
          </a:ln>
        </p:spPr>
      </p:sp>
      <p:sp>
        <p:nvSpPr>
          <p:cNvPr id="7" name="Text 4"/>
          <p:cNvSpPr txBox="1"/>
          <p:nvPr/>
        </p:nvSpPr>
        <p:spPr>
          <a:xfrm>
            <a:off x="777240" y="176022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1</a:t>
            </a:r>
            <a:endParaRPr lang="en-US" sz="2000" dirty="0"/>
          </a:p>
        </p:txBody>
      </p:sp>
      <p:sp>
        <p:nvSpPr>
          <p:cNvPr id="8" name="Text 5"/>
          <p:cNvSpPr txBox="1"/>
          <p:nvPr/>
        </p:nvSpPr>
        <p:spPr>
          <a:xfrm>
            <a:off x="1554480" y="1371600"/>
            <a:ext cx="9875520" cy="128016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Why does a website open faster the second time you visit it?</a:t>
            </a:r>
            <a:endParaRPr lang="en-US" sz="2200" dirty="0"/>
          </a:p>
        </p:txBody>
      </p:sp>
      <p:sp>
        <p:nvSpPr>
          <p:cNvPr id="9" name="Shape 6"/>
          <p:cNvSpPr/>
          <p:nvPr/>
        </p:nvSpPr>
        <p:spPr>
          <a:xfrm>
            <a:off x="548640" y="2926080"/>
            <a:ext cx="11064240" cy="1280160"/>
          </a:xfrm>
          <a:prstGeom prst="rect">
            <a:avLst/>
          </a:prstGeom>
          <a:solidFill>
            <a:srgbClr val="EEF3FC"/>
          </a:solidFill>
          <a:ln w="12700">
            <a:solidFill>
              <a:srgbClr val="EEF3FC"/>
            </a:solidFill>
            <a:prstDash val="solid"/>
          </a:ln>
        </p:spPr>
      </p:sp>
      <p:sp>
        <p:nvSpPr>
          <p:cNvPr id="10" name="Shape 7"/>
          <p:cNvSpPr/>
          <p:nvPr/>
        </p:nvSpPr>
        <p:spPr>
          <a:xfrm>
            <a:off x="777240" y="3314700"/>
            <a:ext cx="502920" cy="502920"/>
          </a:xfrm>
          <a:prstGeom prst="ellipse">
            <a:avLst/>
          </a:prstGeom>
          <a:solidFill>
            <a:srgbClr val="E8B923"/>
          </a:solidFill>
          <a:ln w="12700">
            <a:solidFill>
              <a:srgbClr val="E8B923"/>
            </a:solidFill>
            <a:prstDash val="solid"/>
          </a:ln>
        </p:spPr>
      </p:sp>
      <p:sp>
        <p:nvSpPr>
          <p:cNvPr id="11" name="Text 8"/>
          <p:cNvSpPr txBox="1"/>
          <p:nvPr/>
        </p:nvSpPr>
        <p:spPr>
          <a:xfrm>
            <a:off x="777240" y="331470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2</a:t>
            </a:r>
            <a:endParaRPr lang="en-US" sz="2000" dirty="0"/>
          </a:p>
        </p:txBody>
      </p:sp>
      <p:sp>
        <p:nvSpPr>
          <p:cNvPr id="12" name="Text 9"/>
          <p:cNvSpPr txBox="1"/>
          <p:nvPr/>
        </p:nvSpPr>
        <p:spPr>
          <a:xfrm>
            <a:off x="1554480" y="2926080"/>
            <a:ext cx="9875520" cy="128016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In a library, how do 'row, shelf, book' pick one book quickly?</a:t>
            </a:r>
            <a:endParaRPr lang="en-US" sz="2200" dirty="0"/>
          </a:p>
        </p:txBody>
      </p:sp>
      <p:sp>
        <p:nvSpPr>
          <p:cNvPr id="13" name="Shape 10"/>
          <p:cNvSpPr/>
          <p:nvPr/>
        </p:nvSpPr>
        <p:spPr>
          <a:xfrm>
            <a:off x="548640" y="4480560"/>
            <a:ext cx="11064240" cy="1280160"/>
          </a:xfrm>
          <a:prstGeom prst="rect">
            <a:avLst/>
          </a:prstGeom>
          <a:solidFill>
            <a:srgbClr val="EEF3FC"/>
          </a:solidFill>
          <a:ln w="12700">
            <a:solidFill>
              <a:srgbClr val="EEF3FC"/>
            </a:solidFill>
            <a:prstDash val="solid"/>
          </a:ln>
        </p:spPr>
      </p:sp>
      <p:sp>
        <p:nvSpPr>
          <p:cNvPr id="14" name="Shape 11"/>
          <p:cNvSpPr/>
          <p:nvPr/>
        </p:nvSpPr>
        <p:spPr>
          <a:xfrm>
            <a:off x="777240" y="4869180"/>
            <a:ext cx="502920" cy="502920"/>
          </a:xfrm>
          <a:prstGeom prst="ellipse">
            <a:avLst/>
          </a:prstGeom>
          <a:solidFill>
            <a:srgbClr val="E8B923"/>
          </a:solidFill>
          <a:ln w="12700">
            <a:solidFill>
              <a:srgbClr val="E8B923"/>
            </a:solidFill>
            <a:prstDash val="solid"/>
          </a:ln>
        </p:spPr>
      </p:sp>
      <p:sp>
        <p:nvSpPr>
          <p:cNvPr id="15" name="Text 12"/>
          <p:cNvSpPr txBox="1"/>
          <p:nvPr/>
        </p:nvSpPr>
        <p:spPr>
          <a:xfrm>
            <a:off x="777240" y="486918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3</a:t>
            </a:r>
            <a:endParaRPr lang="en-US" sz="2000" dirty="0"/>
          </a:p>
        </p:txBody>
      </p:sp>
      <p:sp>
        <p:nvSpPr>
          <p:cNvPr id="16" name="Text 13"/>
          <p:cNvSpPr txBox="1"/>
          <p:nvPr/>
        </p:nvSpPr>
        <p:spPr>
          <a:xfrm>
            <a:off x="1554480" y="4480560"/>
            <a:ext cx="9875520" cy="128016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If 512 lockers serve 32,768 students, who decides which locker you use?</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Cache Basics: Vocabulary</a:t>
            </a: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4A5A8A"/>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Text 2"/>
          <p:cNvSpPr txBox="1"/>
          <p:nvPr/>
        </p:nvSpPr>
        <p:spPr>
          <a:xfrm>
            <a:off x="548640" y="1371600"/>
            <a:ext cx="10972800" cy="457200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Block: chunk of words copied from memory to cache</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Line: one cache slot that holds one block</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Tag: identifies which block is in the line</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Hit: tag matches; Miss: fetch block from memory</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Real example: CPU L1 cache, browser cache</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Address Split: Tag | Index | Word</a:t>
            </a: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4A5A8A"/>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Text 2"/>
          <p:cNvSpPr txBox="1"/>
          <p:nvPr/>
        </p:nvSpPr>
        <p:spPr>
          <a:xfrm>
            <a:off x="548640" y="1920240"/>
            <a:ext cx="914400" cy="36576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A19</a:t>
            </a:r>
            <a:endParaRPr lang="en-US" sz="2000" dirty="0"/>
          </a:p>
        </p:txBody>
      </p:sp>
      <p:sp>
        <p:nvSpPr>
          <p:cNvPr id="6" name="Text 3"/>
          <p:cNvSpPr txBox="1"/>
          <p:nvPr/>
        </p:nvSpPr>
        <p:spPr>
          <a:xfrm>
            <a:off x="10698480" y="1920240"/>
            <a:ext cx="914400" cy="365760"/>
          </a:xfrm>
          <a:prstGeom prst="rect">
            <a:avLst/>
          </a:prstGeom>
          <a:noFill/>
          <a:ln/>
        </p:spPr>
        <p:txBody>
          <a:bodyPr wrap="square" lIns="0" tIns="0" rIns="0" bIns="0" rtlCol="0" anchor="ctr"/>
          <a:lstStyle/>
          <a:p>
            <a:pPr marL="0" indent="0" algn="r">
              <a:buNone/>
            </a:pPr>
            <a:r>
              <a:rPr lang="en-US" sz="2000" b="1" dirty="0">
                <a:solidFill>
                  <a:srgbClr val="1E2761"/>
                </a:solidFill>
                <a:latin typeface="Calibri" pitchFamily="34" charset="0"/>
                <a:ea typeface="Calibri" pitchFamily="34" charset="-122"/>
                <a:cs typeface="Calibri" pitchFamily="34" charset="-120"/>
              </a:rPr>
              <a:t>A0</a:t>
            </a:r>
            <a:endParaRPr lang="en-US" sz="2000" dirty="0"/>
          </a:p>
        </p:txBody>
      </p:sp>
      <p:sp>
        <p:nvSpPr>
          <p:cNvPr id="7" name="Shape 4"/>
          <p:cNvSpPr/>
          <p:nvPr/>
        </p:nvSpPr>
        <p:spPr>
          <a:xfrm>
            <a:off x="548640" y="2377440"/>
            <a:ext cx="4425696" cy="822960"/>
          </a:xfrm>
          <a:prstGeom prst="rect">
            <a:avLst/>
          </a:prstGeom>
          <a:solidFill>
            <a:srgbClr val="E8B923"/>
          </a:solidFill>
          <a:ln w="9525">
            <a:solidFill>
              <a:srgbClr val="1E2761"/>
            </a:solidFill>
            <a:prstDash val="solid"/>
          </a:ln>
        </p:spPr>
      </p:sp>
      <p:sp>
        <p:nvSpPr>
          <p:cNvPr id="8" name="Text 5"/>
          <p:cNvSpPr txBox="1"/>
          <p:nvPr/>
        </p:nvSpPr>
        <p:spPr>
          <a:xfrm>
            <a:off x="548640" y="2377440"/>
            <a:ext cx="4425696"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Tag = 8</a:t>
            </a:r>
            <a:endParaRPr lang="en-US" sz="2000" dirty="0"/>
          </a:p>
        </p:txBody>
      </p:sp>
      <p:sp>
        <p:nvSpPr>
          <p:cNvPr id="9" name="Shape 6"/>
          <p:cNvSpPr/>
          <p:nvPr/>
        </p:nvSpPr>
        <p:spPr>
          <a:xfrm>
            <a:off x="4974336" y="2377440"/>
            <a:ext cx="3872484" cy="822960"/>
          </a:xfrm>
          <a:prstGeom prst="rect">
            <a:avLst/>
          </a:prstGeom>
          <a:solidFill>
            <a:srgbClr val="CADCFC"/>
          </a:solidFill>
          <a:ln w="9525">
            <a:solidFill>
              <a:srgbClr val="1E2761"/>
            </a:solidFill>
            <a:prstDash val="solid"/>
          </a:ln>
        </p:spPr>
      </p:sp>
      <p:sp>
        <p:nvSpPr>
          <p:cNvPr id="10" name="Text 7"/>
          <p:cNvSpPr txBox="1"/>
          <p:nvPr/>
        </p:nvSpPr>
        <p:spPr>
          <a:xfrm>
            <a:off x="4974336" y="2377440"/>
            <a:ext cx="3872484"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Line / Set = 7</a:t>
            </a:r>
            <a:endParaRPr lang="en-US" sz="2000" dirty="0"/>
          </a:p>
        </p:txBody>
      </p:sp>
      <p:sp>
        <p:nvSpPr>
          <p:cNvPr id="11" name="Shape 8"/>
          <p:cNvSpPr/>
          <p:nvPr/>
        </p:nvSpPr>
        <p:spPr>
          <a:xfrm>
            <a:off x="8846820" y="2377440"/>
            <a:ext cx="2766060" cy="822960"/>
          </a:xfrm>
          <a:prstGeom prst="rect">
            <a:avLst/>
          </a:prstGeom>
          <a:solidFill>
            <a:srgbClr val="EEF3FC"/>
          </a:solidFill>
          <a:ln w="9525">
            <a:solidFill>
              <a:srgbClr val="1E2761"/>
            </a:solidFill>
            <a:prstDash val="solid"/>
          </a:ln>
        </p:spPr>
      </p:sp>
      <p:sp>
        <p:nvSpPr>
          <p:cNvPr id="12" name="Text 9"/>
          <p:cNvSpPr txBox="1"/>
          <p:nvPr/>
        </p:nvSpPr>
        <p:spPr>
          <a:xfrm>
            <a:off x="8846820" y="2377440"/>
            <a:ext cx="2766060"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Word = 5</a:t>
            </a:r>
            <a:endParaRPr lang="en-US" sz="2000" dirty="0"/>
          </a:p>
        </p:txBody>
      </p:sp>
      <p:sp>
        <p:nvSpPr>
          <p:cNvPr id="13" name="Text 10"/>
          <p:cNvSpPr txBox="1"/>
          <p:nvPr/>
        </p:nvSpPr>
        <p:spPr>
          <a:xfrm>
            <a:off x="548640" y="3657600"/>
            <a:ext cx="10972800" cy="2377440"/>
          </a:xfrm>
          <a:prstGeom prst="rect">
            <a:avLst/>
          </a:prstGeom>
          <a:noFill/>
          <a:ln/>
        </p:spPr>
        <p:txBody>
          <a:bodyPr wrap="square" lIns="0" tIns="0" rIns="0" bIns="0" rtlCol="0" anchor="t"/>
          <a:lstStyle/>
          <a:p>
            <a:pPr marL="342900" indent="-342900">
              <a:spcAft>
                <a:spcPts val="1000"/>
              </a:spcAft>
              <a:buSzPct val="100000"/>
              <a:buChar char="•"/>
            </a:pPr>
            <a:r>
              <a:rPr lang="en-US" sz="2600" dirty="0">
                <a:solidFill>
                  <a:srgbClr val="1E2761"/>
                </a:solidFill>
                <a:latin typeface="Calibri" pitchFamily="34" charset="0"/>
                <a:ea typeface="Calibri" pitchFamily="34" charset="-122"/>
                <a:cs typeface="Calibri" pitchFamily="34" charset="-120"/>
              </a:rPr>
              <a:t>Word bits = log₂(words per block)</a:t>
            </a:r>
            <a:endParaRPr lang="en-US" sz="2600" dirty="0"/>
          </a:p>
          <a:p>
            <a:pPr marL="342900" indent="-342900">
              <a:spcAft>
                <a:spcPts val="1000"/>
              </a:spcAft>
              <a:buSzPct val="100000"/>
              <a:buChar char="•"/>
            </a:pPr>
            <a:r>
              <a:rPr lang="en-US" sz="2600" dirty="0">
                <a:solidFill>
                  <a:srgbClr val="1E2761"/>
                </a:solidFill>
                <a:latin typeface="Calibri" pitchFamily="34" charset="0"/>
                <a:ea typeface="Calibri" pitchFamily="34" charset="-122"/>
                <a:cs typeface="Calibri" pitchFamily="34" charset="-120"/>
              </a:rPr>
              <a:t>Line bits = log₂(lines); Set bits = log₂(sets)</a:t>
            </a:r>
            <a:endParaRPr lang="en-US" sz="2600" dirty="0"/>
          </a:p>
          <a:p>
            <a:pPr marL="342900" indent="-342900">
              <a:spcAft>
                <a:spcPts val="1000"/>
              </a:spcAft>
              <a:buSzPct val="100000"/>
              <a:buChar char="•"/>
            </a:pPr>
            <a:r>
              <a:rPr lang="en-US" sz="2600" dirty="0">
                <a:solidFill>
                  <a:srgbClr val="1E2761"/>
                </a:solidFill>
                <a:latin typeface="Calibri" pitchFamily="34" charset="0"/>
                <a:ea typeface="Calibri" pitchFamily="34" charset="-122"/>
                <a:cs typeface="Calibri" pitchFamily="34" charset="-120"/>
              </a:rPr>
              <a:t>Tag bits = address − index − word</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The Problem and Step 1: Word Offset</a:t>
            </a: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4A5A8A"/>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Text 2"/>
          <p:cNvSpPr txBox="1"/>
          <p:nvPr/>
        </p:nvSpPr>
        <p:spPr>
          <a:xfrm>
            <a:off x="548640" y="1371600"/>
            <a:ext cx="5852160" cy="274320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Address = 20 bits → 2²⁰ words</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Memory = 32K = 2¹⁵ blocks</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Cache = 512 = 2⁹ lines, 32 words per line</a:t>
            </a:r>
            <a:endParaRPr lang="en-US" sz="2400" dirty="0"/>
          </a:p>
        </p:txBody>
      </p:sp>
      <p:sp>
        <p:nvSpPr>
          <p:cNvPr id="6" name="Shape 3"/>
          <p:cNvSpPr/>
          <p:nvPr/>
        </p:nvSpPr>
        <p:spPr>
          <a:xfrm>
            <a:off x="548640" y="3931920"/>
            <a:ext cx="11064240" cy="960120"/>
          </a:xfrm>
          <a:prstGeom prst="rect">
            <a:avLst/>
          </a:prstGeom>
          <a:solidFill>
            <a:srgbClr val="EEF3FC"/>
          </a:solidFill>
          <a:ln w="12700">
            <a:solidFill>
              <a:srgbClr val="EEF3FC"/>
            </a:solidFill>
            <a:prstDash val="solid"/>
          </a:ln>
        </p:spPr>
      </p:sp>
      <p:sp>
        <p:nvSpPr>
          <p:cNvPr id="7" name="Shape 4"/>
          <p:cNvSpPr/>
          <p:nvPr/>
        </p:nvSpPr>
        <p:spPr>
          <a:xfrm>
            <a:off x="777240" y="4160520"/>
            <a:ext cx="502920" cy="502920"/>
          </a:xfrm>
          <a:prstGeom prst="ellipse">
            <a:avLst/>
          </a:prstGeom>
          <a:solidFill>
            <a:srgbClr val="E8B923"/>
          </a:solidFill>
          <a:ln w="12700">
            <a:solidFill>
              <a:srgbClr val="E8B923"/>
            </a:solidFill>
            <a:prstDash val="solid"/>
          </a:ln>
        </p:spPr>
      </p:sp>
      <p:sp>
        <p:nvSpPr>
          <p:cNvPr id="8" name="Text 5"/>
          <p:cNvSpPr txBox="1"/>
          <p:nvPr/>
        </p:nvSpPr>
        <p:spPr>
          <a:xfrm>
            <a:off x="777240" y="416052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1</a:t>
            </a:r>
            <a:endParaRPr lang="en-US" sz="2000" dirty="0"/>
          </a:p>
        </p:txBody>
      </p:sp>
      <p:sp>
        <p:nvSpPr>
          <p:cNvPr id="9" name="Text 6"/>
          <p:cNvSpPr txBox="1"/>
          <p:nvPr/>
        </p:nvSpPr>
        <p:spPr>
          <a:xfrm>
            <a:off x="1554480" y="3931920"/>
            <a:ext cx="9875520" cy="96012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Words per block = 2²⁰ ÷ 2¹⁵ = 2⁵ = 32</a:t>
            </a:r>
            <a:endParaRPr lang="en-US" sz="2200" dirty="0"/>
          </a:p>
        </p:txBody>
      </p:sp>
      <p:sp>
        <p:nvSpPr>
          <p:cNvPr id="10" name="Shape 7"/>
          <p:cNvSpPr/>
          <p:nvPr/>
        </p:nvSpPr>
        <p:spPr>
          <a:xfrm>
            <a:off x="548640" y="5120640"/>
            <a:ext cx="11064240" cy="960120"/>
          </a:xfrm>
          <a:prstGeom prst="rect">
            <a:avLst/>
          </a:prstGeom>
          <a:solidFill>
            <a:srgbClr val="EEF3FC"/>
          </a:solidFill>
          <a:ln w="12700">
            <a:solidFill>
              <a:srgbClr val="EEF3FC"/>
            </a:solidFill>
            <a:prstDash val="solid"/>
          </a:ln>
        </p:spPr>
      </p:sp>
      <p:sp>
        <p:nvSpPr>
          <p:cNvPr id="11" name="Shape 8"/>
          <p:cNvSpPr/>
          <p:nvPr/>
        </p:nvSpPr>
        <p:spPr>
          <a:xfrm>
            <a:off x="777240" y="5349240"/>
            <a:ext cx="502920" cy="502920"/>
          </a:xfrm>
          <a:prstGeom prst="ellipse">
            <a:avLst/>
          </a:prstGeom>
          <a:solidFill>
            <a:srgbClr val="E8B923"/>
          </a:solidFill>
          <a:ln w="12700">
            <a:solidFill>
              <a:srgbClr val="E8B923"/>
            </a:solidFill>
            <a:prstDash val="solid"/>
          </a:ln>
        </p:spPr>
      </p:sp>
      <p:sp>
        <p:nvSpPr>
          <p:cNvPr id="12" name="Text 9"/>
          <p:cNvSpPr txBox="1"/>
          <p:nvPr/>
        </p:nvSpPr>
        <p:spPr>
          <a:xfrm>
            <a:off x="777240" y="534924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2</a:t>
            </a:r>
            <a:endParaRPr lang="en-US" sz="2000" dirty="0"/>
          </a:p>
        </p:txBody>
      </p:sp>
      <p:sp>
        <p:nvSpPr>
          <p:cNvPr id="13" name="Text 10"/>
          <p:cNvSpPr txBox="1"/>
          <p:nvPr/>
        </p:nvSpPr>
        <p:spPr>
          <a:xfrm>
            <a:off x="1554480" y="5120640"/>
            <a:ext cx="9875520" cy="96012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Word offset = log₂ 32 = 5 bits (same for all mappings)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1. Direct Mapping: 6 | 9 | 5</a:t>
            </a: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4A5A8A"/>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Text 2"/>
          <p:cNvSpPr txBox="1"/>
          <p:nvPr/>
        </p:nvSpPr>
        <p:spPr>
          <a:xfrm>
            <a:off x="548640" y="1371600"/>
            <a:ext cx="914400" cy="36576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A19</a:t>
            </a:r>
            <a:endParaRPr lang="en-US" sz="2000" dirty="0"/>
          </a:p>
        </p:txBody>
      </p:sp>
      <p:sp>
        <p:nvSpPr>
          <p:cNvPr id="6" name="Text 3"/>
          <p:cNvSpPr txBox="1"/>
          <p:nvPr/>
        </p:nvSpPr>
        <p:spPr>
          <a:xfrm>
            <a:off x="10698480" y="1371600"/>
            <a:ext cx="914400" cy="365760"/>
          </a:xfrm>
          <a:prstGeom prst="rect">
            <a:avLst/>
          </a:prstGeom>
          <a:noFill/>
          <a:ln/>
        </p:spPr>
        <p:txBody>
          <a:bodyPr wrap="square" lIns="0" tIns="0" rIns="0" bIns="0" rtlCol="0" anchor="ctr"/>
          <a:lstStyle/>
          <a:p>
            <a:pPr marL="0" indent="0" algn="r">
              <a:buNone/>
            </a:pPr>
            <a:r>
              <a:rPr lang="en-US" sz="2000" b="1" dirty="0">
                <a:solidFill>
                  <a:srgbClr val="1E2761"/>
                </a:solidFill>
                <a:latin typeface="Calibri" pitchFamily="34" charset="0"/>
                <a:ea typeface="Calibri" pitchFamily="34" charset="-122"/>
                <a:cs typeface="Calibri" pitchFamily="34" charset="-120"/>
              </a:rPr>
              <a:t>A0</a:t>
            </a:r>
            <a:endParaRPr lang="en-US" sz="2000" dirty="0"/>
          </a:p>
        </p:txBody>
      </p:sp>
      <p:sp>
        <p:nvSpPr>
          <p:cNvPr id="7" name="Shape 4"/>
          <p:cNvSpPr/>
          <p:nvPr/>
        </p:nvSpPr>
        <p:spPr>
          <a:xfrm>
            <a:off x="548640" y="1828800"/>
            <a:ext cx="3319272" cy="822960"/>
          </a:xfrm>
          <a:prstGeom prst="rect">
            <a:avLst/>
          </a:prstGeom>
          <a:solidFill>
            <a:srgbClr val="E8B923"/>
          </a:solidFill>
          <a:ln w="9525">
            <a:solidFill>
              <a:srgbClr val="1E2761"/>
            </a:solidFill>
            <a:prstDash val="solid"/>
          </a:ln>
        </p:spPr>
      </p:sp>
      <p:sp>
        <p:nvSpPr>
          <p:cNvPr id="8" name="Text 5"/>
          <p:cNvSpPr txBox="1"/>
          <p:nvPr/>
        </p:nvSpPr>
        <p:spPr>
          <a:xfrm>
            <a:off x="548640" y="1828800"/>
            <a:ext cx="3319272"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Tag = 6</a:t>
            </a:r>
            <a:endParaRPr lang="en-US" sz="2000" dirty="0"/>
          </a:p>
        </p:txBody>
      </p:sp>
      <p:sp>
        <p:nvSpPr>
          <p:cNvPr id="9" name="Shape 6"/>
          <p:cNvSpPr/>
          <p:nvPr/>
        </p:nvSpPr>
        <p:spPr>
          <a:xfrm>
            <a:off x="3867912" y="1828800"/>
            <a:ext cx="4978908" cy="822960"/>
          </a:xfrm>
          <a:prstGeom prst="rect">
            <a:avLst/>
          </a:prstGeom>
          <a:solidFill>
            <a:srgbClr val="CADCFC"/>
          </a:solidFill>
          <a:ln w="9525">
            <a:solidFill>
              <a:srgbClr val="1E2761"/>
            </a:solidFill>
            <a:prstDash val="solid"/>
          </a:ln>
        </p:spPr>
      </p:sp>
      <p:sp>
        <p:nvSpPr>
          <p:cNvPr id="10" name="Text 7"/>
          <p:cNvSpPr txBox="1"/>
          <p:nvPr/>
        </p:nvSpPr>
        <p:spPr>
          <a:xfrm>
            <a:off x="3867912" y="1828800"/>
            <a:ext cx="4978908"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Line = 9</a:t>
            </a:r>
            <a:endParaRPr lang="en-US" sz="2000" dirty="0"/>
          </a:p>
        </p:txBody>
      </p:sp>
      <p:sp>
        <p:nvSpPr>
          <p:cNvPr id="11" name="Shape 8"/>
          <p:cNvSpPr/>
          <p:nvPr/>
        </p:nvSpPr>
        <p:spPr>
          <a:xfrm>
            <a:off x="8846820" y="1828800"/>
            <a:ext cx="2766060" cy="822960"/>
          </a:xfrm>
          <a:prstGeom prst="rect">
            <a:avLst/>
          </a:prstGeom>
          <a:solidFill>
            <a:srgbClr val="EEF3FC"/>
          </a:solidFill>
          <a:ln w="9525">
            <a:solidFill>
              <a:srgbClr val="1E2761"/>
            </a:solidFill>
            <a:prstDash val="solid"/>
          </a:ln>
        </p:spPr>
      </p:sp>
      <p:sp>
        <p:nvSpPr>
          <p:cNvPr id="12" name="Text 9"/>
          <p:cNvSpPr txBox="1"/>
          <p:nvPr/>
        </p:nvSpPr>
        <p:spPr>
          <a:xfrm>
            <a:off x="8846820" y="1828800"/>
            <a:ext cx="2766060"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Word = 5</a:t>
            </a:r>
            <a:endParaRPr lang="en-US" sz="2000" dirty="0"/>
          </a:p>
        </p:txBody>
      </p:sp>
      <p:sp>
        <p:nvSpPr>
          <p:cNvPr id="13" name="Shape 10"/>
          <p:cNvSpPr/>
          <p:nvPr/>
        </p:nvSpPr>
        <p:spPr>
          <a:xfrm>
            <a:off x="548640" y="3108960"/>
            <a:ext cx="11064240" cy="914400"/>
          </a:xfrm>
          <a:prstGeom prst="rect">
            <a:avLst/>
          </a:prstGeom>
          <a:solidFill>
            <a:srgbClr val="EEF3FC"/>
          </a:solidFill>
          <a:ln w="12700">
            <a:solidFill>
              <a:srgbClr val="EEF3FC"/>
            </a:solidFill>
            <a:prstDash val="solid"/>
          </a:ln>
        </p:spPr>
      </p:sp>
      <p:sp>
        <p:nvSpPr>
          <p:cNvPr id="14" name="Shape 11"/>
          <p:cNvSpPr/>
          <p:nvPr/>
        </p:nvSpPr>
        <p:spPr>
          <a:xfrm>
            <a:off x="777240" y="3314700"/>
            <a:ext cx="502920" cy="502920"/>
          </a:xfrm>
          <a:prstGeom prst="ellipse">
            <a:avLst/>
          </a:prstGeom>
          <a:solidFill>
            <a:srgbClr val="E8B923"/>
          </a:solidFill>
          <a:ln w="12700">
            <a:solidFill>
              <a:srgbClr val="E8B923"/>
            </a:solidFill>
            <a:prstDash val="solid"/>
          </a:ln>
        </p:spPr>
      </p:sp>
      <p:sp>
        <p:nvSpPr>
          <p:cNvPr id="15" name="Text 12"/>
          <p:cNvSpPr txBox="1"/>
          <p:nvPr/>
        </p:nvSpPr>
        <p:spPr>
          <a:xfrm>
            <a:off x="777240" y="331470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1</a:t>
            </a:r>
            <a:endParaRPr lang="en-US" sz="2000" dirty="0"/>
          </a:p>
        </p:txBody>
      </p:sp>
      <p:sp>
        <p:nvSpPr>
          <p:cNvPr id="16" name="Text 13"/>
          <p:cNvSpPr txBox="1"/>
          <p:nvPr/>
        </p:nvSpPr>
        <p:spPr>
          <a:xfrm>
            <a:off x="1554480" y="3108960"/>
            <a:ext cx="9875520" cy="91440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Line bits = log₂ 512 = 9</a:t>
            </a:r>
            <a:endParaRPr lang="en-US" sz="2200" dirty="0"/>
          </a:p>
        </p:txBody>
      </p:sp>
      <p:sp>
        <p:nvSpPr>
          <p:cNvPr id="17" name="Shape 14"/>
          <p:cNvSpPr/>
          <p:nvPr/>
        </p:nvSpPr>
        <p:spPr>
          <a:xfrm>
            <a:off x="548640" y="4160520"/>
            <a:ext cx="11064240" cy="914400"/>
          </a:xfrm>
          <a:prstGeom prst="rect">
            <a:avLst/>
          </a:prstGeom>
          <a:solidFill>
            <a:srgbClr val="EEF3FC"/>
          </a:solidFill>
          <a:ln w="12700">
            <a:solidFill>
              <a:srgbClr val="EEF3FC"/>
            </a:solidFill>
            <a:prstDash val="solid"/>
          </a:ln>
        </p:spPr>
      </p:sp>
      <p:sp>
        <p:nvSpPr>
          <p:cNvPr id="18" name="Shape 15"/>
          <p:cNvSpPr/>
          <p:nvPr/>
        </p:nvSpPr>
        <p:spPr>
          <a:xfrm>
            <a:off x="777240" y="4366260"/>
            <a:ext cx="502920" cy="502920"/>
          </a:xfrm>
          <a:prstGeom prst="ellipse">
            <a:avLst/>
          </a:prstGeom>
          <a:solidFill>
            <a:srgbClr val="E8B923"/>
          </a:solidFill>
          <a:ln w="12700">
            <a:solidFill>
              <a:srgbClr val="E8B923"/>
            </a:solidFill>
            <a:prstDash val="solid"/>
          </a:ln>
        </p:spPr>
      </p:sp>
      <p:sp>
        <p:nvSpPr>
          <p:cNvPr id="19" name="Text 16"/>
          <p:cNvSpPr txBox="1"/>
          <p:nvPr/>
        </p:nvSpPr>
        <p:spPr>
          <a:xfrm>
            <a:off x="777240" y="436626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2</a:t>
            </a:r>
            <a:endParaRPr lang="en-US" sz="2000" dirty="0"/>
          </a:p>
        </p:txBody>
      </p:sp>
      <p:sp>
        <p:nvSpPr>
          <p:cNvPr id="20" name="Text 17"/>
          <p:cNvSpPr txBox="1"/>
          <p:nvPr/>
        </p:nvSpPr>
        <p:spPr>
          <a:xfrm>
            <a:off x="1554480" y="4160520"/>
            <a:ext cx="9875520" cy="91440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Tag bits = 20 − 9 − 5 = 6</a:t>
            </a:r>
            <a:endParaRPr lang="en-US" sz="2200" dirty="0"/>
          </a:p>
        </p:txBody>
      </p:sp>
      <p:sp>
        <p:nvSpPr>
          <p:cNvPr id="21" name="Shape 18"/>
          <p:cNvSpPr/>
          <p:nvPr/>
        </p:nvSpPr>
        <p:spPr>
          <a:xfrm>
            <a:off x="548640" y="5212080"/>
            <a:ext cx="11064240" cy="914400"/>
          </a:xfrm>
          <a:prstGeom prst="rect">
            <a:avLst/>
          </a:prstGeom>
          <a:solidFill>
            <a:srgbClr val="EEF3FC"/>
          </a:solidFill>
          <a:ln w="12700">
            <a:solidFill>
              <a:srgbClr val="EEF3FC"/>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2. Fully Associative Mapping: 15 | 5</a:t>
            </a: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4A5A8A"/>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Text 2"/>
          <p:cNvSpPr txBox="1"/>
          <p:nvPr/>
        </p:nvSpPr>
        <p:spPr>
          <a:xfrm>
            <a:off x="548640" y="1371600"/>
            <a:ext cx="914400" cy="36576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A19</a:t>
            </a:r>
            <a:endParaRPr lang="en-US" sz="2000" dirty="0"/>
          </a:p>
        </p:txBody>
      </p:sp>
      <p:sp>
        <p:nvSpPr>
          <p:cNvPr id="6" name="Text 3"/>
          <p:cNvSpPr txBox="1"/>
          <p:nvPr/>
        </p:nvSpPr>
        <p:spPr>
          <a:xfrm>
            <a:off x="10698480" y="1371600"/>
            <a:ext cx="914400" cy="365760"/>
          </a:xfrm>
          <a:prstGeom prst="rect">
            <a:avLst/>
          </a:prstGeom>
          <a:noFill/>
          <a:ln/>
        </p:spPr>
        <p:txBody>
          <a:bodyPr wrap="square" lIns="0" tIns="0" rIns="0" bIns="0" rtlCol="0" anchor="ctr"/>
          <a:lstStyle/>
          <a:p>
            <a:pPr marL="0" indent="0" algn="r">
              <a:buNone/>
            </a:pPr>
            <a:r>
              <a:rPr lang="en-US" sz="2000" b="1" dirty="0">
                <a:solidFill>
                  <a:srgbClr val="1E2761"/>
                </a:solidFill>
                <a:latin typeface="Calibri" pitchFamily="34" charset="0"/>
                <a:ea typeface="Calibri" pitchFamily="34" charset="-122"/>
                <a:cs typeface="Calibri" pitchFamily="34" charset="-120"/>
              </a:rPr>
              <a:t>A0</a:t>
            </a:r>
            <a:endParaRPr lang="en-US" sz="2000" dirty="0"/>
          </a:p>
        </p:txBody>
      </p:sp>
      <p:sp>
        <p:nvSpPr>
          <p:cNvPr id="7" name="Shape 4"/>
          <p:cNvSpPr/>
          <p:nvPr/>
        </p:nvSpPr>
        <p:spPr>
          <a:xfrm>
            <a:off x="548640" y="1828800"/>
            <a:ext cx="8298180" cy="822960"/>
          </a:xfrm>
          <a:prstGeom prst="rect">
            <a:avLst/>
          </a:prstGeom>
          <a:solidFill>
            <a:srgbClr val="E8B923"/>
          </a:solidFill>
          <a:ln w="9525">
            <a:solidFill>
              <a:srgbClr val="1E2761"/>
            </a:solidFill>
            <a:prstDash val="solid"/>
          </a:ln>
        </p:spPr>
      </p:sp>
      <p:sp>
        <p:nvSpPr>
          <p:cNvPr id="8" name="Text 5"/>
          <p:cNvSpPr txBox="1"/>
          <p:nvPr/>
        </p:nvSpPr>
        <p:spPr>
          <a:xfrm>
            <a:off x="548640" y="1828800"/>
            <a:ext cx="8298180"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Tag = 15</a:t>
            </a:r>
            <a:endParaRPr lang="en-US" sz="2000" dirty="0"/>
          </a:p>
        </p:txBody>
      </p:sp>
      <p:sp>
        <p:nvSpPr>
          <p:cNvPr id="9" name="Shape 6"/>
          <p:cNvSpPr/>
          <p:nvPr/>
        </p:nvSpPr>
        <p:spPr>
          <a:xfrm>
            <a:off x="8846820" y="1828800"/>
            <a:ext cx="2766060" cy="822960"/>
          </a:xfrm>
          <a:prstGeom prst="rect">
            <a:avLst/>
          </a:prstGeom>
          <a:solidFill>
            <a:srgbClr val="EEF3FC"/>
          </a:solidFill>
          <a:ln w="9525">
            <a:solidFill>
              <a:srgbClr val="1E2761"/>
            </a:solidFill>
            <a:prstDash val="solid"/>
          </a:ln>
        </p:spPr>
      </p:sp>
      <p:sp>
        <p:nvSpPr>
          <p:cNvPr id="10" name="Text 7"/>
          <p:cNvSpPr txBox="1"/>
          <p:nvPr/>
        </p:nvSpPr>
        <p:spPr>
          <a:xfrm>
            <a:off x="8846820" y="1828800"/>
            <a:ext cx="2766060"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Word = 5</a:t>
            </a:r>
            <a:endParaRPr lang="en-US" sz="2000" dirty="0"/>
          </a:p>
        </p:txBody>
      </p:sp>
      <p:sp>
        <p:nvSpPr>
          <p:cNvPr id="11" name="Shape 8"/>
          <p:cNvSpPr/>
          <p:nvPr/>
        </p:nvSpPr>
        <p:spPr>
          <a:xfrm>
            <a:off x="548640" y="3108960"/>
            <a:ext cx="11064240" cy="914400"/>
          </a:xfrm>
          <a:prstGeom prst="rect">
            <a:avLst/>
          </a:prstGeom>
          <a:solidFill>
            <a:srgbClr val="EEF3FC"/>
          </a:solidFill>
          <a:ln w="12700">
            <a:solidFill>
              <a:srgbClr val="EEF3FC"/>
            </a:solidFill>
            <a:prstDash val="solid"/>
          </a:ln>
        </p:spPr>
      </p:sp>
      <p:sp>
        <p:nvSpPr>
          <p:cNvPr id="12" name="Shape 9"/>
          <p:cNvSpPr/>
          <p:nvPr/>
        </p:nvSpPr>
        <p:spPr>
          <a:xfrm>
            <a:off x="777240" y="3314700"/>
            <a:ext cx="502920" cy="502920"/>
          </a:xfrm>
          <a:prstGeom prst="ellipse">
            <a:avLst/>
          </a:prstGeom>
          <a:solidFill>
            <a:srgbClr val="E8B923"/>
          </a:solidFill>
          <a:ln w="12700">
            <a:solidFill>
              <a:srgbClr val="E8B923"/>
            </a:solidFill>
            <a:prstDash val="solid"/>
          </a:ln>
        </p:spPr>
      </p:sp>
      <p:sp>
        <p:nvSpPr>
          <p:cNvPr id="13" name="Text 10"/>
          <p:cNvSpPr txBox="1"/>
          <p:nvPr/>
        </p:nvSpPr>
        <p:spPr>
          <a:xfrm>
            <a:off x="777240" y="331470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1</a:t>
            </a:r>
            <a:endParaRPr lang="en-US" sz="2000" dirty="0"/>
          </a:p>
        </p:txBody>
      </p:sp>
      <p:sp>
        <p:nvSpPr>
          <p:cNvPr id="14" name="Text 11"/>
          <p:cNvSpPr txBox="1"/>
          <p:nvPr/>
        </p:nvSpPr>
        <p:spPr>
          <a:xfrm>
            <a:off x="1554480" y="3108960"/>
            <a:ext cx="9875520" cy="91440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Index bits = 0 (block can sit in any line)</a:t>
            </a:r>
            <a:endParaRPr lang="en-US" sz="2200" dirty="0"/>
          </a:p>
        </p:txBody>
      </p:sp>
      <p:sp>
        <p:nvSpPr>
          <p:cNvPr id="15" name="Shape 12"/>
          <p:cNvSpPr/>
          <p:nvPr/>
        </p:nvSpPr>
        <p:spPr>
          <a:xfrm>
            <a:off x="548640" y="4160520"/>
            <a:ext cx="11064240" cy="914400"/>
          </a:xfrm>
          <a:prstGeom prst="rect">
            <a:avLst/>
          </a:prstGeom>
          <a:solidFill>
            <a:srgbClr val="EEF3FC"/>
          </a:solidFill>
          <a:ln w="12700">
            <a:solidFill>
              <a:srgbClr val="EEF3FC"/>
            </a:solidFill>
            <a:prstDash val="solid"/>
          </a:ln>
        </p:spPr>
      </p:sp>
      <p:sp>
        <p:nvSpPr>
          <p:cNvPr id="16" name="Shape 13"/>
          <p:cNvSpPr/>
          <p:nvPr/>
        </p:nvSpPr>
        <p:spPr>
          <a:xfrm>
            <a:off x="777240" y="4366260"/>
            <a:ext cx="502920" cy="502920"/>
          </a:xfrm>
          <a:prstGeom prst="ellipse">
            <a:avLst/>
          </a:prstGeom>
          <a:solidFill>
            <a:srgbClr val="E8B923"/>
          </a:solidFill>
          <a:ln w="12700">
            <a:solidFill>
              <a:srgbClr val="E8B923"/>
            </a:solidFill>
            <a:prstDash val="solid"/>
          </a:ln>
        </p:spPr>
      </p:sp>
      <p:sp>
        <p:nvSpPr>
          <p:cNvPr id="17" name="Text 14"/>
          <p:cNvSpPr txBox="1"/>
          <p:nvPr/>
        </p:nvSpPr>
        <p:spPr>
          <a:xfrm>
            <a:off x="777240" y="436626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2</a:t>
            </a:r>
            <a:endParaRPr lang="en-US" sz="2000" dirty="0"/>
          </a:p>
        </p:txBody>
      </p:sp>
      <p:sp>
        <p:nvSpPr>
          <p:cNvPr id="18" name="Text 15"/>
          <p:cNvSpPr txBox="1"/>
          <p:nvPr/>
        </p:nvSpPr>
        <p:spPr>
          <a:xfrm>
            <a:off x="1554480" y="4160520"/>
            <a:ext cx="9875520" cy="91440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Tag bits = 20 − 5 = 15 (the full block number)</a:t>
            </a:r>
            <a:endParaRPr lang="en-US" sz="2200" dirty="0"/>
          </a:p>
        </p:txBody>
      </p:sp>
      <p:sp>
        <p:nvSpPr>
          <p:cNvPr id="19" name="Shape 16"/>
          <p:cNvSpPr/>
          <p:nvPr/>
        </p:nvSpPr>
        <p:spPr>
          <a:xfrm>
            <a:off x="548640" y="5212080"/>
            <a:ext cx="11064240" cy="914400"/>
          </a:xfrm>
          <a:prstGeom prst="rect">
            <a:avLst/>
          </a:prstGeom>
          <a:solidFill>
            <a:srgbClr val="EEF3FC"/>
          </a:solidFill>
          <a:ln w="12700">
            <a:solidFill>
              <a:srgbClr val="EEF3FC"/>
            </a:solidFill>
            <a:prstDash val="solid"/>
          </a:ln>
        </p:spPr>
      </p:sp>
      <p:sp>
        <p:nvSpPr>
          <p:cNvPr id="20" name="Shape 17"/>
          <p:cNvSpPr/>
          <p:nvPr/>
        </p:nvSpPr>
        <p:spPr>
          <a:xfrm>
            <a:off x="777240" y="5417820"/>
            <a:ext cx="502920" cy="502920"/>
          </a:xfrm>
          <a:prstGeom prst="ellipse">
            <a:avLst/>
          </a:prstGeom>
          <a:solidFill>
            <a:srgbClr val="E8B923"/>
          </a:solidFill>
          <a:ln w="12700">
            <a:solidFill>
              <a:srgbClr val="E8B923"/>
            </a:solidFill>
            <a:prstDash val="solid"/>
          </a:ln>
        </p:spPr>
      </p:sp>
      <p:sp>
        <p:nvSpPr>
          <p:cNvPr id="21" name="Text 18"/>
          <p:cNvSpPr txBox="1"/>
          <p:nvPr/>
        </p:nvSpPr>
        <p:spPr>
          <a:xfrm>
            <a:off x="777240" y="541782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3</a:t>
            </a:r>
            <a:endParaRPr lang="en-US" sz="2000" dirty="0"/>
          </a:p>
        </p:txBody>
      </p:sp>
      <p:sp>
        <p:nvSpPr>
          <p:cNvPr id="22" name="Text 19"/>
          <p:cNvSpPr txBox="1"/>
          <p:nvPr/>
        </p:nvSpPr>
        <p:spPr>
          <a:xfrm>
            <a:off x="1554480" y="5212080"/>
            <a:ext cx="9875520" cy="91440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Trade-off: 512 comparators, no conflict misses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3. 2-Way Set-Associative: 7 | 8 | 5</a:t>
            </a: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4A5A8A"/>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Text 2"/>
          <p:cNvSpPr txBox="1"/>
          <p:nvPr/>
        </p:nvSpPr>
        <p:spPr>
          <a:xfrm>
            <a:off x="548640" y="1371600"/>
            <a:ext cx="914400" cy="36576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A19</a:t>
            </a:r>
            <a:endParaRPr lang="en-US" sz="2000" dirty="0"/>
          </a:p>
        </p:txBody>
      </p:sp>
      <p:sp>
        <p:nvSpPr>
          <p:cNvPr id="6" name="Text 3"/>
          <p:cNvSpPr txBox="1"/>
          <p:nvPr/>
        </p:nvSpPr>
        <p:spPr>
          <a:xfrm>
            <a:off x="10698480" y="1371600"/>
            <a:ext cx="914400" cy="365760"/>
          </a:xfrm>
          <a:prstGeom prst="rect">
            <a:avLst/>
          </a:prstGeom>
          <a:noFill/>
          <a:ln/>
        </p:spPr>
        <p:txBody>
          <a:bodyPr wrap="square" lIns="0" tIns="0" rIns="0" bIns="0" rtlCol="0" anchor="ctr"/>
          <a:lstStyle/>
          <a:p>
            <a:pPr marL="0" indent="0" algn="r">
              <a:buNone/>
            </a:pPr>
            <a:r>
              <a:rPr lang="en-US" sz="2000" b="1" dirty="0">
                <a:solidFill>
                  <a:srgbClr val="1E2761"/>
                </a:solidFill>
                <a:latin typeface="Calibri" pitchFamily="34" charset="0"/>
                <a:ea typeface="Calibri" pitchFamily="34" charset="-122"/>
                <a:cs typeface="Calibri" pitchFamily="34" charset="-120"/>
              </a:rPr>
              <a:t>A0</a:t>
            </a:r>
            <a:endParaRPr lang="en-US" sz="2000" dirty="0"/>
          </a:p>
        </p:txBody>
      </p:sp>
      <p:sp>
        <p:nvSpPr>
          <p:cNvPr id="7" name="Shape 4"/>
          <p:cNvSpPr/>
          <p:nvPr/>
        </p:nvSpPr>
        <p:spPr>
          <a:xfrm>
            <a:off x="548640" y="1828800"/>
            <a:ext cx="3872484" cy="822960"/>
          </a:xfrm>
          <a:prstGeom prst="rect">
            <a:avLst/>
          </a:prstGeom>
          <a:solidFill>
            <a:srgbClr val="E8B923"/>
          </a:solidFill>
          <a:ln w="9525">
            <a:solidFill>
              <a:srgbClr val="1E2761"/>
            </a:solidFill>
            <a:prstDash val="solid"/>
          </a:ln>
        </p:spPr>
      </p:sp>
      <p:sp>
        <p:nvSpPr>
          <p:cNvPr id="8" name="Text 5"/>
          <p:cNvSpPr txBox="1"/>
          <p:nvPr/>
        </p:nvSpPr>
        <p:spPr>
          <a:xfrm>
            <a:off x="548640" y="1828800"/>
            <a:ext cx="3872484"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Tag = 7</a:t>
            </a:r>
            <a:endParaRPr lang="en-US" sz="2000" dirty="0"/>
          </a:p>
        </p:txBody>
      </p:sp>
      <p:sp>
        <p:nvSpPr>
          <p:cNvPr id="9" name="Shape 6"/>
          <p:cNvSpPr/>
          <p:nvPr/>
        </p:nvSpPr>
        <p:spPr>
          <a:xfrm>
            <a:off x="4421124" y="1828800"/>
            <a:ext cx="4425696" cy="822960"/>
          </a:xfrm>
          <a:prstGeom prst="rect">
            <a:avLst/>
          </a:prstGeom>
          <a:solidFill>
            <a:srgbClr val="CADCFC"/>
          </a:solidFill>
          <a:ln w="9525">
            <a:solidFill>
              <a:srgbClr val="1E2761"/>
            </a:solidFill>
            <a:prstDash val="solid"/>
          </a:ln>
        </p:spPr>
      </p:sp>
      <p:sp>
        <p:nvSpPr>
          <p:cNvPr id="10" name="Text 7"/>
          <p:cNvSpPr txBox="1"/>
          <p:nvPr/>
        </p:nvSpPr>
        <p:spPr>
          <a:xfrm>
            <a:off x="4421124" y="1828800"/>
            <a:ext cx="4425696"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Set = 8</a:t>
            </a:r>
            <a:endParaRPr lang="en-US" sz="2000" dirty="0"/>
          </a:p>
        </p:txBody>
      </p:sp>
      <p:sp>
        <p:nvSpPr>
          <p:cNvPr id="11" name="Shape 8"/>
          <p:cNvSpPr/>
          <p:nvPr/>
        </p:nvSpPr>
        <p:spPr>
          <a:xfrm>
            <a:off x="8846820" y="1828800"/>
            <a:ext cx="2766060" cy="822960"/>
          </a:xfrm>
          <a:prstGeom prst="rect">
            <a:avLst/>
          </a:prstGeom>
          <a:solidFill>
            <a:srgbClr val="EEF3FC"/>
          </a:solidFill>
          <a:ln w="9525">
            <a:solidFill>
              <a:srgbClr val="1E2761"/>
            </a:solidFill>
            <a:prstDash val="solid"/>
          </a:ln>
        </p:spPr>
      </p:sp>
      <p:sp>
        <p:nvSpPr>
          <p:cNvPr id="12" name="Text 9"/>
          <p:cNvSpPr txBox="1"/>
          <p:nvPr/>
        </p:nvSpPr>
        <p:spPr>
          <a:xfrm>
            <a:off x="8846820" y="1828800"/>
            <a:ext cx="2766060"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Word = 5</a:t>
            </a:r>
            <a:endParaRPr lang="en-US" sz="2000" dirty="0"/>
          </a:p>
        </p:txBody>
      </p:sp>
      <p:sp>
        <p:nvSpPr>
          <p:cNvPr id="13" name="Shape 10"/>
          <p:cNvSpPr/>
          <p:nvPr/>
        </p:nvSpPr>
        <p:spPr>
          <a:xfrm>
            <a:off x="548640" y="3108960"/>
            <a:ext cx="11064240" cy="914400"/>
          </a:xfrm>
          <a:prstGeom prst="rect">
            <a:avLst/>
          </a:prstGeom>
          <a:solidFill>
            <a:srgbClr val="EEF3FC"/>
          </a:solidFill>
          <a:ln w="12700">
            <a:solidFill>
              <a:srgbClr val="EEF3FC"/>
            </a:solidFill>
            <a:prstDash val="solid"/>
          </a:ln>
        </p:spPr>
      </p:sp>
      <p:sp>
        <p:nvSpPr>
          <p:cNvPr id="14" name="Shape 11"/>
          <p:cNvSpPr/>
          <p:nvPr/>
        </p:nvSpPr>
        <p:spPr>
          <a:xfrm>
            <a:off x="777240" y="3314700"/>
            <a:ext cx="502920" cy="502920"/>
          </a:xfrm>
          <a:prstGeom prst="ellipse">
            <a:avLst/>
          </a:prstGeom>
          <a:solidFill>
            <a:srgbClr val="E8B923"/>
          </a:solidFill>
          <a:ln w="12700">
            <a:solidFill>
              <a:srgbClr val="E8B923"/>
            </a:solidFill>
            <a:prstDash val="solid"/>
          </a:ln>
        </p:spPr>
      </p:sp>
      <p:sp>
        <p:nvSpPr>
          <p:cNvPr id="15" name="Text 12"/>
          <p:cNvSpPr txBox="1"/>
          <p:nvPr/>
        </p:nvSpPr>
        <p:spPr>
          <a:xfrm>
            <a:off x="777240" y="331470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1</a:t>
            </a:r>
            <a:endParaRPr lang="en-US" sz="2000" dirty="0"/>
          </a:p>
        </p:txBody>
      </p:sp>
      <p:sp>
        <p:nvSpPr>
          <p:cNvPr id="16" name="Text 13"/>
          <p:cNvSpPr txBox="1"/>
          <p:nvPr/>
        </p:nvSpPr>
        <p:spPr>
          <a:xfrm>
            <a:off x="1554480" y="3108960"/>
            <a:ext cx="9875520" cy="91440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Sets = 512 ÷ 2 = 256 = 2⁸ → Set bits = 8</a:t>
            </a:r>
            <a:endParaRPr lang="en-US" sz="2200" dirty="0"/>
          </a:p>
        </p:txBody>
      </p:sp>
      <p:sp>
        <p:nvSpPr>
          <p:cNvPr id="17" name="Shape 14"/>
          <p:cNvSpPr/>
          <p:nvPr/>
        </p:nvSpPr>
        <p:spPr>
          <a:xfrm>
            <a:off x="548640" y="4160520"/>
            <a:ext cx="11064240" cy="914400"/>
          </a:xfrm>
          <a:prstGeom prst="rect">
            <a:avLst/>
          </a:prstGeom>
          <a:solidFill>
            <a:srgbClr val="EEF3FC"/>
          </a:solidFill>
          <a:ln w="12700">
            <a:solidFill>
              <a:srgbClr val="EEF3FC"/>
            </a:solidFill>
            <a:prstDash val="solid"/>
          </a:ln>
        </p:spPr>
      </p:sp>
      <p:sp>
        <p:nvSpPr>
          <p:cNvPr id="18" name="Shape 15"/>
          <p:cNvSpPr/>
          <p:nvPr/>
        </p:nvSpPr>
        <p:spPr>
          <a:xfrm>
            <a:off x="777240" y="4366260"/>
            <a:ext cx="502920" cy="502920"/>
          </a:xfrm>
          <a:prstGeom prst="ellipse">
            <a:avLst/>
          </a:prstGeom>
          <a:solidFill>
            <a:srgbClr val="E8B923"/>
          </a:solidFill>
          <a:ln w="12700">
            <a:solidFill>
              <a:srgbClr val="E8B923"/>
            </a:solidFill>
            <a:prstDash val="solid"/>
          </a:ln>
        </p:spPr>
      </p:sp>
      <p:sp>
        <p:nvSpPr>
          <p:cNvPr id="19" name="Text 16"/>
          <p:cNvSpPr txBox="1"/>
          <p:nvPr/>
        </p:nvSpPr>
        <p:spPr>
          <a:xfrm>
            <a:off x="777240" y="436626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2</a:t>
            </a:r>
            <a:endParaRPr lang="en-US" sz="2000" dirty="0"/>
          </a:p>
        </p:txBody>
      </p:sp>
      <p:sp>
        <p:nvSpPr>
          <p:cNvPr id="20" name="Text 17"/>
          <p:cNvSpPr txBox="1"/>
          <p:nvPr/>
        </p:nvSpPr>
        <p:spPr>
          <a:xfrm>
            <a:off x="1554480" y="4160520"/>
            <a:ext cx="9875520" cy="91440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Tag bits = 20 − 8 − 5 = 7</a:t>
            </a:r>
            <a:endParaRPr lang="en-US" sz="2200" dirty="0"/>
          </a:p>
        </p:txBody>
      </p:sp>
      <p:sp>
        <p:nvSpPr>
          <p:cNvPr id="21" name="Shape 18"/>
          <p:cNvSpPr/>
          <p:nvPr/>
        </p:nvSpPr>
        <p:spPr>
          <a:xfrm>
            <a:off x="548640" y="5212080"/>
            <a:ext cx="11064240" cy="914400"/>
          </a:xfrm>
          <a:prstGeom prst="rect">
            <a:avLst/>
          </a:prstGeom>
          <a:solidFill>
            <a:srgbClr val="EEF3FC"/>
          </a:solidFill>
          <a:ln w="12700">
            <a:solidFill>
              <a:srgbClr val="EEF3FC"/>
            </a:solidFill>
            <a:prstDash val="solid"/>
          </a:ln>
        </p:spPr>
      </p:sp>
      <p:sp>
        <p:nvSpPr>
          <p:cNvPr id="22" name="Shape 19"/>
          <p:cNvSpPr/>
          <p:nvPr/>
        </p:nvSpPr>
        <p:spPr>
          <a:xfrm>
            <a:off x="777240" y="5417820"/>
            <a:ext cx="502920" cy="502920"/>
          </a:xfrm>
          <a:prstGeom prst="ellipse">
            <a:avLst/>
          </a:prstGeom>
          <a:solidFill>
            <a:srgbClr val="E8B923"/>
          </a:solidFill>
          <a:ln w="12700">
            <a:solidFill>
              <a:srgbClr val="E8B923"/>
            </a:solidFill>
            <a:prstDash val="solid"/>
          </a:ln>
        </p:spPr>
      </p:sp>
      <p:sp>
        <p:nvSpPr>
          <p:cNvPr id="23" name="Text 20"/>
          <p:cNvSpPr txBox="1"/>
          <p:nvPr/>
        </p:nvSpPr>
        <p:spPr>
          <a:xfrm>
            <a:off x="777240" y="541782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3</a:t>
            </a:r>
            <a:endParaRPr lang="en-US" sz="2000" dirty="0"/>
          </a:p>
        </p:txBody>
      </p:sp>
      <p:sp>
        <p:nvSpPr>
          <p:cNvPr id="24" name="Text 21"/>
          <p:cNvSpPr txBox="1"/>
          <p:nvPr/>
        </p:nvSpPr>
        <p:spPr>
          <a:xfrm>
            <a:off x="1554480" y="5212080"/>
            <a:ext cx="9875520" cy="91440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Only 2 comparators per lookup</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4. 4-Way Set-Associative: 8 | 7 | 5</a:t>
            </a: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4A5A8A"/>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Text 2"/>
          <p:cNvSpPr txBox="1"/>
          <p:nvPr/>
        </p:nvSpPr>
        <p:spPr>
          <a:xfrm>
            <a:off x="548640" y="1371600"/>
            <a:ext cx="914400" cy="36576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A19</a:t>
            </a:r>
            <a:endParaRPr lang="en-US" sz="2000" dirty="0"/>
          </a:p>
        </p:txBody>
      </p:sp>
      <p:sp>
        <p:nvSpPr>
          <p:cNvPr id="6" name="Text 3"/>
          <p:cNvSpPr txBox="1"/>
          <p:nvPr/>
        </p:nvSpPr>
        <p:spPr>
          <a:xfrm>
            <a:off x="10698480" y="1371600"/>
            <a:ext cx="914400" cy="365760"/>
          </a:xfrm>
          <a:prstGeom prst="rect">
            <a:avLst/>
          </a:prstGeom>
          <a:noFill/>
          <a:ln/>
        </p:spPr>
        <p:txBody>
          <a:bodyPr wrap="square" lIns="0" tIns="0" rIns="0" bIns="0" rtlCol="0" anchor="ctr"/>
          <a:lstStyle/>
          <a:p>
            <a:pPr marL="0" indent="0" algn="r">
              <a:buNone/>
            </a:pPr>
            <a:r>
              <a:rPr lang="en-US" sz="2000" b="1" dirty="0">
                <a:solidFill>
                  <a:srgbClr val="1E2761"/>
                </a:solidFill>
                <a:latin typeface="Calibri" pitchFamily="34" charset="0"/>
                <a:ea typeface="Calibri" pitchFamily="34" charset="-122"/>
                <a:cs typeface="Calibri" pitchFamily="34" charset="-120"/>
              </a:rPr>
              <a:t>A0</a:t>
            </a:r>
            <a:endParaRPr lang="en-US" sz="2000" dirty="0"/>
          </a:p>
        </p:txBody>
      </p:sp>
      <p:sp>
        <p:nvSpPr>
          <p:cNvPr id="7" name="Shape 4"/>
          <p:cNvSpPr/>
          <p:nvPr/>
        </p:nvSpPr>
        <p:spPr>
          <a:xfrm>
            <a:off x="548640" y="1828800"/>
            <a:ext cx="4425696" cy="822960"/>
          </a:xfrm>
          <a:prstGeom prst="rect">
            <a:avLst/>
          </a:prstGeom>
          <a:solidFill>
            <a:srgbClr val="E8B923"/>
          </a:solidFill>
          <a:ln w="9525">
            <a:solidFill>
              <a:srgbClr val="1E2761"/>
            </a:solidFill>
            <a:prstDash val="solid"/>
          </a:ln>
        </p:spPr>
      </p:sp>
      <p:sp>
        <p:nvSpPr>
          <p:cNvPr id="8" name="Text 5"/>
          <p:cNvSpPr txBox="1"/>
          <p:nvPr/>
        </p:nvSpPr>
        <p:spPr>
          <a:xfrm>
            <a:off x="548640" y="1828800"/>
            <a:ext cx="4425696"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Tag = 8</a:t>
            </a:r>
            <a:endParaRPr lang="en-US" sz="2000" dirty="0"/>
          </a:p>
        </p:txBody>
      </p:sp>
      <p:sp>
        <p:nvSpPr>
          <p:cNvPr id="9" name="Shape 6"/>
          <p:cNvSpPr/>
          <p:nvPr/>
        </p:nvSpPr>
        <p:spPr>
          <a:xfrm>
            <a:off x="4974336" y="1828800"/>
            <a:ext cx="3872484" cy="822960"/>
          </a:xfrm>
          <a:prstGeom prst="rect">
            <a:avLst/>
          </a:prstGeom>
          <a:solidFill>
            <a:srgbClr val="CADCFC"/>
          </a:solidFill>
          <a:ln w="9525">
            <a:solidFill>
              <a:srgbClr val="1E2761"/>
            </a:solidFill>
            <a:prstDash val="solid"/>
          </a:ln>
        </p:spPr>
      </p:sp>
      <p:sp>
        <p:nvSpPr>
          <p:cNvPr id="10" name="Text 7"/>
          <p:cNvSpPr txBox="1"/>
          <p:nvPr/>
        </p:nvSpPr>
        <p:spPr>
          <a:xfrm>
            <a:off x="4974336" y="1828800"/>
            <a:ext cx="3872484"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Set = 7</a:t>
            </a:r>
            <a:endParaRPr lang="en-US" sz="2000" dirty="0"/>
          </a:p>
        </p:txBody>
      </p:sp>
      <p:sp>
        <p:nvSpPr>
          <p:cNvPr id="11" name="Shape 8"/>
          <p:cNvSpPr/>
          <p:nvPr/>
        </p:nvSpPr>
        <p:spPr>
          <a:xfrm>
            <a:off x="8846820" y="1828800"/>
            <a:ext cx="2766060" cy="822960"/>
          </a:xfrm>
          <a:prstGeom prst="rect">
            <a:avLst/>
          </a:prstGeom>
          <a:solidFill>
            <a:srgbClr val="EEF3FC"/>
          </a:solidFill>
          <a:ln w="9525">
            <a:solidFill>
              <a:srgbClr val="1E2761"/>
            </a:solidFill>
            <a:prstDash val="solid"/>
          </a:ln>
        </p:spPr>
      </p:sp>
      <p:sp>
        <p:nvSpPr>
          <p:cNvPr id="12" name="Text 9"/>
          <p:cNvSpPr txBox="1"/>
          <p:nvPr/>
        </p:nvSpPr>
        <p:spPr>
          <a:xfrm>
            <a:off x="8846820" y="1828800"/>
            <a:ext cx="2766060"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Word = 5</a:t>
            </a:r>
            <a:endParaRPr lang="en-US" sz="2000" dirty="0"/>
          </a:p>
        </p:txBody>
      </p:sp>
      <p:sp>
        <p:nvSpPr>
          <p:cNvPr id="13" name="Shape 10"/>
          <p:cNvSpPr/>
          <p:nvPr/>
        </p:nvSpPr>
        <p:spPr>
          <a:xfrm>
            <a:off x="548640" y="3108960"/>
            <a:ext cx="11064240" cy="914400"/>
          </a:xfrm>
          <a:prstGeom prst="rect">
            <a:avLst/>
          </a:prstGeom>
          <a:solidFill>
            <a:srgbClr val="EEF3FC"/>
          </a:solidFill>
          <a:ln w="12700">
            <a:solidFill>
              <a:srgbClr val="EEF3FC"/>
            </a:solidFill>
            <a:prstDash val="solid"/>
          </a:ln>
        </p:spPr>
      </p:sp>
      <p:sp>
        <p:nvSpPr>
          <p:cNvPr id="14" name="Shape 11"/>
          <p:cNvSpPr/>
          <p:nvPr/>
        </p:nvSpPr>
        <p:spPr>
          <a:xfrm>
            <a:off x="777240" y="3314700"/>
            <a:ext cx="502920" cy="502920"/>
          </a:xfrm>
          <a:prstGeom prst="ellipse">
            <a:avLst/>
          </a:prstGeom>
          <a:solidFill>
            <a:srgbClr val="E8B923"/>
          </a:solidFill>
          <a:ln w="12700">
            <a:solidFill>
              <a:srgbClr val="E8B923"/>
            </a:solidFill>
            <a:prstDash val="solid"/>
          </a:ln>
        </p:spPr>
      </p:sp>
      <p:sp>
        <p:nvSpPr>
          <p:cNvPr id="15" name="Text 12"/>
          <p:cNvSpPr txBox="1"/>
          <p:nvPr/>
        </p:nvSpPr>
        <p:spPr>
          <a:xfrm>
            <a:off x="777240" y="331470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1</a:t>
            </a:r>
            <a:endParaRPr lang="en-US" sz="2000" dirty="0"/>
          </a:p>
        </p:txBody>
      </p:sp>
      <p:sp>
        <p:nvSpPr>
          <p:cNvPr id="16" name="Text 13"/>
          <p:cNvSpPr txBox="1"/>
          <p:nvPr/>
        </p:nvSpPr>
        <p:spPr>
          <a:xfrm>
            <a:off x="1554480" y="3108960"/>
            <a:ext cx="9875520" cy="91440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Sets = 512 ÷ 4 = 128 = 2⁷ → Set bits = 7</a:t>
            </a:r>
            <a:endParaRPr lang="en-US" sz="2200" dirty="0"/>
          </a:p>
        </p:txBody>
      </p:sp>
      <p:sp>
        <p:nvSpPr>
          <p:cNvPr id="17" name="Shape 14"/>
          <p:cNvSpPr/>
          <p:nvPr/>
        </p:nvSpPr>
        <p:spPr>
          <a:xfrm>
            <a:off x="548640" y="4160520"/>
            <a:ext cx="11064240" cy="914400"/>
          </a:xfrm>
          <a:prstGeom prst="rect">
            <a:avLst/>
          </a:prstGeom>
          <a:solidFill>
            <a:srgbClr val="EEF3FC"/>
          </a:solidFill>
          <a:ln w="12700">
            <a:solidFill>
              <a:srgbClr val="EEF3FC"/>
            </a:solidFill>
            <a:prstDash val="solid"/>
          </a:ln>
        </p:spPr>
      </p:sp>
      <p:sp>
        <p:nvSpPr>
          <p:cNvPr id="18" name="Shape 15"/>
          <p:cNvSpPr/>
          <p:nvPr/>
        </p:nvSpPr>
        <p:spPr>
          <a:xfrm>
            <a:off x="777240" y="4366260"/>
            <a:ext cx="502920" cy="502920"/>
          </a:xfrm>
          <a:prstGeom prst="ellipse">
            <a:avLst/>
          </a:prstGeom>
          <a:solidFill>
            <a:srgbClr val="E8B923"/>
          </a:solidFill>
          <a:ln w="12700">
            <a:solidFill>
              <a:srgbClr val="E8B923"/>
            </a:solidFill>
            <a:prstDash val="solid"/>
          </a:ln>
        </p:spPr>
      </p:sp>
      <p:sp>
        <p:nvSpPr>
          <p:cNvPr id="19" name="Text 16"/>
          <p:cNvSpPr txBox="1"/>
          <p:nvPr/>
        </p:nvSpPr>
        <p:spPr>
          <a:xfrm>
            <a:off x="777240" y="436626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2</a:t>
            </a:r>
            <a:endParaRPr lang="en-US" sz="2000" dirty="0"/>
          </a:p>
        </p:txBody>
      </p:sp>
      <p:sp>
        <p:nvSpPr>
          <p:cNvPr id="20" name="Text 17"/>
          <p:cNvSpPr txBox="1"/>
          <p:nvPr/>
        </p:nvSpPr>
        <p:spPr>
          <a:xfrm>
            <a:off x="1554480" y="4160520"/>
            <a:ext cx="9875520" cy="91440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Tag bits = 20 − 7 − 5 = 8</a:t>
            </a:r>
            <a:endParaRPr lang="en-US" sz="2200" dirty="0"/>
          </a:p>
        </p:txBody>
      </p:sp>
      <p:sp>
        <p:nvSpPr>
          <p:cNvPr id="21" name="Shape 18"/>
          <p:cNvSpPr/>
          <p:nvPr/>
        </p:nvSpPr>
        <p:spPr>
          <a:xfrm>
            <a:off x="548640" y="5212080"/>
            <a:ext cx="11064240" cy="914400"/>
          </a:xfrm>
          <a:prstGeom prst="rect">
            <a:avLst/>
          </a:prstGeom>
          <a:solidFill>
            <a:srgbClr val="EEF3FC"/>
          </a:solidFill>
          <a:ln w="12700">
            <a:solidFill>
              <a:srgbClr val="EEF3FC"/>
            </a:solidFill>
            <a:prstDash val="solid"/>
          </a:ln>
        </p:spPr>
      </p:sp>
      <p:sp>
        <p:nvSpPr>
          <p:cNvPr id="22" name="Shape 19"/>
          <p:cNvSpPr/>
          <p:nvPr/>
        </p:nvSpPr>
        <p:spPr>
          <a:xfrm>
            <a:off x="777240" y="5417820"/>
            <a:ext cx="502920" cy="502920"/>
          </a:xfrm>
          <a:prstGeom prst="ellipse">
            <a:avLst/>
          </a:prstGeom>
          <a:solidFill>
            <a:srgbClr val="E8B923"/>
          </a:solidFill>
          <a:ln w="12700">
            <a:solidFill>
              <a:srgbClr val="E8B923"/>
            </a:solidFill>
            <a:prstDash val="solid"/>
          </a:ln>
        </p:spPr>
      </p:sp>
      <p:sp>
        <p:nvSpPr>
          <p:cNvPr id="23" name="Text 20"/>
          <p:cNvSpPr txBox="1"/>
          <p:nvPr/>
        </p:nvSpPr>
        <p:spPr>
          <a:xfrm>
            <a:off x="777240" y="541782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3</a:t>
            </a:r>
            <a:endParaRPr lang="en-US" sz="2000" dirty="0"/>
          </a:p>
        </p:txBody>
      </p:sp>
      <p:sp>
        <p:nvSpPr>
          <p:cNvPr id="24" name="Text 21"/>
          <p:cNvSpPr txBox="1"/>
          <p:nvPr/>
        </p:nvSpPr>
        <p:spPr>
          <a:xfrm>
            <a:off x="1554480" y="5212080"/>
            <a:ext cx="9875520" cy="91440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Only 4 comparators per lookup</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Comparison of the Three Mappings</a:t>
            </a: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4A5A8A"/>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2971800"/>
        </p:xfrm>
        <a:graphic>
          <a:graphicData uri="http://schemas.openxmlformats.org/drawingml/2006/table">
            <a:tbl>
              <a:tblPr/>
              <a:tblGrid>
                <a:gridCol w="42062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594360">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Mapping</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Tag</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Line / Set</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Word</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94360">
                <a:tc>
                  <a:txBody>
                    <a:bodyPr/>
                    <a:lstStyle/>
                    <a:p>
                      <a:pPr marL="0" indent="0">
                        <a:buNone/>
                      </a:pPr>
                      <a:r>
                        <a:rPr lang="en-US" sz="2200" b="1" dirty="0">
                          <a:solidFill>
                            <a:srgbClr val="1E2761"/>
                          </a:solidFill>
                          <a:latin typeface="Calibri" pitchFamily="34" charset="0"/>
                          <a:ea typeface="Calibri" pitchFamily="34" charset="-122"/>
                          <a:cs typeface="Calibri" pitchFamily="34" charset="-120"/>
                        </a:rPr>
                        <a:t>Direct</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ctr">
                        <a:buNone/>
                      </a:pPr>
                      <a:r>
                        <a:rPr lang="en-US" sz="2200" dirty="0">
                          <a:solidFill>
                            <a:srgbClr val="1E2761"/>
                          </a:solidFill>
                          <a:latin typeface="Calibri" pitchFamily="34" charset="0"/>
                          <a:ea typeface="Calibri" pitchFamily="34" charset="-122"/>
                          <a:cs typeface="Calibri" pitchFamily="34" charset="-120"/>
                        </a:rPr>
                        <a:t>6</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ctr">
                        <a:buNone/>
                      </a:pPr>
                      <a:r>
                        <a:rPr lang="en-US" sz="2200" dirty="0">
                          <a:solidFill>
                            <a:srgbClr val="1E2761"/>
                          </a:solidFill>
                          <a:latin typeface="Calibri" pitchFamily="34" charset="0"/>
                          <a:ea typeface="Calibri" pitchFamily="34" charset="-122"/>
                          <a:cs typeface="Calibri" pitchFamily="34" charset="-120"/>
                        </a:rPr>
                        <a:t>9 (line)</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ctr">
                        <a:buNone/>
                      </a:pPr>
                      <a:r>
                        <a:rPr lang="en-US" sz="2200" dirty="0">
                          <a:solidFill>
                            <a:srgbClr val="1E2761"/>
                          </a:solidFill>
                          <a:latin typeface="Calibri" pitchFamily="34" charset="0"/>
                          <a:ea typeface="Calibri" pitchFamily="34" charset="-122"/>
                          <a:cs typeface="Calibri" pitchFamily="34" charset="-120"/>
                        </a:rPr>
                        <a:t>5</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2200" b="1" dirty="0">
                          <a:solidFill>
                            <a:srgbClr val="1E2761"/>
                          </a:solidFill>
                          <a:latin typeface="Calibri" pitchFamily="34" charset="0"/>
                          <a:ea typeface="Calibri" pitchFamily="34" charset="-122"/>
                          <a:cs typeface="Calibri" pitchFamily="34" charset="-120"/>
                        </a:rPr>
                        <a:t>Fully associative</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ctr">
                        <a:buNone/>
                      </a:pPr>
                      <a:r>
                        <a:rPr lang="en-US" sz="2200" dirty="0">
                          <a:solidFill>
                            <a:srgbClr val="1E2761"/>
                          </a:solidFill>
                          <a:latin typeface="Calibri" pitchFamily="34" charset="0"/>
                          <a:ea typeface="Calibri" pitchFamily="34" charset="-122"/>
                          <a:cs typeface="Calibri" pitchFamily="34" charset="-120"/>
                        </a:rPr>
                        <a:t>15</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ctr">
                        <a:buNone/>
                      </a:pPr>
                      <a:r>
                        <a:rPr lang="en-US" sz="2200" dirty="0">
                          <a:solidFill>
                            <a:srgbClr val="1E2761"/>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ctr">
                        <a:buNone/>
                      </a:pPr>
                      <a:r>
                        <a:rPr lang="en-US" sz="2200" dirty="0">
                          <a:solidFill>
                            <a:srgbClr val="1E2761"/>
                          </a:solidFill>
                          <a:latin typeface="Calibri" pitchFamily="34" charset="0"/>
                          <a:ea typeface="Calibri" pitchFamily="34" charset="-122"/>
                          <a:cs typeface="Calibri" pitchFamily="34" charset="-120"/>
                        </a:rPr>
                        <a:t>5</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buNone/>
                      </a:pPr>
                      <a:r>
                        <a:rPr lang="en-US" sz="2200" b="1" dirty="0">
                          <a:solidFill>
                            <a:srgbClr val="1E2761"/>
                          </a:solidFill>
                          <a:latin typeface="Calibri" pitchFamily="34" charset="0"/>
                          <a:ea typeface="Calibri" pitchFamily="34" charset="-122"/>
                          <a:cs typeface="Calibri" pitchFamily="34" charset="-120"/>
                        </a:rPr>
                        <a:t>2-way set-associative</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ctr">
                        <a:buNone/>
                      </a:pPr>
                      <a:r>
                        <a:rPr lang="en-US" sz="2200" dirty="0">
                          <a:solidFill>
                            <a:srgbClr val="1E2761"/>
                          </a:solidFill>
                          <a:latin typeface="Calibri" pitchFamily="34" charset="0"/>
                          <a:ea typeface="Calibri" pitchFamily="34" charset="-122"/>
                          <a:cs typeface="Calibri" pitchFamily="34" charset="-120"/>
                        </a:rPr>
                        <a:t>7</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ctr">
                        <a:buNone/>
                      </a:pPr>
                      <a:r>
                        <a:rPr lang="en-US" sz="2200" dirty="0">
                          <a:solidFill>
                            <a:srgbClr val="1E2761"/>
                          </a:solidFill>
                          <a:latin typeface="Calibri" pitchFamily="34" charset="0"/>
                          <a:ea typeface="Calibri" pitchFamily="34" charset="-122"/>
                          <a:cs typeface="Calibri" pitchFamily="34" charset="-120"/>
                        </a:rPr>
                        <a:t>8 (set)</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ctr">
                        <a:buNone/>
                      </a:pPr>
                      <a:r>
                        <a:rPr lang="en-US" sz="2200" dirty="0">
                          <a:solidFill>
                            <a:srgbClr val="1E2761"/>
                          </a:solidFill>
                          <a:latin typeface="Calibri" pitchFamily="34" charset="0"/>
                          <a:ea typeface="Calibri" pitchFamily="34" charset="-122"/>
                          <a:cs typeface="Calibri" pitchFamily="34" charset="-120"/>
                        </a:rPr>
                        <a:t>5</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594360">
                <a:tc>
                  <a:txBody>
                    <a:bodyPr/>
                    <a:lstStyle/>
                    <a:p>
                      <a:pPr marL="0" indent="0">
                        <a:buNone/>
                      </a:pPr>
                      <a:r>
                        <a:rPr lang="en-US" sz="2200" b="1" dirty="0">
                          <a:solidFill>
                            <a:srgbClr val="1E2761"/>
                          </a:solidFill>
                          <a:latin typeface="Calibri" pitchFamily="34" charset="0"/>
                          <a:ea typeface="Calibri" pitchFamily="34" charset="-122"/>
                          <a:cs typeface="Calibri" pitchFamily="34" charset="-120"/>
                        </a:rPr>
                        <a:t>4-way set-associative</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ctr">
                        <a:buNone/>
                      </a:pPr>
                      <a:r>
                        <a:rPr lang="en-US" sz="2200" dirty="0">
                          <a:solidFill>
                            <a:srgbClr val="1E2761"/>
                          </a:solidFill>
                          <a:latin typeface="Calibri" pitchFamily="34" charset="0"/>
                          <a:ea typeface="Calibri" pitchFamily="34" charset="-122"/>
                          <a:cs typeface="Calibri" pitchFamily="34" charset="-120"/>
                        </a:rPr>
                        <a:t>8</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ctr">
                        <a:buNone/>
                      </a:pPr>
                      <a:r>
                        <a:rPr lang="en-US" sz="2200" dirty="0">
                          <a:solidFill>
                            <a:srgbClr val="1E2761"/>
                          </a:solidFill>
                          <a:latin typeface="Calibri" pitchFamily="34" charset="0"/>
                          <a:ea typeface="Calibri" pitchFamily="34" charset="-122"/>
                          <a:cs typeface="Calibri" pitchFamily="34" charset="-120"/>
                        </a:rPr>
                        <a:t>7 (set)</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gn="ctr">
                        <a:buNone/>
                      </a:pPr>
                      <a:r>
                        <a:rPr lang="en-US" sz="2200" dirty="0">
                          <a:solidFill>
                            <a:srgbClr val="1E2761"/>
                          </a:solidFill>
                          <a:latin typeface="Calibri" pitchFamily="34" charset="0"/>
                          <a:ea typeface="Calibri" pitchFamily="34" charset="-122"/>
                          <a:cs typeface="Calibri" pitchFamily="34" charset="-120"/>
                        </a:rPr>
                        <a:t>5</a:t>
                      </a:r>
                      <a:endParaRPr lang="en-US" sz="2200" dirty="0">
                        <a:latin typeface="Calibri" charset="0"/>
                        <a:ea typeface="Calibri" charset="0"/>
                        <a:cs typeface="Calibri"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2"/>
          <p:cNvSpPr txBox="1"/>
          <p:nvPr/>
        </p:nvSpPr>
        <p:spPr>
          <a:xfrm>
            <a:off x="548640" y="4846320"/>
            <a:ext cx="11064240" cy="640080"/>
          </a:xfrm>
          <a:prstGeom prst="rect">
            <a:avLst/>
          </a:prstGeom>
          <a:noFill/>
          <a:ln/>
        </p:spPr>
        <p:txBody>
          <a:bodyPr wrap="square" lIns="0" tIns="0" rIns="0" bIns="0" rtlCol="0" anchor="ctr"/>
          <a:lstStyle/>
          <a:p>
            <a:pPr marL="0" indent="0" algn="ctr">
              <a:buNone/>
            </a:pPr>
            <a:r>
              <a:rPr lang="en-US" sz="2600" b="1" dirty="0">
                <a:solidFill>
                  <a:srgbClr val="1E2761"/>
                </a:solidFill>
                <a:latin typeface="Calibri" pitchFamily="34" charset="0"/>
                <a:ea typeface="Calibri" pitchFamily="34" charset="-122"/>
                <a:cs typeface="Calibri" pitchFamily="34" charset="-120"/>
              </a:rPr>
              <a:t>Each row sums to 20 bits</a:t>
            </a:r>
            <a:endParaRPr lang="en-US" sz="2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A9C7AC0-8B62-454A-3392-A2466C2F8E7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4B29F84-07C4-9A68-CFEB-2D75C2EAC8EC}"/>
              </a:ext>
            </a:extLst>
          </p:cNvPr>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a:solidFill>
                  <a:srgbClr val="1E2761"/>
                </a:solidFill>
                <a:latin typeface="Cambria" pitchFamily="34" charset="0"/>
                <a:ea typeface="Cambria" pitchFamily="34" charset="-122"/>
                <a:cs typeface="Cambria" pitchFamily="34" charset="-120"/>
              </a:rPr>
              <a:t>Practice Problem</a:t>
            </a:r>
            <a:endParaRPr lang="en-US" sz="3600" dirty="0"/>
          </a:p>
        </p:txBody>
      </p:sp>
      <p:sp>
        <p:nvSpPr>
          <p:cNvPr id="3" name="Text 1">
            <a:extLst>
              <a:ext uri="{FF2B5EF4-FFF2-40B4-BE49-F238E27FC236}">
                <a16:creationId xmlns:a16="http://schemas.microsoft.com/office/drawing/2014/main" id="{4078DFDF-2BC8-5F5D-3207-708F091AC1A0}"/>
              </a:ext>
            </a:extLst>
          </p:cNvPr>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4A5A8A"/>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Text 2">
            <a:extLst>
              <a:ext uri="{FF2B5EF4-FFF2-40B4-BE49-F238E27FC236}">
                <a16:creationId xmlns:a16="http://schemas.microsoft.com/office/drawing/2014/main" id="{477BB11C-CD50-A2C1-5E93-18D5E15212B7}"/>
              </a:ext>
            </a:extLst>
          </p:cNvPr>
          <p:cNvSpPr txBox="1"/>
          <p:nvPr/>
        </p:nvSpPr>
        <p:spPr>
          <a:xfrm>
            <a:off x="548640" y="1371600"/>
            <a:ext cx="914400" cy="36576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A19</a:t>
            </a:r>
            <a:endParaRPr lang="en-US" sz="2000" dirty="0"/>
          </a:p>
        </p:txBody>
      </p:sp>
      <p:sp>
        <p:nvSpPr>
          <p:cNvPr id="6" name="Text 3">
            <a:extLst>
              <a:ext uri="{FF2B5EF4-FFF2-40B4-BE49-F238E27FC236}">
                <a16:creationId xmlns:a16="http://schemas.microsoft.com/office/drawing/2014/main" id="{74B22445-2959-779D-71C1-B21DD91AED19}"/>
              </a:ext>
            </a:extLst>
          </p:cNvPr>
          <p:cNvSpPr txBox="1"/>
          <p:nvPr/>
        </p:nvSpPr>
        <p:spPr>
          <a:xfrm>
            <a:off x="10698480" y="1371600"/>
            <a:ext cx="914400" cy="365760"/>
          </a:xfrm>
          <a:prstGeom prst="rect">
            <a:avLst/>
          </a:prstGeom>
          <a:noFill/>
          <a:ln/>
        </p:spPr>
        <p:txBody>
          <a:bodyPr wrap="square" lIns="0" tIns="0" rIns="0" bIns="0" rtlCol="0" anchor="ctr"/>
          <a:lstStyle/>
          <a:p>
            <a:pPr marL="0" indent="0" algn="r">
              <a:buNone/>
            </a:pPr>
            <a:r>
              <a:rPr lang="en-US" sz="2000" b="1" dirty="0">
                <a:solidFill>
                  <a:srgbClr val="1E2761"/>
                </a:solidFill>
                <a:latin typeface="Calibri" pitchFamily="34" charset="0"/>
                <a:ea typeface="Calibri" pitchFamily="34" charset="-122"/>
                <a:cs typeface="Calibri" pitchFamily="34" charset="-120"/>
              </a:rPr>
              <a:t>A0</a:t>
            </a:r>
            <a:endParaRPr lang="en-US" sz="2000" dirty="0"/>
          </a:p>
        </p:txBody>
      </p:sp>
      <p:sp>
        <p:nvSpPr>
          <p:cNvPr id="7" name="Shape 4">
            <a:extLst>
              <a:ext uri="{FF2B5EF4-FFF2-40B4-BE49-F238E27FC236}">
                <a16:creationId xmlns:a16="http://schemas.microsoft.com/office/drawing/2014/main" id="{BB29626E-4A8D-F573-63E2-066339B5D747}"/>
              </a:ext>
            </a:extLst>
          </p:cNvPr>
          <p:cNvSpPr/>
          <p:nvPr/>
        </p:nvSpPr>
        <p:spPr>
          <a:xfrm>
            <a:off x="548640" y="1828800"/>
            <a:ext cx="4425696" cy="822960"/>
          </a:xfrm>
          <a:prstGeom prst="rect">
            <a:avLst/>
          </a:prstGeom>
          <a:solidFill>
            <a:srgbClr val="E8B923"/>
          </a:solidFill>
          <a:ln w="9525">
            <a:solidFill>
              <a:srgbClr val="1E2761"/>
            </a:solidFill>
            <a:prstDash val="solid"/>
          </a:ln>
        </p:spPr>
      </p:sp>
      <p:sp>
        <p:nvSpPr>
          <p:cNvPr id="8" name="Text 5">
            <a:extLst>
              <a:ext uri="{FF2B5EF4-FFF2-40B4-BE49-F238E27FC236}">
                <a16:creationId xmlns:a16="http://schemas.microsoft.com/office/drawing/2014/main" id="{91519C9F-A1DE-EB1D-56A1-941C63814B82}"/>
              </a:ext>
            </a:extLst>
          </p:cNvPr>
          <p:cNvSpPr txBox="1"/>
          <p:nvPr/>
        </p:nvSpPr>
        <p:spPr>
          <a:xfrm>
            <a:off x="548640" y="1828800"/>
            <a:ext cx="4425696"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Tag = 8</a:t>
            </a:r>
            <a:endParaRPr lang="en-US" sz="2000" dirty="0"/>
          </a:p>
        </p:txBody>
      </p:sp>
      <p:sp>
        <p:nvSpPr>
          <p:cNvPr id="9" name="Shape 6">
            <a:extLst>
              <a:ext uri="{FF2B5EF4-FFF2-40B4-BE49-F238E27FC236}">
                <a16:creationId xmlns:a16="http://schemas.microsoft.com/office/drawing/2014/main" id="{E0ECF922-FD78-CB30-6C9B-1CE019555D17}"/>
              </a:ext>
            </a:extLst>
          </p:cNvPr>
          <p:cNvSpPr/>
          <p:nvPr/>
        </p:nvSpPr>
        <p:spPr>
          <a:xfrm>
            <a:off x="4974336" y="1828800"/>
            <a:ext cx="3872484" cy="822960"/>
          </a:xfrm>
          <a:prstGeom prst="rect">
            <a:avLst/>
          </a:prstGeom>
          <a:solidFill>
            <a:srgbClr val="CADCFC"/>
          </a:solidFill>
          <a:ln w="9525">
            <a:solidFill>
              <a:srgbClr val="1E2761"/>
            </a:solidFill>
            <a:prstDash val="solid"/>
          </a:ln>
        </p:spPr>
      </p:sp>
      <p:sp>
        <p:nvSpPr>
          <p:cNvPr id="10" name="Text 7">
            <a:extLst>
              <a:ext uri="{FF2B5EF4-FFF2-40B4-BE49-F238E27FC236}">
                <a16:creationId xmlns:a16="http://schemas.microsoft.com/office/drawing/2014/main" id="{383F5000-5B57-5561-ED0D-2FCFA56131F4}"/>
              </a:ext>
            </a:extLst>
          </p:cNvPr>
          <p:cNvSpPr txBox="1"/>
          <p:nvPr/>
        </p:nvSpPr>
        <p:spPr>
          <a:xfrm>
            <a:off x="4974336" y="1828800"/>
            <a:ext cx="3872484"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Set = 7</a:t>
            </a:r>
            <a:endParaRPr lang="en-US" sz="2000" dirty="0"/>
          </a:p>
        </p:txBody>
      </p:sp>
      <p:sp>
        <p:nvSpPr>
          <p:cNvPr id="11" name="Shape 8">
            <a:extLst>
              <a:ext uri="{FF2B5EF4-FFF2-40B4-BE49-F238E27FC236}">
                <a16:creationId xmlns:a16="http://schemas.microsoft.com/office/drawing/2014/main" id="{95CB83CC-8269-0305-1518-AACE152FDC1E}"/>
              </a:ext>
            </a:extLst>
          </p:cNvPr>
          <p:cNvSpPr/>
          <p:nvPr/>
        </p:nvSpPr>
        <p:spPr>
          <a:xfrm>
            <a:off x="8846820" y="1828800"/>
            <a:ext cx="2766060" cy="822960"/>
          </a:xfrm>
          <a:prstGeom prst="rect">
            <a:avLst/>
          </a:prstGeom>
          <a:solidFill>
            <a:srgbClr val="EEF3FC"/>
          </a:solidFill>
          <a:ln w="9525">
            <a:solidFill>
              <a:srgbClr val="1E2761"/>
            </a:solidFill>
            <a:prstDash val="solid"/>
          </a:ln>
        </p:spPr>
      </p:sp>
      <p:sp>
        <p:nvSpPr>
          <p:cNvPr id="12" name="Text 9">
            <a:extLst>
              <a:ext uri="{FF2B5EF4-FFF2-40B4-BE49-F238E27FC236}">
                <a16:creationId xmlns:a16="http://schemas.microsoft.com/office/drawing/2014/main" id="{DB4CD9B5-8B95-FEE3-A886-F8538598044B}"/>
              </a:ext>
            </a:extLst>
          </p:cNvPr>
          <p:cNvSpPr txBox="1"/>
          <p:nvPr/>
        </p:nvSpPr>
        <p:spPr>
          <a:xfrm>
            <a:off x="8846820" y="1828800"/>
            <a:ext cx="2766060" cy="82296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Word = 5</a:t>
            </a:r>
            <a:endParaRPr lang="en-US" sz="2000" dirty="0"/>
          </a:p>
        </p:txBody>
      </p:sp>
      <p:sp>
        <p:nvSpPr>
          <p:cNvPr id="13" name="Shape 10">
            <a:extLst>
              <a:ext uri="{FF2B5EF4-FFF2-40B4-BE49-F238E27FC236}">
                <a16:creationId xmlns:a16="http://schemas.microsoft.com/office/drawing/2014/main" id="{D697ABA4-1DE4-977F-1461-6B08EF8CA77D}"/>
              </a:ext>
            </a:extLst>
          </p:cNvPr>
          <p:cNvSpPr/>
          <p:nvPr/>
        </p:nvSpPr>
        <p:spPr>
          <a:xfrm>
            <a:off x="548640" y="3108960"/>
            <a:ext cx="11064240" cy="914400"/>
          </a:xfrm>
          <a:prstGeom prst="rect">
            <a:avLst/>
          </a:prstGeom>
          <a:solidFill>
            <a:srgbClr val="EEF3FC"/>
          </a:solidFill>
          <a:ln w="12700">
            <a:solidFill>
              <a:srgbClr val="EEF3FC"/>
            </a:solidFill>
            <a:prstDash val="solid"/>
          </a:ln>
        </p:spPr>
      </p:sp>
      <p:sp>
        <p:nvSpPr>
          <p:cNvPr id="14" name="Shape 11">
            <a:extLst>
              <a:ext uri="{FF2B5EF4-FFF2-40B4-BE49-F238E27FC236}">
                <a16:creationId xmlns:a16="http://schemas.microsoft.com/office/drawing/2014/main" id="{A8A708C2-C84A-69B2-EFEE-B110977EE5A2}"/>
              </a:ext>
            </a:extLst>
          </p:cNvPr>
          <p:cNvSpPr/>
          <p:nvPr/>
        </p:nvSpPr>
        <p:spPr>
          <a:xfrm>
            <a:off x="777240" y="3314700"/>
            <a:ext cx="502920" cy="502920"/>
          </a:xfrm>
          <a:prstGeom prst="ellipse">
            <a:avLst/>
          </a:prstGeom>
          <a:solidFill>
            <a:srgbClr val="E8B923"/>
          </a:solidFill>
          <a:ln w="12700">
            <a:solidFill>
              <a:srgbClr val="E8B923"/>
            </a:solidFill>
            <a:prstDash val="solid"/>
          </a:ln>
        </p:spPr>
      </p:sp>
      <p:sp>
        <p:nvSpPr>
          <p:cNvPr id="15" name="Text 12">
            <a:extLst>
              <a:ext uri="{FF2B5EF4-FFF2-40B4-BE49-F238E27FC236}">
                <a16:creationId xmlns:a16="http://schemas.microsoft.com/office/drawing/2014/main" id="{CC8F2866-1D67-2E79-A15C-8E65BE9E831C}"/>
              </a:ext>
            </a:extLst>
          </p:cNvPr>
          <p:cNvSpPr txBox="1"/>
          <p:nvPr/>
        </p:nvSpPr>
        <p:spPr>
          <a:xfrm>
            <a:off x="777240" y="331470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1</a:t>
            </a:r>
            <a:endParaRPr lang="en-US" sz="2000" dirty="0"/>
          </a:p>
        </p:txBody>
      </p:sp>
      <p:sp>
        <p:nvSpPr>
          <p:cNvPr id="16" name="Text 13">
            <a:extLst>
              <a:ext uri="{FF2B5EF4-FFF2-40B4-BE49-F238E27FC236}">
                <a16:creationId xmlns:a16="http://schemas.microsoft.com/office/drawing/2014/main" id="{D6C008E1-B02D-2C0C-8941-9DE2FC4ECDFF}"/>
              </a:ext>
            </a:extLst>
          </p:cNvPr>
          <p:cNvSpPr txBox="1"/>
          <p:nvPr/>
        </p:nvSpPr>
        <p:spPr>
          <a:xfrm>
            <a:off x="1554480" y="3108960"/>
            <a:ext cx="9875520" cy="91440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Sets = 512 ÷ 4 = 128 = 2⁷ → Set bits = 7</a:t>
            </a:r>
            <a:endParaRPr lang="en-US" sz="2200" dirty="0"/>
          </a:p>
        </p:txBody>
      </p:sp>
      <p:sp>
        <p:nvSpPr>
          <p:cNvPr id="17" name="Shape 14">
            <a:extLst>
              <a:ext uri="{FF2B5EF4-FFF2-40B4-BE49-F238E27FC236}">
                <a16:creationId xmlns:a16="http://schemas.microsoft.com/office/drawing/2014/main" id="{5E42EE2A-D9EE-7F68-4F2F-C1EC8BDA17CB}"/>
              </a:ext>
            </a:extLst>
          </p:cNvPr>
          <p:cNvSpPr/>
          <p:nvPr/>
        </p:nvSpPr>
        <p:spPr>
          <a:xfrm>
            <a:off x="548640" y="4160520"/>
            <a:ext cx="11064240" cy="914400"/>
          </a:xfrm>
          <a:prstGeom prst="rect">
            <a:avLst/>
          </a:prstGeom>
          <a:solidFill>
            <a:srgbClr val="EEF3FC"/>
          </a:solidFill>
          <a:ln w="12700">
            <a:solidFill>
              <a:srgbClr val="EEF3FC"/>
            </a:solidFill>
            <a:prstDash val="solid"/>
          </a:ln>
        </p:spPr>
      </p:sp>
      <p:sp>
        <p:nvSpPr>
          <p:cNvPr id="18" name="Shape 15">
            <a:extLst>
              <a:ext uri="{FF2B5EF4-FFF2-40B4-BE49-F238E27FC236}">
                <a16:creationId xmlns:a16="http://schemas.microsoft.com/office/drawing/2014/main" id="{94428ED0-BD4B-49F9-4D30-DD7C4B0A31B3}"/>
              </a:ext>
            </a:extLst>
          </p:cNvPr>
          <p:cNvSpPr/>
          <p:nvPr/>
        </p:nvSpPr>
        <p:spPr>
          <a:xfrm>
            <a:off x="777240" y="4366260"/>
            <a:ext cx="502920" cy="502920"/>
          </a:xfrm>
          <a:prstGeom prst="ellipse">
            <a:avLst/>
          </a:prstGeom>
          <a:solidFill>
            <a:srgbClr val="E8B923"/>
          </a:solidFill>
          <a:ln w="12700">
            <a:solidFill>
              <a:srgbClr val="E8B923"/>
            </a:solidFill>
            <a:prstDash val="solid"/>
          </a:ln>
        </p:spPr>
      </p:sp>
      <p:sp>
        <p:nvSpPr>
          <p:cNvPr id="19" name="Text 16">
            <a:extLst>
              <a:ext uri="{FF2B5EF4-FFF2-40B4-BE49-F238E27FC236}">
                <a16:creationId xmlns:a16="http://schemas.microsoft.com/office/drawing/2014/main" id="{C6994313-41BB-7651-00B7-FAB52CDE17D9}"/>
              </a:ext>
            </a:extLst>
          </p:cNvPr>
          <p:cNvSpPr txBox="1"/>
          <p:nvPr/>
        </p:nvSpPr>
        <p:spPr>
          <a:xfrm>
            <a:off x="777240" y="436626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2</a:t>
            </a:r>
            <a:endParaRPr lang="en-US" sz="2000" dirty="0"/>
          </a:p>
        </p:txBody>
      </p:sp>
      <p:sp>
        <p:nvSpPr>
          <p:cNvPr id="20" name="Text 17">
            <a:extLst>
              <a:ext uri="{FF2B5EF4-FFF2-40B4-BE49-F238E27FC236}">
                <a16:creationId xmlns:a16="http://schemas.microsoft.com/office/drawing/2014/main" id="{E13A25F7-9B0B-86AA-919F-238C5027B7F5}"/>
              </a:ext>
            </a:extLst>
          </p:cNvPr>
          <p:cNvSpPr txBox="1"/>
          <p:nvPr/>
        </p:nvSpPr>
        <p:spPr>
          <a:xfrm>
            <a:off x="1554480" y="4160520"/>
            <a:ext cx="9875520" cy="91440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Tag bits = 20 − 7 − 5 = 8</a:t>
            </a:r>
            <a:endParaRPr lang="en-US" sz="2200" dirty="0"/>
          </a:p>
        </p:txBody>
      </p:sp>
      <p:sp>
        <p:nvSpPr>
          <p:cNvPr id="21" name="Shape 18">
            <a:extLst>
              <a:ext uri="{FF2B5EF4-FFF2-40B4-BE49-F238E27FC236}">
                <a16:creationId xmlns:a16="http://schemas.microsoft.com/office/drawing/2014/main" id="{E71903BE-8C8E-B4E3-7F80-EFA460D7E6A7}"/>
              </a:ext>
            </a:extLst>
          </p:cNvPr>
          <p:cNvSpPr/>
          <p:nvPr/>
        </p:nvSpPr>
        <p:spPr>
          <a:xfrm>
            <a:off x="548640" y="5212080"/>
            <a:ext cx="11064240" cy="914400"/>
          </a:xfrm>
          <a:prstGeom prst="rect">
            <a:avLst/>
          </a:prstGeom>
          <a:solidFill>
            <a:srgbClr val="EEF3FC"/>
          </a:solidFill>
          <a:ln w="12700">
            <a:solidFill>
              <a:srgbClr val="EEF3FC"/>
            </a:solidFill>
            <a:prstDash val="solid"/>
          </a:ln>
        </p:spPr>
      </p:sp>
      <p:sp>
        <p:nvSpPr>
          <p:cNvPr id="22" name="Shape 19">
            <a:extLst>
              <a:ext uri="{FF2B5EF4-FFF2-40B4-BE49-F238E27FC236}">
                <a16:creationId xmlns:a16="http://schemas.microsoft.com/office/drawing/2014/main" id="{806679F4-0F72-6936-2F04-618E91159228}"/>
              </a:ext>
            </a:extLst>
          </p:cNvPr>
          <p:cNvSpPr/>
          <p:nvPr/>
        </p:nvSpPr>
        <p:spPr>
          <a:xfrm>
            <a:off x="777240" y="5417820"/>
            <a:ext cx="502920" cy="502920"/>
          </a:xfrm>
          <a:prstGeom prst="ellipse">
            <a:avLst/>
          </a:prstGeom>
          <a:solidFill>
            <a:srgbClr val="E8B923"/>
          </a:solidFill>
          <a:ln w="12700">
            <a:solidFill>
              <a:srgbClr val="E8B923"/>
            </a:solidFill>
            <a:prstDash val="solid"/>
          </a:ln>
        </p:spPr>
      </p:sp>
      <p:sp>
        <p:nvSpPr>
          <p:cNvPr id="23" name="Text 20">
            <a:extLst>
              <a:ext uri="{FF2B5EF4-FFF2-40B4-BE49-F238E27FC236}">
                <a16:creationId xmlns:a16="http://schemas.microsoft.com/office/drawing/2014/main" id="{DD1D15A4-C53E-D3C3-8B6C-4D080454EDF0}"/>
              </a:ext>
            </a:extLst>
          </p:cNvPr>
          <p:cNvSpPr txBox="1"/>
          <p:nvPr/>
        </p:nvSpPr>
        <p:spPr>
          <a:xfrm>
            <a:off x="777240" y="541782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3</a:t>
            </a:r>
            <a:endParaRPr lang="en-US" sz="2000" dirty="0"/>
          </a:p>
        </p:txBody>
      </p:sp>
      <p:sp>
        <p:nvSpPr>
          <p:cNvPr id="24" name="Text 21">
            <a:extLst>
              <a:ext uri="{FF2B5EF4-FFF2-40B4-BE49-F238E27FC236}">
                <a16:creationId xmlns:a16="http://schemas.microsoft.com/office/drawing/2014/main" id="{BC59D2FB-A61C-E77D-D8C4-331B4870FF8F}"/>
              </a:ext>
            </a:extLst>
          </p:cNvPr>
          <p:cNvSpPr txBox="1"/>
          <p:nvPr/>
        </p:nvSpPr>
        <p:spPr>
          <a:xfrm>
            <a:off x="1554480" y="5212080"/>
            <a:ext cx="9875520" cy="91440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Only 4 comparators per lookup</a:t>
            </a:r>
            <a:endParaRPr lang="en-US" sz="2200" dirty="0"/>
          </a:p>
        </p:txBody>
      </p:sp>
    </p:spTree>
    <p:extLst>
      <p:ext uri="{BB962C8B-B14F-4D97-AF65-F5344CB8AC3E}">
        <p14:creationId xmlns:p14="http://schemas.microsoft.com/office/powerpoint/2010/main" val="3340477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Common Mistakes</a:t>
            </a: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4A5A8A"/>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Text 2"/>
          <p:cNvSpPr txBox="1"/>
          <p:nvPr/>
        </p:nvSpPr>
        <p:spPr>
          <a:xfrm>
            <a:off x="548640" y="1463040"/>
            <a:ext cx="10972800" cy="4389120"/>
          </a:xfrm>
          <a:prstGeom prst="rect">
            <a:avLst/>
          </a:prstGeom>
          <a:noFill/>
          <a:ln/>
        </p:spPr>
        <p:txBody>
          <a:bodyPr wrap="square" lIns="0" tIns="0" rIns="0" bIns="0" rtlCol="0" anchor="t"/>
          <a:lstStyle/>
          <a:p>
            <a:pPr marL="342900" indent="-342900">
              <a:spcAft>
                <a:spcPts val="1000"/>
              </a:spcAft>
              <a:buSzPct val="100000"/>
              <a:buChar char="•"/>
            </a:pPr>
            <a:r>
              <a:rPr lang="en-US" sz="2600" dirty="0">
                <a:solidFill>
                  <a:srgbClr val="1E2761"/>
                </a:solidFill>
                <a:latin typeface="Calibri" pitchFamily="34" charset="0"/>
                <a:ea typeface="Calibri" pitchFamily="34" charset="-122"/>
                <a:cs typeface="Calibri" pitchFamily="34" charset="-120"/>
              </a:rPr>
              <a:t>Word bits come from block size, not cache size</a:t>
            </a:r>
            <a:endParaRPr lang="en-US" sz="2600" dirty="0"/>
          </a:p>
          <a:p>
            <a:pPr marL="342900" indent="-342900">
              <a:spcAft>
                <a:spcPts val="1000"/>
              </a:spcAft>
              <a:buSzPct val="100000"/>
              <a:buChar char="•"/>
            </a:pPr>
            <a:r>
              <a:rPr lang="en-US" sz="2600" dirty="0">
                <a:solidFill>
                  <a:srgbClr val="1E2761"/>
                </a:solidFill>
                <a:latin typeface="Calibri" pitchFamily="34" charset="0"/>
                <a:ea typeface="Calibri" pitchFamily="34" charset="-122"/>
                <a:cs typeface="Calibri" pitchFamily="34" charset="-120"/>
              </a:rPr>
              <a:t>Sets = lines ÷ ways (512 ÷ 4 = 128, not 512)</a:t>
            </a:r>
            <a:endParaRPr lang="en-US" sz="2600" dirty="0"/>
          </a:p>
          <a:p>
            <a:pPr marL="342900" indent="-342900">
              <a:spcAft>
                <a:spcPts val="1000"/>
              </a:spcAft>
              <a:buSzPct val="100000"/>
              <a:buChar char="•"/>
            </a:pPr>
            <a:r>
              <a:rPr lang="en-US" sz="2600" dirty="0">
                <a:solidFill>
                  <a:srgbClr val="1E2761"/>
                </a:solidFill>
                <a:latin typeface="Calibri" pitchFamily="34" charset="0"/>
                <a:ea typeface="Calibri" pitchFamily="34" charset="-122"/>
                <a:cs typeface="Calibri" pitchFamily="34" charset="-120"/>
              </a:rPr>
              <a:t>Fully associative has NO index field</a:t>
            </a:r>
            <a:endParaRPr lang="en-US" sz="2600" dirty="0"/>
          </a:p>
          <a:p>
            <a:pPr marL="342900" indent="-342900">
              <a:spcAft>
                <a:spcPts val="1000"/>
              </a:spcAft>
              <a:buSzPct val="100000"/>
              <a:buChar char="•"/>
            </a:pPr>
            <a:r>
              <a:rPr lang="en-US" sz="2600" dirty="0">
                <a:solidFill>
                  <a:srgbClr val="1E2761"/>
                </a:solidFill>
                <a:latin typeface="Calibri" pitchFamily="34" charset="0"/>
                <a:ea typeface="Calibri" pitchFamily="34" charset="-122"/>
                <a:cs typeface="Calibri" pitchFamily="34" charset="-120"/>
              </a:rPr>
              <a:t>Always check: Tag + Index + Word = 20</a:t>
            </a:r>
            <a:endParaRPr lang="en-US" sz="2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Quick Check: 8-Way Set-Associative</a:t>
            </a: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4A5A8A"/>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Shape 2"/>
          <p:cNvSpPr/>
          <p:nvPr/>
        </p:nvSpPr>
        <p:spPr>
          <a:xfrm>
            <a:off x="548640" y="1463040"/>
            <a:ext cx="11064240" cy="1097280"/>
          </a:xfrm>
          <a:prstGeom prst="rect">
            <a:avLst/>
          </a:prstGeom>
          <a:solidFill>
            <a:srgbClr val="EEF3FC"/>
          </a:solidFill>
          <a:ln w="12700">
            <a:solidFill>
              <a:srgbClr val="EEF3FC"/>
            </a:solidFill>
            <a:prstDash val="solid"/>
          </a:ln>
        </p:spPr>
      </p:sp>
      <p:sp>
        <p:nvSpPr>
          <p:cNvPr id="6" name="Shape 3"/>
          <p:cNvSpPr/>
          <p:nvPr/>
        </p:nvSpPr>
        <p:spPr>
          <a:xfrm>
            <a:off x="777240" y="1760220"/>
            <a:ext cx="502920" cy="502920"/>
          </a:xfrm>
          <a:prstGeom prst="ellipse">
            <a:avLst/>
          </a:prstGeom>
          <a:solidFill>
            <a:srgbClr val="E8B923"/>
          </a:solidFill>
          <a:ln w="12700">
            <a:solidFill>
              <a:srgbClr val="E8B923"/>
            </a:solidFill>
            <a:prstDash val="solid"/>
          </a:ln>
        </p:spPr>
      </p:sp>
      <p:sp>
        <p:nvSpPr>
          <p:cNvPr id="7" name="Text 4"/>
          <p:cNvSpPr txBox="1"/>
          <p:nvPr/>
        </p:nvSpPr>
        <p:spPr>
          <a:xfrm>
            <a:off x="777240" y="176022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1</a:t>
            </a:r>
            <a:endParaRPr lang="en-US" sz="2000" dirty="0"/>
          </a:p>
        </p:txBody>
      </p:sp>
      <p:sp>
        <p:nvSpPr>
          <p:cNvPr id="8" name="Text 5"/>
          <p:cNvSpPr txBox="1"/>
          <p:nvPr/>
        </p:nvSpPr>
        <p:spPr>
          <a:xfrm>
            <a:off x="1554480" y="1463040"/>
            <a:ext cx="9875520" cy="109728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Sets = 512 ÷ 8 = 64 → 6 set bits</a:t>
            </a:r>
            <a:endParaRPr lang="en-US" sz="2200" dirty="0"/>
          </a:p>
        </p:txBody>
      </p:sp>
      <p:sp>
        <p:nvSpPr>
          <p:cNvPr id="9" name="Shape 6"/>
          <p:cNvSpPr/>
          <p:nvPr/>
        </p:nvSpPr>
        <p:spPr>
          <a:xfrm>
            <a:off x="548640" y="2834640"/>
            <a:ext cx="11064240" cy="1097280"/>
          </a:xfrm>
          <a:prstGeom prst="rect">
            <a:avLst/>
          </a:prstGeom>
          <a:solidFill>
            <a:srgbClr val="EEF3FC"/>
          </a:solidFill>
          <a:ln w="12700">
            <a:solidFill>
              <a:srgbClr val="EEF3FC"/>
            </a:solidFill>
            <a:prstDash val="solid"/>
          </a:ln>
        </p:spPr>
      </p:sp>
      <p:sp>
        <p:nvSpPr>
          <p:cNvPr id="10" name="Shape 7"/>
          <p:cNvSpPr/>
          <p:nvPr/>
        </p:nvSpPr>
        <p:spPr>
          <a:xfrm>
            <a:off x="777240" y="3131820"/>
            <a:ext cx="502920" cy="502920"/>
          </a:xfrm>
          <a:prstGeom prst="ellipse">
            <a:avLst/>
          </a:prstGeom>
          <a:solidFill>
            <a:srgbClr val="E8B923"/>
          </a:solidFill>
          <a:ln w="12700">
            <a:solidFill>
              <a:srgbClr val="E8B923"/>
            </a:solidFill>
            <a:prstDash val="solid"/>
          </a:ln>
        </p:spPr>
      </p:sp>
      <p:sp>
        <p:nvSpPr>
          <p:cNvPr id="11" name="Text 8"/>
          <p:cNvSpPr txBox="1"/>
          <p:nvPr/>
        </p:nvSpPr>
        <p:spPr>
          <a:xfrm>
            <a:off x="777240" y="313182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2</a:t>
            </a:r>
            <a:endParaRPr lang="en-US" sz="2000" dirty="0"/>
          </a:p>
        </p:txBody>
      </p:sp>
      <p:sp>
        <p:nvSpPr>
          <p:cNvPr id="12" name="Text 9"/>
          <p:cNvSpPr txBox="1"/>
          <p:nvPr/>
        </p:nvSpPr>
        <p:spPr>
          <a:xfrm>
            <a:off x="1554480" y="2834640"/>
            <a:ext cx="9875520" cy="109728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Word = 5 bits (unchanged)</a:t>
            </a:r>
            <a:endParaRPr lang="en-US" sz="2200" dirty="0"/>
          </a:p>
        </p:txBody>
      </p:sp>
      <p:sp>
        <p:nvSpPr>
          <p:cNvPr id="13" name="Shape 10"/>
          <p:cNvSpPr/>
          <p:nvPr/>
        </p:nvSpPr>
        <p:spPr>
          <a:xfrm>
            <a:off x="548640" y="4206240"/>
            <a:ext cx="11064240" cy="1097280"/>
          </a:xfrm>
          <a:prstGeom prst="rect">
            <a:avLst/>
          </a:prstGeom>
          <a:solidFill>
            <a:srgbClr val="EEF3FC"/>
          </a:solidFill>
          <a:ln w="12700">
            <a:solidFill>
              <a:srgbClr val="EEF3FC"/>
            </a:solidFill>
            <a:prstDash val="solid"/>
          </a:ln>
        </p:spPr>
      </p:sp>
      <p:sp>
        <p:nvSpPr>
          <p:cNvPr id="14" name="Shape 11"/>
          <p:cNvSpPr/>
          <p:nvPr/>
        </p:nvSpPr>
        <p:spPr>
          <a:xfrm>
            <a:off x="777240" y="4503420"/>
            <a:ext cx="502920" cy="502920"/>
          </a:xfrm>
          <a:prstGeom prst="ellipse">
            <a:avLst/>
          </a:prstGeom>
          <a:solidFill>
            <a:srgbClr val="E8B923"/>
          </a:solidFill>
          <a:ln w="12700">
            <a:solidFill>
              <a:srgbClr val="E8B923"/>
            </a:solidFill>
            <a:prstDash val="solid"/>
          </a:ln>
        </p:spPr>
      </p:sp>
      <p:sp>
        <p:nvSpPr>
          <p:cNvPr id="15" name="Text 12"/>
          <p:cNvSpPr txBox="1"/>
          <p:nvPr/>
        </p:nvSpPr>
        <p:spPr>
          <a:xfrm>
            <a:off x="777240" y="4503420"/>
            <a:ext cx="502920" cy="502920"/>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3</a:t>
            </a:r>
            <a:endParaRPr lang="en-US" sz="2000" dirty="0"/>
          </a:p>
        </p:txBody>
      </p:sp>
      <p:sp>
        <p:nvSpPr>
          <p:cNvPr id="16" name="Text 13"/>
          <p:cNvSpPr txBox="1"/>
          <p:nvPr/>
        </p:nvSpPr>
        <p:spPr>
          <a:xfrm>
            <a:off x="1554480" y="4206240"/>
            <a:ext cx="9875520" cy="1097280"/>
          </a:xfrm>
          <a:prstGeom prst="rect">
            <a:avLst/>
          </a:prstGeom>
          <a:noFill/>
          <a:ln/>
        </p:spPr>
        <p:txBody>
          <a:bodyPr wrap="square" lIns="0" tIns="0" rIns="0" bIns="0" rtlCol="0" anchor="ctr"/>
          <a:lstStyle/>
          <a:p>
            <a:pPr marL="0" indent="0">
              <a:buNone/>
            </a:pPr>
            <a:r>
              <a:rPr lang="en-US" sz="2200" dirty="0">
                <a:solidFill>
                  <a:srgbClr val="1E2761"/>
                </a:solidFill>
                <a:latin typeface="Calibri" pitchFamily="34" charset="0"/>
                <a:ea typeface="Calibri" pitchFamily="34" charset="-122"/>
                <a:cs typeface="Calibri" pitchFamily="34" charset="-120"/>
              </a:rPr>
              <a:t>Tag = 20 − 6 − 5 = 9 bits</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Summary</a:t>
            </a: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CADCFC"/>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Text 2"/>
          <p:cNvSpPr txBox="1"/>
          <p:nvPr/>
        </p:nvSpPr>
        <p:spPr>
          <a:xfrm>
            <a:off x="548640" y="1463040"/>
            <a:ext cx="10972800" cy="4389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rgbClr val="1E2761"/>
                </a:solidFill>
                <a:latin typeface="Calibri" pitchFamily="34" charset="0"/>
                <a:ea typeface="Calibri" pitchFamily="34" charset="-122"/>
                <a:cs typeface="Calibri" pitchFamily="34" charset="-120"/>
              </a:rPr>
              <a:t>Word offset = 5 bits for every mapping</a:t>
            </a:r>
            <a:endParaRPr lang="en-US" sz="2800" dirty="0"/>
          </a:p>
          <a:p>
            <a:pPr marL="342900" indent="-342900">
              <a:spcAft>
                <a:spcPts val="1000"/>
              </a:spcAft>
              <a:buSzPct val="100000"/>
              <a:buChar char="•"/>
            </a:pPr>
            <a:r>
              <a:rPr lang="en-US" sz="2800" dirty="0">
                <a:solidFill>
                  <a:srgbClr val="1E2761"/>
                </a:solidFill>
                <a:latin typeface="Calibri" pitchFamily="34" charset="0"/>
                <a:ea typeface="Calibri" pitchFamily="34" charset="-122"/>
                <a:cs typeface="Calibri" pitchFamily="34" charset="-120"/>
              </a:rPr>
              <a:t>Direct: Tag 6, Line 9, Word 5</a:t>
            </a:r>
            <a:endParaRPr lang="en-US" sz="2800" dirty="0"/>
          </a:p>
          <a:p>
            <a:pPr marL="342900" indent="-342900">
              <a:spcAft>
                <a:spcPts val="1000"/>
              </a:spcAft>
              <a:buSzPct val="100000"/>
              <a:buChar char="•"/>
            </a:pPr>
            <a:r>
              <a:rPr lang="en-US" sz="2800" dirty="0">
                <a:solidFill>
                  <a:srgbClr val="1E2761"/>
                </a:solidFill>
                <a:latin typeface="Calibri" pitchFamily="34" charset="0"/>
                <a:ea typeface="Calibri" pitchFamily="34" charset="-122"/>
                <a:cs typeface="Calibri" pitchFamily="34" charset="-120"/>
              </a:rPr>
              <a:t>Fully associative: Tag 15, Word 5</a:t>
            </a:r>
            <a:endParaRPr lang="en-US" sz="2800" dirty="0"/>
          </a:p>
          <a:p>
            <a:pPr marL="342900" indent="-342900">
              <a:spcAft>
                <a:spcPts val="1000"/>
              </a:spcAft>
              <a:buSzPct val="100000"/>
              <a:buChar char="•"/>
            </a:pPr>
            <a:r>
              <a:rPr lang="en-US" sz="2800" dirty="0">
                <a:solidFill>
                  <a:srgbClr val="1E2761"/>
                </a:solidFill>
                <a:latin typeface="Calibri" pitchFamily="34" charset="0"/>
                <a:ea typeface="Calibri" pitchFamily="34" charset="-122"/>
                <a:cs typeface="Calibri" pitchFamily="34" charset="-120"/>
              </a:rPr>
              <a:t>2-way: Tag 7, Set 8, Word 5</a:t>
            </a:r>
            <a:endParaRPr lang="en-US" sz="2800" dirty="0"/>
          </a:p>
          <a:p>
            <a:pPr marL="342900" indent="-342900">
              <a:spcAft>
                <a:spcPts val="1000"/>
              </a:spcAft>
              <a:buSzPct val="100000"/>
              <a:buChar char="•"/>
            </a:pPr>
            <a:r>
              <a:rPr lang="en-US" sz="2800" dirty="0">
                <a:solidFill>
                  <a:srgbClr val="1E2761"/>
                </a:solidFill>
                <a:latin typeface="Calibri" pitchFamily="34" charset="0"/>
                <a:ea typeface="Calibri" pitchFamily="34" charset="-122"/>
                <a:cs typeface="Calibri" pitchFamily="34" charset="-120"/>
              </a:rPr>
              <a:t>4-way: Tag 8, Set 7, Word 5</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Quiz: Cache Mapping (CSS2257)</a:t>
            </a: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4A5A8A"/>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Text 2"/>
          <p:cNvSpPr txBox="1"/>
          <p:nvPr/>
        </p:nvSpPr>
        <p:spPr>
          <a:xfrm>
            <a:off x="548640" y="1280160"/>
            <a:ext cx="11064240" cy="48463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Q1. Words per block if memory has 2²⁰ words in 2¹⁵ blocks?</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Q2. Word offset bits for a 32-word block?</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Q3. Direct mapping with 512 lines: index bits?</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Q4. True/False: fully associative mapping has an index field.</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Q5. Number of sets in a 4-way cache with 512 lines?</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Q6. Tag bits for a 16-way cache (same memory and cache)?</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822960"/>
          </a:xfrm>
          <a:prstGeom prst="rect">
            <a:avLst/>
          </a:prstGeom>
          <a:noFill/>
          <a:ln/>
        </p:spPr>
        <p:txBody>
          <a:bodyPr wrap="square" lIns="0" tIns="0" rIns="0" bIns="0" rtlCol="0" anchor="ctr"/>
          <a:lstStyle/>
          <a:p>
            <a:pPr marL="0" indent="0">
              <a:buNone/>
            </a:pPr>
            <a:r>
              <a:rPr lang="en-US" sz="3600" b="1" dirty="0">
                <a:solidFill>
                  <a:srgbClr val="1E2761"/>
                </a:solidFill>
                <a:latin typeface="Cambria" pitchFamily="34" charset="0"/>
                <a:ea typeface="Cambria" pitchFamily="34" charset="-122"/>
                <a:cs typeface="Cambria" pitchFamily="34" charset="-120"/>
              </a:rPr>
              <a:t>Quiz Answers</a:t>
            </a:r>
            <a:endParaRPr lang="en-US" sz="3600" dirty="0"/>
          </a:p>
        </p:txBody>
      </p:sp>
      <p:sp>
        <p:nvSpPr>
          <p:cNvPr id="3" name="Text 1"/>
          <p:cNvSpPr txBox="1"/>
          <p:nvPr/>
        </p:nvSpPr>
        <p:spPr>
          <a:xfrm>
            <a:off x="548640" y="6355080"/>
            <a:ext cx="9144000" cy="365760"/>
          </a:xfrm>
          <a:prstGeom prst="rect">
            <a:avLst/>
          </a:prstGeom>
          <a:noFill/>
          <a:ln/>
        </p:spPr>
        <p:txBody>
          <a:bodyPr wrap="square" lIns="0" tIns="0" rIns="0" bIns="0" rtlCol="0" anchor="ctr"/>
          <a:lstStyle/>
          <a:p>
            <a:pPr marL="0" indent="0">
              <a:buNone/>
            </a:pPr>
            <a:r>
              <a:rPr lang="en-US" sz="2000" dirty="0">
                <a:solidFill>
                  <a:srgbClr val="4A5A8A"/>
                </a:solidFill>
                <a:latin typeface="Calibri" pitchFamily="34" charset="0"/>
                <a:ea typeface="Calibri" pitchFamily="34" charset="-122"/>
                <a:cs typeface="Calibri" pitchFamily="34" charset="-120"/>
              </a:rPr>
              <a:t>Presidency University | CSS2257 | Computer Organization and Architecture</a:t>
            </a:r>
            <a:endParaRPr lang="en-US" sz="2000" dirty="0"/>
          </a:p>
        </p:txBody>
      </p:sp>
      <p:sp>
        <p:nvSpPr>
          <p:cNvPr id="5" name="Text 2"/>
          <p:cNvSpPr txBox="1"/>
          <p:nvPr/>
        </p:nvSpPr>
        <p:spPr>
          <a:xfrm>
            <a:off x="548640" y="1280160"/>
            <a:ext cx="11064240" cy="48463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A1. 32 words (2⁵).</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A2. 5 bits.</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A3. 9 bits (log₂ 512).</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A4. False: index = 0, tag = 15.</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A5. 128 sets (512 ÷ 4).</a:t>
            </a:r>
            <a:endParaRPr lang="en-US" sz="2400" dirty="0"/>
          </a:p>
          <a:p>
            <a:pPr marL="342900" indent="-342900">
              <a:spcAft>
                <a:spcPts val="1000"/>
              </a:spcAft>
              <a:buSzPct val="100000"/>
              <a:buChar char="•"/>
            </a:pPr>
            <a:r>
              <a:rPr lang="en-US" sz="2400" dirty="0">
                <a:solidFill>
                  <a:srgbClr val="1E2761"/>
                </a:solidFill>
                <a:latin typeface="Calibri" pitchFamily="34" charset="0"/>
                <a:ea typeface="Calibri" pitchFamily="34" charset="-122"/>
                <a:cs typeface="Calibri" pitchFamily="34" charset="-120"/>
              </a:rPr>
              <a:t>A6. Sets = 512 ÷ 16 = 32 → 5 bits; Tag = 20 − 5 − 5 = 10.</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2057</Words>
  <Application>Microsoft Office PowerPoint</Application>
  <PresentationFormat>Widescreen</PresentationFormat>
  <Paragraphs>206</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Manoj  Sagar K - Assistant Professor - SAIAC</cp:lastModifiedBy>
  <cp:revision>3</cp:revision>
  <dcterms:created xsi:type="dcterms:W3CDTF">2026-09-30T04:45:58Z</dcterms:created>
  <dcterms:modified xsi:type="dcterms:W3CDTF">2026-09-30T04:54:20Z</dcterms:modified>
</cp:coreProperties>
</file>