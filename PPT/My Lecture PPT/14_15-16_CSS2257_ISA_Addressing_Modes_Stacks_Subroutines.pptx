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Today's session covers addressing modes, stacks, and subroutines — three topics that, once connected, explain exactly how every function call you have ever written actually executes on real hardware. Take attendance and settle the room, then move to the branding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orientation slide for the recording and for any visiting students — confirms the university, school, department, subject, and instructor. Move through this briskly, ten to fifteen seconds, then go straight into learning objectives.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by being clear about the destination. By the end of this hour, you should be able to look at any machine instruction and tell me exactly which memory location or register it touches, and why. We'll build up from addressing modes, which decide *where* an operand lives, to stacks, which are the data structure that makes subroutine calls possible, and finish by tying the two together in CALL and RET. Keep this slide in mind — I'll circle back to it in the summary so you can self-check.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just a warm-up, no wrong answers here. Ask the first question and take two or three quick verbal responses — most students will say something like "the computer remembers the line number," which is actually exactly right, and that memory is a stack. For the second question, almost everyone has hit a StackOverflowError while debugging recursion; use that shared experience to motivate why we are studying stacks today. For the third, let it hang for a moment — do not answer it yet, just tell them we will answer it precisely in about five minutes when we cover immediate addressing. Use their answers to segue: "Today we are going to open up exactly what your compiler and CPU are doing every time you call a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about writing a program that walks through an array of a thousand marks and computes the average. If the only way to reference memory was "operand is always at address 4000," you would need a thousand different instructions, one per element — completely impractical. Addressing modes are what let a single instruction, sitting inside a loop, reach a different memory location every time it executes. Every high-level construct you take for granted — arrays, structs, function calls, recursion — is only possible because the underlying ISA offers a rich enough set of addressing modes. Today we open that toolbox.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saw instruction formats in an earlier lecture, so this is just a thirty-second refresher. Every instruction is opcode plus operands. What we have not dwelt on yet is that the operand field itself is ambiguous until you know the addressing mode — is that '2000' in the instruction a value, or an address, or an address of an address? The addressing mode removes that ambiguity. That is the entire subject of the first half of today's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"Effective Address" on the board and underline it — this term will appear on almost every slide for the next twenty minutes, and it is a favourite exam term. The effective address is simply: after all the addressing-mode logic is applied, where does the CPU actually go to fetch or store the operand? Everything from here is really just different recipes for computing 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answers the icebreaker question directly — remember I said we would come back to it? Immediate addressing is the fastest possible mode because the value rides along inside the instruction itself; the CPU does not need to go out to memory at all. Point out the '#' symbol, which is the common assembly convention for 'this is a literal, not an address.' Ask: 'why can't we always use immediate addressing?' — let them think, then explain that the value has to fit inside the instruction word, so you cannot use it for large or dynamically computed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this immediately with the previous slide: in immediate addressing the number in the instruction IS the data; in direct addressing the number in the instruction is the ADDRESS of the data. That single distinction trips up more students than anything else in this unit, so slow down here. Walk through the example on the board: 'go to address 2000, read what is sitting there, that is your operand.' One memory access, versus zero for immediate.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addressing mode that C programmers will recognise instantly — it is literally what a pointer is doing under the hood. Draw two boxes on the board: address 2000 contains "3000", and address 3000 contains the real value, say 42. The instruction only ever mentions 2000, but the CPU has to make two hops to get to 42. Ask the class: "in C, if p is a pointer to an int, what does *p do?" — that dereference is exactly indirect addressing.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Registers are the fastest storage a CPU has, faster even than cache, because they sit directly on the datapath. This is why compilers work so hard to keep frequently used variables in registers — register allocation is one of the most studied problems in compiler design. The trade-off is scarcity: you might have only 16 or 32 general-purpose registers, versus gigabytes of 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hybrid of register and indirect addressing — a register acting as a pointer. It is the workhorse mode for array traversal: keep the array's current address in a register, and each loop iteration you simply update that register rather than re-encoding a new address into every instruction. It is one memory access to fetch the operand, but zero instruction-encoding overhead to change which element you are looking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Displacement addressing is the mode compilers reach for constantly, because it is exactly how struct fields and stack-frame local variables are accessed. If R2 holds the base address of a structure, and 8(R2) means 'the field 8 bytes into that structure,' you can see immediately why this generalises so well — one base register, many different offsets for many different fields. We will see this exact pattern again when we get to subroutine stack frames later this hour.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Indexed addressing looks similar to displacement addressing, and honestly in many real ISAs the two blur together — the key conceptual difference is intent: an index register is meant to change every iteration of a loop (0, 1, 2, 3…), while a displacement is usually a fixed constant baked in by the compiler. Ask the class to imagine a for-loop over an array and describe, in plain English, what the index register would be doing on each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Relative addressing is the unsung hero behind every if-statement and loop in your compiled programs — branch instructions almost never encode an absolute target address; they encode "how far from here." This makes the compiled binary relocatable: the operating system can load it at any free address in memory and the branches still work, because they are all relative to wherever the PC currently is. This is a big deal for shared libraries and position-independent executables.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bridge to the second half of the lecture, so linger here. Auto-increment and auto-decrement save you from writing a separate ADD or SUB instruction just to move a pointer along after every array access — the addressing mode does the bookkeeping for you. Now here is the punchline: a hardware stack is built from exactly this idea. PUSH is essentially 'auto-decrement the stack pointer, then store,' and POP is 'load, then auto-increment the stack pointer.' Once they see that connection, stacks stop feeling like a brand new topic.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pull everything together into one table before we move to real examples. Walk down the middle column first — notice how the operand moves progressively further away from the instruction itself, from 'inside the instruction' all the way to 'address of an address.' Then look at the memory-reference column: immediate and register addressing are the free lunches, costing zero extra memory access, and everything else costs at least one. This speed-versus-flexibility trade-off is the single biggest idea to take away from this half of the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good moment for a real-world grounding — these are not textbook fictions. x86 famously supports very elaborate addressing in a single instruction, which is part of why x86 decoders are so complex. ARM and RISC-V, by contrast, deliberately keep the addressing-mode menu short, which is a big reason they dominate battery-powered devices: simpler addressing hardware means fewer transistors switching, which means less power. If any of you are interested in embedded systems or IoT — which several of you mentioned in the icebreaker — this RISC philosophy is exactly what you will be working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through this out loud exactly as the steps are written — first identify the mode from the syntax, then compute EA, then fetch. For direct addressing EA computation is trivial because EA simply equals the address field, but I want you to build the habit of writing "EA = …" every single time, because it will save you in the harder examples coming up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example that usually needs a second pass, so draw the two boxes on the board as you go: box at 2000 containing "3000", arrow pointing to box at 3000 containing "88". Emphasise out loud: "the instruction never mentions 3000 or 88 directly — the CPU discovers 3000 only by looking inside 2000 first." Ask a student to narrate the steps back to you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they compute 5012, immediately connect it back to arrays: ask, 'if RX had been 16 instead of 12, what element of the array would we be looking at?' Get them doing the arithmetic once or twice more mentally — 5000+16=5016 — to cement the base-plus-index pattern before we move to stacks.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class: 'where have you seen LIFO behaviour before, outside computers?' — a stack of plates is the classic analogy: you can only add or remove from the top, never the middle. Point out that this is deliberately the same auto-increment/auto-decrement mechanism from a few slides ago — SP is just a register that self-adjusts. The 'grows downward' detail surprises people, so flag it clearly: PUSH typically decreases SP before writing, which we will see in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payoff slide for the addressing-modes half of class — say that explicitly: "remember auto-increment and auto-decrement addressing? PUSH and POP ARE those addressing modes, just always applied to the SP register." Walk through PUSH first: decrement, then store — note the order, because if you stored first and decremented second you would overwrite something still needed. Then POP: read first, then increment — again the order matters so you never read stale, already-freed memory as if it were still valid.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this as a small vertical diagram on the board, growing downward: 5000 at the top, then 4998 holding 10, then 4996 holding 20 on top of that. When you POP, you take 20 first — that is the 'last in, first out' rule in action, since 20 was pushed most recently. After popping, SP moves back up to 4998, sitting right on top of the still-valid 10. Emphasise: the popped memory location is not erased, it is simply considered 'free' — the next PUSH will silently overwrite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ties directly back to the very first icebreaker question — how does the computer know where to return to after a function call? Now we finally answer it properly. The core challenge is that a subroutine might be called from ten different places in your program, and might itself call other subroutines, which call others still. A single "return address" register would not be enough because calls nest — you need a LIFO structure, and that is exactly a stack.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way down here — this single mechanism is the heart of the whole lecture. Write CALL as two micro-steps on the board: push return address, then jump. Then write RET as the mirror image: pop, then jump. Stress the word "balanced": if a subroutine pushes something onto the stack and forgets to pop it before executing RET, the CPU will pop that leftover value instead of the real return address and jump to garbage — this is a genuinely common and nasty bug in hand-written assembly and even shows up as stack-corruption bugs in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Narrate this like a story: 'the CPU is about to leave home, so before it goes, it drops a note on the stack saying exactly which house number to come back to.' Walk through each line of the trace on the board, and pause after step 3 to ask: 'if this subroutine itself contained another CALL, what would happen to the stack right now?' — let a student answer before you reveal the next slide, which covers exactly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displacement addressing, from the first half of the lecture, makes its second appearance — point that out explicitly. Once arguments are pushed, the subroutine does not know their absolute memory address (that changes every call), but it always knows their position relative to SP, so it uses something like 4(SP) or 8(SP) to reach each parameter. This single idea — a self-contained "frame" of memory per function call — is the foundation of how every high-level language implements function calls, including recursion.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makes recursion click for a lot of students, so give it real time. Draw the stack growing as a tower: return-to-main at the bottom, return-to-funcA stacked on top of it. The LIFO order is exactly what guarantees correct unwinding — the most recently entered function is always the first to return, which is precisely what recursive functions rely on to eventually unwind back to their original caller. If you have time, mention that this is also why deep, unterminated recursion produces a "stack overflow" — literally, the stack pointer runs out of allocated stack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of these deliberately — these are the exact four mistakes that show up most often in exam scripts and in real debugging sessions. On the first point, draw both diagrams side by side one more time if needed. On the stack-direction point, remind them this was flagged earlier, but repetition is what makes it stick. The PUSH/POP balance issue is worth a real anecdote if you have one from your own debugging experience — students remember stories better than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Bring it back to the learning-objectives slide from the start of class and check off each item together with the class. The one-sentence version of today, if they remember nothing else: "addressing modes decide where data is; stacks and CALL/RET use auto-increment/decrement addressing to make function calls — including recursive ones — work correctly." Open the floor for any final questions before the quiz.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class three to five minutes, working individually or in pairs of neighbours — make clear this is a self-check, not graded. Encourage them to write down their reasoning, not just a letter, since that is what actually helps for the exam. Walk around if you can and see where people are getting stuck; that will tell you which topic needs a quick recap before you reveal the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briefly rather than re-reading the question — assume they just attempted it. Spend the most time on Q3 and Q7, since those are the ones testing multi-step reasoning rather than recall. If several hands showed the wrong answer on Q5, that is worth a thirty-second re-explanation with the stack-direction diagram from earlier. Close by reminding them that this exact CALL/RET/stack mechanism is what they will implement or reason about in the upcoming lab and assignment, so it is worth being fully comfortable with it before then.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E3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822960" y="640080"/>
            <a:ext cx="822960" cy="822960"/>
          </a:xfrm>
          <a:prstGeom prst="rect">
            <a:avLst/>
          </a:prstGeom>
        </p:spPr>
      </p:pic>
      <p:sp>
        <p:nvSpPr>
          <p:cNvPr id="3" name="Text 0"/>
          <p:cNvSpPr txBox="1"/>
          <p:nvPr/>
        </p:nvSpPr>
        <p:spPr>
          <a:xfrm>
            <a:off x="822960" y="1600200"/>
            <a:ext cx="10058400" cy="457200"/>
          </a:xfrm>
          <a:prstGeom prst="rect">
            <a:avLst/>
          </a:prstGeom>
          <a:noFill/>
          <a:ln/>
        </p:spPr>
        <p:txBody>
          <a:bodyPr wrap="square" lIns="0" tIns="0" rIns="0" bIns="0" rtlCol="0" anchor="ctr"/>
          <a:lstStyle/>
          <a:p>
            <a:pPr indent="0" marL="0">
              <a:buNone/>
            </a:pPr>
            <a:r>
              <a:rPr lang="en-US" sz="2200" b="1" spc="200" kern="0" dirty="0">
                <a:solidFill>
                  <a:srgbClr val="BFE1F0"/>
                </a:solidFill>
                <a:latin typeface="Calibri" pitchFamily="34" charset="0"/>
                <a:ea typeface="Calibri" pitchFamily="34" charset="-122"/>
                <a:cs typeface="Calibri" pitchFamily="34" charset="-120"/>
              </a:rPr>
              <a:t>PRESIDENCY UNIVERSITY</a:t>
            </a:r>
            <a:endParaRPr lang="en-US" sz="2200" dirty="0"/>
          </a:p>
        </p:txBody>
      </p:sp>
      <p:sp>
        <p:nvSpPr>
          <p:cNvPr id="4" name="Text 1"/>
          <p:cNvSpPr txBox="1"/>
          <p:nvPr/>
        </p:nvSpPr>
        <p:spPr>
          <a:xfrm>
            <a:off x="822960" y="2057400"/>
            <a:ext cx="10058400" cy="640080"/>
          </a:xfrm>
          <a:prstGeom prst="rect">
            <a:avLst/>
          </a:prstGeom>
          <a:noFill/>
          <a:ln/>
        </p:spPr>
        <p:txBody>
          <a:bodyPr wrap="square" lIns="0" tIns="0" rIns="0" bIns="0" rtlCol="0" anchor="ctr"/>
          <a:lstStyle/>
          <a:p>
            <a:pPr indent="0" marL="0">
              <a:lnSpc>
                <a:spcPct val="110000"/>
              </a:lnSpc>
              <a:buNone/>
            </a:pPr>
            <a:r>
              <a:rPr lang="en-US" sz="1600" dirty="0">
                <a:solidFill>
                  <a:srgbClr val="DCE7F2"/>
                </a:solidFill>
                <a:latin typeface="Calibri" pitchFamily="34" charset="0"/>
                <a:ea typeface="Calibri" pitchFamily="34" charset="-122"/>
                <a:cs typeface="Calibri" pitchFamily="34" charset="-120"/>
              </a:rPr>
              <a:t>School of Artificial Intelligence and Advanced Computing</a:t>
            </a:r>
            <a:endParaRPr lang="en-US" sz="1600" dirty="0"/>
          </a:p>
          <a:p>
            <a:pPr indent="0" marL="0">
              <a:lnSpc>
                <a:spcPct val="110000"/>
              </a:lnSpc>
              <a:buNone/>
            </a:pPr>
            <a:r>
              <a:rPr lang="en-US" sz="1600" dirty="0">
                <a:solidFill>
                  <a:srgbClr val="DCE7F2"/>
                </a:solidFill>
                <a:latin typeface="Calibri" pitchFamily="34" charset="0"/>
                <a:ea typeface="Calibri" pitchFamily="34" charset="-122"/>
                <a:cs typeface="Calibri" pitchFamily="34" charset="-120"/>
              </a:rPr>
              <a:t>Department of AI &amp; Robotics</a:t>
            </a:r>
            <a:endParaRPr lang="en-US" sz="1600" dirty="0"/>
          </a:p>
        </p:txBody>
      </p:sp>
      <p:sp>
        <p:nvSpPr>
          <p:cNvPr id="5" name="Shape 2"/>
          <p:cNvSpPr/>
          <p:nvPr/>
        </p:nvSpPr>
        <p:spPr>
          <a:xfrm>
            <a:off x="822960" y="2880360"/>
            <a:ext cx="4114800" cy="27432"/>
          </a:xfrm>
          <a:prstGeom prst="rect">
            <a:avLst/>
          </a:prstGeom>
          <a:solidFill>
            <a:srgbClr val="C9A438"/>
          </a:solidFill>
          <a:ln/>
        </p:spPr>
      </p:sp>
      <p:sp>
        <p:nvSpPr>
          <p:cNvPr id="6" name="Text 3"/>
          <p:cNvSpPr txBox="1"/>
          <p:nvPr/>
        </p:nvSpPr>
        <p:spPr>
          <a:xfrm>
            <a:off x="822960" y="3108960"/>
            <a:ext cx="10332720" cy="1554480"/>
          </a:xfrm>
          <a:prstGeom prst="rect">
            <a:avLst/>
          </a:prstGeom>
          <a:noFill/>
          <a:ln/>
        </p:spPr>
        <p:txBody>
          <a:bodyPr wrap="square" lIns="0" tIns="0" rIns="0" bIns="0" rtlCol="0" anchor="ctr"/>
          <a:lstStyle/>
          <a:p>
            <a:pPr indent="0" marL="0">
              <a:lnSpc>
                <a:spcPct val="105000"/>
              </a:lnSpc>
              <a:buNone/>
            </a:pPr>
            <a:r>
              <a:rPr lang="en-US" sz="3600" b="1" dirty="0">
                <a:solidFill>
                  <a:srgbClr val="FFFFFF"/>
                </a:solidFill>
                <a:latin typeface="Calibri" pitchFamily="34" charset="0"/>
                <a:ea typeface="Calibri" pitchFamily="34" charset="-122"/>
                <a:cs typeface="Calibri" pitchFamily="34" charset="-120"/>
              </a:rPr>
              <a:t>Instruction Set Architecture: Addressing Modes, Stacks and Subroutines</a:t>
            </a:r>
            <a:endParaRPr lang="en-US" sz="3600" dirty="0"/>
          </a:p>
        </p:txBody>
      </p:sp>
      <p:sp>
        <p:nvSpPr>
          <p:cNvPr id="7" name="Text 4"/>
          <p:cNvSpPr txBox="1"/>
          <p:nvPr/>
        </p:nvSpPr>
        <p:spPr>
          <a:xfrm>
            <a:off x="822960" y="4892040"/>
            <a:ext cx="9144000" cy="457200"/>
          </a:xfrm>
          <a:prstGeom prst="rect">
            <a:avLst/>
          </a:prstGeom>
          <a:noFill/>
          <a:ln/>
        </p:spPr>
        <p:txBody>
          <a:bodyPr wrap="square" lIns="0" tIns="0" rIns="0" bIns="0" rtlCol="0" anchor="ctr"/>
          <a:lstStyle/>
          <a:p>
            <a:pPr indent="0" marL="0">
              <a:buNone/>
            </a:pPr>
            <a:r>
              <a:rPr lang="en-US" sz="2000" b="1" dirty="0">
                <a:solidFill>
                  <a:srgbClr val="C9A438"/>
                </a:solidFill>
                <a:latin typeface="Calibri" pitchFamily="34" charset="0"/>
                <a:ea typeface="Calibri" pitchFamily="34" charset="-122"/>
                <a:cs typeface="Calibri" pitchFamily="34" charset="-120"/>
              </a:rPr>
              <a:t>Computer Organization and Architecture  |  CSS2257</a:t>
            </a:r>
            <a:endParaRPr lang="en-US" sz="2000" dirty="0"/>
          </a:p>
        </p:txBody>
      </p:sp>
      <p:sp>
        <p:nvSpPr>
          <p:cNvPr id="8" name="Text 5"/>
          <p:cNvSpPr txBox="1"/>
          <p:nvPr/>
        </p:nvSpPr>
        <p:spPr>
          <a:xfrm>
            <a:off x="822960" y="6035040"/>
            <a:ext cx="7315200" cy="365760"/>
          </a:xfrm>
          <a:prstGeom prst="rect">
            <a:avLst/>
          </a:prstGeom>
          <a:noFill/>
          <a:ln/>
        </p:spPr>
        <p:txBody>
          <a:bodyPr wrap="square" lIns="0" tIns="0" rIns="0" bIns="0" rtlCol="0" anchor="ctr"/>
          <a:lstStyle/>
          <a:p>
            <a:pPr indent="0" marL="0">
              <a:buNone/>
            </a:pPr>
            <a:r>
              <a:rPr lang="en-US" sz="1600" dirty="0">
                <a:solidFill>
                  <a:srgbClr val="B9C6D9"/>
                </a:solidFill>
                <a:latin typeface="Calibri" pitchFamily="34" charset="0"/>
                <a:ea typeface="Calibri" pitchFamily="34" charset="-122"/>
                <a:cs typeface="Calibri" pitchFamily="34" charset="-120"/>
              </a:rPr>
              <a:t>Manoj Sagar, Assistant Professor</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554480"/>
          </a:xfrm>
          <a:prstGeom prst="rect">
            <a:avLst/>
          </a:prstGeom>
          <a:solidFill>
            <a:srgbClr val="0B1E3D"/>
          </a:solidFill>
          <a:ln/>
        </p:spPr>
      </p:sp>
      <p:pic>
        <p:nvPicPr>
          <p:cNvPr id="3" name="Image 0" descr="preencoded.png">    </p:cNvPr>
          <p:cNvPicPr>
            <a:picLocks noChangeAspect="1"/>
          </p:cNvPicPr>
          <p:nvPr/>
        </p:nvPicPr>
        <p:blipFill>
          <a:blip r:embed="rId1"/>
          <a:stretch>
            <a:fillRect/>
          </a:stretch>
        </p:blipFill>
        <p:spPr>
          <a:xfrm>
            <a:off x="640080" y="411480"/>
            <a:ext cx="731520" cy="731520"/>
          </a:xfrm>
          <a:prstGeom prst="rect">
            <a:avLst/>
          </a:prstGeom>
        </p:spPr>
      </p:pic>
      <p:sp>
        <p:nvSpPr>
          <p:cNvPr id="4" name="Text 1"/>
          <p:cNvSpPr txBox="1"/>
          <p:nvPr/>
        </p:nvSpPr>
        <p:spPr>
          <a:xfrm>
            <a:off x="1554480" y="411480"/>
            <a:ext cx="9601200" cy="7315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Presidency University</a:t>
            </a:r>
            <a:endParaRPr lang="en-US" sz="2800" dirty="0"/>
          </a:p>
        </p:txBody>
      </p:sp>
      <p:pic>
        <p:nvPicPr>
          <p:cNvPr id="5" name="Image 1" descr="preencoded.png">    </p:cNvPr>
          <p:cNvPicPr>
            <a:picLocks noChangeAspect="1"/>
          </p:cNvPicPr>
          <p:nvPr/>
        </p:nvPicPr>
        <p:blipFill>
          <a:blip r:embed="rId2"/>
          <a:stretch>
            <a:fillRect/>
          </a:stretch>
        </p:blipFill>
        <p:spPr>
          <a:xfrm>
            <a:off x="822960" y="2103120"/>
            <a:ext cx="502920" cy="502920"/>
          </a:xfrm>
          <a:prstGeom prst="rect">
            <a:avLst/>
          </a:prstGeom>
        </p:spPr>
      </p:pic>
      <p:sp>
        <p:nvSpPr>
          <p:cNvPr id="6" name="Text 2"/>
          <p:cNvSpPr txBox="1"/>
          <p:nvPr/>
        </p:nvSpPr>
        <p:spPr>
          <a:xfrm>
            <a:off x="1554480" y="2057400"/>
            <a:ext cx="2743200" cy="320040"/>
          </a:xfrm>
          <a:prstGeom prst="rect">
            <a:avLst/>
          </a:prstGeom>
          <a:noFill/>
          <a:ln/>
        </p:spPr>
        <p:txBody>
          <a:bodyPr wrap="square" lIns="0" tIns="0" rIns="0" bIns="0" rtlCol="0" anchor="ctr"/>
          <a:lstStyle/>
          <a:p>
            <a:pPr indent="0" marL="0">
              <a:buNone/>
            </a:pPr>
            <a:r>
              <a:rPr lang="en-US" sz="1300" b="1" spc="100" kern="0" dirty="0">
                <a:solidFill>
                  <a:srgbClr val="C9A438"/>
                </a:solidFill>
                <a:latin typeface="Calibri" pitchFamily="34" charset="0"/>
                <a:ea typeface="Calibri" pitchFamily="34" charset="-122"/>
                <a:cs typeface="Calibri" pitchFamily="34" charset="-120"/>
              </a:rPr>
              <a:t>SCHOOL</a:t>
            </a:r>
            <a:endParaRPr lang="en-US" sz="1300" dirty="0"/>
          </a:p>
        </p:txBody>
      </p:sp>
      <p:sp>
        <p:nvSpPr>
          <p:cNvPr id="7" name="Text 3"/>
          <p:cNvSpPr txBox="1"/>
          <p:nvPr/>
        </p:nvSpPr>
        <p:spPr>
          <a:xfrm>
            <a:off x="1554480" y="2359152"/>
            <a:ext cx="9601200" cy="457200"/>
          </a:xfrm>
          <a:prstGeom prst="rect">
            <a:avLst/>
          </a:prstGeom>
          <a:noFill/>
          <a:ln/>
        </p:spPr>
        <p:txBody>
          <a:bodyPr wrap="square" lIns="0" tIns="0" rIns="0" bIns="0" rtlCol="0" anchor="ctr"/>
          <a:lstStyle/>
          <a:p>
            <a:pPr indent="0" marL="0">
              <a:buNone/>
            </a:pPr>
            <a:r>
              <a:rPr lang="en-US" sz="2000" dirty="0">
                <a:solidFill>
                  <a:srgbClr val="13233B"/>
                </a:solidFill>
                <a:latin typeface="Calibri" pitchFamily="34" charset="0"/>
                <a:ea typeface="Calibri" pitchFamily="34" charset="-122"/>
                <a:cs typeface="Calibri" pitchFamily="34" charset="-120"/>
              </a:rPr>
              <a:t>School of Artificial Intelligence and Advanced Computing</a:t>
            </a:r>
            <a:endParaRPr lang="en-US" sz="2000" dirty="0"/>
          </a:p>
        </p:txBody>
      </p:sp>
      <p:pic>
        <p:nvPicPr>
          <p:cNvPr id="8" name="Image 2" descr="preencoded.png">    </p:cNvPr>
          <p:cNvPicPr>
            <a:picLocks noChangeAspect="1"/>
          </p:cNvPicPr>
          <p:nvPr/>
        </p:nvPicPr>
        <p:blipFill>
          <a:blip r:embed="rId3"/>
          <a:stretch>
            <a:fillRect/>
          </a:stretch>
        </p:blipFill>
        <p:spPr>
          <a:xfrm>
            <a:off x="822960" y="3108960"/>
            <a:ext cx="502920" cy="502920"/>
          </a:xfrm>
          <a:prstGeom prst="rect">
            <a:avLst/>
          </a:prstGeom>
        </p:spPr>
      </p:pic>
      <p:sp>
        <p:nvSpPr>
          <p:cNvPr id="9" name="Text 4"/>
          <p:cNvSpPr txBox="1"/>
          <p:nvPr/>
        </p:nvSpPr>
        <p:spPr>
          <a:xfrm>
            <a:off x="1554480" y="3063240"/>
            <a:ext cx="2743200" cy="320040"/>
          </a:xfrm>
          <a:prstGeom prst="rect">
            <a:avLst/>
          </a:prstGeom>
          <a:noFill/>
          <a:ln/>
        </p:spPr>
        <p:txBody>
          <a:bodyPr wrap="square" lIns="0" tIns="0" rIns="0" bIns="0" rtlCol="0" anchor="ctr"/>
          <a:lstStyle/>
          <a:p>
            <a:pPr indent="0" marL="0">
              <a:buNone/>
            </a:pPr>
            <a:r>
              <a:rPr lang="en-US" sz="1300" b="1" spc="100" kern="0" dirty="0">
                <a:solidFill>
                  <a:srgbClr val="C9A438"/>
                </a:solidFill>
                <a:latin typeface="Calibri" pitchFamily="34" charset="0"/>
                <a:ea typeface="Calibri" pitchFamily="34" charset="-122"/>
                <a:cs typeface="Calibri" pitchFamily="34" charset="-120"/>
              </a:rPr>
              <a:t>DEPARTMENT</a:t>
            </a:r>
            <a:endParaRPr lang="en-US" sz="1300" dirty="0"/>
          </a:p>
        </p:txBody>
      </p:sp>
      <p:sp>
        <p:nvSpPr>
          <p:cNvPr id="10" name="Text 5"/>
          <p:cNvSpPr txBox="1"/>
          <p:nvPr/>
        </p:nvSpPr>
        <p:spPr>
          <a:xfrm>
            <a:off x="1554480" y="3364992"/>
            <a:ext cx="9601200" cy="457200"/>
          </a:xfrm>
          <a:prstGeom prst="rect">
            <a:avLst/>
          </a:prstGeom>
          <a:noFill/>
          <a:ln/>
        </p:spPr>
        <p:txBody>
          <a:bodyPr wrap="square" lIns="0" tIns="0" rIns="0" bIns="0" rtlCol="0" anchor="ctr"/>
          <a:lstStyle/>
          <a:p>
            <a:pPr indent="0" marL="0">
              <a:buNone/>
            </a:pPr>
            <a:r>
              <a:rPr lang="en-US" sz="2000" dirty="0">
                <a:solidFill>
                  <a:srgbClr val="13233B"/>
                </a:solidFill>
                <a:latin typeface="Calibri" pitchFamily="34" charset="0"/>
                <a:ea typeface="Calibri" pitchFamily="34" charset="-122"/>
                <a:cs typeface="Calibri" pitchFamily="34" charset="-120"/>
              </a:rPr>
              <a:t>Department of AI &amp; Robotics</a:t>
            </a:r>
            <a:endParaRPr lang="en-US" sz="2000" dirty="0"/>
          </a:p>
        </p:txBody>
      </p:sp>
      <p:pic>
        <p:nvPicPr>
          <p:cNvPr id="11" name="Image 3" descr="preencoded.png">    </p:cNvPr>
          <p:cNvPicPr>
            <a:picLocks noChangeAspect="1"/>
          </p:cNvPicPr>
          <p:nvPr/>
        </p:nvPicPr>
        <p:blipFill>
          <a:blip r:embed="rId4"/>
          <a:stretch>
            <a:fillRect/>
          </a:stretch>
        </p:blipFill>
        <p:spPr>
          <a:xfrm>
            <a:off x="822960" y="4114800"/>
            <a:ext cx="502920" cy="502920"/>
          </a:xfrm>
          <a:prstGeom prst="rect">
            <a:avLst/>
          </a:prstGeom>
        </p:spPr>
      </p:pic>
      <p:sp>
        <p:nvSpPr>
          <p:cNvPr id="12" name="Text 6"/>
          <p:cNvSpPr txBox="1"/>
          <p:nvPr/>
        </p:nvSpPr>
        <p:spPr>
          <a:xfrm>
            <a:off x="1554480" y="4069080"/>
            <a:ext cx="2743200" cy="320040"/>
          </a:xfrm>
          <a:prstGeom prst="rect">
            <a:avLst/>
          </a:prstGeom>
          <a:noFill/>
          <a:ln/>
        </p:spPr>
        <p:txBody>
          <a:bodyPr wrap="square" lIns="0" tIns="0" rIns="0" bIns="0" rtlCol="0" anchor="ctr"/>
          <a:lstStyle/>
          <a:p>
            <a:pPr indent="0" marL="0">
              <a:buNone/>
            </a:pPr>
            <a:r>
              <a:rPr lang="en-US" sz="1300" b="1" spc="100" kern="0" dirty="0">
                <a:solidFill>
                  <a:srgbClr val="C9A438"/>
                </a:solidFill>
                <a:latin typeface="Calibri" pitchFamily="34" charset="0"/>
                <a:ea typeface="Calibri" pitchFamily="34" charset="-122"/>
                <a:cs typeface="Calibri" pitchFamily="34" charset="-120"/>
              </a:rPr>
              <a:t>SUBJECT</a:t>
            </a:r>
            <a:endParaRPr lang="en-US" sz="1300" dirty="0"/>
          </a:p>
        </p:txBody>
      </p:sp>
      <p:sp>
        <p:nvSpPr>
          <p:cNvPr id="13" name="Text 7"/>
          <p:cNvSpPr txBox="1"/>
          <p:nvPr/>
        </p:nvSpPr>
        <p:spPr>
          <a:xfrm>
            <a:off x="1554480" y="4370832"/>
            <a:ext cx="9601200" cy="457200"/>
          </a:xfrm>
          <a:prstGeom prst="rect">
            <a:avLst/>
          </a:prstGeom>
          <a:noFill/>
          <a:ln/>
        </p:spPr>
        <p:txBody>
          <a:bodyPr wrap="square" lIns="0" tIns="0" rIns="0" bIns="0" rtlCol="0" anchor="ctr"/>
          <a:lstStyle/>
          <a:p>
            <a:pPr indent="0" marL="0">
              <a:buNone/>
            </a:pPr>
            <a:r>
              <a:rPr lang="en-US" sz="2000" dirty="0">
                <a:solidFill>
                  <a:srgbClr val="13233B"/>
                </a:solidFill>
                <a:latin typeface="Calibri" pitchFamily="34" charset="0"/>
                <a:ea typeface="Calibri" pitchFamily="34" charset="-122"/>
                <a:cs typeface="Calibri" pitchFamily="34" charset="-120"/>
              </a:rPr>
              <a:t>Computer Organization and Architecture (CSS2257)</a:t>
            </a:r>
            <a:endParaRPr lang="en-US" sz="2000" dirty="0"/>
          </a:p>
        </p:txBody>
      </p:sp>
      <p:pic>
        <p:nvPicPr>
          <p:cNvPr id="14" name="Image 4" descr="preencoded.png">    </p:cNvPr>
          <p:cNvPicPr>
            <a:picLocks noChangeAspect="1"/>
          </p:cNvPicPr>
          <p:nvPr/>
        </p:nvPicPr>
        <p:blipFill>
          <a:blip r:embed="rId5"/>
          <a:stretch>
            <a:fillRect/>
          </a:stretch>
        </p:blipFill>
        <p:spPr>
          <a:xfrm>
            <a:off x="822960" y="5120640"/>
            <a:ext cx="502920" cy="502920"/>
          </a:xfrm>
          <a:prstGeom prst="rect">
            <a:avLst/>
          </a:prstGeom>
        </p:spPr>
      </p:pic>
      <p:sp>
        <p:nvSpPr>
          <p:cNvPr id="15" name="Text 8"/>
          <p:cNvSpPr txBox="1"/>
          <p:nvPr/>
        </p:nvSpPr>
        <p:spPr>
          <a:xfrm>
            <a:off x="1554480" y="5074920"/>
            <a:ext cx="2743200" cy="320040"/>
          </a:xfrm>
          <a:prstGeom prst="rect">
            <a:avLst/>
          </a:prstGeom>
          <a:noFill/>
          <a:ln/>
        </p:spPr>
        <p:txBody>
          <a:bodyPr wrap="square" lIns="0" tIns="0" rIns="0" bIns="0" rtlCol="0" anchor="ctr"/>
          <a:lstStyle/>
          <a:p>
            <a:pPr indent="0" marL="0">
              <a:buNone/>
            </a:pPr>
            <a:r>
              <a:rPr lang="en-US" sz="1300" b="1" spc="100" kern="0" dirty="0">
                <a:solidFill>
                  <a:srgbClr val="C9A438"/>
                </a:solidFill>
                <a:latin typeface="Calibri" pitchFamily="34" charset="0"/>
                <a:ea typeface="Calibri" pitchFamily="34" charset="-122"/>
                <a:cs typeface="Calibri" pitchFamily="34" charset="-120"/>
              </a:rPr>
              <a:t>FACULTY</a:t>
            </a:r>
            <a:endParaRPr lang="en-US" sz="1300" dirty="0"/>
          </a:p>
        </p:txBody>
      </p:sp>
      <p:sp>
        <p:nvSpPr>
          <p:cNvPr id="16" name="Text 9"/>
          <p:cNvSpPr txBox="1"/>
          <p:nvPr/>
        </p:nvSpPr>
        <p:spPr>
          <a:xfrm>
            <a:off x="1554480" y="5376672"/>
            <a:ext cx="9601200" cy="457200"/>
          </a:xfrm>
          <a:prstGeom prst="rect">
            <a:avLst/>
          </a:prstGeom>
          <a:noFill/>
          <a:ln/>
        </p:spPr>
        <p:txBody>
          <a:bodyPr wrap="square" lIns="0" tIns="0" rIns="0" bIns="0" rtlCol="0" anchor="ctr"/>
          <a:lstStyle/>
          <a:p>
            <a:pPr indent="0" marL="0">
              <a:buNone/>
            </a:pPr>
            <a:r>
              <a:rPr lang="en-US" sz="2000" dirty="0">
                <a:solidFill>
                  <a:srgbClr val="13233B"/>
                </a:solidFill>
                <a:latin typeface="Calibri" pitchFamily="34" charset="0"/>
                <a:ea typeface="Calibri" pitchFamily="34" charset="-122"/>
                <a:cs typeface="Calibri" pitchFamily="34" charset="-120"/>
              </a:rPr>
              <a:t>Manoj Sagar, Assistant Professor</a:t>
            </a:r>
            <a:endParaRPr lang="en-US" sz="2000" dirty="0"/>
          </a:p>
        </p:txBody>
      </p:sp>
      <p:sp>
        <p:nvSpPr>
          <p:cNvPr id="17" name="Text 10"/>
          <p:cNvSpPr txBox="1"/>
          <p:nvPr/>
        </p:nvSpPr>
        <p:spPr>
          <a:xfrm>
            <a:off x="457200" y="6492240"/>
            <a:ext cx="8686800" cy="274320"/>
          </a:xfrm>
          <a:prstGeom prst="rect">
            <a:avLst/>
          </a:prstGeom>
          <a:noFill/>
          <a:ln/>
        </p:spPr>
        <p:txBody>
          <a:bodyPr wrap="square" lIns="0" tIns="0" rIns="0" bIns="0" rtlCol="0" anchor="ctr"/>
          <a:lstStyle/>
          <a:p>
            <a:pPr algn="l" indent="0" marL="0">
              <a:buNone/>
            </a:pPr>
            <a:r>
              <a:rPr lang="en-US" sz="1000" dirty="0">
                <a:solidFill>
                  <a:srgbClr val="4A5A72"/>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1000" dirty="0"/>
          </a:p>
        </p:txBody>
      </p:sp>
      <p:sp>
        <p:nvSpPr>
          <p:cNvPr id="18" name="Text 11"/>
          <p:cNvSpPr txBox="1"/>
          <p:nvPr/>
        </p:nvSpPr>
        <p:spPr>
          <a:xfrm>
            <a:off x="11274552" y="6492240"/>
            <a:ext cx="457200" cy="274320"/>
          </a:xfrm>
          <a:prstGeom prst="rect">
            <a:avLst/>
          </a:prstGeom>
          <a:noFill/>
          <a:ln/>
        </p:spPr>
        <p:txBody>
          <a:bodyPr wrap="square" lIns="0" tIns="0" rIns="0" bIns="0" rtlCol="0" anchor="ctr"/>
          <a:lstStyle/>
          <a:p>
            <a:pPr algn="r" indent="0" marL="0">
              <a:buNone/>
            </a:pPr>
            <a:r>
              <a:rPr lang="en-US" sz="1000" dirty="0">
                <a:solidFill>
                  <a:srgbClr val="4A5A72"/>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1E3D"/>
          </a:solidFill>
          <a:ln/>
        </p:spPr>
      </p:sp>
      <p:pic>
        <p:nvPicPr>
          <p:cNvPr id="3" name="Image 0" descr="preencoded.png">    </p:cNvPr>
          <p:cNvPicPr>
            <a:picLocks noChangeAspect="1"/>
          </p:cNvPicPr>
          <p:nvPr/>
        </p:nvPicPr>
        <p:blipFill>
          <a:blip r:embed="rId1"/>
          <a:stretch>
            <a:fillRect/>
          </a:stretch>
        </p:blipFill>
        <p:spPr>
          <a:xfrm>
            <a:off x="548640" y="256032"/>
            <a:ext cx="548640" cy="548640"/>
          </a:xfrm>
          <a:prstGeom prst="rect">
            <a:avLst/>
          </a:prstGeom>
        </p:spPr>
      </p:pic>
      <p:sp>
        <p:nvSpPr>
          <p:cNvPr id="4" name="Text 1"/>
          <p:cNvSpPr txBox="1"/>
          <p:nvPr/>
        </p:nvSpPr>
        <p:spPr>
          <a:xfrm>
            <a:off x="1280160" y="182880"/>
            <a:ext cx="10241280" cy="7315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Learning Objectives</a:t>
            </a:r>
            <a:endParaRPr lang="en-US" sz="2800" dirty="0"/>
          </a:p>
        </p:txBody>
      </p:sp>
      <p:sp>
        <p:nvSpPr>
          <p:cNvPr id="5" name="Text 2"/>
          <p:cNvSpPr txBox="1"/>
          <p:nvPr/>
        </p:nvSpPr>
        <p:spPr>
          <a:xfrm>
            <a:off x="822960" y="1463040"/>
            <a:ext cx="10515600" cy="4754880"/>
          </a:xfrm>
          <a:prstGeom prst="rect">
            <a:avLst/>
          </a:prstGeom>
          <a:noFill/>
          <a:ln/>
        </p:spPr>
        <p:txBody>
          <a:bodyPr wrap="square" lIns="0" tIns="0" rIns="0" bIns="0" rtlCol="0" anchor="t"/>
          <a:lstStyle/>
          <a:p>
            <a:pPr marL="228600" indent="-228600">
              <a:lnSpc>
                <a:spcPct val="115000"/>
              </a:lnSpc>
              <a:spcAft>
                <a:spcPts val="1600"/>
              </a:spcAft>
              <a:buSzPct val="100000"/>
              <a:buChar char="•"/>
            </a:pPr>
            <a:r>
              <a:rPr lang="en-US" sz="2000" dirty="0">
                <a:solidFill>
                  <a:srgbClr val="13233B"/>
                </a:solidFill>
                <a:latin typeface="Calibri" pitchFamily="34" charset="0"/>
                <a:ea typeface="Calibri" pitchFamily="34" charset="-122"/>
                <a:cs typeface="Calibri" pitchFamily="34" charset="-120"/>
              </a:rPr>
              <a:t>Explain what an addressing mode is and why an ISA needs several of them</a:t>
            </a:r>
            <a:endParaRPr lang="en-US" sz="2000" dirty="0"/>
          </a:p>
          <a:p>
            <a:pPr marL="228600" indent="-228600">
              <a:lnSpc>
                <a:spcPct val="115000"/>
              </a:lnSpc>
              <a:spcAft>
                <a:spcPts val="1600"/>
              </a:spcAft>
              <a:buSzPct val="100000"/>
              <a:buChar char="•"/>
            </a:pPr>
            <a:r>
              <a:rPr lang="en-US" sz="2000" dirty="0">
                <a:solidFill>
                  <a:srgbClr val="13233B"/>
                </a:solidFill>
                <a:latin typeface="Calibri" pitchFamily="34" charset="0"/>
                <a:ea typeface="Calibri" pitchFamily="34" charset="-122"/>
                <a:cs typeface="Calibri" pitchFamily="34" charset="-120"/>
              </a:rPr>
              <a:t>Identify and apply the major addressing modes: immediate, direct, indirect, register, register-indirect, displacement, indexed, relative, and auto-increment/decrement</a:t>
            </a:r>
            <a:endParaRPr lang="en-US" sz="2000" dirty="0"/>
          </a:p>
          <a:p>
            <a:pPr marL="228600" indent="-228600">
              <a:lnSpc>
                <a:spcPct val="115000"/>
              </a:lnSpc>
              <a:spcAft>
                <a:spcPts val="1600"/>
              </a:spcAft>
              <a:buSzPct val="100000"/>
              <a:buChar char="•"/>
            </a:pPr>
            <a:r>
              <a:rPr lang="en-US" sz="2000" dirty="0">
                <a:solidFill>
                  <a:srgbClr val="13233B"/>
                </a:solidFill>
                <a:latin typeface="Calibri" pitchFamily="34" charset="0"/>
                <a:ea typeface="Calibri" pitchFamily="34" charset="-122"/>
                <a:cs typeface="Calibri" pitchFamily="34" charset="-120"/>
              </a:rPr>
              <a:t>Compute the effective address for a given instruction and addressing mode</a:t>
            </a:r>
            <a:endParaRPr lang="en-US" sz="2000" dirty="0"/>
          </a:p>
          <a:p>
            <a:pPr marL="228600" indent="-228600">
              <a:lnSpc>
                <a:spcPct val="115000"/>
              </a:lnSpc>
              <a:spcAft>
                <a:spcPts val="1600"/>
              </a:spcAft>
              <a:buSzPct val="100000"/>
              <a:buChar char="•"/>
            </a:pPr>
            <a:r>
              <a:rPr lang="en-US" sz="2000" dirty="0">
                <a:solidFill>
                  <a:srgbClr val="13233B"/>
                </a:solidFill>
                <a:latin typeface="Calibri" pitchFamily="34" charset="0"/>
                <a:ea typeface="Calibri" pitchFamily="34" charset="-122"/>
                <a:cs typeface="Calibri" pitchFamily="34" charset="-120"/>
              </a:rPr>
              <a:t>Describe how a stack works and trace PUSH/POP operations on it</a:t>
            </a:r>
            <a:endParaRPr lang="en-US" sz="2000" dirty="0"/>
          </a:p>
          <a:p>
            <a:pPr marL="228600" indent="-228600">
              <a:lnSpc>
                <a:spcPct val="115000"/>
              </a:lnSpc>
              <a:spcAft>
                <a:spcPts val="1600"/>
              </a:spcAft>
              <a:buSzPct val="100000"/>
              <a:buChar char="•"/>
            </a:pPr>
            <a:r>
              <a:rPr lang="en-US" sz="2000" dirty="0">
                <a:solidFill>
                  <a:srgbClr val="13233B"/>
                </a:solidFill>
                <a:latin typeface="Calibri" pitchFamily="34" charset="0"/>
                <a:ea typeface="Calibri" pitchFamily="34" charset="-122"/>
                <a:cs typeface="Calibri" pitchFamily="34" charset="-120"/>
              </a:rPr>
              <a:t>Explain how CALL and RET use the stack to implement subroutine linkage</a:t>
            </a:r>
            <a:endParaRPr lang="en-US" sz="2000" dirty="0"/>
          </a:p>
          <a:p>
            <a:pPr marL="228600" indent="-228600">
              <a:lnSpc>
                <a:spcPct val="115000"/>
              </a:lnSpc>
              <a:spcAft>
                <a:spcPts val="1600"/>
              </a:spcAft>
              <a:buSzPct val="100000"/>
              <a:buChar char="•"/>
            </a:pPr>
            <a:r>
              <a:rPr lang="en-US" sz="2000" dirty="0">
                <a:solidFill>
                  <a:srgbClr val="13233B"/>
                </a:solidFill>
                <a:latin typeface="Calibri" pitchFamily="34" charset="0"/>
                <a:ea typeface="Calibri" pitchFamily="34" charset="-122"/>
                <a:cs typeface="Calibri" pitchFamily="34" charset="-120"/>
              </a:rPr>
              <a:t>Trace parameter passing and nested calls through a stack frame</a:t>
            </a:r>
            <a:endParaRPr lang="en-US" sz="2000" dirty="0"/>
          </a:p>
        </p:txBody>
      </p:sp>
      <p:sp>
        <p:nvSpPr>
          <p:cNvPr id="6" name="Text 3"/>
          <p:cNvSpPr txBox="1"/>
          <p:nvPr/>
        </p:nvSpPr>
        <p:spPr>
          <a:xfrm>
            <a:off x="457200" y="6492240"/>
            <a:ext cx="8686800" cy="274320"/>
          </a:xfrm>
          <a:prstGeom prst="rect">
            <a:avLst/>
          </a:prstGeom>
          <a:noFill/>
          <a:ln/>
        </p:spPr>
        <p:txBody>
          <a:bodyPr wrap="square" lIns="0" tIns="0" rIns="0" bIns="0" rtlCol="0" anchor="ctr"/>
          <a:lstStyle/>
          <a:p>
            <a:pPr algn="l" indent="0" marL="0">
              <a:buNone/>
            </a:pPr>
            <a:r>
              <a:rPr lang="en-US" sz="1000" dirty="0">
                <a:solidFill>
                  <a:srgbClr val="4A5A72"/>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1000" dirty="0"/>
          </a:p>
        </p:txBody>
      </p:sp>
      <p:sp>
        <p:nvSpPr>
          <p:cNvPr id="7" name="Text 4"/>
          <p:cNvSpPr txBox="1"/>
          <p:nvPr/>
        </p:nvSpPr>
        <p:spPr>
          <a:xfrm>
            <a:off x="11274552" y="6492240"/>
            <a:ext cx="457200" cy="274320"/>
          </a:xfrm>
          <a:prstGeom prst="rect">
            <a:avLst/>
          </a:prstGeom>
          <a:noFill/>
          <a:ln/>
        </p:spPr>
        <p:txBody>
          <a:bodyPr wrap="square" lIns="0" tIns="0" rIns="0" bIns="0" rtlCol="0" anchor="ctr"/>
          <a:lstStyle/>
          <a:p>
            <a:pPr algn="r" indent="0" marL="0">
              <a:buNone/>
            </a:pPr>
            <a:r>
              <a:rPr lang="en-US" sz="1000" dirty="0">
                <a:solidFill>
                  <a:srgbClr val="4A5A72"/>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E3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457200"/>
            <a:ext cx="640080" cy="640080"/>
          </a:xfrm>
          <a:prstGeom prst="rect">
            <a:avLst/>
          </a:prstGeom>
        </p:spPr>
      </p:pic>
      <p:sp>
        <p:nvSpPr>
          <p:cNvPr id="3" name="Text 0"/>
          <p:cNvSpPr txBox="1"/>
          <p:nvPr/>
        </p:nvSpPr>
        <p:spPr>
          <a:xfrm>
            <a:off x="1371600" y="457200"/>
            <a:ext cx="10058400" cy="7315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Icebreaker: Before We Begin</a:t>
            </a:r>
            <a:endParaRPr lang="en-US" sz="2800" dirty="0"/>
          </a:p>
        </p:txBody>
      </p:sp>
      <p:sp>
        <p:nvSpPr>
          <p:cNvPr id="4" name="Shape 1"/>
          <p:cNvSpPr/>
          <p:nvPr/>
        </p:nvSpPr>
        <p:spPr>
          <a:xfrm>
            <a:off x="822960" y="1325880"/>
            <a:ext cx="4114800" cy="27432"/>
          </a:xfrm>
          <a:prstGeom prst="rect">
            <a:avLst/>
          </a:prstGeom>
          <a:solidFill>
            <a:srgbClr val="C9A438"/>
          </a:solidFill>
          <a:ln/>
        </p:spPr>
      </p:sp>
      <p:sp>
        <p:nvSpPr>
          <p:cNvPr id="5" name="Shape 2"/>
          <p:cNvSpPr/>
          <p:nvPr/>
        </p:nvSpPr>
        <p:spPr>
          <a:xfrm>
            <a:off x="822960" y="1828800"/>
            <a:ext cx="10515600" cy="1188720"/>
          </a:xfrm>
          <a:prstGeom prst="roundRect">
            <a:avLst>
              <a:gd name="adj" fmla="val 6154"/>
            </a:avLst>
          </a:prstGeom>
          <a:solidFill>
            <a:srgbClr val="13284A"/>
          </a:solidFill>
          <a:ln w="12700">
            <a:solidFill>
              <a:srgbClr val="C9A438"/>
            </a:solidFill>
            <a:prstDash val="solid"/>
          </a:ln>
        </p:spPr>
      </p:sp>
      <p:sp>
        <p:nvSpPr>
          <p:cNvPr id="6" name="Text 3"/>
          <p:cNvSpPr txBox="1"/>
          <p:nvPr/>
        </p:nvSpPr>
        <p:spPr>
          <a:xfrm>
            <a:off x="1143000" y="1938528"/>
            <a:ext cx="9966960" cy="969264"/>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When you call a function inside another function in Python or C, how do you think the computer remembers where to return to?</a:t>
            </a:r>
            <a:endParaRPr lang="en-US" sz="2000" dirty="0"/>
          </a:p>
        </p:txBody>
      </p:sp>
      <p:sp>
        <p:nvSpPr>
          <p:cNvPr id="7" name="Shape 4"/>
          <p:cNvSpPr/>
          <p:nvPr/>
        </p:nvSpPr>
        <p:spPr>
          <a:xfrm>
            <a:off x="822960" y="3246120"/>
            <a:ext cx="10515600" cy="1188720"/>
          </a:xfrm>
          <a:prstGeom prst="roundRect">
            <a:avLst>
              <a:gd name="adj" fmla="val 6154"/>
            </a:avLst>
          </a:prstGeom>
          <a:solidFill>
            <a:srgbClr val="13284A"/>
          </a:solidFill>
          <a:ln w="12700">
            <a:solidFill>
              <a:srgbClr val="C9A438"/>
            </a:solidFill>
            <a:prstDash val="solid"/>
          </a:ln>
        </p:spPr>
      </p:sp>
      <p:sp>
        <p:nvSpPr>
          <p:cNvPr id="8" name="Text 5"/>
          <p:cNvSpPr txBox="1"/>
          <p:nvPr/>
        </p:nvSpPr>
        <p:spPr>
          <a:xfrm>
            <a:off x="1143000" y="3355848"/>
            <a:ext cx="9966960" cy="969264"/>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Have you ever seen a "stack overflow" error? What do you think actually overflowed?</a:t>
            </a:r>
            <a:endParaRPr lang="en-US" sz="2000" dirty="0"/>
          </a:p>
        </p:txBody>
      </p:sp>
      <p:sp>
        <p:nvSpPr>
          <p:cNvPr id="9" name="Shape 6"/>
          <p:cNvSpPr/>
          <p:nvPr/>
        </p:nvSpPr>
        <p:spPr>
          <a:xfrm>
            <a:off x="822960" y="4663440"/>
            <a:ext cx="10515600" cy="1188720"/>
          </a:xfrm>
          <a:prstGeom prst="roundRect">
            <a:avLst>
              <a:gd name="adj" fmla="val 6154"/>
            </a:avLst>
          </a:prstGeom>
          <a:solidFill>
            <a:srgbClr val="13284A"/>
          </a:solidFill>
          <a:ln w="12700">
            <a:solidFill>
              <a:srgbClr val="C9A438"/>
            </a:solidFill>
            <a:prstDash val="solid"/>
          </a:ln>
        </p:spPr>
      </p:sp>
      <p:sp>
        <p:nvSpPr>
          <p:cNvPr id="10" name="Text 7"/>
          <p:cNvSpPr txBox="1"/>
          <p:nvPr/>
        </p:nvSpPr>
        <p:spPr>
          <a:xfrm>
            <a:off x="1143000" y="4773168"/>
            <a:ext cx="9966960" cy="969264"/>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If I gave you the number 5 directly versus the address of a box containing 5, which is faster to use — and why might a CPU care about that difference?</a:t>
            </a:r>
            <a:endParaRPr lang="en-US" sz="2000" dirty="0"/>
          </a:p>
        </p:txBody>
      </p:sp>
      <p:sp>
        <p:nvSpPr>
          <p:cNvPr id="11" name="Text 8"/>
          <p:cNvSpPr txBox="1"/>
          <p:nvPr/>
        </p:nvSpPr>
        <p:spPr>
          <a:xfrm>
            <a:off x="457200" y="6492240"/>
            <a:ext cx="8686800" cy="274320"/>
          </a:xfrm>
          <a:prstGeom prst="rect">
            <a:avLst/>
          </a:prstGeom>
          <a:noFill/>
          <a:ln/>
        </p:spPr>
        <p:txBody>
          <a:bodyPr wrap="square" lIns="0" tIns="0" rIns="0" bIns="0" rtlCol="0" anchor="ctr"/>
          <a:lstStyle/>
          <a:p>
            <a:pPr algn="l" indent="0" marL="0">
              <a:buNone/>
            </a:pPr>
            <a:r>
              <a:rPr lang="en-US" sz="1000" dirty="0">
                <a:solidFill>
                  <a:srgbClr val="4A5A72"/>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1000" dirty="0"/>
          </a:p>
        </p:txBody>
      </p:sp>
      <p:sp>
        <p:nvSpPr>
          <p:cNvPr id="12" name="Text 9"/>
          <p:cNvSpPr txBox="1"/>
          <p:nvPr/>
        </p:nvSpPr>
        <p:spPr>
          <a:xfrm>
            <a:off x="11274552" y="6492240"/>
            <a:ext cx="457200" cy="274320"/>
          </a:xfrm>
          <a:prstGeom prst="rect">
            <a:avLst/>
          </a:prstGeom>
          <a:noFill/>
          <a:ln/>
        </p:spPr>
        <p:txBody>
          <a:bodyPr wrap="square" lIns="0" tIns="0" rIns="0" bIns="0" rtlCol="0" anchor="ctr"/>
          <a:lstStyle/>
          <a:p>
            <a:pPr algn="r" indent="0" marL="0">
              <a:buNone/>
            </a:pPr>
            <a:r>
              <a:rPr lang="en-US" sz="1000" dirty="0">
                <a:solidFill>
                  <a:srgbClr val="4A5A72"/>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1E3D"/>
          </a:solidFill>
          <a:ln/>
        </p:spPr>
      </p:sp>
      <p:pic>
        <p:nvPicPr>
          <p:cNvPr id="3" name="Image 0" descr="preencoded.png">    </p:cNvPr>
          <p:cNvPicPr>
            <a:picLocks noChangeAspect="1"/>
          </p:cNvPicPr>
          <p:nvPr/>
        </p:nvPicPr>
        <p:blipFill>
          <a:blip r:embed="rId1"/>
          <a:stretch>
            <a:fillRect/>
          </a:stretch>
        </p:blipFill>
        <p:spPr>
          <a:xfrm>
            <a:off x="548640" y="256032"/>
            <a:ext cx="548640" cy="548640"/>
          </a:xfrm>
          <a:prstGeom prst="rect">
            <a:avLst/>
          </a:prstGeom>
        </p:spPr>
      </p:pic>
      <p:sp>
        <p:nvSpPr>
          <p:cNvPr id="4" name="Text 1"/>
          <p:cNvSpPr txBox="1"/>
          <p:nvPr/>
        </p:nvSpPr>
        <p:spPr>
          <a:xfrm>
            <a:off x="1280160" y="182880"/>
            <a:ext cx="10241280" cy="7315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Why Addressing Modes Matter</a:t>
            </a:r>
            <a:endParaRPr lang="en-US" sz="2800" dirty="0"/>
          </a:p>
        </p:txBody>
      </p:sp>
      <p:sp>
        <p:nvSpPr>
          <p:cNvPr id="5" name="Text 2"/>
          <p:cNvSpPr txBox="1"/>
          <p:nvPr/>
        </p:nvSpPr>
        <p:spPr>
          <a:xfrm>
            <a:off x="822960" y="1463040"/>
            <a:ext cx="10515600" cy="4754880"/>
          </a:xfrm>
          <a:prstGeom prst="rect">
            <a:avLst/>
          </a:prstGeom>
          <a:noFill/>
          <a:ln/>
        </p:spPr>
        <p:txBody>
          <a:bodyPr wrap="square" lIns="0" tIns="0" rIns="0" bIns="0" rtlCol="0" anchor="t"/>
          <a:lstStyle/>
          <a:p>
            <a:pPr marL="228600" indent="-228600">
              <a:lnSpc>
                <a:spcPct val="115000"/>
              </a:lnSpc>
              <a:spcAft>
                <a:spcPts val="1600"/>
              </a:spcAft>
              <a:buSzPct val="100000"/>
              <a:buChar char="•"/>
            </a:pPr>
            <a:r>
              <a:rPr lang="en-US" sz="2000" dirty="0">
                <a:solidFill>
                  <a:srgbClr val="13233B"/>
                </a:solidFill>
                <a:latin typeface="Calibri" pitchFamily="34" charset="0"/>
                <a:ea typeface="Calibri" pitchFamily="34" charset="-122"/>
                <a:cs typeface="Calibri" pitchFamily="34" charset="-120"/>
              </a:rPr>
              <a:t>Every instruction needs to know where its data lives — a register, a fixed address, a pointer, an array element</a:t>
            </a:r>
            <a:endParaRPr lang="en-US" sz="2000" dirty="0"/>
          </a:p>
          <a:p>
            <a:pPr marL="228600" indent="-228600">
              <a:lnSpc>
                <a:spcPct val="115000"/>
              </a:lnSpc>
              <a:spcAft>
                <a:spcPts val="1600"/>
              </a:spcAft>
              <a:buSzPct val="100000"/>
              <a:buChar char="•"/>
            </a:pPr>
            <a:r>
              <a:rPr lang="en-US" sz="2000" dirty="0">
                <a:solidFill>
                  <a:srgbClr val="13233B"/>
                </a:solidFill>
                <a:latin typeface="Calibri" pitchFamily="34" charset="0"/>
                <a:ea typeface="Calibri" pitchFamily="34" charset="-122"/>
                <a:cs typeface="Calibri" pitchFamily="34" charset="-120"/>
              </a:rPr>
              <a:t>Addressing modes are the vocabulary the ISA uses to describe "where"</a:t>
            </a:r>
            <a:endParaRPr lang="en-US" sz="2000" dirty="0"/>
          </a:p>
          <a:p>
            <a:pPr marL="228600" indent="-228600">
              <a:lnSpc>
                <a:spcPct val="115000"/>
              </a:lnSpc>
              <a:spcAft>
                <a:spcPts val="1600"/>
              </a:spcAft>
              <a:buSzPct val="100000"/>
              <a:buChar char="•"/>
            </a:pPr>
            <a:r>
              <a:rPr lang="en-US" sz="2000" dirty="0">
                <a:solidFill>
                  <a:srgbClr val="13233B"/>
                </a:solidFill>
                <a:latin typeface="Calibri" pitchFamily="34" charset="0"/>
                <a:ea typeface="Calibri" pitchFamily="34" charset="-122"/>
                <a:cs typeface="Calibri" pitchFamily="34" charset="-120"/>
              </a:rPr>
              <a:t>Compilers pick addressing modes automatically when they translate your C/Python/Java code into machine code</a:t>
            </a:r>
            <a:endParaRPr lang="en-US" sz="2000" dirty="0"/>
          </a:p>
          <a:p>
            <a:pPr marL="228600" indent="-228600">
              <a:lnSpc>
                <a:spcPct val="115000"/>
              </a:lnSpc>
              <a:spcAft>
                <a:spcPts val="1600"/>
              </a:spcAft>
              <a:buSzPct val="100000"/>
              <a:buChar char="•"/>
            </a:pPr>
            <a:r>
              <a:rPr lang="en-US" sz="2000" dirty="0">
                <a:solidFill>
                  <a:srgbClr val="13233B"/>
                </a:solidFill>
                <a:latin typeface="Calibri" pitchFamily="34" charset="0"/>
                <a:ea typeface="Calibri" pitchFamily="34" charset="-122"/>
                <a:cs typeface="Calibri" pitchFamily="34" charset="-120"/>
              </a:rPr>
              <a:t>Good addressing-mode support means shorter, faster programs — this is a real design trade-off in every CPU, from a microcontroller to a smartphone chip</a:t>
            </a:r>
            <a:endParaRPr lang="en-US" sz="2000" dirty="0"/>
          </a:p>
        </p:txBody>
      </p:sp>
      <p:sp>
        <p:nvSpPr>
          <p:cNvPr id="6" name="Text 3"/>
          <p:cNvSpPr txBox="1"/>
          <p:nvPr/>
        </p:nvSpPr>
        <p:spPr>
          <a:xfrm>
            <a:off x="457200" y="6492240"/>
            <a:ext cx="8686800" cy="274320"/>
          </a:xfrm>
          <a:prstGeom prst="rect">
            <a:avLst/>
          </a:prstGeom>
          <a:noFill/>
          <a:ln/>
        </p:spPr>
        <p:txBody>
          <a:bodyPr wrap="square" lIns="0" tIns="0" rIns="0" bIns="0" rtlCol="0" anchor="ctr"/>
          <a:lstStyle/>
          <a:p>
            <a:pPr algn="l" indent="0" marL="0">
              <a:buNone/>
            </a:pPr>
            <a:r>
              <a:rPr lang="en-US" sz="1000" dirty="0">
                <a:solidFill>
                  <a:srgbClr val="4A5A72"/>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1000" dirty="0"/>
          </a:p>
        </p:txBody>
      </p:sp>
      <p:sp>
        <p:nvSpPr>
          <p:cNvPr id="7" name="Text 4"/>
          <p:cNvSpPr txBox="1"/>
          <p:nvPr/>
        </p:nvSpPr>
        <p:spPr>
          <a:xfrm>
            <a:off x="11274552" y="6492240"/>
            <a:ext cx="457200" cy="274320"/>
          </a:xfrm>
          <a:prstGeom prst="rect">
            <a:avLst/>
          </a:prstGeom>
          <a:noFill/>
          <a:ln/>
        </p:spPr>
        <p:txBody>
          <a:bodyPr wrap="square" lIns="0" tIns="0" rIns="0" bIns="0" rtlCol="0" anchor="ctr"/>
          <a:lstStyle/>
          <a:p>
            <a:pPr algn="r" indent="0" marL="0">
              <a:buNone/>
            </a:pPr>
            <a:r>
              <a:rPr lang="en-US" sz="1000" dirty="0">
                <a:solidFill>
                  <a:srgbClr val="4A5A72"/>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1E3D"/>
          </a:solidFill>
          <a:ln/>
        </p:spPr>
      </p:sp>
      <p:pic>
        <p:nvPicPr>
          <p:cNvPr id="3" name="Image 0" descr="preencoded.png">    </p:cNvPr>
          <p:cNvPicPr>
            <a:picLocks noChangeAspect="1"/>
          </p:cNvPicPr>
          <p:nvPr/>
        </p:nvPicPr>
        <p:blipFill>
          <a:blip r:embed="rId1"/>
          <a:stretch>
            <a:fillRect/>
          </a:stretch>
        </p:blipFill>
        <p:spPr>
          <a:xfrm>
            <a:off x="548640" y="256032"/>
            <a:ext cx="548640" cy="548640"/>
          </a:xfrm>
          <a:prstGeom prst="rect">
            <a:avLst/>
          </a:prstGeom>
        </p:spPr>
      </p:pic>
      <p:sp>
        <p:nvSpPr>
          <p:cNvPr id="4" name="Text 1"/>
          <p:cNvSpPr txBox="1"/>
          <p:nvPr/>
        </p:nvSpPr>
        <p:spPr>
          <a:xfrm>
            <a:off x="1280160" y="182880"/>
            <a:ext cx="10241280" cy="7315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Quick Recap: Instruction Format</a:t>
            </a:r>
            <a:endParaRPr lang="en-US" sz="2800" dirty="0"/>
          </a:p>
        </p:txBody>
      </p:sp>
      <p:sp>
        <p:nvSpPr>
          <p:cNvPr id="5" name="Text 2"/>
          <p:cNvSpPr txBox="1"/>
          <p:nvPr/>
        </p:nvSpPr>
        <p:spPr>
          <a:xfrm>
            <a:off x="822960" y="1463040"/>
            <a:ext cx="10515600" cy="4754880"/>
          </a:xfrm>
          <a:prstGeom prst="rect">
            <a:avLst/>
          </a:prstGeom>
          <a:noFill/>
          <a:ln/>
        </p:spPr>
        <p:txBody>
          <a:bodyPr wrap="square" lIns="0" tIns="0" rIns="0" bIns="0" rtlCol="0" anchor="t"/>
          <a:lstStyle/>
          <a:p>
            <a:pPr marL="228600" indent="-228600">
              <a:lnSpc>
                <a:spcPct val="115000"/>
              </a:lnSpc>
              <a:spcAft>
                <a:spcPts val="1600"/>
              </a:spcAft>
              <a:buSzPct val="100000"/>
              <a:buChar char="•"/>
            </a:pPr>
            <a:r>
              <a:rPr lang="en-US" sz="2000" dirty="0">
                <a:solidFill>
                  <a:srgbClr val="13233B"/>
                </a:solidFill>
                <a:latin typeface="Calibri" pitchFamily="34" charset="0"/>
                <a:ea typeface="Calibri" pitchFamily="34" charset="-122"/>
                <a:cs typeface="Calibri" pitchFamily="34" charset="-120"/>
              </a:rPr>
              <a:t>A machine instruction typically has two parts: opcode and operand(s)</a:t>
            </a:r>
            <a:endParaRPr lang="en-US" sz="2000" dirty="0"/>
          </a:p>
          <a:p>
            <a:pPr marL="228600" indent="-228600">
              <a:lnSpc>
                <a:spcPct val="115000"/>
              </a:lnSpc>
              <a:spcAft>
                <a:spcPts val="1600"/>
              </a:spcAft>
              <a:buSzPct val="100000"/>
              <a:buChar char="•"/>
            </a:pPr>
            <a:r>
              <a:rPr lang="en-US" sz="2000" dirty="0">
                <a:solidFill>
                  <a:srgbClr val="13233B"/>
                </a:solidFill>
                <a:latin typeface="Calibri" pitchFamily="34" charset="0"/>
                <a:ea typeface="Calibri" pitchFamily="34" charset="-122"/>
                <a:cs typeface="Calibri" pitchFamily="34" charset="-120"/>
              </a:rPr>
              <a:t>Opcode: which operation to perform (ADD, MOV, LOAD, CALL, …)</a:t>
            </a:r>
            <a:endParaRPr lang="en-US" sz="2000" dirty="0"/>
          </a:p>
          <a:p>
            <a:pPr marL="228600" indent="-228600">
              <a:lnSpc>
                <a:spcPct val="115000"/>
              </a:lnSpc>
              <a:spcAft>
                <a:spcPts val="1600"/>
              </a:spcAft>
              <a:buSzPct val="100000"/>
              <a:buChar char="•"/>
            </a:pPr>
            <a:r>
              <a:rPr lang="en-US" sz="2000" dirty="0">
                <a:solidFill>
                  <a:srgbClr val="13233B"/>
                </a:solidFill>
                <a:latin typeface="Calibri" pitchFamily="34" charset="0"/>
                <a:ea typeface="Calibri" pitchFamily="34" charset="-122"/>
                <a:cs typeface="Calibri" pitchFamily="34" charset="-120"/>
              </a:rPr>
              <a:t>Operand: what to perform it on — this is where addressing modes come in</a:t>
            </a:r>
            <a:endParaRPr lang="en-US" sz="2000" dirty="0"/>
          </a:p>
          <a:p>
            <a:pPr marL="228600" indent="-228600">
              <a:lnSpc>
                <a:spcPct val="115000"/>
              </a:lnSpc>
              <a:spcAft>
                <a:spcPts val="1600"/>
              </a:spcAft>
              <a:buSzPct val="100000"/>
              <a:buChar char="•"/>
            </a:pPr>
            <a:r>
              <a:rPr lang="en-US" sz="2000" dirty="0">
                <a:solidFill>
                  <a:srgbClr val="13233B"/>
                </a:solidFill>
                <a:latin typeface="Calibri" pitchFamily="34" charset="0"/>
                <a:ea typeface="Calibri" pitchFamily="34" charset="-122"/>
                <a:cs typeface="Calibri" pitchFamily="34" charset="-120"/>
              </a:rPr>
              <a:t>Example: ADD R1, R2  → opcode = ADD, operands = R1 and R2</a:t>
            </a:r>
            <a:endParaRPr lang="en-US" sz="2000" dirty="0"/>
          </a:p>
          <a:p>
            <a:pPr marL="228600" indent="-228600">
              <a:lnSpc>
                <a:spcPct val="115000"/>
              </a:lnSpc>
              <a:spcAft>
                <a:spcPts val="1600"/>
              </a:spcAft>
              <a:buSzPct val="100000"/>
              <a:buChar char="•"/>
            </a:pPr>
            <a:r>
              <a:rPr lang="en-US" sz="2000" dirty="0">
                <a:solidFill>
                  <a:srgbClr val="13233B"/>
                </a:solidFill>
                <a:latin typeface="Calibri" pitchFamily="34" charset="0"/>
                <a:ea typeface="Calibri" pitchFamily="34" charset="-122"/>
                <a:cs typeface="Calibri" pitchFamily="34" charset="-120"/>
              </a:rPr>
              <a:t>The addressing mode tells the CPU HOW to interpret each operand field</a:t>
            </a:r>
            <a:endParaRPr lang="en-US" sz="2000" dirty="0"/>
          </a:p>
        </p:txBody>
      </p:sp>
      <p:sp>
        <p:nvSpPr>
          <p:cNvPr id="6" name="Text 3"/>
          <p:cNvSpPr txBox="1"/>
          <p:nvPr/>
        </p:nvSpPr>
        <p:spPr>
          <a:xfrm>
            <a:off x="457200" y="6492240"/>
            <a:ext cx="8686800" cy="274320"/>
          </a:xfrm>
          <a:prstGeom prst="rect">
            <a:avLst/>
          </a:prstGeom>
          <a:noFill/>
          <a:ln/>
        </p:spPr>
        <p:txBody>
          <a:bodyPr wrap="square" lIns="0" tIns="0" rIns="0" bIns="0" rtlCol="0" anchor="ctr"/>
          <a:lstStyle/>
          <a:p>
            <a:pPr algn="l" indent="0" marL="0">
              <a:buNone/>
            </a:pPr>
            <a:r>
              <a:rPr lang="en-US" sz="1000" dirty="0">
                <a:solidFill>
                  <a:srgbClr val="4A5A72"/>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1000" dirty="0"/>
          </a:p>
        </p:txBody>
      </p:sp>
      <p:sp>
        <p:nvSpPr>
          <p:cNvPr id="7" name="Text 4"/>
          <p:cNvSpPr txBox="1"/>
          <p:nvPr/>
        </p:nvSpPr>
        <p:spPr>
          <a:xfrm>
            <a:off x="11274552" y="6492240"/>
            <a:ext cx="457200" cy="274320"/>
          </a:xfrm>
          <a:prstGeom prst="rect">
            <a:avLst/>
          </a:prstGeom>
          <a:noFill/>
          <a:ln/>
        </p:spPr>
        <p:txBody>
          <a:bodyPr wrap="square" lIns="0" tIns="0" rIns="0" bIns="0" rtlCol="0" anchor="ctr"/>
          <a:lstStyle/>
          <a:p>
            <a:pPr algn="r" indent="0" marL="0">
              <a:buNone/>
            </a:pPr>
            <a:r>
              <a:rPr lang="en-US" sz="1000" dirty="0">
                <a:solidFill>
                  <a:srgbClr val="4A5A72"/>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1E3D"/>
          </a:solidFill>
          <a:ln/>
        </p:spPr>
      </p:sp>
      <p:pic>
        <p:nvPicPr>
          <p:cNvPr id="3" name="Image 0" descr="preencoded.png">    </p:cNvPr>
          <p:cNvPicPr>
            <a:picLocks noChangeAspect="1"/>
          </p:cNvPicPr>
          <p:nvPr/>
        </p:nvPicPr>
        <p:blipFill>
          <a:blip r:embed="rId1"/>
          <a:stretch>
            <a:fillRect/>
          </a:stretch>
        </p:blipFill>
        <p:spPr>
          <a:xfrm>
            <a:off x="548640" y="256032"/>
            <a:ext cx="548640" cy="548640"/>
          </a:xfrm>
          <a:prstGeom prst="rect">
            <a:avLst/>
          </a:prstGeom>
        </p:spPr>
      </p:pic>
      <p:sp>
        <p:nvSpPr>
          <p:cNvPr id="4" name="Text 1"/>
          <p:cNvSpPr txBox="1"/>
          <p:nvPr/>
        </p:nvSpPr>
        <p:spPr>
          <a:xfrm>
            <a:off x="1280160" y="182880"/>
            <a:ext cx="10241280" cy="7315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What Is an Addressing Mode?</a:t>
            </a:r>
            <a:endParaRPr lang="en-US" sz="2800" dirty="0"/>
          </a:p>
        </p:txBody>
      </p:sp>
      <p:sp>
        <p:nvSpPr>
          <p:cNvPr id="5" name="Text 2"/>
          <p:cNvSpPr txBox="1"/>
          <p:nvPr/>
        </p:nvSpPr>
        <p:spPr>
          <a:xfrm>
            <a:off x="822960" y="1463040"/>
            <a:ext cx="10515600" cy="4754880"/>
          </a:xfrm>
          <a:prstGeom prst="rect">
            <a:avLst/>
          </a:prstGeom>
          <a:noFill/>
          <a:ln/>
        </p:spPr>
        <p:txBody>
          <a:bodyPr wrap="square" lIns="0" tIns="0" rIns="0" bIns="0" rtlCol="0" anchor="t"/>
          <a:lstStyle/>
          <a:p>
            <a:pPr marL="228600" indent="-228600">
              <a:lnSpc>
                <a:spcPct val="115000"/>
              </a:lnSpc>
              <a:spcAft>
                <a:spcPts val="1600"/>
              </a:spcAft>
              <a:buSzPct val="100000"/>
              <a:buChar char="•"/>
            </a:pPr>
            <a:r>
              <a:rPr lang="en-US" sz="2000" dirty="0">
                <a:solidFill>
                  <a:srgbClr val="13233B"/>
                </a:solidFill>
                <a:latin typeface="Calibri" pitchFamily="34" charset="0"/>
                <a:ea typeface="Calibri" pitchFamily="34" charset="-122"/>
                <a:cs typeface="Calibri" pitchFamily="34" charset="-120"/>
              </a:rPr>
              <a:t>Definition: the technique by which the effective address of an operand is determined</a:t>
            </a:r>
            <a:endParaRPr lang="en-US" sz="2000" dirty="0"/>
          </a:p>
          <a:p>
            <a:pPr marL="228600" indent="-228600">
              <a:lnSpc>
                <a:spcPct val="115000"/>
              </a:lnSpc>
              <a:spcAft>
                <a:spcPts val="1600"/>
              </a:spcAft>
              <a:buSzPct val="100000"/>
              <a:buChar char="•"/>
            </a:pPr>
            <a:r>
              <a:rPr lang="en-US" sz="2000" dirty="0">
                <a:solidFill>
                  <a:srgbClr val="13233B"/>
                </a:solidFill>
                <a:latin typeface="Calibri" pitchFamily="34" charset="0"/>
                <a:ea typeface="Calibri" pitchFamily="34" charset="-122"/>
                <a:cs typeface="Calibri" pitchFamily="34" charset="-120"/>
              </a:rPr>
              <a:t>Effective Address (EA): the actual memory address (or register) where the operand really resides</a:t>
            </a:r>
            <a:endParaRPr lang="en-US" sz="2000" dirty="0"/>
          </a:p>
          <a:p>
            <a:pPr marL="228600" indent="-228600">
              <a:lnSpc>
                <a:spcPct val="115000"/>
              </a:lnSpc>
              <a:spcAft>
                <a:spcPts val="1600"/>
              </a:spcAft>
              <a:buSzPct val="100000"/>
              <a:buChar char="•"/>
            </a:pPr>
            <a:r>
              <a:rPr lang="en-US" sz="2000" dirty="0">
                <a:solidFill>
                  <a:srgbClr val="13233B"/>
                </a:solidFill>
                <a:latin typeface="Calibri" pitchFamily="34" charset="0"/>
                <a:ea typeface="Calibri" pitchFamily="34" charset="-122"/>
                <a:cs typeface="Calibri" pitchFamily="34" charset="-120"/>
              </a:rPr>
              <a:t>The same bit pattern in an instruction can mean very different things depending on the addressing mode used</a:t>
            </a:r>
            <a:endParaRPr lang="en-US" sz="2000" dirty="0"/>
          </a:p>
          <a:p>
            <a:pPr marL="228600" indent="-228600">
              <a:lnSpc>
                <a:spcPct val="115000"/>
              </a:lnSpc>
              <a:spcAft>
                <a:spcPts val="1600"/>
              </a:spcAft>
              <a:buSzPct val="100000"/>
              <a:buChar char="•"/>
            </a:pPr>
            <a:r>
              <a:rPr lang="en-US" sz="2000" dirty="0">
                <a:solidFill>
                  <a:srgbClr val="13233B"/>
                </a:solidFill>
                <a:latin typeface="Calibri" pitchFamily="34" charset="0"/>
                <a:ea typeface="Calibri" pitchFamily="34" charset="-122"/>
                <a:cs typeface="Calibri" pitchFamily="34" charset="-120"/>
              </a:rPr>
              <a:t>ISAs typically support 6–12 addressing modes; we will cover the nine most important ones</a:t>
            </a:r>
            <a:endParaRPr lang="en-US" sz="2000" dirty="0"/>
          </a:p>
        </p:txBody>
      </p:sp>
      <p:sp>
        <p:nvSpPr>
          <p:cNvPr id="6" name="Text 3"/>
          <p:cNvSpPr txBox="1"/>
          <p:nvPr/>
        </p:nvSpPr>
        <p:spPr>
          <a:xfrm>
            <a:off x="457200" y="6492240"/>
            <a:ext cx="8686800" cy="274320"/>
          </a:xfrm>
          <a:prstGeom prst="rect">
            <a:avLst/>
          </a:prstGeom>
          <a:noFill/>
          <a:ln/>
        </p:spPr>
        <p:txBody>
          <a:bodyPr wrap="square" lIns="0" tIns="0" rIns="0" bIns="0" rtlCol="0" anchor="ctr"/>
          <a:lstStyle/>
          <a:p>
            <a:pPr algn="l" indent="0" marL="0">
              <a:buNone/>
            </a:pPr>
            <a:r>
              <a:rPr lang="en-US" sz="1000" dirty="0">
                <a:solidFill>
                  <a:srgbClr val="4A5A72"/>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1000" dirty="0"/>
          </a:p>
        </p:txBody>
      </p:sp>
      <p:sp>
        <p:nvSpPr>
          <p:cNvPr id="7" name="Text 4"/>
          <p:cNvSpPr txBox="1"/>
          <p:nvPr/>
        </p:nvSpPr>
        <p:spPr>
          <a:xfrm>
            <a:off x="11274552" y="6492240"/>
            <a:ext cx="457200" cy="274320"/>
          </a:xfrm>
          <a:prstGeom prst="rect">
            <a:avLst/>
          </a:prstGeom>
          <a:noFill/>
          <a:ln/>
        </p:spPr>
        <p:txBody>
          <a:bodyPr wrap="square" lIns="0" tIns="0" rIns="0" bIns="0" rtlCol="0" anchor="ctr"/>
          <a:lstStyle/>
          <a:p>
            <a:pPr algn="r" indent="0" marL="0">
              <a:buNone/>
            </a:pPr>
            <a:r>
              <a:rPr lang="en-US" sz="1000" dirty="0">
                <a:solidFill>
                  <a:srgbClr val="4A5A72"/>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1E3D"/>
          </a:solidFill>
          <a:ln/>
        </p:spPr>
      </p:sp>
      <p:pic>
        <p:nvPicPr>
          <p:cNvPr id="3" name="Image 0" descr="preencoded.png">    </p:cNvPr>
          <p:cNvPicPr>
            <a:picLocks noChangeAspect="1"/>
          </p:cNvPicPr>
          <p:nvPr/>
        </p:nvPicPr>
        <p:blipFill>
          <a:blip r:embed="rId1"/>
          <a:stretch>
            <a:fillRect/>
          </a:stretch>
        </p:blipFill>
        <p:spPr>
          <a:xfrm>
            <a:off x="548640" y="256032"/>
            <a:ext cx="548640" cy="548640"/>
          </a:xfrm>
          <a:prstGeom prst="rect">
            <a:avLst/>
          </a:prstGeom>
        </p:spPr>
      </p:pic>
      <p:sp>
        <p:nvSpPr>
          <p:cNvPr id="4" name="Text 1"/>
          <p:cNvSpPr txBox="1"/>
          <p:nvPr/>
        </p:nvSpPr>
        <p:spPr>
          <a:xfrm>
            <a:off x="1280160" y="182880"/>
            <a:ext cx="10241280" cy="7315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Immediate Addressing</a:t>
            </a:r>
            <a:endParaRPr lang="en-US" sz="2800" dirty="0"/>
          </a:p>
        </p:txBody>
      </p:sp>
      <p:sp>
        <p:nvSpPr>
          <p:cNvPr id="5" name="Text 2"/>
          <p:cNvSpPr txBox="1"/>
          <p:nvPr/>
        </p:nvSpPr>
        <p:spPr>
          <a:xfrm>
            <a:off x="822960" y="1463040"/>
            <a:ext cx="10515600" cy="4754880"/>
          </a:xfrm>
          <a:prstGeom prst="rect">
            <a:avLst/>
          </a:prstGeom>
          <a:noFill/>
          <a:ln/>
        </p:spPr>
        <p:txBody>
          <a:bodyPr wrap="square" lIns="0" tIns="0" rIns="0" bIns="0" rtlCol="0" anchor="t"/>
          <a:lstStyle/>
          <a:p>
            <a:pPr marL="228600" indent="-228600">
              <a:lnSpc>
                <a:spcPct val="115000"/>
              </a:lnSpc>
              <a:spcAft>
                <a:spcPts val="1600"/>
              </a:spcAft>
              <a:buSzPct val="100000"/>
              <a:buChar char="•"/>
            </a:pPr>
            <a:r>
              <a:rPr lang="en-US" sz="2000" dirty="0">
                <a:solidFill>
                  <a:srgbClr val="13233B"/>
                </a:solidFill>
                <a:latin typeface="Calibri" pitchFamily="34" charset="0"/>
                <a:ea typeface="Calibri" pitchFamily="34" charset="-122"/>
                <a:cs typeface="Calibri" pitchFamily="34" charset="-120"/>
              </a:rPr>
              <a:t>The operand VALUE itself is part of the instruction — no memory access needed to fetch it</a:t>
            </a:r>
            <a:endParaRPr lang="en-US" sz="2000" dirty="0"/>
          </a:p>
          <a:p>
            <a:pPr marL="228600" indent="-228600">
              <a:lnSpc>
                <a:spcPct val="115000"/>
              </a:lnSpc>
              <a:spcAft>
                <a:spcPts val="1600"/>
              </a:spcAft>
              <a:buSzPct val="100000"/>
              <a:buChar char="•"/>
            </a:pPr>
            <a:r>
              <a:rPr lang="en-US" sz="2000" dirty="0">
                <a:solidFill>
                  <a:srgbClr val="13233B"/>
                </a:solidFill>
                <a:latin typeface="Calibri" pitchFamily="34" charset="0"/>
                <a:ea typeface="Calibri" pitchFamily="34" charset="-122"/>
                <a:cs typeface="Calibri" pitchFamily="34" charset="-120"/>
              </a:rPr>
              <a:t>Example: MOV R1, #5   → R1 gets the literal value 5</a:t>
            </a:r>
            <a:endParaRPr lang="en-US" sz="2000" dirty="0"/>
          </a:p>
          <a:p>
            <a:pPr marL="228600" indent="-228600">
              <a:lnSpc>
                <a:spcPct val="115000"/>
              </a:lnSpc>
              <a:spcAft>
                <a:spcPts val="1600"/>
              </a:spcAft>
              <a:buSzPct val="100000"/>
              <a:buChar char="•"/>
            </a:pPr>
            <a:r>
              <a:rPr lang="en-US" sz="2000" dirty="0">
                <a:solidFill>
                  <a:srgbClr val="13233B"/>
                </a:solidFill>
                <a:latin typeface="Calibri" pitchFamily="34" charset="0"/>
                <a:ea typeface="Calibri" pitchFamily="34" charset="-122"/>
                <a:cs typeface="Calibri" pitchFamily="34" charset="-120"/>
              </a:rPr>
              <a:t>Fastest addressing mode — no extra memory reference</a:t>
            </a:r>
            <a:endParaRPr lang="en-US" sz="2000" dirty="0"/>
          </a:p>
          <a:p>
            <a:pPr marL="228600" indent="-228600">
              <a:lnSpc>
                <a:spcPct val="115000"/>
              </a:lnSpc>
              <a:spcAft>
                <a:spcPts val="1600"/>
              </a:spcAft>
              <a:buSzPct val="100000"/>
              <a:buChar char="•"/>
            </a:pPr>
            <a:r>
              <a:rPr lang="en-US" sz="2000" dirty="0">
                <a:solidFill>
                  <a:srgbClr val="13233B"/>
                </a:solidFill>
                <a:latin typeface="Calibri" pitchFamily="34" charset="0"/>
                <a:ea typeface="Calibri" pitchFamily="34" charset="-122"/>
                <a:cs typeface="Calibri" pitchFamily="34" charset="-120"/>
              </a:rPr>
              <a:t>Limitation: the value is fixed at compile time and limited by instruction word size</a:t>
            </a:r>
            <a:endParaRPr lang="en-US" sz="2000" dirty="0"/>
          </a:p>
        </p:txBody>
      </p:sp>
      <p:sp>
        <p:nvSpPr>
          <p:cNvPr id="6" name="Text 3"/>
          <p:cNvSpPr txBox="1"/>
          <p:nvPr/>
        </p:nvSpPr>
        <p:spPr>
          <a:xfrm>
            <a:off x="457200" y="6492240"/>
            <a:ext cx="8686800" cy="274320"/>
          </a:xfrm>
          <a:prstGeom prst="rect">
            <a:avLst/>
          </a:prstGeom>
          <a:noFill/>
          <a:ln/>
        </p:spPr>
        <p:txBody>
          <a:bodyPr wrap="square" lIns="0" tIns="0" rIns="0" bIns="0" rtlCol="0" anchor="ctr"/>
          <a:lstStyle/>
          <a:p>
            <a:pPr algn="l" indent="0" marL="0">
              <a:buNone/>
            </a:pPr>
            <a:r>
              <a:rPr lang="en-US" sz="1000" dirty="0">
                <a:solidFill>
                  <a:srgbClr val="4A5A72"/>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1000" dirty="0"/>
          </a:p>
        </p:txBody>
      </p:sp>
      <p:sp>
        <p:nvSpPr>
          <p:cNvPr id="7" name="Text 4"/>
          <p:cNvSpPr txBox="1"/>
          <p:nvPr/>
        </p:nvSpPr>
        <p:spPr>
          <a:xfrm>
            <a:off x="11274552" y="6492240"/>
            <a:ext cx="457200" cy="274320"/>
          </a:xfrm>
          <a:prstGeom prst="rect">
            <a:avLst/>
          </a:prstGeom>
          <a:noFill/>
          <a:ln/>
        </p:spPr>
        <p:txBody>
          <a:bodyPr wrap="square" lIns="0" tIns="0" rIns="0" bIns="0" rtlCol="0" anchor="ctr"/>
          <a:lstStyle/>
          <a:p>
            <a:pPr algn="r" indent="0" marL="0">
              <a:buNone/>
            </a:pPr>
            <a:r>
              <a:rPr lang="en-US" sz="1000" dirty="0">
                <a:solidFill>
                  <a:srgbClr val="4A5A72"/>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1E3D"/>
          </a:solidFill>
          <a:ln/>
        </p:spPr>
      </p:sp>
      <p:pic>
        <p:nvPicPr>
          <p:cNvPr id="3" name="Image 0" descr="preencoded.png">    </p:cNvPr>
          <p:cNvPicPr>
            <a:picLocks noChangeAspect="1"/>
          </p:cNvPicPr>
          <p:nvPr/>
        </p:nvPicPr>
        <p:blipFill>
          <a:blip r:embed="rId1"/>
          <a:stretch>
            <a:fillRect/>
          </a:stretch>
        </p:blipFill>
        <p:spPr>
          <a:xfrm>
            <a:off x="548640" y="256032"/>
            <a:ext cx="548640" cy="548640"/>
          </a:xfrm>
          <a:prstGeom prst="rect">
            <a:avLst/>
          </a:prstGeom>
        </p:spPr>
      </p:pic>
      <p:sp>
        <p:nvSpPr>
          <p:cNvPr id="4" name="Text 1"/>
          <p:cNvSpPr txBox="1"/>
          <p:nvPr/>
        </p:nvSpPr>
        <p:spPr>
          <a:xfrm>
            <a:off x="1280160" y="182880"/>
            <a:ext cx="10241280" cy="7315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Direct Addressing</a:t>
            </a:r>
            <a:endParaRPr lang="en-US" sz="2800" dirty="0"/>
          </a:p>
        </p:txBody>
      </p:sp>
      <p:sp>
        <p:nvSpPr>
          <p:cNvPr id="5" name="Text 2"/>
          <p:cNvSpPr txBox="1"/>
          <p:nvPr/>
        </p:nvSpPr>
        <p:spPr>
          <a:xfrm>
            <a:off x="822960" y="1463040"/>
            <a:ext cx="10515600" cy="4754880"/>
          </a:xfrm>
          <a:prstGeom prst="rect">
            <a:avLst/>
          </a:prstGeom>
          <a:noFill/>
          <a:ln/>
        </p:spPr>
        <p:txBody>
          <a:bodyPr wrap="square" lIns="0" tIns="0" rIns="0" bIns="0" rtlCol="0" anchor="t"/>
          <a:lstStyle/>
          <a:p>
            <a:pPr marL="228600" indent="-228600">
              <a:lnSpc>
                <a:spcPct val="115000"/>
              </a:lnSpc>
              <a:spcAft>
                <a:spcPts val="1600"/>
              </a:spcAft>
              <a:buSzPct val="100000"/>
              <a:buChar char="•"/>
            </a:pPr>
            <a:r>
              <a:rPr lang="en-US" sz="2000" dirty="0">
                <a:solidFill>
                  <a:srgbClr val="13233B"/>
                </a:solidFill>
                <a:latin typeface="Calibri" pitchFamily="34" charset="0"/>
                <a:ea typeface="Calibri" pitchFamily="34" charset="-122"/>
                <a:cs typeface="Calibri" pitchFamily="34" charset="-120"/>
              </a:rPr>
              <a:t>The instruction contains the actual memory address of the operand</a:t>
            </a:r>
            <a:endParaRPr lang="en-US" sz="2000" dirty="0"/>
          </a:p>
          <a:p>
            <a:pPr marL="228600" indent="-228600">
              <a:lnSpc>
                <a:spcPct val="115000"/>
              </a:lnSpc>
              <a:spcAft>
                <a:spcPts val="1600"/>
              </a:spcAft>
              <a:buSzPct val="100000"/>
              <a:buChar char="•"/>
            </a:pPr>
            <a:r>
              <a:rPr lang="en-US" sz="2000" dirty="0">
                <a:solidFill>
                  <a:srgbClr val="13233B"/>
                </a:solidFill>
                <a:latin typeface="Calibri" pitchFamily="34" charset="0"/>
                <a:ea typeface="Calibri" pitchFamily="34" charset="-122"/>
                <a:cs typeface="Calibri" pitchFamily="34" charset="-120"/>
              </a:rPr>
              <a:t>Example: MOV R1, 2000 → R1 gets the value stored AT memory address 2000</a:t>
            </a:r>
            <a:endParaRPr lang="en-US" sz="2000" dirty="0"/>
          </a:p>
          <a:p>
            <a:pPr marL="228600" indent="-228600">
              <a:lnSpc>
                <a:spcPct val="115000"/>
              </a:lnSpc>
              <a:spcAft>
                <a:spcPts val="1600"/>
              </a:spcAft>
              <a:buSzPct val="100000"/>
              <a:buChar char="•"/>
            </a:pPr>
            <a:r>
              <a:rPr lang="en-US" sz="2000" dirty="0">
                <a:solidFill>
                  <a:srgbClr val="13233B"/>
                </a:solidFill>
                <a:latin typeface="Calibri" pitchFamily="34" charset="0"/>
                <a:ea typeface="Calibri" pitchFamily="34" charset="-122"/>
                <a:cs typeface="Calibri" pitchFamily="34" charset="-120"/>
              </a:rPr>
              <a:t>One memory reference required to fetch the operand</a:t>
            </a:r>
            <a:endParaRPr lang="en-US" sz="2000" dirty="0"/>
          </a:p>
          <a:p>
            <a:pPr marL="228600" indent="-228600">
              <a:lnSpc>
                <a:spcPct val="115000"/>
              </a:lnSpc>
              <a:spcAft>
                <a:spcPts val="1600"/>
              </a:spcAft>
              <a:buSzPct val="100000"/>
              <a:buChar char="•"/>
            </a:pPr>
            <a:r>
              <a:rPr lang="en-US" sz="2000" dirty="0">
                <a:solidFill>
                  <a:srgbClr val="13233B"/>
                </a:solidFill>
                <a:latin typeface="Calibri" pitchFamily="34" charset="0"/>
                <a:ea typeface="Calibri" pitchFamily="34" charset="-122"/>
                <a:cs typeface="Calibri" pitchFamily="34" charset="-120"/>
              </a:rPr>
              <a:t>Limitation: address field length limits how much memory can be directly addressed</a:t>
            </a:r>
            <a:endParaRPr lang="en-US" sz="2000" dirty="0"/>
          </a:p>
        </p:txBody>
      </p:sp>
      <p:sp>
        <p:nvSpPr>
          <p:cNvPr id="6" name="Text 3"/>
          <p:cNvSpPr txBox="1"/>
          <p:nvPr/>
        </p:nvSpPr>
        <p:spPr>
          <a:xfrm>
            <a:off x="457200" y="6492240"/>
            <a:ext cx="8686800" cy="274320"/>
          </a:xfrm>
          <a:prstGeom prst="rect">
            <a:avLst/>
          </a:prstGeom>
          <a:noFill/>
          <a:ln/>
        </p:spPr>
        <p:txBody>
          <a:bodyPr wrap="square" lIns="0" tIns="0" rIns="0" bIns="0" rtlCol="0" anchor="ctr"/>
          <a:lstStyle/>
          <a:p>
            <a:pPr algn="l" indent="0" marL="0">
              <a:buNone/>
            </a:pPr>
            <a:r>
              <a:rPr lang="en-US" sz="1000" dirty="0">
                <a:solidFill>
                  <a:srgbClr val="4A5A72"/>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1000" dirty="0"/>
          </a:p>
        </p:txBody>
      </p:sp>
      <p:sp>
        <p:nvSpPr>
          <p:cNvPr id="7" name="Text 4"/>
          <p:cNvSpPr txBox="1"/>
          <p:nvPr/>
        </p:nvSpPr>
        <p:spPr>
          <a:xfrm>
            <a:off x="11274552" y="6492240"/>
            <a:ext cx="457200" cy="274320"/>
          </a:xfrm>
          <a:prstGeom prst="rect">
            <a:avLst/>
          </a:prstGeom>
          <a:noFill/>
          <a:ln/>
        </p:spPr>
        <p:txBody>
          <a:bodyPr wrap="square" lIns="0" tIns="0" rIns="0" bIns="0" rtlCol="0" anchor="ctr"/>
          <a:lstStyle/>
          <a:p>
            <a:pPr algn="r" indent="0" marL="0">
              <a:buNone/>
            </a:pPr>
            <a:r>
              <a:rPr lang="en-US" sz="1000" dirty="0">
                <a:solidFill>
                  <a:srgbClr val="4A5A72"/>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1E3D"/>
          </a:solidFill>
          <a:ln/>
        </p:spPr>
      </p:sp>
      <p:pic>
        <p:nvPicPr>
          <p:cNvPr id="3" name="Image 0" descr="preencoded.png">    </p:cNvPr>
          <p:cNvPicPr>
            <a:picLocks noChangeAspect="1"/>
          </p:cNvPicPr>
          <p:nvPr/>
        </p:nvPicPr>
        <p:blipFill>
          <a:blip r:embed="rId1"/>
          <a:stretch>
            <a:fillRect/>
          </a:stretch>
        </p:blipFill>
        <p:spPr>
          <a:xfrm>
            <a:off x="548640" y="256032"/>
            <a:ext cx="548640" cy="548640"/>
          </a:xfrm>
          <a:prstGeom prst="rect">
            <a:avLst/>
          </a:prstGeom>
        </p:spPr>
      </p:pic>
      <p:sp>
        <p:nvSpPr>
          <p:cNvPr id="4" name="Text 1"/>
          <p:cNvSpPr txBox="1"/>
          <p:nvPr/>
        </p:nvSpPr>
        <p:spPr>
          <a:xfrm>
            <a:off x="1280160" y="182880"/>
            <a:ext cx="10241280" cy="7315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Indirect Addressing</a:t>
            </a:r>
            <a:endParaRPr lang="en-US" sz="2800" dirty="0"/>
          </a:p>
        </p:txBody>
      </p:sp>
      <p:sp>
        <p:nvSpPr>
          <p:cNvPr id="5" name="Text 2"/>
          <p:cNvSpPr txBox="1"/>
          <p:nvPr/>
        </p:nvSpPr>
        <p:spPr>
          <a:xfrm>
            <a:off x="822960" y="1463040"/>
            <a:ext cx="10515600" cy="4754880"/>
          </a:xfrm>
          <a:prstGeom prst="rect">
            <a:avLst/>
          </a:prstGeom>
          <a:noFill/>
          <a:ln/>
        </p:spPr>
        <p:txBody>
          <a:bodyPr wrap="square" lIns="0" tIns="0" rIns="0" bIns="0" rtlCol="0" anchor="t"/>
          <a:lstStyle/>
          <a:p>
            <a:pPr marL="228600" indent="-228600">
              <a:lnSpc>
                <a:spcPct val="115000"/>
              </a:lnSpc>
              <a:spcAft>
                <a:spcPts val="1600"/>
              </a:spcAft>
              <a:buSzPct val="100000"/>
              <a:buChar char="•"/>
            </a:pPr>
            <a:r>
              <a:rPr lang="en-US" sz="2000" dirty="0">
                <a:solidFill>
                  <a:srgbClr val="13233B"/>
                </a:solidFill>
                <a:latin typeface="Calibri" pitchFamily="34" charset="0"/>
                <a:ea typeface="Calibri" pitchFamily="34" charset="-122"/>
                <a:cs typeface="Calibri" pitchFamily="34" charset="-120"/>
              </a:rPr>
              <a:t>The instruction contains the address of a memory location that itself holds the address of the operand</a:t>
            </a:r>
            <a:endParaRPr lang="en-US" sz="2000" dirty="0"/>
          </a:p>
          <a:p>
            <a:pPr marL="228600" indent="-228600">
              <a:lnSpc>
                <a:spcPct val="115000"/>
              </a:lnSpc>
              <a:spcAft>
                <a:spcPts val="1600"/>
              </a:spcAft>
              <a:buSzPct val="100000"/>
              <a:buChar char="•"/>
            </a:pPr>
            <a:r>
              <a:rPr lang="en-US" sz="2000" dirty="0">
                <a:solidFill>
                  <a:srgbClr val="13233B"/>
                </a:solidFill>
                <a:latin typeface="Calibri" pitchFamily="34" charset="0"/>
                <a:ea typeface="Calibri" pitchFamily="34" charset="-122"/>
                <a:cs typeface="Calibri" pitchFamily="34" charset="-120"/>
              </a:rPr>
              <a:t>Example: MOV R1, @2000 → go to 2000, read the address stored there (say 3000), then read the value AT 3000</a:t>
            </a:r>
            <a:endParaRPr lang="en-US" sz="2000" dirty="0"/>
          </a:p>
          <a:p>
            <a:pPr marL="228600" indent="-228600">
              <a:lnSpc>
                <a:spcPct val="115000"/>
              </a:lnSpc>
              <a:spcAft>
                <a:spcPts val="1600"/>
              </a:spcAft>
              <a:buSzPct val="100000"/>
              <a:buChar char="•"/>
            </a:pPr>
            <a:r>
              <a:rPr lang="en-US" sz="2000" dirty="0">
                <a:solidFill>
                  <a:srgbClr val="13233B"/>
                </a:solidFill>
                <a:latin typeface="Calibri" pitchFamily="34" charset="0"/>
                <a:ea typeface="Calibri" pitchFamily="34" charset="-122"/>
                <a:cs typeface="Calibri" pitchFamily="34" charset="-120"/>
              </a:rPr>
              <a:t>Two memory references required — slower, but very flexible (this is how pointers work!)</a:t>
            </a:r>
            <a:endParaRPr lang="en-US" sz="2000" dirty="0"/>
          </a:p>
          <a:p>
            <a:pPr marL="228600" indent="-228600">
              <a:lnSpc>
                <a:spcPct val="115000"/>
              </a:lnSpc>
              <a:spcAft>
                <a:spcPts val="1600"/>
              </a:spcAft>
              <a:buSzPct val="100000"/>
              <a:buChar char="•"/>
            </a:pPr>
            <a:r>
              <a:rPr lang="en-US" sz="2000" dirty="0">
                <a:solidFill>
                  <a:srgbClr val="13233B"/>
                </a:solidFill>
                <a:latin typeface="Calibri" pitchFamily="34" charset="0"/>
                <a:ea typeface="Calibri" pitchFamily="34" charset="-122"/>
                <a:cs typeface="Calibri" pitchFamily="34" charset="-120"/>
              </a:rPr>
              <a:t>Chain can even go deeper: multi-level indirect addressing</a:t>
            </a:r>
            <a:endParaRPr lang="en-US" sz="2000" dirty="0"/>
          </a:p>
        </p:txBody>
      </p:sp>
      <p:sp>
        <p:nvSpPr>
          <p:cNvPr id="6" name="Text 3"/>
          <p:cNvSpPr txBox="1"/>
          <p:nvPr/>
        </p:nvSpPr>
        <p:spPr>
          <a:xfrm>
            <a:off x="457200" y="6492240"/>
            <a:ext cx="8686800" cy="274320"/>
          </a:xfrm>
          <a:prstGeom prst="rect">
            <a:avLst/>
          </a:prstGeom>
          <a:noFill/>
          <a:ln/>
        </p:spPr>
        <p:txBody>
          <a:bodyPr wrap="square" lIns="0" tIns="0" rIns="0" bIns="0" rtlCol="0" anchor="ctr"/>
          <a:lstStyle/>
          <a:p>
            <a:pPr algn="l" indent="0" marL="0">
              <a:buNone/>
            </a:pPr>
            <a:r>
              <a:rPr lang="en-US" sz="1000" dirty="0">
                <a:solidFill>
                  <a:srgbClr val="4A5A72"/>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1000" dirty="0"/>
          </a:p>
        </p:txBody>
      </p:sp>
      <p:sp>
        <p:nvSpPr>
          <p:cNvPr id="7" name="Text 4"/>
          <p:cNvSpPr txBox="1"/>
          <p:nvPr/>
        </p:nvSpPr>
        <p:spPr>
          <a:xfrm>
            <a:off x="11274552" y="6492240"/>
            <a:ext cx="457200" cy="274320"/>
          </a:xfrm>
          <a:prstGeom prst="rect">
            <a:avLst/>
          </a:prstGeom>
          <a:noFill/>
          <a:ln/>
        </p:spPr>
        <p:txBody>
          <a:bodyPr wrap="square" lIns="0" tIns="0" rIns="0" bIns="0" rtlCol="0" anchor="ctr"/>
          <a:lstStyle/>
          <a:p>
            <a:pPr algn="r" indent="0" marL="0">
              <a:buNone/>
            </a:pPr>
            <a:r>
              <a:rPr lang="en-US" sz="1000" dirty="0">
                <a:solidFill>
                  <a:srgbClr val="4A5A72"/>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1E3D"/>
          </a:solidFill>
          <a:ln/>
        </p:spPr>
      </p:sp>
      <p:pic>
        <p:nvPicPr>
          <p:cNvPr id="3" name="Image 0" descr="preencoded.png">    </p:cNvPr>
          <p:cNvPicPr>
            <a:picLocks noChangeAspect="1"/>
          </p:cNvPicPr>
          <p:nvPr/>
        </p:nvPicPr>
        <p:blipFill>
          <a:blip r:embed="rId1"/>
          <a:stretch>
            <a:fillRect/>
          </a:stretch>
        </p:blipFill>
        <p:spPr>
          <a:xfrm>
            <a:off x="548640" y="256032"/>
            <a:ext cx="548640" cy="548640"/>
          </a:xfrm>
          <a:prstGeom prst="rect">
            <a:avLst/>
          </a:prstGeom>
        </p:spPr>
      </p:pic>
      <p:sp>
        <p:nvSpPr>
          <p:cNvPr id="4" name="Text 1"/>
          <p:cNvSpPr txBox="1"/>
          <p:nvPr/>
        </p:nvSpPr>
        <p:spPr>
          <a:xfrm>
            <a:off x="1280160" y="182880"/>
            <a:ext cx="10241280" cy="7315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Register Addressing</a:t>
            </a:r>
            <a:endParaRPr lang="en-US" sz="2800" dirty="0"/>
          </a:p>
        </p:txBody>
      </p:sp>
      <p:sp>
        <p:nvSpPr>
          <p:cNvPr id="5" name="Text 2"/>
          <p:cNvSpPr txBox="1"/>
          <p:nvPr/>
        </p:nvSpPr>
        <p:spPr>
          <a:xfrm>
            <a:off x="822960" y="1463040"/>
            <a:ext cx="10515600" cy="4754880"/>
          </a:xfrm>
          <a:prstGeom prst="rect">
            <a:avLst/>
          </a:prstGeom>
          <a:noFill/>
          <a:ln/>
        </p:spPr>
        <p:txBody>
          <a:bodyPr wrap="square" lIns="0" tIns="0" rIns="0" bIns="0" rtlCol="0" anchor="t"/>
          <a:lstStyle/>
          <a:p>
            <a:pPr marL="228600" indent="-228600">
              <a:lnSpc>
                <a:spcPct val="115000"/>
              </a:lnSpc>
              <a:spcAft>
                <a:spcPts val="1600"/>
              </a:spcAft>
              <a:buSzPct val="100000"/>
              <a:buChar char="•"/>
            </a:pPr>
            <a:r>
              <a:rPr lang="en-US" sz="2000" dirty="0">
                <a:solidFill>
                  <a:srgbClr val="13233B"/>
                </a:solidFill>
                <a:latin typeface="Calibri" pitchFamily="34" charset="0"/>
                <a:ea typeface="Calibri" pitchFamily="34" charset="-122"/>
                <a:cs typeface="Calibri" pitchFamily="34" charset="-120"/>
              </a:rPr>
              <a:t>The operand is held in a CPU register, not in memory at all</a:t>
            </a:r>
            <a:endParaRPr lang="en-US" sz="2000" dirty="0"/>
          </a:p>
          <a:p>
            <a:pPr marL="228600" indent="-228600">
              <a:lnSpc>
                <a:spcPct val="115000"/>
              </a:lnSpc>
              <a:spcAft>
                <a:spcPts val="1600"/>
              </a:spcAft>
              <a:buSzPct val="100000"/>
              <a:buChar char="•"/>
            </a:pPr>
            <a:r>
              <a:rPr lang="en-US" sz="2000" dirty="0">
                <a:solidFill>
                  <a:srgbClr val="13233B"/>
                </a:solidFill>
                <a:latin typeface="Calibri" pitchFamily="34" charset="0"/>
                <a:ea typeface="Calibri" pitchFamily="34" charset="-122"/>
                <a:cs typeface="Calibri" pitchFamily="34" charset="-120"/>
              </a:rPr>
              <a:t>Example: ADD R1, R2 → operands are the contents of registers R1 and R2 directly</a:t>
            </a:r>
            <a:endParaRPr lang="en-US" sz="2000" dirty="0"/>
          </a:p>
          <a:p>
            <a:pPr marL="228600" indent="-228600">
              <a:lnSpc>
                <a:spcPct val="115000"/>
              </a:lnSpc>
              <a:spcAft>
                <a:spcPts val="1600"/>
              </a:spcAft>
              <a:buSzPct val="100000"/>
              <a:buChar char="•"/>
            </a:pPr>
            <a:r>
              <a:rPr lang="en-US" sz="2000" dirty="0">
                <a:solidFill>
                  <a:srgbClr val="13233B"/>
                </a:solidFill>
                <a:latin typeface="Calibri" pitchFamily="34" charset="0"/>
                <a:ea typeface="Calibri" pitchFamily="34" charset="-122"/>
                <a:cs typeface="Calibri" pitchFamily="34" charset="-120"/>
              </a:rPr>
              <a:t>Extremely fast — registers sit on-chip, no memory bus access needed</a:t>
            </a:r>
            <a:endParaRPr lang="en-US" sz="2000" dirty="0"/>
          </a:p>
          <a:p>
            <a:pPr marL="228600" indent="-228600">
              <a:lnSpc>
                <a:spcPct val="115000"/>
              </a:lnSpc>
              <a:spcAft>
                <a:spcPts val="1600"/>
              </a:spcAft>
              <a:buSzPct val="100000"/>
              <a:buChar char="•"/>
            </a:pPr>
            <a:r>
              <a:rPr lang="en-US" sz="2000" dirty="0">
                <a:solidFill>
                  <a:srgbClr val="13233B"/>
                </a:solidFill>
                <a:latin typeface="Calibri" pitchFamily="34" charset="0"/>
                <a:ea typeface="Calibri" pitchFamily="34" charset="-122"/>
                <a:cs typeface="Calibri" pitchFamily="34" charset="-120"/>
              </a:rPr>
              <a:t>Limited by the small number of registers available (typically 8–32 general-purpose registers)</a:t>
            </a:r>
            <a:endParaRPr lang="en-US" sz="2000" dirty="0"/>
          </a:p>
        </p:txBody>
      </p:sp>
      <p:sp>
        <p:nvSpPr>
          <p:cNvPr id="6" name="Text 3"/>
          <p:cNvSpPr txBox="1"/>
          <p:nvPr/>
        </p:nvSpPr>
        <p:spPr>
          <a:xfrm>
            <a:off x="457200" y="6492240"/>
            <a:ext cx="8686800" cy="274320"/>
          </a:xfrm>
          <a:prstGeom prst="rect">
            <a:avLst/>
          </a:prstGeom>
          <a:noFill/>
          <a:ln/>
        </p:spPr>
        <p:txBody>
          <a:bodyPr wrap="square" lIns="0" tIns="0" rIns="0" bIns="0" rtlCol="0" anchor="ctr"/>
          <a:lstStyle/>
          <a:p>
            <a:pPr algn="l" indent="0" marL="0">
              <a:buNone/>
            </a:pPr>
            <a:r>
              <a:rPr lang="en-US" sz="1000" dirty="0">
                <a:solidFill>
                  <a:srgbClr val="4A5A72"/>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1000" dirty="0"/>
          </a:p>
        </p:txBody>
      </p:sp>
      <p:sp>
        <p:nvSpPr>
          <p:cNvPr id="7" name="Text 4"/>
          <p:cNvSpPr txBox="1"/>
          <p:nvPr/>
        </p:nvSpPr>
        <p:spPr>
          <a:xfrm>
            <a:off x="11274552" y="6492240"/>
            <a:ext cx="457200" cy="274320"/>
          </a:xfrm>
          <a:prstGeom prst="rect">
            <a:avLst/>
          </a:prstGeom>
          <a:noFill/>
          <a:ln/>
        </p:spPr>
        <p:txBody>
          <a:bodyPr wrap="square" lIns="0" tIns="0" rIns="0" bIns="0" rtlCol="0" anchor="ctr"/>
          <a:lstStyle/>
          <a:p>
            <a:pPr algn="r" indent="0" marL="0">
              <a:buNone/>
            </a:pPr>
            <a:r>
              <a:rPr lang="en-US" sz="1000" dirty="0">
                <a:solidFill>
                  <a:srgbClr val="4A5A72"/>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1E3D"/>
          </a:solidFill>
          <a:ln/>
        </p:spPr>
      </p:sp>
      <p:pic>
        <p:nvPicPr>
          <p:cNvPr id="3" name="Image 0" descr="preencoded.png">    </p:cNvPr>
          <p:cNvPicPr>
            <a:picLocks noChangeAspect="1"/>
          </p:cNvPicPr>
          <p:nvPr/>
        </p:nvPicPr>
        <p:blipFill>
          <a:blip r:embed="rId1"/>
          <a:stretch>
            <a:fillRect/>
          </a:stretch>
        </p:blipFill>
        <p:spPr>
          <a:xfrm>
            <a:off x="548640" y="256032"/>
            <a:ext cx="548640" cy="548640"/>
          </a:xfrm>
          <a:prstGeom prst="rect">
            <a:avLst/>
          </a:prstGeom>
        </p:spPr>
      </p:pic>
      <p:sp>
        <p:nvSpPr>
          <p:cNvPr id="4" name="Text 1"/>
          <p:cNvSpPr txBox="1"/>
          <p:nvPr/>
        </p:nvSpPr>
        <p:spPr>
          <a:xfrm>
            <a:off x="1280160" y="182880"/>
            <a:ext cx="10241280" cy="7315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Register Indirect Addressing</a:t>
            </a:r>
            <a:endParaRPr lang="en-US" sz="2800" dirty="0"/>
          </a:p>
        </p:txBody>
      </p:sp>
      <p:sp>
        <p:nvSpPr>
          <p:cNvPr id="5" name="Text 2"/>
          <p:cNvSpPr txBox="1"/>
          <p:nvPr/>
        </p:nvSpPr>
        <p:spPr>
          <a:xfrm>
            <a:off x="822960" y="1463040"/>
            <a:ext cx="10515600" cy="4754880"/>
          </a:xfrm>
          <a:prstGeom prst="rect">
            <a:avLst/>
          </a:prstGeom>
          <a:noFill/>
          <a:ln/>
        </p:spPr>
        <p:txBody>
          <a:bodyPr wrap="square" lIns="0" tIns="0" rIns="0" bIns="0" rtlCol="0" anchor="t"/>
          <a:lstStyle/>
          <a:p>
            <a:pPr marL="228600" indent="-228600">
              <a:lnSpc>
                <a:spcPct val="115000"/>
              </a:lnSpc>
              <a:spcAft>
                <a:spcPts val="1600"/>
              </a:spcAft>
              <a:buSzPct val="100000"/>
              <a:buChar char="•"/>
            </a:pPr>
            <a:r>
              <a:rPr lang="en-US" sz="2000" dirty="0">
                <a:solidFill>
                  <a:srgbClr val="13233B"/>
                </a:solidFill>
                <a:latin typeface="Calibri" pitchFamily="34" charset="0"/>
                <a:ea typeface="Calibri" pitchFamily="34" charset="-122"/>
                <a:cs typeface="Calibri" pitchFamily="34" charset="-120"/>
              </a:rPr>
              <a:t>A register holds the ADDRESS of the operand, not the operand itself</a:t>
            </a:r>
            <a:endParaRPr lang="en-US" sz="2000" dirty="0"/>
          </a:p>
          <a:p>
            <a:pPr marL="228600" indent="-228600">
              <a:lnSpc>
                <a:spcPct val="115000"/>
              </a:lnSpc>
              <a:spcAft>
                <a:spcPts val="1600"/>
              </a:spcAft>
              <a:buSzPct val="100000"/>
              <a:buChar char="•"/>
            </a:pPr>
            <a:r>
              <a:rPr lang="en-US" sz="2000" dirty="0">
                <a:solidFill>
                  <a:srgbClr val="13233B"/>
                </a:solidFill>
                <a:latin typeface="Calibri" pitchFamily="34" charset="0"/>
                <a:ea typeface="Calibri" pitchFamily="34" charset="-122"/>
                <a:cs typeface="Calibri" pitchFamily="34" charset="-120"/>
              </a:rPr>
              <a:t>Example: MOV R1, (R2) → R2 holds address 4000; R1 gets the value stored at address 4000</a:t>
            </a:r>
            <a:endParaRPr lang="en-US" sz="2000" dirty="0"/>
          </a:p>
          <a:p>
            <a:pPr marL="228600" indent="-228600">
              <a:lnSpc>
                <a:spcPct val="115000"/>
              </a:lnSpc>
              <a:spcAft>
                <a:spcPts val="1600"/>
              </a:spcAft>
              <a:buSzPct val="100000"/>
              <a:buChar char="•"/>
            </a:pPr>
            <a:r>
              <a:rPr lang="en-US" sz="2000" dirty="0">
                <a:solidFill>
                  <a:srgbClr val="13233B"/>
                </a:solidFill>
                <a:latin typeface="Calibri" pitchFamily="34" charset="0"/>
                <a:ea typeface="Calibri" pitchFamily="34" charset="-122"/>
                <a:cs typeface="Calibri" pitchFamily="34" charset="-120"/>
              </a:rPr>
              <a:t>One memory reference, but the address itself can be changed quickly by just updating the register</a:t>
            </a:r>
            <a:endParaRPr lang="en-US" sz="2000" dirty="0"/>
          </a:p>
          <a:p>
            <a:pPr marL="228600" indent="-228600">
              <a:lnSpc>
                <a:spcPct val="115000"/>
              </a:lnSpc>
              <a:spcAft>
                <a:spcPts val="1600"/>
              </a:spcAft>
              <a:buSzPct val="100000"/>
              <a:buChar char="•"/>
            </a:pPr>
            <a:r>
              <a:rPr lang="en-US" sz="2000" dirty="0">
                <a:solidFill>
                  <a:srgbClr val="13233B"/>
                </a:solidFill>
                <a:latin typeface="Calibri" pitchFamily="34" charset="0"/>
                <a:ea typeface="Calibri" pitchFamily="34" charset="-122"/>
                <a:cs typeface="Calibri" pitchFamily="34" charset="-120"/>
              </a:rPr>
              <a:t>Very common in loops that walk through arrays</a:t>
            </a:r>
            <a:endParaRPr lang="en-US" sz="2000" dirty="0"/>
          </a:p>
        </p:txBody>
      </p:sp>
      <p:sp>
        <p:nvSpPr>
          <p:cNvPr id="6" name="Text 3"/>
          <p:cNvSpPr txBox="1"/>
          <p:nvPr/>
        </p:nvSpPr>
        <p:spPr>
          <a:xfrm>
            <a:off x="457200" y="6492240"/>
            <a:ext cx="8686800" cy="274320"/>
          </a:xfrm>
          <a:prstGeom prst="rect">
            <a:avLst/>
          </a:prstGeom>
          <a:noFill/>
          <a:ln/>
        </p:spPr>
        <p:txBody>
          <a:bodyPr wrap="square" lIns="0" tIns="0" rIns="0" bIns="0" rtlCol="0" anchor="ctr"/>
          <a:lstStyle/>
          <a:p>
            <a:pPr algn="l" indent="0" marL="0">
              <a:buNone/>
            </a:pPr>
            <a:r>
              <a:rPr lang="en-US" sz="1000" dirty="0">
                <a:solidFill>
                  <a:srgbClr val="4A5A72"/>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1000" dirty="0"/>
          </a:p>
        </p:txBody>
      </p:sp>
      <p:sp>
        <p:nvSpPr>
          <p:cNvPr id="7" name="Text 4"/>
          <p:cNvSpPr txBox="1"/>
          <p:nvPr/>
        </p:nvSpPr>
        <p:spPr>
          <a:xfrm>
            <a:off x="11274552" y="6492240"/>
            <a:ext cx="457200" cy="274320"/>
          </a:xfrm>
          <a:prstGeom prst="rect">
            <a:avLst/>
          </a:prstGeom>
          <a:noFill/>
          <a:ln/>
        </p:spPr>
        <p:txBody>
          <a:bodyPr wrap="square" lIns="0" tIns="0" rIns="0" bIns="0" rtlCol="0" anchor="ctr"/>
          <a:lstStyle/>
          <a:p>
            <a:pPr algn="r" indent="0" marL="0">
              <a:buNone/>
            </a:pPr>
            <a:r>
              <a:rPr lang="en-US" sz="1000" dirty="0">
                <a:solidFill>
                  <a:srgbClr val="4A5A72"/>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1E3D"/>
          </a:solidFill>
          <a:ln/>
        </p:spPr>
      </p:sp>
      <p:pic>
        <p:nvPicPr>
          <p:cNvPr id="3" name="Image 0" descr="preencoded.png">    </p:cNvPr>
          <p:cNvPicPr>
            <a:picLocks noChangeAspect="1"/>
          </p:cNvPicPr>
          <p:nvPr/>
        </p:nvPicPr>
        <p:blipFill>
          <a:blip r:embed="rId1"/>
          <a:stretch>
            <a:fillRect/>
          </a:stretch>
        </p:blipFill>
        <p:spPr>
          <a:xfrm>
            <a:off x="548640" y="256032"/>
            <a:ext cx="548640" cy="548640"/>
          </a:xfrm>
          <a:prstGeom prst="rect">
            <a:avLst/>
          </a:prstGeom>
        </p:spPr>
      </p:pic>
      <p:sp>
        <p:nvSpPr>
          <p:cNvPr id="4" name="Text 1"/>
          <p:cNvSpPr txBox="1"/>
          <p:nvPr/>
        </p:nvSpPr>
        <p:spPr>
          <a:xfrm>
            <a:off x="1280160" y="182880"/>
            <a:ext cx="10241280" cy="7315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Displacement (Based) Addressing</a:t>
            </a:r>
            <a:endParaRPr lang="en-US" sz="2800" dirty="0"/>
          </a:p>
        </p:txBody>
      </p:sp>
      <p:sp>
        <p:nvSpPr>
          <p:cNvPr id="5" name="Text 2"/>
          <p:cNvSpPr txBox="1"/>
          <p:nvPr/>
        </p:nvSpPr>
        <p:spPr>
          <a:xfrm>
            <a:off x="822960" y="1463040"/>
            <a:ext cx="10515600" cy="4754880"/>
          </a:xfrm>
          <a:prstGeom prst="rect">
            <a:avLst/>
          </a:prstGeom>
          <a:noFill/>
          <a:ln/>
        </p:spPr>
        <p:txBody>
          <a:bodyPr wrap="square" lIns="0" tIns="0" rIns="0" bIns="0" rtlCol="0" anchor="t"/>
          <a:lstStyle/>
          <a:p>
            <a:pPr marL="228600" indent="-228600">
              <a:lnSpc>
                <a:spcPct val="115000"/>
              </a:lnSpc>
              <a:spcAft>
                <a:spcPts val="1600"/>
              </a:spcAft>
              <a:buSzPct val="100000"/>
              <a:buChar char="•"/>
            </a:pPr>
            <a:r>
              <a:rPr lang="en-US" sz="2000" dirty="0">
                <a:solidFill>
                  <a:srgbClr val="13233B"/>
                </a:solidFill>
                <a:latin typeface="Calibri" pitchFamily="34" charset="0"/>
                <a:ea typeface="Calibri" pitchFamily="34" charset="-122"/>
                <a:cs typeface="Calibri" pitchFamily="34" charset="-120"/>
              </a:rPr>
              <a:t>Effective Address = value in a register + a constant offset (displacement) in the instruction</a:t>
            </a:r>
            <a:endParaRPr lang="en-US" sz="2000" dirty="0"/>
          </a:p>
          <a:p>
            <a:pPr marL="228600" indent="-228600">
              <a:lnSpc>
                <a:spcPct val="115000"/>
              </a:lnSpc>
              <a:spcAft>
                <a:spcPts val="1600"/>
              </a:spcAft>
              <a:buSzPct val="100000"/>
              <a:buChar char="•"/>
            </a:pPr>
            <a:r>
              <a:rPr lang="en-US" sz="2000" dirty="0">
                <a:solidFill>
                  <a:srgbClr val="13233B"/>
                </a:solidFill>
                <a:latin typeface="Calibri" pitchFamily="34" charset="0"/>
                <a:ea typeface="Calibri" pitchFamily="34" charset="-122"/>
                <a:cs typeface="Calibri" pitchFamily="34" charset="-120"/>
              </a:rPr>
              <a:t>Example: MOV R1, 8(R2) → if R2 = 3000, EA = 3000 + 8 = 3008</a:t>
            </a:r>
            <a:endParaRPr lang="en-US" sz="2000" dirty="0"/>
          </a:p>
          <a:p>
            <a:pPr marL="228600" indent="-228600">
              <a:lnSpc>
                <a:spcPct val="115000"/>
              </a:lnSpc>
              <a:spcAft>
                <a:spcPts val="1600"/>
              </a:spcAft>
              <a:buSzPct val="100000"/>
              <a:buChar char="•"/>
            </a:pPr>
            <a:r>
              <a:rPr lang="en-US" sz="2000" dirty="0">
                <a:solidFill>
                  <a:srgbClr val="13233B"/>
                </a:solidFill>
                <a:latin typeface="Calibri" pitchFamily="34" charset="0"/>
                <a:ea typeface="Calibri" pitchFamily="34" charset="-122"/>
                <a:cs typeface="Calibri" pitchFamily="34" charset="-120"/>
              </a:rPr>
              <a:t>Used heavily for accessing structure/record fields and local variables on the stack</a:t>
            </a:r>
            <a:endParaRPr lang="en-US" sz="2000" dirty="0"/>
          </a:p>
          <a:p>
            <a:pPr marL="228600" indent="-228600">
              <a:lnSpc>
                <a:spcPct val="115000"/>
              </a:lnSpc>
              <a:spcAft>
                <a:spcPts val="1600"/>
              </a:spcAft>
              <a:buSzPct val="100000"/>
              <a:buChar char="•"/>
            </a:pPr>
            <a:r>
              <a:rPr lang="en-US" sz="2000" dirty="0">
                <a:solidFill>
                  <a:srgbClr val="13233B"/>
                </a:solidFill>
                <a:latin typeface="Calibri" pitchFamily="34" charset="0"/>
                <a:ea typeface="Calibri" pitchFamily="34" charset="-122"/>
                <a:cs typeface="Calibri" pitchFamily="34" charset="-120"/>
              </a:rPr>
              <a:t>Also called "based addressing" when the register is thought of as a base pointer</a:t>
            </a:r>
            <a:endParaRPr lang="en-US" sz="2000" dirty="0"/>
          </a:p>
        </p:txBody>
      </p:sp>
      <p:sp>
        <p:nvSpPr>
          <p:cNvPr id="6" name="Text 3"/>
          <p:cNvSpPr txBox="1"/>
          <p:nvPr/>
        </p:nvSpPr>
        <p:spPr>
          <a:xfrm>
            <a:off x="457200" y="6492240"/>
            <a:ext cx="8686800" cy="274320"/>
          </a:xfrm>
          <a:prstGeom prst="rect">
            <a:avLst/>
          </a:prstGeom>
          <a:noFill/>
          <a:ln/>
        </p:spPr>
        <p:txBody>
          <a:bodyPr wrap="square" lIns="0" tIns="0" rIns="0" bIns="0" rtlCol="0" anchor="ctr"/>
          <a:lstStyle/>
          <a:p>
            <a:pPr algn="l" indent="0" marL="0">
              <a:buNone/>
            </a:pPr>
            <a:r>
              <a:rPr lang="en-US" sz="1000" dirty="0">
                <a:solidFill>
                  <a:srgbClr val="4A5A72"/>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1000" dirty="0"/>
          </a:p>
        </p:txBody>
      </p:sp>
      <p:sp>
        <p:nvSpPr>
          <p:cNvPr id="7" name="Text 4"/>
          <p:cNvSpPr txBox="1"/>
          <p:nvPr/>
        </p:nvSpPr>
        <p:spPr>
          <a:xfrm>
            <a:off x="11274552" y="6492240"/>
            <a:ext cx="457200" cy="274320"/>
          </a:xfrm>
          <a:prstGeom prst="rect">
            <a:avLst/>
          </a:prstGeom>
          <a:noFill/>
          <a:ln/>
        </p:spPr>
        <p:txBody>
          <a:bodyPr wrap="square" lIns="0" tIns="0" rIns="0" bIns="0" rtlCol="0" anchor="ctr"/>
          <a:lstStyle/>
          <a:p>
            <a:pPr algn="r" indent="0" marL="0">
              <a:buNone/>
            </a:pPr>
            <a:r>
              <a:rPr lang="en-US" sz="1000" dirty="0">
                <a:solidFill>
                  <a:srgbClr val="4A5A72"/>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1E3D"/>
          </a:solidFill>
          <a:ln/>
        </p:spPr>
      </p:sp>
      <p:pic>
        <p:nvPicPr>
          <p:cNvPr id="3" name="Image 0" descr="preencoded.png">    </p:cNvPr>
          <p:cNvPicPr>
            <a:picLocks noChangeAspect="1"/>
          </p:cNvPicPr>
          <p:nvPr/>
        </p:nvPicPr>
        <p:blipFill>
          <a:blip r:embed="rId1"/>
          <a:stretch>
            <a:fillRect/>
          </a:stretch>
        </p:blipFill>
        <p:spPr>
          <a:xfrm>
            <a:off x="548640" y="256032"/>
            <a:ext cx="548640" cy="548640"/>
          </a:xfrm>
          <a:prstGeom prst="rect">
            <a:avLst/>
          </a:prstGeom>
        </p:spPr>
      </p:pic>
      <p:sp>
        <p:nvSpPr>
          <p:cNvPr id="4" name="Text 1"/>
          <p:cNvSpPr txBox="1"/>
          <p:nvPr/>
        </p:nvSpPr>
        <p:spPr>
          <a:xfrm>
            <a:off x="1280160" y="182880"/>
            <a:ext cx="10241280" cy="7315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Indexed Addressing</a:t>
            </a:r>
            <a:endParaRPr lang="en-US" sz="2800" dirty="0"/>
          </a:p>
        </p:txBody>
      </p:sp>
      <p:sp>
        <p:nvSpPr>
          <p:cNvPr id="5" name="Text 2"/>
          <p:cNvSpPr txBox="1"/>
          <p:nvPr/>
        </p:nvSpPr>
        <p:spPr>
          <a:xfrm>
            <a:off x="822960" y="1463040"/>
            <a:ext cx="10515600" cy="4754880"/>
          </a:xfrm>
          <a:prstGeom prst="rect">
            <a:avLst/>
          </a:prstGeom>
          <a:noFill/>
          <a:ln/>
        </p:spPr>
        <p:txBody>
          <a:bodyPr wrap="square" lIns="0" tIns="0" rIns="0" bIns="0" rtlCol="0" anchor="t"/>
          <a:lstStyle/>
          <a:p>
            <a:pPr marL="228600" indent="-228600">
              <a:lnSpc>
                <a:spcPct val="115000"/>
              </a:lnSpc>
              <a:spcAft>
                <a:spcPts val="1600"/>
              </a:spcAft>
              <a:buSzPct val="100000"/>
              <a:buChar char="•"/>
            </a:pPr>
            <a:r>
              <a:rPr lang="en-US" sz="2000" dirty="0">
                <a:solidFill>
                  <a:srgbClr val="13233B"/>
                </a:solidFill>
                <a:latin typeface="Calibri" pitchFamily="34" charset="0"/>
                <a:ea typeface="Calibri" pitchFamily="34" charset="-122"/>
                <a:cs typeface="Calibri" pitchFamily="34" charset="-120"/>
              </a:rPr>
              <a:t>Effective Address = base address (in instruction or register) + value in an index register</a:t>
            </a:r>
            <a:endParaRPr lang="en-US" sz="2000" dirty="0"/>
          </a:p>
          <a:p>
            <a:pPr marL="228600" indent="-228600">
              <a:lnSpc>
                <a:spcPct val="115000"/>
              </a:lnSpc>
              <a:spcAft>
                <a:spcPts val="1600"/>
              </a:spcAft>
              <a:buSzPct val="100000"/>
              <a:buChar char="•"/>
            </a:pPr>
            <a:r>
              <a:rPr lang="en-US" sz="2000" dirty="0">
                <a:solidFill>
                  <a:srgbClr val="13233B"/>
                </a:solidFill>
                <a:latin typeface="Calibri" pitchFamily="34" charset="0"/>
                <a:ea typeface="Calibri" pitchFamily="34" charset="-122"/>
                <a:cs typeface="Calibri" pitchFamily="34" charset="-120"/>
              </a:rPr>
              <a:t>Example: MOV R1, ARRAY(RX) → EA = address of ARRAY + contents of RX</a:t>
            </a:r>
            <a:endParaRPr lang="en-US" sz="2000" dirty="0"/>
          </a:p>
          <a:p>
            <a:pPr marL="228600" indent="-228600">
              <a:lnSpc>
                <a:spcPct val="115000"/>
              </a:lnSpc>
              <a:spcAft>
                <a:spcPts val="1600"/>
              </a:spcAft>
              <a:buSzPct val="100000"/>
              <a:buChar char="•"/>
            </a:pPr>
            <a:r>
              <a:rPr lang="en-US" sz="2000" dirty="0">
                <a:solidFill>
                  <a:srgbClr val="13233B"/>
                </a:solidFill>
                <a:latin typeface="Calibri" pitchFamily="34" charset="0"/>
                <a:ea typeface="Calibri" pitchFamily="34" charset="-122"/>
                <a:cs typeface="Calibri" pitchFamily="34" charset="-120"/>
              </a:rPr>
              <a:t>Purpose-built for stepping through arrays: increment RX each loop iteration</a:t>
            </a:r>
            <a:endParaRPr lang="en-US" sz="2000" dirty="0"/>
          </a:p>
          <a:p>
            <a:pPr marL="228600" indent="-228600">
              <a:lnSpc>
                <a:spcPct val="115000"/>
              </a:lnSpc>
              <a:spcAft>
                <a:spcPts val="1600"/>
              </a:spcAft>
              <a:buSzPct val="100000"/>
              <a:buChar char="•"/>
            </a:pPr>
            <a:r>
              <a:rPr lang="en-US" sz="2000" dirty="0">
                <a:solidFill>
                  <a:srgbClr val="13233B"/>
                </a:solidFill>
                <a:latin typeface="Calibri" pitchFamily="34" charset="0"/>
                <a:ea typeface="Calibri" pitchFamily="34" charset="-122"/>
                <a:cs typeface="Calibri" pitchFamily="34" charset="-120"/>
              </a:rPr>
              <a:t>Some ISAs add automatic scaling (e.g., × 4 for a 4-byte integer array)</a:t>
            </a:r>
            <a:endParaRPr lang="en-US" sz="2000" dirty="0"/>
          </a:p>
        </p:txBody>
      </p:sp>
      <p:sp>
        <p:nvSpPr>
          <p:cNvPr id="6" name="Text 3"/>
          <p:cNvSpPr txBox="1"/>
          <p:nvPr/>
        </p:nvSpPr>
        <p:spPr>
          <a:xfrm>
            <a:off x="457200" y="6492240"/>
            <a:ext cx="8686800" cy="274320"/>
          </a:xfrm>
          <a:prstGeom prst="rect">
            <a:avLst/>
          </a:prstGeom>
          <a:noFill/>
          <a:ln/>
        </p:spPr>
        <p:txBody>
          <a:bodyPr wrap="square" lIns="0" tIns="0" rIns="0" bIns="0" rtlCol="0" anchor="ctr"/>
          <a:lstStyle/>
          <a:p>
            <a:pPr algn="l" indent="0" marL="0">
              <a:buNone/>
            </a:pPr>
            <a:r>
              <a:rPr lang="en-US" sz="1000" dirty="0">
                <a:solidFill>
                  <a:srgbClr val="4A5A72"/>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1000" dirty="0"/>
          </a:p>
        </p:txBody>
      </p:sp>
      <p:sp>
        <p:nvSpPr>
          <p:cNvPr id="7" name="Text 4"/>
          <p:cNvSpPr txBox="1"/>
          <p:nvPr/>
        </p:nvSpPr>
        <p:spPr>
          <a:xfrm>
            <a:off x="11274552" y="6492240"/>
            <a:ext cx="457200" cy="274320"/>
          </a:xfrm>
          <a:prstGeom prst="rect">
            <a:avLst/>
          </a:prstGeom>
          <a:noFill/>
          <a:ln/>
        </p:spPr>
        <p:txBody>
          <a:bodyPr wrap="square" lIns="0" tIns="0" rIns="0" bIns="0" rtlCol="0" anchor="ctr"/>
          <a:lstStyle/>
          <a:p>
            <a:pPr algn="r" indent="0" marL="0">
              <a:buNone/>
            </a:pPr>
            <a:r>
              <a:rPr lang="en-US" sz="1000" dirty="0">
                <a:solidFill>
                  <a:srgbClr val="4A5A72"/>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1E3D"/>
          </a:solidFill>
          <a:ln/>
        </p:spPr>
      </p:sp>
      <p:pic>
        <p:nvPicPr>
          <p:cNvPr id="3" name="Image 0" descr="preencoded.png">    </p:cNvPr>
          <p:cNvPicPr>
            <a:picLocks noChangeAspect="1"/>
          </p:cNvPicPr>
          <p:nvPr/>
        </p:nvPicPr>
        <p:blipFill>
          <a:blip r:embed="rId1"/>
          <a:stretch>
            <a:fillRect/>
          </a:stretch>
        </p:blipFill>
        <p:spPr>
          <a:xfrm>
            <a:off x="548640" y="256032"/>
            <a:ext cx="548640" cy="548640"/>
          </a:xfrm>
          <a:prstGeom prst="rect">
            <a:avLst/>
          </a:prstGeom>
        </p:spPr>
      </p:pic>
      <p:sp>
        <p:nvSpPr>
          <p:cNvPr id="4" name="Text 1"/>
          <p:cNvSpPr txBox="1"/>
          <p:nvPr/>
        </p:nvSpPr>
        <p:spPr>
          <a:xfrm>
            <a:off x="1280160" y="182880"/>
            <a:ext cx="10241280" cy="7315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Relative Addressing</a:t>
            </a:r>
            <a:endParaRPr lang="en-US" sz="2800" dirty="0"/>
          </a:p>
        </p:txBody>
      </p:sp>
      <p:sp>
        <p:nvSpPr>
          <p:cNvPr id="5" name="Text 2"/>
          <p:cNvSpPr txBox="1"/>
          <p:nvPr/>
        </p:nvSpPr>
        <p:spPr>
          <a:xfrm>
            <a:off x="822960" y="1463040"/>
            <a:ext cx="10515600" cy="4754880"/>
          </a:xfrm>
          <a:prstGeom prst="rect">
            <a:avLst/>
          </a:prstGeom>
          <a:noFill/>
          <a:ln/>
        </p:spPr>
        <p:txBody>
          <a:bodyPr wrap="square" lIns="0" tIns="0" rIns="0" bIns="0" rtlCol="0" anchor="t"/>
          <a:lstStyle/>
          <a:p>
            <a:pPr marL="228600" indent="-228600">
              <a:lnSpc>
                <a:spcPct val="115000"/>
              </a:lnSpc>
              <a:spcAft>
                <a:spcPts val="1600"/>
              </a:spcAft>
              <a:buSzPct val="100000"/>
              <a:buChar char="•"/>
            </a:pPr>
            <a:r>
              <a:rPr lang="en-US" sz="2000" dirty="0">
                <a:solidFill>
                  <a:srgbClr val="13233B"/>
                </a:solidFill>
                <a:latin typeface="Calibri" pitchFamily="34" charset="0"/>
                <a:ea typeface="Calibri" pitchFamily="34" charset="-122"/>
                <a:cs typeface="Calibri" pitchFamily="34" charset="-120"/>
              </a:rPr>
              <a:t>Effective Address = Program Counter (PC) + a signed displacement in the instruction</a:t>
            </a:r>
            <a:endParaRPr lang="en-US" sz="2000" dirty="0"/>
          </a:p>
          <a:p>
            <a:pPr marL="228600" indent="-228600">
              <a:lnSpc>
                <a:spcPct val="115000"/>
              </a:lnSpc>
              <a:spcAft>
                <a:spcPts val="1600"/>
              </a:spcAft>
              <a:buSzPct val="100000"/>
              <a:buChar char="•"/>
            </a:pPr>
            <a:r>
              <a:rPr lang="en-US" sz="2000" dirty="0">
                <a:solidFill>
                  <a:srgbClr val="13233B"/>
                </a:solidFill>
                <a:latin typeface="Calibri" pitchFamily="34" charset="0"/>
                <a:ea typeface="Calibri" pitchFamily="34" charset="-122"/>
                <a:cs typeface="Calibri" pitchFamily="34" charset="-120"/>
              </a:rPr>
              <a:t>Almost universally used for branch and jump instructions</a:t>
            </a:r>
            <a:endParaRPr lang="en-US" sz="2000" dirty="0"/>
          </a:p>
          <a:p>
            <a:pPr marL="228600" indent="-228600">
              <a:lnSpc>
                <a:spcPct val="115000"/>
              </a:lnSpc>
              <a:spcAft>
                <a:spcPts val="1600"/>
              </a:spcAft>
              <a:buSzPct val="100000"/>
              <a:buChar char="•"/>
            </a:pPr>
            <a:r>
              <a:rPr lang="en-US" sz="2000" dirty="0">
                <a:solidFill>
                  <a:srgbClr val="13233B"/>
                </a:solidFill>
                <a:latin typeface="Calibri" pitchFamily="34" charset="0"/>
                <a:ea typeface="Calibri" pitchFamily="34" charset="-122"/>
                <a:cs typeface="Calibri" pitchFamily="34" charset="-120"/>
              </a:rPr>
              <a:t>Example: JMP +12 → EA = current PC + 12</a:t>
            </a:r>
            <a:endParaRPr lang="en-US" sz="2000" dirty="0"/>
          </a:p>
          <a:p>
            <a:pPr marL="228600" indent="-228600">
              <a:lnSpc>
                <a:spcPct val="115000"/>
              </a:lnSpc>
              <a:spcAft>
                <a:spcPts val="1600"/>
              </a:spcAft>
              <a:buSzPct val="100000"/>
              <a:buChar char="•"/>
            </a:pPr>
            <a:r>
              <a:rPr lang="en-US" sz="2000" dirty="0">
                <a:solidFill>
                  <a:srgbClr val="13233B"/>
                </a:solidFill>
                <a:latin typeface="Calibri" pitchFamily="34" charset="0"/>
                <a:ea typeface="Calibri" pitchFamily="34" charset="-122"/>
                <a:cs typeface="Calibri" pitchFamily="34" charset="-120"/>
              </a:rPr>
              <a:t>Advantage: the generated code is position-independent — it works no matter where it is loaded in memory</a:t>
            </a:r>
            <a:endParaRPr lang="en-US" sz="2000" dirty="0"/>
          </a:p>
        </p:txBody>
      </p:sp>
      <p:sp>
        <p:nvSpPr>
          <p:cNvPr id="6" name="Text 3"/>
          <p:cNvSpPr txBox="1"/>
          <p:nvPr/>
        </p:nvSpPr>
        <p:spPr>
          <a:xfrm>
            <a:off x="457200" y="6492240"/>
            <a:ext cx="8686800" cy="274320"/>
          </a:xfrm>
          <a:prstGeom prst="rect">
            <a:avLst/>
          </a:prstGeom>
          <a:noFill/>
          <a:ln/>
        </p:spPr>
        <p:txBody>
          <a:bodyPr wrap="square" lIns="0" tIns="0" rIns="0" bIns="0" rtlCol="0" anchor="ctr"/>
          <a:lstStyle/>
          <a:p>
            <a:pPr algn="l" indent="0" marL="0">
              <a:buNone/>
            </a:pPr>
            <a:r>
              <a:rPr lang="en-US" sz="1000" dirty="0">
                <a:solidFill>
                  <a:srgbClr val="4A5A72"/>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1000" dirty="0"/>
          </a:p>
        </p:txBody>
      </p:sp>
      <p:sp>
        <p:nvSpPr>
          <p:cNvPr id="7" name="Text 4"/>
          <p:cNvSpPr txBox="1"/>
          <p:nvPr/>
        </p:nvSpPr>
        <p:spPr>
          <a:xfrm>
            <a:off x="11274552" y="6492240"/>
            <a:ext cx="457200" cy="274320"/>
          </a:xfrm>
          <a:prstGeom prst="rect">
            <a:avLst/>
          </a:prstGeom>
          <a:noFill/>
          <a:ln/>
        </p:spPr>
        <p:txBody>
          <a:bodyPr wrap="square" lIns="0" tIns="0" rIns="0" bIns="0" rtlCol="0" anchor="ctr"/>
          <a:lstStyle/>
          <a:p>
            <a:pPr algn="r" indent="0" marL="0">
              <a:buNone/>
            </a:pPr>
            <a:r>
              <a:rPr lang="en-US" sz="1000" dirty="0">
                <a:solidFill>
                  <a:srgbClr val="4A5A72"/>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1E3D"/>
          </a:solidFill>
          <a:ln/>
        </p:spPr>
      </p:sp>
      <p:pic>
        <p:nvPicPr>
          <p:cNvPr id="3" name="Image 0" descr="preencoded.png">    </p:cNvPr>
          <p:cNvPicPr>
            <a:picLocks noChangeAspect="1"/>
          </p:cNvPicPr>
          <p:nvPr/>
        </p:nvPicPr>
        <p:blipFill>
          <a:blip r:embed="rId1"/>
          <a:stretch>
            <a:fillRect/>
          </a:stretch>
        </p:blipFill>
        <p:spPr>
          <a:xfrm>
            <a:off x="548640" y="256032"/>
            <a:ext cx="548640" cy="548640"/>
          </a:xfrm>
          <a:prstGeom prst="rect">
            <a:avLst/>
          </a:prstGeom>
        </p:spPr>
      </p:pic>
      <p:sp>
        <p:nvSpPr>
          <p:cNvPr id="4" name="Text 1"/>
          <p:cNvSpPr txBox="1"/>
          <p:nvPr/>
        </p:nvSpPr>
        <p:spPr>
          <a:xfrm>
            <a:off x="1280160" y="182880"/>
            <a:ext cx="10241280" cy="7315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Auto-Increment / Auto-Decrement Addressing</a:t>
            </a:r>
            <a:endParaRPr lang="en-US" sz="2800" dirty="0"/>
          </a:p>
        </p:txBody>
      </p:sp>
      <p:sp>
        <p:nvSpPr>
          <p:cNvPr id="5" name="Text 2"/>
          <p:cNvSpPr txBox="1"/>
          <p:nvPr/>
        </p:nvSpPr>
        <p:spPr>
          <a:xfrm>
            <a:off x="822960" y="1463040"/>
            <a:ext cx="10515600" cy="4754880"/>
          </a:xfrm>
          <a:prstGeom prst="rect">
            <a:avLst/>
          </a:prstGeom>
          <a:noFill/>
          <a:ln/>
        </p:spPr>
        <p:txBody>
          <a:bodyPr wrap="square" lIns="0" tIns="0" rIns="0" bIns="0" rtlCol="0" anchor="t"/>
          <a:lstStyle/>
          <a:p>
            <a:pPr marL="228600" indent="-228600">
              <a:lnSpc>
                <a:spcPct val="115000"/>
              </a:lnSpc>
              <a:spcAft>
                <a:spcPts val="1600"/>
              </a:spcAft>
              <a:buSzPct val="100000"/>
              <a:buChar char="•"/>
            </a:pPr>
            <a:r>
              <a:rPr lang="en-US" sz="2000" dirty="0">
                <a:solidFill>
                  <a:srgbClr val="13233B"/>
                </a:solidFill>
                <a:latin typeface="Calibri" pitchFamily="34" charset="0"/>
                <a:ea typeface="Calibri" pitchFamily="34" charset="-122"/>
                <a:cs typeface="Calibri" pitchFamily="34" charset="-120"/>
              </a:rPr>
              <a:t>A variant of register-indirect addressing where the register is automatically updated after (or before) use</a:t>
            </a:r>
            <a:endParaRPr lang="en-US" sz="2000" dirty="0"/>
          </a:p>
          <a:p>
            <a:pPr marL="228600" indent="-228600">
              <a:lnSpc>
                <a:spcPct val="115000"/>
              </a:lnSpc>
              <a:spcAft>
                <a:spcPts val="1600"/>
              </a:spcAft>
              <a:buSzPct val="100000"/>
              <a:buChar char="•"/>
            </a:pPr>
            <a:r>
              <a:rPr lang="en-US" sz="2000" dirty="0">
                <a:solidFill>
                  <a:srgbClr val="13233B"/>
                </a:solidFill>
                <a:latin typeface="Calibri" pitchFamily="34" charset="0"/>
                <a:ea typeface="Calibri" pitchFamily="34" charset="-122"/>
                <a:cs typeface="Calibri" pitchFamily="34" charset="-120"/>
              </a:rPr>
              <a:t>Auto-increment: MOV R1, (R2)+  → use R2 as the address, THEN increment R2</a:t>
            </a:r>
            <a:endParaRPr lang="en-US" sz="2000" dirty="0"/>
          </a:p>
          <a:p>
            <a:pPr marL="228600" indent="-228600">
              <a:lnSpc>
                <a:spcPct val="115000"/>
              </a:lnSpc>
              <a:spcAft>
                <a:spcPts val="1600"/>
              </a:spcAft>
              <a:buSzPct val="100000"/>
              <a:buChar char="•"/>
            </a:pPr>
            <a:r>
              <a:rPr lang="en-US" sz="2000" dirty="0">
                <a:solidFill>
                  <a:srgbClr val="13233B"/>
                </a:solidFill>
                <a:latin typeface="Calibri" pitchFamily="34" charset="0"/>
                <a:ea typeface="Calibri" pitchFamily="34" charset="-122"/>
                <a:cs typeface="Calibri" pitchFamily="34" charset="-120"/>
              </a:rPr>
              <a:t>Auto-decrement: MOV R1, -(R2) → decrement R2 FIRST, then use it as the address</a:t>
            </a:r>
            <a:endParaRPr lang="en-US" sz="2000" dirty="0"/>
          </a:p>
          <a:p>
            <a:pPr marL="228600" indent="-228600">
              <a:lnSpc>
                <a:spcPct val="115000"/>
              </a:lnSpc>
              <a:spcAft>
                <a:spcPts val="1600"/>
              </a:spcAft>
              <a:buSzPct val="100000"/>
              <a:buChar char="•"/>
            </a:pPr>
            <a:r>
              <a:rPr lang="en-US" sz="2000" dirty="0">
                <a:solidFill>
                  <a:srgbClr val="13233B"/>
                </a:solidFill>
                <a:latin typeface="Calibri" pitchFamily="34" charset="0"/>
                <a:ea typeface="Calibri" pitchFamily="34" charset="-122"/>
                <a:cs typeface="Calibri" pitchFamily="34" charset="-120"/>
              </a:rPr>
              <a:t>Eliminates a separate "increment the pointer" instruction — very compact loop code</a:t>
            </a:r>
            <a:endParaRPr lang="en-US" sz="2000" dirty="0"/>
          </a:p>
          <a:p>
            <a:pPr marL="228600" indent="-228600">
              <a:lnSpc>
                <a:spcPct val="115000"/>
              </a:lnSpc>
              <a:spcAft>
                <a:spcPts val="1600"/>
              </a:spcAft>
              <a:buSzPct val="100000"/>
              <a:buChar char="•"/>
            </a:pPr>
            <a:r>
              <a:rPr lang="en-US" sz="2000" dirty="0">
                <a:solidFill>
                  <a:srgbClr val="13233B"/>
                </a:solidFill>
                <a:latin typeface="Calibri" pitchFamily="34" charset="0"/>
                <a:ea typeface="Calibri" pitchFamily="34" charset="-122"/>
                <a:cs typeface="Calibri" pitchFamily="34" charset="-120"/>
              </a:rPr>
              <a:t>This is exactly the mechanism behind stack PUSH and POP, which we cover next</a:t>
            </a:r>
            <a:endParaRPr lang="en-US" sz="2000" dirty="0"/>
          </a:p>
        </p:txBody>
      </p:sp>
      <p:sp>
        <p:nvSpPr>
          <p:cNvPr id="6" name="Text 3"/>
          <p:cNvSpPr txBox="1"/>
          <p:nvPr/>
        </p:nvSpPr>
        <p:spPr>
          <a:xfrm>
            <a:off x="457200" y="6492240"/>
            <a:ext cx="8686800" cy="274320"/>
          </a:xfrm>
          <a:prstGeom prst="rect">
            <a:avLst/>
          </a:prstGeom>
          <a:noFill/>
          <a:ln/>
        </p:spPr>
        <p:txBody>
          <a:bodyPr wrap="square" lIns="0" tIns="0" rIns="0" bIns="0" rtlCol="0" anchor="ctr"/>
          <a:lstStyle/>
          <a:p>
            <a:pPr algn="l" indent="0" marL="0">
              <a:buNone/>
            </a:pPr>
            <a:r>
              <a:rPr lang="en-US" sz="1000" dirty="0">
                <a:solidFill>
                  <a:srgbClr val="4A5A72"/>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1000" dirty="0"/>
          </a:p>
        </p:txBody>
      </p:sp>
      <p:sp>
        <p:nvSpPr>
          <p:cNvPr id="7" name="Text 4"/>
          <p:cNvSpPr txBox="1"/>
          <p:nvPr/>
        </p:nvSpPr>
        <p:spPr>
          <a:xfrm>
            <a:off x="11274552" y="6492240"/>
            <a:ext cx="457200" cy="274320"/>
          </a:xfrm>
          <a:prstGeom prst="rect">
            <a:avLst/>
          </a:prstGeom>
          <a:noFill/>
          <a:ln/>
        </p:spPr>
        <p:txBody>
          <a:bodyPr wrap="square" lIns="0" tIns="0" rIns="0" bIns="0" rtlCol="0" anchor="ctr"/>
          <a:lstStyle/>
          <a:p>
            <a:pPr algn="r" indent="0" marL="0">
              <a:buNone/>
            </a:pPr>
            <a:r>
              <a:rPr lang="en-US" sz="1000" dirty="0">
                <a:solidFill>
                  <a:srgbClr val="4A5A72"/>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1E3D"/>
          </a:solidFill>
          <a:ln/>
        </p:spPr>
      </p:sp>
      <p:pic>
        <p:nvPicPr>
          <p:cNvPr id="3" name="Image 0" descr="preencoded.png">    </p:cNvPr>
          <p:cNvPicPr>
            <a:picLocks noChangeAspect="1"/>
          </p:cNvPicPr>
          <p:nvPr/>
        </p:nvPicPr>
        <p:blipFill>
          <a:blip r:embed="rId1"/>
          <a:stretch>
            <a:fillRect/>
          </a:stretch>
        </p:blipFill>
        <p:spPr>
          <a:xfrm>
            <a:off x="548640" y="256032"/>
            <a:ext cx="548640" cy="548640"/>
          </a:xfrm>
          <a:prstGeom prst="rect">
            <a:avLst/>
          </a:prstGeom>
        </p:spPr>
      </p:pic>
      <p:sp>
        <p:nvSpPr>
          <p:cNvPr id="4" name="Text 1"/>
          <p:cNvSpPr txBox="1"/>
          <p:nvPr/>
        </p:nvSpPr>
        <p:spPr>
          <a:xfrm>
            <a:off x="1280160" y="182880"/>
            <a:ext cx="10241280" cy="7315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Addressing Modes at a Glance</a:t>
            </a:r>
            <a:endParaRPr lang="en-US" sz="26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40080" y="1371600"/>
          <a:ext cx="10881360" cy="4937760"/>
        </p:xfrm>
        <a:graphic>
          <a:graphicData uri="http://schemas.openxmlformats.org/drawingml/2006/table">
            <a:tbl>
              <a:tblPr/>
              <a:tblGrid>
                <a:gridCol w="3108960"/>
                <a:gridCol w="5669280"/>
                <a:gridCol w="2103120"/>
              </a:tblGrid>
              <a:tr h="493776">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Mode</a:t>
                      </a:r>
                      <a:endParaRPr lang="en-US" sz="1500" dirty="0">
                        <a:latin typeface="Calibri" charset="0"/>
                        <a:ea typeface="Calibri" charset="0"/>
                        <a:cs typeface="Calibri" charset="0"/>
                      </a:endParaRPr>
                    </a:p>
                  </a:txBody>
                  <a:tcPr marL="91440" marR="91440" marT="45720" marB="45720" anchor="ctr">
                    <a:lnL w="9525" cap="flat" cmpd="sng" algn="ctr">
                      <a:solidFill>
                        <a:srgbClr val="D8E1EC"/>
                      </a:solidFill>
                      <a:prstDash val="solid"/>
                      <a:round/>
                      <a:headEnd type="none" w="med" len="med"/>
                      <a:tailEnd type="none" w="med" len="med"/>
                    </a:lnL>
                    <a:lnR w="9525" cap="flat" cmpd="sng" algn="ctr">
                      <a:solidFill>
                        <a:srgbClr val="D8E1EC"/>
                      </a:solidFill>
                      <a:prstDash val="solid"/>
                      <a:round/>
                      <a:headEnd type="none" w="med" len="med"/>
                      <a:tailEnd type="none" w="med" len="med"/>
                    </a:lnR>
                    <a:lnT w="9525" cap="flat" cmpd="sng" algn="ctr">
                      <a:solidFill>
                        <a:srgbClr val="D8E1EC"/>
                      </a:solidFill>
                      <a:prstDash val="solid"/>
                      <a:round/>
                      <a:headEnd type="none" w="med" len="med"/>
                      <a:tailEnd type="none" w="med" len="med"/>
                    </a:lnT>
                    <a:lnB w="9525" cap="flat" cmpd="sng" algn="ctr">
                      <a:solidFill>
                        <a:srgbClr val="D8E1EC"/>
                      </a:solidFill>
                      <a:prstDash val="solid"/>
                      <a:round/>
                      <a:headEnd type="none" w="med" len="med"/>
                      <a:tailEnd type="none" w="med" len="med"/>
                    </a:lnB>
                    <a:solidFill>
                      <a:srgbClr val="0B1E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Operand Location</a:t>
                      </a:r>
                      <a:endParaRPr lang="en-US" sz="1500" dirty="0">
                        <a:latin typeface="Calibri" charset="0"/>
                        <a:ea typeface="Calibri" charset="0"/>
                        <a:cs typeface="Calibri" charset="0"/>
                      </a:endParaRPr>
                    </a:p>
                  </a:txBody>
                  <a:tcPr marL="91440" marR="91440" marT="45720" marB="45720" anchor="ctr">
                    <a:lnL w="9525" cap="flat" cmpd="sng" algn="ctr">
                      <a:solidFill>
                        <a:srgbClr val="D8E1EC"/>
                      </a:solidFill>
                      <a:prstDash val="solid"/>
                      <a:round/>
                      <a:headEnd type="none" w="med" len="med"/>
                      <a:tailEnd type="none" w="med" len="med"/>
                    </a:lnL>
                    <a:lnR w="9525" cap="flat" cmpd="sng" algn="ctr">
                      <a:solidFill>
                        <a:srgbClr val="D8E1EC"/>
                      </a:solidFill>
                      <a:prstDash val="solid"/>
                      <a:round/>
                      <a:headEnd type="none" w="med" len="med"/>
                      <a:tailEnd type="none" w="med" len="med"/>
                    </a:lnR>
                    <a:lnT w="9525" cap="flat" cmpd="sng" algn="ctr">
                      <a:solidFill>
                        <a:srgbClr val="D8E1EC"/>
                      </a:solidFill>
                      <a:prstDash val="solid"/>
                      <a:round/>
                      <a:headEnd type="none" w="med" len="med"/>
                      <a:tailEnd type="none" w="med" len="med"/>
                    </a:lnT>
                    <a:lnB w="9525" cap="flat" cmpd="sng" algn="ctr">
                      <a:solidFill>
                        <a:srgbClr val="D8E1EC"/>
                      </a:solidFill>
                      <a:prstDash val="solid"/>
                      <a:round/>
                      <a:headEnd type="none" w="med" len="med"/>
                      <a:tailEnd type="none" w="med" len="med"/>
                    </a:lnB>
                    <a:solidFill>
                      <a:srgbClr val="0B1E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Memory Refs</a:t>
                      </a:r>
                      <a:endParaRPr lang="en-US" sz="1500" dirty="0">
                        <a:latin typeface="Calibri" charset="0"/>
                        <a:ea typeface="Calibri" charset="0"/>
                        <a:cs typeface="Calibri" charset="0"/>
                      </a:endParaRPr>
                    </a:p>
                  </a:txBody>
                  <a:tcPr marL="91440" marR="91440" marT="45720" marB="45720" anchor="ctr">
                    <a:lnL w="9525" cap="flat" cmpd="sng" algn="ctr">
                      <a:solidFill>
                        <a:srgbClr val="D8E1EC"/>
                      </a:solidFill>
                      <a:prstDash val="solid"/>
                      <a:round/>
                      <a:headEnd type="none" w="med" len="med"/>
                      <a:tailEnd type="none" w="med" len="med"/>
                    </a:lnL>
                    <a:lnR w="9525" cap="flat" cmpd="sng" algn="ctr">
                      <a:solidFill>
                        <a:srgbClr val="D8E1EC"/>
                      </a:solidFill>
                      <a:prstDash val="solid"/>
                      <a:round/>
                      <a:headEnd type="none" w="med" len="med"/>
                      <a:tailEnd type="none" w="med" len="med"/>
                    </a:lnR>
                    <a:lnT w="9525" cap="flat" cmpd="sng" algn="ctr">
                      <a:solidFill>
                        <a:srgbClr val="D8E1EC"/>
                      </a:solidFill>
                      <a:prstDash val="solid"/>
                      <a:round/>
                      <a:headEnd type="none" w="med" len="med"/>
                      <a:tailEnd type="none" w="med" len="med"/>
                    </a:lnT>
                    <a:lnB w="9525" cap="flat" cmpd="sng" algn="ctr">
                      <a:solidFill>
                        <a:srgbClr val="D8E1EC"/>
                      </a:solidFill>
                      <a:prstDash val="solid"/>
                      <a:round/>
                      <a:headEnd type="none" w="med" len="med"/>
                      <a:tailEnd type="none" w="med" len="med"/>
                    </a:lnB>
                    <a:solidFill>
                      <a:srgbClr val="0B1E3D"/>
                    </a:solidFill>
                  </a:tcPr>
                </a:tc>
              </a:tr>
              <a:tr h="493776">
                <a:tc>
                  <a:txBody>
                    <a:bodyPr/>
                    <a:lstStyle/>
                    <a:p>
                      <a:pPr algn="l" indent="0" marL="0">
                        <a:buNone/>
                      </a:pPr>
                      <a:r>
                        <a:rPr lang="en-US" sz="1400" dirty="0">
                          <a:solidFill>
                            <a:srgbClr val="13233B"/>
                          </a:solidFill>
                          <a:latin typeface="Calibri" pitchFamily="34" charset="0"/>
                          <a:ea typeface="Calibri" pitchFamily="34" charset="-122"/>
                          <a:cs typeface="Calibri" pitchFamily="34" charset="-120"/>
                        </a:rPr>
                        <a:t>Immediate</a:t>
                      </a:r>
                      <a:endParaRPr lang="en-US" sz="1400" dirty="0">
                        <a:latin typeface="Calibri" charset="0"/>
                        <a:ea typeface="Calibri" charset="0"/>
                        <a:cs typeface="Calibri" charset="0"/>
                      </a:endParaRPr>
                    </a:p>
                  </a:txBody>
                  <a:tcPr marL="91440" marR="91440" marT="45720" marB="45720" anchor="ctr">
                    <a:lnL w="9525" cap="flat" cmpd="sng" algn="ctr">
                      <a:solidFill>
                        <a:srgbClr val="D8E1EC"/>
                      </a:solidFill>
                      <a:prstDash val="solid"/>
                      <a:round/>
                      <a:headEnd type="none" w="med" len="med"/>
                      <a:tailEnd type="none" w="med" len="med"/>
                    </a:lnL>
                    <a:lnR w="9525" cap="flat" cmpd="sng" algn="ctr">
                      <a:solidFill>
                        <a:srgbClr val="D8E1EC"/>
                      </a:solidFill>
                      <a:prstDash val="solid"/>
                      <a:round/>
                      <a:headEnd type="none" w="med" len="med"/>
                      <a:tailEnd type="none" w="med" len="med"/>
                    </a:lnR>
                    <a:lnT w="9525" cap="flat" cmpd="sng" algn="ctr">
                      <a:solidFill>
                        <a:srgbClr val="D8E1EC"/>
                      </a:solidFill>
                      <a:prstDash val="solid"/>
                      <a:round/>
                      <a:headEnd type="none" w="med" len="med"/>
                      <a:tailEnd type="none" w="med" len="med"/>
                    </a:lnT>
                    <a:lnB w="9525" cap="flat" cmpd="sng" algn="ctr">
                      <a:solidFill>
                        <a:srgbClr val="D8E1E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3233B"/>
                          </a:solidFill>
                          <a:latin typeface="Calibri" pitchFamily="34" charset="0"/>
                          <a:ea typeface="Calibri" pitchFamily="34" charset="-122"/>
                          <a:cs typeface="Calibri" pitchFamily="34" charset="-120"/>
                        </a:rPr>
                        <a:t>Inside the instruction</a:t>
                      </a:r>
                      <a:endParaRPr lang="en-US" sz="1400" dirty="0">
                        <a:latin typeface="Calibri" charset="0"/>
                        <a:ea typeface="Calibri" charset="0"/>
                        <a:cs typeface="Calibri" charset="0"/>
                      </a:endParaRPr>
                    </a:p>
                  </a:txBody>
                  <a:tcPr marL="91440" marR="91440" marT="45720" marB="45720" anchor="ctr">
                    <a:lnL w="9525" cap="flat" cmpd="sng" algn="ctr">
                      <a:solidFill>
                        <a:srgbClr val="D8E1EC"/>
                      </a:solidFill>
                      <a:prstDash val="solid"/>
                      <a:round/>
                      <a:headEnd type="none" w="med" len="med"/>
                      <a:tailEnd type="none" w="med" len="med"/>
                    </a:lnL>
                    <a:lnR w="9525" cap="flat" cmpd="sng" algn="ctr">
                      <a:solidFill>
                        <a:srgbClr val="D8E1EC"/>
                      </a:solidFill>
                      <a:prstDash val="solid"/>
                      <a:round/>
                      <a:headEnd type="none" w="med" len="med"/>
                      <a:tailEnd type="none" w="med" len="med"/>
                    </a:lnR>
                    <a:lnT w="9525" cap="flat" cmpd="sng" algn="ctr">
                      <a:solidFill>
                        <a:srgbClr val="D8E1EC"/>
                      </a:solidFill>
                      <a:prstDash val="solid"/>
                      <a:round/>
                      <a:headEnd type="none" w="med" len="med"/>
                      <a:tailEnd type="none" w="med" len="med"/>
                    </a:lnT>
                    <a:lnB w="9525" cap="flat" cmpd="sng" algn="ctr">
                      <a:solidFill>
                        <a:srgbClr val="D8E1E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3233B"/>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91440" marR="91440" marT="45720" marB="45720" anchor="ctr">
                    <a:lnL w="9525" cap="flat" cmpd="sng" algn="ctr">
                      <a:solidFill>
                        <a:srgbClr val="D8E1EC"/>
                      </a:solidFill>
                      <a:prstDash val="solid"/>
                      <a:round/>
                      <a:headEnd type="none" w="med" len="med"/>
                      <a:tailEnd type="none" w="med" len="med"/>
                    </a:lnL>
                    <a:lnR w="9525" cap="flat" cmpd="sng" algn="ctr">
                      <a:solidFill>
                        <a:srgbClr val="D8E1EC"/>
                      </a:solidFill>
                      <a:prstDash val="solid"/>
                      <a:round/>
                      <a:headEnd type="none" w="med" len="med"/>
                      <a:tailEnd type="none" w="med" len="med"/>
                    </a:lnR>
                    <a:lnT w="9525" cap="flat" cmpd="sng" algn="ctr">
                      <a:solidFill>
                        <a:srgbClr val="D8E1EC"/>
                      </a:solidFill>
                      <a:prstDash val="solid"/>
                      <a:round/>
                      <a:headEnd type="none" w="med" len="med"/>
                      <a:tailEnd type="none" w="med" len="med"/>
                    </a:lnT>
                    <a:lnB w="9525" cap="flat" cmpd="sng" algn="ctr">
                      <a:solidFill>
                        <a:srgbClr val="D8E1EC"/>
                      </a:solidFill>
                      <a:prstDash val="solid"/>
                      <a:round/>
                      <a:headEnd type="none" w="med" len="med"/>
                      <a:tailEnd type="none" w="med" len="med"/>
                    </a:lnB>
                    <a:solidFill>
                      <a:srgbClr val="FFFFFF"/>
                    </a:solidFill>
                  </a:tcPr>
                </a:tc>
              </a:tr>
              <a:tr h="493776">
                <a:tc>
                  <a:txBody>
                    <a:bodyPr/>
                    <a:lstStyle/>
                    <a:p>
                      <a:pPr algn="l" indent="0" marL="0">
                        <a:buNone/>
                      </a:pPr>
                      <a:r>
                        <a:rPr lang="en-US" sz="1400" dirty="0">
                          <a:solidFill>
                            <a:srgbClr val="13233B"/>
                          </a:solidFill>
                          <a:latin typeface="Calibri" pitchFamily="34" charset="0"/>
                          <a:ea typeface="Calibri" pitchFamily="34" charset="-122"/>
                          <a:cs typeface="Calibri" pitchFamily="34" charset="-120"/>
                        </a:rPr>
                        <a:t>Direct</a:t>
                      </a:r>
                      <a:endParaRPr lang="en-US" sz="1400" dirty="0">
                        <a:latin typeface="Calibri" charset="0"/>
                        <a:ea typeface="Calibri" charset="0"/>
                        <a:cs typeface="Calibri" charset="0"/>
                      </a:endParaRPr>
                    </a:p>
                  </a:txBody>
                  <a:tcPr marL="91440" marR="91440" marT="45720" marB="45720" anchor="ctr">
                    <a:lnL w="9525" cap="flat" cmpd="sng" algn="ctr">
                      <a:solidFill>
                        <a:srgbClr val="D8E1EC"/>
                      </a:solidFill>
                      <a:prstDash val="solid"/>
                      <a:round/>
                      <a:headEnd type="none" w="med" len="med"/>
                      <a:tailEnd type="none" w="med" len="med"/>
                    </a:lnL>
                    <a:lnR w="9525" cap="flat" cmpd="sng" algn="ctr">
                      <a:solidFill>
                        <a:srgbClr val="D8E1EC"/>
                      </a:solidFill>
                      <a:prstDash val="solid"/>
                      <a:round/>
                      <a:headEnd type="none" w="med" len="med"/>
                      <a:tailEnd type="none" w="med" len="med"/>
                    </a:lnR>
                    <a:lnT w="9525" cap="flat" cmpd="sng" algn="ctr">
                      <a:solidFill>
                        <a:srgbClr val="D8E1EC"/>
                      </a:solidFill>
                      <a:prstDash val="solid"/>
                      <a:round/>
                      <a:headEnd type="none" w="med" len="med"/>
                      <a:tailEnd type="none" w="med" len="med"/>
                    </a:lnT>
                    <a:lnB w="9525" cap="flat" cmpd="sng" algn="ctr">
                      <a:solidFill>
                        <a:srgbClr val="D8E1EC"/>
                      </a:solidFill>
                      <a:prstDash val="solid"/>
                      <a:round/>
                      <a:headEnd type="none" w="med" len="med"/>
                      <a:tailEnd type="none" w="med" len="med"/>
                    </a:lnB>
                    <a:solidFill>
                      <a:srgbClr val="F4F7FB"/>
                    </a:solidFill>
                  </a:tcPr>
                </a:tc>
                <a:tc>
                  <a:txBody>
                    <a:bodyPr/>
                    <a:lstStyle/>
                    <a:p>
                      <a:pPr algn="l" indent="0" marL="0">
                        <a:buNone/>
                      </a:pPr>
                      <a:r>
                        <a:rPr lang="en-US" sz="1400" dirty="0">
                          <a:solidFill>
                            <a:srgbClr val="13233B"/>
                          </a:solidFill>
                          <a:latin typeface="Calibri" pitchFamily="34" charset="0"/>
                          <a:ea typeface="Calibri" pitchFamily="34" charset="-122"/>
                          <a:cs typeface="Calibri" pitchFamily="34" charset="-120"/>
                        </a:rPr>
                        <a:t>Address given in instruction</a:t>
                      </a:r>
                      <a:endParaRPr lang="en-US" sz="1400" dirty="0">
                        <a:latin typeface="Calibri" charset="0"/>
                        <a:ea typeface="Calibri" charset="0"/>
                        <a:cs typeface="Calibri" charset="0"/>
                      </a:endParaRPr>
                    </a:p>
                  </a:txBody>
                  <a:tcPr marL="91440" marR="91440" marT="45720" marB="45720" anchor="ctr">
                    <a:lnL w="9525" cap="flat" cmpd="sng" algn="ctr">
                      <a:solidFill>
                        <a:srgbClr val="D8E1EC"/>
                      </a:solidFill>
                      <a:prstDash val="solid"/>
                      <a:round/>
                      <a:headEnd type="none" w="med" len="med"/>
                      <a:tailEnd type="none" w="med" len="med"/>
                    </a:lnL>
                    <a:lnR w="9525" cap="flat" cmpd="sng" algn="ctr">
                      <a:solidFill>
                        <a:srgbClr val="D8E1EC"/>
                      </a:solidFill>
                      <a:prstDash val="solid"/>
                      <a:round/>
                      <a:headEnd type="none" w="med" len="med"/>
                      <a:tailEnd type="none" w="med" len="med"/>
                    </a:lnR>
                    <a:lnT w="9525" cap="flat" cmpd="sng" algn="ctr">
                      <a:solidFill>
                        <a:srgbClr val="D8E1EC"/>
                      </a:solidFill>
                      <a:prstDash val="solid"/>
                      <a:round/>
                      <a:headEnd type="none" w="med" len="med"/>
                      <a:tailEnd type="none" w="med" len="med"/>
                    </a:lnT>
                    <a:lnB w="9525" cap="flat" cmpd="sng" algn="ctr">
                      <a:solidFill>
                        <a:srgbClr val="D8E1EC"/>
                      </a:solidFill>
                      <a:prstDash val="solid"/>
                      <a:round/>
                      <a:headEnd type="none" w="med" len="med"/>
                      <a:tailEnd type="none" w="med" len="med"/>
                    </a:lnB>
                    <a:solidFill>
                      <a:srgbClr val="F4F7FB"/>
                    </a:solidFill>
                  </a:tcPr>
                </a:tc>
                <a:tc>
                  <a:txBody>
                    <a:bodyPr/>
                    <a:lstStyle/>
                    <a:p>
                      <a:pPr algn="l" indent="0" marL="0">
                        <a:buNone/>
                      </a:pPr>
                      <a:r>
                        <a:rPr lang="en-US" sz="1400" dirty="0">
                          <a:solidFill>
                            <a:srgbClr val="13233B"/>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91440" marR="91440" marT="45720" marB="45720" anchor="ctr">
                    <a:lnL w="9525" cap="flat" cmpd="sng" algn="ctr">
                      <a:solidFill>
                        <a:srgbClr val="D8E1EC"/>
                      </a:solidFill>
                      <a:prstDash val="solid"/>
                      <a:round/>
                      <a:headEnd type="none" w="med" len="med"/>
                      <a:tailEnd type="none" w="med" len="med"/>
                    </a:lnL>
                    <a:lnR w="9525" cap="flat" cmpd="sng" algn="ctr">
                      <a:solidFill>
                        <a:srgbClr val="D8E1EC"/>
                      </a:solidFill>
                      <a:prstDash val="solid"/>
                      <a:round/>
                      <a:headEnd type="none" w="med" len="med"/>
                      <a:tailEnd type="none" w="med" len="med"/>
                    </a:lnR>
                    <a:lnT w="9525" cap="flat" cmpd="sng" algn="ctr">
                      <a:solidFill>
                        <a:srgbClr val="D8E1EC"/>
                      </a:solidFill>
                      <a:prstDash val="solid"/>
                      <a:round/>
                      <a:headEnd type="none" w="med" len="med"/>
                      <a:tailEnd type="none" w="med" len="med"/>
                    </a:lnT>
                    <a:lnB w="9525" cap="flat" cmpd="sng" algn="ctr">
                      <a:solidFill>
                        <a:srgbClr val="D8E1EC"/>
                      </a:solidFill>
                      <a:prstDash val="solid"/>
                      <a:round/>
                      <a:headEnd type="none" w="med" len="med"/>
                      <a:tailEnd type="none" w="med" len="med"/>
                    </a:lnB>
                    <a:solidFill>
                      <a:srgbClr val="F4F7FB"/>
                    </a:solidFill>
                  </a:tcPr>
                </a:tc>
              </a:tr>
              <a:tr h="493776">
                <a:tc>
                  <a:txBody>
                    <a:bodyPr/>
                    <a:lstStyle/>
                    <a:p>
                      <a:pPr algn="l" indent="0" marL="0">
                        <a:buNone/>
                      </a:pPr>
                      <a:r>
                        <a:rPr lang="en-US" sz="1400" dirty="0">
                          <a:solidFill>
                            <a:srgbClr val="13233B"/>
                          </a:solidFill>
                          <a:latin typeface="Calibri" pitchFamily="34" charset="0"/>
                          <a:ea typeface="Calibri" pitchFamily="34" charset="-122"/>
                          <a:cs typeface="Calibri" pitchFamily="34" charset="-120"/>
                        </a:rPr>
                        <a:t>Indirect</a:t>
                      </a:r>
                      <a:endParaRPr lang="en-US" sz="1400" dirty="0">
                        <a:latin typeface="Calibri" charset="0"/>
                        <a:ea typeface="Calibri" charset="0"/>
                        <a:cs typeface="Calibri" charset="0"/>
                      </a:endParaRPr>
                    </a:p>
                  </a:txBody>
                  <a:tcPr marL="91440" marR="91440" marT="45720" marB="45720" anchor="ctr">
                    <a:lnL w="9525" cap="flat" cmpd="sng" algn="ctr">
                      <a:solidFill>
                        <a:srgbClr val="D8E1EC"/>
                      </a:solidFill>
                      <a:prstDash val="solid"/>
                      <a:round/>
                      <a:headEnd type="none" w="med" len="med"/>
                      <a:tailEnd type="none" w="med" len="med"/>
                    </a:lnL>
                    <a:lnR w="9525" cap="flat" cmpd="sng" algn="ctr">
                      <a:solidFill>
                        <a:srgbClr val="D8E1EC"/>
                      </a:solidFill>
                      <a:prstDash val="solid"/>
                      <a:round/>
                      <a:headEnd type="none" w="med" len="med"/>
                      <a:tailEnd type="none" w="med" len="med"/>
                    </a:lnR>
                    <a:lnT w="9525" cap="flat" cmpd="sng" algn="ctr">
                      <a:solidFill>
                        <a:srgbClr val="D8E1EC"/>
                      </a:solidFill>
                      <a:prstDash val="solid"/>
                      <a:round/>
                      <a:headEnd type="none" w="med" len="med"/>
                      <a:tailEnd type="none" w="med" len="med"/>
                    </a:lnT>
                    <a:lnB w="9525" cap="flat" cmpd="sng" algn="ctr">
                      <a:solidFill>
                        <a:srgbClr val="D8E1E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3233B"/>
                          </a:solidFill>
                          <a:latin typeface="Calibri" pitchFamily="34" charset="0"/>
                          <a:ea typeface="Calibri" pitchFamily="34" charset="-122"/>
                          <a:cs typeface="Calibri" pitchFamily="34" charset="-120"/>
                        </a:rPr>
                        <a:t>Address of an address</a:t>
                      </a:r>
                      <a:endParaRPr lang="en-US" sz="1400" dirty="0">
                        <a:latin typeface="Calibri" charset="0"/>
                        <a:ea typeface="Calibri" charset="0"/>
                        <a:cs typeface="Calibri" charset="0"/>
                      </a:endParaRPr>
                    </a:p>
                  </a:txBody>
                  <a:tcPr marL="91440" marR="91440" marT="45720" marB="45720" anchor="ctr">
                    <a:lnL w="9525" cap="flat" cmpd="sng" algn="ctr">
                      <a:solidFill>
                        <a:srgbClr val="D8E1EC"/>
                      </a:solidFill>
                      <a:prstDash val="solid"/>
                      <a:round/>
                      <a:headEnd type="none" w="med" len="med"/>
                      <a:tailEnd type="none" w="med" len="med"/>
                    </a:lnL>
                    <a:lnR w="9525" cap="flat" cmpd="sng" algn="ctr">
                      <a:solidFill>
                        <a:srgbClr val="D8E1EC"/>
                      </a:solidFill>
                      <a:prstDash val="solid"/>
                      <a:round/>
                      <a:headEnd type="none" w="med" len="med"/>
                      <a:tailEnd type="none" w="med" len="med"/>
                    </a:lnR>
                    <a:lnT w="9525" cap="flat" cmpd="sng" algn="ctr">
                      <a:solidFill>
                        <a:srgbClr val="D8E1EC"/>
                      </a:solidFill>
                      <a:prstDash val="solid"/>
                      <a:round/>
                      <a:headEnd type="none" w="med" len="med"/>
                      <a:tailEnd type="none" w="med" len="med"/>
                    </a:lnT>
                    <a:lnB w="9525" cap="flat" cmpd="sng" algn="ctr">
                      <a:solidFill>
                        <a:srgbClr val="D8E1E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3233B"/>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91440" marR="91440" marT="45720" marB="45720" anchor="ctr">
                    <a:lnL w="9525" cap="flat" cmpd="sng" algn="ctr">
                      <a:solidFill>
                        <a:srgbClr val="D8E1EC"/>
                      </a:solidFill>
                      <a:prstDash val="solid"/>
                      <a:round/>
                      <a:headEnd type="none" w="med" len="med"/>
                      <a:tailEnd type="none" w="med" len="med"/>
                    </a:lnL>
                    <a:lnR w="9525" cap="flat" cmpd="sng" algn="ctr">
                      <a:solidFill>
                        <a:srgbClr val="D8E1EC"/>
                      </a:solidFill>
                      <a:prstDash val="solid"/>
                      <a:round/>
                      <a:headEnd type="none" w="med" len="med"/>
                      <a:tailEnd type="none" w="med" len="med"/>
                    </a:lnR>
                    <a:lnT w="9525" cap="flat" cmpd="sng" algn="ctr">
                      <a:solidFill>
                        <a:srgbClr val="D8E1EC"/>
                      </a:solidFill>
                      <a:prstDash val="solid"/>
                      <a:round/>
                      <a:headEnd type="none" w="med" len="med"/>
                      <a:tailEnd type="none" w="med" len="med"/>
                    </a:lnT>
                    <a:lnB w="9525" cap="flat" cmpd="sng" algn="ctr">
                      <a:solidFill>
                        <a:srgbClr val="D8E1EC"/>
                      </a:solidFill>
                      <a:prstDash val="solid"/>
                      <a:round/>
                      <a:headEnd type="none" w="med" len="med"/>
                      <a:tailEnd type="none" w="med" len="med"/>
                    </a:lnB>
                    <a:solidFill>
                      <a:srgbClr val="FFFFFF"/>
                    </a:solidFill>
                  </a:tcPr>
                </a:tc>
              </a:tr>
              <a:tr h="493776">
                <a:tc>
                  <a:txBody>
                    <a:bodyPr/>
                    <a:lstStyle/>
                    <a:p>
                      <a:pPr algn="l" indent="0" marL="0">
                        <a:buNone/>
                      </a:pPr>
                      <a:r>
                        <a:rPr lang="en-US" sz="1400" dirty="0">
                          <a:solidFill>
                            <a:srgbClr val="13233B"/>
                          </a:solidFill>
                          <a:latin typeface="Calibri" pitchFamily="34" charset="0"/>
                          <a:ea typeface="Calibri" pitchFamily="34" charset="-122"/>
                          <a:cs typeface="Calibri" pitchFamily="34" charset="-120"/>
                        </a:rPr>
                        <a:t>Register</a:t>
                      </a:r>
                      <a:endParaRPr lang="en-US" sz="1400" dirty="0">
                        <a:latin typeface="Calibri" charset="0"/>
                        <a:ea typeface="Calibri" charset="0"/>
                        <a:cs typeface="Calibri" charset="0"/>
                      </a:endParaRPr>
                    </a:p>
                  </a:txBody>
                  <a:tcPr marL="91440" marR="91440" marT="45720" marB="45720" anchor="ctr">
                    <a:lnL w="9525" cap="flat" cmpd="sng" algn="ctr">
                      <a:solidFill>
                        <a:srgbClr val="D8E1EC"/>
                      </a:solidFill>
                      <a:prstDash val="solid"/>
                      <a:round/>
                      <a:headEnd type="none" w="med" len="med"/>
                      <a:tailEnd type="none" w="med" len="med"/>
                    </a:lnL>
                    <a:lnR w="9525" cap="flat" cmpd="sng" algn="ctr">
                      <a:solidFill>
                        <a:srgbClr val="D8E1EC"/>
                      </a:solidFill>
                      <a:prstDash val="solid"/>
                      <a:round/>
                      <a:headEnd type="none" w="med" len="med"/>
                      <a:tailEnd type="none" w="med" len="med"/>
                    </a:lnR>
                    <a:lnT w="9525" cap="flat" cmpd="sng" algn="ctr">
                      <a:solidFill>
                        <a:srgbClr val="D8E1EC"/>
                      </a:solidFill>
                      <a:prstDash val="solid"/>
                      <a:round/>
                      <a:headEnd type="none" w="med" len="med"/>
                      <a:tailEnd type="none" w="med" len="med"/>
                    </a:lnT>
                    <a:lnB w="9525" cap="flat" cmpd="sng" algn="ctr">
                      <a:solidFill>
                        <a:srgbClr val="D8E1EC"/>
                      </a:solidFill>
                      <a:prstDash val="solid"/>
                      <a:round/>
                      <a:headEnd type="none" w="med" len="med"/>
                      <a:tailEnd type="none" w="med" len="med"/>
                    </a:lnB>
                    <a:solidFill>
                      <a:srgbClr val="F4F7FB"/>
                    </a:solidFill>
                  </a:tcPr>
                </a:tc>
                <a:tc>
                  <a:txBody>
                    <a:bodyPr/>
                    <a:lstStyle/>
                    <a:p>
                      <a:pPr algn="l" indent="0" marL="0">
                        <a:buNone/>
                      </a:pPr>
                      <a:r>
                        <a:rPr lang="en-US" sz="1400" dirty="0">
                          <a:solidFill>
                            <a:srgbClr val="13233B"/>
                          </a:solidFill>
                          <a:latin typeface="Calibri" pitchFamily="34" charset="0"/>
                          <a:ea typeface="Calibri" pitchFamily="34" charset="-122"/>
                          <a:cs typeface="Calibri" pitchFamily="34" charset="-120"/>
                        </a:rPr>
                        <a:t>Inside a CPU register</a:t>
                      </a:r>
                      <a:endParaRPr lang="en-US" sz="1400" dirty="0">
                        <a:latin typeface="Calibri" charset="0"/>
                        <a:ea typeface="Calibri" charset="0"/>
                        <a:cs typeface="Calibri" charset="0"/>
                      </a:endParaRPr>
                    </a:p>
                  </a:txBody>
                  <a:tcPr marL="91440" marR="91440" marT="45720" marB="45720" anchor="ctr">
                    <a:lnL w="9525" cap="flat" cmpd="sng" algn="ctr">
                      <a:solidFill>
                        <a:srgbClr val="D8E1EC"/>
                      </a:solidFill>
                      <a:prstDash val="solid"/>
                      <a:round/>
                      <a:headEnd type="none" w="med" len="med"/>
                      <a:tailEnd type="none" w="med" len="med"/>
                    </a:lnL>
                    <a:lnR w="9525" cap="flat" cmpd="sng" algn="ctr">
                      <a:solidFill>
                        <a:srgbClr val="D8E1EC"/>
                      </a:solidFill>
                      <a:prstDash val="solid"/>
                      <a:round/>
                      <a:headEnd type="none" w="med" len="med"/>
                      <a:tailEnd type="none" w="med" len="med"/>
                    </a:lnR>
                    <a:lnT w="9525" cap="flat" cmpd="sng" algn="ctr">
                      <a:solidFill>
                        <a:srgbClr val="D8E1EC"/>
                      </a:solidFill>
                      <a:prstDash val="solid"/>
                      <a:round/>
                      <a:headEnd type="none" w="med" len="med"/>
                      <a:tailEnd type="none" w="med" len="med"/>
                    </a:lnT>
                    <a:lnB w="9525" cap="flat" cmpd="sng" algn="ctr">
                      <a:solidFill>
                        <a:srgbClr val="D8E1EC"/>
                      </a:solidFill>
                      <a:prstDash val="solid"/>
                      <a:round/>
                      <a:headEnd type="none" w="med" len="med"/>
                      <a:tailEnd type="none" w="med" len="med"/>
                    </a:lnB>
                    <a:solidFill>
                      <a:srgbClr val="F4F7FB"/>
                    </a:solidFill>
                  </a:tcPr>
                </a:tc>
                <a:tc>
                  <a:txBody>
                    <a:bodyPr/>
                    <a:lstStyle/>
                    <a:p>
                      <a:pPr algn="l" indent="0" marL="0">
                        <a:buNone/>
                      </a:pPr>
                      <a:r>
                        <a:rPr lang="en-US" sz="1400" dirty="0">
                          <a:solidFill>
                            <a:srgbClr val="13233B"/>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91440" marR="91440" marT="45720" marB="45720" anchor="ctr">
                    <a:lnL w="9525" cap="flat" cmpd="sng" algn="ctr">
                      <a:solidFill>
                        <a:srgbClr val="D8E1EC"/>
                      </a:solidFill>
                      <a:prstDash val="solid"/>
                      <a:round/>
                      <a:headEnd type="none" w="med" len="med"/>
                      <a:tailEnd type="none" w="med" len="med"/>
                    </a:lnL>
                    <a:lnR w="9525" cap="flat" cmpd="sng" algn="ctr">
                      <a:solidFill>
                        <a:srgbClr val="D8E1EC"/>
                      </a:solidFill>
                      <a:prstDash val="solid"/>
                      <a:round/>
                      <a:headEnd type="none" w="med" len="med"/>
                      <a:tailEnd type="none" w="med" len="med"/>
                    </a:lnR>
                    <a:lnT w="9525" cap="flat" cmpd="sng" algn="ctr">
                      <a:solidFill>
                        <a:srgbClr val="D8E1EC"/>
                      </a:solidFill>
                      <a:prstDash val="solid"/>
                      <a:round/>
                      <a:headEnd type="none" w="med" len="med"/>
                      <a:tailEnd type="none" w="med" len="med"/>
                    </a:lnT>
                    <a:lnB w="9525" cap="flat" cmpd="sng" algn="ctr">
                      <a:solidFill>
                        <a:srgbClr val="D8E1EC"/>
                      </a:solidFill>
                      <a:prstDash val="solid"/>
                      <a:round/>
                      <a:headEnd type="none" w="med" len="med"/>
                      <a:tailEnd type="none" w="med" len="med"/>
                    </a:lnB>
                    <a:solidFill>
                      <a:srgbClr val="F4F7FB"/>
                    </a:solidFill>
                  </a:tcPr>
                </a:tc>
              </a:tr>
              <a:tr h="493776">
                <a:tc>
                  <a:txBody>
                    <a:bodyPr/>
                    <a:lstStyle/>
                    <a:p>
                      <a:pPr algn="l" indent="0" marL="0">
                        <a:buNone/>
                      </a:pPr>
                      <a:r>
                        <a:rPr lang="en-US" sz="1400" dirty="0">
                          <a:solidFill>
                            <a:srgbClr val="13233B"/>
                          </a:solidFill>
                          <a:latin typeface="Calibri" pitchFamily="34" charset="0"/>
                          <a:ea typeface="Calibri" pitchFamily="34" charset="-122"/>
                          <a:cs typeface="Calibri" pitchFamily="34" charset="-120"/>
                        </a:rPr>
                        <a:t>Register Indirect</a:t>
                      </a:r>
                      <a:endParaRPr lang="en-US" sz="1400" dirty="0">
                        <a:latin typeface="Calibri" charset="0"/>
                        <a:ea typeface="Calibri" charset="0"/>
                        <a:cs typeface="Calibri" charset="0"/>
                      </a:endParaRPr>
                    </a:p>
                  </a:txBody>
                  <a:tcPr marL="91440" marR="91440" marT="45720" marB="45720" anchor="ctr">
                    <a:lnL w="9525" cap="flat" cmpd="sng" algn="ctr">
                      <a:solidFill>
                        <a:srgbClr val="D8E1EC"/>
                      </a:solidFill>
                      <a:prstDash val="solid"/>
                      <a:round/>
                      <a:headEnd type="none" w="med" len="med"/>
                      <a:tailEnd type="none" w="med" len="med"/>
                    </a:lnL>
                    <a:lnR w="9525" cap="flat" cmpd="sng" algn="ctr">
                      <a:solidFill>
                        <a:srgbClr val="D8E1EC"/>
                      </a:solidFill>
                      <a:prstDash val="solid"/>
                      <a:round/>
                      <a:headEnd type="none" w="med" len="med"/>
                      <a:tailEnd type="none" w="med" len="med"/>
                    </a:lnR>
                    <a:lnT w="9525" cap="flat" cmpd="sng" algn="ctr">
                      <a:solidFill>
                        <a:srgbClr val="D8E1EC"/>
                      </a:solidFill>
                      <a:prstDash val="solid"/>
                      <a:round/>
                      <a:headEnd type="none" w="med" len="med"/>
                      <a:tailEnd type="none" w="med" len="med"/>
                    </a:lnT>
                    <a:lnB w="9525" cap="flat" cmpd="sng" algn="ctr">
                      <a:solidFill>
                        <a:srgbClr val="D8E1E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3233B"/>
                          </a:solidFill>
                          <a:latin typeface="Calibri" pitchFamily="34" charset="0"/>
                          <a:ea typeface="Calibri" pitchFamily="34" charset="-122"/>
                          <a:cs typeface="Calibri" pitchFamily="34" charset="-120"/>
                        </a:rPr>
                        <a:t>Address held in a register</a:t>
                      </a:r>
                      <a:endParaRPr lang="en-US" sz="1400" dirty="0">
                        <a:latin typeface="Calibri" charset="0"/>
                        <a:ea typeface="Calibri" charset="0"/>
                        <a:cs typeface="Calibri" charset="0"/>
                      </a:endParaRPr>
                    </a:p>
                  </a:txBody>
                  <a:tcPr marL="91440" marR="91440" marT="45720" marB="45720" anchor="ctr">
                    <a:lnL w="9525" cap="flat" cmpd="sng" algn="ctr">
                      <a:solidFill>
                        <a:srgbClr val="D8E1EC"/>
                      </a:solidFill>
                      <a:prstDash val="solid"/>
                      <a:round/>
                      <a:headEnd type="none" w="med" len="med"/>
                      <a:tailEnd type="none" w="med" len="med"/>
                    </a:lnL>
                    <a:lnR w="9525" cap="flat" cmpd="sng" algn="ctr">
                      <a:solidFill>
                        <a:srgbClr val="D8E1EC"/>
                      </a:solidFill>
                      <a:prstDash val="solid"/>
                      <a:round/>
                      <a:headEnd type="none" w="med" len="med"/>
                      <a:tailEnd type="none" w="med" len="med"/>
                    </a:lnR>
                    <a:lnT w="9525" cap="flat" cmpd="sng" algn="ctr">
                      <a:solidFill>
                        <a:srgbClr val="D8E1EC"/>
                      </a:solidFill>
                      <a:prstDash val="solid"/>
                      <a:round/>
                      <a:headEnd type="none" w="med" len="med"/>
                      <a:tailEnd type="none" w="med" len="med"/>
                    </a:lnT>
                    <a:lnB w="9525" cap="flat" cmpd="sng" algn="ctr">
                      <a:solidFill>
                        <a:srgbClr val="D8E1E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3233B"/>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91440" marR="91440" marT="45720" marB="45720" anchor="ctr">
                    <a:lnL w="9525" cap="flat" cmpd="sng" algn="ctr">
                      <a:solidFill>
                        <a:srgbClr val="D8E1EC"/>
                      </a:solidFill>
                      <a:prstDash val="solid"/>
                      <a:round/>
                      <a:headEnd type="none" w="med" len="med"/>
                      <a:tailEnd type="none" w="med" len="med"/>
                    </a:lnL>
                    <a:lnR w="9525" cap="flat" cmpd="sng" algn="ctr">
                      <a:solidFill>
                        <a:srgbClr val="D8E1EC"/>
                      </a:solidFill>
                      <a:prstDash val="solid"/>
                      <a:round/>
                      <a:headEnd type="none" w="med" len="med"/>
                      <a:tailEnd type="none" w="med" len="med"/>
                    </a:lnR>
                    <a:lnT w="9525" cap="flat" cmpd="sng" algn="ctr">
                      <a:solidFill>
                        <a:srgbClr val="D8E1EC"/>
                      </a:solidFill>
                      <a:prstDash val="solid"/>
                      <a:round/>
                      <a:headEnd type="none" w="med" len="med"/>
                      <a:tailEnd type="none" w="med" len="med"/>
                    </a:lnT>
                    <a:lnB w="9525" cap="flat" cmpd="sng" algn="ctr">
                      <a:solidFill>
                        <a:srgbClr val="D8E1EC"/>
                      </a:solidFill>
                      <a:prstDash val="solid"/>
                      <a:round/>
                      <a:headEnd type="none" w="med" len="med"/>
                      <a:tailEnd type="none" w="med" len="med"/>
                    </a:lnB>
                    <a:solidFill>
                      <a:srgbClr val="FFFFFF"/>
                    </a:solidFill>
                  </a:tcPr>
                </a:tc>
              </a:tr>
              <a:tr h="493776">
                <a:tc>
                  <a:txBody>
                    <a:bodyPr/>
                    <a:lstStyle/>
                    <a:p>
                      <a:pPr algn="l" indent="0" marL="0">
                        <a:buNone/>
                      </a:pPr>
                      <a:r>
                        <a:rPr lang="en-US" sz="1400" dirty="0">
                          <a:solidFill>
                            <a:srgbClr val="13233B"/>
                          </a:solidFill>
                          <a:latin typeface="Calibri" pitchFamily="34" charset="0"/>
                          <a:ea typeface="Calibri" pitchFamily="34" charset="-122"/>
                          <a:cs typeface="Calibri" pitchFamily="34" charset="-120"/>
                        </a:rPr>
                        <a:t>Displacement</a:t>
                      </a:r>
                      <a:endParaRPr lang="en-US" sz="1400" dirty="0">
                        <a:latin typeface="Calibri" charset="0"/>
                        <a:ea typeface="Calibri" charset="0"/>
                        <a:cs typeface="Calibri" charset="0"/>
                      </a:endParaRPr>
                    </a:p>
                  </a:txBody>
                  <a:tcPr marL="91440" marR="91440" marT="45720" marB="45720" anchor="ctr">
                    <a:lnL w="9525" cap="flat" cmpd="sng" algn="ctr">
                      <a:solidFill>
                        <a:srgbClr val="D8E1EC"/>
                      </a:solidFill>
                      <a:prstDash val="solid"/>
                      <a:round/>
                      <a:headEnd type="none" w="med" len="med"/>
                      <a:tailEnd type="none" w="med" len="med"/>
                    </a:lnL>
                    <a:lnR w="9525" cap="flat" cmpd="sng" algn="ctr">
                      <a:solidFill>
                        <a:srgbClr val="D8E1EC"/>
                      </a:solidFill>
                      <a:prstDash val="solid"/>
                      <a:round/>
                      <a:headEnd type="none" w="med" len="med"/>
                      <a:tailEnd type="none" w="med" len="med"/>
                    </a:lnR>
                    <a:lnT w="9525" cap="flat" cmpd="sng" algn="ctr">
                      <a:solidFill>
                        <a:srgbClr val="D8E1EC"/>
                      </a:solidFill>
                      <a:prstDash val="solid"/>
                      <a:round/>
                      <a:headEnd type="none" w="med" len="med"/>
                      <a:tailEnd type="none" w="med" len="med"/>
                    </a:lnT>
                    <a:lnB w="9525" cap="flat" cmpd="sng" algn="ctr">
                      <a:solidFill>
                        <a:srgbClr val="D8E1EC"/>
                      </a:solidFill>
                      <a:prstDash val="solid"/>
                      <a:round/>
                      <a:headEnd type="none" w="med" len="med"/>
                      <a:tailEnd type="none" w="med" len="med"/>
                    </a:lnB>
                    <a:solidFill>
                      <a:srgbClr val="F4F7FB"/>
                    </a:solidFill>
                  </a:tcPr>
                </a:tc>
                <a:tc>
                  <a:txBody>
                    <a:bodyPr/>
                    <a:lstStyle/>
                    <a:p>
                      <a:pPr algn="l" indent="0" marL="0">
                        <a:buNone/>
                      </a:pPr>
                      <a:r>
                        <a:rPr lang="en-US" sz="1400" dirty="0">
                          <a:solidFill>
                            <a:srgbClr val="13233B"/>
                          </a:solidFill>
                          <a:latin typeface="Calibri" pitchFamily="34" charset="0"/>
                          <a:ea typeface="Calibri" pitchFamily="34" charset="-122"/>
                          <a:cs typeface="Calibri" pitchFamily="34" charset="-120"/>
                        </a:rPr>
                        <a:t>Register + constant offset</a:t>
                      </a:r>
                      <a:endParaRPr lang="en-US" sz="1400" dirty="0">
                        <a:latin typeface="Calibri" charset="0"/>
                        <a:ea typeface="Calibri" charset="0"/>
                        <a:cs typeface="Calibri" charset="0"/>
                      </a:endParaRPr>
                    </a:p>
                  </a:txBody>
                  <a:tcPr marL="91440" marR="91440" marT="45720" marB="45720" anchor="ctr">
                    <a:lnL w="9525" cap="flat" cmpd="sng" algn="ctr">
                      <a:solidFill>
                        <a:srgbClr val="D8E1EC"/>
                      </a:solidFill>
                      <a:prstDash val="solid"/>
                      <a:round/>
                      <a:headEnd type="none" w="med" len="med"/>
                      <a:tailEnd type="none" w="med" len="med"/>
                    </a:lnL>
                    <a:lnR w="9525" cap="flat" cmpd="sng" algn="ctr">
                      <a:solidFill>
                        <a:srgbClr val="D8E1EC"/>
                      </a:solidFill>
                      <a:prstDash val="solid"/>
                      <a:round/>
                      <a:headEnd type="none" w="med" len="med"/>
                      <a:tailEnd type="none" w="med" len="med"/>
                    </a:lnR>
                    <a:lnT w="9525" cap="flat" cmpd="sng" algn="ctr">
                      <a:solidFill>
                        <a:srgbClr val="D8E1EC"/>
                      </a:solidFill>
                      <a:prstDash val="solid"/>
                      <a:round/>
                      <a:headEnd type="none" w="med" len="med"/>
                      <a:tailEnd type="none" w="med" len="med"/>
                    </a:lnT>
                    <a:lnB w="9525" cap="flat" cmpd="sng" algn="ctr">
                      <a:solidFill>
                        <a:srgbClr val="D8E1EC"/>
                      </a:solidFill>
                      <a:prstDash val="solid"/>
                      <a:round/>
                      <a:headEnd type="none" w="med" len="med"/>
                      <a:tailEnd type="none" w="med" len="med"/>
                    </a:lnB>
                    <a:solidFill>
                      <a:srgbClr val="F4F7FB"/>
                    </a:solidFill>
                  </a:tcPr>
                </a:tc>
                <a:tc>
                  <a:txBody>
                    <a:bodyPr/>
                    <a:lstStyle/>
                    <a:p>
                      <a:pPr algn="l" indent="0" marL="0">
                        <a:buNone/>
                      </a:pPr>
                      <a:r>
                        <a:rPr lang="en-US" sz="1400" dirty="0">
                          <a:solidFill>
                            <a:srgbClr val="13233B"/>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91440" marR="91440" marT="45720" marB="45720" anchor="ctr">
                    <a:lnL w="9525" cap="flat" cmpd="sng" algn="ctr">
                      <a:solidFill>
                        <a:srgbClr val="D8E1EC"/>
                      </a:solidFill>
                      <a:prstDash val="solid"/>
                      <a:round/>
                      <a:headEnd type="none" w="med" len="med"/>
                      <a:tailEnd type="none" w="med" len="med"/>
                    </a:lnL>
                    <a:lnR w="9525" cap="flat" cmpd="sng" algn="ctr">
                      <a:solidFill>
                        <a:srgbClr val="D8E1EC"/>
                      </a:solidFill>
                      <a:prstDash val="solid"/>
                      <a:round/>
                      <a:headEnd type="none" w="med" len="med"/>
                      <a:tailEnd type="none" w="med" len="med"/>
                    </a:lnR>
                    <a:lnT w="9525" cap="flat" cmpd="sng" algn="ctr">
                      <a:solidFill>
                        <a:srgbClr val="D8E1EC"/>
                      </a:solidFill>
                      <a:prstDash val="solid"/>
                      <a:round/>
                      <a:headEnd type="none" w="med" len="med"/>
                      <a:tailEnd type="none" w="med" len="med"/>
                    </a:lnT>
                    <a:lnB w="9525" cap="flat" cmpd="sng" algn="ctr">
                      <a:solidFill>
                        <a:srgbClr val="D8E1EC"/>
                      </a:solidFill>
                      <a:prstDash val="solid"/>
                      <a:round/>
                      <a:headEnd type="none" w="med" len="med"/>
                      <a:tailEnd type="none" w="med" len="med"/>
                    </a:lnB>
                    <a:solidFill>
                      <a:srgbClr val="F4F7FB"/>
                    </a:solidFill>
                  </a:tcPr>
                </a:tc>
              </a:tr>
              <a:tr h="493776">
                <a:tc>
                  <a:txBody>
                    <a:bodyPr/>
                    <a:lstStyle/>
                    <a:p>
                      <a:pPr algn="l" indent="0" marL="0">
                        <a:buNone/>
                      </a:pPr>
                      <a:r>
                        <a:rPr lang="en-US" sz="1400" dirty="0">
                          <a:solidFill>
                            <a:srgbClr val="13233B"/>
                          </a:solidFill>
                          <a:latin typeface="Calibri" pitchFamily="34" charset="0"/>
                          <a:ea typeface="Calibri" pitchFamily="34" charset="-122"/>
                          <a:cs typeface="Calibri" pitchFamily="34" charset="-120"/>
                        </a:rPr>
                        <a:t>Indexed</a:t>
                      </a:r>
                      <a:endParaRPr lang="en-US" sz="1400" dirty="0">
                        <a:latin typeface="Calibri" charset="0"/>
                        <a:ea typeface="Calibri" charset="0"/>
                        <a:cs typeface="Calibri" charset="0"/>
                      </a:endParaRPr>
                    </a:p>
                  </a:txBody>
                  <a:tcPr marL="91440" marR="91440" marT="45720" marB="45720" anchor="ctr">
                    <a:lnL w="9525" cap="flat" cmpd="sng" algn="ctr">
                      <a:solidFill>
                        <a:srgbClr val="D8E1EC"/>
                      </a:solidFill>
                      <a:prstDash val="solid"/>
                      <a:round/>
                      <a:headEnd type="none" w="med" len="med"/>
                      <a:tailEnd type="none" w="med" len="med"/>
                    </a:lnL>
                    <a:lnR w="9525" cap="flat" cmpd="sng" algn="ctr">
                      <a:solidFill>
                        <a:srgbClr val="D8E1EC"/>
                      </a:solidFill>
                      <a:prstDash val="solid"/>
                      <a:round/>
                      <a:headEnd type="none" w="med" len="med"/>
                      <a:tailEnd type="none" w="med" len="med"/>
                    </a:lnR>
                    <a:lnT w="9525" cap="flat" cmpd="sng" algn="ctr">
                      <a:solidFill>
                        <a:srgbClr val="D8E1EC"/>
                      </a:solidFill>
                      <a:prstDash val="solid"/>
                      <a:round/>
                      <a:headEnd type="none" w="med" len="med"/>
                      <a:tailEnd type="none" w="med" len="med"/>
                    </a:lnT>
                    <a:lnB w="9525" cap="flat" cmpd="sng" algn="ctr">
                      <a:solidFill>
                        <a:srgbClr val="D8E1E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3233B"/>
                          </a:solidFill>
                          <a:latin typeface="Calibri" pitchFamily="34" charset="0"/>
                          <a:ea typeface="Calibri" pitchFamily="34" charset="-122"/>
                          <a:cs typeface="Calibri" pitchFamily="34" charset="-120"/>
                        </a:rPr>
                        <a:t>Base + index register</a:t>
                      </a:r>
                      <a:endParaRPr lang="en-US" sz="1400" dirty="0">
                        <a:latin typeface="Calibri" charset="0"/>
                        <a:ea typeface="Calibri" charset="0"/>
                        <a:cs typeface="Calibri" charset="0"/>
                      </a:endParaRPr>
                    </a:p>
                  </a:txBody>
                  <a:tcPr marL="91440" marR="91440" marT="45720" marB="45720" anchor="ctr">
                    <a:lnL w="9525" cap="flat" cmpd="sng" algn="ctr">
                      <a:solidFill>
                        <a:srgbClr val="D8E1EC"/>
                      </a:solidFill>
                      <a:prstDash val="solid"/>
                      <a:round/>
                      <a:headEnd type="none" w="med" len="med"/>
                      <a:tailEnd type="none" w="med" len="med"/>
                    </a:lnL>
                    <a:lnR w="9525" cap="flat" cmpd="sng" algn="ctr">
                      <a:solidFill>
                        <a:srgbClr val="D8E1EC"/>
                      </a:solidFill>
                      <a:prstDash val="solid"/>
                      <a:round/>
                      <a:headEnd type="none" w="med" len="med"/>
                      <a:tailEnd type="none" w="med" len="med"/>
                    </a:lnR>
                    <a:lnT w="9525" cap="flat" cmpd="sng" algn="ctr">
                      <a:solidFill>
                        <a:srgbClr val="D8E1EC"/>
                      </a:solidFill>
                      <a:prstDash val="solid"/>
                      <a:round/>
                      <a:headEnd type="none" w="med" len="med"/>
                      <a:tailEnd type="none" w="med" len="med"/>
                    </a:lnT>
                    <a:lnB w="9525" cap="flat" cmpd="sng" algn="ctr">
                      <a:solidFill>
                        <a:srgbClr val="D8E1E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3233B"/>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91440" marR="91440" marT="45720" marB="45720" anchor="ctr">
                    <a:lnL w="9525" cap="flat" cmpd="sng" algn="ctr">
                      <a:solidFill>
                        <a:srgbClr val="D8E1EC"/>
                      </a:solidFill>
                      <a:prstDash val="solid"/>
                      <a:round/>
                      <a:headEnd type="none" w="med" len="med"/>
                      <a:tailEnd type="none" w="med" len="med"/>
                    </a:lnL>
                    <a:lnR w="9525" cap="flat" cmpd="sng" algn="ctr">
                      <a:solidFill>
                        <a:srgbClr val="D8E1EC"/>
                      </a:solidFill>
                      <a:prstDash val="solid"/>
                      <a:round/>
                      <a:headEnd type="none" w="med" len="med"/>
                      <a:tailEnd type="none" w="med" len="med"/>
                    </a:lnR>
                    <a:lnT w="9525" cap="flat" cmpd="sng" algn="ctr">
                      <a:solidFill>
                        <a:srgbClr val="D8E1EC"/>
                      </a:solidFill>
                      <a:prstDash val="solid"/>
                      <a:round/>
                      <a:headEnd type="none" w="med" len="med"/>
                      <a:tailEnd type="none" w="med" len="med"/>
                    </a:lnT>
                    <a:lnB w="9525" cap="flat" cmpd="sng" algn="ctr">
                      <a:solidFill>
                        <a:srgbClr val="D8E1EC"/>
                      </a:solidFill>
                      <a:prstDash val="solid"/>
                      <a:round/>
                      <a:headEnd type="none" w="med" len="med"/>
                      <a:tailEnd type="none" w="med" len="med"/>
                    </a:lnB>
                    <a:solidFill>
                      <a:srgbClr val="FFFFFF"/>
                    </a:solidFill>
                  </a:tcPr>
                </a:tc>
              </a:tr>
              <a:tr h="493776">
                <a:tc>
                  <a:txBody>
                    <a:bodyPr/>
                    <a:lstStyle/>
                    <a:p>
                      <a:pPr algn="l" indent="0" marL="0">
                        <a:buNone/>
                      </a:pPr>
                      <a:r>
                        <a:rPr lang="en-US" sz="1400" dirty="0">
                          <a:solidFill>
                            <a:srgbClr val="13233B"/>
                          </a:solidFill>
                          <a:latin typeface="Calibri" pitchFamily="34" charset="0"/>
                          <a:ea typeface="Calibri" pitchFamily="34" charset="-122"/>
                          <a:cs typeface="Calibri" pitchFamily="34" charset="-120"/>
                        </a:rPr>
                        <a:t>Relative</a:t>
                      </a:r>
                      <a:endParaRPr lang="en-US" sz="1400" dirty="0">
                        <a:latin typeface="Calibri" charset="0"/>
                        <a:ea typeface="Calibri" charset="0"/>
                        <a:cs typeface="Calibri" charset="0"/>
                      </a:endParaRPr>
                    </a:p>
                  </a:txBody>
                  <a:tcPr marL="91440" marR="91440" marT="45720" marB="45720" anchor="ctr">
                    <a:lnL w="9525" cap="flat" cmpd="sng" algn="ctr">
                      <a:solidFill>
                        <a:srgbClr val="D8E1EC"/>
                      </a:solidFill>
                      <a:prstDash val="solid"/>
                      <a:round/>
                      <a:headEnd type="none" w="med" len="med"/>
                      <a:tailEnd type="none" w="med" len="med"/>
                    </a:lnL>
                    <a:lnR w="9525" cap="flat" cmpd="sng" algn="ctr">
                      <a:solidFill>
                        <a:srgbClr val="D8E1EC"/>
                      </a:solidFill>
                      <a:prstDash val="solid"/>
                      <a:round/>
                      <a:headEnd type="none" w="med" len="med"/>
                      <a:tailEnd type="none" w="med" len="med"/>
                    </a:lnR>
                    <a:lnT w="9525" cap="flat" cmpd="sng" algn="ctr">
                      <a:solidFill>
                        <a:srgbClr val="D8E1EC"/>
                      </a:solidFill>
                      <a:prstDash val="solid"/>
                      <a:round/>
                      <a:headEnd type="none" w="med" len="med"/>
                      <a:tailEnd type="none" w="med" len="med"/>
                    </a:lnT>
                    <a:lnB w="9525" cap="flat" cmpd="sng" algn="ctr">
                      <a:solidFill>
                        <a:srgbClr val="D8E1EC"/>
                      </a:solidFill>
                      <a:prstDash val="solid"/>
                      <a:round/>
                      <a:headEnd type="none" w="med" len="med"/>
                      <a:tailEnd type="none" w="med" len="med"/>
                    </a:lnB>
                    <a:solidFill>
                      <a:srgbClr val="F4F7FB"/>
                    </a:solidFill>
                  </a:tcPr>
                </a:tc>
                <a:tc>
                  <a:txBody>
                    <a:bodyPr/>
                    <a:lstStyle/>
                    <a:p>
                      <a:pPr algn="l" indent="0" marL="0">
                        <a:buNone/>
                      </a:pPr>
                      <a:r>
                        <a:rPr lang="en-US" sz="1400" dirty="0">
                          <a:solidFill>
                            <a:srgbClr val="13233B"/>
                          </a:solidFill>
                          <a:latin typeface="Calibri" pitchFamily="34" charset="0"/>
                          <a:ea typeface="Calibri" pitchFamily="34" charset="-122"/>
                          <a:cs typeface="Calibri" pitchFamily="34" charset="-120"/>
                        </a:rPr>
                        <a:t>PC + signed offset</a:t>
                      </a:r>
                      <a:endParaRPr lang="en-US" sz="1400" dirty="0">
                        <a:latin typeface="Calibri" charset="0"/>
                        <a:ea typeface="Calibri" charset="0"/>
                        <a:cs typeface="Calibri" charset="0"/>
                      </a:endParaRPr>
                    </a:p>
                  </a:txBody>
                  <a:tcPr marL="91440" marR="91440" marT="45720" marB="45720" anchor="ctr">
                    <a:lnL w="9525" cap="flat" cmpd="sng" algn="ctr">
                      <a:solidFill>
                        <a:srgbClr val="D8E1EC"/>
                      </a:solidFill>
                      <a:prstDash val="solid"/>
                      <a:round/>
                      <a:headEnd type="none" w="med" len="med"/>
                      <a:tailEnd type="none" w="med" len="med"/>
                    </a:lnL>
                    <a:lnR w="9525" cap="flat" cmpd="sng" algn="ctr">
                      <a:solidFill>
                        <a:srgbClr val="D8E1EC"/>
                      </a:solidFill>
                      <a:prstDash val="solid"/>
                      <a:round/>
                      <a:headEnd type="none" w="med" len="med"/>
                      <a:tailEnd type="none" w="med" len="med"/>
                    </a:lnR>
                    <a:lnT w="9525" cap="flat" cmpd="sng" algn="ctr">
                      <a:solidFill>
                        <a:srgbClr val="D8E1EC"/>
                      </a:solidFill>
                      <a:prstDash val="solid"/>
                      <a:round/>
                      <a:headEnd type="none" w="med" len="med"/>
                      <a:tailEnd type="none" w="med" len="med"/>
                    </a:lnT>
                    <a:lnB w="9525" cap="flat" cmpd="sng" algn="ctr">
                      <a:solidFill>
                        <a:srgbClr val="D8E1EC"/>
                      </a:solidFill>
                      <a:prstDash val="solid"/>
                      <a:round/>
                      <a:headEnd type="none" w="med" len="med"/>
                      <a:tailEnd type="none" w="med" len="med"/>
                    </a:lnB>
                    <a:solidFill>
                      <a:srgbClr val="F4F7FB"/>
                    </a:solidFill>
                  </a:tcPr>
                </a:tc>
                <a:tc>
                  <a:txBody>
                    <a:bodyPr/>
                    <a:lstStyle/>
                    <a:p>
                      <a:pPr algn="l" indent="0" marL="0">
                        <a:buNone/>
                      </a:pPr>
                      <a:r>
                        <a:rPr lang="en-US" sz="1400" dirty="0">
                          <a:solidFill>
                            <a:srgbClr val="13233B"/>
                          </a:solidFill>
                          <a:latin typeface="Calibri" pitchFamily="34" charset="0"/>
                          <a:ea typeface="Calibri" pitchFamily="34" charset="-122"/>
                          <a:cs typeface="Calibri" pitchFamily="34" charset="-120"/>
                        </a:rPr>
                        <a:t>1 (for branches)</a:t>
                      </a:r>
                      <a:endParaRPr lang="en-US" sz="1400" dirty="0">
                        <a:latin typeface="Calibri" charset="0"/>
                        <a:ea typeface="Calibri" charset="0"/>
                        <a:cs typeface="Calibri" charset="0"/>
                      </a:endParaRPr>
                    </a:p>
                  </a:txBody>
                  <a:tcPr marL="91440" marR="91440" marT="45720" marB="45720" anchor="ctr">
                    <a:lnL w="9525" cap="flat" cmpd="sng" algn="ctr">
                      <a:solidFill>
                        <a:srgbClr val="D8E1EC"/>
                      </a:solidFill>
                      <a:prstDash val="solid"/>
                      <a:round/>
                      <a:headEnd type="none" w="med" len="med"/>
                      <a:tailEnd type="none" w="med" len="med"/>
                    </a:lnL>
                    <a:lnR w="9525" cap="flat" cmpd="sng" algn="ctr">
                      <a:solidFill>
                        <a:srgbClr val="D8E1EC"/>
                      </a:solidFill>
                      <a:prstDash val="solid"/>
                      <a:round/>
                      <a:headEnd type="none" w="med" len="med"/>
                      <a:tailEnd type="none" w="med" len="med"/>
                    </a:lnR>
                    <a:lnT w="9525" cap="flat" cmpd="sng" algn="ctr">
                      <a:solidFill>
                        <a:srgbClr val="D8E1EC"/>
                      </a:solidFill>
                      <a:prstDash val="solid"/>
                      <a:round/>
                      <a:headEnd type="none" w="med" len="med"/>
                      <a:tailEnd type="none" w="med" len="med"/>
                    </a:lnT>
                    <a:lnB w="9525" cap="flat" cmpd="sng" algn="ctr">
                      <a:solidFill>
                        <a:srgbClr val="D8E1EC"/>
                      </a:solidFill>
                      <a:prstDash val="solid"/>
                      <a:round/>
                      <a:headEnd type="none" w="med" len="med"/>
                      <a:tailEnd type="none" w="med" len="med"/>
                    </a:lnB>
                    <a:solidFill>
                      <a:srgbClr val="F4F7FB"/>
                    </a:solidFill>
                  </a:tcPr>
                </a:tc>
              </a:tr>
              <a:tr h="493776">
                <a:tc>
                  <a:txBody>
                    <a:bodyPr/>
                    <a:lstStyle/>
                    <a:p>
                      <a:pPr algn="l" indent="0" marL="0">
                        <a:buNone/>
                      </a:pPr>
                      <a:r>
                        <a:rPr lang="en-US" sz="1400" dirty="0">
                          <a:solidFill>
                            <a:srgbClr val="13233B"/>
                          </a:solidFill>
                          <a:latin typeface="Calibri" pitchFamily="34" charset="0"/>
                          <a:ea typeface="Calibri" pitchFamily="34" charset="-122"/>
                          <a:cs typeface="Calibri" pitchFamily="34" charset="-120"/>
                        </a:rPr>
                        <a:t>Auto-Inc/Dec</a:t>
                      </a:r>
                      <a:endParaRPr lang="en-US" sz="1400" dirty="0">
                        <a:latin typeface="Calibri" charset="0"/>
                        <a:ea typeface="Calibri" charset="0"/>
                        <a:cs typeface="Calibri" charset="0"/>
                      </a:endParaRPr>
                    </a:p>
                  </a:txBody>
                  <a:tcPr marL="91440" marR="91440" marT="45720" marB="45720" anchor="ctr">
                    <a:lnL w="9525" cap="flat" cmpd="sng" algn="ctr">
                      <a:solidFill>
                        <a:srgbClr val="D8E1EC"/>
                      </a:solidFill>
                      <a:prstDash val="solid"/>
                      <a:round/>
                      <a:headEnd type="none" w="med" len="med"/>
                      <a:tailEnd type="none" w="med" len="med"/>
                    </a:lnL>
                    <a:lnR w="9525" cap="flat" cmpd="sng" algn="ctr">
                      <a:solidFill>
                        <a:srgbClr val="D8E1EC"/>
                      </a:solidFill>
                      <a:prstDash val="solid"/>
                      <a:round/>
                      <a:headEnd type="none" w="med" len="med"/>
                      <a:tailEnd type="none" w="med" len="med"/>
                    </a:lnR>
                    <a:lnT w="9525" cap="flat" cmpd="sng" algn="ctr">
                      <a:solidFill>
                        <a:srgbClr val="D8E1EC"/>
                      </a:solidFill>
                      <a:prstDash val="solid"/>
                      <a:round/>
                      <a:headEnd type="none" w="med" len="med"/>
                      <a:tailEnd type="none" w="med" len="med"/>
                    </a:lnT>
                    <a:lnB w="9525" cap="flat" cmpd="sng" algn="ctr">
                      <a:solidFill>
                        <a:srgbClr val="D8E1E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3233B"/>
                          </a:solidFill>
                          <a:latin typeface="Calibri" pitchFamily="34" charset="0"/>
                          <a:ea typeface="Calibri" pitchFamily="34" charset="-122"/>
                          <a:cs typeface="Calibri" pitchFamily="34" charset="-120"/>
                        </a:rPr>
                        <a:t>Register (self-updating)</a:t>
                      </a:r>
                      <a:endParaRPr lang="en-US" sz="1400" dirty="0">
                        <a:latin typeface="Calibri" charset="0"/>
                        <a:ea typeface="Calibri" charset="0"/>
                        <a:cs typeface="Calibri" charset="0"/>
                      </a:endParaRPr>
                    </a:p>
                  </a:txBody>
                  <a:tcPr marL="91440" marR="91440" marT="45720" marB="45720" anchor="ctr">
                    <a:lnL w="9525" cap="flat" cmpd="sng" algn="ctr">
                      <a:solidFill>
                        <a:srgbClr val="D8E1EC"/>
                      </a:solidFill>
                      <a:prstDash val="solid"/>
                      <a:round/>
                      <a:headEnd type="none" w="med" len="med"/>
                      <a:tailEnd type="none" w="med" len="med"/>
                    </a:lnL>
                    <a:lnR w="9525" cap="flat" cmpd="sng" algn="ctr">
                      <a:solidFill>
                        <a:srgbClr val="D8E1EC"/>
                      </a:solidFill>
                      <a:prstDash val="solid"/>
                      <a:round/>
                      <a:headEnd type="none" w="med" len="med"/>
                      <a:tailEnd type="none" w="med" len="med"/>
                    </a:lnR>
                    <a:lnT w="9525" cap="flat" cmpd="sng" algn="ctr">
                      <a:solidFill>
                        <a:srgbClr val="D8E1EC"/>
                      </a:solidFill>
                      <a:prstDash val="solid"/>
                      <a:round/>
                      <a:headEnd type="none" w="med" len="med"/>
                      <a:tailEnd type="none" w="med" len="med"/>
                    </a:lnT>
                    <a:lnB w="9525" cap="flat" cmpd="sng" algn="ctr">
                      <a:solidFill>
                        <a:srgbClr val="D8E1E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3233B"/>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91440" marR="91440" marT="45720" marB="45720" anchor="ctr">
                    <a:lnL w="9525" cap="flat" cmpd="sng" algn="ctr">
                      <a:solidFill>
                        <a:srgbClr val="D8E1EC"/>
                      </a:solidFill>
                      <a:prstDash val="solid"/>
                      <a:round/>
                      <a:headEnd type="none" w="med" len="med"/>
                      <a:tailEnd type="none" w="med" len="med"/>
                    </a:lnL>
                    <a:lnR w="9525" cap="flat" cmpd="sng" algn="ctr">
                      <a:solidFill>
                        <a:srgbClr val="D8E1EC"/>
                      </a:solidFill>
                      <a:prstDash val="solid"/>
                      <a:round/>
                      <a:headEnd type="none" w="med" len="med"/>
                      <a:tailEnd type="none" w="med" len="med"/>
                    </a:lnR>
                    <a:lnT w="9525" cap="flat" cmpd="sng" algn="ctr">
                      <a:solidFill>
                        <a:srgbClr val="D8E1EC"/>
                      </a:solidFill>
                      <a:prstDash val="solid"/>
                      <a:round/>
                      <a:headEnd type="none" w="med" len="med"/>
                      <a:tailEnd type="none" w="med" len="med"/>
                    </a:lnT>
                    <a:lnB w="9525" cap="flat" cmpd="sng" algn="ctr">
                      <a:solidFill>
                        <a:srgbClr val="D8E1EC"/>
                      </a:solidFill>
                      <a:prstDash val="solid"/>
                      <a:round/>
                      <a:headEnd type="none" w="med" len="med"/>
                      <a:tailEnd type="none" w="med" len="med"/>
                    </a:lnB>
                    <a:solidFill>
                      <a:srgbClr val="FFFFFF"/>
                    </a:solidFill>
                  </a:tcPr>
                </a:tc>
              </a:tr>
            </a:tbl>
          </a:graphicData>
        </a:graphic>
      </p:graphicFrame>
      <p:sp>
        <p:nvSpPr>
          <p:cNvPr id="6" name="Text 2"/>
          <p:cNvSpPr txBox="1"/>
          <p:nvPr/>
        </p:nvSpPr>
        <p:spPr>
          <a:xfrm>
            <a:off x="457200" y="6492240"/>
            <a:ext cx="8686800" cy="274320"/>
          </a:xfrm>
          <a:prstGeom prst="rect">
            <a:avLst/>
          </a:prstGeom>
          <a:noFill/>
          <a:ln/>
        </p:spPr>
        <p:txBody>
          <a:bodyPr wrap="square" lIns="0" tIns="0" rIns="0" bIns="0" rtlCol="0" anchor="ctr"/>
          <a:lstStyle/>
          <a:p>
            <a:pPr algn="l" indent="0" marL="0">
              <a:buNone/>
            </a:pPr>
            <a:r>
              <a:rPr lang="en-US" sz="1000" dirty="0">
                <a:solidFill>
                  <a:srgbClr val="4A5A72"/>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1000" dirty="0"/>
          </a:p>
        </p:txBody>
      </p:sp>
      <p:sp>
        <p:nvSpPr>
          <p:cNvPr id="7" name="Text 3"/>
          <p:cNvSpPr txBox="1"/>
          <p:nvPr/>
        </p:nvSpPr>
        <p:spPr>
          <a:xfrm>
            <a:off x="11274552" y="6492240"/>
            <a:ext cx="457200" cy="274320"/>
          </a:xfrm>
          <a:prstGeom prst="rect">
            <a:avLst/>
          </a:prstGeom>
          <a:noFill/>
          <a:ln/>
        </p:spPr>
        <p:txBody>
          <a:bodyPr wrap="square" lIns="0" tIns="0" rIns="0" bIns="0" rtlCol="0" anchor="ctr"/>
          <a:lstStyle/>
          <a:p>
            <a:pPr algn="r" indent="0" marL="0">
              <a:buNone/>
            </a:pPr>
            <a:r>
              <a:rPr lang="en-US" sz="1000" dirty="0">
                <a:solidFill>
                  <a:srgbClr val="4A5A72"/>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1E3D"/>
          </a:solidFill>
          <a:ln/>
        </p:spPr>
      </p:sp>
      <p:pic>
        <p:nvPicPr>
          <p:cNvPr id="3" name="Image 0" descr="preencoded.png">    </p:cNvPr>
          <p:cNvPicPr>
            <a:picLocks noChangeAspect="1"/>
          </p:cNvPicPr>
          <p:nvPr/>
        </p:nvPicPr>
        <p:blipFill>
          <a:blip r:embed="rId1"/>
          <a:stretch>
            <a:fillRect/>
          </a:stretch>
        </p:blipFill>
        <p:spPr>
          <a:xfrm>
            <a:off x="548640" y="256032"/>
            <a:ext cx="548640" cy="548640"/>
          </a:xfrm>
          <a:prstGeom prst="rect">
            <a:avLst/>
          </a:prstGeom>
        </p:spPr>
      </p:pic>
      <p:sp>
        <p:nvSpPr>
          <p:cNvPr id="4" name="Text 1"/>
          <p:cNvSpPr txBox="1"/>
          <p:nvPr/>
        </p:nvSpPr>
        <p:spPr>
          <a:xfrm>
            <a:off x="1280160" y="182880"/>
            <a:ext cx="10241280" cy="7315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Addressing Modes in Real Processors</a:t>
            </a:r>
            <a:endParaRPr lang="en-US" sz="2800" dirty="0"/>
          </a:p>
        </p:txBody>
      </p:sp>
      <p:sp>
        <p:nvSpPr>
          <p:cNvPr id="5" name="Text 2"/>
          <p:cNvSpPr txBox="1"/>
          <p:nvPr/>
        </p:nvSpPr>
        <p:spPr>
          <a:xfrm>
            <a:off x="822960" y="1463040"/>
            <a:ext cx="10515600" cy="4754880"/>
          </a:xfrm>
          <a:prstGeom prst="rect">
            <a:avLst/>
          </a:prstGeom>
          <a:noFill/>
          <a:ln/>
        </p:spPr>
        <p:txBody>
          <a:bodyPr wrap="square" lIns="0" tIns="0" rIns="0" bIns="0" rtlCol="0" anchor="t"/>
          <a:lstStyle/>
          <a:p>
            <a:pPr marL="228600" indent="-228600">
              <a:lnSpc>
                <a:spcPct val="115000"/>
              </a:lnSpc>
              <a:spcAft>
                <a:spcPts val="1600"/>
              </a:spcAft>
              <a:buSzPct val="100000"/>
              <a:buChar char="•"/>
            </a:pPr>
            <a:r>
              <a:rPr lang="en-US" sz="2000" dirty="0">
                <a:solidFill>
                  <a:srgbClr val="13233B"/>
                </a:solidFill>
                <a:latin typeface="Calibri" pitchFamily="34" charset="0"/>
                <a:ea typeface="Calibri" pitchFamily="34" charset="-122"/>
                <a:cs typeface="Calibri" pitchFamily="34" charset="-120"/>
              </a:rPr>
              <a:t>x86 (Intel/AMD): rich set including base+index+displacement in a single instruction — e.g., MOV EAX, [EBX+ECX*4+8]</a:t>
            </a:r>
            <a:endParaRPr lang="en-US" sz="2000" dirty="0"/>
          </a:p>
          <a:p>
            <a:pPr marL="228600" indent="-228600">
              <a:lnSpc>
                <a:spcPct val="115000"/>
              </a:lnSpc>
              <a:spcAft>
                <a:spcPts val="1600"/>
              </a:spcAft>
              <a:buSzPct val="100000"/>
              <a:buChar char="•"/>
            </a:pPr>
            <a:r>
              <a:rPr lang="en-US" sz="2000" dirty="0">
                <a:solidFill>
                  <a:srgbClr val="13233B"/>
                </a:solidFill>
                <a:latin typeface="Calibri" pitchFamily="34" charset="0"/>
                <a:ea typeface="Calibri" pitchFamily="34" charset="-122"/>
                <a:cs typeface="Calibri" pitchFamily="34" charset="-120"/>
              </a:rPr>
              <a:t>ARM (your smartphone, Raspberry Pi): register, immediate, and register-indirect with auto-increment, tuned for low power</a:t>
            </a:r>
            <a:endParaRPr lang="en-US" sz="2000" dirty="0"/>
          </a:p>
          <a:p>
            <a:pPr marL="228600" indent="-228600">
              <a:lnSpc>
                <a:spcPct val="115000"/>
              </a:lnSpc>
              <a:spcAft>
                <a:spcPts val="1600"/>
              </a:spcAft>
              <a:buSzPct val="100000"/>
              <a:buChar char="•"/>
            </a:pPr>
            <a:r>
              <a:rPr lang="en-US" sz="2000" dirty="0">
                <a:solidFill>
                  <a:srgbClr val="13233B"/>
                </a:solidFill>
                <a:latin typeface="Calibri" pitchFamily="34" charset="0"/>
                <a:ea typeface="Calibri" pitchFamily="34" charset="-122"/>
                <a:cs typeface="Calibri" pitchFamily="34" charset="-120"/>
              </a:rPr>
              <a:t>RISC-V (modern open ISA, used in many IoT and embedded devices): deliberately minimal set — mostly register and displacement — to keep hardware simple and fast</a:t>
            </a:r>
            <a:endParaRPr lang="en-US" sz="2000" dirty="0"/>
          </a:p>
          <a:p>
            <a:pPr marL="228600" indent="-228600">
              <a:lnSpc>
                <a:spcPct val="115000"/>
              </a:lnSpc>
              <a:spcAft>
                <a:spcPts val="1600"/>
              </a:spcAft>
              <a:buSzPct val="100000"/>
              <a:buChar char="•"/>
            </a:pPr>
            <a:r>
              <a:rPr lang="en-US" sz="2000" dirty="0">
                <a:solidFill>
                  <a:srgbClr val="13233B"/>
                </a:solidFill>
                <a:latin typeface="Calibri" pitchFamily="34" charset="0"/>
                <a:ea typeface="Calibri" pitchFamily="34" charset="-122"/>
                <a:cs typeface="Calibri" pitchFamily="34" charset="-120"/>
              </a:rPr>
              <a:t>Fewer, simpler addressing modes generally mean simpler, faster hardware — a core RISC design philosophy</a:t>
            </a:r>
            <a:endParaRPr lang="en-US" sz="2000" dirty="0"/>
          </a:p>
        </p:txBody>
      </p:sp>
      <p:sp>
        <p:nvSpPr>
          <p:cNvPr id="6" name="Text 3"/>
          <p:cNvSpPr txBox="1"/>
          <p:nvPr/>
        </p:nvSpPr>
        <p:spPr>
          <a:xfrm>
            <a:off x="457200" y="6492240"/>
            <a:ext cx="8686800" cy="274320"/>
          </a:xfrm>
          <a:prstGeom prst="rect">
            <a:avLst/>
          </a:prstGeom>
          <a:noFill/>
          <a:ln/>
        </p:spPr>
        <p:txBody>
          <a:bodyPr wrap="square" lIns="0" tIns="0" rIns="0" bIns="0" rtlCol="0" anchor="ctr"/>
          <a:lstStyle/>
          <a:p>
            <a:pPr algn="l" indent="0" marL="0">
              <a:buNone/>
            </a:pPr>
            <a:r>
              <a:rPr lang="en-US" sz="1000" dirty="0">
                <a:solidFill>
                  <a:srgbClr val="4A5A72"/>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1000" dirty="0"/>
          </a:p>
        </p:txBody>
      </p:sp>
      <p:sp>
        <p:nvSpPr>
          <p:cNvPr id="7" name="Text 4"/>
          <p:cNvSpPr txBox="1"/>
          <p:nvPr/>
        </p:nvSpPr>
        <p:spPr>
          <a:xfrm>
            <a:off x="11274552" y="6492240"/>
            <a:ext cx="457200" cy="274320"/>
          </a:xfrm>
          <a:prstGeom prst="rect">
            <a:avLst/>
          </a:prstGeom>
          <a:noFill/>
          <a:ln/>
        </p:spPr>
        <p:txBody>
          <a:bodyPr wrap="square" lIns="0" tIns="0" rIns="0" bIns="0" rtlCol="0" anchor="ctr"/>
          <a:lstStyle/>
          <a:p>
            <a:pPr algn="r" indent="0" marL="0">
              <a:buNone/>
            </a:pPr>
            <a:r>
              <a:rPr lang="en-US" sz="1000" dirty="0">
                <a:solidFill>
                  <a:srgbClr val="4A5A72"/>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1E3D"/>
          </a:solidFill>
          <a:ln/>
        </p:spPr>
      </p:sp>
      <p:pic>
        <p:nvPicPr>
          <p:cNvPr id="3" name="Image 0" descr="preencoded.png">    </p:cNvPr>
          <p:cNvPicPr>
            <a:picLocks noChangeAspect="1"/>
          </p:cNvPicPr>
          <p:nvPr/>
        </p:nvPicPr>
        <p:blipFill>
          <a:blip r:embed="rId1"/>
          <a:stretch>
            <a:fillRect/>
          </a:stretch>
        </p:blipFill>
        <p:spPr>
          <a:xfrm>
            <a:off x="548640" y="256032"/>
            <a:ext cx="548640" cy="548640"/>
          </a:xfrm>
          <a:prstGeom prst="rect">
            <a:avLst/>
          </a:prstGeom>
        </p:spPr>
      </p:pic>
      <p:sp>
        <p:nvSpPr>
          <p:cNvPr id="4" name="Text 1"/>
          <p:cNvSpPr txBox="1"/>
          <p:nvPr/>
        </p:nvSpPr>
        <p:spPr>
          <a:xfrm>
            <a:off x="1280160" y="182880"/>
            <a:ext cx="10241280" cy="7315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Worked Example 1: Direct Addressing</a:t>
            </a:r>
            <a:endParaRPr lang="en-US" sz="2600" dirty="0"/>
          </a:p>
        </p:txBody>
      </p:sp>
      <p:sp>
        <p:nvSpPr>
          <p:cNvPr id="5" name="Shape 2"/>
          <p:cNvSpPr/>
          <p:nvPr/>
        </p:nvSpPr>
        <p:spPr>
          <a:xfrm>
            <a:off x="640080" y="1280160"/>
            <a:ext cx="10881360" cy="777240"/>
          </a:xfrm>
          <a:prstGeom prst="roundRect">
            <a:avLst>
              <a:gd name="adj" fmla="val 7059"/>
            </a:avLst>
          </a:prstGeom>
          <a:solidFill>
            <a:srgbClr val="F4F7FB"/>
          </a:solidFill>
          <a:ln w="12700">
            <a:solidFill>
              <a:srgbClr val="D8E1EC"/>
            </a:solidFill>
            <a:prstDash val="solid"/>
          </a:ln>
        </p:spPr>
      </p:sp>
      <p:sp>
        <p:nvSpPr>
          <p:cNvPr id="6" name="Text 3"/>
          <p:cNvSpPr txBox="1"/>
          <p:nvPr/>
        </p:nvSpPr>
        <p:spPr>
          <a:xfrm>
            <a:off x="868680" y="1280160"/>
            <a:ext cx="10424160" cy="777240"/>
          </a:xfrm>
          <a:prstGeom prst="rect">
            <a:avLst/>
          </a:prstGeom>
          <a:noFill/>
          <a:ln/>
        </p:spPr>
        <p:txBody>
          <a:bodyPr wrap="square" lIns="0" tIns="0" rIns="0" bIns="0" rtlCol="0" anchor="ctr"/>
          <a:lstStyle/>
          <a:p>
            <a:pPr indent="0" marL="0">
              <a:buNone/>
            </a:pPr>
            <a:r>
              <a:rPr lang="en-US" sz="1600" b="1" dirty="0">
                <a:solidFill>
                  <a:srgbClr val="0B1E3D"/>
                </a:solidFill>
                <a:latin typeface="Calibri" pitchFamily="34" charset="0"/>
                <a:ea typeface="Calibri" pitchFamily="34" charset="-122"/>
                <a:cs typeface="Calibri" pitchFamily="34" charset="-120"/>
              </a:rPr>
              <a:t>Problem: </a:t>
            </a:r>
            <a:pPr indent="0" marL="0">
              <a:buNone/>
            </a:pPr>
            <a:r>
              <a:rPr lang="en-US" sz="1600" dirty="0">
                <a:solidFill>
                  <a:srgbClr val="13233B"/>
                </a:solidFill>
                <a:latin typeface="Calibri" pitchFamily="34" charset="0"/>
                <a:ea typeface="Calibri" pitchFamily="34" charset="-122"/>
                <a:cs typeface="Calibri" pitchFamily="34" charset="-120"/>
              </a:rPr>
              <a:t>Given: MOV R1, 2000, and Memory[2000] = 47. Find the value loaded into R1.</a:t>
            </a:r>
            <a:endParaRPr lang="en-US" sz="1600" dirty="0"/>
          </a:p>
        </p:txBody>
      </p:sp>
      <p:sp>
        <p:nvSpPr>
          <p:cNvPr id="7" name="Text 4"/>
          <p:cNvSpPr txBox="1"/>
          <p:nvPr/>
        </p:nvSpPr>
        <p:spPr>
          <a:xfrm>
            <a:off x="868680" y="2286000"/>
            <a:ext cx="10424160" cy="3931920"/>
          </a:xfrm>
          <a:prstGeom prst="rect">
            <a:avLst/>
          </a:prstGeom>
          <a:noFill/>
          <a:ln/>
        </p:spPr>
        <p:txBody>
          <a:bodyPr wrap="square" lIns="0" tIns="0" rIns="0" bIns="0" rtlCol="0" anchor="t"/>
          <a:lstStyle/>
          <a:p>
            <a:pPr marL="254000" indent="-254000">
              <a:lnSpc>
                <a:spcPct val="112000"/>
              </a:lnSpc>
              <a:spcAft>
                <a:spcPts val="1400"/>
              </a:spcAft>
              <a:buSzPct val="100000"/>
              <a:buChar char="➤"/>
            </a:pPr>
            <a:r>
              <a:rPr lang="en-US" sz="1800" dirty="0">
                <a:solidFill>
                  <a:srgbClr val="13233B"/>
                </a:solidFill>
                <a:latin typeface="Calibri" pitchFamily="34" charset="0"/>
                <a:ea typeface="Calibri" pitchFamily="34" charset="-122"/>
                <a:cs typeface="Calibri" pitchFamily="34" charset="-120"/>
              </a:rPr>
              <a:t>Step 1 — Identify the addressing mode: the operand field "2000" is a plain address → this is Direct Addressing.</a:t>
            </a:r>
            <a:endParaRPr lang="en-US" sz="1800" dirty="0"/>
          </a:p>
          <a:p>
            <a:pPr marL="254000" indent="-254000">
              <a:lnSpc>
                <a:spcPct val="112000"/>
              </a:lnSpc>
              <a:spcAft>
                <a:spcPts val="1400"/>
              </a:spcAft>
              <a:buSzPct val="100000"/>
              <a:buChar char="➤"/>
            </a:pPr>
            <a:r>
              <a:rPr lang="en-US" sz="1800" dirty="0">
                <a:solidFill>
                  <a:srgbClr val="13233B"/>
                </a:solidFill>
                <a:latin typeface="Calibri" pitchFamily="34" charset="0"/>
                <a:ea typeface="Calibri" pitchFamily="34" charset="-122"/>
                <a:cs typeface="Calibri" pitchFamily="34" charset="-120"/>
              </a:rPr>
              <a:t>Step 2 — Effective Address (EA) = 2000 (the address is used exactly as written, no adjustment).</a:t>
            </a:r>
            <a:endParaRPr lang="en-US" sz="1800" dirty="0"/>
          </a:p>
          <a:p>
            <a:pPr marL="254000" indent="-254000">
              <a:lnSpc>
                <a:spcPct val="112000"/>
              </a:lnSpc>
              <a:spcAft>
                <a:spcPts val="1400"/>
              </a:spcAft>
              <a:buSzPct val="100000"/>
              <a:buChar char="➤"/>
            </a:pPr>
            <a:r>
              <a:rPr lang="en-US" sz="1800" dirty="0">
                <a:solidFill>
                  <a:srgbClr val="13233B"/>
                </a:solidFill>
                <a:latin typeface="Calibri" pitchFamily="34" charset="0"/>
                <a:ea typeface="Calibri" pitchFamily="34" charset="-122"/>
                <a:cs typeface="Calibri" pitchFamily="34" charset="-120"/>
              </a:rPr>
              <a:t>Step 3 — Fetch the operand: read the value stored at Memory[2000].</a:t>
            </a:r>
            <a:endParaRPr lang="en-US" sz="1800" dirty="0"/>
          </a:p>
          <a:p>
            <a:pPr marL="254000" indent="-254000">
              <a:lnSpc>
                <a:spcPct val="112000"/>
              </a:lnSpc>
              <a:spcAft>
                <a:spcPts val="1400"/>
              </a:spcAft>
              <a:buSzPct val="100000"/>
              <a:buChar char="➤"/>
            </a:pPr>
            <a:r>
              <a:rPr lang="en-US" sz="1800" dirty="0">
                <a:solidFill>
                  <a:srgbClr val="13233B"/>
                </a:solidFill>
                <a:latin typeface="Calibri" pitchFamily="34" charset="0"/>
                <a:ea typeface="Calibri" pitchFamily="34" charset="-122"/>
                <a:cs typeface="Calibri" pitchFamily="34" charset="-120"/>
              </a:rPr>
              <a:t>Step 4 — Memory[2000] = 47, so R1 = 47 after execution.</a:t>
            </a:r>
            <a:endParaRPr lang="en-US" sz="1800" dirty="0"/>
          </a:p>
        </p:txBody>
      </p:sp>
      <p:sp>
        <p:nvSpPr>
          <p:cNvPr id="8" name="Text 5"/>
          <p:cNvSpPr txBox="1"/>
          <p:nvPr/>
        </p:nvSpPr>
        <p:spPr>
          <a:xfrm>
            <a:off x="457200" y="6492240"/>
            <a:ext cx="8686800" cy="274320"/>
          </a:xfrm>
          <a:prstGeom prst="rect">
            <a:avLst/>
          </a:prstGeom>
          <a:noFill/>
          <a:ln/>
        </p:spPr>
        <p:txBody>
          <a:bodyPr wrap="square" lIns="0" tIns="0" rIns="0" bIns="0" rtlCol="0" anchor="ctr"/>
          <a:lstStyle/>
          <a:p>
            <a:pPr algn="l" indent="0" marL="0">
              <a:buNone/>
            </a:pPr>
            <a:r>
              <a:rPr lang="en-US" sz="1000" dirty="0">
                <a:solidFill>
                  <a:srgbClr val="4A5A72"/>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1000" dirty="0"/>
          </a:p>
        </p:txBody>
      </p:sp>
      <p:sp>
        <p:nvSpPr>
          <p:cNvPr id="9" name="Text 6"/>
          <p:cNvSpPr txBox="1"/>
          <p:nvPr/>
        </p:nvSpPr>
        <p:spPr>
          <a:xfrm>
            <a:off x="11274552" y="6492240"/>
            <a:ext cx="457200" cy="274320"/>
          </a:xfrm>
          <a:prstGeom prst="rect">
            <a:avLst/>
          </a:prstGeom>
          <a:noFill/>
          <a:ln/>
        </p:spPr>
        <p:txBody>
          <a:bodyPr wrap="square" lIns="0" tIns="0" rIns="0" bIns="0" rtlCol="0" anchor="ctr"/>
          <a:lstStyle/>
          <a:p>
            <a:pPr algn="r" indent="0" marL="0">
              <a:buNone/>
            </a:pPr>
            <a:r>
              <a:rPr lang="en-US" sz="1000" dirty="0">
                <a:solidFill>
                  <a:srgbClr val="4A5A72"/>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1E3D"/>
          </a:solidFill>
          <a:ln/>
        </p:spPr>
      </p:sp>
      <p:pic>
        <p:nvPicPr>
          <p:cNvPr id="3" name="Image 0" descr="preencoded.png">    </p:cNvPr>
          <p:cNvPicPr>
            <a:picLocks noChangeAspect="1"/>
          </p:cNvPicPr>
          <p:nvPr/>
        </p:nvPicPr>
        <p:blipFill>
          <a:blip r:embed="rId1"/>
          <a:stretch>
            <a:fillRect/>
          </a:stretch>
        </p:blipFill>
        <p:spPr>
          <a:xfrm>
            <a:off x="548640" y="256032"/>
            <a:ext cx="548640" cy="548640"/>
          </a:xfrm>
          <a:prstGeom prst="rect">
            <a:avLst/>
          </a:prstGeom>
        </p:spPr>
      </p:pic>
      <p:sp>
        <p:nvSpPr>
          <p:cNvPr id="4" name="Text 1"/>
          <p:cNvSpPr txBox="1"/>
          <p:nvPr/>
        </p:nvSpPr>
        <p:spPr>
          <a:xfrm>
            <a:off x="1280160" y="182880"/>
            <a:ext cx="10241280" cy="7315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Worked Example 2: Indirect Addressing</a:t>
            </a:r>
            <a:endParaRPr lang="en-US" sz="2600" dirty="0"/>
          </a:p>
        </p:txBody>
      </p:sp>
      <p:sp>
        <p:nvSpPr>
          <p:cNvPr id="5" name="Shape 2"/>
          <p:cNvSpPr/>
          <p:nvPr/>
        </p:nvSpPr>
        <p:spPr>
          <a:xfrm>
            <a:off x="640080" y="1280160"/>
            <a:ext cx="10881360" cy="777240"/>
          </a:xfrm>
          <a:prstGeom prst="roundRect">
            <a:avLst>
              <a:gd name="adj" fmla="val 7059"/>
            </a:avLst>
          </a:prstGeom>
          <a:solidFill>
            <a:srgbClr val="F4F7FB"/>
          </a:solidFill>
          <a:ln w="12700">
            <a:solidFill>
              <a:srgbClr val="D8E1EC"/>
            </a:solidFill>
            <a:prstDash val="solid"/>
          </a:ln>
        </p:spPr>
      </p:sp>
      <p:sp>
        <p:nvSpPr>
          <p:cNvPr id="6" name="Text 3"/>
          <p:cNvSpPr txBox="1"/>
          <p:nvPr/>
        </p:nvSpPr>
        <p:spPr>
          <a:xfrm>
            <a:off x="868680" y="1280160"/>
            <a:ext cx="10424160" cy="777240"/>
          </a:xfrm>
          <a:prstGeom prst="rect">
            <a:avLst/>
          </a:prstGeom>
          <a:noFill/>
          <a:ln/>
        </p:spPr>
        <p:txBody>
          <a:bodyPr wrap="square" lIns="0" tIns="0" rIns="0" bIns="0" rtlCol="0" anchor="ctr"/>
          <a:lstStyle/>
          <a:p>
            <a:pPr indent="0" marL="0">
              <a:buNone/>
            </a:pPr>
            <a:r>
              <a:rPr lang="en-US" sz="1600" b="1" dirty="0">
                <a:solidFill>
                  <a:srgbClr val="0B1E3D"/>
                </a:solidFill>
                <a:latin typeface="Calibri" pitchFamily="34" charset="0"/>
                <a:ea typeface="Calibri" pitchFamily="34" charset="-122"/>
                <a:cs typeface="Calibri" pitchFamily="34" charset="-120"/>
              </a:rPr>
              <a:t>Problem: </a:t>
            </a:r>
            <a:pPr indent="0" marL="0">
              <a:buNone/>
            </a:pPr>
            <a:r>
              <a:rPr lang="en-US" sz="1600" dirty="0">
                <a:solidFill>
                  <a:srgbClr val="13233B"/>
                </a:solidFill>
                <a:latin typeface="Calibri" pitchFamily="34" charset="0"/>
                <a:ea typeface="Calibri" pitchFamily="34" charset="-122"/>
                <a:cs typeface="Calibri" pitchFamily="34" charset="-120"/>
              </a:rPr>
              <a:t>Given: MOV R1, @2000, Memory[2000] = 3000, Memory[3000] = 88. Find R1.</a:t>
            </a:r>
            <a:endParaRPr lang="en-US" sz="1600" dirty="0"/>
          </a:p>
        </p:txBody>
      </p:sp>
      <p:sp>
        <p:nvSpPr>
          <p:cNvPr id="7" name="Text 4"/>
          <p:cNvSpPr txBox="1"/>
          <p:nvPr/>
        </p:nvSpPr>
        <p:spPr>
          <a:xfrm>
            <a:off x="868680" y="2286000"/>
            <a:ext cx="10424160" cy="3931920"/>
          </a:xfrm>
          <a:prstGeom prst="rect">
            <a:avLst/>
          </a:prstGeom>
          <a:noFill/>
          <a:ln/>
        </p:spPr>
        <p:txBody>
          <a:bodyPr wrap="square" lIns="0" tIns="0" rIns="0" bIns="0" rtlCol="0" anchor="t"/>
          <a:lstStyle/>
          <a:p>
            <a:pPr marL="254000" indent="-254000">
              <a:lnSpc>
                <a:spcPct val="112000"/>
              </a:lnSpc>
              <a:spcAft>
                <a:spcPts val="1400"/>
              </a:spcAft>
              <a:buSzPct val="100000"/>
              <a:buChar char="➤"/>
            </a:pPr>
            <a:r>
              <a:rPr lang="en-US" sz="1800" dirty="0">
                <a:solidFill>
                  <a:srgbClr val="13233B"/>
                </a:solidFill>
                <a:latin typeface="Calibri" pitchFamily="34" charset="0"/>
                <a:ea typeface="Calibri" pitchFamily="34" charset="-122"/>
                <a:cs typeface="Calibri" pitchFamily="34" charset="-120"/>
              </a:rPr>
              <a:t>Step 1 — Identify the mode: the "@" symbol signals Indirect Addressing.</a:t>
            </a:r>
            <a:endParaRPr lang="en-US" sz="1800" dirty="0"/>
          </a:p>
          <a:p>
            <a:pPr marL="254000" indent="-254000">
              <a:lnSpc>
                <a:spcPct val="112000"/>
              </a:lnSpc>
              <a:spcAft>
                <a:spcPts val="1400"/>
              </a:spcAft>
              <a:buSzPct val="100000"/>
              <a:buChar char="➤"/>
            </a:pPr>
            <a:r>
              <a:rPr lang="en-US" sz="1800" dirty="0">
                <a:solidFill>
                  <a:srgbClr val="13233B"/>
                </a:solidFill>
                <a:latin typeface="Calibri" pitchFamily="34" charset="0"/>
                <a:ea typeface="Calibri" pitchFamily="34" charset="-122"/>
                <a:cs typeface="Calibri" pitchFamily="34" charset="-120"/>
              </a:rPr>
              <a:t>Step 2 — First hop: read Memory[2000] → this gives 3000, which is itself an address.</a:t>
            </a:r>
            <a:endParaRPr lang="en-US" sz="1800" dirty="0"/>
          </a:p>
          <a:p>
            <a:pPr marL="254000" indent="-254000">
              <a:lnSpc>
                <a:spcPct val="112000"/>
              </a:lnSpc>
              <a:spcAft>
                <a:spcPts val="1400"/>
              </a:spcAft>
              <a:buSzPct val="100000"/>
              <a:buChar char="➤"/>
            </a:pPr>
            <a:r>
              <a:rPr lang="en-US" sz="1800" dirty="0">
                <a:solidFill>
                  <a:srgbClr val="13233B"/>
                </a:solidFill>
                <a:latin typeface="Calibri" pitchFamily="34" charset="0"/>
                <a:ea typeface="Calibri" pitchFamily="34" charset="-122"/>
                <a:cs typeface="Calibri" pitchFamily="34" charset="-120"/>
              </a:rPr>
              <a:t>Step 3 — Effective Address = 3000 (the address obtained from the first hop).</a:t>
            </a:r>
            <a:endParaRPr lang="en-US" sz="1800" dirty="0"/>
          </a:p>
          <a:p>
            <a:pPr marL="254000" indent="-254000">
              <a:lnSpc>
                <a:spcPct val="112000"/>
              </a:lnSpc>
              <a:spcAft>
                <a:spcPts val="1400"/>
              </a:spcAft>
              <a:buSzPct val="100000"/>
              <a:buChar char="➤"/>
            </a:pPr>
            <a:r>
              <a:rPr lang="en-US" sz="1800" dirty="0">
                <a:solidFill>
                  <a:srgbClr val="13233B"/>
                </a:solidFill>
                <a:latin typeface="Calibri" pitchFamily="34" charset="0"/>
                <a:ea typeface="Calibri" pitchFamily="34" charset="-122"/>
                <a:cs typeface="Calibri" pitchFamily="34" charset="-120"/>
              </a:rPr>
              <a:t>Step 4 — Second hop: read Memory[3000] = 88.</a:t>
            </a:r>
            <a:endParaRPr lang="en-US" sz="1800" dirty="0"/>
          </a:p>
          <a:p>
            <a:pPr marL="254000" indent="-254000">
              <a:lnSpc>
                <a:spcPct val="112000"/>
              </a:lnSpc>
              <a:spcAft>
                <a:spcPts val="1400"/>
              </a:spcAft>
              <a:buSzPct val="100000"/>
              <a:buChar char="➤"/>
            </a:pPr>
            <a:r>
              <a:rPr lang="en-US" sz="1800" dirty="0">
                <a:solidFill>
                  <a:srgbClr val="13233B"/>
                </a:solidFill>
                <a:latin typeface="Calibri" pitchFamily="34" charset="0"/>
                <a:ea typeface="Calibri" pitchFamily="34" charset="-122"/>
                <a:cs typeface="Calibri" pitchFamily="34" charset="-120"/>
              </a:rPr>
              <a:t>Step 5 — R1 = 88. Note this took TWO memory accesses versus direct addressing's one.</a:t>
            </a:r>
            <a:endParaRPr lang="en-US" sz="1800" dirty="0"/>
          </a:p>
        </p:txBody>
      </p:sp>
      <p:sp>
        <p:nvSpPr>
          <p:cNvPr id="8" name="Text 5"/>
          <p:cNvSpPr txBox="1"/>
          <p:nvPr/>
        </p:nvSpPr>
        <p:spPr>
          <a:xfrm>
            <a:off x="457200" y="6492240"/>
            <a:ext cx="8686800" cy="274320"/>
          </a:xfrm>
          <a:prstGeom prst="rect">
            <a:avLst/>
          </a:prstGeom>
          <a:noFill/>
          <a:ln/>
        </p:spPr>
        <p:txBody>
          <a:bodyPr wrap="square" lIns="0" tIns="0" rIns="0" bIns="0" rtlCol="0" anchor="ctr"/>
          <a:lstStyle/>
          <a:p>
            <a:pPr algn="l" indent="0" marL="0">
              <a:buNone/>
            </a:pPr>
            <a:r>
              <a:rPr lang="en-US" sz="1000" dirty="0">
                <a:solidFill>
                  <a:srgbClr val="4A5A72"/>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1000" dirty="0"/>
          </a:p>
        </p:txBody>
      </p:sp>
      <p:sp>
        <p:nvSpPr>
          <p:cNvPr id="9" name="Text 6"/>
          <p:cNvSpPr txBox="1"/>
          <p:nvPr/>
        </p:nvSpPr>
        <p:spPr>
          <a:xfrm>
            <a:off x="11274552" y="6492240"/>
            <a:ext cx="457200" cy="274320"/>
          </a:xfrm>
          <a:prstGeom prst="rect">
            <a:avLst/>
          </a:prstGeom>
          <a:noFill/>
          <a:ln/>
        </p:spPr>
        <p:txBody>
          <a:bodyPr wrap="square" lIns="0" tIns="0" rIns="0" bIns="0" rtlCol="0" anchor="ctr"/>
          <a:lstStyle/>
          <a:p>
            <a:pPr algn="r" indent="0" marL="0">
              <a:buNone/>
            </a:pPr>
            <a:r>
              <a:rPr lang="en-US" sz="1000" dirty="0">
                <a:solidFill>
                  <a:srgbClr val="4A5A72"/>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1E3D"/>
          </a:solidFill>
          <a:ln/>
        </p:spPr>
      </p:sp>
      <p:pic>
        <p:nvPicPr>
          <p:cNvPr id="3" name="Image 0" descr="preencoded.png">    </p:cNvPr>
          <p:cNvPicPr>
            <a:picLocks noChangeAspect="1"/>
          </p:cNvPicPr>
          <p:nvPr/>
        </p:nvPicPr>
        <p:blipFill>
          <a:blip r:embed="rId1"/>
          <a:stretch>
            <a:fillRect/>
          </a:stretch>
        </p:blipFill>
        <p:spPr>
          <a:xfrm>
            <a:off x="548640" y="256032"/>
            <a:ext cx="548640" cy="548640"/>
          </a:xfrm>
          <a:prstGeom prst="rect">
            <a:avLst/>
          </a:prstGeom>
        </p:spPr>
      </p:pic>
      <p:sp>
        <p:nvSpPr>
          <p:cNvPr id="4" name="Text 1"/>
          <p:cNvSpPr txBox="1"/>
          <p:nvPr/>
        </p:nvSpPr>
        <p:spPr>
          <a:xfrm>
            <a:off x="1280160" y="182880"/>
            <a:ext cx="10241280" cy="7315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Worked Example 3: Indexed Addressing</a:t>
            </a:r>
            <a:endParaRPr lang="en-US" sz="2600" dirty="0"/>
          </a:p>
        </p:txBody>
      </p:sp>
      <p:sp>
        <p:nvSpPr>
          <p:cNvPr id="5" name="Shape 2"/>
          <p:cNvSpPr/>
          <p:nvPr/>
        </p:nvSpPr>
        <p:spPr>
          <a:xfrm>
            <a:off x="640080" y="1280160"/>
            <a:ext cx="10881360" cy="777240"/>
          </a:xfrm>
          <a:prstGeom prst="roundRect">
            <a:avLst>
              <a:gd name="adj" fmla="val 7059"/>
            </a:avLst>
          </a:prstGeom>
          <a:solidFill>
            <a:srgbClr val="F4F7FB"/>
          </a:solidFill>
          <a:ln w="12700">
            <a:solidFill>
              <a:srgbClr val="D8E1EC"/>
            </a:solidFill>
            <a:prstDash val="solid"/>
          </a:ln>
        </p:spPr>
      </p:sp>
      <p:sp>
        <p:nvSpPr>
          <p:cNvPr id="6" name="Text 3"/>
          <p:cNvSpPr txBox="1"/>
          <p:nvPr/>
        </p:nvSpPr>
        <p:spPr>
          <a:xfrm>
            <a:off x="868680" y="1280160"/>
            <a:ext cx="10424160" cy="777240"/>
          </a:xfrm>
          <a:prstGeom prst="rect">
            <a:avLst/>
          </a:prstGeom>
          <a:noFill/>
          <a:ln/>
        </p:spPr>
        <p:txBody>
          <a:bodyPr wrap="square" lIns="0" tIns="0" rIns="0" bIns="0" rtlCol="0" anchor="ctr"/>
          <a:lstStyle/>
          <a:p>
            <a:pPr indent="0" marL="0">
              <a:buNone/>
            </a:pPr>
            <a:r>
              <a:rPr lang="en-US" sz="1600" b="1" dirty="0">
                <a:solidFill>
                  <a:srgbClr val="0B1E3D"/>
                </a:solidFill>
                <a:latin typeface="Calibri" pitchFamily="34" charset="0"/>
                <a:ea typeface="Calibri" pitchFamily="34" charset="-122"/>
                <a:cs typeface="Calibri" pitchFamily="34" charset="-120"/>
              </a:rPr>
              <a:t>Problem: </a:t>
            </a:r>
            <a:pPr indent="0" marL="0">
              <a:buNone/>
            </a:pPr>
            <a:r>
              <a:rPr lang="en-US" sz="1600" dirty="0">
                <a:solidFill>
                  <a:srgbClr val="13233B"/>
                </a:solidFill>
                <a:latin typeface="Calibri" pitchFamily="34" charset="0"/>
                <a:ea typeface="Calibri" pitchFamily="34" charset="-122"/>
                <a:cs typeface="Calibri" pitchFamily="34" charset="-120"/>
              </a:rPr>
              <a:t>Given: MOV R1, ARRAY(RX), where ARRAY = 5000 and RX = 12. Find the Effective Address.</a:t>
            </a:r>
            <a:endParaRPr lang="en-US" sz="1600" dirty="0"/>
          </a:p>
        </p:txBody>
      </p:sp>
      <p:sp>
        <p:nvSpPr>
          <p:cNvPr id="7" name="Text 4"/>
          <p:cNvSpPr txBox="1"/>
          <p:nvPr/>
        </p:nvSpPr>
        <p:spPr>
          <a:xfrm>
            <a:off x="868680" y="2286000"/>
            <a:ext cx="10424160" cy="3931920"/>
          </a:xfrm>
          <a:prstGeom prst="rect">
            <a:avLst/>
          </a:prstGeom>
          <a:noFill/>
          <a:ln/>
        </p:spPr>
        <p:txBody>
          <a:bodyPr wrap="square" lIns="0" tIns="0" rIns="0" bIns="0" rtlCol="0" anchor="t"/>
          <a:lstStyle/>
          <a:p>
            <a:pPr marL="254000" indent="-254000">
              <a:lnSpc>
                <a:spcPct val="112000"/>
              </a:lnSpc>
              <a:spcAft>
                <a:spcPts val="1400"/>
              </a:spcAft>
              <a:buSzPct val="100000"/>
              <a:buChar char="➤"/>
            </a:pPr>
            <a:r>
              <a:rPr lang="en-US" sz="1800" dirty="0">
                <a:solidFill>
                  <a:srgbClr val="13233B"/>
                </a:solidFill>
                <a:latin typeface="Calibri" pitchFamily="34" charset="0"/>
                <a:ea typeface="Calibri" pitchFamily="34" charset="-122"/>
                <a:cs typeface="Calibri" pitchFamily="34" charset="-120"/>
              </a:rPr>
              <a:t>Step 1 — Identify the mode: a base address (ARRAY) combined with an index register (RX) → Indexed Addressing.</a:t>
            </a:r>
            <a:endParaRPr lang="en-US" sz="1800" dirty="0"/>
          </a:p>
          <a:p>
            <a:pPr marL="254000" indent="-254000">
              <a:lnSpc>
                <a:spcPct val="112000"/>
              </a:lnSpc>
              <a:spcAft>
                <a:spcPts val="1400"/>
              </a:spcAft>
              <a:buSzPct val="100000"/>
              <a:buChar char="➤"/>
            </a:pPr>
            <a:r>
              <a:rPr lang="en-US" sz="1800" dirty="0">
                <a:solidFill>
                  <a:srgbClr val="13233B"/>
                </a:solidFill>
                <a:latin typeface="Calibri" pitchFamily="34" charset="0"/>
                <a:ea typeface="Calibri" pitchFamily="34" charset="-122"/>
                <a:cs typeface="Calibri" pitchFamily="34" charset="-120"/>
              </a:rPr>
              <a:t>Step 2 — Effective Address = base + index = 5000 + 12 = 5012.</a:t>
            </a:r>
            <a:endParaRPr lang="en-US" sz="1800" dirty="0"/>
          </a:p>
          <a:p>
            <a:pPr marL="254000" indent="-254000">
              <a:lnSpc>
                <a:spcPct val="112000"/>
              </a:lnSpc>
              <a:spcAft>
                <a:spcPts val="1400"/>
              </a:spcAft>
              <a:buSzPct val="100000"/>
              <a:buChar char="➤"/>
            </a:pPr>
            <a:r>
              <a:rPr lang="en-US" sz="1800" dirty="0">
                <a:solidFill>
                  <a:srgbClr val="13233B"/>
                </a:solidFill>
                <a:latin typeface="Calibri" pitchFamily="34" charset="0"/>
                <a:ea typeface="Calibri" pitchFamily="34" charset="-122"/>
                <a:cs typeface="Calibri" pitchFamily="34" charset="-120"/>
              </a:rPr>
              <a:t>Step 3 — The CPU reads Memory[5012] to get the operand for R1.</a:t>
            </a:r>
            <a:endParaRPr lang="en-US" sz="1800" dirty="0"/>
          </a:p>
          <a:p>
            <a:pPr marL="254000" indent="-254000">
              <a:lnSpc>
                <a:spcPct val="112000"/>
              </a:lnSpc>
              <a:spcAft>
                <a:spcPts val="1400"/>
              </a:spcAft>
              <a:buSzPct val="100000"/>
              <a:buChar char="➤"/>
            </a:pPr>
            <a:r>
              <a:rPr lang="en-US" sz="1800" dirty="0">
                <a:solidFill>
                  <a:srgbClr val="13233B"/>
                </a:solidFill>
                <a:latin typeface="Calibri" pitchFamily="34" charset="0"/>
                <a:ea typeface="Calibri" pitchFamily="34" charset="-122"/>
                <a:cs typeface="Calibri" pitchFamily="34" charset="-120"/>
              </a:rPr>
              <a:t>Step 4 — Now imagine this instruction sits inside a loop and RX increases by 4 each pass (0, 4, 8, 12, …) — that is exactly how a compiler walks through a 4-byte-per-element integer array.</a:t>
            </a:r>
            <a:endParaRPr lang="en-US" sz="1800" dirty="0"/>
          </a:p>
        </p:txBody>
      </p:sp>
      <p:sp>
        <p:nvSpPr>
          <p:cNvPr id="8" name="Text 5"/>
          <p:cNvSpPr txBox="1"/>
          <p:nvPr/>
        </p:nvSpPr>
        <p:spPr>
          <a:xfrm>
            <a:off x="457200" y="6492240"/>
            <a:ext cx="8686800" cy="274320"/>
          </a:xfrm>
          <a:prstGeom prst="rect">
            <a:avLst/>
          </a:prstGeom>
          <a:noFill/>
          <a:ln/>
        </p:spPr>
        <p:txBody>
          <a:bodyPr wrap="square" lIns="0" tIns="0" rIns="0" bIns="0" rtlCol="0" anchor="ctr"/>
          <a:lstStyle/>
          <a:p>
            <a:pPr algn="l" indent="0" marL="0">
              <a:buNone/>
            </a:pPr>
            <a:r>
              <a:rPr lang="en-US" sz="1000" dirty="0">
                <a:solidFill>
                  <a:srgbClr val="4A5A72"/>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1000" dirty="0"/>
          </a:p>
        </p:txBody>
      </p:sp>
      <p:sp>
        <p:nvSpPr>
          <p:cNvPr id="9" name="Text 6"/>
          <p:cNvSpPr txBox="1"/>
          <p:nvPr/>
        </p:nvSpPr>
        <p:spPr>
          <a:xfrm>
            <a:off x="11274552" y="6492240"/>
            <a:ext cx="457200" cy="274320"/>
          </a:xfrm>
          <a:prstGeom prst="rect">
            <a:avLst/>
          </a:prstGeom>
          <a:noFill/>
          <a:ln/>
        </p:spPr>
        <p:txBody>
          <a:bodyPr wrap="square" lIns="0" tIns="0" rIns="0" bIns="0" rtlCol="0" anchor="ctr"/>
          <a:lstStyle/>
          <a:p>
            <a:pPr algn="r" indent="0" marL="0">
              <a:buNone/>
            </a:pPr>
            <a:r>
              <a:rPr lang="en-US" sz="1000" dirty="0">
                <a:solidFill>
                  <a:srgbClr val="4A5A72"/>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1E3D"/>
          </a:solidFill>
          <a:ln/>
        </p:spPr>
      </p:sp>
      <p:pic>
        <p:nvPicPr>
          <p:cNvPr id="3" name="Image 0" descr="preencoded.png">    </p:cNvPr>
          <p:cNvPicPr>
            <a:picLocks noChangeAspect="1"/>
          </p:cNvPicPr>
          <p:nvPr/>
        </p:nvPicPr>
        <p:blipFill>
          <a:blip r:embed="rId1"/>
          <a:stretch>
            <a:fillRect/>
          </a:stretch>
        </p:blipFill>
        <p:spPr>
          <a:xfrm>
            <a:off x="548640" y="256032"/>
            <a:ext cx="548640" cy="548640"/>
          </a:xfrm>
          <a:prstGeom prst="rect">
            <a:avLst/>
          </a:prstGeom>
        </p:spPr>
      </p:pic>
      <p:sp>
        <p:nvSpPr>
          <p:cNvPr id="4" name="Text 1"/>
          <p:cNvSpPr txBox="1"/>
          <p:nvPr/>
        </p:nvSpPr>
        <p:spPr>
          <a:xfrm>
            <a:off x="1280160" y="182880"/>
            <a:ext cx="10241280" cy="7315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What Is a Stack?</a:t>
            </a:r>
            <a:endParaRPr lang="en-US" sz="2800" dirty="0"/>
          </a:p>
        </p:txBody>
      </p:sp>
      <p:sp>
        <p:nvSpPr>
          <p:cNvPr id="5" name="Text 2"/>
          <p:cNvSpPr txBox="1"/>
          <p:nvPr/>
        </p:nvSpPr>
        <p:spPr>
          <a:xfrm>
            <a:off x="822960" y="1463040"/>
            <a:ext cx="10515600" cy="4754880"/>
          </a:xfrm>
          <a:prstGeom prst="rect">
            <a:avLst/>
          </a:prstGeom>
          <a:noFill/>
          <a:ln/>
        </p:spPr>
        <p:txBody>
          <a:bodyPr wrap="square" lIns="0" tIns="0" rIns="0" bIns="0" rtlCol="0" anchor="t"/>
          <a:lstStyle/>
          <a:p>
            <a:pPr marL="228600" indent="-228600">
              <a:lnSpc>
                <a:spcPct val="115000"/>
              </a:lnSpc>
              <a:spcAft>
                <a:spcPts val="1600"/>
              </a:spcAft>
              <a:buSzPct val="100000"/>
              <a:buChar char="•"/>
            </a:pPr>
            <a:r>
              <a:rPr lang="en-US" sz="2000" dirty="0">
                <a:solidFill>
                  <a:srgbClr val="13233B"/>
                </a:solidFill>
                <a:latin typeface="Calibri" pitchFamily="34" charset="0"/>
                <a:ea typeface="Calibri" pitchFamily="34" charset="-122"/>
                <a:cs typeface="Calibri" pitchFamily="34" charset="-120"/>
              </a:rPr>
              <a:t>A stack is a Last-In-First-Out (LIFO) data structure implemented directly in memory</a:t>
            </a:r>
            <a:endParaRPr lang="en-US" sz="2000" dirty="0"/>
          </a:p>
          <a:p>
            <a:pPr marL="228600" indent="-228600">
              <a:lnSpc>
                <a:spcPct val="115000"/>
              </a:lnSpc>
              <a:spcAft>
                <a:spcPts val="1600"/>
              </a:spcAft>
              <a:buSzPct val="100000"/>
              <a:buChar char="•"/>
            </a:pPr>
            <a:r>
              <a:rPr lang="en-US" sz="2000" dirty="0">
                <a:solidFill>
                  <a:srgbClr val="13233B"/>
                </a:solidFill>
                <a:latin typeface="Calibri" pitchFamily="34" charset="0"/>
                <a:ea typeface="Calibri" pitchFamily="34" charset="-122"/>
                <a:cs typeface="Calibri" pitchFamily="34" charset="-120"/>
              </a:rPr>
              <a:t>Managed by a special-purpose register: the Stack Pointer (SP), which always points to the current "top" of the stack</a:t>
            </a:r>
            <a:endParaRPr lang="en-US" sz="2000" dirty="0"/>
          </a:p>
          <a:p>
            <a:pPr marL="228600" indent="-228600">
              <a:lnSpc>
                <a:spcPct val="115000"/>
              </a:lnSpc>
              <a:spcAft>
                <a:spcPts val="1600"/>
              </a:spcAft>
              <a:buSzPct val="100000"/>
              <a:buChar char="•"/>
            </a:pPr>
            <a:r>
              <a:rPr lang="en-US" sz="2000" dirty="0">
                <a:solidFill>
                  <a:srgbClr val="13233B"/>
                </a:solidFill>
                <a:latin typeface="Calibri" pitchFamily="34" charset="0"/>
                <a:ea typeface="Calibri" pitchFamily="34" charset="-122"/>
                <a:cs typeface="Calibri" pitchFamily="34" charset="-120"/>
              </a:rPr>
              <a:t>Two fundamental operations: PUSH (add to the top) and POP (remove from the top)</a:t>
            </a:r>
            <a:endParaRPr lang="en-US" sz="2000" dirty="0"/>
          </a:p>
          <a:p>
            <a:pPr marL="228600" indent="-228600">
              <a:lnSpc>
                <a:spcPct val="115000"/>
              </a:lnSpc>
              <a:spcAft>
                <a:spcPts val="1600"/>
              </a:spcAft>
              <a:buSzPct val="100000"/>
              <a:buChar char="•"/>
            </a:pPr>
            <a:r>
              <a:rPr lang="en-US" sz="2000" dirty="0">
                <a:solidFill>
                  <a:srgbClr val="13233B"/>
                </a:solidFill>
                <a:latin typeface="Calibri" pitchFamily="34" charset="0"/>
                <a:ea typeface="Calibri" pitchFamily="34" charset="-122"/>
                <a:cs typeface="Calibri" pitchFamily="34" charset="-120"/>
              </a:rPr>
              <a:t>In most architectures, the stack grows DOWNWARD — toward lower memory addresses — as items are pushed</a:t>
            </a:r>
            <a:endParaRPr lang="en-US" sz="2000" dirty="0"/>
          </a:p>
        </p:txBody>
      </p:sp>
      <p:sp>
        <p:nvSpPr>
          <p:cNvPr id="6" name="Text 3"/>
          <p:cNvSpPr txBox="1"/>
          <p:nvPr/>
        </p:nvSpPr>
        <p:spPr>
          <a:xfrm>
            <a:off x="457200" y="6492240"/>
            <a:ext cx="8686800" cy="274320"/>
          </a:xfrm>
          <a:prstGeom prst="rect">
            <a:avLst/>
          </a:prstGeom>
          <a:noFill/>
          <a:ln/>
        </p:spPr>
        <p:txBody>
          <a:bodyPr wrap="square" lIns="0" tIns="0" rIns="0" bIns="0" rtlCol="0" anchor="ctr"/>
          <a:lstStyle/>
          <a:p>
            <a:pPr algn="l" indent="0" marL="0">
              <a:buNone/>
            </a:pPr>
            <a:r>
              <a:rPr lang="en-US" sz="1000" dirty="0">
                <a:solidFill>
                  <a:srgbClr val="4A5A72"/>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1000" dirty="0"/>
          </a:p>
        </p:txBody>
      </p:sp>
      <p:sp>
        <p:nvSpPr>
          <p:cNvPr id="7" name="Text 4"/>
          <p:cNvSpPr txBox="1"/>
          <p:nvPr/>
        </p:nvSpPr>
        <p:spPr>
          <a:xfrm>
            <a:off x="11274552" y="6492240"/>
            <a:ext cx="457200" cy="274320"/>
          </a:xfrm>
          <a:prstGeom prst="rect">
            <a:avLst/>
          </a:prstGeom>
          <a:noFill/>
          <a:ln/>
        </p:spPr>
        <p:txBody>
          <a:bodyPr wrap="square" lIns="0" tIns="0" rIns="0" bIns="0" rtlCol="0" anchor="ctr"/>
          <a:lstStyle/>
          <a:p>
            <a:pPr algn="r" indent="0" marL="0">
              <a:buNone/>
            </a:pPr>
            <a:r>
              <a:rPr lang="en-US" sz="1000" dirty="0">
                <a:solidFill>
                  <a:srgbClr val="4A5A72"/>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1E3D"/>
          </a:solidFill>
          <a:ln/>
        </p:spPr>
      </p:sp>
      <p:pic>
        <p:nvPicPr>
          <p:cNvPr id="3" name="Image 0" descr="preencoded.png">    </p:cNvPr>
          <p:cNvPicPr>
            <a:picLocks noChangeAspect="1"/>
          </p:cNvPicPr>
          <p:nvPr/>
        </p:nvPicPr>
        <p:blipFill>
          <a:blip r:embed="rId1"/>
          <a:stretch>
            <a:fillRect/>
          </a:stretch>
        </p:blipFill>
        <p:spPr>
          <a:xfrm>
            <a:off x="548640" y="256032"/>
            <a:ext cx="548640" cy="548640"/>
          </a:xfrm>
          <a:prstGeom prst="rect">
            <a:avLst/>
          </a:prstGeom>
        </p:spPr>
      </p:pic>
      <p:sp>
        <p:nvSpPr>
          <p:cNvPr id="4" name="Text 1"/>
          <p:cNvSpPr txBox="1"/>
          <p:nvPr/>
        </p:nvSpPr>
        <p:spPr>
          <a:xfrm>
            <a:off x="1280160" y="182880"/>
            <a:ext cx="10241280" cy="7315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Stack Operations: PUSH and POP</a:t>
            </a:r>
            <a:endParaRPr lang="en-US" sz="2800" dirty="0"/>
          </a:p>
        </p:txBody>
      </p:sp>
      <p:sp>
        <p:nvSpPr>
          <p:cNvPr id="5" name="Text 2"/>
          <p:cNvSpPr txBox="1"/>
          <p:nvPr/>
        </p:nvSpPr>
        <p:spPr>
          <a:xfrm>
            <a:off x="822960" y="1463040"/>
            <a:ext cx="10515600" cy="4754880"/>
          </a:xfrm>
          <a:prstGeom prst="rect">
            <a:avLst/>
          </a:prstGeom>
          <a:noFill/>
          <a:ln/>
        </p:spPr>
        <p:txBody>
          <a:bodyPr wrap="square" lIns="0" tIns="0" rIns="0" bIns="0" rtlCol="0" anchor="t"/>
          <a:lstStyle/>
          <a:p>
            <a:pPr marL="228600" indent="-228600">
              <a:lnSpc>
                <a:spcPct val="115000"/>
              </a:lnSpc>
              <a:spcAft>
                <a:spcPts val="1600"/>
              </a:spcAft>
              <a:buSzPct val="100000"/>
              <a:buChar char="•"/>
            </a:pPr>
            <a:r>
              <a:rPr lang="en-US" sz="2000" dirty="0">
                <a:solidFill>
                  <a:srgbClr val="13233B"/>
                </a:solidFill>
                <a:latin typeface="Calibri" pitchFamily="34" charset="0"/>
                <a:ea typeface="Calibri" pitchFamily="34" charset="-122"/>
                <a:cs typeface="Calibri" pitchFamily="34" charset="-120"/>
              </a:rPr>
              <a:t>PUSH value: (1) decrement SP, (2) store value at address now pointed to by SP</a:t>
            </a:r>
            <a:endParaRPr lang="en-US" sz="2000" dirty="0"/>
          </a:p>
          <a:p>
            <a:pPr marL="228600" indent="-228600">
              <a:lnSpc>
                <a:spcPct val="115000"/>
              </a:lnSpc>
              <a:spcAft>
                <a:spcPts val="1600"/>
              </a:spcAft>
              <a:buSzPct val="100000"/>
              <a:buChar char="•"/>
            </a:pPr>
            <a:r>
              <a:rPr lang="en-US" sz="2000" dirty="0">
                <a:solidFill>
                  <a:srgbClr val="13233B"/>
                </a:solidFill>
                <a:latin typeface="Calibri" pitchFamily="34" charset="0"/>
                <a:ea typeface="Calibri" pitchFamily="34" charset="-122"/>
                <a:cs typeface="Calibri" pitchFamily="34" charset="-120"/>
              </a:rPr>
              <a:t>POP → register: (1) read value at address pointed to by SP, (2) increment SP</a:t>
            </a:r>
            <a:endParaRPr lang="en-US" sz="2000" dirty="0"/>
          </a:p>
          <a:p>
            <a:pPr marL="228600" indent="-228600">
              <a:lnSpc>
                <a:spcPct val="115000"/>
              </a:lnSpc>
              <a:spcAft>
                <a:spcPts val="1600"/>
              </a:spcAft>
              <a:buSzPct val="100000"/>
              <a:buChar char="•"/>
            </a:pPr>
            <a:r>
              <a:rPr lang="en-US" sz="2000" dirty="0">
                <a:solidFill>
                  <a:srgbClr val="13233B"/>
                </a:solidFill>
                <a:latin typeface="Calibri" pitchFamily="34" charset="0"/>
                <a:ea typeface="Calibri" pitchFamily="34" charset="-122"/>
                <a:cs typeface="Calibri" pitchFamily="34" charset="-120"/>
              </a:rPr>
              <a:t>PUSH and POP are always paired and always operate on the CURRENT top of the stack — never the middle</a:t>
            </a:r>
            <a:endParaRPr lang="en-US" sz="2000" dirty="0"/>
          </a:p>
          <a:p>
            <a:pPr marL="228600" indent="-228600">
              <a:lnSpc>
                <a:spcPct val="115000"/>
              </a:lnSpc>
              <a:spcAft>
                <a:spcPts val="1600"/>
              </a:spcAft>
              <a:buSzPct val="100000"/>
              <a:buChar char="•"/>
            </a:pPr>
            <a:r>
              <a:rPr lang="en-US" sz="2000" dirty="0">
                <a:solidFill>
                  <a:srgbClr val="13233B"/>
                </a:solidFill>
                <a:latin typeface="Calibri" pitchFamily="34" charset="0"/>
                <a:ea typeface="Calibri" pitchFamily="34" charset="-122"/>
                <a:cs typeface="Calibri" pitchFamily="34" charset="-120"/>
              </a:rPr>
              <a:t>This is exactly auto-decrement addressing (for PUSH) and auto-increment addressing (for POP) applied to one dedicated register, SP</a:t>
            </a:r>
            <a:endParaRPr lang="en-US" sz="2000" dirty="0"/>
          </a:p>
        </p:txBody>
      </p:sp>
      <p:sp>
        <p:nvSpPr>
          <p:cNvPr id="6" name="Text 3"/>
          <p:cNvSpPr txBox="1"/>
          <p:nvPr/>
        </p:nvSpPr>
        <p:spPr>
          <a:xfrm>
            <a:off x="457200" y="6492240"/>
            <a:ext cx="8686800" cy="274320"/>
          </a:xfrm>
          <a:prstGeom prst="rect">
            <a:avLst/>
          </a:prstGeom>
          <a:noFill/>
          <a:ln/>
        </p:spPr>
        <p:txBody>
          <a:bodyPr wrap="square" lIns="0" tIns="0" rIns="0" bIns="0" rtlCol="0" anchor="ctr"/>
          <a:lstStyle/>
          <a:p>
            <a:pPr algn="l" indent="0" marL="0">
              <a:buNone/>
            </a:pPr>
            <a:r>
              <a:rPr lang="en-US" sz="1000" dirty="0">
                <a:solidFill>
                  <a:srgbClr val="4A5A72"/>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1000" dirty="0"/>
          </a:p>
        </p:txBody>
      </p:sp>
      <p:sp>
        <p:nvSpPr>
          <p:cNvPr id="7" name="Text 4"/>
          <p:cNvSpPr txBox="1"/>
          <p:nvPr/>
        </p:nvSpPr>
        <p:spPr>
          <a:xfrm>
            <a:off x="11274552" y="6492240"/>
            <a:ext cx="457200" cy="274320"/>
          </a:xfrm>
          <a:prstGeom prst="rect">
            <a:avLst/>
          </a:prstGeom>
          <a:noFill/>
          <a:ln/>
        </p:spPr>
        <p:txBody>
          <a:bodyPr wrap="square" lIns="0" tIns="0" rIns="0" bIns="0" rtlCol="0" anchor="ctr"/>
          <a:lstStyle/>
          <a:p>
            <a:pPr algn="r" indent="0" marL="0">
              <a:buNone/>
            </a:pPr>
            <a:r>
              <a:rPr lang="en-US" sz="1000" dirty="0">
                <a:solidFill>
                  <a:srgbClr val="4A5A72"/>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1E3D"/>
          </a:solidFill>
          <a:ln/>
        </p:spPr>
      </p:sp>
      <p:pic>
        <p:nvPicPr>
          <p:cNvPr id="3" name="Image 0" descr="preencoded.png">    </p:cNvPr>
          <p:cNvPicPr>
            <a:picLocks noChangeAspect="1"/>
          </p:cNvPicPr>
          <p:nvPr/>
        </p:nvPicPr>
        <p:blipFill>
          <a:blip r:embed="rId1"/>
          <a:stretch>
            <a:fillRect/>
          </a:stretch>
        </p:blipFill>
        <p:spPr>
          <a:xfrm>
            <a:off x="548640" y="256032"/>
            <a:ext cx="548640" cy="548640"/>
          </a:xfrm>
          <a:prstGeom prst="rect">
            <a:avLst/>
          </a:prstGeom>
        </p:spPr>
      </p:pic>
      <p:sp>
        <p:nvSpPr>
          <p:cNvPr id="4" name="Text 1"/>
          <p:cNvSpPr txBox="1"/>
          <p:nvPr/>
        </p:nvSpPr>
        <p:spPr>
          <a:xfrm>
            <a:off x="1280160" y="182880"/>
            <a:ext cx="10241280" cy="7315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Worked Example 4: Tracing PUSH and POP</a:t>
            </a:r>
            <a:endParaRPr lang="en-US" sz="2600" dirty="0"/>
          </a:p>
        </p:txBody>
      </p:sp>
      <p:sp>
        <p:nvSpPr>
          <p:cNvPr id="5" name="Shape 2"/>
          <p:cNvSpPr/>
          <p:nvPr/>
        </p:nvSpPr>
        <p:spPr>
          <a:xfrm>
            <a:off x="640080" y="1280160"/>
            <a:ext cx="10881360" cy="777240"/>
          </a:xfrm>
          <a:prstGeom prst="roundRect">
            <a:avLst>
              <a:gd name="adj" fmla="val 7059"/>
            </a:avLst>
          </a:prstGeom>
          <a:solidFill>
            <a:srgbClr val="F4F7FB"/>
          </a:solidFill>
          <a:ln w="12700">
            <a:solidFill>
              <a:srgbClr val="D8E1EC"/>
            </a:solidFill>
            <a:prstDash val="solid"/>
          </a:ln>
        </p:spPr>
      </p:sp>
      <p:sp>
        <p:nvSpPr>
          <p:cNvPr id="6" name="Text 3"/>
          <p:cNvSpPr txBox="1"/>
          <p:nvPr/>
        </p:nvSpPr>
        <p:spPr>
          <a:xfrm>
            <a:off x="868680" y="1280160"/>
            <a:ext cx="10424160" cy="777240"/>
          </a:xfrm>
          <a:prstGeom prst="rect">
            <a:avLst/>
          </a:prstGeom>
          <a:noFill/>
          <a:ln/>
        </p:spPr>
        <p:txBody>
          <a:bodyPr wrap="square" lIns="0" tIns="0" rIns="0" bIns="0" rtlCol="0" anchor="ctr"/>
          <a:lstStyle/>
          <a:p>
            <a:pPr indent="0" marL="0">
              <a:buNone/>
            </a:pPr>
            <a:r>
              <a:rPr lang="en-US" sz="1600" b="1" dirty="0">
                <a:solidFill>
                  <a:srgbClr val="0B1E3D"/>
                </a:solidFill>
                <a:latin typeface="Calibri" pitchFamily="34" charset="0"/>
                <a:ea typeface="Calibri" pitchFamily="34" charset="-122"/>
                <a:cs typeface="Calibri" pitchFamily="34" charset="-120"/>
              </a:rPr>
              <a:t>Problem: </a:t>
            </a:r>
            <a:pPr indent="0" marL="0">
              <a:buNone/>
            </a:pPr>
            <a:r>
              <a:rPr lang="en-US" sz="1600" dirty="0">
                <a:solidFill>
                  <a:srgbClr val="13233B"/>
                </a:solidFill>
                <a:latin typeface="Calibri" pitchFamily="34" charset="0"/>
                <a:ea typeface="Calibri" pitchFamily="34" charset="-122"/>
                <a:cs typeface="Calibri" pitchFamily="34" charset="-120"/>
              </a:rPr>
              <a:t>SP starts at 5000. Execute: PUSH 10, PUSH 20, POP → R1. Show the stack and SP after each step.</a:t>
            </a:r>
            <a:endParaRPr lang="en-US" sz="1600" dirty="0"/>
          </a:p>
        </p:txBody>
      </p:sp>
      <p:sp>
        <p:nvSpPr>
          <p:cNvPr id="7" name="Text 4"/>
          <p:cNvSpPr txBox="1"/>
          <p:nvPr/>
        </p:nvSpPr>
        <p:spPr>
          <a:xfrm>
            <a:off x="868680" y="2286000"/>
            <a:ext cx="10424160" cy="3931920"/>
          </a:xfrm>
          <a:prstGeom prst="rect">
            <a:avLst/>
          </a:prstGeom>
          <a:noFill/>
          <a:ln/>
        </p:spPr>
        <p:txBody>
          <a:bodyPr wrap="square" lIns="0" tIns="0" rIns="0" bIns="0" rtlCol="0" anchor="t"/>
          <a:lstStyle/>
          <a:p>
            <a:pPr marL="254000" indent="-254000">
              <a:lnSpc>
                <a:spcPct val="112000"/>
              </a:lnSpc>
              <a:spcAft>
                <a:spcPts val="1400"/>
              </a:spcAft>
              <a:buSzPct val="100000"/>
              <a:buChar char="➤"/>
            </a:pPr>
            <a:r>
              <a:rPr lang="en-US" sz="1800" dirty="0">
                <a:solidFill>
                  <a:srgbClr val="13233B"/>
                </a:solidFill>
                <a:latin typeface="Calibri" pitchFamily="34" charset="0"/>
                <a:ea typeface="Calibri" pitchFamily="34" charset="-122"/>
                <a:cs typeface="Calibri" pitchFamily="34" charset="-120"/>
              </a:rPr>
              <a:t>Start: SP = 5000 (empty stack, points above the top).</a:t>
            </a:r>
            <a:endParaRPr lang="en-US" sz="1800" dirty="0"/>
          </a:p>
          <a:p>
            <a:pPr marL="254000" indent="-254000">
              <a:lnSpc>
                <a:spcPct val="112000"/>
              </a:lnSpc>
              <a:spcAft>
                <a:spcPts val="1400"/>
              </a:spcAft>
              <a:buSzPct val="100000"/>
              <a:buChar char="➤"/>
            </a:pPr>
            <a:r>
              <a:rPr lang="en-US" sz="1800" dirty="0">
                <a:solidFill>
                  <a:srgbClr val="13233B"/>
                </a:solidFill>
                <a:latin typeface="Calibri" pitchFamily="34" charset="0"/>
                <a:ea typeface="Calibri" pitchFamily="34" charset="-122"/>
                <a:cs typeface="Calibri" pitchFamily="34" charset="-120"/>
              </a:rPr>
              <a:t>PUSH 10: SP decreases to 4998, Memory[4998] = 10.</a:t>
            </a:r>
            <a:endParaRPr lang="en-US" sz="1800" dirty="0"/>
          </a:p>
          <a:p>
            <a:pPr marL="254000" indent="-254000">
              <a:lnSpc>
                <a:spcPct val="112000"/>
              </a:lnSpc>
              <a:spcAft>
                <a:spcPts val="1400"/>
              </a:spcAft>
              <a:buSzPct val="100000"/>
              <a:buChar char="➤"/>
            </a:pPr>
            <a:r>
              <a:rPr lang="en-US" sz="1800" dirty="0">
                <a:solidFill>
                  <a:srgbClr val="13233B"/>
                </a:solidFill>
                <a:latin typeface="Calibri" pitchFamily="34" charset="0"/>
                <a:ea typeface="Calibri" pitchFamily="34" charset="-122"/>
                <a:cs typeface="Calibri" pitchFamily="34" charset="-120"/>
              </a:rPr>
              <a:t>PUSH 20: SP decreases to 4996, Memory[4996] = 20.</a:t>
            </a:r>
            <a:endParaRPr lang="en-US" sz="1800" dirty="0"/>
          </a:p>
          <a:p>
            <a:pPr marL="254000" indent="-254000">
              <a:lnSpc>
                <a:spcPct val="112000"/>
              </a:lnSpc>
              <a:spcAft>
                <a:spcPts val="1400"/>
              </a:spcAft>
              <a:buSzPct val="100000"/>
              <a:buChar char="➤"/>
            </a:pPr>
            <a:r>
              <a:rPr lang="en-US" sz="1800" dirty="0">
                <a:solidFill>
                  <a:srgbClr val="13233B"/>
                </a:solidFill>
                <a:latin typeface="Calibri" pitchFamily="34" charset="0"/>
                <a:ea typeface="Calibri" pitchFamily="34" charset="-122"/>
                <a:cs typeface="Calibri" pitchFamily="34" charset="-120"/>
              </a:rPr>
              <a:t>POP → R1: read Memory[4996] = 20 into R1, then SP increases back to 4998.</a:t>
            </a:r>
            <a:endParaRPr lang="en-US" sz="1800" dirty="0"/>
          </a:p>
          <a:p>
            <a:pPr marL="254000" indent="-254000">
              <a:lnSpc>
                <a:spcPct val="112000"/>
              </a:lnSpc>
              <a:spcAft>
                <a:spcPts val="1400"/>
              </a:spcAft>
              <a:buSzPct val="100000"/>
              <a:buChar char="➤"/>
            </a:pPr>
            <a:r>
              <a:rPr lang="en-US" sz="1800" dirty="0">
                <a:solidFill>
                  <a:srgbClr val="13233B"/>
                </a:solidFill>
                <a:latin typeface="Calibri" pitchFamily="34" charset="0"/>
                <a:ea typeface="Calibri" pitchFamily="34" charset="-122"/>
                <a:cs typeface="Calibri" pitchFamily="34" charset="-120"/>
              </a:rPr>
              <a:t>End state: SP = 4998, Memory[4998] still holds 10 (the earlier push), R1 = 20.</a:t>
            </a:r>
            <a:endParaRPr lang="en-US" sz="1800" dirty="0"/>
          </a:p>
        </p:txBody>
      </p:sp>
      <p:sp>
        <p:nvSpPr>
          <p:cNvPr id="8" name="Text 5"/>
          <p:cNvSpPr txBox="1"/>
          <p:nvPr/>
        </p:nvSpPr>
        <p:spPr>
          <a:xfrm>
            <a:off x="457200" y="6492240"/>
            <a:ext cx="8686800" cy="274320"/>
          </a:xfrm>
          <a:prstGeom prst="rect">
            <a:avLst/>
          </a:prstGeom>
          <a:noFill/>
          <a:ln/>
        </p:spPr>
        <p:txBody>
          <a:bodyPr wrap="square" lIns="0" tIns="0" rIns="0" bIns="0" rtlCol="0" anchor="ctr"/>
          <a:lstStyle/>
          <a:p>
            <a:pPr algn="l" indent="0" marL="0">
              <a:buNone/>
            </a:pPr>
            <a:r>
              <a:rPr lang="en-US" sz="1000" dirty="0">
                <a:solidFill>
                  <a:srgbClr val="4A5A72"/>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1000" dirty="0"/>
          </a:p>
        </p:txBody>
      </p:sp>
      <p:sp>
        <p:nvSpPr>
          <p:cNvPr id="9" name="Text 6"/>
          <p:cNvSpPr txBox="1"/>
          <p:nvPr/>
        </p:nvSpPr>
        <p:spPr>
          <a:xfrm>
            <a:off x="11274552" y="6492240"/>
            <a:ext cx="457200" cy="274320"/>
          </a:xfrm>
          <a:prstGeom prst="rect">
            <a:avLst/>
          </a:prstGeom>
          <a:noFill/>
          <a:ln/>
        </p:spPr>
        <p:txBody>
          <a:bodyPr wrap="square" lIns="0" tIns="0" rIns="0" bIns="0" rtlCol="0" anchor="ctr"/>
          <a:lstStyle/>
          <a:p>
            <a:pPr algn="r" indent="0" marL="0">
              <a:buNone/>
            </a:pPr>
            <a:r>
              <a:rPr lang="en-US" sz="1000" dirty="0">
                <a:solidFill>
                  <a:srgbClr val="4A5A72"/>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1E3D"/>
          </a:solidFill>
          <a:ln/>
        </p:spPr>
      </p:sp>
      <p:pic>
        <p:nvPicPr>
          <p:cNvPr id="3" name="Image 0" descr="preencoded.png">    </p:cNvPr>
          <p:cNvPicPr>
            <a:picLocks noChangeAspect="1"/>
          </p:cNvPicPr>
          <p:nvPr/>
        </p:nvPicPr>
        <p:blipFill>
          <a:blip r:embed="rId1"/>
          <a:stretch>
            <a:fillRect/>
          </a:stretch>
        </p:blipFill>
        <p:spPr>
          <a:xfrm>
            <a:off x="548640" y="256032"/>
            <a:ext cx="548640" cy="548640"/>
          </a:xfrm>
          <a:prstGeom prst="rect">
            <a:avLst/>
          </a:prstGeom>
        </p:spPr>
      </p:pic>
      <p:sp>
        <p:nvSpPr>
          <p:cNvPr id="4" name="Text 1"/>
          <p:cNvSpPr txBox="1"/>
          <p:nvPr/>
        </p:nvSpPr>
        <p:spPr>
          <a:xfrm>
            <a:off x="1280160" y="182880"/>
            <a:ext cx="10241280" cy="7315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What Is a Subroutine?</a:t>
            </a:r>
            <a:endParaRPr lang="en-US" sz="2800" dirty="0"/>
          </a:p>
        </p:txBody>
      </p:sp>
      <p:sp>
        <p:nvSpPr>
          <p:cNvPr id="5" name="Text 2"/>
          <p:cNvSpPr txBox="1"/>
          <p:nvPr/>
        </p:nvSpPr>
        <p:spPr>
          <a:xfrm>
            <a:off x="822960" y="1463040"/>
            <a:ext cx="10515600" cy="4754880"/>
          </a:xfrm>
          <a:prstGeom prst="rect">
            <a:avLst/>
          </a:prstGeom>
          <a:noFill/>
          <a:ln/>
        </p:spPr>
        <p:txBody>
          <a:bodyPr wrap="square" lIns="0" tIns="0" rIns="0" bIns="0" rtlCol="0" anchor="t"/>
          <a:lstStyle/>
          <a:p>
            <a:pPr marL="228600" indent="-228600">
              <a:lnSpc>
                <a:spcPct val="115000"/>
              </a:lnSpc>
              <a:spcAft>
                <a:spcPts val="1600"/>
              </a:spcAft>
              <a:buSzPct val="100000"/>
              <a:buChar char="•"/>
            </a:pPr>
            <a:r>
              <a:rPr lang="en-US" sz="2000" dirty="0">
                <a:solidFill>
                  <a:srgbClr val="13233B"/>
                </a:solidFill>
                <a:latin typeface="Calibri" pitchFamily="34" charset="0"/>
                <a:ea typeface="Calibri" pitchFamily="34" charset="-122"/>
                <a:cs typeface="Calibri" pitchFamily="34" charset="-120"/>
              </a:rPr>
              <a:t>A subroutine (function/procedure) is a reusable block of code that can be called from many places</a:t>
            </a:r>
            <a:endParaRPr lang="en-US" sz="2000" dirty="0"/>
          </a:p>
          <a:p>
            <a:pPr marL="228600" indent="-228600">
              <a:lnSpc>
                <a:spcPct val="115000"/>
              </a:lnSpc>
              <a:spcAft>
                <a:spcPts val="1600"/>
              </a:spcAft>
              <a:buSzPct val="100000"/>
              <a:buChar char="•"/>
            </a:pPr>
            <a:r>
              <a:rPr lang="en-US" sz="2000" dirty="0">
                <a:solidFill>
                  <a:srgbClr val="13233B"/>
                </a:solidFill>
                <a:latin typeface="Calibri" pitchFamily="34" charset="0"/>
                <a:ea typeface="Calibri" pitchFamily="34" charset="-122"/>
                <a:cs typeface="Calibri" pitchFamily="34" charset="-120"/>
              </a:rPr>
              <a:t>When called, execution must (1) jump to the subroutine, do its work, then (2) return EXACTLY to the instruction after the call</a:t>
            </a:r>
            <a:endParaRPr lang="en-US" sz="2000" dirty="0"/>
          </a:p>
          <a:p>
            <a:pPr marL="228600" indent="-228600">
              <a:lnSpc>
                <a:spcPct val="115000"/>
              </a:lnSpc>
              <a:spcAft>
                <a:spcPts val="1600"/>
              </a:spcAft>
              <a:buSzPct val="100000"/>
              <a:buChar char="•"/>
            </a:pPr>
            <a:r>
              <a:rPr lang="en-US" sz="2000" dirty="0">
                <a:solidFill>
                  <a:srgbClr val="13233B"/>
                </a:solidFill>
                <a:latin typeface="Calibri" pitchFamily="34" charset="0"/>
                <a:ea typeface="Calibri" pitchFamily="34" charset="-122"/>
                <a:cs typeface="Calibri" pitchFamily="34" charset="-120"/>
              </a:rPr>
              <a:t>The hard part: the CPU must remember the return address — and calls can be nested arbitrarily deep</a:t>
            </a:r>
            <a:endParaRPr lang="en-US" sz="2000" dirty="0"/>
          </a:p>
          <a:p>
            <a:pPr marL="228600" indent="-228600">
              <a:lnSpc>
                <a:spcPct val="115000"/>
              </a:lnSpc>
              <a:spcAft>
                <a:spcPts val="1600"/>
              </a:spcAft>
              <a:buSzPct val="100000"/>
              <a:buChar char="•"/>
            </a:pPr>
            <a:r>
              <a:rPr lang="en-US" sz="2000" dirty="0">
                <a:solidFill>
                  <a:srgbClr val="13233B"/>
                </a:solidFill>
                <a:latin typeface="Calibri" pitchFamily="34" charset="0"/>
                <a:ea typeface="Calibri" pitchFamily="34" charset="-122"/>
                <a:cs typeface="Calibri" pitchFamily="34" charset="-120"/>
              </a:rPr>
              <a:t>This is precisely the problem the stack was built to solve</a:t>
            </a:r>
            <a:endParaRPr lang="en-US" sz="2000" dirty="0"/>
          </a:p>
        </p:txBody>
      </p:sp>
      <p:sp>
        <p:nvSpPr>
          <p:cNvPr id="6" name="Text 3"/>
          <p:cNvSpPr txBox="1"/>
          <p:nvPr/>
        </p:nvSpPr>
        <p:spPr>
          <a:xfrm>
            <a:off x="457200" y="6492240"/>
            <a:ext cx="8686800" cy="274320"/>
          </a:xfrm>
          <a:prstGeom prst="rect">
            <a:avLst/>
          </a:prstGeom>
          <a:noFill/>
          <a:ln/>
        </p:spPr>
        <p:txBody>
          <a:bodyPr wrap="square" lIns="0" tIns="0" rIns="0" bIns="0" rtlCol="0" anchor="ctr"/>
          <a:lstStyle/>
          <a:p>
            <a:pPr algn="l" indent="0" marL="0">
              <a:buNone/>
            </a:pPr>
            <a:r>
              <a:rPr lang="en-US" sz="1000" dirty="0">
                <a:solidFill>
                  <a:srgbClr val="4A5A72"/>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1000" dirty="0"/>
          </a:p>
        </p:txBody>
      </p:sp>
      <p:sp>
        <p:nvSpPr>
          <p:cNvPr id="7" name="Text 4"/>
          <p:cNvSpPr txBox="1"/>
          <p:nvPr/>
        </p:nvSpPr>
        <p:spPr>
          <a:xfrm>
            <a:off x="11274552" y="6492240"/>
            <a:ext cx="457200" cy="274320"/>
          </a:xfrm>
          <a:prstGeom prst="rect">
            <a:avLst/>
          </a:prstGeom>
          <a:noFill/>
          <a:ln/>
        </p:spPr>
        <p:txBody>
          <a:bodyPr wrap="square" lIns="0" tIns="0" rIns="0" bIns="0" rtlCol="0" anchor="ctr"/>
          <a:lstStyle/>
          <a:p>
            <a:pPr algn="r" indent="0" marL="0">
              <a:buNone/>
            </a:pPr>
            <a:r>
              <a:rPr lang="en-US" sz="1000" dirty="0">
                <a:solidFill>
                  <a:srgbClr val="4A5A72"/>
                </a:solidFill>
                <a:latin typeface="Calibri" pitchFamily="34" charset="0"/>
                <a:ea typeface="Calibri" pitchFamily="34" charset="-122"/>
                <a:cs typeface="Calibri" pitchFamily="34" charset="-120"/>
              </a:rPr>
              <a:t>25</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1E3D"/>
          </a:solidFill>
          <a:ln/>
        </p:spPr>
      </p:sp>
      <p:pic>
        <p:nvPicPr>
          <p:cNvPr id="3" name="Image 0" descr="preencoded.png">    </p:cNvPr>
          <p:cNvPicPr>
            <a:picLocks noChangeAspect="1"/>
          </p:cNvPicPr>
          <p:nvPr/>
        </p:nvPicPr>
        <p:blipFill>
          <a:blip r:embed="rId1"/>
          <a:stretch>
            <a:fillRect/>
          </a:stretch>
        </p:blipFill>
        <p:spPr>
          <a:xfrm>
            <a:off x="548640" y="256032"/>
            <a:ext cx="548640" cy="548640"/>
          </a:xfrm>
          <a:prstGeom prst="rect">
            <a:avLst/>
          </a:prstGeom>
        </p:spPr>
      </p:pic>
      <p:sp>
        <p:nvSpPr>
          <p:cNvPr id="4" name="Text 1"/>
          <p:cNvSpPr txBox="1"/>
          <p:nvPr/>
        </p:nvSpPr>
        <p:spPr>
          <a:xfrm>
            <a:off x="1280160" y="182880"/>
            <a:ext cx="10241280" cy="7315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CALL and RET: The Mechanism</a:t>
            </a:r>
            <a:endParaRPr lang="en-US" sz="2800" dirty="0"/>
          </a:p>
        </p:txBody>
      </p:sp>
      <p:sp>
        <p:nvSpPr>
          <p:cNvPr id="5" name="Text 2"/>
          <p:cNvSpPr txBox="1"/>
          <p:nvPr/>
        </p:nvSpPr>
        <p:spPr>
          <a:xfrm>
            <a:off x="822960" y="1463040"/>
            <a:ext cx="10515600" cy="4754880"/>
          </a:xfrm>
          <a:prstGeom prst="rect">
            <a:avLst/>
          </a:prstGeom>
          <a:noFill/>
          <a:ln/>
        </p:spPr>
        <p:txBody>
          <a:bodyPr wrap="square" lIns="0" tIns="0" rIns="0" bIns="0" rtlCol="0" anchor="t"/>
          <a:lstStyle/>
          <a:p>
            <a:pPr marL="228600" indent="-228600">
              <a:lnSpc>
                <a:spcPct val="115000"/>
              </a:lnSpc>
              <a:spcAft>
                <a:spcPts val="1600"/>
              </a:spcAft>
              <a:buSzPct val="100000"/>
              <a:buChar char="•"/>
            </a:pPr>
            <a:r>
              <a:rPr lang="en-US" sz="2000" dirty="0">
                <a:solidFill>
                  <a:srgbClr val="13233B"/>
                </a:solidFill>
                <a:latin typeface="Calibri" pitchFamily="34" charset="0"/>
                <a:ea typeface="Calibri" pitchFamily="34" charset="-122"/>
                <a:cs typeface="Calibri" pitchFamily="34" charset="-120"/>
              </a:rPr>
              <a:t>CALL subroutine_address does two things: (1) PUSH the address of the next instruction (the return address) onto the stack, (2) jump PC to subroutine_address</a:t>
            </a:r>
            <a:endParaRPr lang="en-US" sz="2000" dirty="0"/>
          </a:p>
          <a:p>
            <a:pPr marL="228600" indent="-228600">
              <a:lnSpc>
                <a:spcPct val="115000"/>
              </a:lnSpc>
              <a:spcAft>
                <a:spcPts val="1600"/>
              </a:spcAft>
              <a:buSzPct val="100000"/>
              <a:buChar char="•"/>
            </a:pPr>
            <a:r>
              <a:rPr lang="en-US" sz="2000" dirty="0">
                <a:solidFill>
                  <a:srgbClr val="13233B"/>
                </a:solidFill>
                <a:latin typeface="Calibri" pitchFamily="34" charset="0"/>
                <a:ea typeface="Calibri" pitchFamily="34" charset="-122"/>
                <a:cs typeface="Calibri" pitchFamily="34" charset="-120"/>
              </a:rPr>
              <a:t>RET does the reverse: (1) POP the return address off the stack, (2) load it into PC</a:t>
            </a:r>
            <a:endParaRPr lang="en-US" sz="2000" dirty="0"/>
          </a:p>
          <a:p>
            <a:pPr marL="228600" indent="-228600">
              <a:lnSpc>
                <a:spcPct val="115000"/>
              </a:lnSpc>
              <a:spcAft>
                <a:spcPts val="1600"/>
              </a:spcAft>
              <a:buSzPct val="100000"/>
              <a:buChar char="•"/>
            </a:pPr>
            <a:r>
              <a:rPr lang="en-US" sz="2000" dirty="0">
                <a:solidFill>
                  <a:srgbClr val="13233B"/>
                </a:solidFill>
                <a:latin typeface="Calibri" pitchFamily="34" charset="0"/>
                <a:ea typeface="Calibri" pitchFamily="34" charset="-122"/>
                <a:cs typeface="Calibri" pitchFamily="34" charset="-120"/>
              </a:rPr>
              <a:t>This is why CALL/RET must always be balanced — an unmatched PUSH inside a subroutine will corrupt the return address</a:t>
            </a:r>
            <a:endParaRPr lang="en-US" sz="2000" dirty="0"/>
          </a:p>
          <a:p>
            <a:pPr marL="228600" indent="-228600">
              <a:lnSpc>
                <a:spcPct val="115000"/>
              </a:lnSpc>
              <a:spcAft>
                <a:spcPts val="1600"/>
              </a:spcAft>
              <a:buSzPct val="100000"/>
              <a:buChar char="•"/>
            </a:pPr>
            <a:r>
              <a:rPr lang="en-US" sz="2000" dirty="0">
                <a:solidFill>
                  <a:srgbClr val="13233B"/>
                </a:solidFill>
                <a:latin typeface="Calibri" pitchFamily="34" charset="0"/>
                <a:ea typeface="Calibri" pitchFamily="34" charset="-122"/>
                <a:cs typeface="Calibri" pitchFamily="34" charset="-120"/>
              </a:rPr>
              <a:t>Because the return address sits on a LIFO stack, nested calls unwind in exactly the right order automatically</a:t>
            </a:r>
            <a:endParaRPr lang="en-US" sz="2000" dirty="0"/>
          </a:p>
        </p:txBody>
      </p:sp>
      <p:sp>
        <p:nvSpPr>
          <p:cNvPr id="6" name="Text 3"/>
          <p:cNvSpPr txBox="1"/>
          <p:nvPr/>
        </p:nvSpPr>
        <p:spPr>
          <a:xfrm>
            <a:off x="457200" y="6492240"/>
            <a:ext cx="8686800" cy="274320"/>
          </a:xfrm>
          <a:prstGeom prst="rect">
            <a:avLst/>
          </a:prstGeom>
          <a:noFill/>
          <a:ln/>
        </p:spPr>
        <p:txBody>
          <a:bodyPr wrap="square" lIns="0" tIns="0" rIns="0" bIns="0" rtlCol="0" anchor="ctr"/>
          <a:lstStyle/>
          <a:p>
            <a:pPr algn="l" indent="0" marL="0">
              <a:buNone/>
            </a:pPr>
            <a:r>
              <a:rPr lang="en-US" sz="1000" dirty="0">
                <a:solidFill>
                  <a:srgbClr val="4A5A72"/>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1000" dirty="0"/>
          </a:p>
        </p:txBody>
      </p:sp>
      <p:sp>
        <p:nvSpPr>
          <p:cNvPr id="7" name="Text 4"/>
          <p:cNvSpPr txBox="1"/>
          <p:nvPr/>
        </p:nvSpPr>
        <p:spPr>
          <a:xfrm>
            <a:off x="11274552" y="6492240"/>
            <a:ext cx="457200" cy="274320"/>
          </a:xfrm>
          <a:prstGeom prst="rect">
            <a:avLst/>
          </a:prstGeom>
          <a:noFill/>
          <a:ln/>
        </p:spPr>
        <p:txBody>
          <a:bodyPr wrap="square" lIns="0" tIns="0" rIns="0" bIns="0" rtlCol="0" anchor="ctr"/>
          <a:lstStyle/>
          <a:p>
            <a:pPr algn="r" indent="0" marL="0">
              <a:buNone/>
            </a:pPr>
            <a:r>
              <a:rPr lang="en-US" sz="1000" dirty="0">
                <a:solidFill>
                  <a:srgbClr val="4A5A72"/>
                </a:solidFill>
                <a:latin typeface="Calibri" pitchFamily="34" charset="0"/>
                <a:ea typeface="Calibri" pitchFamily="34" charset="-122"/>
                <a:cs typeface="Calibri" pitchFamily="34" charset="-120"/>
              </a:rPr>
              <a:t>26</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1E3D"/>
          </a:solidFill>
          <a:ln/>
        </p:spPr>
      </p:sp>
      <p:pic>
        <p:nvPicPr>
          <p:cNvPr id="3" name="Image 0" descr="preencoded.png">    </p:cNvPr>
          <p:cNvPicPr>
            <a:picLocks noChangeAspect="1"/>
          </p:cNvPicPr>
          <p:nvPr/>
        </p:nvPicPr>
        <p:blipFill>
          <a:blip r:embed="rId1"/>
          <a:stretch>
            <a:fillRect/>
          </a:stretch>
        </p:blipFill>
        <p:spPr>
          <a:xfrm>
            <a:off x="548640" y="256032"/>
            <a:ext cx="548640" cy="548640"/>
          </a:xfrm>
          <a:prstGeom prst="rect">
            <a:avLst/>
          </a:prstGeom>
        </p:spPr>
      </p:pic>
      <p:sp>
        <p:nvSpPr>
          <p:cNvPr id="4" name="Text 1"/>
          <p:cNvSpPr txBox="1"/>
          <p:nvPr/>
        </p:nvSpPr>
        <p:spPr>
          <a:xfrm>
            <a:off x="1280160" y="182880"/>
            <a:ext cx="10241280" cy="7315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Worked Example 5: Tracing a Subroutine Call</a:t>
            </a:r>
            <a:endParaRPr lang="en-US" sz="2600" dirty="0"/>
          </a:p>
        </p:txBody>
      </p:sp>
      <p:sp>
        <p:nvSpPr>
          <p:cNvPr id="5" name="Shape 2"/>
          <p:cNvSpPr/>
          <p:nvPr/>
        </p:nvSpPr>
        <p:spPr>
          <a:xfrm>
            <a:off x="640080" y="1280160"/>
            <a:ext cx="10881360" cy="777240"/>
          </a:xfrm>
          <a:prstGeom prst="roundRect">
            <a:avLst>
              <a:gd name="adj" fmla="val 7059"/>
            </a:avLst>
          </a:prstGeom>
          <a:solidFill>
            <a:srgbClr val="F4F7FB"/>
          </a:solidFill>
          <a:ln w="12700">
            <a:solidFill>
              <a:srgbClr val="D8E1EC"/>
            </a:solidFill>
            <a:prstDash val="solid"/>
          </a:ln>
        </p:spPr>
      </p:sp>
      <p:sp>
        <p:nvSpPr>
          <p:cNvPr id="6" name="Text 3"/>
          <p:cNvSpPr txBox="1"/>
          <p:nvPr/>
        </p:nvSpPr>
        <p:spPr>
          <a:xfrm>
            <a:off x="868680" y="1280160"/>
            <a:ext cx="10424160" cy="777240"/>
          </a:xfrm>
          <a:prstGeom prst="rect">
            <a:avLst/>
          </a:prstGeom>
          <a:noFill/>
          <a:ln/>
        </p:spPr>
        <p:txBody>
          <a:bodyPr wrap="square" lIns="0" tIns="0" rIns="0" bIns="0" rtlCol="0" anchor="ctr"/>
          <a:lstStyle/>
          <a:p>
            <a:pPr indent="0" marL="0">
              <a:buNone/>
            </a:pPr>
            <a:r>
              <a:rPr lang="en-US" sz="1600" b="1" dirty="0">
                <a:solidFill>
                  <a:srgbClr val="0B1E3D"/>
                </a:solidFill>
                <a:latin typeface="Calibri" pitchFamily="34" charset="0"/>
                <a:ea typeface="Calibri" pitchFamily="34" charset="-122"/>
                <a:cs typeface="Calibri" pitchFamily="34" charset="-120"/>
              </a:rPr>
              <a:t>Problem: </a:t>
            </a:r>
            <a:pPr indent="0" marL="0">
              <a:buNone/>
            </a:pPr>
            <a:r>
              <a:rPr lang="en-US" sz="1600" dirty="0">
                <a:solidFill>
                  <a:srgbClr val="13233B"/>
                </a:solidFill>
                <a:latin typeface="Calibri" pitchFamily="34" charset="0"/>
                <a:ea typeface="Calibri" pitchFamily="34" charset="-122"/>
                <a:cs typeface="Calibri" pitchFamily="34" charset="-120"/>
              </a:rPr>
              <a:t>Main program at address 100 executes CALL 500 (the next instruction after the call is at address 102). Subroutine at 500 executes RET. Trace PC and the stack.</a:t>
            </a:r>
            <a:endParaRPr lang="en-US" sz="1600" dirty="0"/>
          </a:p>
        </p:txBody>
      </p:sp>
      <p:sp>
        <p:nvSpPr>
          <p:cNvPr id="7" name="Text 4"/>
          <p:cNvSpPr txBox="1"/>
          <p:nvPr/>
        </p:nvSpPr>
        <p:spPr>
          <a:xfrm>
            <a:off x="868680" y="2286000"/>
            <a:ext cx="10424160" cy="3931920"/>
          </a:xfrm>
          <a:prstGeom prst="rect">
            <a:avLst/>
          </a:prstGeom>
          <a:noFill/>
          <a:ln/>
        </p:spPr>
        <p:txBody>
          <a:bodyPr wrap="square" lIns="0" tIns="0" rIns="0" bIns="0" rtlCol="0" anchor="t"/>
          <a:lstStyle/>
          <a:p>
            <a:pPr marL="254000" indent="-254000">
              <a:lnSpc>
                <a:spcPct val="112000"/>
              </a:lnSpc>
              <a:spcAft>
                <a:spcPts val="1400"/>
              </a:spcAft>
              <a:buSzPct val="100000"/>
              <a:buChar char="➤"/>
            </a:pPr>
            <a:r>
              <a:rPr lang="en-US" sz="1800" dirty="0">
                <a:solidFill>
                  <a:srgbClr val="13233B"/>
                </a:solidFill>
                <a:latin typeface="Calibri" pitchFamily="34" charset="0"/>
                <a:ea typeface="Calibri" pitchFamily="34" charset="-122"/>
                <a:cs typeface="Calibri" pitchFamily="34" charset="-120"/>
              </a:rPr>
              <a:t>Before CALL: PC = 100, SP = 8000 (empty stack).</a:t>
            </a:r>
            <a:endParaRPr lang="en-US" sz="1800" dirty="0"/>
          </a:p>
          <a:p>
            <a:pPr marL="254000" indent="-254000">
              <a:lnSpc>
                <a:spcPct val="112000"/>
              </a:lnSpc>
              <a:spcAft>
                <a:spcPts val="1400"/>
              </a:spcAft>
              <a:buSzPct val="100000"/>
              <a:buChar char="➤"/>
            </a:pPr>
            <a:r>
              <a:rPr lang="en-US" sz="1800" dirty="0">
                <a:solidFill>
                  <a:srgbClr val="13233B"/>
                </a:solidFill>
                <a:latin typeface="Calibri" pitchFamily="34" charset="0"/>
                <a:ea typeface="Calibri" pitchFamily="34" charset="-122"/>
                <a:cs typeface="Calibri" pitchFamily="34" charset="-120"/>
              </a:rPr>
              <a:t>CALL 500 executes: PUSH 102 (the return address) → SP becomes 7998, Memory[7998] = 102.</a:t>
            </a:r>
            <a:endParaRPr lang="en-US" sz="1800" dirty="0"/>
          </a:p>
          <a:p>
            <a:pPr marL="254000" indent="-254000">
              <a:lnSpc>
                <a:spcPct val="112000"/>
              </a:lnSpc>
              <a:spcAft>
                <a:spcPts val="1400"/>
              </a:spcAft>
              <a:buSzPct val="100000"/>
              <a:buChar char="➤"/>
            </a:pPr>
            <a:r>
              <a:rPr lang="en-US" sz="1800" dirty="0">
                <a:solidFill>
                  <a:srgbClr val="13233B"/>
                </a:solidFill>
                <a:latin typeface="Calibri" pitchFamily="34" charset="0"/>
                <a:ea typeface="Calibri" pitchFamily="34" charset="-122"/>
                <a:cs typeface="Calibri" pitchFamily="34" charset="-120"/>
              </a:rPr>
              <a:t>PC is now set to 500 — execution jumps into the subroutine.</a:t>
            </a:r>
            <a:endParaRPr lang="en-US" sz="1800" dirty="0"/>
          </a:p>
          <a:p>
            <a:pPr marL="254000" indent="-254000">
              <a:lnSpc>
                <a:spcPct val="112000"/>
              </a:lnSpc>
              <a:spcAft>
                <a:spcPts val="1400"/>
              </a:spcAft>
              <a:buSzPct val="100000"/>
              <a:buChar char="➤"/>
            </a:pPr>
            <a:r>
              <a:rPr lang="en-US" sz="1800" dirty="0">
                <a:solidFill>
                  <a:srgbClr val="13233B"/>
                </a:solidFill>
                <a:latin typeface="Calibri" pitchFamily="34" charset="0"/>
                <a:ea typeface="Calibri" pitchFamily="34" charset="-122"/>
                <a:cs typeface="Calibri" pitchFamily="34" charset="-120"/>
              </a:rPr>
              <a:t>Subroutine runs its body (not shown) and reaches RET.</a:t>
            </a:r>
            <a:endParaRPr lang="en-US" sz="1800" dirty="0"/>
          </a:p>
          <a:p>
            <a:pPr marL="254000" indent="-254000">
              <a:lnSpc>
                <a:spcPct val="112000"/>
              </a:lnSpc>
              <a:spcAft>
                <a:spcPts val="1400"/>
              </a:spcAft>
              <a:buSzPct val="100000"/>
              <a:buChar char="➤"/>
            </a:pPr>
            <a:r>
              <a:rPr lang="en-US" sz="1800" dirty="0">
                <a:solidFill>
                  <a:srgbClr val="13233B"/>
                </a:solidFill>
                <a:latin typeface="Calibri" pitchFamily="34" charset="0"/>
                <a:ea typeface="Calibri" pitchFamily="34" charset="-122"/>
                <a:cs typeface="Calibri" pitchFamily="34" charset="-120"/>
              </a:rPr>
              <a:t>RET executes: POP the value at Memory[7998] = 102 into PC; SP returns to 8000.</a:t>
            </a:r>
            <a:endParaRPr lang="en-US" sz="1800" dirty="0"/>
          </a:p>
          <a:p>
            <a:pPr marL="254000" indent="-254000">
              <a:lnSpc>
                <a:spcPct val="112000"/>
              </a:lnSpc>
              <a:spcAft>
                <a:spcPts val="1400"/>
              </a:spcAft>
              <a:buSzPct val="100000"/>
              <a:buChar char="➤"/>
            </a:pPr>
            <a:r>
              <a:rPr lang="en-US" sz="1800" dirty="0">
                <a:solidFill>
                  <a:srgbClr val="13233B"/>
                </a:solidFill>
                <a:latin typeface="Calibri" pitchFamily="34" charset="0"/>
                <a:ea typeface="Calibri" pitchFamily="34" charset="-122"/>
                <a:cs typeface="Calibri" pitchFamily="34" charset="-120"/>
              </a:rPr>
              <a:t>PC is now 102 — execution resumes in main, exactly one instruction after the original CALL.</a:t>
            </a:r>
            <a:endParaRPr lang="en-US" sz="1800" dirty="0"/>
          </a:p>
        </p:txBody>
      </p:sp>
      <p:sp>
        <p:nvSpPr>
          <p:cNvPr id="8" name="Text 5"/>
          <p:cNvSpPr txBox="1"/>
          <p:nvPr/>
        </p:nvSpPr>
        <p:spPr>
          <a:xfrm>
            <a:off x="457200" y="6492240"/>
            <a:ext cx="8686800" cy="274320"/>
          </a:xfrm>
          <a:prstGeom prst="rect">
            <a:avLst/>
          </a:prstGeom>
          <a:noFill/>
          <a:ln/>
        </p:spPr>
        <p:txBody>
          <a:bodyPr wrap="square" lIns="0" tIns="0" rIns="0" bIns="0" rtlCol="0" anchor="ctr"/>
          <a:lstStyle/>
          <a:p>
            <a:pPr algn="l" indent="0" marL="0">
              <a:buNone/>
            </a:pPr>
            <a:r>
              <a:rPr lang="en-US" sz="1000" dirty="0">
                <a:solidFill>
                  <a:srgbClr val="4A5A72"/>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1000" dirty="0"/>
          </a:p>
        </p:txBody>
      </p:sp>
      <p:sp>
        <p:nvSpPr>
          <p:cNvPr id="9" name="Text 6"/>
          <p:cNvSpPr txBox="1"/>
          <p:nvPr/>
        </p:nvSpPr>
        <p:spPr>
          <a:xfrm>
            <a:off x="11274552" y="6492240"/>
            <a:ext cx="457200" cy="274320"/>
          </a:xfrm>
          <a:prstGeom prst="rect">
            <a:avLst/>
          </a:prstGeom>
          <a:noFill/>
          <a:ln/>
        </p:spPr>
        <p:txBody>
          <a:bodyPr wrap="square" lIns="0" tIns="0" rIns="0" bIns="0" rtlCol="0" anchor="ctr"/>
          <a:lstStyle/>
          <a:p>
            <a:pPr algn="r" indent="0" marL="0">
              <a:buNone/>
            </a:pPr>
            <a:r>
              <a:rPr lang="en-US" sz="1000" dirty="0">
                <a:solidFill>
                  <a:srgbClr val="4A5A72"/>
                </a:solidFill>
                <a:latin typeface="Calibri" pitchFamily="34" charset="0"/>
                <a:ea typeface="Calibri" pitchFamily="34" charset="-122"/>
                <a:cs typeface="Calibri" pitchFamily="34" charset="-120"/>
              </a:rPr>
              <a:t>27</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1E3D"/>
          </a:solidFill>
          <a:ln/>
        </p:spPr>
      </p:sp>
      <p:pic>
        <p:nvPicPr>
          <p:cNvPr id="3" name="Image 0" descr="preencoded.png">    </p:cNvPr>
          <p:cNvPicPr>
            <a:picLocks noChangeAspect="1"/>
          </p:cNvPicPr>
          <p:nvPr/>
        </p:nvPicPr>
        <p:blipFill>
          <a:blip r:embed="rId1"/>
          <a:stretch>
            <a:fillRect/>
          </a:stretch>
        </p:blipFill>
        <p:spPr>
          <a:xfrm>
            <a:off x="548640" y="256032"/>
            <a:ext cx="548640" cy="548640"/>
          </a:xfrm>
          <a:prstGeom prst="rect">
            <a:avLst/>
          </a:prstGeom>
        </p:spPr>
      </p:pic>
      <p:sp>
        <p:nvSpPr>
          <p:cNvPr id="4" name="Text 1"/>
          <p:cNvSpPr txBox="1"/>
          <p:nvPr/>
        </p:nvSpPr>
        <p:spPr>
          <a:xfrm>
            <a:off x="1280160" y="182880"/>
            <a:ext cx="10241280" cy="7315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Parameter Passing Using the Stack</a:t>
            </a:r>
            <a:endParaRPr lang="en-US" sz="2800" dirty="0"/>
          </a:p>
        </p:txBody>
      </p:sp>
      <p:sp>
        <p:nvSpPr>
          <p:cNvPr id="5" name="Text 2"/>
          <p:cNvSpPr txBox="1"/>
          <p:nvPr/>
        </p:nvSpPr>
        <p:spPr>
          <a:xfrm>
            <a:off x="822960" y="1463040"/>
            <a:ext cx="10515600" cy="4754880"/>
          </a:xfrm>
          <a:prstGeom prst="rect">
            <a:avLst/>
          </a:prstGeom>
          <a:noFill/>
          <a:ln/>
        </p:spPr>
        <p:txBody>
          <a:bodyPr wrap="square" lIns="0" tIns="0" rIns="0" bIns="0" rtlCol="0" anchor="t"/>
          <a:lstStyle/>
          <a:p>
            <a:pPr marL="228600" indent="-228600">
              <a:lnSpc>
                <a:spcPct val="115000"/>
              </a:lnSpc>
              <a:spcAft>
                <a:spcPts val="1600"/>
              </a:spcAft>
              <a:buSzPct val="100000"/>
              <a:buChar char="•"/>
            </a:pPr>
            <a:r>
              <a:rPr lang="en-US" sz="2000" dirty="0">
                <a:solidFill>
                  <a:srgbClr val="13233B"/>
                </a:solidFill>
                <a:latin typeface="Calibri" pitchFamily="34" charset="0"/>
                <a:ea typeface="Calibri" pitchFamily="34" charset="-122"/>
                <a:cs typeface="Calibri" pitchFamily="34" charset="-120"/>
              </a:rPr>
              <a:t>Many calling conventions pass function arguments by pushing them onto the stack before the CALL</a:t>
            </a:r>
            <a:endParaRPr lang="en-US" sz="2000" dirty="0"/>
          </a:p>
          <a:p>
            <a:pPr marL="228600" indent="-228600">
              <a:lnSpc>
                <a:spcPct val="115000"/>
              </a:lnSpc>
              <a:spcAft>
                <a:spcPts val="1600"/>
              </a:spcAft>
              <a:buSzPct val="100000"/>
              <a:buChar char="•"/>
            </a:pPr>
            <a:r>
              <a:rPr lang="en-US" sz="2000" dirty="0">
                <a:solidFill>
                  <a:srgbClr val="13233B"/>
                </a:solidFill>
                <a:latin typeface="Calibri" pitchFamily="34" charset="0"/>
                <a:ea typeface="Calibri" pitchFamily="34" charset="-122"/>
                <a:cs typeface="Calibri" pitchFamily="34" charset="-120"/>
              </a:rPr>
              <a:t>Example: to call f(a, b), PUSH b, then PUSH a, then CALL f</a:t>
            </a:r>
            <a:endParaRPr lang="en-US" sz="2000" dirty="0"/>
          </a:p>
          <a:p>
            <a:pPr marL="228600" indent="-228600">
              <a:lnSpc>
                <a:spcPct val="115000"/>
              </a:lnSpc>
              <a:spcAft>
                <a:spcPts val="1600"/>
              </a:spcAft>
              <a:buSzPct val="100000"/>
              <a:buChar char="•"/>
            </a:pPr>
            <a:r>
              <a:rPr lang="en-US" sz="2000" dirty="0">
                <a:solidFill>
                  <a:srgbClr val="13233B"/>
                </a:solidFill>
                <a:latin typeface="Calibri" pitchFamily="34" charset="0"/>
                <a:ea typeface="Calibri" pitchFamily="34" charset="-122"/>
                <a:cs typeface="Calibri" pitchFamily="34" charset="-120"/>
              </a:rPr>
              <a:t>Inside f, parameters are accessed using DISPLACEMENT addressing relative to SP (or a dedicated frame pointer)</a:t>
            </a:r>
            <a:endParaRPr lang="en-US" sz="2000" dirty="0"/>
          </a:p>
          <a:p>
            <a:pPr marL="228600" indent="-228600">
              <a:lnSpc>
                <a:spcPct val="115000"/>
              </a:lnSpc>
              <a:spcAft>
                <a:spcPts val="1600"/>
              </a:spcAft>
              <a:buSzPct val="100000"/>
              <a:buChar char="•"/>
            </a:pPr>
            <a:r>
              <a:rPr lang="en-US" sz="2000" dirty="0">
                <a:solidFill>
                  <a:srgbClr val="13233B"/>
                </a:solidFill>
                <a:latin typeface="Calibri" pitchFamily="34" charset="0"/>
                <a:ea typeface="Calibri" pitchFamily="34" charset="-122"/>
                <a:cs typeface="Calibri" pitchFamily="34" charset="-120"/>
              </a:rPr>
              <a:t>This region of the stack belonging to one function invocation is called a stack frame (or activation record)</a:t>
            </a:r>
            <a:endParaRPr lang="en-US" sz="2000" dirty="0"/>
          </a:p>
        </p:txBody>
      </p:sp>
      <p:sp>
        <p:nvSpPr>
          <p:cNvPr id="6" name="Text 3"/>
          <p:cNvSpPr txBox="1"/>
          <p:nvPr/>
        </p:nvSpPr>
        <p:spPr>
          <a:xfrm>
            <a:off x="457200" y="6492240"/>
            <a:ext cx="8686800" cy="274320"/>
          </a:xfrm>
          <a:prstGeom prst="rect">
            <a:avLst/>
          </a:prstGeom>
          <a:noFill/>
          <a:ln/>
        </p:spPr>
        <p:txBody>
          <a:bodyPr wrap="square" lIns="0" tIns="0" rIns="0" bIns="0" rtlCol="0" anchor="ctr"/>
          <a:lstStyle/>
          <a:p>
            <a:pPr algn="l" indent="0" marL="0">
              <a:buNone/>
            </a:pPr>
            <a:r>
              <a:rPr lang="en-US" sz="1000" dirty="0">
                <a:solidFill>
                  <a:srgbClr val="4A5A72"/>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1000" dirty="0"/>
          </a:p>
        </p:txBody>
      </p:sp>
      <p:sp>
        <p:nvSpPr>
          <p:cNvPr id="7" name="Text 4"/>
          <p:cNvSpPr txBox="1"/>
          <p:nvPr/>
        </p:nvSpPr>
        <p:spPr>
          <a:xfrm>
            <a:off x="11274552" y="6492240"/>
            <a:ext cx="457200" cy="274320"/>
          </a:xfrm>
          <a:prstGeom prst="rect">
            <a:avLst/>
          </a:prstGeom>
          <a:noFill/>
          <a:ln/>
        </p:spPr>
        <p:txBody>
          <a:bodyPr wrap="square" lIns="0" tIns="0" rIns="0" bIns="0" rtlCol="0" anchor="ctr"/>
          <a:lstStyle/>
          <a:p>
            <a:pPr algn="r" indent="0" marL="0">
              <a:buNone/>
            </a:pPr>
            <a:r>
              <a:rPr lang="en-US" sz="1000" dirty="0">
                <a:solidFill>
                  <a:srgbClr val="4A5A72"/>
                </a:solidFill>
                <a:latin typeface="Calibri" pitchFamily="34" charset="0"/>
                <a:ea typeface="Calibri" pitchFamily="34" charset="-122"/>
                <a:cs typeface="Calibri" pitchFamily="34" charset="-120"/>
              </a:rPr>
              <a:t>28</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1E3D"/>
          </a:solidFill>
          <a:ln/>
        </p:spPr>
      </p:sp>
      <p:pic>
        <p:nvPicPr>
          <p:cNvPr id="3" name="Image 0" descr="preencoded.png">    </p:cNvPr>
          <p:cNvPicPr>
            <a:picLocks noChangeAspect="1"/>
          </p:cNvPicPr>
          <p:nvPr/>
        </p:nvPicPr>
        <p:blipFill>
          <a:blip r:embed="rId1"/>
          <a:stretch>
            <a:fillRect/>
          </a:stretch>
        </p:blipFill>
        <p:spPr>
          <a:xfrm>
            <a:off x="548640" y="256032"/>
            <a:ext cx="548640" cy="548640"/>
          </a:xfrm>
          <a:prstGeom prst="rect">
            <a:avLst/>
          </a:prstGeom>
        </p:spPr>
      </p:pic>
      <p:sp>
        <p:nvSpPr>
          <p:cNvPr id="4" name="Text 1"/>
          <p:cNvSpPr txBox="1"/>
          <p:nvPr/>
        </p:nvSpPr>
        <p:spPr>
          <a:xfrm>
            <a:off x="1280160" y="182880"/>
            <a:ext cx="10241280" cy="7315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Worked Example 6: Nested Calls and Stack Growth</a:t>
            </a:r>
            <a:endParaRPr lang="en-US" sz="2600" dirty="0"/>
          </a:p>
        </p:txBody>
      </p:sp>
      <p:sp>
        <p:nvSpPr>
          <p:cNvPr id="5" name="Shape 2"/>
          <p:cNvSpPr/>
          <p:nvPr/>
        </p:nvSpPr>
        <p:spPr>
          <a:xfrm>
            <a:off x="640080" y="1280160"/>
            <a:ext cx="10881360" cy="777240"/>
          </a:xfrm>
          <a:prstGeom prst="roundRect">
            <a:avLst>
              <a:gd name="adj" fmla="val 7059"/>
            </a:avLst>
          </a:prstGeom>
          <a:solidFill>
            <a:srgbClr val="F4F7FB"/>
          </a:solidFill>
          <a:ln w="12700">
            <a:solidFill>
              <a:srgbClr val="D8E1EC"/>
            </a:solidFill>
            <a:prstDash val="solid"/>
          </a:ln>
        </p:spPr>
      </p:sp>
      <p:sp>
        <p:nvSpPr>
          <p:cNvPr id="6" name="Text 3"/>
          <p:cNvSpPr txBox="1"/>
          <p:nvPr/>
        </p:nvSpPr>
        <p:spPr>
          <a:xfrm>
            <a:off x="868680" y="1280160"/>
            <a:ext cx="10424160" cy="777240"/>
          </a:xfrm>
          <a:prstGeom prst="rect">
            <a:avLst/>
          </a:prstGeom>
          <a:noFill/>
          <a:ln/>
        </p:spPr>
        <p:txBody>
          <a:bodyPr wrap="square" lIns="0" tIns="0" rIns="0" bIns="0" rtlCol="0" anchor="ctr"/>
          <a:lstStyle/>
          <a:p>
            <a:pPr indent="0" marL="0">
              <a:buNone/>
            </a:pPr>
            <a:r>
              <a:rPr lang="en-US" sz="1600" b="1" dirty="0">
                <a:solidFill>
                  <a:srgbClr val="0B1E3D"/>
                </a:solidFill>
                <a:latin typeface="Calibri" pitchFamily="34" charset="0"/>
                <a:ea typeface="Calibri" pitchFamily="34" charset="-122"/>
                <a:cs typeface="Calibri" pitchFamily="34" charset="-120"/>
              </a:rPr>
              <a:t>Problem: </a:t>
            </a:r>
            <a:pPr indent="0" marL="0">
              <a:buNone/>
            </a:pPr>
            <a:r>
              <a:rPr lang="en-US" sz="1600" dirty="0">
                <a:solidFill>
                  <a:srgbClr val="13233B"/>
                </a:solidFill>
                <a:latin typeface="Calibri" pitchFamily="34" charset="0"/>
                <a:ea typeface="Calibri" pitchFamily="34" charset="-122"/>
                <a:cs typeface="Calibri" pitchFamily="34" charset="-120"/>
              </a:rPr>
              <a:t>main() calls funcA(), which calls funcB(). Show what the stack looks like at the moment funcB() is executing.</a:t>
            </a:r>
            <a:endParaRPr lang="en-US" sz="1600" dirty="0"/>
          </a:p>
        </p:txBody>
      </p:sp>
      <p:sp>
        <p:nvSpPr>
          <p:cNvPr id="7" name="Text 4"/>
          <p:cNvSpPr txBox="1"/>
          <p:nvPr/>
        </p:nvSpPr>
        <p:spPr>
          <a:xfrm>
            <a:off x="868680" y="2286000"/>
            <a:ext cx="10424160" cy="3931920"/>
          </a:xfrm>
          <a:prstGeom prst="rect">
            <a:avLst/>
          </a:prstGeom>
          <a:noFill/>
          <a:ln/>
        </p:spPr>
        <p:txBody>
          <a:bodyPr wrap="square" lIns="0" tIns="0" rIns="0" bIns="0" rtlCol="0" anchor="t"/>
          <a:lstStyle/>
          <a:p>
            <a:pPr marL="254000" indent="-254000">
              <a:lnSpc>
                <a:spcPct val="112000"/>
              </a:lnSpc>
              <a:spcAft>
                <a:spcPts val="1400"/>
              </a:spcAft>
              <a:buSzPct val="100000"/>
              <a:buChar char="➤"/>
            </a:pPr>
            <a:r>
              <a:rPr lang="en-US" sz="1800" dirty="0">
                <a:solidFill>
                  <a:srgbClr val="13233B"/>
                </a:solidFill>
                <a:latin typeface="Calibri" pitchFamily="34" charset="0"/>
                <a:ea typeface="Calibri" pitchFamily="34" charset="-122"/>
                <a:cs typeface="Calibri" pitchFamily="34" charset="-120"/>
              </a:rPr>
              <a:t>Step 1 — main() executes CALL funcA → return address into main is pushed. Stack (top to bottom): [return-to-main].</a:t>
            </a:r>
            <a:endParaRPr lang="en-US" sz="1800" dirty="0"/>
          </a:p>
          <a:p>
            <a:pPr marL="254000" indent="-254000">
              <a:lnSpc>
                <a:spcPct val="112000"/>
              </a:lnSpc>
              <a:spcAft>
                <a:spcPts val="1400"/>
              </a:spcAft>
              <a:buSzPct val="100000"/>
              <a:buChar char="➤"/>
            </a:pPr>
            <a:r>
              <a:rPr lang="en-US" sz="1800" dirty="0">
                <a:solidFill>
                  <a:srgbClr val="13233B"/>
                </a:solidFill>
                <a:latin typeface="Calibri" pitchFamily="34" charset="0"/>
                <a:ea typeface="Calibri" pitchFamily="34" charset="-122"/>
                <a:cs typeface="Calibri" pitchFamily="34" charset="-120"/>
              </a:rPr>
              <a:t>Step 2 — funcA() executes CALL funcB → return address into funcA is pushed on top. Stack: [return-to-funcA, return-to-main].</a:t>
            </a:r>
            <a:endParaRPr lang="en-US" sz="1800" dirty="0"/>
          </a:p>
          <a:p>
            <a:pPr marL="254000" indent="-254000">
              <a:lnSpc>
                <a:spcPct val="112000"/>
              </a:lnSpc>
              <a:spcAft>
                <a:spcPts val="1400"/>
              </a:spcAft>
              <a:buSzPct val="100000"/>
              <a:buChar char="➤"/>
            </a:pPr>
            <a:r>
              <a:rPr lang="en-US" sz="1800" dirty="0">
                <a:solidFill>
                  <a:srgbClr val="13233B"/>
                </a:solidFill>
                <a:latin typeface="Calibri" pitchFamily="34" charset="0"/>
                <a:ea typeface="Calibri" pitchFamily="34" charset="-122"/>
                <a:cs typeface="Calibri" pitchFamily="34" charset="-120"/>
              </a:rPr>
              <a:t>Step 3 — funcB() is now executing, with TWO return addresses sitting on the stack, most recent on top.</a:t>
            </a:r>
            <a:endParaRPr lang="en-US" sz="1800" dirty="0"/>
          </a:p>
          <a:p>
            <a:pPr marL="254000" indent="-254000">
              <a:lnSpc>
                <a:spcPct val="112000"/>
              </a:lnSpc>
              <a:spcAft>
                <a:spcPts val="1400"/>
              </a:spcAft>
              <a:buSzPct val="100000"/>
              <a:buChar char="➤"/>
            </a:pPr>
            <a:r>
              <a:rPr lang="en-US" sz="1800" dirty="0">
                <a:solidFill>
                  <a:srgbClr val="13233B"/>
                </a:solidFill>
                <a:latin typeface="Calibri" pitchFamily="34" charset="0"/>
                <a:ea typeface="Calibri" pitchFamily="34" charset="-122"/>
                <a:cs typeface="Calibri" pitchFamily="34" charset="-120"/>
              </a:rPr>
              <a:t>Step 4 — When funcB() executes RET, it pops "return-to-funcA" and resumes exactly there — NOT in main.</a:t>
            </a:r>
            <a:endParaRPr lang="en-US" sz="1800" dirty="0"/>
          </a:p>
          <a:p>
            <a:pPr marL="254000" indent="-254000">
              <a:lnSpc>
                <a:spcPct val="112000"/>
              </a:lnSpc>
              <a:spcAft>
                <a:spcPts val="1400"/>
              </a:spcAft>
              <a:buSzPct val="100000"/>
              <a:buChar char="➤"/>
            </a:pPr>
            <a:r>
              <a:rPr lang="en-US" sz="1800" dirty="0">
                <a:solidFill>
                  <a:srgbClr val="13233B"/>
                </a:solidFill>
                <a:latin typeface="Calibri" pitchFamily="34" charset="0"/>
                <a:ea typeface="Calibri" pitchFamily="34" charset="-122"/>
                <a:cs typeface="Calibri" pitchFamily="34" charset="-120"/>
              </a:rPr>
              <a:t>Step 5 — When funcA() later executes RET, it pops "return-to-main" and control finally returns to main().</a:t>
            </a:r>
            <a:endParaRPr lang="en-US" sz="1800" dirty="0"/>
          </a:p>
        </p:txBody>
      </p:sp>
      <p:sp>
        <p:nvSpPr>
          <p:cNvPr id="8" name="Text 5"/>
          <p:cNvSpPr txBox="1"/>
          <p:nvPr/>
        </p:nvSpPr>
        <p:spPr>
          <a:xfrm>
            <a:off x="457200" y="6492240"/>
            <a:ext cx="8686800" cy="274320"/>
          </a:xfrm>
          <a:prstGeom prst="rect">
            <a:avLst/>
          </a:prstGeom>
          <a:noFill/>
          <a:ln/>
        </p:spPr>
        <p:txBody>
          <a:bodyPr wrap="square" lIns="0" tIns="0" rIns="0" bIns="0" rtlCol="0" anchor="ctr"/>
          <a:lstStyle/>
          <a:p>
            <a:pPr algn="l" indent="0" marL="0">
              <a:buNone/>
            </a:pPr>
            <a:r>
              <a:rPr lang="en-US" sz="1000" dirty="0">
                <a:solidFill>
                  <a:srgbClr val="4A5A72"/>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1000" dirty="0"/>
          </a:p>
        </p:txBody>
      </p:sp>
      <p:sp>
        <p:nvSpPr>
          <p:cNvPr id="9" name="Text 6"/>
          <p:cNvSpPr txBox="1"/>
          <p:nvPr/>
        </p:nvSpPr>
        <p:spPr>
          <a:xfrm>
            <a:off x="11274552" y="6492240"/>
            <a:ext cx="457200" cy="274320"/>
          </a:xfrm>
          <a:prstGeom prst="rect">
            <a:avLst/>
          </a:prstGeom>
          <a:noFill/>
          <a:ln/>
        </p:spPr>
        <p:txBody>
          <a:bodyPr wrap="square" lIns="0" tIns="0" rIns="0" bIns="0" rtlCol="0" anchor="ctr"/>
          <a:lstStyle/>
          <a:p>
            <a:pPr algn="r" indent="0" marL="0">
              <a:buNone/>
            </a:pPr>
            <a:r>
              <a:rPr lang="en-US" sz="1000" dirty="0">
                <a:solidFill>
                  <a:srgbClr val="4A5A72"/>
                </a:solidFill>
                <a:latin typeface="Calibri" pitchFamily="34" charset="0"/>
                <a:ea typeface="Calibri" pitchFamily="34" charset="-122"/>
                <a:cs typeface="Calibri" pitchFamily="34" charset="-120"/>
              </a:rPr>
              <a:t>29</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1E3D"/>
          </a:solidFill>
          <a:ln/>
        </p:spPr>
      </p:sp>
      <p:pic>
        <p:nvPicPr>
          <p:cNvPr id="3" name="Image 0" descr="preencoded.png">    </p:cNvPr>
          <p:cNvPicPr>
            <a:picLocks noChangeAspect="1"/>
          </p:cNvPicPr>
          <p:nvPr/>
        </p:nvPicPr>
        <p:blipFill>
          <a:blip r:embed="rId1"/>
          <a:stretch>
            <a:fillRect/>
          </a:stretch>
        </p:blipFill>
        <p:spPr>
          <a:xfrm>
            <a:off x="548640" y="256032"/>
            <a:ext cx="548640" cy="548640"/>
          </a:xfrm>
          <a:prstGeom prst="rect">
            <a:avLst/>
          </a:prstGeom>
        </p:spPr>
      </p:pic>
      <p:sp>
        <p:nvSpPr>
          <p:cNvPr id="4" name="Text 1"/>
          <p:cNvSpPr txBox="1"/>
          <p:nvPr/>
        </p:nvSpPr>
        <p:spPr>
          <a:xfrm>
            <a:off x="1280160" y="182880"/>
            <a:ext cx="10241280" cy="7315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Common Misconceptions &amp; Pitfalls</a:t>
            </a:r>
            <a:endParaRPr lang="en-US" sz="2800" dirty="0"/>
          </a:p>
        </p:txBody>
      </p:sp>
      <p:sp>
        <p:nvSpPr>
          <p:cNvPr id="5" name="Text 2"/>
          <p:cNvSpPr txBox="1"/>
          <p:nvPr/>
        </p:nvSpPr>
        <p:spPr>
          <a:xfrm>
            <a:off x="822960" y="1463040"/>
            <a:ext cx="10515600" cy="4754880"/>
          </a:xfrm>
          <a:prstGeom prst="rect">
            <a:avLst/>
          </a:prstGeom>
          <a:noFill/>
          <a:ln/>
        </p:spPr>
        <p:txBody>
          <a:bodyPr wrap="square" lIns="0" tIns="0" rIns="0" bIns="0" rtlCol="0" anchor="t"/>
          <a:lstStyle/>
          <a:p>
            <a:pPr marL="228600" indent="-228600">
              <a:lnSpc>
                <a:spcPct val="115000"/>
              </a:lnSpc>
              <a:spcAft>
                <a:spcPts val="1600"/>
              </a:spcAft>
              <a:buSzPct val="100000"/>
              <a:buChar char="•"/>
            </a:pPr>
            <a:r>
              <a:rPr lang="en-US" sz="2000" dirty="0">
                <a:solidFill>
                  <a:srgbClr val="13233B"/>
                </a:solidFill>
                <a:latin typeface="Calibri" pitchFamily="34" charset="0"/>
                <a:ea typeface="Calibri" pitchFamily="34" charset="-122"/>
                <a:cs typeface="Calibri" pitchFamily="34" charset="-120"/>
              </a:rPr>
              <a:t>Misconception: "Indirect addressing and register-indirect addressing are the same thing" — indirect uses a memory address as the pointer; register-indirect uses a register as the pointer</a:t>
            </a:r>
            <a:endParaRPr lang="en-US" sz="2000" dirty="0"/>
          </a:p>
          <a:p>
            <a:pPr marL="228600" indent="-228600">
              <a:lnSpc>
                <a:spcPct val="115000"/>
              </a:lnSpc>
              <a:spcAft>
                <a:spcPts val="1600"/>
              </a:spcAft>
              <a:buSzPct val="100000"/>
              <a:buChar char="•"/>
            </a:pPr>
            <a:r>
              <a:rPr lang="en-US" sz="2000" dirty="0">
                <a:solidFill>
                  <a:srgbClr val="13233B"/>
                </a:solidFill>
                <a:latin typeface="Calibri" pitchFamily="34" charset="0"/>
                <a:ea typeface="Calibri" pitchFamily="34" charset="-122"/>
                <a:cs typeface="Calibri" pitchFamily="34" charset="-120"/>
              </a:rPr>
              <a:t>Misconception: "The stack always grows upward" — in most real architectures it grows toward LOWER addresses</a:t>
            </a:r>
            <a:endParaRPr lang="en-US" sz="2000" dirty="0"/>
          </a:p>
          <a:p>
            <a:pPr marL="228600" indent="-228600">
              <a:lnSpc>
                <a:spcPct val="115000"/>
              </a:lnSpc>
              <a:spcAft>
                <a:spcPts val="1600"/>
              </a:spcAft>
              <a:buSzPct val="100000"/>
              <a:buChar char="•"/>
            </a:pPr>
            <a:r>
              <a:rPr lang="en-US" sz="2000" dirty="0">
                <a:solidFill>
                  <a:srgbClr val="13233B"/>
                </a:solidFill>
                <a:latin typeface="Calibri" pitchFamily="34" charset="0"/>
                <a:ea typeface="Calibri" pitchFamily="34" charset="-122"/>
                <a:cs typeface="Calibri" pitchFamily="34" charset="-120"/>
              </a:rPr>
              <a:t>Pitfall: forgetting to balance every PUSH with a POP inside a subroutine corrupts the return address</a:t>
            </a:r>
            <a:endParaRPr lang="en-US" sz="2000" dirty="0"/>
          </a:p>
          <a:p>
            <a:pPr marL="228600" indent="-228600">
              <a:lnSpc>
                <a:spcPct val="115000"/>
              </a:lnSpc>
              <a:spcAft>
                <a:spcPts val="1600"/>
              </a:spcAft>
              <a:buSzPct val="100000"/>
              <a:buChar char="•"/>
            </a:pPr>
            <a:r>
              <a:rPr lang="en-US" sz="2000" dirty="0">
                <a:solidFill>
                  <a:srgbClr val="13233B"/>
                </a:solidFill>
                <a:latin typeface="Calibri" pitchFamily="34" charset="0"/>
                <a:ea typeface="Calibri" pitchFamily="34" charset="-122"/>
                <a:cs typeface="Calibri" pitchFamily="34" charset="-120"/>
              </a:rPr>
              <a:t>Pitfall: confusing Effective Address with the operand VALUE — EA is a location, not a value (except in immediate/register addressing)</a:t>
            </a:r>
            <a:endParaRPr lang="en-US" sz="2000" dirty="0"/>
          </a:p>
        </p:txBody>
      </p:sp>
      <p:sp>
        <p:nvSpPr>
          <p:cNvPr id="6" name="Text 3"/>
          <p:cNvSpPr txBox="1"/>
          <p:nvPr/>
        </p:nvSpPr>
        <p:spPr>
          <a:xfrm>
            <a:off x="457200" y="6492240"/>
            <a:ext cx="8686800" cy="274320"/>
          </a:xfrm>
          <a:prstGeom prst="rect">
            <a:avLst/>
          </a:prstGeom>
          <a:noFill/>
          <a:ln/>
        </p:spPr>
        <p:txBody>
          <a:bodyPr wrap="square" lIns="0" tIns="0" rIns="0" bIns="0" rtlCol="0" anchor="ctr"/>
          <a:lstStyle/>
          <a:p>
            <a:pPr algn="l" indent="0" marL="0">
              <a:buNone/>
            </a:pPr>
            <a:r>
              <a:rPr lang="en-US" sz="1000" dirty="0">
                <a:solidFill>
                  <a:srgbClr val="4A5A72"/>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1000" dirty="0"/>
          </a:p>
        </p:txBody>
      </p:sp>
      <p:sp>
        <p:nvSpPr>
          <p:cNvPr id="7" name="Text 4"/>
          <p:cNvSpPr txBox="1"/>
          <p:nvPr/>
        </p:nvSpPr>
        <p:spPr>
          <a:xfrm>
            <a:off x="11274552" y="6492240"/>
            <a:ext cx="457200" cy="274320"/>
          </a:xfrm>
          <a:prstGeom prst="rect">
            <a:avLst/>
          </a:prstGeom>
          <a:noFill/>
          <a:ln/>
        </p:spPr>
        <p:txBody>
          <a:bodyPr wrap="square" lIns="0" tIns="0" rIns="0" bIns="0" rtlCol="0" anchor="ctr"/>
          <a:lstStyle/>
          <a:p>
            <a:pPr algn="r" indent="0" marL="0">
              <a:buNone/>
            </a:pPr>
            <a:r>
              <a:rPr lang="en-US" sz="1000" dirty="0">
                <a:solidFill>
                  <a:srgbClr val="4A5A72"/>
                </a:solidFill>
                <a:latin typeface="Calibri" pitchFamily="34" charset="0"/>
                <a:ea typeface="Calibri" pitchFamily="34" charset="-122"/>
                <a:cs typeface="Calibri" pitchFamily="34" charset="-120"/>
              </a:rPr>
              <a:t>30</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1E3D"/>
          </a:solidFill>
          <a:ln/>
        </p:spPr>
      </p:sp>
      <p:pic>
        <p:nvPicPr>
          <p:cNvPr id="3" name="Image 0" descr="preencoded.png">    </p:cNvPr>
          <p:cNvPicPr>
            <a:picLocks noChangeAspect="1"/>
          </p:cNvPicPr>
          <p:nvPr/>
        </p:nvPicPr>
        <p:blipFill>
          <a:blip r:embed="rId1"/>
          <a:stretch>
            <a:fillRect/>
          </a:stretch>
        </p:blipFill>
        <p:spPr>
          <a:xfrm>
            <a:off x="548640" y="256032"/>
            <a:ext cx="548640" cy="548640"/>
          </a:xfrm>
          <a:prstGeom prst="rect">
            <a:avLst/>
          </a:prstGeom>
        </p:spPr>
      </p:pic>
      <p:sp>
        <p:nvSpPr>
          <p:cNvPr id="4" name="Text 1"/>
          <p:cNvSpPr txBox="1"/>
          <p:nvPr/>
        </p:nvSpPr>
        <p:spPr>
          <a:xfrm>
            <a:off x="1280160" y="182880"/>
            <a:ext cx="10241280" cy="7315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Summary: What We Covered</a:t>
            </a:r>
            <a:endParaRPr lang="en-US" sz="2800" dirty="0"/>
          </a:p>
        </p:txBody>
      </p:sp>
      <p:sp>
        <p:nvSpPr>
          <p:cNvPr id="5" name="Text 2"/>
          <p:cNvSpPr txBox="1"/>
          <p:nvPr/>
        </p:nvSpPr>
        <p:spPr>
          <a:xfrm>
            <a:off x="822960" y="1463040"/>
            <a:ext cx="10515600" cy="4754880"/>
          </a:xfrm>
          <a:prstGeom prst="rect">
            <a:avLst/>
          </a:prstGeom>
          <a:noFill/>
          <a:ln/>
        </p:spPr>
        <p:txBody>
          <a:bodyPr wrap="square" lIns="0" tIns="0" rIns="0" bIns="0" rtlCol="0" anchor="t"/>
          <a:lstStyle/>
          <a:p>
            <a:pPr marL="228600" indent="-228600">
              <a:lnSpc>
                <a:spcPct val="115000"/>
              </a:lnSpc>
              <a:spcAft>
                <a:spcPts val="1600"/>
              </a:spcAft>
              <a:buSzPct val="100000"/>
              <a:buChar char="•"/>
            </a:pPr>
            <a:r>
              <a:rPr lang="en-US" sz="2000" dirty="0">
                <a:solidFill>
                  <a:srgbClr val="13233B"/>
                </a:solidFill>
                <a:latin typeface="Calibri" pitchFamily="34" charset="0"/>
                <a:ea typeface="Calibri" pitchFamily="34" charset="-122"/>
                <a:cs typeface="Calibri" pitchFamily="34" charset="-120"/>
              </a:rPr>
              <a:t>Addressing modes define HOW the effective address of an operand is computed — immediate, direct, indirect, register, register-indirect, displacement, indexed, relative, auto-increment/decrement</a:t>
            </a:r>
            <a:endParaRPr lang="en-US" sz="2000" dirty="0"/>
          </a:p>
          <a:p>
            <a:pPr marL="228600" indent="-228600">
              <a:lnSpc>
                <a:spcPct val="115000"/>
              </a:lnSpc>
              <a:spcAft>
                <a:spcPts val="1600"/>
              </a:spcAft>
              <a:buSzPct val="100000"/>
              <a:buChar char="•"/>
            </a:pPr>
            <a:r>
              <a:rPr lang="en-US" sz="2000" dirty="0">
                <a:solidFill>
                  <a:srgbClr val="13233B"/>
                </a:solidFill>
                <a:latin typeface="Calibri" pitchFamily="34" charset="0"/>
                <a:ea typeface="Calibri" pitchFamily="34" charset="-122"/>
                <a:cs typeface="Calibri" pitchFamily="34" charset="-120"/>
              </a:rPr>
              <a:t>Each mode trades off speed against flexibility; real ISAs (x86, ARM, RISC-V) make deliberate choices here</a:t>
            </a:r>
            <a:endParaRPr lang="en-US" sz="2000" dirty="0"/>
          </a:p>
          <a:p>
            <a:pPr marL="228600" indent="-228600">
              <a:lnSpc>
                <a:spcPct val="115000"/>
              </a:lnSpc>
              <a:spcAft>
                <a:spcPts val="1600"/>
              </a:spcAft>
              <a:buSzPct val="100000"/>
              <a:buChar char="•"/>
            </a:pPr>
            <a:r>
              <a:rPr lang="en-US" sz="2000" dirty="0">
                <a:solidFill>
                  <a:srgbClr val="13233B"/>
                </a:solidFill>
                <a:latin typeface="Calibri" pitchFamily="34" charset="0"/>
                <a:ea typeface="Calibri" pitchFamily="34" charset="-122"/>
                <a:cs typeface="Calibri" pitchFamily="34" charset="-120"/>
              </a:rPr>
              <a:t>A stack is a LIFO structure managed by SP; PUSH/POP are really auto-decrement/auto-increment addressing applied to SP</a:t>
            </a:r>
            <a:endParaRPr lang="en-US" sz="2000" dirty="0"/>
          </a:p>
          <a:p>
            <a:pPr marL="228600" indent="-228600">
              <a:lnSpc>
                <a:spcPct val="115000"/>
              </a:lnSpc>
              <a:spcAft>
                <a:spcPts val="1600"/>
              </a:spcAft>
              <a:buSzPct val="100000"/>
              <a:buChar char="•"/>
            </a:pPr>
            <a:r>
              <a:rPr lang="en-US" sz="2000" dirty="0">
                <a:solidFill>
                  <a:srgbClr val="13233B"/>
                </a:solidFill>
                <a:latin typeface="Calibri" pitchFamily="34" charset="0"/>
                <a:ea typeface="Calibri" pitchFamily="34" charset="-122"/>
                <a:cs typeface="Calibri" pitchFamily="34" charset="-120"/>
              </a:rPr>
              <a:t>CALL pushes a return address and jumps; RET pops it and jumps back — this is how subroutines, parameter passing, and recursion all work</a:t>
            </a:r>
            <a:endParaRPr lang="en-US" sz="2000" dirty="0"/>
          </a:p>
        </p:txBody>
      </p:sp>
      <p:sp>
        <p:nvSpPr>
          <p:cNvPr id="6" name="Text 3"/>
          <p:cNvSpPr txBox="1"/>
          <p:nvPr/>
        </p:nvSpPr>
        <p:spPr>
          <a:xfrm>
            <a:off x="457200" y="6492240"/>
            <a:ext cx="8686800" cy="274320"/>
          </a:xfrm>
          <a:prstGeom prst="rect">
            <a:avLst/>
          </a:prstGeom>
          <a:noFill/>
          <a:ln/>
        </p:spPr>
        <p:txBody>
          <a:bodyPr wrap="square" lIns="0" tIns="0" rIns="0" bIns="0" rtlCol="0" anchor="ctr"/>
          <a:lstStyle/>
          <a:p>
            <a:pPr algn="l" indent="0" marL="0">
              <a:buNone/>
            </a:pPr>
            <a:r>
              <a:rPr lang="en-US" sz="1000" dirty="0">
                <a:solidFill>
                  <a:srgbClr val="4A5A72"/>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1000" dirty="0"/>
          </a:p>
        </p:txBody>
      </p:sp>
      <p:sp>
        <p:nvSpPr>
          <p:cNvPr id="7" name="Text 4"/>
          <p:cNvSpPr txBox="1"/>
          <p:nvPr/>
        </p:nvSpPr>
        <p:spPr>
          <a:xfrm>
            <a:off x="11274552" y="6492240"/>
            <a:ext cx="457200" cy="274320"/>
          </a:xfrm>
          <a:prstGeom prst="rect">
            <a:avLst/>
          </a:prstGeom>
          <a:noFill/>
          <a:ln/>
        </p:spPr>
        <p:txBody>
          <a:bodyPr wrap="square" lIns="0" tIns="0" rIns="0" bIns="0" rtlCol="0" anchor="ctr"/>
          <a:lstStyle/>
          <a:p>
            <a:pPr algn="r" indent="0" marL="0">
              <a:buNone/>
            </a:pPr>
            <a:r>
              <a:rPr lang="en-US" sz="1000" dirty="0">
                <a:solidFill>
                  <a:srgbClr val="4A5A72"/>
                </a:solidFill>
                <a:latin typeface="Calibri" pitchFamily="34" charset="0"/>
                <a:ea typeface="Calibri" pitchFamily="34" charset="-122"/>
                <a:cs typeface="Calibri" pitchFamily="34" charset="-120"/>
              </a:rPr>
              <a:t>31</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B1E3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320040"/>
            <a:ext cx="594360" cy="594360"/>
          </a:xfrm>
          <a:prstGeom prst="rect">
            <a:avLst/>
          </a:prstGeom>
        </p:spPr>
      </p:pic>
      <p:sp>
        <p:nvSpPr>
          <p:cNvPr id="3" name="Text 0"/>
          <p:cNvSpPr txBox="1"/>
          <p:nvPr/>
        </p:nvSpPr>
        <p:spPr>
          <a:xfrm>
            <a:off x="1280160" y="274320"/>
            <a:ext cx="10058400" cy="64008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Quiz — Check Your Understanding</a:t>
            </a:r>
            <a:endParaRPr lang="en-US" sz="2600" dirty="0"/>
          </a:p>
        </p:txBody>
      </p:sp>
      <p:sp>
        <p:nvSpPr>
          <p:cNvPr id="4" name="Shape 1"/>
          <p:cNvSpPr/>
          <p:nvPr/>
        </p:nvSpPr>
        <p:spPr>
          <a:xfrm>
            <a:off x="822960" y="1005840"/>
            <a:ext cx="4114800" cy="27432"/>
          </a:xfrm>
          <a:prstGeom prst="rect">
            <a:avLst/>
          </a:prstGeom>
          <a:solidFill>
            <a:srgbClr val="C9A438"/>
          </a:solidFill>
          <a:ln/>
        </p:spPr>
      </p:sp>
      <p:sp>
        <p:nvSpPr>
          <p:cNvPr id="5" name="Text 2"/>
          <p:cNvSpPr txBox="1"/>
          <p:nvPr/>
        </p:nvSpPr>
        <p:spPr>
          <a:xfrm>
            <a:off x="822960" y="1280160"/>
            <a:ext cx="10515600" cy="5120640"/>
          </a:xfrm>
          <a:prstGeom prst="rect">
            <a:avLst/>
          </a:prstGeom>
          <a:noFill/>
          <a:ln/>
        </p:spPr>
        <p:txBody>
          <a:bodyPr wrap="square" lIns="0" tIns="0" rIns="0" bIns="0" rtlCol="0" anchor="t"/>
          <a:lstStyle/>
          <a:p>
            <a:pPr indent="0" marL="0">
              <a:lnSpc>
                <a:spcPct val="110000"/>
              </a:lnSpc>
              <a:spcAft>
                <a:spcPts val="1200"/>
              </a:spcAft>
              <a:buNone/>
            </a:pPr>
            <a:r>
              <a:rPr lang="en-US" sz="1700" dirty="0">
                <a:solidFill>
                  <a:srgbClr val="FFFFFF"/>
                </a:solidFill>
                <a:latin typeface="Calibri" pitchFamily="34" charset="0"/>
                <a:ea typeface="Calibri" pitchFamily="34" charset="-122"/>
                <a:cs typeface="Calibri" pitchFamily="34" charset="-120"/>
              </a:rPr>
              <a:t>Q1 (MCQ): In MOV R1, #25, which addressing mode is used? (a) Direct (b) Immediate (c) Indirect (d) Indexed</a:t>
            </a:r>
            <a:endParaRPr lang="en-US" sz="1700" dirty="0"/>
          </a:p>
          <a:p>
            <a:pPr indent="0" marL="0">
              <a:lnSpc>
                <a:spcPct val="110000"/>
              </a:lnSpc>
              <a:spcAft>
                <a:spcPts val="1200"/>
              </a:spcAft>
              <a:buNone/>
            </a:pPr>
            <a:r>
              <a:rPr lang="en-US" sz="1700" dirty="0">
                <a:solidFill>
                  <a:srgbClr val="FFFFFF"/>
                </a:solidFill>
                <a:latin typeface="Calibri" pitchFamily="34" charset="0"/>
                <a:ea typeface="Calibri" pitchFamily="34" charset="-122"/>
                <a:cs typeface="Calibri" pitchFamily="34" charset="-120"/>
              </a:rPr>
              <a:t>Q2 (True/False): Register addressing requires a memory access to fetch the operand.</a:t>
            </a:r>
            <a:endParaRPr lang="en-US" sz="1700" dirty="0"/>
          </a:p>
          <a:p>
            <a:pPr indent="0" marL="0">
              <a:lnSpc>
                <a:spcPct val="110000"/>
              </a:lnSpc>
              <a:spcAft>
                <a:spcPts val="1200"/>
              </a:spcAft>
              <a:buNone/>
            </a:pPr>
            <a:r>
              <a:rPr lang="en-US" sz="1700" dirty="0">
                <a:solidFill>
                  <a:srgbClr val="FFFFFF"/>
                </a:solidFill>
                <a:latin typeface="Calibri" pitchFamily="34" charset="0"/>
                <a:ea typeface="Calibri" pitchFamily="34" charset="-122"/>
                <a:cs typeface="Calibri" pitchFamily="34" charset="-120"/>
              </a:rPr>
              <a:t>Q3 (MCQ): Given MOV R1, @2000 with Memory[2000]=4000 and Memory[4000]=99, what value ends up in R1? (a) 2000 (b) 4000 (c) 99 (d) 25</a:t>
            </a:r>
            <a:endParaRPr lang="en-US" sz="1700" dirty="0"/>
          </a:p>
          <a:p>
            <a:pPr indent="0" marL="0">
              <a:lnSpc>
                <a:spcPct val="110000"/>
              </a:lnSpc>
              <a:spcAft>
                <a:spcPts val="1200"/>
              </a:spcAft>
              <a:buNone/>
            </a:pPr>
            <a:r>
              <a:rPr lang="en-US" sz="1700" dirty="0">
                <a:solidFill>
                  <a:srgbClr val="FFFFFF"/>
                </a:solidFill>
                <a:latin typeface="Calibri" pitchFamily="34" charset="0"/>
                <a:ea typeface="Calibri" pitchFamily="34" charset="-122"/>
                <a:cs typeface="Calibri" pitchFamily="34" charset="-120"/>
              </a:rPr>
              <a:t>Q4 (Short Answer): In indexed addressing MOV R1, ARRAY(RX) with ARRAY=6000 and RX=20, what is the Effective Address?</a:t>
            </a:r>
            <a:endParaRPr lang="en-US" sz="1700" dirty="0"/>
          </a:p>
          <a:p>
            <a:pPr indent="0" marL="0">
              <a:lnSpc>
                <a:spcPct val="110000"/>
              </a:lnSpc>
              <a:spcAft>
                <a:spcPts val="1200"/>
              </a:spcAft>
              <a:buNone/>
            </a:pPr>
            <a:r>
              <a:rPr lang="en-US" sz="1700" dirty="0">
                <a:solidFill>
                  <a:srgbClr val="FFFFFF"/>
                </a:solidFill>
                <a:latin typeface="Calibri" pitchFamily="34" charset="0"/>
                <a:ea typeface="Calibri" pitchFamily="34" charset="-122"/>
                <a:cs typeface="Calibri" pitchFamily="34" charset="-120"/>
              </a:rPr>
              <a:t>Q5 (True/False): In most architectures, PUSH increments the stack pointer before storing a value.</a:t>
            </a:r>
            <a:endParaRPr lang="en-US" sz="1700" dirty="0"/>
          </a:p>
          <a:p>
            <a:pPr indent="0" marL="0">
              <a:lnSpc>
                <a:spcPct val="110000"/>
              </a:lnSpc>
              <a:spcAft>
                <a:spcPts val="1200"/>
              </a:spcAft>
              <a:buNone/>
            </a:pPr>
            <a:r>
              <a:rPr lang="en-US" sz="1700" dirty="0">
                <a:solidFill>
                  <a:srgbClr val="FFFFFF"/>
                </a:solidFill>
                <a:latin typeface="Calibri" pitchFamily="34" charset="0"/>
                <a:ea typeface="Calibri" pitchFamily="34" charset="-122"/>
                <a:cs typeface="Calibri" pitchFamily="34" charset="-120"/>
              </a:rPr>
              <a:t>Q6 (MCQ): What does RET do, in order? (a) Jump then pop (b) Pop then jump (c) Push then jump (d) Jump only</a:t>
            </a:r>
            <a:endParaRPr lang="en-US" sz="1700" dirty="0"/>
          </a:p>
          <a:p>
            <a:pPr indent="0" marL="0">
              <a:lnSpc>
                <a:spcPct val="110000"/>
              </a:lnSpc>
              <a:spcAft>
                <a:spcPts val="1200"/>
              </a:spcAft>
              <a:buNone/>
            </a:pPr>
            <a:r>
              <a:rPr lang="en-US" sz="1700" dirty="0">
                <a:solidFill>
                  <a:srgbClr val="FFFFFF"/>
                </a:solidFill>
                <a:latin typeface="Calibri" pitchFamily="34" charset="0"/>
                <a:ea typeface="Calibri" pitchFamily="34" charset="-122"/>
                <a:cs typeface="Calibri" pitchFamily="34" charset="-120"/>
              </a:rPr>
              <a:t>Q7 (Short Answer): Why must every PUSH inside a subroutine be matched by a POP before that subroutine executes RET?</a:t>
            </a:r>
            <a:endParaRPr lang="en-US" sz="1700" dirty="0"/>
          </a:p>
        </p:txBody>
      </p:sp>
      <p:sp>
        <p:nvSpPr>
          <p:cNvPr id="6" name="Text 3"/>
          <p:cNvSpPr txBox="1"/>
          <p:nvPr/>
        </p:nvSpPr>
        <p:spPr>
          <a:xfrm>
            <a:off x="457200" y="6492240"/>
            <a:ext cx="8686800" cy="274320"/>
          </a:xfrm>
          <a:prstGeom prst="rect">
            <a:avLst/>
          </a:prstGeom>
          <a:noFill/>
          <a:ln/>
        </p:spPr>
        <p:txBody>
          <a:bodyPr wrap="square" lIns="0" tIns="0" rIns="0" bIns="0" rtlCol="0" anchor="ctr"/>
          <a:lstStyle/>
          <a:p>
            <a:pPr algn="l" indent="0" marL="0">
              <a:buNone/>
            </a:pPr>
            <a:r>
              <a:rPr lang="en-US" sz="1000" dirty="0">
                <a:solidFill>
                  <a:srgbClr val="4A5A72"/>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1000" dirty="0"/>
          </a:p>
        </p:txBody>
      </p:sp>
      <p:sp>
        <p:nvSpPr>
          <p:cNvPr id="7" name="Text 4"/>
          <p:cNvSpPr txBox="1"/>
          <p:nvPr/>
        </p:nvSpPr>
        <p:spPr>
          <a:xfrm>
            <a:off x="11274552" y="6492240"/>
            <a:ext cx="457200" cy="274320"/>
          </a:xfrm>
          <a:prstGeom prst="rect">
            <a:avLst/>
          </a:prstGeom>
          <a:noFill/>
          <a:ln/>
        </p:spPr>
        <p:txBody>
          <a:bodyPr wrap="square" lIns="0" tIns="0" rIns="0" bIns="0" rtlCol="0" anchor="ctr"/>
          <a:lstStyle/>
          <a:p>
            <a:pPr algn="r" indent="0" marL="0">
              <a:buNone/>
            </a:pPr>
            <a:r>
              <a:rPr lang="en-US" sz="1000" dirty="0">
                <a:solidFill>
                  <a:srgbClr val="4A5A72"/>
                </a:solidFill>
                <a:latin typeface="Calibri" pitchFamily="34" charset="0"/>
                <a:ea typeface="Calibri" pitchFamily="34" charset="-122"/>
                <a:cs typeface="Calibri" pitchFamily="34" charset="-120"/>
              </a:rPr>
              <a:t>32</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0B1E3D"/>
          </a:solidFill>
          <a:ln/>
        </p:spPr>
      </p:sp>
      <p:pic>
        <p:nvPicPr>
          <p:cNvPr id="3" name="Image 0" descr="preencoded.png">    </p:cNvPr>
          <p:cNvPicPr>
            <a:picLocks noChangeAspect="1"/>
          </p:cNvPicPr>
          <p:nvPr/>
        </p:nvPicPr>
        <p:blipFill>
          <a:blip r:embed="rId1"/>
          <a:stretch>
            <a:fillRect/>
          </a:stretch>
        </p:blipFill>
        <p:spPr>
          <a:xfrm>
            <a:off x="548640" y="182880"/>
            <a:ext cx="594360" cy="594360"/>
          </a:xfrm>
          <a:prstGeom prst="rect">
            <a:avLst/>
          </a:prstGeom>
        </p:spPr>
      </p:pic>
      <p:sp>
        <p:nvSpPr>
          <p:cNvPr id="4" name="Text 1"/>
          <p:cNvSpPr txBox="1"/>
          <p:nvPr/>
        </p:nvSpPr>
        <p:spPr>
          <a:xfrm>
            <a:off x="1280160" y="137160"/>
            <a:ext cx="10241280" cy="68580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Quiz — Answers &amp; Explanations</a:t>
            </a:r>
            <a:endParaRPr lang="en-US" sz="26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11247120" cy="5303520"/>
        </p:xfrm>
        <a:graphic>
          <a:graphicData uri="http://schemas.openxmlformats.org/drawingml/2006/table">
            <a:tbl>
              <a:tblPr/>
              <a:tblGrid>
                <a:gridCol w="822960"/>
                <a:gridCol w="2926080"/>
                <a:gridCol w="7498080"/>
              </a:tblGrid>
              <a:tr h="66294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Q#</a:t>
                      </a:r>
                      <a:endParaRPr lang="en-US" sz="1300" dirty="0">
                        <a:latin typeface="Calibri" charset="0"/>
                        <a:ea typeface="Calibri" charset="0"/>
                        <a:cs typeface="Calibri" charset="0"/>
                      </a:endParaRPr>
                    </a:p>
                  </a:txBody>
                  <a:tcPr marL="91440" marR="91440" marT="45720" marB="45720">
                    <a:lnL w="9525" cap="flat" cmpd="sng" algn="ctr">
                      <a:solidFill>
                        <a:srgbClr val="D8E1EC"/>
                      </a:solidFill>
                      <a:prstDash val="solid"/>
                      <a:round/>
                      <a:headEnd type="none" w="med" len="med"/>
                      <a:tailEnd type="none" w="med" len="med"/>
                    </a:lnL>
                    <a:lnR w="9525" cap="flat" cmpd="sng" algn="ctr">
                      <a:solidFill>
                        <a:srgbClr val="D8E1EC"/>
                      </a:solidFill>
                      <a:prstDash val="solid"/>
                      <a:round/>
                      <a:headEnd type="none" w="med" len="med"/>
                      <a:tailEnd type="none" w="med" len="med"/>
                    </a:lnR>
                    <a:lnT w="9525" cap="flat" cmpd="sng" algn="ctr">
                      <a:solidFill>
                        <a:srgbClr val="D8E1EC"/>
                      </a:solidFill>
                      <a:prstDash val="solid"/>
                      <a:round/>
                      <a:headEnd type="none" w="med" len="med"/>
                      <a:tailEnd type="none" w="med" len="med"/>
                    </a:lnT>
                    <a:lnB w="9525" cap="flat" cmpd="sng" algn="ctr">
                      <a:solidFill>
                        <a:srgbClr val="D8E1EC"/>
                      </a:solidFill>
                      <a:prstDash val="solid"/>
                      <a:round/>
                      <a:headEnd type="none" w="med" len="med"/>
                      <a:tailEnd type="none" w="med" len="med"/>
                    </a:lnB>
                    <a:solidFill>
                      <a:srgbClr val="0B1E3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Answer</a:t>
                      </a:r>
                      <a:endParaRPr lang="en-US" sz="1300" dirty="0">
                        <a:latin typeface="Calibri" charset="0"/>
                        <a:ea typeface="Calibri" charset="0"/>
                        <a:cs typeface="Calibri" charset="0"/>
                      </a:endParaRPr>
                    </a:p>
                  </a:txBody>
                  <a:tcPr marL="91440" marR="91440" marT="45720" marB="45720">
                    <a:lnL w="9525" cap="flat" cmpd="sng" algn="ctr">
                      <a:solidFill>
                        <a:srgbClr val="D8E1EC"/>
                      </a:solidFill>
                      <a:prstDash val="solid"/>
                      <a:round/>
                      <a:headEnd type="none" w="med" len="med"/>
                      <a:tailEnd type="none" w="med" len="med"/>
                    </a:lnL>
                    <a:lnR w="9525" cap="flat" cmpd="sng" algn="ctr">
                      <a:solidFill>
                        <a:srgbClr val="D8E1EC"/>
                      </a:solidFill>
                      <a:prstDash val="solid"/>
                      <a:round/>
                      <a:headEnd type="none" w="med" len="med"/>
                      <a:tailEnd type="none" w="med" len="med"/>
                    </a:lnR>
                    <a:lnT w="9525" cap="flat" cmpd="sng" algn="ctr">
                      <a:solidFill>
                        <a:srgbClr val="D8E1EC"/>
                      </a:solidFill>
                      <a:prstDash val="solid"/>
                      <a:round/>
                      <a:headEnd type="none" w="med" len="med"/>
                      <a:tailEnd type="none" w="med" len="med"/>
                    </a:lnT>
                    <a:lnB w="9525" cap="flat" cmpd="sng" algn="ctr">
                      <a:solidFill>
                        <a:srgbClr val="D8E1EC"/>
                      </a:solidFill>
                      <a:prstDash val="solid"/>
                      <a:round/>
                      <a:headEnd type="none" w="med" len="med"/>
                      <a:tailEnd type="none" w="med" len="med"/>
                    </a:lnB>
                    <a:solidFill>
                      <a:srgbClr val="0B1E3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Why</a:t>
                      </a:r>
                      <a:endParaRPr lang="en-US" sz="1300" dirty="0">
                        <a:latin typeface="Calibri" charset="0"/>
                        <a:ea typeface="Calibri" charset="0"/>
                        <a:cs typeface="Calibri" charset="0"/>
                      </a:endParaRPr>
                    </a:p>
                  </a:txBody>
                  <a:tcPr marL="91440" marR="91440" marT="45720" marB="45720">
                    <a:lnL w="9525" cap="flat" cmpd="sng" algn="ctr">
                      <a:solidFill>
                        <a:srgbClr val="D8E1EC"/>
                      </a:solidFill>
                      <a:prstDash val="solid"/>
                      <a:round/>
                      <a:headEnd type="none" w="med" len="med"/>
                      <a:tailEnd type="none" w="med" len="med"/>
                    </a:lnL>
                    <a:lnR w="9525" cap="flat" cmpd="sng" algn="ctr">
                      <a:solidFill>
                        <a:srgbClr val="D8E1EC"/>
                      </a:solidFill>
                      <a:prstDash val="solid"/>
                      <a:round/>
                      <a:headEnd type="none" w="med" len="med"/>
                      <a:tailEnd type="none" w="med" len="med"/>
                    </a:lnR>
                    <a:lnT w="9525" cap="flat" cmpd="sng" algn="ctr">
                      <a:solidFill>
                        <a:srgbClr val="D8E1EC"/>
                      </a:solidFill>
                      <a:prstDash val="solid"/>
                      <a:round/>
                      <a:headEnd type="none" w="med" len="med"/>
                      <a:tailEnd type="none" w="med" len="med"/>
                    </a:lnT>
                    <a:lnB w="9525" cap="flat" cmpd="sng" algn="ctr">
                      <a:solidFill>
                        <a:srgbClr val="D8E1EC"/>
                      </a:solidFill>
                      <a:prstDash val="solid"/>
                      <a:round/>
                      <a:headEnd type="none" w="med" len="med"/>
                      <a:tailEnd type="none" w="med" len="med"/>
                    </a:lnB>
                    <a:solidFill>
                      <a:srgbClr val="0B1E3D"/>
                    </a:solidFill>
                  </a:tcPr>
                </a:tc>
              </a:tr>
              <a:tr h="662940">
                <a:tc>
                  <a:txBody>
                    <a:bodyPr/>
                    <a:lstStyle/>
                    <a:p>
                      <a:pPr indent="0" marL="0">
                        <a:buNone/>
                      </a:pPr>
                      <a:r>
                        <a:rPr lang="en-US" sz="1300" b="1" dirty="0">
                          <a:solidFill>
                            <a:srgbClr val="0B1E3D"/>
                          </a:solidFill>
                          <a:latin typeface="Calibri" pitchFamily="34" charset="0"/>
                          <a:ea typeface="Calibri" pitchFamily="34" charset="-122"/>
                          <a:cs typeface="Calibri" pitchFamily="34" charset="-120"/>
                        </a:rPr>
                        <a:t>Q1</a:t>
                      </a:r>
                      <a:endParaRPr lang="en-US" sz="1300" dirty="0">
                        <a:latin typeface="Calibri" charset="0"/>
                        <a:ea typeface="Calibri" charset="0"/>
                        <a:cs typeface="Calibri" charset="0"/>
                      </a:endParaRPr>
                    </a:p>
                  </a:txBody>
                  <a:tcPr marL="91440" marR="91440" marT="45720" marB="45720" anchor="ctr">
                    <a:lnL w="9525" cap="flat" cmpd="sng" algn="ctr">
                      <a:solidFill>
                        <a:srgbClr val="D8E1EC"/>
                      </a:solidFill>
                      <a:prstDash val="solid"/>
                      <a:round/>
                      <a:headEnd type="none" w="med" len="med"/>
                      <a:tailEnd type="none" w="med" len="med"/>
                    </a:lnL>
                    <a:lnR w="9525" cap="flat" cmpd="sng" algn="ctr">
                      <a:solidFill>
                        <a:srgbClr val="D8E1EC"/>
                      </a:solidFill>
                      <a:prstDash val="solid"/>
                      <a:round/>
                      <a:headEnd type="none" w="med" len="med"/>
                      <a:tailEnd type="none" w="med" len="med"/>
                    </a:lnR>
                    <a:lnT w="9525" cap="flat" cmpd="sng" algn="ctr">
                      <a:solidFill>
                        <a:srgbClr val="D8E1EC"/>
                      </a:solidFill>
                      <a:prstDash val="solid"/>
                      <a:round/>
                      <a:headEnd type="none" w="med" len="med"/>
                      <a:tailEnd type="none" w="med" len="med"/>
                    </a:lnT>
                    <a:lnB w="9525" cap="flat" cmpd="sng" algn="ctr">
                      <a:solidFill>
                        <a:srgbClr val="D8E1EC"/>
                      </a:solidFill>
                      <a:prstDash val="solid"/>
                      <a:round/>
                      <a:headEnd type="none" w="med" len="med"/>
                      <a:tailEnd type="none" w="med" len="med"/>
                    </a:lnB>
                    <a:solidFill>
                      <a:srgbClr val="F4F7FB"/>
                    </a:solidFill>
                  </a:tcPr>
                </a:tc>
                <a:tc>
                  <a:txBody>
                    <a:bodyPr/>
                    <a:lstStyle/>
                    <a:p>
                      <a:pPr indent="0" marL="0">
                        <a:buNone/>
                      </a:pPr>
                      <a:r>
                        <a:rPr lang="en-US" sz="1300" b="1" dirty="0">
                          <a:solidFill>
                            <a:srgbClr val="13233B"/>
                          </a:solidFill>
                          <a:latin typeface="Calibri" pitchFamily="34" charset="0"/>
                          <a:ea typeface="Calibri" pitchFamily="34" charset="-122"/>
                          <a:cs typeface="Calibri" pitchFamily="34" charset="-120"/>
                        </a:rPr>
                        <a:t>(b) Immediate</a:t>
                      </a:r>
                      <a:endParaRPr lang="en-US" sz="1300" dirty="0">
                        <a:latin typeface="Calibri" charset="0"/>
                        <a:ea typeface="Calibri" charset="0"/>
                        <a:cs typeface="Calibri" charset="0"/>
                      </a:endParaRPr>
                    </a:p>
                  </a:txBody>
                  <a:tcPr marL="91440" marR="91440" marT="45720" marB="45720" anchor="ctr">
                    <a:lnL w="9525" cap="flat" cmpd="sng" algn="ctr">
                      <a:solidFill>
                        <a:srgbClr val="D8E1EC"/>
                      </a:solidFill>
                      <a:prstDash val="solid"/>
                      <a:round/>
                      <a:headEnd type="none" w="med" len="med"/>
                      <a:tailEnd type="none" w="med" len="med"/>
                    </a:lnL>
                    <a:lnR w="9525" cap="flat" cmpd="sng" algn="ctr">
                      <a:solidFill>
                        <a:srgbClr val="D8E1EC"/>
                      </a:solidFill>
                      <a:prstDash val="solid"/>
                      <a:round/>
                      <a:headEnd type="none" w="med" len="med"/>
                      <a:tailEnd type="none" w="med" len="med"/>
                    </a:lnR>
                    <a:lnT w="9525" cap="flat" cmpd="sng" algn="ctr">
                      <a:solidFill>
                        <a:srgbClr val="D8E1EC"/>
                      </a:solidFill>
                      <a:prstDash val="solid"/>
                      <a:round/>
                      <a:headEnd type="none" w="med" len="med"/>
                      <a:tailEnd type="none" w="med" len="med"/>
                    </a:lnT>
                    <a:lnB w="9525" cap="flat" cmpd="sng" algn="ctr">
                      <a:solidFill>
                        <a:srgbClr val="D8E1EC"/>
                      </a:solidFill>
                      <a:prstDash val="solid"/>
                      <a:round/>
                      <a:headEnd type="none" w="med" len="med"/>
                      <a:tailEnd type="none" w="med" len="med"/>
                    </a:lnB>
                    <a:solidFill>
                      <a:srgbClr val="F4F7FB"/>
                    </a:solidFill>
                  </a:tcPr>
                </a:tc>
                <a:tc>
                  <a:txBody>
                    <a:bodyPr/>
                    <a:lstStyle/>
                    <a:p>
                      <a:pPr indent="0" marL="0">
                        <a:buNone/>
                      </a:pPr>
                      <a:r>
                        <a:rPr lang="en-US" sz="1150" dirty="0">
                          <a:solidFill>
                            <a:srgbClr val="4A5A72"/>
                          </a:solidFill>
                          <a:latin typeface="Calibri" pitchFamily="34" charset="0"/>
                          <a:ea typeface="Calibri" pitchFamily="34" charset="-122"/>
                          <a:cs typeface="Calibri" pitchFamily="34" charset="-120"/>
                        </a:rPr>
                        <a:t>The "#" prefix signals that 25 is a literal value carried inside the instruction.</a:t>
                      </a:r>
                      <a:endParaRPr lang="en-US" sz="1150" dirty="0">
                        <a:latin typeface="Calibri" charset="0"/>
                        <a:ea typeface="Calibri" charset="0"/>
                        <a:cs typeface="Calibri" charset="0"/>
                      </a:endParaRPr>
                    </a:p>
                  </a:txBody>
                  <a:tcPr marL="91440" marR="91440" marT="45720" marB="45720" anchor="ctr">
                    <a:lnL w="9525" cap="flat" cmpd="sng" algn="ctr">
                      <a:solidFill>
                        <a:srgbClr val="D8E1EC"/>
                      </a:solidFill>
                      <a:prstDash val="solid"/>
                      <a:round/>
                      <a:headEnd type="none" w="med" len="med"/>
                      <a:tailEnd type="none" w="med" len="med"/>
                    </a:lnL>
                    <a:lnR w="9525" cap="flat" cmpd="sng" algn="ctr">
                      <a:solidFill>
                        <a:srgbClr val="D8E1EC"/>
                      </a:solidFill>
                      <a:prstDash val="solid"/>
                      <a:round/>
                      <a:headEnd type="none" w="med" len="med"/>
                      <a:tailEnd type="none" w="med" len="med"/>
                    </a:lnR>
                    <a:lnT w="9525" cap="flat" cmpd="sng" algn="ctr">
                      <a:solidFill>
                        <a:srgbClr val="D8E1EC"/>
                      </a:solidFill>
                      <a:prstDash val="solid"/>
                      <a:round/>
                      <a:headEnd type="none" w="med" len="med"/>
                      <a:tailEnd type="none" w="med" len="med"/>
                    </a:lnT>
                    <a:lnB w="9525" cap="flat" cmpd="sng" algn="ctr">
                      <a:solidFill>
                        <a:srgbClr val="D8E1EC"/>
                      </a:solidFill>
                      <a:prstDash val="solid"/>
                      <a:round/>
                      <a:headEnd type="none" w="med" len="med"/>
                      <a:tailEnd type="none" w="med" len="med"/>
                    </a:lnB>
                    <a:solidFill>
                      <a:srgbClr val="F4F7FB"/>
                    </a:solidFill>
                  </a:tcPr>
                </a:tc>
              </a:tr>
              <a:tr h="662940">
                <a:tc>
                  <a:txBody>
                    <a:bodyPr/>
                    <a:lstStyle/>
                    <a:p>
                      <a:pPr indent="0" marL="0">
                        <a:buNone/>
                      </a:pPr>
                      <a:r>
                        <a:rPr lang="en-US" sz="1300" b="1" dirty="0">
                          <a:solidFill>
                            <a:srgbClr val="0B1E3D"/>
                          </a:solidFill>
                          <a:latin typeface="Calibri" pitchFamily="34" charset="0"/>
                          <a:ea typeface="Calibri" pitchFamily="34" charset="-122"/>
                          <a:cs typeface="Calibri" pitchFamily="34" charset="-120"/>
                        </a:rPr>
                        <a:t>Q2</a:t>
                      </a:r>
                      <a:endParaRPr lang="en-US" sz="1300" dirty="0">
                        <a:latin typeface="Calibri" charset="0"/>
                        <a:ea typeface="Calibri" charset="0"/>
                        <a:cs typeface="Calibri" charset="0"/>
                      </a:endParaRPr>
                    </a:p>
                  </a:txBody>
                  <a:tcPr marL="91440" marR="91440" marT="45720" marB="45720" anchor="ctr">
                    <a:lnL w="9525" cap="flat" cmpd="sng" algn="ctr">
                      <a:solidFill>
                        <a:srgbClr val="D8E1EC"/>
                      </a:solidFill>
                      <a:prstDash val="solid"/>
                      <a:round/>
                      <a:headEnd type="none" w="med" len="med"/>
                      <a:tailEnd type="none" w="med" len="med"/>
                    </a:lnL>
                    <a:lnR w="9525" cap="flat" cmpd="sng" algn="ctr">
                      <a:solidFill>
                        <a:srgbClr val="D8E1EC"/>
                      </a:solidFill>
                      <a:prstDash val="solid"/>
                      <a:round/>
                      <a:headEnd type="none" w="med" len="med"/>
                      <a:tailEnd type="none" w="med" len="med"/>
                    </a:lnR>
                    <a:lnT w="9525" cap="flat" cmpd="sng" algn="ctr">
                      <a:solidFill>
                        <a:srgbClr val="D8E1EC"/>
                      </a:solidFill>
                      <a:prstDash val="solid"/>
                      <a:round/>
                      <a:headEnd type="none" w="med" len="med"/>
                      <a:tailEnd type="none" w="med" len="med"/>
                    </a:lnT>
                    <a:lnB w="9525" cap="flat" cmpd="sng" algn="ctr">
                      <a:solidFill>
                        <a:srgbClr val="D8E1EC"/>
                      </a:solidFill>
                      <a:prstDash val="solid"/>
                      <a:round/>
                      <a:headEnd type="none" w="med" len="med"/>
                      <a:tailEnd type="none" w="med" len="med"/>
                    </a:lnB>
                    <a:solidFill>
                      <a:srgbClr val="FFFFFF"/>
                    </a:solidFill>
                  </a:tcPr>
                </a:tc>
                <a:tc>
                  <a:txBody>
                    <a:bodyPr/>
                    <a:lstStyle/>
                    <a:p>
                      <a:pPr indent="0" marL="0">
                        <a:buNone/>
                      </a:pPr>
                      <a:r>
                        <a:rPr lang="en-US" sz="1300" b="1" dirty="0">
                          <a:solidFill>
                            <a:srgbClr val="13233B"/>
                          </a:solidFill>
                          <a:latin typeface="Calibri" pitchFamily="34" charset="0"/>
                          <a:ea typeface="Calibri" pitchFamily="34" charset="-122"/>
                          <a:cs typeface="Calibri" pitchFamily="34" charset="-120"/>
                        </a:rPr>
                        <a:t>False</a:t>
                      </a:r>
                      <a:endParaRPr lang="en-US" sz="1300" dirty="0">
                        <a:latin typeface="Calibri" charset="0"/>
                        <a:ea typeface="Calibri" charset="0"/>
                        <a:cs typeface="Calibri" charset="0"/>
                      </a:endParaRPr>
                    </a:p>
                  </a:txBody>
                  <a:tcPr marL="91440" marR="91440" marT="45720" marB="45720" anchor="ctr">
                    <a:lnL w="9525" cap="flat" cmpd="sng" algn="ctr">
                      <a:solidFill>
                        <a:srgbClr val="D8E1EC"/>
                      </a:solidFill>
                      <a:prstDash val="solid"/>
                      <a:round/>
                      <a:headEnd type="none" w="med" len="med"/>
                      <a:tailEnd type="none" w="med" len="med"/>
                    </a:lnL>
                    <a:lnR w="9525" cap="flat" cmpd="sng" algn="ctr">
                      <a:solidFill>
                        <a:srgbClr val="D8E1EC"/>
                      </a:solidFill>
                      <a:prstDash val="solid"/>
                      <a:round/>
                      <a:headEnd type="none" w="med" len="med"/>
                      <a:tailEnd type="none" w="med" len="med"/>
                    </a:lnR>
                    <a:lnT w="9525" cap="flat" cmpd="sng" algn="ctr">
                      <a:solidFill>
                        <a:srgbClr val="D8E1EC"/>
                      </a:solidFill>
                      <a:prstDash val="solid"/>
                      <a:round/>
                      <a:headEnd type="none" w="med" len="med"/>
                      <a:tailEnd type="none" w="med" len="med"/>
                    </a:lnT>
                    <a:lnB w="9525" cap="flat" cmpd="sng" algn="ctr">
                      <a:solidFill>
                        <a:srgbClr val="D8E1EC"/>
                      </a:solidFill>
                      <a:prstDash val="solid"/>
                      <a:round/>
                      <a:headEnd type="none" w="med" len="med"/>
                      <a:tailEnd type="none" w="med" len="med"/>
                    </a:lnB>
                    <a:solidFill>
                      <a:srgbClr val="FFFFFF"/>
                    </a:solidFill>
                  </a:tcPr>
                </a:tc>
                <a:tc>
                  <a:txBody>
                    <a:bodyPr/>
                    <a:lstStyle/>
                    <a:p>
                      <a:pPr indent="0" marL="0">
                        <a:buNone/>
                      </a:pPr>
                      <a:r>
                        <a:rPr lang="en-US" sz="1150" dirty="0">
                          <a:solidFill>
                            <a:srgbClr val="4A5A72"/>
                          </a:solidFill>
                          <a:latin typeface="Calibri" pitchFamily="34" charset="0"/>
                          <a:ea typeface="Calibri" pitchFamily="34" charset="-122"/>
                          <a:cs typeface="Calibri" pitchFamily="34" charset="-120"/>
                        </a:rPr>
                        <a:t>The operand sits in a register on-chip — no memory bus access is needed at all.</a:t>
                      </a:r>
                      <a:endParaRPr lang="en-US" sz="1150" dirty="0">
                        <a:latin typeface="Calibri" charset="0"/>
                        <a:ea typeface="Calibri" charset="0"/>
                        <a:cs typeface="Calibri" charset="0"/>
                      </a:endParaRPr>
                    </a:p>
                  </a:txBody>
                  <a:tcPr marL="91440" marR="91440" marT="45720" marB="45720" anchor="ctr">
                    <a:lnL w="9525" cap="flat" cmpd="sng" algn="ctr">
                      <a:solidFill>
                        <a:srgbClr val="D8E1EC"/>
                      </a:solidFill>
                      <a:prstDash val="solid"/>
                      <a:round/>
                      <a:headEnd type="none" w="med" len="med"/>
                      <a:tailEnd type="none" w="med" len="med"/>
                    </a:lnL>
                    <a:lnR w="9525" cap="flat" cmpd="sng" algn="ctr">
                      <a:solidFill>
                        <a:srgbClr val="D8E1EC"/>
                      </a:solidFill>
                      <a:prstDash val="solid"/>
                      <a:round/>
                      <a:headEnd type="none" w="med" len="med"/>
                      <a:tailEnd type="none" w="med" len="med"/>
                    </a:lnR>
                    <a:lnT w="9525" cap="flat" cmpd="sng" algn="ctr">
                      <a:solidFill>
                        <a:srgbClr val="D8E1EC"/>
                      </a:solidFill>
                      <a:prstDash val="solid"/>
                      <a:round/>
                      <a:headEnd type="none" w="med" len="med"/>
                      <a:tailEnd type="none" w="med" len="med"/>
                    </a:lnT>
                    <a:lnB w="9525" cap="flat" cmpd="sng" algn="ctr">
                      <a:solidFill>
                        <a:srgbClr val="D8E1EC"/>
                      </a:solidFill>
                      <a:prstDash val="solid"/>
                      <a:round/>
                      <a:headEnd type="none" w="med" len="med"/>
                      <a:tailEnd type="none" w="med" len="med"/>
                    </a:lnB>
                    <a:solidFill>
                      <a:srgbClr val="FFFFFF"/>
                    </a:solidFill>
                  </a:tcPr>
                </a:tc>
              </a:tr>
              <a:tr h="662940">
                <a:tc>
                  <a:txBody>
                    <a:bodyPr/>
                    <a:lstStyle/>
                    <a:p>
                      <a:pPr indent="0" marL="0">
                        <a:buNone/>
                      </a:pPr>
                      <a:r>
                        <a:rPr lang="en-US" sz="1300" b="1" dirty="0">
                          <a:solidFill>
                            <a:srgbClr val="0B1E3D"/>
                          </a:solidFill>
                          <a:latin typeface="Calibri" pitchFamily="34" charset="0"/>
                          <a:ea typeface="Calibri" pitchFamily="34" charset="-122"/>
                          <a:cs typeface="Calibri" pitchFamily="34" charset="-120"/>
                        </a:rPr>
                        <a:t>Q3</a:t>
                      </a:r>
                      <a:endParaRPr lang="en-US" sz="1300" dirty="0">
                        <a:latin typeface="Calibri" charset="0"/>
                        <a:ea typeface="Calibri" charset="0"/>
                        <a:cs typeface="Calibri" charset="0"/>
                      </a:endParaRPr>
                    </a:p>
                  </a:txBody>
                  <a:tcPr marL="91440" marR="91440" marT="45720" marB="45720" anchor="ctr">
                    <a:lnL w="9525" cap="flat" cmpd="sng" algn="ctr">
                      <a:solidFill>
                        <a:srgbClr val="D8E1EC"/>
                      </a:solidFill>
                      <a:prstDash val="solid"/>
                      <a:round/>
                      <a:headEnd type="none" w="med" len="med"/>
                      <a:tailEnd type="none" w="med" len="med"/>
                    </a:lnL>
                    <a:lnR w="9525" cap="flat" cmpd="sng" algn="ctr">
                      <a:solidFill>
                        <a:srgbClr val="D8E1EC"/>
                      </a:solidFill>
                      <a:prstDash val="solid"/>
                      <a:round/>
                      <a:headEnd type="none" w="med" len="med"/>
                      <a:tailEnd type="none" w="med" len="med"/>
                    </a:lnR>
                    <a:lnT w="9525" cap="flat" cmpd="sng" algn="ctr">
                      <a:solidFill>
                        <a:srgbClr val="D8E1EC"/>
                      </a:solidFill>
                      <a:prstDash val="solid"/>
                      <a:round/>
                      <a:headEnd type="none" w="med" len="med"/>
                      <a:tailEnd type="none" w="med" len="med"/>
                    </a:lnT>
                    <a:lnB w="9525" cap="flat" cmpd="sng" algn="ctr">
                      <a:solidFill>
                        <a:srgbClr val="D8E1EC"/>
                      </a:solidFill>
                      <a:prstDash val="solid"/>
                      <a:round/>
                      <a:headEnd type="none" w="med" len="med"/>
                      <a:tailEnd type="none" w="med" len="med"/>
                    </a:lnB>
                    <a:solidFill>
                      <a:srgbClr val="F4F7FB"/>
                    </a:solidFill>
                  </a:tcPr>
                </a:tc>
                <a:tc>
                  <a:txBody>
                    <a:bodyPr/>
                    <a:lstStyle/>
                    <a:p>
                      <a:pPr indent="0" marL="0">
                        <a:buNone/>
                      </a:pPr>
                      <a:r>
                        <a:rPr lang="en-US" sz="1300" b="1" dirty="0">
                          <a:solidFill>
                            <a:srgbClr val="13233B"/>
                          </a:solidFill>
                          <a:latin typeface="Calibri" pitchFamily="34" charset="0"/>
                          <a:ea typeface="Calibri" pitchFamily="34" charset="-122"/>
                          <a:cs typeface="Calibri" pitchFamily="34" charset="-120"/>
                        </a:rPr>
                        <a:t>(c) 99</a:t>
                      </a:r>
                      <a:endParaRPr lang="en-US" sz="1300" dirty="0">
                        <a:latin typeface="Calibri" charset="0"/>
                        <a:ea typeface="Calibri" charset="0"/>
                        <a:cs typeface="Calibri" charset="0"/>
                      </a:endParaRPr>
                    </a:p>
                  </a:txBody>
                  <a:tcPr marL="91440" marR="91440" marT="45720" marB="45720" anchor="ctr">
                    <a:lnL w="9525" cap="flat" cmpd="sng" algn="ctr">
                      <a:solidFill>
                        <a:srgbClr val="D8E1EC"/>
                      </a:solidFill>
                      <a:prstDash val="solid"/>
                      <a:round/>
                      <a:headEnd type="none" w="med" len="med"/>
                      <a:tailEnd type="none" w="med" len="med"/>
                    </a:lnL>
                    <a:lnR w="9525" cap="flat" cmpd="sng" algn="ctr">
                      <a:solidFill>
                        <a:srgbClr val="D8E1EC"/>
                      </a:solidFill>
                      <a:prstDash val="solid"/>
                      <a:round/>
                      <a:headEnd type="none" w="med" len="med"/>
                      <a:tailEnd type="none" w="med" len="med"/>
                    </a:lnR>
                    <a:lnT w="9525" cap="flat" cmpd="sng" algn="ctr">
                      <a:solidFill>
                        <a:srgbClr val="D8E1EC"/>
                      </a:solidFill>
                      <a:prstDash val="solid"/>
                      <a:round/>
                      <a:headEnd type="none" w="med" len="med"/>
                      <a:tailEnd type="none" w="med" len="med"/>
                    </a:lnT>
                    <a:lnB w="9525" cap="flat" cmpd="sng" algn="ctr">
                      <a:solidFill>
                        <a:srgbClr val="D8E1EC"/>
                      </a:solidFill>
                      <a:prstDash val="solid"/>
                      <a:round/>
                      <a:headEnd type="none" w="med" len="med"/>
                      <a:tailEnd type="none" w="med" len="med"/>
                    </a:lnB>
                    <a:solidFill>
                      <a:srgbClr val="F4F7FB"/>
                    </a:solidFill>
                  </a:tcPr>
                </a:tc>
                <a:tc>
                  <a:txBody>
                    <a:bodyPr/>
                    <a:lstStyle/>
                    <a:p>
                      <a:pPr indent="0" marL="0">
                        <a:buNone/>
                      </a:pPr>
                      <a:r>
                        <a:rPr lang="en-US" sz="1150" dirty="0">
                          <a:solidFill>
                            <a:srgbClr val="4A5A72"/>
                          </a:solidFill>
                          <a:latin typeface="Calibri" pitchFamily="34" charset="0"/>
                          <a:ea typeface="Calibri" pitchFamily="34" charset="-122"/>
                          <a:cs typeface="Calibri" pitchFamily="34" charset="-120"/>
                        </a:rPr>
                        <a:t>Indirect addressing: first hop reads Memory[2000]=4000, second hop reads Memory[4000]=99.</a:t>
                      </a:r>
                      <a:endParaRPr lang="en-US" sz="1150" dirty="0">
                        <a:latin typeface="Calibri" charset="0"/>
                        <a:ea typeface="Calibri" charset="0"/>
                        <a:cs typeface="Calibri" charset="0"/>
                      </a:endParaRPr>
                    </a:p>
                  </a:txBody>
                  <a:tcPr marL="91440" marR="91440" marT="45720" marB="45720" anchor="ctr">
                    <a:lnL w="9525" cap="flat" cmpd="sng" algn="ctr">
                      <a:solidFill>
                        <a:srgbClr val="D8E1EC"/>
                      </a:solidFill>
                      <a:prstDash val="solid"/>
                      <a:round/>
                      <a:headEnd type="none" w="med" len="med"/>
                      <a:tailEnd type="none" w="med" len="med"/>
                    </a:lnL>
                    <a:lnR w="9525" cap="flat" cmpd="sng" algn="ctr">
                      <a:solidFill>
                        <a:srgbClr val="D8E1EC"/>
                      </a:solidFill>
                      <a:prstDash val="solid"/>
                      <a:round/>
                      <a:headEnd type="none" w="med" len="med"/>
                      <a:tailEnd type="none" w="med" len="med"/>
                    </a:lnR>
                    <a:lnT w="9525" cap="flat" cmpd="sng" algn="ctr">
                      <a:solidFill>
                        <a:srgbClr val="D8E1EC"/>
                      </a:solidFill>
                      <a:prstDash val="solid"/>
                      <a:round/>
                      <a:headEnd type="none" w="med" len="med"/>
                      <a:tailEnd type="none" w="med" len="med"/>
                    </a:lnT>
                    <a:lnB w="9525" cap="flat" cmpd="sng" algn="ctr">
                      <a:solidFill>
                        <a:srgbClr val="D8E1EC"/>
                      </a:solidFill>
                      <a:prstDash val="solid"/>
                      <a:round/>
                      <a:headEnd type="none" w="med" len="med"/>
                      <a:tailEnd type="none" w="med" len="med"/>
                    </a:lnB>
                    <a:solidFill>
                      <a:srgbClr val="F4F7FB"/>
                    </a:solidFill>
                  </a:tcPr>
                </a:tc>
              </a:tr>
              <a:tr h="662940">
                <a:tc>
                  <a:txBody>
                    <a:bodyPr/>
                    <a:lstStyle/>
                    <a:p>
                      <a:pPr indent="0" marL="0">
                        <a:buNone/>
                      </a:pPr>
                      <a:r>
                        <a:rPr lang="en-US" sz="1300" b="1" dirty="0">
                          <a:solidFill>
                            <a:srgbClr val="0B1E3D"/>
                          </a:solidFill>
                          <a:latin typeface="Calibri" pitchFamily="34" charset="0"/>
                          <a:ea typeface="Calibri" pitchFamily="34" charset="-122"/>
                          <a:cs typeface="Calibri" pitchFamily="34" charset="-120"/>
                        </a:rPr>
                        <a:t>Q4</a:t>
                      </a:r>
                      <a:endParaRPr lang="en-US" sz="1300" dirty="0">
                        <a:latin typeface="Calibri" charset="0"/>
                        <a:ea typeface="Calibri" charset="0"/>
                        <a:cs typeface="Calibri" charset="0"/>
                      </a:endParaRPr>
                    </a:p>
                  </a:txBody>
                  <a:tcPr marL="91440" marR="91440" marT="45720" marB="45720" anchor="ctr">
                    <a:lnL w="9525" cap="flat" cmpd="sng" algn="ctr">
                      <a:solidFill>
                        <a:srgbClr val="D8E1EC"/>
                      </a:solidFill>
                      <a:prstDash val="solid"/>
                      <a:round/>
                      <a:headEnd type="none" w="med" len="med"/>
                      <a:tailEnd type="none" w="med" len="med"/>
                    </a:lnL>
                    <a:lnR w="9525" cap="flat" cmpd="sng" algn="ctr">
                      <a:solidFill>
                        <a:srgbClr val="D8E1EC"/>
                      </a:solidFill>
                      <a:prstDash val="solid"/>
                      <a:round/>
                      <a:headEnd type="none" w="med" len="med"/>
                      <a:tailEnd type="none" w="med" len="med"/>
                    </a:lnR>
                    <a:lnT w="9525" cap="flat" cmpd="sng" algn="ctr">
                      <a:solidFill>
                        <a:srgbClr val="D8E1EC"/>
                      </a:solidFill>
                      <a:prstDash val="solid"/>
                      <a:round/>
                      <a:headEnd type="none" w="med" len="med"/>
                      <a:tailEnd type="none" w="med" len="med"/>
                    </a:lnT>
                    <a:lnB w="9525" cap="flat" cmpd="sng" algn="ctr">
                      <a:solidFill>
                        <a:srgbClr val="D8E1EC"/>
                      </a:solidFill>
                      <a:prstDash val="solid"/>
                      <a:round/>
                      <a:headEnd type="none" w="med" len="med"/>
                      <a:tailEnd type="none" w="med" len="med"/>
                    </a:lnB>
                    <a:solidFill>
                      <a:srgbClr val="FFFFFF"/>
                    </a:solidFill>
                  </a:tcPr>
                </a:tc>
                <a:tc>
                  <a:txBody>
                    <a:bodyPr/>
                    <a:lstStyle/>
                    <a:p>
                      <a:pPr indent="0" marL="0">
                        <a:buNone/>
                      </a:pPr>
                      <a:r>
                        <a:rPr lang="en-US" sz="1300" b="1" dirty="0">
                          <a:solidFill>
                            <a:srgbClr val="13233B"/>
                          </a:solidFill>
                          <a:latin typeface="Calibri" pitchFamily="34" charset="0"/>
                          <a:ea typeface="Calibri" pitchFamily="34" charset="-122"/>
                          <a:cs typeface="Calibri" pitchFamily="34" charset="-120"/>
                        </a:rPr>
                        <a:t>EA = 6020</a:t>
                      </a:r>
                      <a:endParaRPr lang="en-US" sz="1300" dirty="0">
                        <a:latin typeface="Calibri" charset="0"/>
                        <a:ea typeface="Calibri" charset="0"/>
                        <a:cs typeface="Calibri" charset="0"/>
                      </a:endParaRPr>
                    </a:p>
                  </a:txBody>
                  <a:tcPr marL="91440" marR="91440" marT="45720" marB="45720" anchor="ctr">
                    <a:lnL w="9525" cap="flat" cmpd="sng" algn="ctr">
                      <a:solidFill>
                        <a:srgbClr val="D8E1EC"/>
                      </a:solidFill>
                      <a:prstDash val="solid"/>
                      <a:round/>
                      <a:headEnd type="none" w="med" len="med"/>
                      <a:tailEnd type="none" w="med" len="med"/>
                    </a:lnL>
                    <a:lnR w="9525" cap="flat" cmpd="sng" algn="ctr">
                      <a:solidFill>
                        <a:srgbClr val="D8E1EC"/>
                      </a:solidFill>
                      <a:prstDash val="solid"/>
                      <a:round/>
                      <a:headEnd type="none" w="med" len="med"/>
                      <a:tailEnd type="none" w="med" len="med"/>
                    </a:lnR>
                    <a:lnT w="9525" cap="flat" cmpd="sng" algn="ctr">
                      <a:solidFill>
                        <a:srgbClr val="D8E1EC"/>
                      </a:solidFill>
                      <a:prstDash val="solid"/>
                      <a:round/>
                      <a:headEnd type="none" w="med" len="med"/>
                      <a:tailEnd type="none" w="med" len="med"/>
                    </a:lnT>
                    <a:lnB w="9525" cap="flat" cmpd="sng" algn="ctr">
                      <a:solidFill>
                        <a:srgbClr val="D8E1EC"/>
                      </a:solidFill>
                      <a:prstDash val="solid"/>
                      <a:round/>
                      <a:headEnd type="none" w="med" len="med"/>
                      <a:tailEnd type="none" w="med" len="med"/>
                    </a:lnB>
                    <a:solidFill>
                      <a:srgbClr val="FFFFFF"/>
                    </a:solidFill>
                  </a:tcPr>
                </a:tc>
                <a:tc>
                  <a:txBody>
                    <a:bodyPr/>
                    <a:lstStyle/>
                    <a:p>
                      <a:pPr indent="0" marL="0">
                        <a:buNone/>
                      </a:pPr>
                      <a:r>
                        <a:rPr lang="en-US" sz="1150" dirty="0">
                          <a:solidFill>
                            <a:srgbClr val="4A5A72"/>
                          </a:solidFill>
                          <a:latin typeface="Calibri" pitchFamily="34" charset="0"/>
                          <a:ea typeface="Calibri" pitchFamily="34" charset="-122"/>
                          <a:cs typeface="Calibri" pitchFamily="34" charset="-120"/>
                        </a:rPr>
                        <a:t>Indexed addressing: EA = base + index = 6000 + 20 = 6020.</a:t>
                      </a:r>
                      <a:endParaRPr lang="en-US" sz="1150" dirty="0">
                        <a:latin typeface="Calibri" charset="0"/>
                        <a:ea typeface="Calibri" charset="0"/>
                        <a:cs typeface="Calibri" charset="0"/>
                      </a:endParaRPr>
                    </a:p>
                  </a:txBody>
                  <a:tcPr marL="91440" marR="91440" marT="45720" marB="45720" anchor="ctr">
                    <a:lnL w="9525" cap="flat" cmpd="sng" algn="ctr">
                      <a:solidFill>
                        <a:srgbClr val="D8E1EC"/>
                      </a:solidFill>
                      <a:prstDash val="solid"/>
                      <a:round/>
                      <a:headEnd type="none" w="med" len="med"/>
                      <a:tailEnd type="none" w="med" len="med"/>
                    </a:lnL>
                    <a:lnR w="9525" cap="flat" cmpd="sng" algn="ctr">
                      <a:solidFill>
                        <a:srgbClr val="D8E1EC"/>
                      </a:solidFill>
                      <a:prstDash val="solid"/>
                      <a:round/>
                      <a:headEnd type="none" w="med" len="med"/>
                      <a:tailEnd type="none" w="med" len="med"/>
                    </a:lnR>
                    <a:lnT w="9525" cap="flat" cmpd="sng" algn="ctr">
                      <a:solidFill>
                        <a:srgbClr val="D8E1EC"/>
                      </a:solidFill>
                      <a:prstDash val="solid"/>
                      <a:round/>
                      <a:headEnd type="none" w="med" len="med"/>
                      <a:tailEnd type="none" w="med" len="med"/>
                    </a:lnT>
                    <a:lnB w="9525" cap="flat" cmpd="sng" algn="ctr">
                      <a:solidFill>
                        <a:srgbClr val="D8E1EC"/>
                      </a:solidFill>
                      <a:prstDash val="solid"/>
                      <a:round/>
                      <a:headEnd type="none" w="med" len="med"/>
                      <a:tailEnd type="none" w="med" len="med"/>
                    </a:lnB>
                    <a:solidFill>
                      <a:srgbClr val="FFFFFF"/>
                    </a:solidFill>
                  </a:tcPr>
                </a:tc>
              </a:tr>
              <a:tr h="662940">
                <a:tc>
                  <a:txBody>
                    <a:bodyPr/>
                    <a:lstStyle/>
                    <a:p>
                      <a:pPr indent="0" marL="0">
                        <a:buNone/>
                      </a:pPr>
                      <a:r>
                        <a:rPr lang="en-US" sz="1300" b="1" dirty="0">
                          <a:solidFill>
                            <a:srgbClr val="0B1E3D"/>
                          </a:solidFill>
                          <a:latin typeface="Calibri" pitchFamily="34" charset="0"/>
                          <a:ea typeface="Calibri" pitchFamily="34" charset="-122"/>
                          <a:cs typeface="Calibri" pitchFamily="34" charset="-120"/>
                        </a:rPr>
                        <a:t>Q5</a:t>
                      </a:r>
                      <a:endParaRPr lang="en-US" sz="1300" dirty="0">
                        <a:latin typeface="Calibri" charset="0"/>
                        <a:ea typeface="Calibri" charset="0"/>
                        <a:cs typeface="Calibri" charset="0"/>
                      </a:endParaRPr>
                    </a:p>
                  </a:txBody>
                  <a:tcPr marL="91440" marR="91440" marT="45720" marB="45720" anchor="ctr">
                    <a:lnL w="9525" cap="flat" cmpd="sng" algn="ctr">
                      <a:solidFill>
                        <a:srgbClr val="D8E1EC"/>
                      </a:solidFill>
                      <a:prstDash val="solid"/>
                      <a:round/>
                      <a:headEnd type="none" w="med" len="med"/>
                      <a:tailEnd type="none" w="med" len="med"/>
                    </a:lnL>
                    <a:lnR w="9525" cap="flat" cmpd="sng" algn="ctr">
                      <a:solidFill>
                        <a:srgbClr val="D8E1EC"/>
                      </a:solidFill>
                      <a:prstDash val="solid"/>
                      <a:round/>
                      <a:headEnd type="none" w="med" len="med"/>
                      <a:tailEnd type="none" w="med" len="med"/>
                    </a:lnR>
                    <a:lnT w="9525" cap="flat" cmpd="sng" algn="ctr">
                      <a:solidFill>
                        <a:srgbClr val="D8E1EC"/>
                      </a:solidFill>
                      <a:prstDash val="solid"/>
                      <a:round/>
                      <a:headEnd type="none" w="med" len="med"/>
                      <a:tailEnd type="none" w="med" len="med"/>
                    </a:lnT>
                    <a:lnB w="9525" cap="flat" cmpd="sng" algn="ctr">
                      <a:solidFill>
                        <a:srgbClr val="D8E1EC"/>
                      </a:solidFill>
                      <a:prstDash val="solid"/>
                      <a:round/>
                      <a:headEnd type="none" w="med" len="med"/>
                      <a:tailEnd type="none" w="med" len="med"/>
                    </a:lnB>
                    <a:solidFill>
                      <a:srgbClr val="F4F7FB"/>
                    </a:solidFill>
                  </a:tcPr>
                </a:tc>
                <a:tc>
                  <a:txBody>
                    <a:bodyPr/>
                    <a:lstStyle/>
                    <a:p>
                      <a:pPr indent="0" marL="0">
                        <a:buNone/>
                      </a:pPr>
                      <a:r>
                        <a:rPr lang="en-US" sz="1300" b="1" dirty="0">
                          <a:solidFill>
                            <a:srgbClr val="13233B"/>
                          </a:solidFill>
                          <a:latin typeface="Calibri" pitchFamily="34" charset="0"/>
                          <a:ea typeface="Calibri" pitchFamily="34" charset="-122"/>
                          <a:cs typeface="Calibri" pitchFamily="34" charset="-120"/>
                        </a:rPr>
                        <a:t>False</a:t>
                      </a:r>
                      <a:endParaRPr lang="en-US" sz="1300" dirty="0">
                        <a:latin typeface="Calibri" charset="0"/>
                        <a:ea typeface="Calibri" charset="0"/>
                        <a:cs typeface="Calibri" charset="0"/>
                      </a:endParaRPr>
                    </a:p>
                  </a:txBody>
                  <a:tcPr marL="91440" marR="91440" marT="45720" marB="45720" anchor="ctr">
                    <a:lnL w="9525" cap="flat" cmpd="sng" algn="ctr">
                      <a:solidFill>
                        <a:srgbClr val="D8E1EC"/>
                      </a:solidFill>
                      <a:prstDash val="solid"/>
                      <a:round/>
                      <a:headEnd type="none" w="med" len="med"/>
                      <a:tailEnd type="none" w="med" len="med"/>
                    </a:lnL>
                    <a:lnR w="9525" cap="flat" cmpd="sng" algn="ctr">
                      <a:solidFill>
                        <a:srgbClr val="D8E1EC"/>
                      </a:solidFill>
                      <a:prstDash val="solid"/>
                      <a:round/>
                      <a:headEnd type="none" w="med" len="med"/>
                      <a:tailEnd type="none" w="med" len="med"/>
                    </a:lnR>
                    <a:lnT w="9525" cap="flat" cmpd="sng" algn="ctr">
                      <a:solidFill>
                        <a:srgbClr val="D8E1EC"/>
                      </a:solidFill>
                      <a:prstDash val="solid"/>
                      <a:round/>
                      <a:headEnd type="none" w="med" len="med"/>
                      <a:tailEnd type="none" w="med" len="med"/>
                    </a:lnT>
                    <a:lnB w="9525" cap="flat" cmpd="sng" algn="ctr">
                      <a:solidFill>
                        <a:srgbClr val="D8E1EC"/>
                      </a:solidFill>
                      <a:prstDash val="solid"/>
                      <a:round/>
                      <a:headEnd type="none" w="med" len="med"/>
                      <a:tailEnd type="none" w="med" len="med"/>
                    </a:lnB>
                    <a:solidFill>
                      <a:srgbClr val="F4F7FB"/>
                    </a:solidFill>
                  </a:tcPr>
                </a:tc>
                <a:tc>
                  <a:txBody>
                    <a:bodyPr/>
                    <a:lstStyle/>
                    <a:p>
                      <a:pPr indent="0" marL="0">
                        <a:buNone/>
                      </a:pPr>
                      <a:r>
                        <a:rPr lang="en-US" sz="1150" dirty="0">
                          <a:solidFill>
                            <a:srgbClr val="4A5A72"/>
                          </a:solidFill>
                          <a:latin typeface="Calibri" pitchFamily="34" charset="0"/>
                          <a:ea typeface="Calibri" pitchFamily="34" charset="-122"/>
                          <a:cs typeface="Calibri" pitchFamily="34" charset="-120"/>
                        </a:rPr>
                        <a:t>PUSH typically DECREMENTS SP first (stack grows downward), then stores the value.</a:t>
                      </a:r>
                      <a:endParaRPr lang="en-US" sz="1150" dirty="0">
                        <a:latin typeface="Calibri" charset="0"/>
                        <a:ea typeface="Calibri" charset="0"/>
                        <a:cs typeface="Calibri" charset="0"/>
                      </a:endParaRPr>
                    </a:p>
                  </a:txBody>
                  <a:tcPr marL="91440" marR="91440" marT="45720" marB="45720" anchor="ctr">
                    <a:lnL w="9525" cap="flat" cmpd="sng" algn="ctr">
                      <a:solidFill>
                        <a:srgbClr val="D8E1EC"/>
                      </a:solidFill>
                      <a:prstDash val="solid"/>
                      <a:round/>
                      <a:headEnd type="none" w="med" len="med"/>
                      <a:tailEnd type="none" w="med" len="med"/>
                    </a:lnL>
                    <a:lnR w="9525" cap="flat" cmpd="sng" algn="ctr">
                      <a:solidFill>
                        <a:srgbClr val="D8E1EC"/>
                      </a:solidFill>
                      <a:prstDash val="solid"/>
                      <a:round/>
                      <a:headEnd type="none" w="med" len="med"/>
                      <a:tailEnd type="none" w="med" len="med"/>
                    </a:lnR>
                    <a:lnT w="9525" cap="flat" cmpd="sng" algn="ctr">
                      <a:solidFill>
                        <a:srgbClr val="D8E1EC"/>
                      </a:solidFill>
                      <a:prstDash val="solid"/>
                      <a:round/>
                      <a:headEnd type="none" w="med" len="med"/>
                      <a:tailEnd type="none" w="med" len="med"/>
                    </a:lnT>
                    <a:lnB w="9525" cap="flat" cmpd="sng" algn="ctr">
                      <a:solidFill>
                        <a:srgbClr val="D8E1EC"/>
                      </a:solidFill>
                      <a:prstDash val="solid"/>
                      <a:round/>
                      <a:headEnd type="none" w="med" len="med"/>
                      <a:tailEnd type="none" w="med" len="med"/>
                    </a:lnB>
                    <a:solidFill>
                      <a:srgbClr val="F4F7FB"/>
                    </a:solidFill>
                  </a:tcPr>
                </a:tc>
              </a:tr>
              <a:tr h="662940">
                <a:tc>
                  <a:txBody>
                    <a:bodyPr/>
                    <a:lstStyle/>
                    <a:p>
                      <a:pPr indent="0" marL="0">
                        <a:buNone/>
                      </a:pPr>
                      <a:r>
                        <a:rPr lang="en-US" sz="1300" b="1" dirty="0">
                          <a:solidFill>
                            <a:srgbClr val="0B1E3D"/>
                          </a:solidFill>
                          <a:latin typeface="Calibri" pitchFamily="34" charset="0"/>
                          <a:ea typeface="Calibri" pitchFamily="34" charset="-122"/>
                          <a:cs typeface="Calibri" pitchFamily="34" charset="-120"/>
                        </a:rPr>
                        <a:t>Q6</a:t>
                      </a:r>
                      <a:endParaRPr lang="en-US" sz="1300" dirty="0">
                        <a:latin typeface="Calibri" charset="0"/>
                        <a:ea typeface="Calibri" charset="0"/>
                        <a:cs typeface="Calibri" charset="0"/>
                      </a:endParaRPr>
                    </a:p>
                  </a:txBody>
                  <a:tcPr marL="91440" marR="91440" marT="45720" marB="45720" anchor="ctr">
                    <a:lnL w="9525" cap="flat" cmpd="sng" algn="ctr">
                      <a:solidFill>
                        <a:srgbClr val="D8E1EC"/>
                      </a:solidFill>
                      <a:prstDash val="solid"/>
                      <a:round/>
                      <a:headEnd type="none" w="med" len="med"/>
                      <a:tailEnd type="none" w="med" len="med"/>
                    </a:lnL>
                    <a:lnR w="9525" cap="flat" cmpd="sng" algn="ctr">
                      <a:solidFill>
                        <a:srgbClr val="D8E1EC"/>
                      </a:solidFill>
                      <a:prstDash val="solid"/>
                      <a:round/>
                      <a:headEnd type="none" w="med" len="med"/>
                      <a:tailEnd type="none" w="med" len="med"/>
                    </a:lnR>
                    <a:lnT w="9525" cap="flat" cmpd="sng" algn="ctr">
                      <a:solidFill>
                        <a:srgbClr val="D8E1EC"/>
                      </a:solidFill>
                      <a:prstDash val="solid"/>
                      <a:round/>
                      <a:headEnd type="none" w="med" len="med"/>
                      <a:tailEnd type="none" w="med" len="med"/>
                    </a:lnT>
                    <a:lnB w="9525" cap="flat" cmpd="sng" algn="ctr">
                      <a:solidFill>
                        <a:srgbClr val="D8E1EC"/>
                      </a:solidFill>
                      <a:prstDash val="solid"/>
                      <a:round/>
                      <a:headEnd type="none" w="med" len="med"/>
                      <a:tailEnd type="none" w="med" len="med"/>
                    </a:lnB>
                    <a:solidFill>
                      <a:srgbClr val="FFFFFF"/>
                    </a:solidFill>
                  </a:tcPr>
                </a:tc>
                <a:tc>
                  <a:txBody>
                    <a:bodyPr/>
                    <a:lstStyle/>
                    <a:p>
                      <a:pPr indent="0" marL="0">
                        <a:buNone/>
                      </a:pPr>
                      <a:r>
                        <a:rPr lang="en-US" sz="1300" b="1" dirty="0">
                          <a:solidFill>
                            <a:srgbClr val="13233B"/>
                          </a:solidFill>
                          <a:latin typeface="Calibri" pitchFamily="34" charset="0"/>
                          <a:ea typeface="Calibri" pitchFamily="34" charset="-122"/>
                          <a:cs typeface="Calibri" pitchFamily="34" charset="-120"/>
                        </a:rPr>
                        <a:t>(b) Pop then jump</a:t>
                      </a:r>
                      <a:endParaRPr lang="en-US" sz="1300" dirty="0">
                        <a:latin typeface="Calibri" charset="0"/>
                        <a:ea typeface="Calibri" charset="0"/>
                        <a:cs typeface="Calibri" charset="0"/>
                      </a:endParaRPr>
                    </a:p>
                  </a:txBody>
                  <a:tcPr marL="91440" marR="91440" marT="45720" marB="45720" anchor="ctr">
                    <a:lnL w="9525" cap="flat" cmpd="sng" algn="ctr">
                      <a:solidFill>
                        <a:srgbClr val="D8E1EC"/>
                      </a:solidFill>
                      <a:prstDash val="solid"/>
                      <a:round/>
                      <a:headEnd type="none" w="med" len="med"/>
                      <a:tailEnd type="none" w="med" len="med"/>
                    </a:lnL>
                    <a:lnR w="9525" cap="flat" cmpd="sng" algn="ctr">
                      <a:solidFill>
                        <a:srgbClr val="D8E1EC"/>
                      </a:solidFill>
                      <a:prstDash val="solid"/>
                      <a:round/>
                      <a:headEnd type="none" w="med" len="med"/>
                      <a:tailEnd type="none" w="med" len="med"/>
                    </a:lnR>
                    <a:lnT w="9525" cap="flat" cmpd="sng" algn="ctr">
                      <a:solidFill>
                        <a:srgbClr val="D8E1EC"/>
                      </a:solidFill>
                      <a:prstDash val="solid"/>
                      <a:round/>
                      <a:headEnd type="none" w="med" len="med"/>
                      <a:tailEnd type="none" w="med" len="med"/>
                    </a:lnT>
                    <a:lnB w="9525" cap="flat" cmpd="sng" algn="ctr">
                      <a:solidFill>
                        <a:srgbClr val="D8E1EC"/>
                      </a:solidFill>
                      <a:prstDash val="solid"/>
                      <a:round/>
                      <a:headEnd type="none" w="med" len="med"/>
                      <a:tailEnd type="none" w="med" len="med"/>
                    </a:lnB>
                    <a:solidFill>
                      <a:srgbClr val="FFFFFF"/>
                    </a:solidFill>
                  </a:tcPr>
                </a:tc>
                <a:tc>
                  <a:txBody>
                    <a:bodyPr/>
                    <a:lstStyle/>
                    <a:p>
                      <a:pPr indent="0" marL="0">
                        <a:buNone/>
                      </a:pPr>
                      <a:r>
                        <a:rPr lang="en-US" sz="1150" dirty="0">
                          <a:solidFill>
                            <a:srgbClr val="4A5A72"/>
                          </a:solidFill>
                          <a:latin typeface="Calibri" pitchFamily="34" charset="0"/>
                          <a:ea typeface="Calibri" pitchFamily="34" charset="-122"/>
                          <a:cs typeface="Calibri" pitchFamily="34" charset="-120"/>
                        </a:rPr>
                        <a:t>RET pops the saved return address off the stack, then loads it into PC.</a:t>
                      </a:r>
                      <a:endParaRPr lang="en-US" sz="1150" dirty="0">
                        <a:latin typeface="Calibri" charset="0"/>
                        <a:ea typeface="Calibri" charset="0"/>
                        <a:cs typeface="Calibri" charset="0"/>
                      </a:endParaRPr>
                    </a:p>
                  </a:txBody>
                  <a:tcPr marL="91440" marR="91440" marT="45720" marB="45720" anchor="ctr">
                    <a:lnL w="9525" cap="flat" cmpd="sng" algn="ctr">
                      <a:solidFill>
                        <a:srgbClr val="D8E1EC"/>
                      </a:solidFill>
                      <a:prstDash val="solid"/>
                      <a:round/>
                      <a:headEnd type="none" w="med" len="med"/>
                      <a:tailEnd type="none" w="med" len="med"/>
                    </a:lnL>
                    <a:lnR w="9525" cap="flat" cmpd="sng" algn="ctr">
                      <a:solidFill>
                        <a:srgbClr val="D8E1EC"/>
                      </a:solidFill>
                      <a:prstDash val="solid"/>
                      <a:round/>
                      <a:headEnd type="none" w="med" len="med"/>
                      <a:tailEnd type="none" w="med" len="med"/>
                    </a:lnR>
                    <a:lnT w="9525" cap="flat" cmpd="sng" algn="ctr">
                      <a:solidFill>
                        <a:srgbClr val="D8E1EC"/>
                      </a:solidFill>
                      <a:prstDash val="solid"/>
                      <a:round/>
                      <a:headEnd type="none" w="med" len="med"/>
                      <a:tailEnd type="none" w="med" len="med"/>
                    </a:lnT>
                    <a:lnB w="9525" cap="flat" cmpd="sng" algn="ctr">
                      <a:solidFill>
                        <a:srgbClr val="D8E1EC"/>
                      </a:solidFill>
                      <a:prstDash val="solid"/>
                      <a:round/>
                      <a:headEnd type="none" w="med" len="med"/>
                      <a:tailEnd type="none" w="med" len="med"/>
                    </a:lnB>
                    <a:solidFill>
                      <a:srgbClr val="FFFFFF"/>
                    </a:solidFill>
                  </a:tcPr>
                </a:tc>
              </a:tr>
              <a:tr h="662940">
                <a:tc>
                  <a:txBody>
                    <a:bodyPr/>
                    <a:lstStyle/>
                    <a:p>
                      <a:pPr indent="0" marL="0">
                        <a:buNone/>
                      </a:pPr>
                      <a:r>
                        <a:rPr lang="en-US" sz="1300" b="1" dirty="0">
                          <a:solidFill>
                            <a:srgbClr val="0B1E3D"/>
                          </a:solidFill>
                          <a:latin typeface="Calibri" pitchFamily="34" charset="0"/>
                          <a:ea typeface="Calibri" pitchFamily="34" charset="-122"/>
                          <a:cs typeface="Calibri" pitchFamily="34" charset="-120"/>
                        </a:rPr>
                        <a:t>Q7</a:t>
                      </a:r>
                      <a:endParaRPr lang="en-US" sz="1300" dirty="0">
                        <a:latin typeface="Calibri" charset="0"/>
                        <a:ea typeface="Calibri" charset="0"/>
                        <a:cs typeface="Calibri" charset="0"/>
                      </a:endParaRPr>
                    </a:p>
                  </a:txBody>
                  <a:tcPr marL="91440" marR="91440" marT="45720" marB="45720" anchor="ctr">
                    <a:lnL w="9525" cap="flat" cmpd="sng" algn="ctr">
                      <a:solidFill>
                        <a:srgbClr val="D8E1EC"/>
                      </a:solidFill>
                      <a:prstDash val="solid"/>
                      <a:round/>
                      <a:headEnd type="none" w="med" len="med"/>
                      <a:tailEnd type="none" w="med" len="med"/>
                    </a:lnL>
                    <a:lnR w="9525" cap="flat" cmpd="sng" algn="ctr">
                      <a:solidFill>
                        <a:srgbClr val="D8E1EC"/>
                      </a:solidFill>
                      <a:prstDash val="solid"/>
                      <a:round/>
                      <a:headEnd type="none" w="med" len="med"/>
                      <a:tailEnd type="none" w="med" len="med"/>
                    </a:lnR>
                    <a:lnT w="9525" cap="flat" cmpd="sng" algn="ctr">
                      <a:solidFill>
                        <a:srgbClr val="D8E1EC"/>
                      </a:solidFill>
                      <a:prstDash val="solid"/>
                      <a:round/>
                      <a:headEnd type="none" w="med" len="med"/>
                      <a:tailEnd type="none" w="med" len="med"/>
                    </a:lnT>
                    <a:lnB w="9525" cap="flat" cmpd="sng" algn="ctr">
                      <a:solidFill>
                        <a:srgbClr val="D8E1EC"/>
                      </a:solidFill>
                      <a:prstDash val="solid"/>
                      <a:round/>
                      <a:headEnd type="none" w="med" len="med"/>
                      <a:tailEnd type="none" w="med" len="med"/>
                    </a:lnB>
                    <a:solidFill>
                      <a:srgbClr val="F4F7FB"/>
                    </a:solidFill>
                  </a:tcPr>
                </a:tc>
                <a:tc>
                  <a:txBody>
                    <a:bodyPr/>
                    <a:lstStyle/>
                    <a:p>
                      <a:pPr indent="0" marL="0">
                        <a:buNone/>
                      </a:pPr>
                      <a:r>
                        <a:rPr lang="en-US" sz="1300" b="1" dirty="0">
                          <a:solidFill>
                            <a:srgbClr val="13233B"/>
                          </a:solidFill>
                          <a:latin typeface="Calibri" pitchFamily="34" charset="0"/>
                          <a:ea typeface="Calibri" pitchFamily="34" charset="-122"/>
                          <a:cs typeface="Calibri" pitchFamily="34" charset="-120"/>
                        </a:rPr>
                        <a:t>Stack must stay balanced</a:t>
                      </a:r>
                      <a:endParaRPr lang="en-US" sz="1300" dirty="0">
                        <a:latin typeface="Calibri" charset="0"/>
                        <a:ea typeface="Calibri" charset="0"/>
                        <a:cs typeface="Calibri" charset="0"/>
                      </a:endParaRPr>
                    </a:p>
                  </a:txBody>
                  <a:tcPr marL="91440" marR="91440" marT="45720" marB="45720" anchor="ctr">
                    <a:lnL w="9525" cap="flat" cmpd="sng" algn="ctr">
                      <a:solidFill>
                        <a:srgbClr val="D8E1EC"/>
                      </a:solidFill>
                      <a:prstDash val="solid"/>
                      <a:round/>
                      <a:headEnd type="none" w="med" len="med"/>
                      <a:tailEnd type="none" w="med" len="med"/>
                    </a:lnL>
                    <a:lnR w="9525" cap="flat" cmpd="sng" algn="ctr">
                      <a:solidFill>
                        <a:srgbClr val="D8E1EC"/>
                      </a:solidFill>
                      <a:prstDash val="solid"/>
                      <a:round/>
                      <a:headEnd type="none" w="med" len="med"/>
                      <a:tailEnd type="none" w="med" len="med"/>
                    </a:lnR>
                    <a:lnT w="9525" cap="flat" cmpd="sng" algn="ctr">
                      <a:solidFill>
                        <a:srgbClr val="D8E1EC"/>
                      </a:solidFill>
                      <a:prstDash val="solid"/>
                      <a:round/>
                      <a:headEnd type="none" w="med" len="med"/>
                      <a:tailEnd type="none" w="med" len="med"/>
                    </a:lnT>
                    <a:lnB w="9525" cap="flat" cmpd="sng" algn="ctr">
                      <a:solidFill>
                        <a:srgbClr val="D8E1EC"/>
                      </a:solidFill>
                      <a:prstDash val="solid"/>
                      <a:round/>
                      <a:headEnd type="none" w="med" len="med"/>
                      <a:tailEnd type="none" w="med" len="med"/>
                    </a:lnB>
                    <a:solidFill>
                      <a:srgbClr val="F4F7FB"/>
                    </a:solidFill>
                  </a:tcPr>
                </a:tc>
                <a:tc>
                  <a:txBody>
                    <a:bodyPr/>
                    <a:lstStyle/>
                    <a:p>
                      <a:pPr indent="0" marL="0">
                        <a:buNone/>
                      </a:pPr>
                      <a:r>
                        <a:rPr lang="en-US" sz="1150" dirty="0">
                          <a:solidFill>
                            <a:srgbClr val="4A5A72"/>
                          </a:solidFill>
                          <a:latin typeface="Calibri" pitchFamily="34" charset="0"/>
                          <a:ea typeface="Calibri" pitchFamily="34" charset="-122"/>
                          <a:cs typeface="Calibri" pitchFamily="34" charset="-120"/>
                        </a:rPr>
                        <a:t>An unmatched PUSH leaves an extra value on top of the stack, so RET pops that leftover value instead of the true return address — the program jumps to garbage.</a:t>
                      </a:r>
                      <a:endParaRPr lang="en-US" sz="1150" dirty="0">
                        <a:latin typeface="Calibri" charset="0"/>
                        <a:ea typeface="Calibri" charset="0"/>
                        <a:cs typeface="Calibri" charset="0"/>
                      </a:endParaRPr>
                    </a:p>
                  </a:txBody>
                  <a:tcPr marL="91440" marR="91440" marT="45720" marB="45720" anchor="ctr">
                    <a:lnL w="9525" cap="flat" cmpd="sng" algn="ctr">
                      <a:solidFill>
                        <a:srgbClr val="D8E1EC"/>
                      </a:solidFill>
                      <a:prstDash val="solid"/>
                      <a:round/>
                      <a:headEnd type="none" w="med" len="med"/>
                      <a:tailEnd type="none" w="med" len="med"/>
                    </a:lnL>
                    <a:lnR w="9525" cap="flat" cmpd="sng" algn="ctr">
                      <a:solidFill>
                        <a:srgbClr val="D8E1EC"/>
                      </a:solidFill>
                      <a:prstDash val="solid"/>
                      <a:round/>
                      <a:headEnd type="none" w="med" len="med"/>
                      <a:tailEnd type="none" w="med" len="med"/>
                    </a:lnR>
                    <a:lnT w="9525" cap="flat" cmpd="sng" algn="ctr">
                      <a:solidFill>
                        <a:srgbClr val="D8E1EC"/>
                      </a:solidFill>
                      <a:prstDash val="solid"/>
                      <a:round/>
                      <a:headEnd type="none" w="med" len="med"/>
                      <a:tailEnd type="none" w="med" len="med"/>
                    </a:lnT>
                    <a:lnB w="9525" cap="flat" cmpd="sng" algn="ctr">
                      <a:solidFill>
                        <a:srgbClr val="D8E1EC"/>
                      </a:solidFill>
                      <a:prstDash val="solid"/>
                      <a:round/>
                      <a:headEnd type="none" w="med" len="med"/>
                      <a:tailEnd type="none" w="med" len="med"/>
                    </a:lnB>
                    <a:solidFill>
                      <a:srgbClr val="F4F7FB"/>
                    </a:solidFill>
                  </a:tcPr>
                </a:tc>
              </a:tr>
            </a:tbl>
          </a:graphicData>
        </a:graphic>
      </p:graphicFrame>
      <p:sp>
        <p:nvSpPr>
          <p:cNvPr id="6" name="Text 2"/>
          <p:cNvSpPr txBox="1"/>
          <p:nvPr/>
        </p:nvSpPr>
        <p:spPr>
          <a:xfrm>
            <a:off x="457200" y="6492240"/>
            <a:ext cx="8686800" cy="274320"/>
          </a:xfrm>
          <a:prstGeom prst="rect">
            <a:avLst/>
          </a:prstGeom>
          <a:noFill/>
          <a:ln/>
        </p:spPr>
        <p:txBody>
          <a:bodyPr wrap="square" lIns="0" tIns="0" rIns="0" bIns="0" rtlCol="0" anchor="ctr"/>
          <a:lstStyle/>
          <a:p>
            <a:pPr algn="l" indent="0" marL="0">
              <a:buNone/>
            </a:pPr>
            <a:r>
              <a:rPr lang="en-US" sz="1000" dirty="0">
                <a:solidFill>
                  <a:srgbClr val="4A5A72"/>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1000" dirty="0"/>
          </a:p>
        </p:txBody>
      </p:sp>
      <p:sp>
        <p:nvSpPr>
          <p:cNvPr id="7" name="Text 3"/>
          <p:cNvSpPr txBox="1"/>
          <p:nvPr/>
        </p:nvSpPr>
        <p:spPr>
          <a:xfrm>
            <a:off x="11274552" y="6492240"/>
            <a:ext cx="457200" cy="274320"/>
          </a:xfrm>
          <a:prstGeom prst="rect">
            <a:avLst/>
          </a:prstGeom>
          <a:noFill/>
          <a:ln/>
        </p:spPr>
        <p:txBody>
          <a:bodyPr wrap="square" lIns="0" tIns="0" rIns="0" bIns="0" rtlCol="0" anchor="ctr"/>
          <a:lstStyle/>
          <a:p>
            <a:pPr algn="r" indent="0" marL="0">
              <a:buNone/>
            </a:pPr>
            <a:r>
              <a:rPr lang="en-US" sz="1000" dirty="0">
                <a:solidFill>
                  <a:srgbClr val="4A5A72"/>
                </a:solidFill>
                <a:latin typeface="Calibri" pitchFamily="34" charset="0"/>
                <a:ea typeface="Calibri" pitchFamily="34" charset="-122"/>
                <a:cs typeface="Calibri" pitchFamily="34" charset="-120"/>
              </a:rPr>
              <a:t>33</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2026-09-15T00:31:14Z</dcterms:created>
  <dcterms:modified xsi:type="dcterms:W3CDTF">2026-09-15T00:31:14Z</dcterms:modified>
</cp:coreProperties>
</file>