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warmly. Today is a collaborative session — students will spend nearly as much time talking to each other as listening to you. Set expectations: they will work in pairs and small groups throughout, and by the end each of them should be able to explain overflow and 2's complement arithmetic to a classmate. Mention this mirrors how engineers actually work through tricky ALU design decisions — by talking it through with colleagues.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branding/logistics slide - keep it brief, under a minute, mainly for the record and for students who join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aloud and tie it back to the icebreaker question they just discussed - by the end of the session they should be able to answer it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the full 1 minute of silent think time before letting them talk - resist the urge to rush to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these three structures will repeat throughout the session so they know what to expect each time you introduce an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concrete, relatable example (drone sensor, bank balance) rather than an abstract one to hook interest before diving into bit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poll the room: how many bits would be needed to represent numbers up to 100? This warms up their unsigned-binary recall before signed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4-bit example on the board bit by bit as you talk through it so the sign bit placement is visually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while groups work. Listen for the specific misconception this task is designed to surface, and note down one or two group answers to reference when you debrief with the whole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mechanical bit-flip operation - have a student physically flip fingers up/down to represent flipping bits as a memory 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while groups work. Listen for the specific misconception this task is designed to surface, and note down one or two group answers to reference when you debrief with the whole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 many students find 2's complement 'clicks' here after seeing sign-magnitude and 1's complement first. Pause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discussion run a little loose here; the goal is for students to construct the 'why' themselves rather than being told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while groups work. Listen for the specific misconception this task is designed to surface, and note down one or two group answers to reference when you debrief with the whole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asymmetry (one extra negative value) explicitly - it's a classic exam question and easy to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while groups work. Listen for the specific misconception this task is designed to surface, and note down one or two group answers to reference when you debrief with the whole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this is the single biggest advantage of 2's complement: one adder circuit, no special-casing for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this example on the board step by step, but pause after each step and ask a student to predict the next one before you reveal it — keep it interactive even though it's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this example on the board step by step, but pause after each step and ask a student to predict the next one before you reveal it — keep it interactive even though it's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while groups work. Listen for the specific misconception this task is designed to surface, and note down one or two group answers to reference when you debrief with the whole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for a real-life analogy of overflow before defining it formally - e.g. an odometer rolling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say the rule out loud in their own words before you show the formal carry-in/carry-out phrasing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this example on the board step by step, but pause after each step and ask a student to predict the next one before you reveal it — keep it interactive even though it's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while groups work. Listen for the specific misconception this task is designed to surface, and note down one or two group answers to reference when you debrief with the whole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A - B = A + (-B) identity large on the board - this is the single most important idea in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this example on the board step by step, but pause after each step and ask a student to predict the next one before you reveal it — keep it interactive even though it's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while groups work. Listen for the specific misconception this task is designed to surface, and note down one or two group answers to reference when you debrief with the whole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show of hands on which misconception they used to believe - normalizing the mistake helps students admit and correct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is short, this can be shortened to a single share-out rather than full pair discussion - but don't skip the Ariane 5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while groups work. Listen for the specific misconception this task is designed to surface, and note down one or two group answers to reference when you debrief with the whole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the summary slowly - this is what they should carry into the quiz and into next week's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reveal answers yet - let the neighbor-comparison step happen fully before moving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question by question; pause after each to let students self-correct before moving 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the sticky notes physically if possible - they're useful for planning what to review at the start of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groups for the assignment now if you haven't already, so students leave with their team already 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1463040"/>
            <a:ext cx="5029200" cy="5029200"/>
          </a:xfrm>
          <a:prstGeom prst="ellipse">
            <a:avLst/>
          </a:prstGeom>
          <a:solidFill>
            <a:srgbClr val="1B3A6B"/>
          </a:solidFill>
          <a:ln/>
        </p:spPr>
      </p:sp>
      <p:sp>
        <p:nvSpPr>
          <p:cNvPr id="3" name="Shape 1"/>
          <p:cNvSpPr/>
          <p:nvPr/>
        </p:nvSpPr>
        <p:spPr>
          <a:xfrm>
            <a:off x="10607040" y="4206240"/>
            <a:ext cx="3291840" cy="3291840"/>
          </a:xfrm>
          <a:prstGeom prst="ellipse">
            <a:avLst/>
          </a:prstGeom>
          <a:solidFill>
            <a:srgbClr val="13294D"/>
          </a:solidFill>
          <a:ln/>
        </p:spPr>
      </p:sp>
      <p:sp>
        <p:nvSpPr>
          <p:cNvPr id="4" name="Text 2"/>
          <p:cNvSpPr/>
          <p:nvPr/>
        </p:nvSpPr>
        <p:spPr>
          <a:xfrm>
            <a:off x="548640" y="1371600"/>
            <a:ext cx="9144000" cy="457200"/>
          </a:xfrm>
          <a:prstGeom prst="rect">
            <a:avLst/>
          </a:prstGeom>
          <a:noFill/>
          <a:ln/>
        </p:spPr>
        <p:txBody>
          <a:bodyPr wrap="square" lIns="0" tIns="0" rIns="0" bIns="0" rtlCol="0" anchor="ctr"/>
          <a:lstStyle/>
          <a:p>
            <a:pPr indent="0" marL="0">
              <a:buNone/>
            </a:pPr>
            <a:r>
              <a:rPr lang="en-US" sz="2000" spc="100" kern="0" dirty="0">
                <a:solidFill>
                  <a:srgbClr val="9FC6E0"/>
                </a:solidFill>
                <a:latin typeface="Calibri" pitchFamily="34" charset="0"/>
                <a:ea typeface="Calibri" pitchFamily="34" charset="-122"/>
                <a:cs typeface="Calibri" pitchFamily="34" charset="-120"/>
              </a:rPr>
              <a:t>CSS2257  ·  COMPUTER ORGANIZATION AND ARCHITECTURE</a:t>
            </a:r>
            <a:endParaRPr lang="en-US" sz="2000" dirty="0"/>
          </a:p>
        </p:txBody>
      </p:sp>
      <p:sp>
        <p:nvSpPr>
          <p:cNvPr id="5" name="Text 3"/>
          <p:cNvSpPr/>
          <p:nvPr/>
        </p:nvSpPr>
        <p:spPr>
          <a:xfrm>
            <a:off x="548640" y="1920240"/>
            <a:ext cx="9601200" cy="192024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Arithmetic Operations on</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Signed Numbers</a:t>
            </a:r>
            <a:endParaRPr lang="en-US" sz="4600" dirty="0"/>
          </a:p>
        </p:txBody>
      </p:sp>
      <p:sp>
        <p:nvSpPr>
          <p:cNvPr id="6" name="Text 4"/>
          <p:cNvSpPr/>
          <p:nvPr/>
        </p:nvSpPr>
        <p:spPr>
          <a:xfrm>
            <a:off x="548640" y="3794760"/>
            <a:ext cx="8229600" cy="548640"/>
          </a:xfrm>
          <a:prstGeom prst="rect">
            <a:avLst/>
          </a:prstGeom>
          <a:noFill/>
          <a:ln/>
        </p:spPr>
        <p:txBody>
          <a:bodyPr wrap="square" lIns="0" tIns="0" rIns="0" bIns="0" rtlCol="0" anchor="ctr"/>
          <a:lstStyle/>
          <a:p>
            <a:pPr indent="0" marL="0">
              <a:buNone/>
            </a:pPr>
            <a:r>
              <a:rPr lang="en-US" sz="2400" i="1" dirty="0">
                <a:solidFill>
                  <a:srgbClr val="F2A93B"/>
                </a:solidFill>
                <a:latin typeface="Calibri" pitchFamily="34" charset="0"/>
                <a:ea typeface="Calibri" pitchFamily="34" charset="-122"/>
                <a:cs typeface="Calibri" pitchFamily="34" charset="-120"/>
              </a:rPr>
              <a:t>A Collaborative Learning Session</a:t>
            </a:r>
            <a:endParaRPr lang="en-US" sz="2400" dirty="0"/>
          </a:p>
        </p:txBody>
      </p:sp>
      <p:sp>
        <p:nvSpPr>
          <p:cNvPr id="7" name="Shape 5"/>
          <p:cNvSpPr/>
          <p:nvPr/>
        </p:nvSpPr>
        <p:spPr>
          <a:xfrm>
            <a:off x="548640" y="4709160"/>
            <a:ext cx="640080" cy="640080"/>
          </a:xfrm>
          <a:prstGeom prst="ellipse">
            <a:avLst/>
          </a:prstGeom>
          <a:solidFill>
            <a:srgbClr val="1B3A6B"/>
          </a:solidFill>
          <a:ln/>
        </p:spPr>
      </p:sp>
      <p:pic>
        <p:nvPicPr>
          <p:cNvPr id="8" name="Image 0" descr="/home/claude/coa_signed_collab/icons/users.png">    </p:cNvPr>
          <p:cNvPicPr>
            <a:picLocks noChangeAspect="1"/>
          </p:cNvPicPr>
          <p:nvPr/>
        </p:nvPicPr>
        <p:blipFill>
          <a:blip r:embed="rId1"/>
          <a:stretch>
            <a:fillRect/>
          </a:stretch>
        </p:blipFill>
        <p:spPr>
          <a:xfrm>
            <a:off x="689458" y="4849978"/>
            <a:ext cx="358445" cy="358445"/>
          </a:xfrm>
          <a:prstGeom prst="rect">
            <a:avLst/>
          </a:prstGeom>
        </p:spPr>
      </p:pic>
      <p:sp>
        <p:nvSpPr>
          <p:cNvPr id="9" name="Text 6"/>
          <p:cNvSpPr/>
          <p:nvPr/>
        </p:nvSpPr>
        <p:spPr>
          <a:xfrm>
            <a:off x="1371600" y="4709160"/>
            <a:ext cx="7315200" cy="6400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Think-Pair-Share  •  Jigsaw Groups  •  Peer Teaching</a:t>
            </a:r>
            <a:endParaRPr lang="en-US" sz="2000" dirty="0"/>
          </a:p>
        </p:txBody>
      </p:sp>
      <p:sp>
        <p:nvSpPr>
          <p:cNvPr id="10" name="Text 7"/>
          <p:cNvSpPr/>
          <p:nvPr/>
        </p:nvSpPr>
        <p:spPr>
          <a:xfrm>
            <a:off x="548640" y="5943600"/>
            <a:ext cx="10058400" cy="731520"/>
          </a:xfrm>
          <a:prstGeom prst="rect">
            <a:avLst/>
          </a:prstGeom>
          <a:noFill/>
          <a:ln/>
        </p:spPr>
        <p:txBody>
          <a:bodyPr wrap="square" lIns="0" tIns="0" rIns="0" bIns="0" rtlCol="0" anchor="ctr"/>
          <a:lstStyle/>
          <a:p>
            <a:pPr indent="0" marL="0">
              <a:lnSpc>
                <a:spcPct val="120000"/>
              </a:lnSpc>
              <a:buNone/>
            </a:pPr>
            <a:r>
              <a:rPr lang="en-US" sz="2000" dirty="0">
                <a:solidFill>
                  <a:srgbClr val="C9D6E8"/>
                </a:solidFill>
                <a:latin typeface="Calibri" pitchFamily="34" charset="0"/>
                <a:ea typeface="Calibri" pitchFamily="34" charset="-122"/>
                <a:cs typeface="Calibri" pitchFamily="34" charset="-120"/>
              </a:rPr>
              <a:t>Presidency University  |  School of Artificial Intelligence and Advanced Computing</a:t>
            </a:r>
            <a:endParaRPr lang="en-US" sz="2000" dirty="0"/>
          </a:p>
          <a:p>
            <a:pPr indent="0" marL="0">
              <a:lnSpc>
                <a:spcPct val="120000"/>
              </a:lnSpc>
              <a:buNone/>
            </a:pPr>
            <a:r>
              <a:rPr lang="en-US" sz="2000" dirty="0">
                <a:solidFill>
                  <a:srgbClr val="C9D6E8"/>
                </a:solidFill>
                <a:latin typeface="Calibri" pitchFamily="34" charset="0"/>
                <a:ea typeface="Calibri" pitchFamily="34" charset="-122"/>
                <a:cs typeface="Calibri" pitchFamily="34" charset="-120"/>
              </a:rPr>
              <a:t>Department of AI &amp; Robotics  |  Prof. Manoj Sagar</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065A82"/>
          </a:solidFill>
          <a:ln/>
        </p:spPr>
      </p:sp>
      <p:pic>
        <p:nvPicPr>
          <p:cNvPr id="3" name="Image 0" descr="/home/claude/coa_signed_collab/icons/clipboard.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Course &amp; Session Details</a:t>
            </a:r>
            <a:endParaRPr lang="en-US" sz="3000" dirty="0"/>
          </a:p>
        </p:txBody>
      </p:sp>
      <p:sp>
        <p:nvSpPr>
          <p:cNvPr id="5" name="Shape 2"/>
          <p:cNvSpPr/>
          <p:nvPr/>
        </p:nvSpPr>
        <p:spPr>
          <a:xfrm>
            <a:off x="548640" y="1554480"/>
            <a:ext cx="11094415" cy="4480560"/>
          </a:xfrm>
          <a:prstGeom prst="roundRect">
            <a:avLst>
              <a:gd name="adj" fmla="val 2449"/>
            </a:avLst>
          </a:prstGeom>
          <a:solidFill>
            <a:srgbClr val="F4F8FA"/>
          </a:solidFill>
          <a:ln/>
          <a:effectLst>
            <a:outerShdw sx="100000" sy="100000" kx="0" ky="0" algn="bl" rotWithShape="0" blurRad="76200" dist="25400" dir="5400000">
              <a:srgbClr val="888888">
                <a:alpha val="18000"/>
              </a:srgbClr>
            </a:outerShdw>
          </a:effectLst>
        </p:spPr>
      </p:sp>
      <p:sp>
        <p:nvSpPr>
          <p:cNvPr id="6" name="Text 3"/>
          <p:cNvSpPr/>
          <p:nvPr/>
        </p:nvSpPr>
        <p:spPr>
          <a:xfrm>
            <a:off x="914400" y="1828800"/>
            <a:ext cx="2743200" cy="548640"/>
          </a:xfrm>
          <a:prstGeom prst="rect">
            <a:avLst/>
          </a:prstGeom>
          <a:noFill/>
          <a:ln/>
        </p:spPr>
        <p:txBody>
          <a:bodyPr wrap="square" lIns="0" tIns="0" rIns="0" bIns="0" rtlCol="0" anchor="ctr"/>
          <a:lstStyle/>
          <a:p>
            <a:pPr indent="0" marL="0">
              <a:buNone/>
            </a:pPr>
            <a:r>
              <a:rPr lang="en-US" sz="2000" b="1" dirty="0">
                <a:solidFill>
                  <a:srgbClr val="1C7293"/>
                </a:solidFill>
                <a:latin typeface="Calibri" pitchFamily="34" charset="0"/>
                <a:ea typeface="Calibri" pitchFamily="34" charset="-122"/>
                <a:cs typeface="Calibri" pitchFamily="34" charset="-120"/>
              </a:rPr>
              <a:t>UNIVERSITY</a:t>
            </a:r>
            <a:endParaRPr lang="en-US" sz="2000" dirty="0"/>
          </a:p>
        </p:txBody>
      </p:sp>
      <p:sp>
        <p:nvSpPr>
          <p:cNvPr id="7" name="Text 4"/>
          <p:cNvSpPr/>
          <p:nvPr/>
        </p:nvSpPr>
        <p:spPr>
          <a:xfrm>
            <a:off x="3749040" y="1828800"/>
            <a:ext cx="7680960" cy="548640"/>
          </a:xfrm>
          <a:prstGeom prst="rect">
            <a:avLst/>
          </a:prstGeom>
          <a:noFill/>
          <a:ln/>
        </p:spPr>
        <p:txBody>
          <a:bodyPr wrap="square" lIns="0" tIns="0" rIns="0" bIns="0" rtlCol="0" anchor="ctr"/>
          <a:lstStyle/>
          <a:p>
            <a:pPr indent="0" marL="0">
              <a:buNone/>
            </a:pPr>
            <a:r>
              <a:rPr lang="en-US" sz="2000" dirty="0">
                <a:solidFill>
                  <a:srgbClr val="21295C"/>
                </a:solidFill>
                <a:latin typeface="Calibri" pitchFamily="34" charset="0"/>
                <a:ea typeface="Calibri" pitchFamily="34" charset="-122"/>
                <a:cs typeface="Calibri" pitchFamily="34" charset="-120"/>
              </a:rPr>
              <a:t>Presidency University, Bengaluru</a:t>
            </a:r>
            <a:endParaRPr lang="en-US" sz="2000" dirty="0"/>
          </a:p>
        </p:txBody>
      </p:sp>
      <p:sp>
        <p:nvSpPr>
          <p:cNvPr id="8" name="Text 5"/>
          <p:cNvSpPr/>
          <p:nvPr/>
        </p:nvSpPr>
        <p:spPr>
          <a:xfrm>
            <a:off x="914400" y="2505456"/>
            <a:ext cx="2743200" cy="548640"/>
          </a:xfrm>
          <a:prstGeom prst="rect">
            <a:avLst/>
          </a:prstGeom>
          <a:noFill/>
          <a:ln/>
        </p:spPr>
        <p:txBody>
          <a:bodyPr wrap="square" lIns="0" tIns="0" rIns="0" bIns="0" rtlCol="0" anchor="ctr"/>
          <a:lstStyle/>
          <a:p>
            <a:pPr indent="0" marL="0">
              <a:buNone/>
            </a:pPr>
            <a:r>
              <a:rPr lang="en-US" sz="2000" b="1" dirty="0">
                <a:solidFill>
                  <a:srgbClr val="1C7293"/>
                </a:solidFill>
                <a:latin typeface="Calibri" pitchFamily="34" charset="0"/>
                <a:ea typeface="Calibri" pitchFamily="34" charset="-122"/>
                <a:cs typeface="Calibri" pitchFamily="34" charset="-120"/>
              </a:rPr>
              <a:t>SCHOOL</a:t>
            </a:r>
            <a:endParaRPr lang="en-US" sz="2000" dirty="0"/>
          </a:p>
        </p:txBody>
      </p:sp>
      <p:sp>
        <p:nvSpPr>
          <p:cNvPr id="9" name="Text 6"/>
          <p:cNvSpPr/>
          <p:nvPr/>
        </p:nvSpPr>
        <p:spPr>
          <a:xfrm>
            <a:off x="3749040" y="2505456"/>
            <a:ext cx="7680960" cy="548640"/>
          </a:xfrm>
          <a:prstGeom prst="rect">
            <a:avLst/>
          </a:prstGeom>
          <a:noFill/>
          <a:ln/>
        </p:spPr>
        <p:txBody>
          <a:bodyPr wrap="square" lIns="0" tIns="0" rIns="0" bIns="0" rtlCol="0" anchor="ctr"/>
          <a:lstStyle/>
          <a:p>
            <a:pPr indent="0" marL="0">
              <a:buNone/>
            </a:pPr>
            <a:r>
              <a:rPr lang="en-US" sz="2000" dirty="0">
                <a:solidFill>
                  <a:srgbClr val="21295C"/>
                </a:solidFill>
                <a:latin typeface="Calibri" pitchFamily="34" charset="0"/>
                <a:ea typeface="Calibri" pitchFamily="34" charset="-122"/>
                <a:cs typeface="Calibri" pitchFamily="34" charset="-120"/>
              </a:rPr>
              <a:t>School of Artificial Intelligence and Advanced Computing</a:t>
            </a:r>
            <a:endParaRPr lang="en-US" sz="2000" dirty="0"/>
          </a:p>
        </p:txBody>
      </p:sp>
      <p:sp>
        <p:nvSpPr>
          <p:cNvPr id="10" name="Text 7"/>
          <p:cNvSpPr/>
          <p:nvPr/>
        </p:nvSpPr>
        <p:spPr>
          <a:xfrm>
            <a:off x="914400" y="3182112"/>
            <a:ext cx="2743200" cy="548640"/>
          </a:xfrm>
          <a:prstGeom prst="rect">
            <a:avLst/>
          </a:prstGeom>
          <a:noFill/>
          <a:ln/>
        </p:spPr>
        <p:txBody>
          <a:bodyPr wrap="square" lIns="0" tIns="0" rIns="0" bIns="0" rtlCol="0" anchor="ctr"/>
          <a:lstStyle/>
          <a:p>
            <a:pPr indent="0" marL="0">
              <a:buNone/>
            </a:pPr>
            <a:r>
              <a:rPr lang="en-US" sz="2000" b="1" dirty="0">
                <a:solidFill>
                  <a:srgbClr val="1C7293"/>
                </a:solidFill>
                <a:latin typeface="Calibri" pitchFamily="34" charset="0"/>
                <a:ea typeface="Calibri" pitchFamily="34" charset="-122"/>
                <a:cs typeface="Calibri" pitchFamily="34" charset="-120"/>
              </a:rPr>
              <a:t>DEPARTMENT</a:t>
            </a:r>
            <a:endParaRPr lang="en-US" sz="2000" dirty="0"/>
          </a:p>
        </p:txBody>
      </p:sp>
      <p:sp>
        <p:nvSpPr>
          <p:cNvPr id="11" name="Text 8"/>
          <p:cNvSpPr/>
          <p:nvPr/>
        </p:nvSpPr>
        <p:spPr>
          <a:xfrm>
            <a:off x="3749040" y="3182112"/>
            <a:ext cx="7680960" cy="548640"/>
          </a:xfrm>
          <a:prstGeom prst="rect">
            <a:avLst/>
          </a:prstGeom>
          <a:noFill/>
          <a:ln/>
        </p:spPr>
        <p:txBody>
          <a:bodyPr wrap="square" lIns="0" tIns="0" rIns="0" bIns="0" rtlCol="0" anchor="ctr"/>
          <a:lstStyle/>
          <a:p>
            <a:pPr indent="0" marL="0">
              <a:buNone/>
            </a:pPr>
            <a:r>
              <a:rPr lang="en-US" sz="2000" dirty="0">
                <a:solidFill>
                  <a:srgbClr val="21295C"/>
                </a:solidFill>
                <a:latin typeface="Calibri" pitchFamily="34" charset="0"/>
                <a:ea typeface="Calibri" pitchFamily="34" charset="-122"/>
                <a:cs typeface="Calibri" pitchFamily="34" charset="-120"/>
              </a:rPr>
              <a:t>Department of AI &amp; Robotics</a:t>
            </a:r>
            <a:endParaRPr lang="en-US" sz="2000" dirty="0"/>
          </a:p>
        </p:txBody>
      </p:sp>
      <p:sp>
        <p:nvSpPr>
          <p:cNvPr id="12" name="Text 9"/>
          <p:cNvSpPr/>
          <p:nvPr/>
        </p:nvSpPr>
        <p:spPr>
          <a:xfrm>
            <a:off x="914400" y="3858768"/>
            <a:ext cx="2743200" cy="548640"/>
          </a:xfrm>
          <a:prstGeom prst="rect">
            <a:avLst/>
          </a:prstGeom>
          <a:noFill/>
          <a:ln/>
        </p:spPr>
        <p:txBody>
          <a:bodyPr wrap="square" lIns="0" tIns="0" rIns="0" bIns="0" rtlCol="0" anchor="ctr"/>
          <a:lstStyle/>
          <a:p>
            <a:pPr indent="0" marL="0">
              <a:buNone/>
            </a:pPr>
            <a:r>
              <a:rPr lang="en-US" sz="2000" b="1" dirty="0">
                <a:solidFill>
                  <a:srgbClr val="1C7293"/>
                </a:solidFill>
                <a:latin typeface="Calibri" pitchFamily="34" charset="0"/>
                <a:ea typeface="Calibri" pitchFamily="34" charset="-122"/>
                <a:cs typeface="Calibri" pitchFamily="34" charset="-120"/>
              </a:rPr>
              <a:t>SUBJECT</a:t>
            </a:r>
            <a:endParaRPr lang="en-US" sz="2000" dirty="0"/>
          </a:p>
        </p:txBody>
      </p:sp>
      <p:sp>
        <p:nvSpPr>
          <p:cNvPr id="13" name="Text 10"/>
          <p:cNvSpPr/>
          <p:nvPr/>
        </p:nvSpPr>
        <p:spPr>
          <a:xfrm>
            <a:off x="3749040" y="3858768"/>
            <a:ext cx="7680960" cy="548640"/>
          </a:xfrm>
          <a:prstGeom prst="rect">
            <a:avLst/>
          </a:prstGeom>
          <a:noFill/>
          <a:ln/>
        </p:spPr>
        <p:txBody>
          <a:bodyPr wrap="square" lIns="0" tIns="0" rIns="0" bIns="0" rtlCol="0" anchor="ctr"/>
          <a:lstStyle/>
          <a:p>
            <a:pPr indent="0" marL="0">
              <a:buNone/>
            </a:pPr>
            <a:r>
              <a:rPr lang="en-US" sz="2000" dirty="0">
                <a:solidFill>
                  <a:srgbClr val="21295C"/>
                </a:solidFill>
                <a:latin typeface="Calibri" pitchFamily="34" charset="0"/>
                <a:ea typeface="Calibri" pitchFamily="34" charset="-122"/>
                <a:cs typeface="Calibri" pitchFamily="34" charset="-120"/>
              </a:rPr>
              <a:t>Computer Organization and Architecture (CSS2257)</a:t>
            </a:r>
            <a:endParaRPr lang="en-US" sz="2000" dirty="0"/>
          </a:p>
        </p:txBody>
      </p:sp>
      <p:sp>
        <p:nvSpPr>
          <p:cNvPr id="14" name="Text 11"/>
          <p:cNvSpPr/>
          <p:nvPr/>
        </p:nvSpPr>
        <p:spPr>
          <a:xfrm>
            <a:off x="914400" y="4535424"/>
            <a:ext cx="2743200" cy="548640"/>
          </a:xfrm>
          <a:prstGeom prst="rect">
            <a:avLst/>
          </a:prstGeom>
          <a:noFill/>
          <a:ln/>
        </p:spPr>
        <p:txBody>
          <a:bodyPr wrap="square" lIns="0" tIns="0" rIns="0" bIns="0" rtlCol="0" anchor="ctr"/>
          <a:lstStyle/>
          <a:p>
            <a:pPr indent="0" marL="0">
              <a:buNone/>
            </a:pPr>
            <a:r>
              <a:rPr lang="en-US" sz="2000" b="1" dirty="0">
                <a:solidFill>
                  <a:srgbClr val="1C7293"/>
                </a:solidFill>
                <a:latin typeface="Calibri" pitchFamily="34" charset="0"/>
                <a:ea typeface="Calibri" pitchFamily="34" charset="-122"/>
                <a:cs typeface="Calibri" pitchFamily="34" charset="-120"/>
              </a:rPr>
              <a:t>FACULTY</a:t>
            </a:r>
            <a:endParaRPr lang="en-US" sz="2000" dirty="0"/>
          </a:p>
        </p:txBody>
      </p:sp>
      <p:sp>
        <p:nvSpPr>
          <p:cNvPr id="15" name="Text 12"/>
          <p:cNvSpPr/>
          <p:nvPr/>
        </p:nvSpPr>
        <p:spPr>
          <a:xfrm>
            <a:off x="3749040" y="4535424"/>
            <a:ext cx="7680960" cy="548640"/>
          </a:xfrm>
          <a:prstGeom prst="rect">
            <a:avLst/>
          </a:prstGeom>
          <a:noFill/>
          <a:ln/>
        </p:spPr>
        <p:txBody>
          <a:bodyPr wrap="square" lIns="0" tIns="0" rIns="0" bIns="0" rtlCol="0" anchor="ctr"/>
          <a:lstStyle/>
          <a:p>
            <a:pPr indent="0" marL="0">
              <a:buNone/>
            </a:pPr>
            <a:r>
              <a:rPr lang="en-US" sz="2000" dirty="0">
                <a:solidFill>
                  <a:srgbClr val="21295C"/>
                </a:solidFill>
                <a:latin typeface="Calibri" pitchFamily="34" charset="0"/>
                <a:ea typeface="Calibri" pitchFamily="34" charset="-122"/>
                <a:cs typeface="Calibri" pitchFamily="34" charset="-120"/>
              </a:rPr>
              <a:t>Prof. Manoj Sagar</a:t>
            </a:r>
            <a:endParaRPr lang="en-US" sz="2000" dirty="0"/>
          </a:p>
        </p:txBody>
      </p:sp>
      <p:sp>
        <p:nvSpPr>
          <p:cNvPr id="16" name="Text 13"/>
          <p:cNvSpPr/>
          <p:nvPr/>
        </p:nvSpPr>
        <p:spPr>
          <a:xfrm>
            <a:off x="914400" y="5212080"/>
            <a:ext cx="2743200" cy="548640"/>
          </a:xfrm>
          <a:prstGeom prst="rect">
            <a:avLst/>
          </a:prstGeom>
          <a:noFill/>
          <a:ln/>
        </p:spPr>
        <p:txBody>
          <a:bodyPr wrap="square" lIns="0" tIns="0" rIns="0" bIns="0" rtlCol="0" anchor="ctr"/>
          <a:lstStyle/>
          <a:p>
            <a:pPr indent="0" marL="0">
              <a:buNone/>
            </a:pPr>
            <a:r>
              <a:rPr lang="en-US" sz="2000" b="1" dirty="0">
                <a:solidFill>
                  <a:srgbClr val="1C7293"/>
                </a:solidFill>
                <a:latin typeface="Calibri" pitchFamily="34" charset="0"/>
                <a:ea typeface="Calibri" pitchFamily="34" charset="-122"/>
                <a:cs typeface="Calibri" pitchFamily="34" charset="-120"/>
              </a:rPr>
              <a:t>SESSION FORMAT</a:t>
            </a:r>
            <a:endParaRPr lang="en-US" sz="2000" dirty="0"/>
          </a:p>
        </p:txBody>
      </p:sp>
      <p:sp>
        <p:nvSpPr>
          <p:cNvPr id="17" name="Text 14"/>
          <p:cNvSpPr/>
          <p:nvPr/>
        </p:nvSpPr>
        <p:spPr>
          <a:xfrm>
            <a:off x="3749040" y="5212080"/>
            <a:ext cx="7680960" cy="548640"/>
          </a:xfrm>
          <a:prstGeom prst="rect">
            <a:avLst/>
          </a:prstGeom>
          <a:noFill/>
          <a:ln/>
        </p:spPr>
        <p:txBody>
          <a:bodyPr wrap="square" lIns="0" tIns="0" rIns="0" bIns="0" rtlCol="0" anchor="ctr"/>
          <a:lstStyle/>
          <a:p>
            <a:pPr indent="0" marL="0">
              <a:buNone/>
            </a:pPr>
            <a:r>
              <a:rPr lang="en-US" sz="2000" dirty="0">
                <a:solidFill>
                  <a:srgbClr val="21295C"/>
                </a:solidFill>
                <a:latin typeface="Calibri" pitchFamily="34" charset="0"/>
                <a:ea typeface="Calibri" pitchFamily="34" charset="-122"/>
                <a:cs typeface="Calibri" pitchFamily="34" charset="-120"/>
              </a:rPr>
              <a:t>Collaborative Learning — pairs, jigsaw groups, and peer teaching</a:t>
            </a:r>
            <a:endParaRPr lang="en-US" sz="2000" dirty="0"/>
          </a:p>
        </p:txBody>
      </p:sp>
      <p:sp>
        <p:nvSpPr>
          <p:cNvPr id="18" name="Shape 15"/>
          <p:cNvSpPr/>
          <p:nvPr/>
        </p:nvSpPr>
        <p:spPr>
          <a:xfrm>
            <a:off x="0" y="6400800"/>
            <a:ext cx="12191695" cy="457200"/>
          </a:xfrm>
          <a:prstGeom prst="rect">
            <a:avLst/>
          </a:prstGeom>
          <a:solidFill>
            <a:srgbClr val="FFFFFF"/>
          </a:solidFill>
          <a:ln/>
        </p:spPr>
      </p:sp>
      <p:sp>
        <p:nvSpPr>
          <p:cNvPr id="19" name="Text 16"/>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20" name="Text 17"/>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1</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065A82"/>
          </a:solidFill>
          <a:ln/>
        </p:spPr>
      </p:sp>
      <p:pic>
        <p:nvPicPr>
          <p:cNvPr id="3" name="Image 0" descr="/home/claude/coa_signed_collab/icons/target.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Learning Objectives</a:t>
            </a:r>
            <a:endParaRPr lang="en-US" sz="3000" dirty="0"/>
          </a:p>
        </p:txBody>
      </p:sp>
      <p:sp>
        <p:nvSpPr>
          <p:cNvPr id="5" name="Text 2"/>
          <p:cNvSpPr/>
          <p:nvPr/>
        </p:nvSpPr>
        <p:spPr>
          <a:xfrm>
            <a:off x="548640" y="1508760"/>
            <a:ext cx="10515600" cy="457200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Represent signed integers using sign-magnitude, 1’s complement, and 2’s complement.</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Compute the representable range of an n-bit signed number.</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Add and subtract signed numbers using 2’s complement arithmetic.</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Detect overflow in signed addition and explain why it occurs.</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Explain and defend these ideas to a peer — not just calculate them.</a:t>
            </a:r>
            <a:endParaRPr lang="en-US" sz="2000" dirty="0"/>
          </a:p>
        </p:txBody>
      </p:sp>
      <p:sp>
        <p:nvSpPr>
          <p:cNvPr id="6" name="Shape 3"/>
          <p:cNvSpPr/>
          <p:nvPr/>
        </p:nvSpPr>
        <p:spPr>
          <a:xfrm>
            <a:off x="0" y="6400800"/>
            <a:ext cx="12191695" cy="457200"/>
          </a:xfrm>
          <a:prstGeom prst="rect">
            <a:avLst/>
          </a:prstGeom>
          <a:solidFill>
            <a:srgbClr val="FFFFFF"/>
          </a:solidFill>
          <a:ln/>
        </p:spPr>
      </p:sp>
      <p:sp>
        <p:nvSpPr>
          <p:cNvPr id="7" name="Text 4"/>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8" name="Text 5"/>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2</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F2A93B"/>
          </a:solidFill>
          <a:ln/>
        </p:spPr>
      </p:sp>
      <p:pic>
        <p:nvPicPr>
          <p:cNvPr id="3" name="Image 0" descr="/home/claude/coa_signed_collab/icons/comments.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Icebreaker: Think, Pair, Share</a:t>
            </a:r>
            <a:endParaRPr lang="en-US" sz="3000" dirty="0"/>
          </a:p>
        </p:txBody>
      </p:sp>
      <p:sp>
        <p:nvSpPr>
          <p:cNvPr id="5" name="Shape 2"/>
          <p:cNvSpPr/>
          <p:nvPr/>
        </p:nvSpPr>
        <p:spPr>
          <a:xfrm>
            <a:off x="548640" y="1554480"/>
            <a:ext cx="11094415" cy="2011680"/>
          </a:xfrm>
          <a:prstGeom prst="roundRect">
            <a:avLst>
              <a:gd name="adj" fmla="val 5455"/>
            </a:avLst>
          </a:prstGeom>
          <a:solidFill>
            <a:srgbClr val="FFF4DF"/>
          </a:solidFill>
          <a:ln/>
          <a:effectLst>
            <a:outerShdw sx="100000" sy="100000" kx="0" ky="0" algn="bl" rotWithShape="0" blurRad="76200" dist="25400" dir="5400000">
              <a:srgbClr val="888888">
                <a:alpha val="18000"/>
              </a:srgbClr>
            </a:outerShdw>
          </a:effectLst>
        </p:spPr>
      </p:sp>
      <p:sp>
        <p:nvSpPr>
          <p:cNvPr id="6" name="Text 3"/>
          <p:cNvSpPr/>
          <p:nvPr/>
        </p:nvSpPr>
        <p:spPr>
          <a:xfrm>
            <a:off x="914400" y="1783080"/>
            <a:ext cx="10362895" cy="1554480"/>
          </a:xfrm>
          <a:prstGeom prst="rect">
            <a:avLst/>
          </a:prstGeom>
          <a:noFill/>
          <a:ln/>
        </p:spPr>
        <p:txBody>
          <a:bodyPr wrap="square" lIns="0" tIns="0" rIns="0" bIns="0" rtlCol="0" anchor="ctr"/>
          <a:lstStyle/>
          <a:p>
            <a:pPr indent="0" marL="0">
              <a:buNone/>
            </a:pPr>
            <a:r>
              <a:rPr lang="en-US" sz="2400" i="1" dirty="0">
                <a:solidFill>
                  <a:srgbClr val="21295C"/>
                </a:solidFill>
                <a:latin typeface="Cambria" pitchFamily="34" charset="0"/>
                <a:ea typeface="Cambria" pitchFamily="34" charset="-122"/>
                <a:cs typeface="Cambria" pitchFamily="34" charset="-120"/>
              </a:rPr>
              <a:t>“If a computer only understands 0s and 1s, how do you think it represents a NEGATIVE number?”</a:t>
            </a:r>
            <a:endParaRPr lang="en-US" sz="2400" dirty="0"/>
          </a:p>
        </p:txBody>
      </p:sp>
      <p:sp>
        <p:nvSpPr>
          <p:cNvPr id="7" name="Text 4"/>
          <p:cNvSpPr/>
          <p:nvPr/>
        </p:nvSpPr>
        <p:spPr>
          <a:xfrm>
            <a:off x="548640" y="3840480"/>
            <a:ext cx="10515600" cy="457200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THINK (1 min): Jot your own guess — no wrong answers yet.</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PAIR (2 min): Compare guesses with your neighbor.</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SHARE: 3–4 pairs share with the class.</a:t>
            </a:r>
            <a:endParaRPr lang="en-US" sz="2000" dirty="0"/>
          </a:p>
        </p:txBody>
      </p:sp>
      <p:sp>
        <p:nvSpPr>
          <p:cNvPr id="8" name="Shape 5"/>
          <p:cNvSpPr/>
          <p:nvPr/>
        </p:nvSpPr>
        <p:spPr>
          <a:xfrm>
            <a:off x="0" y="6400800"/>
            <a:ext cx="12191695" cy="457200"/>
          </a:xfrm>
          <a:prstGeom prst="rect">
            <a:avLst/>
          </a:prstGeom>
          <a:solidFill>
            <a:srgbClr val="FFFFFF"/>
          </a:solidFill>
          <a:ln/>
        </p:spPr>
      </p:sp>
      <p:sp>
        <p:nvSpPr>
          <p:cNvPr id="9" name="Text 6"/>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10" name="Text 7"/>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3</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F2A93B"/>
          </a:solidFill>
          <a:ln/>
        </p:spPr>
      </p:sp>
      <p:pic>
        <p:nvPicPr>
          <p:cNvPr id="3" name="Image 0" descr="/home/claude/coa_signed_collab/icons/handshake.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How We’ll Learn Today</a:t>
            </a:r>
            <a:endParaRPr lang="en-US" sz="3000" dirty="0"/>
          </a:p>
        </p:txBody>
      </p:sp>
      <p:sp>
        <p:nvSpPr>
          <p:cNvPr id="5" name="Shape 2"/>
          <p:cNvSpPr/>
          <p:nvPr/>
        </p:nvSpPr>
        <p:spPr>
          <a:xfrm>
            <a:off x="548640" y="1645920"/>
            <a:ext cx="3454298" cy="4206240"/>
          </a:xfrm>
          <a:prstGeom prst="roundRect">
            <a:avLst>
              <a:gd name="adj" fmla="val 3177"/>
            </a:avLst>
          </a:prstGeom>
          <a:solidFill>
            <a:srgbClr val="F4F8FA"/>
          </a:solidFill>
          <a:ln/>
          <a:effectLst>
            <a:outerShdw sx="100000" sy="100000" kx="0" ky="0" algn="bl" rotWithShape="0" blurRad="76200" dist="25400" dir="5400000">
              <a:srgbClr val="888888">
                <a:alpha val="18000"/>
              </a:srgbClr>
            </a:outerShdw>
          </a:effectLst>
        </p:spPr>
      </p:sp>
      <p:sp>
        <p:nvSpPr>
          <p:cNvPr id="6" name="Shape 3"/>
          <p:cNvSpPr/>
          <p:nvPr/>
        </p:nvSpPr>
        <p:spPr>
          <a:xfrm>
            <a:off x="1818589" y="1920240"/>
            <a:ext cx="914400" cy="914400"/>
          </a:xfrm>
          <a:prstGeom prst="ellipse">
            <a:avLst/>
          </a:prstGeom>
          <a:solidFill>
            <a:srgbClr val="065A82"/>
          </a:solidFill>
          <a:ln/>
        </p:spPr>
      </p:sp>
      <p:pic>
        <p:nvPicPr>
          <p:cNvPr id="7" name="Image 1" descr="/home/claude/coa_signed_collab/icons/comments.png">    </p:cNvPr>
          <p:cNvPicPr>
            <a:picLocks noChangeAspect="1"/>
          </p:cNvPicPr>
          <p:nvPr/>
        </p:nvPicPr>
        <p:blipFill>
          <a:blip r:embed="rId2"/>
          <a:stretch>
            <a:fillRect/>
          </a:stretch>
        </p:blipFill>
        <p:spPr>
          <a:xfrm>
            <a:off x="2019757" y="2121408"/>
            <a:ext cx="512064" cy="512064"/>
          </a:xfrm>
          <a:prstGeom prst="rect">
            <a:avLst/>
          </a:prstGeom>
        </p:spPr>
      </p:pic>
      <p:sp>
        <p:nvSpPr>
          <p:cNvPr id="8" name="Text 4"/>
          <p:cNvSpPr/>
          <p:nvPr/>
        </p:nvSpPr>
        <p:spPr>
          <a:xfrm>
            <a:off x="777240" y="2971800"/>
            <a:ext cx="2997098" cy="640080"/>
          </a:xfrm>
          <a:prstGeom prst="rect">
            <a:avLst/>
          </a:prstGeom>
          <a:noFill/>
          <a:ln/>
        </p:spPr>
        <p:txBody>
          <a:bodyPr wrap="square" lIns="0" tIns="0" rIns="0" bIns="0" rtlCol="0" anchor="ctr"/>
          <a:lstStyle/>
          <a:p>
            <a:pPr algn="ctr" indent="0" marL="0">
              <a:buNone/>
            </a:pPr>
            <a:r>
              <a:rPr lang="en-US" sz="2000" b="1" dirty="0">
                <a:solidFill>
                  <a:srgbClr val="21295C"/>
                </a:solidFill>
                <a:latin typeface="Cambria" pitchFamily="34" charset="0"/>
                <a:ea typeface="Cambria" pitchFamily="34" charset="-122"/>
                <a:cs typeface="Cambria" pitchFamily="34" charset="-120"/>
              </a:rPr>
              <a:t>Think-Pair-Share</a:t>
            </a:r>
            <a:endParaRPr lang="en-US" sz="2000" dirty="0"/>
          </a:p>
        </p:txBody>
      </p:sp>
      <p:sp>
        <p:nvSpPr>
          <p:cNvPr id="9" name="Text 5"/>
          <p:cNvSpPr/>
          <p:nvPr/>
        </p:nvSpPr>
        <p:spPr>
          <a:xfrm>
            <a:off x="822960" y="3657600"/>
            <a:ext cx="2905658" cy="2011680"/>
          </a:xfrm>
          <a:prstGeom prst="rect">
            <a:avLst/>
          </a:prstGeom>
          <a:noFill/>
          <a:ln/>
        </p:spPr>
        <p:txBody>
          <a:bodyPr wrap="square" lIns="0" tIns="0" rIns="0" bIns="0" rtlCol="0" anchor="ctr"/>
          <a:lstStyle/>
          <a:p>
            <a:pPr algn="l" indent="0" marL="0">
              <a:lnSpc>
                <a:spcPct val="115000"/>
              </a:lnSpc>
              <a:buNone/>
            </a:pPr>
            <a:r>
              <a:rPr lang="en-US" sz="2000" dirty="0">
                <a:solidFill>
                  <a:srgbClr val="21295C"/>
                </a:solidFill>
                <a:latin typeface="Calibri" pitchFamily="34" charset="0"/>
                <a:ea typeface="Calibri" pitchFamily="34" charset="-122"/>
                <a:cs typeface="Calibri" pitchFamily="34" charset="-120"/>
              </a:rPr>
              <a:t>Quick individual thought, then a partner check, before we discuss as a class.</a:t>
            </a:r>
            <a:endParaRPr lang="en-US" sz="2000" dirty="0"/>
          </a:p>
        </p:txBody>
      </p:sp>
      <p:sp>
        <p:nvSpPr>
          <p:cNvPr id="10" name="Shape 6"/>
          <p:cNvSpPr/>
          <p:nvPr/>
        </p:nvSpPr>
        <p:spPr>
          <a:xfrm>
            <a:off x="4368698" y="1645920"/>
            <a:ext cx="3454298" cy="4206240"/>
          </a:xfrm>
          <a:prstGeom prst="roundRect">
            <a:avLst>
              <a:gd name="adj" fmla="val 3177"/>
            </a:avLst>
          </a:prstGeom>
          <a:solidFill>
            <a:srgbClr val="F4F8FA"/>
          </a:solidFill>
          <a:ln/>
          <a:effectLst>
            <a:outerShdw sx="100000" sy="100000" kx="0" ky="0" algn="bl" rotWithShape="0" blurRad="76200" dist="25400" dir="5400000">
              <a:srgbClr val="888888">
                <a:alpha val="18000"/>
              </a:srgbClr>
            </a:outerShdw>
          </a:effectLst>
        </p:spPr>
      </p:sp>
      <p:sp>
        <p:nvSpPr>
          <p:cNvPr id="11" name="Shape 7"/>
          <p:cNvSpPr/>
          <p:nvPr/>
        </p:nvSpPr>
        <p:spPr>
          <a:xfrm>
            <a:off x="5638648" y="1920240"/>
            <a:ext cx="914400" cy="914400"/>
          </a:xfrm>
          <a:prstGeom prst="ellipse">
            <a:avLst/>
          </a:prstGeom>
          <a:solidFill>
            <a:srgbClr val="065A82"/>
          </a:solidFill>
          <a:ln/>
        </p:spPr>
      </p:sp>
      <p:pic>
        <p:nvPicPr>
          <p:cNvPr id="12" name="Image 2" descr="/home/claude/coa_signed_collab/icons/puzzle.png">    </p:cNvPr>
          <p:cNvPicPr>
            <a:picLocks noChangeAspect="1"/>
          </p:cNvPicPr>
          <p:nvPr/>
        </p:nvPicPr>
        <p:blipFill>
          <a:blip r:embed="rId3"/>
          <a:stretch>
            <a:fillRect/>
          </a:stretch>
        </p:blipFill>
        <p:spPr>
          <a:xfrm>
            <a:off x="5839816" y="2121408"/>
            <a:ext cx="512064" cy="512064"/>
          </a:xfrm>
          <a:prstGeom prst="rect">
            <a:avLst/>
          </a:prstGeom>
        </p:spPr>
      </p:pic>
      <p:sp>
        <p:nvSpPr>
          <p:cNvPr id="13" name="Text 8"/>
          <p:cNvSpPr/>
          <p:nvPr/>
        </p:nvSpPr>
        <p:spPr>
          <a:xfrm>
            <a:off x="4597298" y="2971800"/>
            <a:ext cx="2997098" cy="640080"/>
          </a:xfrm>
          <a:prstGeom prst="rect">
            <a:avLst/>
          </a:prstGeom>
          <a:noFill/>
          <a:ln/>
        </p:spPr>
        <p:txBody>
          <a:bodyPr wrap="square" lIns="0" tIns="0" rIns="0" bIns="0" rtlCol="0" anchor="ctr"/>
          <a:lstStyle/>
          <a:p>
            <a:pPr algn="ctr" indent="0" marL="0">
              <a:buNone/>
            </a:pPr>
            <a:r>
              <a:rPr lang="en-US" sz="2000" b="1" dirty="0">
                <a:solidFill>
                  <a:srgbClr val="21295C"/>
                </a:solidFill>
                <a:latin typeface="Cambria" pitchFamily="34" charset="0"/>
                <a:ea typeface="Cambria" pitchFamily="34" charset="-122"/>
                <a:cs typeface="Cambria" pitchFamily="34" charset="-120"/>
              </a:rPr>
              <a:t>Jigsaw Groups</a:t>
            </a:r>
            <a:endParaRPr lang="en-US" sz="2000" dirty="0"/>
          </a:p>
        </p:txBody>
      </p:sp>
      <p:sp>
        <p:nvSpPr>
          <p:cNvPr id="14" name="Text 9"/>
          <p:cNvSpPr/>
          <p:nvPr/>
        </p:nvSpPr>
        <p:spPr>
          <a:xfrm>
            <a:off x="4643018" y="3657600"/>
            <a:ext cx="2905658" cy="2011680"/>
          </a:xfrm>
          <a:prstGeom prst="rect">
            <a:avLst/>
          </a:prstGeom>
          <a:noFill/>
          <a:ln/>
        </p:spPr>
        <p:txBody>
          <a:bodyPr wrap="square" lIns="0" tIns="0" rIns="0" bIns="0" rtlCol="0" anchor="ctr"/>
          <a:lstStyle/>
          <a:p>
            <a:pPr algn="l" indent="0" marL="0">
              <a:lnSpc>
                <a:spcPct val="115000"/>
              </a:lnSpc>
              <a:buNone/>
            </a:pPr>
            <a:r>
              <a:rPr lang="en-US" sz="2000" dirty="0">
                <a:solidFill>
                  <a:srgbClr val="21295C"/>
                </a:solidFill>
                <a:latin typeface="Calibri" pitchFamily="34" charset="0"/>
                <a:ea typeface="Calibri" pitchFamily="34" charset="-122"/>
                <a:cs typeface="Calibri" pitchFamily="34" charset="-120"/>
              </a:rPr>
              <a:t>Each small group becomes the expert on one piece, then teaches it to another group.</a:t>
            </a:r>
            <a:endParaRPr lang="en-US" sz="2000" dirty="0"/>
          </a:p>
        </p:txBody>
      </p:sp>
      <p:sp>
        <p:nvSpPr>
          <p:cNvPr id="15" name="Shape 10"/>
          <p:cNvSpPr/>
          <p:nvPr/>
        </p:nvSpPr>
        <p:spPr>
          <a:xfrm>
            <a:off x="8188757" y="1645920"/>
            <a:ext cx="3454298" cy="4206240"/>
          </a:xfrm>
          <a:prstGeom prst="roundRect">
            <a:avLst>
              <a:gd name="adj" fmla="val 3177"/>
            </a:avLst>
          </a:prstGeom>
          <a:solidFill>
            <a:srgbClr val="F4F8FA"/>
          </a:solidFill>
          <a:ln/>
          <a:effectLst>
            <a:outerShdw sx="100000" sy="100000" kx="0" ky="0" algn="bl" rotWithShape="0" blurRad="76200" dist="25400" dir="5400000">
              <a:srgbClr val="888888">
                <a:alpha val="18000"/>
              </a:srgbClr>
            </a:outerShdw>
          </a:effectLst>
        </p:spPr>
      </p:sp>
      <p:sp>
        <p:nvSpPr>
          <p:cNvPr id="16" name="Shape 11"/>
          <p:cNvSpPr/>
          <p:nvPr/>
        </p:nvSpPr>
        <p:spPr>
          <a:xfrm>
            <a:off x="9458706" y="1920240"/>
            <a:ext cx="914400" cy="914400"/>
          </a:xfrm>
          <a:prstGeom prst="ellipse">
            <a:avLst/>
          </a:prstGeom>
          <a:solidFill>
            <a:srgbClr val="065A82"/>
          </a:solidFill>
          <a:ln/>
        </p:spPr>
      </p:sp>
      <p:pic>
        <p:nvPicPr>
          <p:cNvPr id="17" name="Image 3" descr="/home/claude/coa_signed_collab/icons/teacher.png">    </p:cNvPr>
          <p:cNvPicPr>
            <a:picLocks noChangeAspect="1"/>
          </p:cNvPicPr>
          <p:nvPr/>
        </p:nvPicPr>
        <p:blipFill>
          <a:blip r:embed="rId4"/>
          <a:stretch>
            <a:fillRect/>
          </a:stretch>
        </p:blipFill>
        <p:spPr>
          <a:xfrm>
            <a:off x="9659874" y="2121408"/>
            <a:ext cx="512064" cy="512064"/>
          </a:xfrm>
          <a:prstGeom prst="rect">
            <a:avLst/>
          </a:prstGeom>
        </p:spPr>
      </p:pic>
      <p:sp>
        <p:nvSpPr>
          <p:cNvPr id="18" name="Text 12"/>
          <p:cNvSpPr/>
          <p:nvPr/>
        </p:nvSpPr>
        <p:spPr>
          <a:xfrm>
            <a:off x="8417357" y="2971800"/>
            <a:ext cx="2997098" cy="640080"/>
          </a:xfrm>
          <a:prstGeom prst="rect">
            <a:avLst/>
          </a:prstGeom>
          <a:noFill/>
          <a:ln/>
        </p:spPr>
        <p:txBody>
          <a:bodyPr wrap="square" lIns="0" tIns="0" rIns="0" bIns="0" rtlCol="0" anchor="ctr"/>
          <a:lstStyle/>
          <a:p>
            <a:pPr algn="ctr" indent="0" marL="0">
              <a:buNone/>
            </a:pPr>
            <a:r>
              <a:rPr lang="en-US" sz="2000" b="1" dirty="0">
                <a:solidFill>
                  <a:srgbClr val="21295C"/>
                </a:solidFill>
                <a:latin typeface="Cambria" pitchFamily="34" charset="0"/>
                <a:ea typeface="Cambria" pitchFamily="34" charset="-122"/>
                <a:cs typeface="Cambria" pitchFamily="34" charset="-120"/>
              </a:rPr>
              <a:t>Peer Teaching</a:t>
            </a:r>
            <a:endParaRPr lang="en-US" sz="2000" dirty="0"/>
          </a:p>
        </p:txBody>
      </p:sp>
      <p:sp>
        <p:nvSpPr>
          <p:cNvPr id="19" name="Text 13"/>
          <p:cNvSpPr/>
          <p:nvPr/>
        </p:nvSpPr>
        <p:spPr>
          <a:xfrm>
            <a:off x="8463077" y="3657600"/>
            <a:ext cx="2905658" cy="2011680"/>
          </a:xfrm>
          <a:prstGeom prst="rect">
            <a:avLst/>
          </a:prstGeom>
          <a:noFill/>
          <a:ln/>
        </p:spPr>
        <p:txBody>
          <a:bodyPr wrap="square" lIns="0" tIns="0" rIns="0" bIns="0" rtlCol="0" anchor="ctr"/>
          <a:lstStyle/>
          <a:p>
            <a:pPr algn="l" indent="0" marL="0">
              <a:lnSpc>
                <a:spcPct val="115000"/>
              </a:lnSpc>
              <a:buNone/>
            </a:pPr>
            <a:r>
              <a:rPr lang="en-US" sz="2000" dirty="0">
                <a:solidFill>
                  <a:srgbClr val="21295C"/>
                </a:solidFill>
                <a:latin typeface="Calibri" pitchFamily="34" charset="0"/>
                <a:ea typeface="Calibri" pitchFamily="34" charset="-122"/>
                <a:cs typeface="Calibri" pitchFamily="34" charset="-120"/>
              </a:rPr>
              <a:t>You explain a concept to a classmate — the fastest way to find out what you truly understand.</a:t>
            </a:r>
            <a:endParaRPr lang="en-US" sz="2000" dirty="0"/>
          </a:p>
        </p:txBody>
      </p:sp>
      <p:sp>
        <p:nvSpPr>
          <p:cNvPr id="20" name="Shape 14"/>
          <p:cNvSpPr/>
          <p:nvPr/>
        </p:nvSpPr>
        <p:spPr>
          <a:xfrm>
            <a:off x="0" y="6400800"/>
            <a:ext cx="12191695" cy="457200"/>
          </a:xfrm>
          <a:prstGeom prst="rect">
            <a:avLst/>
          </a:prstGeom>
          <a:solidFill>
            <a:srgbClr val="FFFFFF"/>
          </a:solidFill>
          <a:ln/>
        </p:spPr>
      </p:sp>
      <p:sp>
        <p:nvSpPr>
          <p:cNvPr id="21" name="Text 15"/>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22" name="Text 16"/>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4</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065A82"/>
          </a:solidFill>
          <a:ln/>
        </p:spPr>
      </p:sp>
      <p:pic>
        <p:nvPicPr>
          <p:cNvPr id="3" name="Image 0" descr="/home/claude/coa_signed_collab/icons/lightbulb.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Why Signed Representation Matters</a:t>
            </a:r>
            <a:endParaRPr lang="en-US" sz="3000" dirty="0"/>
          </a:p>
        </p:txBody>
      </p:sp>
      <p:sp>
        <p:nvSpPr>
          <p:cNvPr id="5" name="Text 2"/>
          <p:cNvSpPr/>
          <p:nvPr/>
        </p:nvSpPr>
        <p:spPr>
          <a:xfrm>
            <a:off x="548640" y="1508760"/>
            <a:ext cx="10515600" cy="457200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Every processor’s ALU must handle both positive and negative values — temperatures, bank balances, sensor offsets, error codes.</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Hardware has no minus sign — only bit patterns. The representation scheme IS the design decision.</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Real-time example: a drone’s altitude-change sensor reports +250 or −180 mm/s — the CPU only sees bits.</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Get the representation wrong, and addition, comparison, and overflow checks all break.</a:t>
            </a:r>
            <a:endParaRPr lang="en-US" sz="2000" dirty="0"/>
          </a:p>
        </p:txBody>
      </p:sp>
      <p:sp>
        <p:nvSpPr>
          <p:cNvPr id="6" name="Shape 3"/>
          <p:cNvSpPr/>
          <p:nvPr/>
        </p:nvSpPr>
        <p:spPr>
          <a:xfrm>
            <a:off x="0" y="6400800"/>
            <a:ext cx="12191695" cy="457200"/>
          </a:xfrm>
          <a:prstGeom prst="rect">
            <a:avLst/>
          </a:prstGeom>
          <a:solidFill>
            <a:srgbClr val="FFFFFF"/>
          </a:solidFill>
          <a:ln/>
        </p:spPr>
      </p:sp>
      <p:sp>
        <p:nvSpPr>
          <p:cNvPr id="7" name="Text 4"/>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8" name="Text 5"/>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5</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065A82"/>
          </a:solidFill>
          <a:ln/>
        </p:spPr>
      </p:sp>
      <p:pic>
        <p:nvPicPr>
          <p:cNvPr id="3" name="Image 0" descr="/home/claude/coa_signed_collab/icons/sitemap.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Quick Recap: Unsigned Binary</a:t>
            </a:r>
            <a:endParaRPr lang="en-US" sz="3000" dirty="0"/>
          </a:p>
        </p:txBody>
      </p:sp>
      <p:sp>
        <p:nvSpPr>
          <p:cNvPr id="5" name="Text 2"/>
          <p:cNvSpPr/>
          <p:nvPr/>
        </p:nvSpPr>
        <p:spPr>
          <a:xfrm>
            <a:off x="548640" y="1508760"/>
            <a:ext cx="5669280" cy="292608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An n-bit unsigned number represents values 0 to 2ⁿ − 1.</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Example (4-bit): 0000 = 0, up to 1111 = 15.</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Every bit is a magnitude bit — there is no sign information at all.</a:t>
            </a:r>
            <a:endParaRPr lang="en-US" sz="2000" dirty="0"/>
          </a:p>
        </p:txBody>
      </p:sp>
      <p:sp>
        <p:nvSpPr>
          <p:cNvPr id="6" name="Shape 3"/>
          <p:cNvSpPr/>
          <p:nvPr/>
        </p:nvSpPr>
        <p:spPr>
          <a:xfrm>
            <a:off x="6492240" y="1554480"/>
            <a:ext cx="5150815" cy="2926080"/>
          </a:xfrm>
          <a:prstGeom prst="roundRect">
            <a:avLst>
              <a:gd name="adj" fmla="val 3750"/>
            </a:avLst>
          </a:prstGeom>
          <a:solidFill>
            <a:srgbClr val="F4F8FA"/>
          </a:solidFill>
          <a:ln/>
          <a:effectLst>
            <a:outerShdw sx="100000" sy="100000" kx="0" ky="0" algn="bl" rotWithShape="0" blurRad="76200" dist="25400" dir="5400000">
              <a:srgbClr val="888888">
                <a:alpha val="18000"/>
              </a:srgbClr>
            </a:outerShdw>
          </a:effectLst>
        </p:spPr>
      </p:sp>
      <p:sp>
        <p:nvSpPr>
          <p:cNvPr id="7" name="Text 4"/>
          <p:cNvSpPr/>
          <p:nvPr/>
        </p:nvSpPr>
        <p:spPr>
          <a:xfrm>
            <a:off x="6766560" y="1737360"/>
            <a:ext cx="4572000" cy="457200"/>
          </a:xfrm>
          <a:prstGeom prst="rect">
            <a:avLst/>
          </a:prstGeom>
          <a:noFill/>
          <a:ln/>
        </p:spPr>
        <p:txBody>
          <a:bodyPr wrap="square" lIns="0" tIns="0" rIns="0" bIns="0" rtlCol="0" anchor="ctr"/>
          <a:lstStyle/>
          <a:p>
            <a:pPr indent="0" marL="0">
              <a:buNone/>
            </a:pPr>
            <a:r>
              <a:rPr lang="en-US" sz="2000" b="1" dirty="0">
                <a:solidFill>
                  <a:srgbClr val="1C7293"/>
                </a:solidFill>
                <a:latin typeface="Calibri" pitchFamily="34" charset="0"/>
                <a:ea typeface="Calibri" pitchFamily="34" charset="-122"/>
                <a:cs typeface="Calibri" pitchFamily="34" charset="-120"/>
              </a:rPr>
              <a:t>4-bit unsigned range</a:t>
            </a:r>
            <a:endParaRPr lang="en-US" sz="2000" dirty="0"/>
          </a:p>
        </p:txBody>
      </p:sp>
      <p:sp>
        <p:nvSpPr>
          <p:cNvPr id="8" name="Text 5"/>
          <p:cNvSpPr/>
          <p:nvPr/>
        </p:nvSpPr>
        <p:spPr>
          <a:xfrm>
            <a:off x="6766560" y="2286000"/>
            <a:ext cx="4572000" cy="1920240"/>
          </a:xfrm>
          <a:prstGeom prst="rect">
            <a:avLst/>
          </a:prstGeom>
          <a:noFill/>
          <a:ln/>
        </p:spPr>
        <p:txBody>
          <a:bodyPr wrap="square" lIns="0" tIns="0" rIns="0" bIns="0" rtlCol="0" anchor="ctr"/>
          <a:lstStyle/>
          <a:p>
            <a:pPr indent="0" marL="0">
              <a:lnSpc>
                <a:spcPct val="140000"/>
              </a:lnSpc>
              <a:buNone/>
            </a:pPr>
            <a:r>
              <a:rPr lang="en-US" sz="2400" b="1" dirty="0">
                <a:solidFill>
                  <a:srgbClr val="21295C"/>
                </a:solidFill>
                <a:latin typeface="Courier New" pitchFamily="34" charset="0"/>
                <a:ea typeface="Courier New" pitchFamily="34" charset="-122"/>
                <a:cs typeface="Courier New" pitchFamily="34" charset="-120"/>
              </a:rPr>
              <a:t>0000 → 0</a:t>
            </a:r>
            <a:endParaRPr lang="en-US" sz="2400" dirty="0"/>
          </a:p>
          <a:p>
            <a:pPr indent="0" marL="0">
              <a:lnSpc>
                <a:spcPct val="140000"/>
              </a:lnSpc>
              <a:buNone/>
            </a:pPr>
            <a:r>
              <a:rPr lang="en-US" sz="2400" b="1" dirty="0">
                <a:solidFill>
                  <a:srgbClr val="21295C"/>
                </a:solidFill>
                <a:latin typeface="Courier New" pitchFamily="34" charset="0"/>
                <a:ea typeface="Courier New" pitchFamily="34" charset="-122"/>
                <a:cs typeface="Courier New" pitchFamily="34" charset="-120"/>
              </a:rPr>
              <a:t>1111 → 15</a:t>
            </a:r>
            <a:endParaRPr lang="en-US" sz="2400" dirty="0"/>
          </a:p>
        </p:txBody>
      </p:sp>
      <p:sp>
        <p:nvSpPr>
          <p:cNvPr id="9" name="Text 6"/>
          <p:cNvSpPr/>
          <p:nvPr/>
        </p:nvSpPr>
        <p:spPr>
          <a:xfrm>
            <a:off x="548640" y="4754880"/>
            <a:ext cx="10515600" cy="1097280"/>
          </a:xfrm>
          <a:prstGeom prst="rect">
            <a:avLst/>
          </a:prstGeom>
          <a:noFill/>
          <a:ln/>
        </p:spPr>
        <p:txBody>
          <a:bodyPr wrap="square" lIns="0" tIns="0" rIns="0" bIns="0" rtlCol="0" anchor="ctr"/>
          <a:lstStyle/>
          <a:p>
            <a:pPr indent="0" marL="0">
              <a:buNone/>
            </a:pPr>
            <a:r>
              <a:rPr lang="en-US" sz="2000" i="1" dirty="0">
                <a:solidFill>
                  <a:srgbClr val="065A82"/>
                </a:solidFill>
                <a:latin typeface="Calibri" pitchFamily="34" charset="0"/>
                <a:ea typeface="Calibri" pitchFamily="34" charset="-122"/>
                <a:cs typeface="Calibri" pitchFamily="34" charset="-120"/>
              </a:rPr>
              <a:t>Question for today: how do we squeeze negative values into the same bit patterns?</a:t>
            </a:r>
            <a:endParaRPr lang="en-US" sz="2000" dirty="0"/>
          </a:p>
        </p:txBody>
      </p:sp>
      <p:sp>
        <p:nvSpPr>
          <p:cNvPr id="10" name="Shape 7"/>
          <p:cNvSpPr/>
          <p:nvPr/>
        </p:nvSpPr>
        <p:spPr>
          <a:xfrm>
            <a:off x="0" y="6400800"/>
            <a:ext cx="12191695" cy="457200"/>
          </a:xfrm>
          <a:prstGeom prst="rect">
            <a:avLst/>
          </a:prstGeom>
          <a:solidFill>
            <a:srgbClr val="FFFFFF"/>
          </a:solidFill>
          <a:ln/>
        </p:spPr>
      </p:sp>
      <p:sp>
        <p:nvSpPr>
          <p:cNvPr id="11" name="Text 8"/>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12" name="Text 9"/>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6</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065A82"/>
          </a:solidFill>
          <a:ln/>
        </p:spPr>
      </p:sp>
      <p:pic>
        <p:nvPicPr>
          <p:cNvPr id="3" name="Image 0" descr="/home/claude/coa_signed_collab/icons/balance.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Representation 1: Sign-Magnitude</a:t>
            </a:r>
            <a:endParaRPr lang="en-US" sz="3000" dirty="0"/>
          </a:p>
        </p:txBody>
      </p:sp>
      <p:sp>
        <p:nvSpPr>
          <p:cNvPr id="5" name="Text 2"/>
          <p:cNvSpPr/>
          <p:nvPr/>
        </p:nvSpPr>
        <p:spPr>
          <a:xfrm>
            <a:off x="548640" y="1508760"/>
            <a:ext cx="10515600" cy="457200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The most significant bit (MSB) is the sign bit: 0 = positive, 1 = negative.</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The remaining n−1 bits hold the magnitude, exactly as in unsigned binary.</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Example (4-bit): +5 = 0101, and −5 = 1101 (same magnitude, sign bit flipped).</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Drawback: two representations for zero (0000 and 1000) — awkward for hardware.</a:t>
            </a:r>
            <a:endParaRPr lang="en-US" sz="2000" dirty="0"/>
          </a:p>
        </p:txBody>
      </p:sp>
      <p:sp>
        <p:nvSpPr>
          <p:cNvPr id="6" name="Shape 3"/>
          <p:cNvSpPr/>
          <p:nvPr/>
        </p:nvSpPr>
        <p:spPr>
          <a:xfrm>
            <a:off x="0" y="6400800"/>
            <a:ext cx="12191695" cy="457200"/>
          </a:xfrm>
          <a:prstGeom prst="rect">
            <a:avLst/>
          </a:prstGeom>
          <a:solidFill>
            <a:srgbClr val="FFFFFF"/>
          </a:solidFill>
          <a:ln/>
        </p:spPr>
      </p:sp>
      <p:sp>
        <p:nvSpPr>
          <p:cNvPr id="7" name="Text 4"/>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8" name="Text 5"/>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7</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9E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F2A93B"/>
          </a:solidFill>
          <a:ln/>
        </p:spPr>
      </p:sp>
      <p:pic>
        <p:nvPicPr>
          <p:cNvPr id="3" name="Image 0" descr="/home/claude/coa_signed_collab/icons/comments.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5486400" cy="320040"/>
          </a:xfrm>
          <a:prstGeom prst="rect">
            <a:avLst/>
          </a:prstGeom>
          <a:noFill/>
          <a:ln/>
        </p:spPr>
        <p:txBody>
          <a:bodyPr wrap="square" lIns="0" tIns="0" rIns="0" bIns="0" rtlCol="0" anchor="ctr"/>
          <a:lstStyle/>
          <a:p>
            <a:pPr indent="0" marL="0">
              <a:buNone/>
            </a:pPr>
            <a:r>
              <a:rPr lang="en-US" sz="2000" b="1" spc="100" kern="0" dirty="0">
                <a:solidFill>
                  <a:srgbClr val="F2A93B"/>
                </a:solidFill>
                <a:latin typeface="Calibri" pitchFamily="34" charset="0"/>
                <a:ea typeface="Calibri" pitchFamily="34" charset="-122"/>
                <a:cs typeface="Calibri" pitchFamily="34" charset="-120"/>
              </a:rPr>
              <a:t>COLLABORATIVE TASK</a:t>
            </a:r>
            <a:endParaRPr lang="en-US" sz="2000" dirty="0"/>
          </a:p>
        </p:txBody>
      </p:sp>
      <p:sp>
        <p:nvSpPr>
          <p:cNvPr id="5" name="Text 2"/>
          <p:cNvSpPr/>
          <p:nvPr/>
        </p:nvSpPr>
        <p:spPr>
          <a:xfrm>
            <a:off x="1508760" y="777240"/>
            <a:ext cx="10134295" cy="5486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Pair Practice — Sign-Magnitude Conversion</a:t>
            </a:r>
            <a:endParaRPr lang="en-US" sz="2600" dirty="0"/>
          </a:p>
        </p:txBody>
      </p:sp>
      <p:sp>
        <p:nvSpPr>
          <p:cNvPr id="6" name="Shape 3"/>
          <p:cNvSpPr/>
          <p:nvPr/>
        </p:nvSpPr>
        <p:spPr>
          <a:xfrm>
            <a:off x="548640" y="1554480"/>
            <a:ext cx="11094415" cy="658368"/>
          </a:xfrm>
          <a:prstGeom prst="roundRect">
            <a:avLst>
              <a:gd name="adj" fmla="val 16667"/>
            </a:avLst>
          </a:prstGeom>
          <a:solidFill>
            <a:srgbClr val="FFFFFF"/>
          </a:solidFill>
          <a:ln/>
          <a:effectLst>
            <a:outerShdw sx="100000" sy="100000" kx="0" ky="0" algn="bl" rotWithShape="0" blurRad="76200" dist="25400" dir="5400000">
              <a:srgbClr val="888888">
                <a:alpha val="18000"/>
              </a:srgbClr>
            </a:outerShdw>
          </a:effectLst>
        </p:spPr>
      </p:sp>
      <p:sp>
        <p:nvSpPr>
          <p:cNvPr id="7" name="Text 4"/>
          <p:cNvSpPr/>
          <p:nvPr/>
        </p:nvSpPr>
        <p:spPr>
          <a:xfrm>
            <a:off x="822960" y="1554480"/>
            <a:ext cx="10545775" cy="658368"/>
          </a:xfrm>
          <a:prstGeom prst="rect">
            <a:avLst/>
          </a:prstGeom>
          <a:noFill/>
          <a:ln/>
        </p:spPr>
        <p:txBody>
          <a:bodyPr wrap="square" lIns="0" tIns="0" rIns="0" bIns="0" rtlCol="0" anchor="ctr"/>
          <a:lstStyle/>
          <a:p>
            <a:pPr indent="0" marL="0">
              <a:buNone/>
            </a:pPr>
            <a:r>
              <a:rPr lang="en-US" sz="2000" b="1" dirty="0">
                <a:solidFill>
                  <a:srgbClr val="065A82"/>
                </a:solidFill>
                <a:latin typeface="Calibri" pitchFamily="34" charset="0"/>
                <a:ea typeface="Calibri" pitchFamily="34" charset="-122"/>
                <a:cs typeface="Calibri" pitchFamily="34" charset="-120"/>
              </a:rPr>
              <a:t>Work in pairs of 2</a:t>
            </a:r>
            <a:endParaRPr lang="en-US" sz="2000" dirty="0"/>
          </a:p>
        </p:txBody>
      </p:sp>
      <p:sp>
        <p:nvSpPr>
          <p:cNvPr id="8" name="Text 5"/>
          <p:cNvSpPr/>
          <p:nvPr/>
        </p:nvSpPr>
        <p:spPr>
          <a:xfrm>
            <a:off x="548640" y="2423160"/>
            <a:ext cx="11094415" cy="822960"/>
          </a:xfrm>
          <a:prstGeom prst="rect">
            <a:avLst/>
          </a:prstGeom>
          <a:noFill/>
          <a:ln/>
        </p:spPr>
        <p:txBody>
          <a:bodyPr wrap="square" lIns="0" tIns="0" rIns="0" bIns="0" rtlCol="0" anchor="ctr"/>
          <a:lstStyle/>
          <a:p>
            <a:pPr indent="0" marL="0">
              <a:lnSpc>
                <a:spcPct val="120000"/>
              </a:lnSpc>
              <a:buNone/>
            </a:pPr>
            <a:r>
              <a:rPr lang="en-US" sz="2000" dirty="0">
                <a:solidFill>
                  <a:srgbClr val="21295C"/>
                </a:solidFill>
                <a:latin typeface="Calibri" pitchFamily="34" charset="0"/>
                <a:ea typeface="Calibri" pitchFamily="34" charset="-122"/>
                <a:cs typeface="Calibri" pitchFamily="34" charset="-120"/>
              </a:rPr>
              <a:t>Partner A converts +9 and −11 to 5-bit sign-magnitude. Partner B converts −14 and +6. Then swap books and check each other’s work.</a:t>
            </a:r>
            <a:endParaRPr lang="en-US" sz="2000" dirty="0"/>
          </a:p>
        </p:txBody>
      </p:sp>
      <p:sp>
        <p:nvSpPr>
          <p:cNvPr id="9" name="Text 6"/>
          <p:cNvSpPr/>
          <p:nvPr/>
        </p:nvSpPr>
        <p:spPr>
          <a:xfrm>
            <a:off x="548640" y="3246120"/>
            <a:ext cx="10515600" cy="260604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Write the magnitude in binary first, ignoring the sign.</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Set the MSB to 0 (positive) or 1 (negative).</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Cross-check your partner’s answer and agree on any disagreement before moving on.</a:t>
            </a:r>
            <a:endParaRPr lang="en-US" sz="2000" dirty="0"/>
          </a:p>
        </p:txBody>
      </p:sp>
      <p:sp>
        <p:nvSpPr>
          <p:cNvPr id="10" name="Text 7"/>
          <p:cNvSpPr/>
          <p:nvPr/>
        </p:nvSpPr>
        <p:spPr>
          <a:xfrm>
            <a:off x="548640" y="5870448"/>
            <a:ext cx="5486400" cy="365760"/>
          </a:xfrm>
          <a:prstGeom prst="rect">
            <a:avLst/>
          </a:prstGeom>
          <a:noFill/>
          <a:ln/>
        </p:spPr>
        <p:txBody>
          <a:bodyPr wrap="square" lIns="0" tIns="0" rIns="0" bIns="0" rtlCol="0" anchor="ctr"/>
          <a:lstStyle/>
          <a:p>
            <a:pPr indent="0" marL="0">
              <a:buNone/>
            </a:pPr>
            <a:r>
              <a:rPr lang="en-US" sz="2000" b="1" i="1" dirty="0">
                <a:solidFill>
                  <a:srgbClr val="1C7293"/>
                </a:solidFill>
                <a:latin typeface="Calibri" pitchFamily="34" charset="0"/>
                <a:ea typeface="Calibri" pitchFamily="34" charset="-122"/>
                <a:cs typeface="Calibri" pitchFamily="34" charset="-120"/>
              </a:rPr>
              <a:t>Time: 4 minutes</a:t>
            </a:r>
            <a:endParaRPr lang="en-US" sz="2000" dirty="0"/>
          </a:p>
        </p:txBody>
      </p:sp>
      <p:sp>
        <p:nvSpPr>
          <p:cNvPr id="11" name="Shape 8"/>
          <p:cNvSpPr/>
          <p:nvPr/>
        </p:nvSpPr>
        <p:spPr>
          <a:xfrm>
            <a:off x="0" y="6400800"/>
            <a:ext cx="12191695" cy="457200"/>
          </a:xfrm>
          <a:prstGeom prst="rect">
            <a:avLst/>
          </a:prstGeom>
          <a:solidFill>
            <a:srgbClr val="FFFFFF"/>
          </a:solidFill>
          <a:ln/>
        </p:spPr>
      </p:sp>
      <p:sp>
        <p:nvSpPr>
          <p:cNvPr id="12" name="Text 9"/>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13" name="Text 10"/>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8</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065A82"/>
          </a:solidFill>
          <a:ln/>
        </p:spPr>
      </p:sp>
      <p:pic>
        <p:nvPicPr>
          <p:cNvPr id="3" name="Image 0" descr="/home/claude/coa_signed_collab/icons/exchange.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Representation 2: 1’s Complement</a:t>
            </a:r>
            <a:endParaRPr lang="en-US" sz="3000" dirty="0"/>
          </a:p>
        </p:txBody>
      </p:sp>
      <p:sp>
        <p:nvSpPr>
          <p:cNvPr id="5" name="Text 2"/>
          <p:cNvSpPr/>
          <p:nvPr/>
        </p:nvSpPr>
        <p:spPr>
          <a:xfrm>
            <a:off x="548640" y="1508760"/>
            <a:ext cx="10515600" cy="457200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Positive numbers look identical to unsigned binary.</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To negate a number, flip every bit (0↔1).</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Example (4-bit): +5 = 0101 → −5 = 1010 (bitwise complement).</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Still has two zeros: 0000 (+0) and 1111 (−0) — arithmetic needs an “end-around carry” fix.</a:t>
            </a:r>
            <a:endParaRPr lang="en-US" sz="2000" dirty="0"/>
          </a:p>
        </p:txBody>
      </p:sp>
      <p:sp>
        <p:nvSpPr>
          <p:cNvPr id="6" name="Shape 3"/>
          <p:cNvSpPr/>
          <p:nvPr/>
        </p:nvSpPr>
        <p:spPr>
          <a:xfrm>
            <a:off x="0" y="6400800"/>
            <a:ext cx="12191695" cy="457200"/>
          </a:xfrm>
          <a:prstGeom prst="rect">
            <a:avLst/>
          </a:prstGeom>
          <a:solidFill>
            <a:srgbClr val="FFFFFF"/>
          </a:solidFill>
          <a:ln/>
        </p:spPr>
      </p:sp>
      <p:sp>
        <p:nvSpPr>
          <p:cNvPr id="7" name="Text 4"/>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8" name="Text 5"/>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9</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9E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F2A93B"/>
          </a:solidFill>
          <a:ln/>
        </p:spPr>
      </p:sp>
      <p:pic>
        <p:nvPicPr>
          <p:cNvPr id="3" name="Image 0" descr="/home/claude/coa_signed_collab/icons/puzzle.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5486400" cy="320040"/>
          </a:xfrm>
          <a:prstGeom prst="rect">
            <a:avLst/>
          </a:prstGeom>
          <a:noFill/>
          <a:ln/>
        </p:spPr>
        <p:txBody>
          <a:bodyPr wrap="square" lIns="0" tIns="0" rIns="0" bIns="0" rtlCol="0" anchor="ctr"/>
          <a:lstStyle/>
          <a:p>
            <a:pPr indent="0" marL="0">
              <a:buNone/>
            </a:pPr>
            <a:r>
              <a:rPr lang="en-US" sz="2000" b="1" spc="100" kern="0" dirty="0">
                <a:solidFill>
                  <a:srgbClr val="F2A93B"/>
                </a:solidFill>
                <a:latin typeface="Calibri" pitchFamily="34" charset="0"/>
                <a:ea typeface="Calibri" pitchFamily="34" charset="-122"/>
                <a:cs typeface="Calibri" pitchFamily="34" charset="-120"/>
              </a:rPr>
              <a:t>COLLABORATIVE TASK</a:t>
            </a:r>
            <a:endParaRPr lang="en-US" sz="2000" dirty="0"/>
          </a:p>
        </p:txBody>
      </p:sp>
      <p:sp>
        <p:nvSpPr>
          <p:cNvPr id="5" name="Text 2"/>
          <p:cNvSpPr/>
          <p:nvPr/>
        </p:nvSpPr>
        <p:spPr>
          <a:xfrm>
            <a:off x="1508760" y="777240"/>
            <a:ext cx="10134295" cy="5486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Jigsaw — 1’s Complement Conversion</a:t>
            </a:r>
            <a:endParaRPr lang="en-US" sz="2600" dirty="0"/>
          </a:p>
        </p:txBody>
      </p:sp>
      <p:sp>
        <p:nvSpPr>
          <p:cNvPr id="6" name="Shape 3"/>
          <p:cNvSpPr/>
          <p:nvPr/>
        </p:nvSpPr>
        <p:spPr>
          <a:xfrm>
            <a:off x="548640" y="1554480"/>
            <a:ext cx="11094415" cy="658368"/>
          </a:xfrm>
          <a:prstGeom prst="roundRect">
            <a:avLst>
              <a:gd name="adj" fmla="val 16667"/>
            </a:avLst>
          </a:prstGeom>
          <a:solidFill>
            <a:srgbClr val="FFFFFF"/>
          </a:solidFill>
          <a:ln/>
          <a:effectLst>
            <a:outerShdw sx="100000" sy="100000" kx="0" ky="0" algn="bl" rotWithShape="0" blurRad="76200" dist="25400" dir="5400000">
              <a:srgbClr val="888888">
                <a:alpha val="18000"/>
              </a:srgbClr>
            </a:outerShdw>
          </a:effectLst>
        </p:spPr>
      </p:sp>
      <p:sp>
        <p:nvSpPr>
          <p:cNvPr id="7" name="Text 4"/>
          <p:cNvSpPr/>
          <p:nvPr/>
        </p:nvSpPr>
        <p:spPr>
          <a:xfrm>
            <a:off x="822960" y="1554480"/>
            <a:ext cx="10545775" cy="658368"/>
          </a:xfrm>
          <a:prstGeom prst="rect">
            <a:avLst/>
          </a:prstGeom>
          <a:noFill/>
          <a:ln/>
        </p:spPr>
        <p:txBody>
          <a:bodyPr wrap="square" lIns="0" tIns="0" rIns="0" bIns="0" rtlCol="0" anchor="ctr"/>
          <a:lstStyle/>
          <a:p>
            <a:pPr indent="0" marL="0">
              <a:buNone/>
            </a:pPr>
            <a:r>
              <a:rPr lang="en-US" sz="2000" b="1" dirty="0">
                <a:solidFill>
                  <a:srgbClr val="065A82"/>
                </a:solidFill>
                <a:latin typeface="Calibri" pitchFamily="34" charset="0"/>
                <a:ea typeface="Calibri" pitchFamily="34" charset="-122"/>
                <a:cs typeface="Calibri" pitchFamily="34" charset="-120"/>
              </a:rPr>
              <a:t>Groups of 4 — each group gets ONE number</a:t>
            </a:r>
            <a:endParaRPr lang="en-US" sz="2000" dirty="0"/>
          </a:p>
        </p:txBody>
      </p:sp>
      <p:sp>
        <p:nvSpPr>
          <p:cNvPr id="8" name="Text 5"/>
          <p:cNvSpPr/>
          <p:nvPr/>
        </p:nvSpPr>
        <p:spPr>
          <a:xfrm>
            <a:off x="548640" y="2423160"/>
            <a:ext cx="11094415" cy="822960"/>
          </a:xfrm>
          <a:prstGeom prst="rect">
            <a:avLst/>
          </a:prstGeom>
          <a:noFill/>
          <a:ln/>
        </p:spPr>
        <p:txBody>
          <a:bodyPr wrap="square" lIns="0" tIns="0" rIns="0" bIns="0" rtlCol="0" anchor="ctr"/>
          <a:lstStyle/>
          <a:p>
            <a:pPr indent="0" marL="0">
              <a:lnSpc>
                <a:spcPct val="120000"/>
              </a:lnSpc>
              <a:buNone/>
            </a:pPr>
            <a:r>
              <a:rPr lang="en-US" sz="2000" dirty="0">
                <a:solidFill>
                  <a:srgbClr val="21295C"/>
                </a:solidFill>
                <a:latin typeface="Calibri" pitchFamily="34" charset="0"/>
                <a:ea typeface="Calibri" pitchFamily="34" charset="-122"/>
                <a:cs typeface="Calibri" pitchFamily="34" charset="-120"/>
              </a:rPr>
              <a:t>Group 1: convert +7. Group 2: convert −7. Group 3: convert +12. Group 4: convert −12 (use 5-bit width). Each group becomes the “expert” on its number.</a:t>
            </a:r>
            <a:endParaRPr lang="en-US" sz="2000" dirty="0"/>
          </a:p>
        </p:txBody>
      </p:sp>
      <p:sp>
        <p:nvSpPr>
          <p:cNvPr id="9" name="Text 6"/>
          <p:cNvSpPr/>
          <p:nvPr/>
        </p:nvSpPr>
        <p:spPr>
          <a:xfrm>
            <a:off x="548640" y="3246120"/>
            <a:ext cx="10515600" cy="260604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Within your group, agree on the binary magnitude, then flip bits if negative.</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Appoint one “expert speaker” to explain your group’s answer to the class.</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As a class, verify that +7 and −7 are true bitwise complements of each other.</a:t>
            </a:r>
            <a:endParaRPr lang="en-US" sz="2000" dirty="0"/>
          </a:p>
        </p:txBody>
      </p:sp>
      <p:sp>
        <p:nvSpPr>
          <p:cNvPr id="10" name="Text 7"/>
          <p:cNvSpPr/>
          <p:nvPr/>
        </p:nvSpPr>
        <p:spPr>
          <a:xfrm>
            <a:off x="548640" y="5870448"/>
            <a:ext cx="5486400" cy="365760"/>
          </a:xfrm>
          <a:prstGeom prst="rect">
            <a:avLst/>
          </a:prstGeom>
          <a:noFill/>
          <a:ln/>
        </p:spPr>
        <p:txBody>
          <a:bodyPr wrap="square" lIns="0" tIns="0" rIns="0" bIns="0" rtlCol="0" anchor="ctr"/>
          <a:lstStyle/>
          <a:p>
            <a:pPr indent="0" marL="0">
              <a:buNone/>
            </a:pPr>
            <a:r>
              <a:rPr lang="en-US" sz="2000" b="1" i="1" dirty="0">
                <a:solidFill>
                  <a:srgbClr val="1C7293"/>
                </a:solidFill>
                <a:latin typeface="Calibri" pitchFamily="34" charset="0"/>
                <a:ea typeface="Calibri" pitchFamily="34" charset="-122"/>
                <a:cs typeface="Calibri" pitchFamily="34" charset="-120"/>
              </a:rPr>
              <a:t>Time: 6 minutes</a:t>
            </a:r>
            <a:endParaRPr lang="en-US" sz="2000" dirty="0"/>
          </a:p>
        </p:txBody>
      </p:sp>
      <p:sp>
        <p:nvSpPr>
          <p:cNvPr id="11" name="Shape 8"/>
          <p:cNvSpPr/>
          <p:nvPr/>
        </p:nvSpPr>
        <p:spPr>
          <a:xfrm>
            <a:off x="0" y="6400800"/>
            <a:ext cx="12191695" cy="457200"/>
          </a:xfrm>
          <a:prstGeom prst="rect">
            <a:avLst/>
          </a:prstGeom>
          <a:solidFill>
            <a:srgbClr val="FFFFFF"/>
          </a:solidFill>
          <a:ln/>
        </p:spPr>
      </p:sp>
      <p:sp>
        <p:nvSpPr>
          <p:cNvPr id="12" name="Text 9"/>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13" name="Text 10"/>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10</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065A82"/>
          </a:solidFill>
          <a:ln/>
        </p:spPr>
      </p:sp>
      <p:pic>
        <p:nvPicPr>
          <p:cNvPr id="3" name="Image 0" descr="/home/claude/coa_signed_collab/icons/layers.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Representation 3: 2’s Complement</a:t>
            </a:r>
            <a:endParaRPr lang="en-US" sz="3000" dirty="0"/>
          </a:p>
        </p:txBody>
      </p:sp>
      <p:sp>
        <p:nvSpPr>
          <p:cNvPr id="5" name="Text 2"/>
          <p:cNvSpPr/>
          <p:nvPr/>
        </p:nvSpPr>
        <p:spPr>
          <a:xfrm>
            <a:off x="548640" y="1508760"/>
            <a:ext cx="10515600" cy="457200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Take the 1’s complement, then add 1 to the least significant bit.</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Example (4-bit): +5 = 0101 → flip → 1010 → add 1 → 1011 = −5.</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Only ONE representation for zero: 0000.</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This is the scheme used by virtually every modern processor.</a:t>
            </a:r>
            <a:endParaRPr lang="en-US" sz="2000" dirty="0"/>
          </a:p>
        </p:txBody>
      </p:sp>
      <p:sp>
        <p:nvSpPr>
          <p:cNvPr id="6" name="Shape 3"/>
          <p:cNvSpPr/>
          <p:nvPr/>
        </p:nvSpPr>
        <p:spPr>
          <a:xfrm>
            <a:off x="0" y="6400800"/>
            <a:ext cx="12191695" cy="457200"/>
          </a:xfrm>
          <a:prstGeom prst="rect">
            <a:avLst/>
          </a:prstGeom>
          <a:solidFill>
            <a:srgbClr val="FFFFFF"/>
          </a:solidFill>
          <a:ln/>
        </p:spPr>
      </p:sp>
      <p:sp>
        <p:nvSpPr>
          <p:cNvPr id="7" name="Text 4"/>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8" name="Text 5"/>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11</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F2A93B"/>
          </a:solidFill>
          <a:ln/>
        </p:spPr>
      </p:sp>
      <p:pic>
        <p:nvPicPr>
          <p:cNvPr id="3" name="Image 0" descr="/home/claude/coa_signed_collab/icons/comments.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Group Discussion: Why 2’s Complement Wins</a:t>
            </a:r>
            <a:endParaRPr lang="en-US" sz="3000" dirty="0"/>
          </a:p>
        </p:txBody>
      </p:sp>
      <p:sp>
        <p:nvSpPr>
          <p:cNvPr id="5" name="Shape 2"/>
          <p:cNvSpPr/>
          <p:nvPr/>
        </p:nvSpPr>
        <p:spPr>
          <a:xfrm>
            <a:off x="548640" y="1554480"/>
            <a:ext cx="11094415" cy="1188720"/>
          </a:xfrm>
          <a:prstGeom prst="roundRect">
            <a:avLst>
              <a:gd name="adj" fmla="val 9231"/>
            </a:avLst>
          </a:prstGeom>
          <a:solidFill>
            <a:srgbClr val="FFF4DF"/>
          </a:solidFill>
          <a:ln/>
          <a:effectLst>
            <a:outerShdw sx="100000" sy="100000" kx="0" ky="0" algn="bl" rotWithShape="0" blurRad="76200" dist="25400" dir="5400000">
              <a:srgbClr val="888888">
                <a:alpha val="18000"/>
              </a:srgbClr>
            </a:outerShdw>
          </a:effectLst>
        </p:spPr>
      </p:sp>
      <p:sp>
        <p:nvSpPr>
          <p:cNvPr id="6" name="Text 3"/>
          <p:cNvSpPr/>
          <p:nvPr/>
        </p:nvSpPr>
        <p:spPr>
          <a:xfrm>
            <a:off x="914400" y="1737360"/>
            <a:ext cx="10362895" cy="822960"/>
          </a:xfrm>
          <a:prstGeom prst="rect">
            <a:avLst/>
          </a:prstGeom>
          <a:noFill/>
          <a:ln/>
        </p:spPr>
        <p:txBody>
          <a:bodyPr wrap="square" lIns="0" tIns="0" rIns="0" bIns="0" rtlCol="0" anchor="ctr"/>
          <a:lstStyle/>
          <a:p>
            <a:pPr indent="0" marL="0">
              <a:buNone/>
            </a:pPr>
            <a:r>
              <a:rPr lang="en-US" sz="2000" i="1" dirty="0">
                <a:solidFill>
                  <a:srgbClr val="21295C"/>
                </a:solidFill>
                <a:latin typeface="Cambria" pitchFamily="34" charset="0"/>
                <a:ea typeface="Cambria" pitchFamily="34" charset="-122"/>
                <a:cs typeface="Cambria" pitchFamily="34" charset="-120"/>
              </a:rPr>
              <a:t>In your table group (4 min): list every advantage 2’s complement has over sign-magnitude and 1’s complement. Be ready to defend your top pick.</a:t>
            </a:r>
            <a:endParaRPr lang="en-US" sz="2000" dirty="0"/>
          </a:p>
        </p:txBody>
      </p:sp>
      <p:sp>
        <p:nvSpPr>
          <p:cNvPr id="7" name="Text 4"/>
          <p:cNvSpPr/>
          <p:nvPr/>
        </p:nvSpPr>
        <p:spPr>
          <a:xfrm>
            <a:off x="548640" y="3017520"/>
            <a:ext cx="10515600" cy="274320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Hint: how many representations of zero does each scheme have?</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Hint: does subtraction need special hardware, or can it reuse the adder?</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Hint: what happens to the end-around carry problem?</a:t>
            </a:r>
            <a:endParaRPr lang="en-US" sz="2000" dirty="0"/>
          </a:p>
        </p:txBody>
      </p:sp>
      <p:sp>
        <p:nvSpPr>
          <p:cNvPr id="8" name="Shape 5"/>
          <p:cNvSpPr/>
          <p:nvPr/>
        </p:nvSpPr>
        <p:spPr>
          <a:xfrm>
            <a:off x="0" y="6400800"/>
            <a:ext cx="12191695" cy="457200"/>
          </a:xfrm>
          <a:prstGeom prst="rect">
            <a:avLst/>
          </a:prstGeom>
          <a:solidFill>
            <a:srgbClr val="FFFFFF"/>
          </a:solidFill>
          <a:ln/>
        </p:spPr>
      </p:sp>
      <p:sp>
        <p:nvSpPr>
          <p:cNvPr id="9" name="Text 6"/>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10" name="Text 7"/>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12</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9E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F2A93B"/>
          </a:solidFill>
          <a:ln/>
        </p:spPr>
      </p:sp>
      <p:pic>
        <p:nvPicPr>
          <p:cNvPr id="3" name="Image 0" descr="/home/claude/coa_signed_collab/icons/comments.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5486400" cy="320040"/>
          </a:xfrm>
          <a:prstGeom prst="rect">
            <a:avLst/>
          </a:prstGeom>
          <a:noFill/>
          <a:ln/>
        </p:spPr>
        <p:txBody>
          <a:bodyPr wrap="square" lIns="0" tIns="0" rIns="0" bIns="0" rtlCol="0" anchor="ctr"/>
          <a:lstStyle/>
          <a:p>
            <a:pPr indent="0" marL="0">
              <a:buNone/>
            </a:pPr>
            <a:r>
              <a:rPr lang="en-US" sz="2000" b="1" spc="100" kern="0" dirty="0">
                <a:solidFill>
                  <a:srgbClr val="F2A93B"/>
                </a:solidFill>
                <a:latin typeface="Calibri" pitchFamily="34" charset="0"/>
                <a:ea typeface="Calibri" pitchFamily="34" charset="-122"/>
                <a:cs typeface="Calibri" pitchFamily="34" charset="-120"/>
              </a:rPr>
              <a:t>COLLABORATIVE TASK</a:t>
            </a:r>
            <a:endParaRPr lang="en-US" sz="2000" dirty="0"/>
          </a:p>
        </p:txBody>
      </p:sp>
      <p:sp>
        <p:nvSpPr>
          <p:cNvPr id="5" name="Text 2"/>
          <p:cNvSpPr/>
          <p:nvPr/>
        </p:nvSpPr>
        <p:spPr>
          <a:xfrm>
            <a:off x="1508760" y="777240"/>
            <a:ext cx="10134295" cy="5486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Speed Round — 2’s Complement Conversion</a:t>
            </a:r>
            <a:endParaRPr lang="en-US" sz="2600" dirty="0"/>
          </a:p>
        </p:txBody>
      </p:sp>
      <p:sp>
        <p:nvSpPr>
          <p:cNvPr id="6" name="Shape 3"/>
          <p:cNvSpPr/>
          <p:nvPr/>
        </p:nvSpPr>
        <p:spPr>
          <a:xfrm>
            <a:off x="548640" y="1554480"/>
            <a:ext cx="11094415" cy="658368"/>
          </a:xfrm>
          <a:prstGeom prst="roundRect">
            <a:avLst>
              <a:gd name="adj" fmla="val 16667"/>
            </a:avLst>
          </a:prstGeom>
          <a:solidFill>
            <a:srgbClr val="FFFFFF"/>
          </a:solidFill>
          <a:ln/>
          <a:effectLst>
            <a:outerShdw sx="100000" sy="100000" kx="0" ky="0" algn="bl" rotWithShape="0" blurRad="76200" dist="25400" dir="5400000">
              <a:srgbClr val="888888">
                <a:alpha val="18000"/>
              </a:srgbClr>
            </a:outerShdw>
          </a:effectLst>
        </p:spPr>
      </p:sp>
      <p:sp>
        <p:nvSpPr>
          <p:cNvPr id="7" name="Text 4"/>
          <p:cNvSpPr/>
          <p:nvPr/>
        </p:nvSpPr>
        <p:spPr>
          <a:xfrm>
            <a:off x="822960" y="1554480"/>
            <a:ext cx="10545775" cy="658368"/>
          </a:xfrm>
          <a:prstGeom prst="rect">
            <a:avLst/>
          </a:prstGeom>
          <a:noFill/>
          <a:ln/>
        </p:spPr>
        <p:txBody>
          <a:bodyPr wrap="square" lIns="0" tIns="0" rIns="0" bIns="0" rtlCol="0" anchor="ctr"/>
          <a:lstStyle/>
          <a:p>
            <a:pPr indent="0" marL="0">
              <a:buNone/>
            </a:pPr>
            <a:r>
              <a:rPr lang="en-US" sz="2000" b="1" dirty="0">
                <a:solidFill>
                  <a:srgbClr val="065A82"/>
                </a:solidFill>
                <a:latin typeface="Calibri" pitchFamily="34" charset="0"/>
                <a:ea typeface="Calibri" pitchFamily="34" charset="-122"/>
                <a:cs typeface="Calibri" pitchFamily="34" charset="-120"/>
              </a:rPr>
              <a:t>Pairs — first correct pair wins the round</a:t>
            </a:r>
            <a:endParaRPr lang="en-US" sz="2000" dirty="0"/>
          </a:p>
        </p:txBody>
      </p:sp>
      <p:sp>
        <p:nvSpPr>
          <p:cNvPr id="8" name="Text 5"/>
          <p:cNvSpPr/>
          <p:nvPr/>
        </p:nvSpPr>
        <p:spPr>
          <a:xfrm>
            <a:off x="548640" y="2423160"/>
            <a:ext cx="11094415" cy="822960"/>
          </a:xfrm>
          <a:prstGeom prst="rect">
            <a:avLst/>
          </a:prstGeom>
          <a:noFill/>
          <a:ln/>
        </p:spPr>
        <p:txBody>
          <a:bodyPr wrap="square" lIns="0" tIns="0" rIns="0" bIns="0" rtlCol="0" anchor="ctr"/>
          <a:lstStyle/>
          <a:p>
            <a:pPr indent="0" marL="0">
              <a:lnSpc>
                <a:spcPct val="120000"/>
              </a:lnSpc>
              <a:buNone/>
            </a:pPr>
            <a:r>
              <a:rPr lang="en-US" sz="2000" dirty="0">
                <a:solidFill>
                  <a:srgbClr val="21295C"/>
                </a:solidFill>
                <a:latin typeface="Calibri" pitchFamily="34" charset="0"/>
                <a:ea typeface="Calibri" pitchFamily="34" charset="-122"/>
                <a:cs typeface="Calibri" pitchFamily="34" charset="-120"/>
              </a:rPr>
              <a:t>Convert the following to 5-bit 2’s complement as fast (and correctly) as you can: +10, −15, +2, −1.</a:t>
            </a:r>
            <a:endParaRPr lang="en-US" sz="2000" dirty="0"/>
          </a:p>
        </p:txBody>
      </p:sp>
      <p:sp>
        <p:nvSpPr>
          <p:cNvPr id="9" name="Text 6"/>
          <p:cNvSpPr/>
          <p:nvPr/>
        </p:nvSpPr>
        <p:spPr>
          <a:xfrm>
            <a:off x="548640" y="3246120"/>
            <a:ext cx="10515600" cy="260604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Shortcut: scan from the LSB, copy bits up to and including the first 1, then flip the rest.</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Race your partner — but you must both agree on the final answers.</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First pair with all four correct raises hands.</a:t>
            </a:r>
            <a:endParaRPr lang="en-US" sz="2000" dirty="0"/>
          </a:p>
        </p:txBody>
      </p:sp>
      <p:sp>
        <p:nvSpPr>
          <p:cNvPr id="10" name="Text 7"/>
          <p:cNvSpPr/>
          <p:nvPr/>
        </p:nvSpPr>
        <p:spPr>
          <a:xfrm>
            <a:off x="548640" y="5870448"/>
            <a:ext cx="5486400" cy="365760"/>
          </a:xfrm>
          <a:prstGeom prst="rect">
            <a:avLst/>
          </a:prstGeom>
          <a:noFill/>
          <a:ln/>
        </p:spPr>
        <p:txBody>
          <a:bodyPr wrap="square" lIns="0" tIns="0" rIns="0" bIns="0" rtlCol="0" anchor="ctr"/>
          <a:lstStyle/>
          <a:p>
            <a:pPr indent="0" marL="0">
              <a:buNone/>
            </a:pPr>
            <a:r>
              <a:rPr lang="en-US" sz="2000" b="1" i="1" dirty="0">
                <a:solidFill>
                  <a:srgbClr val="1C7293"/>
                </a:solidFill>
                <a:latin typeface="Calibri" pitchFamily="34" charset="0"/>
                <a:ea typeface="Calibri" pitchFamily="34" charset="-122"/>
                <a:cs typeface="Calibri" pitchFamily="34" charset="-120"/>
              </a:rPr>
              <a:t>Time: 3 minutes</a:t>
            </a:r>
            <a:endParaRPr lang="en-US" sz="2000" dirty="0"/>
          </a:p>
        </p:txBody>
      </p:sp>
      <p:sp>
        <p:nvSpPr>
          <p:cNvPr id="11" name="Shape 8"/>
          <p:cNvSpPr/>
          <p:nvPr/>
        </p:nvSpPr>
        <p:spPr>
          <a:xfrm>
            <a:off x="0" y="6400800"/>
            <a:ext cx="12191695" cy="457200"/>
          </a:xfrm>
          <a:prstGeom prst="rect">
            <a:avLst/>
          </a:prstGeom>
          <a:solidFill>
            <a:srgbClr val="FFFFFF"/>
          </a:solidFill>
          <a:ln/>
        </p:spPr>
      </p:sp>
      <p:sp>
        <p:nvSpPr>
          <p:cNvPr id="12" name="Text 9"/>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13" name="Text 10"/>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13</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065A82"/>
          </a:solidFill>
          <a:ln/>
        </p:spPr>
      </p:sp>
      <p:pic>
        <p:nvPicPr>
          <p:cNvPr id="3" name="Image 0" descr="/home/claude/coa_signed_collab/icons/sitemap.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Range of Representable Values (n-bit, 2’s Complement)</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3291840"/>
        </p:xfrm>
        <a:graphic>
          <a:graphicData uri="http://schemas.openxmlformats.org/drawingml/2006/table">
            <a:tbl>
              <a:tblPr/>
              <a:tblGrid>
                <a:gridCol w="2468880"/>
                <a:gridCol w="2651760"/>
                <a:gridCol w="2651760"/>
                <a:gridCol w="2468880"/>
              </a:tblGrid>
              <a:tr h="658368">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Bits (n)</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Minimum</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Maximum</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Total Values</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065A82"/>
                    </a:solidFill>
                  </a:tcPr>
                </a:tc>
              </a:tr>
              <a:tr h="658368">
                <a:tc>
                  <a:txBody>
                    <a:bodyPr/>
                    <a:lstStyle/>
                    <a:p>
                      <a:pPr algn="ctr" indent="0" marL="0">
                        <a:buNone/>
                      </a:pPr>
                      <a:r>
                        <a:rPr lang="en-US" sz="2000" dirty="0">
                          <a:solidFill>
                            <a:srgbClr val="21295C"/>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8FA"/>
                    </a:solidFill>
                  </a:tcPr>
                </a:tc>
                <a:tc>
                  <a:txBody>
                    <a:bodyPr/>
                    <a:lstStyle/>
                    <a:p>
                      <a:pPr algn="ctr" indent="0" marL="0">
                        <a:buNone/>
                      </a:pPr>
                      <a:r>
                        <a:rPr lang="en-US" sz="2000" dirty="0">
                          <a:solidFill>
                            <a:srgbClr val="21295C"/>
                          </a:solidFill>
                          <a:latin typeface="Calibri" pitchFamily="34" charset="0"/>
                          <a:ea typeface="Calibri" pitchFamily="34" charset="-122"/>
                          <a:cs typeface="Calibri" pitchFamily="34" charset="-120"/>
                        </a:rPr>
                        <a:t>−8</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8FA"/>
                    </a:solidFill>
                  </a:tcPr>
                </a:tc>
                <a:tc>
                  <a:txBody>
                    <a:bodyPr/>
                    <a:lstStyle/>
                    <a:p>
                      <a:pPr algn="ctr" indent="0" marL="0">
                        <a:buNone/>
                      </a:pPr>
                      <a:r>
                        <a:rPr lang="en-US" sz="2000" dirty="0">
                          <a:solidFill>
                            <a:srgbClr val="21295C"/>
                          </a:solidFill>
                          <a:latin typeface="Calibri" pitchFamily="34" charset="0"/>
                          <a:ea typeface="Calibri" pitchFamily="34" charset="-122"/>
                          <a:cs typeface="Calibri" pitchFamily="34" charset="-120"/>
                        </a:rPr>
                        <a:t>+7</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8FA"/>
                    </a:solidFill>
                  </a:tcPr>
                </a:tc>
                <a:tc>
                  <a:txBody>
                    <a:bodyPr/>
                    <a:lstStyle/>
                    <a:p>
                      <a:pPr algn="ctr" indent="0" marL="0">
                        <a:buNone/>
                      </a:pPr>
                      <a:r>
                        <a:rPr lang="en-US" sz="2000" dirty="0">
                          <a:solidFill>
                            <a:srgbClr val="21295C"/>
                          </a:solidFill>
                          <a:latin typeface="Calibri" pitchFamily="34" charset="0"/>
                          <a:ea typeface="Calibri" pitchFamily="34" charset="-122"/>
                          <a:cs typeface="Calibri" pitchFamily="34" charset="-120"/>
                        </a:rPr>
                        <a:t>16</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8FA"/>
                    </a:solidFill>
                  </a:tcPr>
                </a:tc>
              </a:tr>
              <a:tr h="658368">
                <a:tc>
                  <a:txBody>
                    <a:bodyPr/>
                    <a:lstStyle/>
                    <a:p>
                      <a:pPr algn="ctr" indent="0" marL="0">
                        <a:buNone/>
                      </a:pPr>
                      <a:r>
                        <a:rPr lang="en-US" sz="2000" dirty="0">
                          <a:solidFill>
                            <a:srgbClr val="21295C"/>
                          </a:solidFill>
                          <a:latin typeface="Calibri" pitchFamily="34" charset="0"/>
                          <a:ea typeface="Calibri" pitchFamily="34" charset="-122"/>
                          <a:cs typeface="Calibri" pitchFamily="34" charset="-120"/>
                        </a:rPr>
                        <a:t>8</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21295C"/>
                          </a:solidFill>
                          <a:latin typeface="Calibri" pitchFamily="34" charset="0"/>
                          <a:ea typeface="Calibri" pitchFamily="34" charset="-122"/>
                          <a:cs typeface="Calibri" pitchFamily="34" charset="-120"/>
                        </a:rPr>
                        <a:t>−128</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21295C"/>
                          </a:solidFill>
                          <a:latin typeface="Calibri" pitchFamily="34" charset="0"/>
                          <a:ea typeface="Calibri" pitchFamily="34" charset="-122"/>
                          <a:cs typeface="Calibri" pitchFamily="34" charset="-120"/>
                        </a:rPr>
                        <a:t>+127</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21295C"/>
                          </a:solidFill>
                          <a:latin typeface="Calibri" pitchFamily="34" charset="0"/>
                          <a:ea typeface="Calibri" pitchFamily="34" charset="-122"/>
                          <a:cs typeface="Calibri" pitchFamily="34" charset="-120"/>
                        </a:rPr>
                        <a:t>256</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r>
              <a:tr h="658368">
                <a:tc>
                  <a:txBody>
                    <a:bodyPr/>
                    <a:lstStyle/>
                    <a:p>
                      <a:pPr algn="ctr" indent="0" marL="0">
                        <a:buNone/>
                      </a:pPr>
                      <a:r>
                        <a:rPr lang="en-US" sz="2000" dirty="0">
                          <a:solidFill>
                            <a:srgbClr val="21295C"/>
                          </a:solidFill>
                          <a:latin typeface="Calibri" pitchFamily="34" charset="0"/>
                          <a:ea typeface="Calibri" pitchFamily="34" charset="-122"/>
                          <a:cs typeface="Calibri" pitchFamily="34" charset="-120"/>
                        </a:rPr>
                        <a:t>16</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8FA"/>
                    </a:solidFill>
                  </a:tcPr>
                </a:tc>
                <a:tc>
                  <a:txBody>
                    <a:bodyPr/>
                    <a:lstStyle/>
                    <a:p>
                      <a:pPr algn="ctr" indent="0" marL="0">
                        <a:buNone/>
                      </a:pPr>
                      <a:r>
                        <a:rPr lang="en-US" sz="2000" dirty="0">
                          <a:solidFill>
                            <a:srgbClr val="21295C"/>
                          </a:solidFill>
                          <a:latin typeface="Calibri" pitchFamily="34" charset="0"/>
                          <a:ea typeface="Calibri" pitchFamily="34" charset="-122"/>
                          <a:cs typeface="Calibri" pitchFamily="34" charset="-120"/>
                        </a:rPr>
                        <a:t>−32,768</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8FA"/>
                    </a:solidFill>
                  </a:tcPr>
                </a:tc>
                <a:tc>
                  <a:txBody>
                    <a:bodyPr/>
                    <a:lstStyle/>
                    <a:p>
                      <a:pPr algn="ctr" indent="0" marL="0">
                        <a:buNone/>
                      </a:pPr>
                      <a:r>
                        <a:rPr lang="en-US" sz="2000" dirty="0">
                          <a:solidFill>
                            <a:srgbClr val="21295C"/>
                          </a:solidFill>
                          <a:latin typeface="Calibri" pitchFamily="34" charset="0"/>
                          <a:ea typeface="Calibri" pitchFamily="34" charset="-122"/>
                          <a:cs typeface="Calibri" pitchFamily="34" charset="-120"/>
                        </a:rPr>
                        <a:t>+32,767</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8FA"/>
                    </a:solidFill>
                  </a:tcPr>
                </a:tc>
                <a:tc>
                  <a:txBody>
                    <a:bodyPr/>
                    <a:lstStyle/>
                    <a:p>
                      <a:pPr algn="ctr" indent="0" marL="0">
                        <a:buNone/>
                      </a:pPr>
                      <a:r>
                        <a:rPr lang="en-US" sz="2000" dirty="0">
                          <a:solidFill>
                            <a:srgbClr val="21295C"/>
                          </a:solidFill>
                          <a:latin typeface="Calibri" pitchFamily="34" charset="0"/>
                          <a:ea typeface="Calibri" pitchFamily="34" charset="-122"/>
                          <a:cs typeface="Calibri" pitchFamily="34" charset="-120"/>
                        </a:rPr>
                        <a:t>65,536</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4F8FA"/>
                    </a:solidFill>
                  </a:tcPr>
                </a:tc>
              </a:tr>
              <a:tr h="658368">
                <a:tc>
                  <a:txBody>
                    <a:bodyPr/>
                    <a:lstStyle/>
                    <a:p>
                      <a:pPr algn="ctr" indent="0" marL="0">
                        <a:buNone/>
                      </a:pPr>
                      <a:r>
                        <a:rPr lang="en-US" sz="2000" dirty="0">
                          <a:solidFill>
                            <a:srgbClr val="21295C"/>
                          </a:solidFill>
                          <a:latin typeface="Calibri" pitchFamily="34" charset="0"/>
                          <a:ea typeface="Calibri" pitchFamily="34" charset="-122"/>
                          <a:cs typeface="Calibri" pitchFamily="34" charset="-120"/>
                        </a:rPr>
                        <a:t>n</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21295C"/>
                          </a:solidFill>
                          <a:latin typeface="Calibri" pitchFamily="34" charset="0"/>
                          <a:ea typeface="Calibri" pitchFamily="34" charset="-122"/>
                          <a:cs typeface="Calibri" pitchFamily="34" charset="-120"/>
                        </a:rPr>
                        <a:t>−2ⁿ⁻¹</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21295C"/>
                          </a:solidFill>
                          <a:latin typeface="Calibri" pitchFamily="34" charset="0"/>
                          <a:ea typeface="Calibri" pitchFamily="34" charset="-122"/>
                          <a:cs typeface="Calibri" pitchFamily="34" charset="-120"/>
                        </a:rPr>
                        <a:t>+2ⁿ⁻¹ − 1</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21295C"/>
                          </a:solidFill>
                          <a:latin typeface="Calibri" pitchFamily="34" charset="0"/>
                          <a:ea typeface="Calibri" pitchFamily="34" charset="-122"/>
                          <a:cs typeface="Calibri" pitchFamily="34" charset="-120"/>
                        </a:rPr>
                        <a:t>2ⁿ</a:t>
                      </a:r>
                      <a:endParaRPr lang="en-US" sz="2000" dirty="0">
                        <a:latin typeface="Calibri" charset="0"/>
                        <a:ea typeface="Calibri" charset="0"/>
                        <a:cs typeface="Calibri" charset="0"/>
                      </a:endParaRPr>
                    </a:p>
                  </a:txBody>
                  <a:tcPr marL="91440" marR="91440" marT="45720" marB="45720" anchor="ctr">
                    <a:lnL w="12700" cap="flat" cmpd="sng" algn="ctr">
                      <a:solidFill>
                        <a:srgbClr val="E2E8EE"/>
                      </a:solidFill>
                      <a:prstDash val="solid"/>
                      <a:round/>
                      <a:headEnd type="none" w="med" len="med"/>
                      <a:tailEnd type="none" w="med" len="med"/>
                    </a:lnL>
                    <a:lnR w="12700" cap="flat" cmpd="sng" algn="ctr">
                      <a:solidFill>
                        <a:srgbClr val="E2E8EE"/>
                      </a:solidFill>
                      <a:prstDash val="solid"/>
                      <a:round/>
                      <a:headEnd type="none" w="med" len="med"/>
                      <a:tailEnd type="none" w="med" len="med"/>
                    </a:lnR>
                    <a:lnT w="12700" cap="flat" cmpd="sng" algn="ctr">
                      <a:solidFill>
                        <a:srgbClr val="E2E8EE"/>
                      </a:solidFill>
                      <a:prstDash val="solid"/>
                      <a:round/>
                      <a:headEnd type="none" w="med" len="med"/>
                      <a:tailEnd type="none" w="med" len="med"/>
                    </a:lnT>
                    <a:lnB w="12700" cap="flat" cmpd="sng" algn="ctr">
                      <a:solidFill>
                        <a:srgbClr val="E2E8EE"/>
                      </a:solidFill>
                      <a:prstDash val="solid"/>
                      <a:round/>
                      <a:headEnd type="none" w="med" len="med"/>
                      <a:tailEnd type="none" w="med" len="med"/>
                    </a:lnB>
                    <a:solidFill>
                      <a:srgbClr val="FFFFFF"/>
                    </a:solidFill>
                  </a:tcPr>
                </a:tc>
              </a:tr>
            </a:tbl>
          </a:graphicData>
        </a:graphic>
      </p:graphicFrame>
      <p:sp>
        <p:nvSpPr>
          <p:cNvPr id="6" name="Text 2"/>
          <p:cNvSpPr/>
          <p:nvPr/>
        </p:nvSpPr>
        <p:spPr>
          <a:xfrm>
            <a:off x="548640" y="5212080"/>
            <a:ext cx="10515600" cy="822960"/>
          </a:xfrm>
          <a:prstGeom prst="rect">
            <a:avLst/>
          </a:prstGeom>
          <a:noFill/>
          <a:ln/>
        </p:spPr>
        <p:txBody>
          <a:bodyPr wrap="square" lIns="0" tIns="0" rIns="0" bIns="0" rtlCol="0" anchor="ctr"/>
          <a:lstStyle/>
          <a:p>
            <a:pPr indent="0" marL="0">
              <a:buNone/>
            </a:pPr>
            <a:r>
              <a:rPr lang="en-US" sz="2000" i="1" dirty="0">
                <a:solidFill>
                  <a:srgbClr val="1C7293"/>
                </a:solidFill>
                <a:latin typeface="Calibri" pitchFamily="34" charset="0"/>
                <a:ea typeface="Calibri" pitchFamily="34" charset="-122"/>
                <a:cs typeface="Calibri" pitchFamily="34" charset="-120"/>
              </a:rPr>
              <a:t>Notice the asymmetry: one more negative number than positive — because 0 only uses up one positive slot.</a:t>
            </a:r>
            <a:endParaRPr lang="en-US" sz="2000" dirty="0"/>
          </a:p>
        </p:txBody>
      </p:sp>
      <p:sp>
        <p:nvSpPr>
          <p:cNvPr id="7" name="Shape 3"/>
          <p:cNvSpPr/>
          <p:nvPr/>
        </p:nvSpPr>
        <p:spPr>
          <a:xfrm>
            <a:off x="0" y="6400800"/>
            <a:ext cx="12191695" cy="457200"/>
          </a:xfrm>
          <a:prstGeom prst="rect">
            <a:avLst/>
          </a:prstGeom>
          <a:solidFill>
            <a:srgbClr val="FFFFFF"/>
          </a:solidFill>
          <a:ln/>
        </p:spPr>
      </p:sp>
      <p:sp>
        <p:nvSpPr>
          <p:cNvPr id="8" name="Text 4"/>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9" name="Text 5"/>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14</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9E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F2A93B"/>
          </a:solidFill>
          <a:ln/>
        </p:spPr>
      </p:sp>
      <p:pic>
        <p:nvPicPr>
          <p:cNvPr id="3" name="Image 0" descr="/home/claude/coa_signed_collab/icons/puzzle.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5486400" cy="320040"/>
          </a:xfrm>
          <a:prstGeom prst="rect">
            <a:avLst/>
          </a:prstGeom>
          <a:noFill/>
          <a:ln/>
        </p:spPr>
        <p:txBody>
          <a:bodyPr wrap="square" lIns="0" tIns="0" rIns="0" bIns="0" rtlCol="0" anchor="ctr"/>
          <a:lstStyle/>
          <a:p>
            <a:pPr indent="0" marL="0">
              <a:buNone/>
            </a:pPr>
            <a:r>
              <a:rPr lang="en-US" sz="2000" b="1" spc="100" kern="0" dirty="0">
                <a:solidFill>
                  <a:srgbClr val="F2A93B"/>
                </a:solidFill>
                <a:latin typeface="Calibri" pitchFamily="34" charset="0"/>
                <a:ea typeface="Calibri" pitchFamily="34" charset="-122"/>
                <a:cs typeface="Calibri" pitchFamily="34" charset="-120"/>
              </a:rPr>
              <a:t>COLLABORATIVE TASK</a:t>
            </a:r>
            <a:endParaRPr lang="en-US" sz="2000" dirty="0"/>
          </a:p>
        </p:txBody>
      </p:sp>
      <p:sp>
        <p:nvSpPr>
          <p:cNvPr id="5" name="Text 2"/>
          <p:cNvSpPr/>
          <p:nvPr/>
        </p:nvSpPr>
        <p:spPr>
          <a:xfrm>
            <a:off x="1508760" y="777240"/>
            <a:ext cx="10134295" cy="5486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Jigsaw Report-Back — Bit-Width Ranges</a:t>
            </a:r>
            <a:endParaRPr lang="en-US" sz="2600" dirty="0"/>
          </a:p>
        </p:txBody>
      </p:sp>
      <p:sp>
        <p:nvSpPr>
          <p:cNvPr id="6" name="Shape 3"/>
          <p:cNvSpPr/>
          <p:nvPr/>
        </p:nvSpPr>
        <p:spPr>
          <a:xfrm>
            <a:off x="548640" y="1554480"/>
            <a:ext cx="11094415" cy="658368"/>
          </a:xfrm>
          <a:prstGeom prst="roundRect">
            <a:avLst>
              <a:gd name="adj" fmla="val 16667"/>
            </a:avLst>
          </a:prstGeom>
          <a:solidFill>
            <a:srgbClr val="FFFFFF"/>
          </a:solidFill>
          <a:ln/>
          <a:effectLst>
            <a:outerShdw sx="100000" sy="100000" kx="0" ky="0" algn="bl" rotWithShape="0" blurRad="76200" dist="25400" dir="5400000">
              <a:srgbClr val="888888">
                <a:alpha val="18000"/>
              </a:srgbClr>
            </a:outerShdw>
          </a:effectLst>
        </p:spPr>
      </p:sp>
      <p:sp>
        <p:nvSpPr>
          <p:cNvPr id="7" name="Text 4"/>
          <p:cNvSpPr/>
          <p:nvPr/>
        </p:nvSpPr>
        <p:spPr>
          <a:xfrm>
            <a:off x="822960" y="1554480"/>
            <a:ext cx="10545775" cy="658368"/>
          </a:xfrm>
          <a:prstGeom prst="rect">
            <a:avLst/>
          </a:prstGeom>
          <a:noFill/>
          <a:ln/>
        </p:spPr>
        <p:txBody>
          <a:bodyPr wrap="square" lIns="0" tIns="0" rIns="0" bIns="0" rtlCol="0" anchor="ctr"/>
          <a:lstStyle/>
          <a:p>
            <a:pPr indent="0" marL="0">
              <a:buNone/>
            </a:pPr>
            <a:r>
              <a:rPr lang="en-US" sz="2000" b="1" dirty="0">
                <a:solidFill>
                  <a:srgbClr val="065A82"/>
                </a:solidFill>
                <a:latin typeface="Calibri" pitchFamily="34" charset="0"/>
                <a:ea typeface="Calibri" pitchFamily="34" charset="-122"/>
                <a:cs typeface="Calibri" pitchFamily="34" charset="-120"/>
              </a:rPr>
              <a:t>Groups of 3 — each group owns one bit-width</a:t>
            </a:r>
            <a:endParaRPr lang="en-US" sz="2000" dirty="0"/>
          </a:p>
        </p:txBody>
      </p:sp>
      <p:sp>
        <p:nvSpPr>
          <p:cNvPr id="8" name="Text 5"/>
          <p:cNvSpPr/>
          <p:nvPr/>
        </p:nvSpPr>
        <p:spPr>
          <a:xfrm>
            <a:off x="548640" y="2423160"/>
            <a:ext cx="11094415" cy="822960"/>
          </a:xfrm>
          <a:prstGeom prst="rect">
            <a:avLst/>
          </a:prstGeom>
          <a:noFill/>
          <a:ln/>
        </p:spPr>
        <p:txBody>
          <a:bodyPr wrap="square" lIns="0" tIns="0" rIns="0" bIns="0" rtlCol="0" anchor="ctr"/>
          <a:lstStyle/>
          <a:p>
            <a:pPr indent="0" marL="0">
              <a:lnSpc>
                <a:spcPct val="120000"/>
              </a:lnSpc>
              <a:buNone/>
            </a:pPr>
            <a:r>
              <a:rPr lang="en-US" sz="2000" dirty="0">
                <a:solidFill>
                  <a:srgbClr val="21295C"/>
                </a:solidFill>
                <a:latin typeface="Calibri" pitchFamily="34" charset="0"/>
                <a:ea typeface="Calibri" pitchFamily="34" charset="-122"/>
                <a:cs typeface="Calibri" pitchFamily="34" charset="-120"/>
              </a:rPr>
              <a:t>Group A: derive the range for 6 bits. Group B: for 10 bits. Group C: for 12 bits. Show your working, not just the final numbers.</a:t>
            </a:r>
            <a:endParaRPr lang="en-US" sz="2000" dirty="0"/>
          </a:p>
        </p:txBody>
      </p:sp>
      <p:sp>
        <p:nvSpPr>
          <p:cNvPr id="9" name="Text 6"/>
          <p:cNvSpPr/>
          <p:nvPr/>
        </p:nvSpPr>
        <p:spPr>
          <a:xfrm>
            <a:off x="548640" y="3246120"/>
            <a:ext cx="10515600" cy="260604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Use the formula: minimum = −2ⁿ⁻¹, maximum = 2ⁿ⁻¹ − 1.</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Cross-check against the pattern in the table on the previous slide.</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Send one member to a neighboring group to compare answers before the class report-back.</a:t>
            </a:r>
            <a:endParaRPr lang="en-US" sz="2000" dirty="0"/>
          </a:p>
        </p:txBody>
      </p:sp>
      <p:sp>
        <p:nvSpPr>
          <p:cNvPr id="10" name="Text 7"/>
          <p:cNvSpPr/>
          <p:nvPr/>
        </p:nvSpPr>
        <p:spPr>
          <a:xfrm>
            <a:off x="548640" y="5870448"/>
            <a:ext cx="5486400" cy="365760"/>
          </a:xfrm>
          <a:prstGeom prst="rect">
            <a:avLst/>
          </a:prstGeom>
          <a:noFill/>
          <a:ln/>
        </p:spPr>
        <p:txBody>
          <a:bodyPr wrap="square" lIns="0" tIns="0" rIns="0" bIns="0" rtlCol="0" anchor="ctr"/>
          <a:lstStyle/>
          <a:p>
            <a:pPr indent="0" marL="0">
              <a:buNone/>
            </a:pPr>
            <a:r>
              <a:rPr lang="en-US" sz="2000" b="1" i="1" dirty="0">
                <a:solidFill>
                  <a:srgbClr val="1C7293"/>
                </a:solidFill>
                <a:latin typeface="Calibri" pitchFamily="34" charset="0"/>
                <a:ea typeface="Calibri" pitchFamily="34" charset="-122"/>
                <a:cs typeface="Calibri" pitchFamily="34" charset="-120"/>
              </a:rPr>
              <a:t>Time: 5 minutes</a:t>
            </a:r>
            <a:endParaRPr lang="en-US" sz="2000" dirty="0"/>
          </a:p>
        </p:txBody>
      </p:sp>
      <p:sp>
        <p:nvSpPr>
          <p:cNvPr id="11" name="Shape 8"/>
          <p:cNvSpPr/>
          <p:nvPr/>
        </p:nvSpPr>
        <p:spPr>
          <a:xfrm>
            <a:off x="0" y="6400800"/>
            <a:ext cx="12191695" cy="457200"/>
          </a:xfrm>
          <a:prstGeom prst="rect">
            <a:avLst/>
          </a:prstGeom>
          <a:solidFill>
            <a:srgbClr val="FFFFFF"/>
          </a:solidFill>
          <a:ln/>
        </p:spPr>
      </p:sp>
      <p:sp>
        <p:nvSpPr>
          <p:cNvPr id="12" name="Text 9"/>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13" name="Text 10"/>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15</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065A82"/>
          </a:solidFill>
          <a:ln/>
        </p:spPr>
      </p:sp>
      <p:pic>
        <p:nvPicPr>
          <p:cNvPr id="3" name="Image 0" descr="/home/claude/coa_signed_collab/icons/calculator.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Adding Signed Numbers (2’s Complement)</a:t>
            </a:r>
            <a:endParaRPr lang="en-US" sz="3000" dirty="0"/>
          </a:p>
        </p:txBody>
      </p:sp>
      <p:sp>
        <p:nvSpPr>
          <p:cNvPr id="5" name="Text 2"/>
          <p:cNvSpPr/>
          <p:nvPr/>
        </p:nvSpPr>
        <p:spPr>
          <a:xfrm>
            <a:off x="548640" y="1508760"/>
            <a:ext cx="10515600" cy="457200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Add the bit patterns exactly like unsigned binary addition.</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Discard any carry-out of the MSB — it is not part of the result.</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The beauty: the SAME adder circuit works whether operands are positive or negative.</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The only extra step is checking for overflow (coming up next).</a:t>
            </a:r>
            <a:endParaRPr lang="en-US" sz="2000" dirty="0"/>
          </a:p>
        </p:txBody>
      </p:sp>
      <p:sp>
        <p:nvSpPr>
          <p:cNvPr id="6" name="Shape 3"/>
          <p:cNvSpPr/>
          <p:nvPr/>
        </p:nvSpPr>
        <p:spPr>
          <a:xfrm>
            <a:off x="0" y="6400800"/>
            <a:ext cx="12191695" cy="457200"/>
          </a:xfrm>
          <a:prstGeom prst="rect">
            <a:avLst/>
          </a:prstGeom>
          <a:solidFill>
            <a:srgbClr val="FFFFFF"/>
          </a:solidFill>
          <a:ln/>
        </p:spPr>
      </p:sp>
      <p:sp>
        <p:nvSpPr>
          <p:cNvPr id="7" name="Text 4"/>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8" name="Text 5"/>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16</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065A82"/>
          </a:solidFill>
          <a:ln/>
        </p:spPr>
      </p:sp>
      <p:pic>
        <p:nvPicPr>
          <p:cNvPr id="3" name="Image 0" descr="/home/claude/coa_signed_collab/icons/calculator.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Worked Example 1: Positive + Positive</a:t>
            </a:r>
            <a:endParaRPr lang="en-US" sz="3000" dirty="0"/>
          </a:p>
        </p:txBody>
      </p:sp>
      <p:sp>
        <p:nvSpPr>
          <p:cNvPr id="5" name="Shape 2"/>
          <p:cNvSpPr/>
          <p:nvPr/>
        </p:nvSpPr>
        <p:spPr>
          <a:xfrm>
            <a:off x="548640" y="1554480"/>
            <a:ext cx="11094415" cy="685800"/>
          </a:xfrm>
          <a:prstGeom prst="roundRect">
            <a:avLst>
              <a:gd name="adj" fmla="val 16000"/>
            </a:avLst>
          </a:prstGeom>
          <a:solidFill>
            <a:srgbClr val="FFFFFF"/>
          </a:solidFill>
          <a:ln/>
          <a:effectLst>
            <a:outerShdw sx="100000" sy="100000" kx="0" ky="0" algn="bl" rotWithShape="0" blurRad="76200" dist="25400" dir="5400000">
              <a:srgbClr val="888888">
                <a:alpha val="18000"/>
              </a:srgbClr>
            </a:outerShdw>
          </a:effectLst>
        </p:spPr>
      </p:sp>
      <p:sp>
        <p:nvSpPr>
          <p:cNvPr id="6" name="Text 3"/>
          <p:cNvSpPr/>
          <p:nvPr/>
        </p:nvSpPr>
        <p:spPr>
          <a:xfrm>
            <a:off x="822960" y="1554480"/>
            <a:ext cx="10545775" cy="685800"/>
          </a:xfrm>
          <a:prstGeom prst="rect">
            <a:avLst/>
          </a:prstGeom>
          <a:noFill/>
          <a:ln/>
        </p:spPr>
        <p:txBody>
          <a:bodyPr wrap="square" lIns="0" tIns="0" rIns="0" bIns="0" rtlCol="0" anchor="ctr"/>
          <a:lstStyle/>
          <a:p>
            <a:pPr indent="0" marL="0">
              <a:buNone/>
            </a:pPr>
            <a:r>
              <a:rPr lang="en-US" sz="2200" b="1" dirty="0">
                <a:solidFill>
                  <a:srgbClr val="065A82"/>
                </a:solidFill>
                <a:latin typeface="Courier New" pitchFamily="34" charset="0"/>
                <a:ea typeface="Courier New" pitchFamily="34" charset="-122"/>
                <a:cs typeface="Courier New" pitchFamily="34" charset="-120"/>
              </a:rPr>
              <a:t>4-bit:  0011 (+3)  +  0010 (+2)</a:t>
            </a:r>
            <a:endParaRPr lang="en-US" sz="2200" dirty="0"/>
          </a:p>
        </p:txBody>
      </p:sp>
      <p:sp>
        <p:nvSpPr>
          <p:cNvPr id="7" name="Text 4"/>
          <p:cNvSpPr/>
          <p:nvPr/>
        </p:nvSpPr>
        <p:spPr>
          <a:xfrm>
            <a:off x="548640" y="2468880"/>
            <a:ext cx="10515600" cy="3108960"/>
          </a:xfrm>
          <a:prstGeom prst="rect">
            <a:avLst/>
          </a:prstGeom>
          <a:noFill/>
          <a:ln/>
        </p:spPr>
        <p:txBody>
          <a:bodyPr wrap="square" lIns="0" tIns="0" rIns="0" bIns="0" rtlCol="0" anchor="t"/>
          <a:lstStyle/>
          <a:p>
            <a:pPr marL="254000" indent="-254000">
              <a:lnSpc>
                <a:spcPct val="115000"/>
              </a:lnSpc>
              <a:spcAft>
                <a:spcPts val="1200"/>
              </a:spcAft>
              <a:buSzPct val="100000"/>
              <a:buChar char="▸"/>
            </a:pPr>
            <a:r>
              <a:rPr lang="en-US" sz="2000" dirty="0">
                <a:solidFill>
                  <a:srgbClr val="21295C"/>
                </a:solidFill>
                <a:latin typeface="Calibri" pitchFamily="34" charset="0"/>
                <a:ea typeface="Calibri" pitchFamily="34" charset="-122"/>
                <a:cs typeface="Calibri" pitchFamily="34" charset="-120"/>
              </a:rPr>
              <a:t>Step 1: Add the bits as unsigned binary: 0011 + 0010 = 0101.</a:t>
            </a:r>
            <a:endParaRPr lang="en-US" sz="2000" dirty="0"/>
          </a:p>
          <a:p>
            <a:pPr marL="254000" indent="-254000">
              <a:lnSpc>
                <a:spcPct val="115000"/>
              </a:lnSpc>
              <a:spcAft>
                <a:spcPts val="1200"/>
              </a:spcAft>
              <a:buSzPct val="100000"/>
              <a:buChar char="▸"/>
            </a:pPr>
            <a:r>
              <a:rPr lang="en-US" sz="2000" dirty="0">
                <a:solidFill>
                  <a:srgbClr val="21295C"/>
                </a:solidFill>
                <a:latin typeface="Calibri" pitchFamily="34" charset="0"/>
                <a:ea typeface="Calibri" pitchFamily="34" charset="-122"/>
                <a:cs typeface="Calibri" pitchFamily="34" charset="-120"/>
              </a:rPr>
              <a:t>Step 2: No carry out of the MSB, so no overflow to worry about.</a:t>
            </a:r>
            <a:endParaRPr lang="en-US" sz="2000" dirty="0"/>
          </a:p>
          <a:p>
            <a:pPr marL="254000" indent="-254000">
              <a:lnSpc>
                <a:spcPct val="115000"/>
              </a:lnSpc>
              <a:spcAft>
                <a:spcPts val="1200"/>
              </a:spcAft>
              <a:buSzPct val="100000"/>
              <a:buChar char="▸"/>
            </a:pPr>
            <a:r>
              <a:rPr lang="en-US" sz="2000" dirty="0">
                <a:solidFill>
                  <a:srgbClr val="21295C"/>
                </a:solidFill>
                <a:latin typeface="Calibri" pitchFamily="34" charset="0"/>
                <a:ea typeface="Calibri" pitchFamily="34" charset="-122"/>
                <a:cs typeface="Calibri" pitchFamily="34" charset="-120"/>
              </a:rPr>
              <a:t>Step 3: Read the sign bit: 0 → positive. Decode the magnitude: 101 = 5.</a:t>
            </a:r>
            <a:endParaRPr lang="en-US" sz="2000" dirty="0"/>
          </a:p>
        </p:txBody>
      </p:sp>
      <p:sp>
        <p:nvSpPr>
          <p:cNvPr id="8" name="Shape 5"/>
          <p:cNvSpPr/>
          <p:nvPr/>
        </p:nvSpPr>
        <p:spPr>
          <a:xfrm>
            <a:off x="548640" y="5715000"/>
            <a:ext cx="5669280" cy="548640"/>
          </a:xfrm>
          <a:prstGeom prst="roundRect">
            <a:avLst>
              <a:gd name="adj" fmla="val 20000"/>
            </a:avLst>
          </a:prstGeom>
          <a:solidFill>
            <a:srgbClr val="E8F6EE"/>
          </a:solidFill>
          <a:ln/>
          <a:effectLst>
            <a:outerShdw sx="100000" sy="100000" kx="0" ky="0" algn="bl" rotWithShape="0" blurRad="76200" dist="25400" dir="5400000">
              <a:srgbClr val="888888">
                <a:alpha val="18000"/>
              </a:srgbClr>
            </a:outerShdw>
          </a:effectLst>
        </p:spPr>
      </p:sp>
      <p:sp>
        <p:nvSpPr>
          <p:cNvPr id="9" name="Text 6"/>
          <p:cNvSpPr/>
          <p:nvPr/>
        </p:nvSpPr>
        <p:spPr>
          <a:xfrm>
            <a:off x="777240" y="5715000"/>
            <a:ext cx="5303520" cy="548640"/>
          </a:xfrm>
          <a:prstGeom prst="rect">
            <a:avLst/>
          </a:prstGeom>
          <a:noFill/>
          <a:ln/>
        </p:spPr>
        <p:txBody>
          <a:bodyPr wrap="square" lIns="0" tIns="0" rIns="0" bIns="0" rtlCol="0" anchor="ctr"/>
          <a:lstStyle/>
          <a:p>
            <a:pPr indent="0" marL="0">
              <a:buNone/>
            </a:pPr>
            <a:r>
              <a:rPr lang="en-US" sz="2000" b="1" dirty="0">
                <a:solidFill>
                  <a:srgbClr val="2C8C5A"/>
                </a:solidFill>
                <a:latin typeface="Calibri" pitchFamily="34" charset="0"/>
                <a:ea typeface="Calibri" pitchFamily="34" charset="-122"/>
                <a:cs typeface="Calibri" pitchFamily="34" charset="-120"/>
              </a:rPr>
              <a:t>Result: 0101 = +5  ✓ matches +3 + +2 = +5</a:t>
            </a:r>
            <a:endParaRPr lang="en-US" sz="2000" dirty="0"/>
          </a:p>
        </p:txBody>
      </p:sp>
      <p:sp>
        <p:nvSpPr>
          <p:cNvPr id="10" name="Shape 7"/>
          <p:cNvSpPr/>
          <p:nvPr/>
        </p:nvSpPr>
        <p:spPr>
          <a:xfrm>
            <a:off x="0" y="6400800"/>
            <a:ext cx="12191695" cy="457200"/>
          </a:xfrm>
          <a:prstGeom prst="rect">
            <a:avLst/>
          </a:prstGeom>
          <a:solidFill>
            <a:srgbClr val="FFFFFF"/>
          </a:solidFill>
          <a:ln/>
        </p:spPr>
      </p:sp>
      <p:sp>
        <p:nvSpPr>
          <p:cNvPr id="11" name="Text 8"/>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12" name="Text 9"/>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17</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065A82"/>
          </a:solidFill>
          <a:ln/>
        </p:spPr>
      </p:sp>
      <p:pic>
        <p:nvPicPr>
          <p:cNvPr id="3" name="Image 0" descr="/home/claude/coa_signed_collab/icons/calculator.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Worked Example 2: Positive + Negative</a:t>
            </a:r>
            <a:endParaRPr lang="en-US" sz="3000" dirty="0"/>
          </a:p>
        </p:txBody>
      </p:sp>
      <p:sp>
        <p:nvSpPr>
          <p:cNvPr id="5" name="Shape 2"/>
          <p:cNvSpPr/>
          <p:nvPr/>
        </p:nvSpPr>
        <p:spPr>
          <a:xfrm>
            <a:off x="548640" y="1554480"/>
            <a:ext cx="11094415" cy="685800"/>
          </a:xfrm>
          <a:prstGeom prst="roundRect">
            <a:avLst>
              <a:gd name="adj" fmla="val 16000"/>
            </a:avLst>
          </a:prstGeom>
          <a:solidFill>
            <a:srgbClr val="FFFFFF"/>
          </a:solidFill>
          <a:ln/>
          <a:effectLst>
            <a:outerShdw sx="100000" sy="100000" kx="0" ky="0" algn="bl" rotWithShape="0" blurRad="76200" dist="25400" dir="5400000">
              <a:srgbClr val="888888">
                <a:alpha val="18000"/>
              </a:srgbClr>
            </a:outerShdw>
          </a:effectLst>
        </p:spPr>
      </p:sp>
      <p:sp>
        <p:nvSpPr>
          <p:cNvPr id="6" name="Text 3"/>
          <p:cNvSpPr/>
          <p:nvPr/>
        </p:nvSpPr>
        <p:spPr>
          <a:xfrm>
            <a:off x="822960" y="1554480"/>
            <a:ext cx="10545775" cy="685800"/>
          </a:xfrm>
          <a:prstGeom prst="rect">
            <a:avLst/>
          </a:prstGeom>
          <a:noFill/>
          <a:ln/>
        </p:spPr>
        <p:txBody>
          <a:bodyPr wrap="square" lIns="0" tIns="0" rIns="0" bIns="0" rtlCol="0" anchor="ctr"/>
          <a:lstStyle/>
          <a:p>
            <a:pPr indent="0" marL="0">
              <a:buNone/>
            </a:pPr>
            <a:r>
              <a:rPr lang="en-US" sz="2200" b="1" dirty="0">
                <a:solidFill>
                  <a:srgbClr val="065A82"/>
                </a:solidFill>
                <a:latin typeface="Courier New" pitchFamily="34" charset="0"/>
                <a:ea typeface="Courier New" pitchFamily="34" charset="-122"/>
                <a:cs typeface="Courier New" pitchFamily="34" charset="-120"/>
              </a:rPr>
              <a:t>4-bit:  0110 (+6)  +  1101 (−3)</a:t>
            </a:r>
            <a:endParaRPr lang="en-US" sz="2200" dirty="0"/>
          </a:p>
        </p:txBody>
      </p:sp>
      <p:sp>
        <p:nvSpPr>
          <p:cNvPr id="7" name="Text 4"/>
          <p:cNvSpPr/>
          <p:nvPr/>
        </p:nvSpPr>
        <p:spPr>
          <a:xfrm>
            <a:off x="548640" y="2468880"/>
            <a:ext cx="10515600" cy="3108960"/>
          </a:xfrm>
          <a:prstGeom prst="rect">
            <a:avLst/>
          </a:prstGeom>
          <a:noFill/>
          <a:ln/>
        </p:spPr>
        <p:txBody>
          <a:bodyPr wrap="square" lIns="0" tIns="0" rIns="0" bIns="0" rtlCol="0" anchor="t"/>
          <a:lstStyle/>
          <a:p>
            <a:pPr marL="254000" indent="-254000">
              <a:lnSpc>
                <a:spcPct val="115000"/>
              </a:lnSpc>
              <a:spcAft>
                <a:spcPts val="1200"/>
              </a:spcAft>
              <a:buSzPct val="100000"/>
              <a:buChar char="▸"/>
            </a:pPr>
            <a:r>
              <a:rPr lang="en-US" sz="2000" dirty="0">
                <a:solidFill>
                  <a:srgbClr val="21295C"/>
                </a:solidFill>
                <a:latin typeface="Calibri" pitchFamily="34" charset="0"/>
                <a:ea typeface="Calibri" pitchFamily="34" charset="-122"/>
                <a:cs typeface="Calibri" pitchFamily="34" charset="-120"/>
              </a:rPr>
              <a:t>Step 1: Add as unsigned binary: 0110 + 1101 = 10011 (5 bits produced).</a:t>
            </a:r>
            <a:endParaRPr lang="en-US" sz="2000" dirty="0"/>
          </a:p>
          <a:p>
            <a:pPr marL="254000" indent="-254000">
              <a:lnSpc>
                <a:spcPct val="115000"/>
              </a:lnSpc>
              <a:spcAft>
                <a:spcPts val="1200"/>
              </a:spcAft>
              <a:buSzPct val="100000"/>
              <a:buChar char="▸"/>
            </a:pPr>
            <a:r>
              <a:rPr lang="en-US" sz="2000" dirty="0">
                <a:solidFill>
                  <a:srgbClr val="21295C"/>
                </a:solidFill>
                <a:latin typeface="Calibri" pitchFamily="34" charset="0"/>
                <a:ea typeface="Calibri" pitchFamily="34" charset="-122"/>
                <a:cs typeface="Calibri" pitchFamily="34" charset="-120"/>
              </a:rPr>
              <a:t>Step 2: Discard the carry-out of the MSB → keep only 0011.</a:t>
            </a:r>
            <a:endParaRPr lang="en-US" sz="2000" dirty="0"/>
          </a:p>
          <a:p>
            <a:pPr marL="254000" indent="-254000">
              <a:lnSpc>
                <a:spcPct val="115000"/>
              </a:lnSpc>
              <a:spcAft>
                <a:spcPts val="1200"/>
              </a:spcAft>
              <a:buSzPct val="100000"/>
              <a:buChar char="▸"/>
            </a:pPr>
            <a:r>
              <a:rPr lang="en-US" sz="2000" dirty="0">
                <a:solidFill>
                  <a:srgbClr val="21295C"/>
                </a:solidFill>
                <a:latin typeface="Calibri" pitchFamily="34" charset="0"/>
                <a:ea typeface="Calibri" pitchFamily="34" charset="-122"/>
                <a:cs typeface="Calibri" pitchFamily="34" charset="-120"/>
              </a:rPr>
              <a:t>Step 3: Sign bit is 0 → positive, magnitude 011 = 3.</a:t>
            </a:r>
            <a:endParaRPr lang="en-US" sz="2000" dirty="0"/>
          </a:p>
        </p:txBody>
      </p:sp>
      <p:sp>
        <p:nvSpPr>
          <p:cNvPr id="8" name="Shape 5"/>
          <p:cNvSpPr/>
          <p:nvPr/>
        </p:nvSpPr>
        <p:spPr>
          <a:xfrm>
            <a:off x="548640" y="5715000"/>
            <a:ext cx="5669280" cy="548640"/>
          </a:xfrm>
          <a:prstGeom prst="roundRect">
            <a:avLst>
              <a:gd name="adj" fmla="val 20000"/>
            </a:avLst>
          </a:prstGeom>
          <a:solidFill>
            <a:srgbClr val="E8F6EE"/>
          </a:solidFill>
          <a:ln/>
          <a:effectLst>
            <a:outerShdw sx="100000" sy="100000" kx="0" ky="0" algn="bl" rotWithShape="0" blurRad="76200" dist="25400" dir="5400000">
              <a:srgbClr val="888888">
                <a:alpha val="18000"/>
              </a:srgbClr>
            </a:outerShdw>
          </a:effectLst>
        </p:spPr>
      </p:sp>
      <p:sp>
        <p:nvSpPr>
          <p:cNvPr id="9" name="Text 6"/>
          <p:cNvSpPr/>
          <p:nvPr/>
        </p:nvSpPr>
        <p:spPr>
          <a:xfrm>
            <a:off x="777240" y="5715000"/>
            <a:ext cx="5303520" cy="548640"/>
          </a:xfrm>
          <a:prstGeom prst="rect">
            <a:avLst/>
          </a:prstGeom>
          <a:noFill/>
          <a:ln/>
        </p:spPr>
        <p:txBody>
          <a:bodyPr wrap="square" lIns="0" tIns="0" rIns="0" bIns="0" rtlCol="0" anchor="ctr"/>
          <a:lstStyle/>
          <a:p>
            <a:pPr indent="0" marL="0">
              <a:buNone/>
            </a:pPr>
            <a:r>
              <a:rPr lang="en-US" sz="2000" b="1" dirty="0">
                <a:solidFill>
                  <a:srgbClr val="2C8C5A"/>
                </a:solidFill>
                <a:latin typeface="Calibri" pitchFamily="34" charset="0"/>
                <a:ea typeface="Calibri" pitchFamily="34" charset="-122"/>
                <a:cs typeface="Calibri" pitchFamily="34" charset="-120"/>
              </a:rPr>
              <a:t>Result: 0011 = +3  ✓ matches +6 + (−3) = +3</a:t>
            </a:r>
            <a:endParaRPr lang="en-US" sz="2000" dirty="0"/>
          </a:p>
        </p:txBody>
      </p:sp>
      <p:sp>
        <p:nvSpPr>
          <p:cNvPr id="10" name="Shape 7"/>
          <p:cNvSpPr/>
          <p:nvPr/>
        </p:nvSpPr>
        <p:spPr>
          <a:xfrm>
            <a:off x="0" y="6400800"/>
            <a:ext cx="12191695" cy="457200"/>
          </a:xfrm>
          <a:prstGeom prst="rect">
            <a:avLst/>
          </a:prstGeom>
          <a:solidFill>
            <a:srgbClr val="FFFFFF"/>
          </a:solidFill>
          <a:ln/>
        </p:spPr>
      </p:sp>
      <p:sp>
        <p:nvSpPr>
          <p:cNvPr id="11" name="Text 8"/>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12" name="Text 9"/>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18</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9E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F2A93B"/>
          </a:solidFill>
          <a:ln/>
        </p:spPr>
      </p:sp>
      <p:pic>
        <p:nvPicPr>
          <p:cNvPr id="3" name="Image 0" descr="/home/claude/coa_signed_collab/icons/users.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5486400" cy="320040"/>
          </a:xfrm>
          <a:prstGeom prst="rect">
            <a:avLst/>
          </a:prstGeom>
          <a:noFill/>
          <a:ln/>
        </p:spPr>
        <p:txBody>
          <a:bodyPr wrap="square" lIns="0" tIns="0" rIns="0" bIns="0" rtlCol="0" anchor="ctr"/>
          <a:lstStyle/>
          <a:p>
            <a:pPr indent="0" marL="0">
              <a:buNone/>
            </a:pPr>
            <a:r>
              <a:rPr lang="en-US" sz="2000" b="1" spc="100" kern="0" dirty="0">
                <a:solidFill>
                  <a:srgbClr val="F2A93B"/>
                </a:solidFill>
                <a:latin typeface="Calibri" pitchFamily="34" charset="0"/>
                <a:ea typeface="Calibri" pitchFamily="34" charset="-122"/>
                <a:cs typeface="Calibri" pitchFamily="34" charset="-120"/>
              </a:rPr>
              <a:t>COLLABORATIVE TASK</a:t>
            </a:r>
            <a:endParaRPr lang="en-US" sz="2000" dirty="0"/>
          </a:p>
        </p:txBody>
      </p:sp>
      <p:sp>
        <p:nvSpPr>
          <p:cNvPr id="5" name="Text 2"/>
          <p:cNvSpPr/>
          <p:nvPr/>
        </p:nvSpPr>
        <p:spPr>
          <a:xfrm>
            <a:off x="1508760" y="777240"/>
            <a:ext cx="10134295" cy="5486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Whiteboard Group Practice — Addition</a:t>
            </a:r>
            <a:endParaRPr lang="en-US" sz="2600" dirty="0"/>
          </a:p>
        </p:txBody>
      </p:sp>
      <p:sp>
        <p:nvSpPr>
          <p:cNvPr id="6" name="Shape 3"/>
          <p:cNvSpPr/>
          <p:nvPr/>
        </p:nvSpPr>
        <p:spPr>
          <a:xfrm>
            <a:off x="548640" y="1554480"/>
            <a:ext cx="11094415" cy="658368"/>
          </a:xfrm>
          <a:prstGeom prst="roundRect">
            <a:avLst>
              <a:gd name="adj" fmla="val 16667"/>
            </a:avLst>
          </a:prstGeom>
          <a:solidFill>
            <a:srgbClr val="FFFFFF"/>
          </a:solidFill>
          <a:ln/>
          <a:effectLst>
            <a:outerShdw sx="100000" sy="100000" kx="0" ky="0" algn="bl" rotWithShape="0" blurRad="76200" dist="25400" dir="5400000">
              <a:srgbClr val="888888">
                <a:alpha val="18000"/>
              </a:srgbClr>
            </a:outerShdw>
          </a:effectLst>
        </p:spPr>
      </p:sp>
      <p:sp>
        <p:nvSpPr>
          <p:cNvPr id="7" name="Text 4"/>
          <p:cNvSpPr/>
          <p:nvPr/>
        </p:nvSpPr>
        <p:spPr>
          <a:xfrm>
            <a:off x="822960" y="1554480"/>
            <a:ext cx="10545775" cy="658368"/>
          </a:xfrm>
          <a:prstGeom prst="rect">
            <a:avLst/>
          </a:prstGeom>
          <a:noFill/>
          <a:ln/>
        </p:spPr>
        <p:txBody>
          <a:bodyPr wrap="square" lIns="0" tIns="0" rIns="0" bIns="0" rtlCol="0" anchor="ctr"/>
          <a:lstStyle/>
          <a:p>
            <a:pPr indent="0" marL="0">
              <a:buNone/>
            </a:pPr>
            <a:r>
              <a:rPr lang="en-US" sz="2000" b="1" dirty="0">
                <a:solidFill>
                  <a:srgbClr val="065A82"/>
                </a:solidFill>
                <a:latin typeface="Calibri" pitchFamily="34" charset="0"/>
                <a:ea typeface="Calibri" pitchFamily="34" charset="-122"/>
                <a:cs typeface="Calibri" pitchFamily="34" charset="-120"/>
              </a:rPr>
              <a:t>Groups of 4 — one shared whiteboard per group</a:t>
            </a:r>
            <a:endParaRPr lang="en-US" sz="2000" dirty="0"/>
          </a:p>
        </p:txBody>
      </p:sp>
      <p:sp>
        <p:nvSpPr>
          <p:cNvPr id="8" name="Text 5"/>
          <p:cNvSpPr/>
          <p:nvPr/>
        </p:nvSpPr>
        <p:spPr>
          <a:xfrm>
            <a:off x="548640" y="2423160"/>
            <a:ext cx="11094415" cy="822960"/>
          </a:xfrm>
          <a:prstGeom prst="rect">
            <a:avLst/>
          </a:prstGeom>
          <a:noFill/>
          <a:ln/>
        </p:spPr>
        <p:txBody>
          <a:bodyPr wrap="square" lIns="0" tIns="0" rIns="0" bIns="0" rtlCol="0" anchor="ctr"/>
          <a:lstStyle/>
          <a:p>
            <a:pPr indent="0" marL="0">
              <a:lnSpc>
                <a:spcPct val="120000"/>
              </a:lnSpc>
              <a:buNone/>
            </a:pPr>
            <a:r>
              <a:rPr lang="en-US" sz="2000" dirty="0">
                <a:solidFill>
                  <a:srgbClr val="21295C"/>
                </a:solidFill>
                <a:latin typeface="Calibri" pitchFamily="34" charset="0"/>
                <a:ea typeface="Calibri" pitchFamily="34" charset="-122"/>
                <a:cs typeface="Calibri" pitchFamily="34" charset="-120"/>
              </a:rPr>
              <a:t>Compute, in 5-bit 2’s complement, on your group whiteboard: (a) +9 + (−4)  (b) −7 + (−5)  (c) +6 + (+6).</a:t>
            </a:r>
            <a:endParaRPr lang="en-US" sz="2000" dirty="0"/>
          </a:p>
        </p:txBody>
      </p:sp>
      <p:sp>
        <p:nvSpPr>
          <p:cNvPr id="9" name="Text 6"/>
          <p:cNvSpPr/>
          <p:nvPr/>
        </p:nvSpPr>
        <p:spPr>
          <a:xfrm>
            <a:off x="548640" y="3246120"/>
            <a:ext cx="10515600" cy="260604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Everyone converts operands to binary before adding — check each other.</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Circle the carry-out of the MSB on every sum; discuss whether it gets discarded.</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Convert the final bit pattern back to decimal and sanity-check against normal arithmetic.</a:t>
            </a:r>
            <a:endParaRPr lang="en-US" sz="2000" dirty="0"/>
          </a:p>
        </p:txBody>
      </p:sp>
      <p:sp>
        <p:nvSpPr>
          <p:cNvPr id="10" name="Text 7"/>
          <p:cNvSpPr/>
          <p:nvPr/>
        </p:nvSpPr>
        <p:spPr>
          <a:xfrm>
            <a:off x="548640" y="5870448"/>
            <a:ext cx="5486400" cy="365760"/>
          </a:xfrm>
          <a:prstGeom prst="rect">
            <a:avLst/>
          </a:prstGeom>
          <a:noFill/>
          <a:ln/>
        </p:spPr>
        <p:txBody>
          <a:bodyPr wrap="square" lIns="0" tIns="0" rIns="0" bIns="0" rtlCol="0" anchor="ctr"/>
          <a:lstStyle/>
          <a:p>
            <a:pPr indent="0" marL="0">
              <a:buNone/>
            </a:pPr>
            <a:r>
              <a:rPr lang="en-US" sz="2000" b="1" i="1" dirty="0">
                <a:solidFill>
                  <a:srgbClr val="1C7293"/>
                </a:solidFill>
                <a:latin typeface="Calibri" pitchFamily="34" charset="0"/>
                <a:ea typeface="Calibri" pitchFamily="34" charset="-122"/>
                <a:cs typeface="Calibri" pitchFamily="34" charset="-120"/>
              </a:rPr>
              <a:t>Time: 7 minutes</a:t>
            </a:r>
            <a:endParaRPr lang="en-US" sz="2000" dirty="0"/>
          </a:p>
        </p:txBody>
      </p:sp>
      <p:sp>
        <p:nvSpPr>
          <p:cNvPr id="11" name="Shape 8"/>
          <p:cNvSpPr/>
          <p:nvPr/>
        </p:nvSpPr>
        <p:spPr>
          <a:xfrm>
            <a:off x="0" y="6400800"/>
            <a:ext cx="12191695" cy="457200"/>
          </a:xfrm>
          <a:prstGeom prst="rect">
            <a:avLst/>
          </a:prstGeom>
          <a:solidFill>
            <a:srgbClr val="FFFFFF"/>
          </a:solidFill>
          <a:ln/>
        </p:spPr>
      </p:sp>
      <p:sp>
        <p:nvSpPr>
          <p:cNvPr id="12" name="Text 9"/>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13" name="Text 10"/>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19</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C1442D"/>
          </a:solidFill>
          <a:ln/>
        </p:spPr>
      </p:sp>
      <p:pic>
        <p:nvPicPr>
          <p:cNvPr id="3" name="Image 0" descr="/home/claude/coa_signed_collab/icons/warning.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What Is Overflow?</a:t>
            </a:r>
            <a:endParaRPr lang="en-US" sz="3000" dirty="0"/>
          </a:p>
        </p:txBody>
      </p:sp>
      <p:sp>
        <p:nvSpPr>
          <p:cNvPr id="5" name="Text 2"/>
          <p:cNvSpPr/>
          <p:nvPr/>
        </p:nvSpPr>
        <p:spPr>
          <a:xfrm>
            <a:off x="548640" y="1508760"/>
            <a:ext cx="10515600" cy="457200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Overflow happens when the true mathematical result does not fit in the available bits.</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It can only occur when adding two numbers of the SAME sign (both positive or both negative).</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Adding a positive and a negative number can never overflow — the true result is always smaller in magnitude than the larger operand.</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An incorrect sign in the result is the tell-tale symptom.</a:t>
            </a:r>
            <a:endParaRPr lang="en-US" sz="2000" dirty="0"/>
          </a:p>
        </p:txBody>
      </p:sp>
      <p:sp>
        <p:nvSpPr>
          <p:cNvPr id="6" name="Shape 3"/>
          <p:cNvSpPr/>
          <p:nvPr/>
        </p:nvSpPr>
        <p:spPr>
          <a:xfrm>
            <a:off x="0" y="6400800"/>
            <a:ext cx="12191695" cy="457200"/>
          </a:xfrm>
          <a:prstGeom prst="rect">
            <a:avLst/>
          </a:prstGeom>
          <a:solidFill>
            <a:srgbClr val="FFFFFF"/>
          </a:solidFill>
          <a:ln/>
        </p:spPr>
      </p:sp>
      <p:sp>
        <p:nvSpPr>
          <p:cNvPr id="7" name="Text 4"/>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8" name="Text 5"/>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20</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C1442D"/>
          </a:solidFill>
          <a:ln/>
        </p:spPr>
      </p:sp>
      <p:pic>
        <p:nvPicPr>
          <p:cNvPr id="3" name="Image 0" descr="/home/claude/coa_signed_collab/icons/warning.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The Overflow Detection Rule</a:t>
            </a:r>
            <a:endParaRPr lang="en-US" sz="3000" dirty="0"/>
          </a:p>
        </p:txBody>
      </p:sp>
      <p:sp>
        <p:nvSpPr>
          <p:cNvPr id="5" name="Text 2"/>
          <p:cNvSpPr/>
          <p:nvPr/>
        </p:nvSpPr>
        <p:spPr>
          <a:xfrm>
            <a:off x="548640" y="1508760"/>
            <a:ext cx="10515600" cy="457200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Compare the carry INTO the sign bit with the carry OUT of the sign bit.</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If the two carries differ → overflow has occurred.</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If the two carries match → the result is valid, discard any carry-out as usual.</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Equivalently: overflow occurs when two same-sign operands produce a result with the opposite sign.</a:t>
            </a:r>
            <a:endParaRPr lang="en-US" sz="2000" dirty="0"/>
          </a:p>
        </p:txBody>
      </p:sp>
      <p:sp>
        <p:nvSpPr>
          <p:cNvPr id="6" name="Shape 3"/>
          <p:cNvSpPr/>
          <p:nvPr/>
        </p:nvSpPr>
        <p:spPr>
          <a:xfrm>
            <a:off x="0" y="6400800"/>
            <a:ext cx="12191695" cy="457200"/>
          </a:xfrm>
          <a:prstGeom prst="rect">
            <a:avLst/>
          </a:prstGeom>
          <a:solidFill>
            <a:srgbClr val="FFFFFF"/>
          </a:solidFill>
          <a:ln/>
        </p:spPr>
      </p:sp>
      <p:sp>
        <p:nvSpPr>
          <p:cNvPr id="7" name="Text 4"/>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8" name="Text 5"/>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21</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065A82"/>
          </a:solidFill>
          <a:ln/>
        </p:spPr>
      </p:sp>
      <p:pic>
        <p:nvPicPr>
          <p:cNvPr id="3" name="Image 0" descr="/home/claude/coa_signed_collab/icons/calculator.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Worked Example: Overflow Case</a:t>
            </a:r>
            <a:endParaRPr lang="en-US" sz="3000" dirty="0"/>
          </a:p>
        </p:txBody>
      </p:sp>
      <p:sp>
        <p:nvSpPr>
          <p:cNvPr id="5" name="Shape 2"/>
          <p:cNvSpPr/>
          <p:nvPr/>
        </p:nvSpPr>
        <p:spPr>
          <a:xfrm>
            <a:off x="548640" y="1554480"/>
            <a:ext cx="11094415" cy="685800"/>
          </a:xfrm>
          <a:prstGeom prst="roundRect">
            <a:avLst>
              <a:gd name="adj" fmla="val 16000"/>
            </a:avLst>
          </a:prstGeom>
          <a:solidFill>
            <a:srgbClr val="FFFFFF"/>
          </a:solidFill>
          <a:ln/>
          <a:effectLst>
            <a:outerShdw sx="100000" sy="100000" kx="0" ky="0" algn="bl" rotWithShape="0" blurRad="76200" dist="25400" dir="5400000">
              <a:srgbClr val="888888">
                <a:alpha val="18000"/>
              </a:srgbClr>
            </a:outerShdw>
          </a:effectLst>
        </p:spPr>
      </p:sp>
      <p:sp>
        <p:nvSpPr>
          <p:cNvPr id="6" name="Text 3"/>
          <p:cNvSpPr/>
          <p:nvPr/>
        </p:nvSpPr>
        <p:spPr>
          <a:xfrm>
            <a:off x="822960" y="1554480"/>
            <a:ext cx="10545775" cy="685800"/>
          </a:xfrm>
          <a:prstGeom prst="rect">
            <a:avLst/>
          </a:prstGeom>
          <a:noFill/>
          <a:ln/>
        </p:spPr>
        <p:txBody>
          <a:bodyPr wrap="square" lIns="0" tIns="0" rIns="0" bIns="0" rtlCol="0" anchor="ctr"/>
          <a:lstStyle/>
          <a:p>
            <a:pPr indent="0" marL="0">
              <a:buNone/>
            </a:pPr>
            <a:r>
              <a:rPr lang="en-US" sz="2200" b="1" dirty="0">
                <a:solidFill>
                  <a:srgbClr val="065A82"/>
                </a:solidFill>
                <a:latin typeface="Courier New" pitchFamily="34" charset="0"/>
                <a:ea typeface="Courier New" pitchFamily="34" charset="-122"/>
                <a:cs typeface="Courier New" pitchFamily="34" charset="-120"/>
              </a:rPr>
              <a:t>4-bit:  0101 (+5)  +  0100 (+4)</a:t>
            </a:r>
            <a:endParaRPr lang="en-US" sz="2200" dirty="0"/>
          </a:p>
        </p:txBody>
      </p:sp>
      <p:sp>
        <p:nvSpPr>
          <p:cNvPr id="7" name="Text 4"/>
          <p:cNvSpPr/>
          <p:nvPr/>
        </p:nvSpPr>
        <p:spPr>
          <a:xfrm>
            <a:off x="548640" y="2468880"/>
            <a:ext cx="10515600" cy="3108960"/>
          </a:xfrm>
          <a:prstGeom prst="rect">
            <a:avLst/>
          </a:prstGeom>
          <a:noFill/>
          <a:ln/>
        </p:spPr>
        <p:txBody>
          <a:bodyPr wrap="square" lIns="0" tIns="0" rIns="0" bIns="0" rtlCol="0" anchor="t"/>
          <a:lstStyle/>
          <a:p>
            <a:pPr marL="254000" indent="-254000">
              <a:lnSpc>
                <a:spcPct val="115000"/>
              </a:lnSpc>
              <a:spcAft>
                <a:spcPts val="1200"/>
              </a:spcAft>
              <a:buSzPct val="100000"/>
              <a:buChar char="▸"/>
            </a:pPr>
            <a:r>
              <a:rPr lang="en-US" sz="2000" dirty="0">
                <a:solidFill>
                  <a:srgbClr val="21295C"/>
                </a:solidFill>
                <a:latin typeface="Calibri" pitchFamily="34" charset="0"/>
                <a:ea typeface="Calibri" pitchFamily="34" charset="-122"/>
                <a:cs typeface="Calibri" pitchFamily="34" charset="-120"/>
              </a:rPr>
              <a:t>Step 1: Add as unsigned binary: 0101 + 0100 = 1001.</a:t>
            </a:r>
            <a:endParaRPr lang="en-US" sz="2000" dirty="0"/>
          </a:p>
          <a:p>
            <a:pPr marL="254000" indent="-254000">
              <a:lnSpc>
                <a:spcPct val="115000"/>
              </a:lnSpc>
              <a:spcAft>
                <a:spcPts val="1200"/>
              </a:spcAft>
              <a:buSzPct val="100000"/>
              <a:buChar char="▸"/>
            </a:pPr>
            <a:r>
              <a:rPr lang="en-US" sz="2000" dirty="0">
                <a:solidFill>
                  <a:srgbClr val="21295C"/>
                </a:solidFill>
                <a:latin typeface="Calibri" pitchFamily="34" charset="0"/>
                <a:ea typeface="Calibri" pitchFamily="34" charset="-122"/>
                <a:cs typeface="Calibri" pitchFamily="34" charset="-120"/>
              </a:rPr>
              <a:t>Step 2: Track the carries around the sign bit (bit 3): adding bit 2 (1+1) produces a carry INTO bit 3, but bit 3’s own addition (0+0+carry) produces NO carry OUT.</a:t>
            </a:r>
            <a:endParaRPr lang="en-US" sz="2000" dirty="0"/>
          </a:p>
          <a:p>
            <a:pPr marL="254000" indent="-254000">
              <a:lnSpc>
                <a:spcPct val="115000"/>
              </a:lnSpc>
              <a:spcAft>
                <a:spcPts val="1200"/>
              </a:spcAft>
              <a:buSzPct val="100000"/>
              <a:buChar char="▸"/>
            </a:pPr>
            <a:r>
              <a:rPr lang="en-US" sz="2000" dirty="0">
                <a:solidFill>
                  <a:srgbClr val="21295C"/>
                </a:solidFill>
                <a:latin typeface="Calibri" pitchFamily="34" charset="0"/>
                <a:ea typeface="Calibri" pitchFamily="34" charset="-122"/>
                <a:cs typeface="Calibri" pitchFamily="34" charset="-120"/>
              </a:rPr>
              <a:t>Step 3: Carry-in (1) ≠ carry-out (0) → the two carries differ → OVERFLOW has occurred.</a:t>
            </a:r>
            <a:endParaRPr lang="en-US" sz="2000" dirty="0"/>
          </a:p>
        </p:txBody>
      </p:sp>
      <p:sp>
        <p:nvSpPr>
          <p:cNvPr id="8" name="Shape 5"/>
          <p:cNvSpPr/>
          <p:nvPr/>
        </p:nvSpPr>
        <p:spPr>
          <a:xfrm>
            <a:off x="548640" y="5715000"/>
            <a:ext cx="5669280" cy="548640"/>
          </a:xfrm>
          <a:prstGeom prst="roundRect">
            <a:avLst>
              <a:gd name="adj" fmla="val 20000"/>
            </a:avLst>
          </a:prstGeom>
          <a:solidFill>
            <a:srgbClr val="E8F6EE"/>
          </a:solidFill>
          <a:ln/>
          <a:effectLst>
            <a:outerShdw sx="100000" sy="100000" kx="0" ky="0" algn="bl" rotWithShape="0" blurRad="76200" dist="25400" dir="5400000">
              <a:srgbClr val="888888">
                <a:alpha val="18000"/>
              </a:srgbClr>
            </a:outerShdw>
          </a:effectLst>
        </p:spPr>
      </p:sp>
      <p:sp>
        <p:nvSpPr>
          <p:cNvPr id="9" name="Text 6"/>
          <p:cNvSpPr/>
          <p:nvPr/>
        </p:nvSpPr>
        <p:spPr>
          <a:xfrm>
            <a:off x="777240" y="5715000"/>
            <a:ext cx="5303520" cy="548640"/>
          </a:xfrm>
          <a:prstGeom prst="rect">
            <a:avLst/>
          </a:prstGeom>
          <a:noFill/>
          <a:ln/>
        </p:spPr>
        <p:txBody>
          <a:bodyPr wrap="square" lIns="0" tIns="0" rIns="0" bIns="0" rtlCol="0" anchor="ctr"/>
          <a:lstStyle/>
          <a:p>
            <a:pPr indent="0" marL="0">
              <a:buNone/>
            </a:pPr>
            <a:r>
              <a:rPr lang="en-US" sz="2000" b="1" dirty="0">
                <a:solidFill>
                  <a:srgbClr val="2C8C5A"/>
                </a:solidFill>
                <a:latin typeface="Calibri" pitchFamily="34" charset="0"/>
                <a:ea typeface="Calibri" pitchFamily="34" charset="-122"/>
                <a:cs typeface="Calibri" pitchFamily="34" charset="-120"/>
              </a:rPr>
              <a:t>⚠ Sign bit of 1001 reads as −7, not +9 — the 4-bit range (−8 to +7) cannot hold +9.</a:t>
            </a:r>
            <a:endParaRPr lang="en-US" sz="2000" dirty="0"/>
          </a:p>
        </p:txBody>
      </p:sp>
      <p:sp>
        <p:nvSpPr>
          <p:cNvPr id="10" name="Shape 7"/>
          <p:cNvSpPr/>
          <p:nvPr/>
        </p:nvSpPr>
        <p:spPr>
          <a:xfrm>
            <a:off x="0" y="6400800"/>
            <a:ext cx="12191695" cy="457200"/>
          </a:xfrm>
          <a:prstGeom prst="rect">
            <a:avLst/>
          </a:prstGeom>
          <a:solidFill>
            <a:srgbClr val="FFFFFF"/>
          </a:solidFill>
          <a:ln/>
        </p:spPr>
      </p:sp>
      <p:sp>
        <p:nvSpPr>
          <p:cNvPr id="11" name="Text 8"/>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12" name="Text 9"/>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22</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9E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F2A93B"/>
          </a:solidFill>
          <a:ln/>
        </p:spPr>
      </p:sp>
      <p:pic>
        <p:nvPicPr>
          <p:cNvPr id="3" name="Image 0" descr="/home/claude/coa_signed_collab/icons/eye.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5486400" cy="320040"/>
          </a:xfrm>
          <a:prstGeom prst="rect">
            <a:avLst/>
          </a:prstGeom>
          <a:noFill/>
          <a:ln/>
        </p:spPr>
        <p:txBody>
          <a:bodyPr wrap="square" lIns="0" tIns="0" rIns="0" bIns="0" rtlCol="0" anchor="ctr"/>
          <a:lstStyle/>
          <a:p>
            <a:pPr indent="0" marL="0">
              <a:buNone/>
            </a:pPr>
            <a:r>
              <a:rPr lang="en-US" sz="2000" b="1" spc="100" kern="0" dirty="0">
                <a:solidFill>
                  <a:srgbClr val="F2A93B"/>
                </a:solidFill>
                <a:latin typeface="Calibri" pitchFamily="34" charset="0"/>
                <a:ea typeface="Calibri" pitchFamily="34" charset="-122"/>
                <a:cs typeface="Calibri" pitchFamily="34" charset="-120"/>
              </a:rPr>
              <a:t>COLLABORATIVE TASK</a:t>
            </a:r>
            <a:endParaRPr lang="en-US" sz="2000" dirty="0"/>
          </a:p>
        </p:txBody>
      </p:sp>
      <p:sp>
        <p:nvSpPr>
          <p:cNvPr id="5" name="Text 2"/>
          <p:cNvSpPr/>
          <p:nvPr/>
        </p:nvSpPr>
        <p:spPr>
          <a:xfrm>
            <a:off x="1508760" y="777240"/>
            <a:ext cx="10134295" cy="5486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Gallery Walk — Spot the Overflow</a:t>
            </a:r>
            <a:endParaRPr lang="en-US" sz="2600" dirty="0"/>
          </a:p>
        </p:txBody>
      </p:sp>
      <p:sp>
        <p:nvSpPr>
          <p:cNvPr id="6" name="Shape 3"/>
          <p:cNvSpPr/>
          <p:nvPr/>
        </p:nvSpPr>
        <p:spPr>
          <a:xfrm>
            <a:off x="548640" y="1554480"/>
            <a:ext cx="11094415" cy="658368"/>
          </a:xfrm>
          <a:prstGeom prst="roundRect">
            <a:avLst>
              <a:gd name="adj" fmla="val 16667"/>
            </a:avLst>
          </a:prstGeom>
          <a:solidFill>
            <a:srgbClr val="FFFFFF"/>
          </a:solidFill>
          <a:ln/>
          <a:effectLst>
            <a:outerShdw sx="100000" sy="100000" kx="0" ky="0" algn="bl" rotWithShape="0" blurRad="76200" dist="25400" dir="5400000">
              <a:srgbClr val="888888">
                <a:alpha val="18000"/>
              </a:srgbClr>
            </a:outerShdw>
          </a:effectLst>
        </p:spPr>
      </p:sp>
      <p:sp>
        <p:nvSpPr>
          <p:cNvPr id="7" name="Text 4"/>
          <p:cNvSpPr/>
          <p:nvPr/>
        </p:nvSpPr>
        <p:spPr>
          <a:xfrm>
            <a:off x="822960" y="1554480"/>
            <a:ext cx="10545775" cy="658368"/>
          </a:xfrm>
          <a:prstGeom prst="rect">
            <a:avLst/>
          </a:prstGeom>
          <a:noFill/>
          <a:ln/>
        </p:spPr>
        <p:txBody>
          <a:bodyPr wrap="square" lIns="0" tIns="0" rIns="0" bIns="0" rtlCol="0" anchor="ctr"/>
          <a:lstStyle/>
          <a:p>
            <a:pPr indent="0" marL="0">
              <a:buNone/>
            </a:pPr>
            <a:r>
              <a:rPr lang="en-US" sz="2000" b="1" dirty="0">
                <a:solidFill>
                  <a:srgbClr val="065A82"/>
                </a:solidFill>
                <a:latin typeface="Calibri" pitchFamily="34" charset="0"/>
                <a:ea typeface="Calibri" pitchFamily="34" charset="-122"/>
                <a:cs typeface="Calibri" pitchFamily="34" charset="-120"/>
              </a:rPr>
              <a:t>Groups of 3, rotating between 4 posted problems</a:t>
            </a:r>
            <a:endParaRPr lang="en-US" sz="2000" dirty="0"/>
          </a:p>
        </p:txBody>
      </p:sp>
      <p:sp>
        <p:nvSpPr>
          <p:cNvPr id="8" name="Text 5"/>
          <p:cNvSpPr/>
          <p:nvPr/>
        </p:nvSpPr>
        <p:spPr>
          <a:xfrm>
            <a:off x="548640" y="2423160"/>
            <a:ext cx="11094415" cy="822960"/>
          </a:xfrm>
          <a:prstGeom prst="rect">
            <a:avLst/>
          </a:prstGeom>
          <a:noFill/>
          <a:ln/>
        </p:spPr>
        <p:txBody>
          <a:bodyPr wrap="square" lIns="0" tIns="0" rIns="0" bIns="0" rtlCol="0" anchor="ctr"/>
          <a:lstStyle/>
          <a:p>
            <a:pPr indent="0" marL="0">
              <a:lnSpc>
                <a:spcPct val="120000"/>
              </a:lnSpc>
              <a:buNone/>
            </a:pPr>
            <a:r>
              <a:rPr lang="en-US" sz="2000" dirty="0">
                <a:solidFill>
                  <a:srgbClr val="21295C"/>
                </a:solidFill>
                <a:latin typeface="Calibri" pitchFamily="34" charset="0"/>
                <a:ea typeface="Calibri" pitchFamily="34" charset="-122"/>
                <a:cs typeface="Calibri" pitchFamily="34" charset="-120"/>
              </a:rPr>
              <a:t>Four 4-bit addition problems are posted around the room. As a group, rotate to each, decide overflow YES/NO, and write your reasoning on a sticky note.</a:t>
            </a:r>
            <a:endParaRPr lang="en-US" sz="2000" dirty="0"/>
          </a:p>
        </p:txBody>
      </p:sp>
      <p:sp>
        <p:nvSpPr>
          <p:cNvPr id="9" name="Text 6"/>
          <p:cNvSpPr/>
          <p:nvPr/>
        </p:nvSpPr>
        <p:spPr>
          <a:xfrm>
            <a:off x="548640" y="3246120"/>
            <a:ext cx="10515600" cy="260604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Problem stations: (1) 0110+0011  (2) 1010+1001  (3) 0111+0001  (4) 1100+1011.</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Use the carry-comparison rule — show both carries on your sticky note.</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After all rotations, compare your verdicts with the group that started elsewhere.</a:t>
            </a:r>
            <a:endParaRPr lang="en-US" sz="2000" dirty="0"/>
          </a:p>
        </p:txBody>
      </p:sp>
      <p:sp>
        <p:nvSpPr>
          <p:cNvPr id="10" name="Text 7"/>
          <p:cNvSpPr/>
          <p:nvPr/>
        </p:nvSpPr>
        <p:spPr>
          <a:xfrm>
            <a:off x="548640" y="5870448"/>
            <a:ext cx="5486400" cy="365760"/>
          </a:xfrm>
          <a:prstGeom prst="rect">
            <a:avLst/>
          </a:prstGeom>
          <a:noFill/>
          <a:ln/>
        </p:spPr>
        <p:txBody>
          <a:bodyPr wrap="square" lIns="0" tIns="0" rIns="0" bIns="0" rtlCol="0" anchor="ctr"/>
          <a:lstStyle/>
          <a:p>
            <a:pPr indent="0" marL="0">
              <a:buNone/>
            </a:pPr>
            <a:r>
              <a:rPr lang="en-US" sz="2000" b="1" i="1" dirty="0">
                <a:solidFill>
                  <a:srgbClr val="1C7293"/>
                </a:solidFill>
                <a:latin typeface="Calibri" pitchFamily="34" charset="0"/>
                <a:ea typeface="Calibri" pitchFamily="34" charset="-122"/>
                <a:cs typeface="Calibri" pitchFamily="34" charset="-120"/>
              </a:rPr>
              <a:t>Time: 8 minutes (2 min/station)</a:t>
            </a:r>
            <a:endParaRPr lang="en-US" sz="2000" dirty="0"/>
          </a:p>
        </p:txBody>
      </p:sp>
      <p:sp>
        <p:nvSpPr>
          <p:cNvPr id="11" name="Shape 8"/>
          <p:cNvSpPr/>
          <p:nvPr/>
        </p:nvSpPr>
        <p:spPr>
          <a:xfrm>
            <a:off x="0" y="6400800"/>
            <a:ext cx="12191695" cy="457200"/>
          </a:xfrm>
          <a:prstGeom prst="rect">
            <a:avLst/>
          </a:prstGeom>
          <a:solidFill>
            <a:srgbClr val="FFFFFF"/>
          </a:solidFill>
          <a:ln/>
        </p:spPr>
      </p:sp>
      <p:sp>
        <p:nvSpPr>
          <p:cNvPr id="12" name="Text 9"/>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13" name="Text 10"/>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23</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065A82"/>
          </a:solidFill>
          <a:ln/>
        </p:spPr>
      </p:sp>
      <p:pic>
        <p:nvPicPr>
          <p:cNvPr id="3" name="Image 0" descr="/home/claude/coa_signed_collab/icons/exchange.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Subtraction via 2’s Complement Addition</a:t>
            </a:r>
            <a:endParaRPr lang="en-US" sz="3000" dirty="0"/>
          </a:p>
        </p:txBody>
      </p:sp>
      <p:sp>
        <p:nvSpPr>
          <p:cNvPr id="5" name="Text 2"/>
          <p:cNvSpPr/>
          <p:nvPr/>
        </p:nvSpPr>
        <p:spPr>
          <a:xfrm>
            <a:off x="548640" y="1508760"/>
            <a:ext cx="10515600" cy="457200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Key idea: A − B = A + (−B).</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Take the 2’s complement of B (flip bits, add 1), then add it to A using ordinary addition.</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No separate subtractor circuit is needed — the same adder hardware is reused.</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The same overflow rule from addition still applies to the result.</a:t>
            </a:r>
            <a:endParaRPr lang="en-US" sz="2000" dirty="0"/>
          </a:p>
        </p:txBody>
      </p:sp>
      <p:sp>
        <p:nvSpPr>
          <p:cNvPr id="6" name="Shape 3"/>
          <p:cNvSpPr/>
          <p:nvPr/>
        </p:nvSpPr>
        <p:spPr>
          <a:xfrm>
            <a:off x="0" y="6400800"/>
            <a:ext cx="12191695" cy="457200"/>
          </a:xfrm>
          <a:prstGeom prst="rect">
            <a:avLst/>
          </a:prstGeom>
          <a:solidFill>
            <a:srgbClr val="FFFFFF"/>
          </a:solidFill>
          <a:ln/>
        </p:spPr>
      </p:sp>
      <p:sp>
        <p:nvSpPr>
          <p:cNvPr id="7" name="Text 4"/>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8" name="Text 5"/>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24</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065A82"/>
          </a:solidFill>
          <a:ln/>
        </p:spPr>
      </p:sp>
      <p:pic>
        <p:nvPicPr>
          <p:cNvPr id="3" name="Image 0" descr="/home/claude/coa_signed_collab/icons/calculator.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Worked Example: Subtraction</a:t>
            </a:r>
            <a:endParaRPr lang="en-US" sz="3000" dirty="0"/>
          </a:p>
        </p:txBody>
      </p:sp>
      <p:sp>
        <p:nvSpPr>
          <p:cNvPr id="5" name="Shape 2"/>
          <p:cNvSpPr/>
          <p:nvPr/>
        </p:nvSpPr>
        <p:spPr>
          <a:xfrm>
            <a:off x="548640" y="1554480"/>
            <a:ext cx="11094415" cy="685800"/>
          </a:xfrm>
          <a:prstGeom prst="roundRect">
            <a:avLst>
              <a:gd name="adj" fmla="val 16000"/>
            </a:avLst>
          </a:prstGeom>
          <a:solidFill>
            <a:srgbClr val="FFFFFF"/>
          </a:solidFill>
          <a:ln/>
          <a:effectLst>
            <a:outerShdw sx="100000" sy="100000" kx="0" ky="0" algn="bl" rotWithShape="0" blurRad="76200" dist="25400" dir="5400000">
              <a:srgbClr val="888888">
                <a:alpha val="18000"/>
              </a:srgbClr>
            </a:outerShdw>
          </a:effectLst>
        </p:spPr>
      </p:sp>
      <p:sp>
        <p:nvSpPr>
          <p:cNvPr id="6" name="Text 3"/>
          <p:cNvSpPr/>
          <p:nvPr/>
        </p:nvSpPr>
        <p:spPr>
          <a:xfrm>
            <a:off x="822960" y="1554480"/>
            <a:ext cx="10545775" cy="685800"/>
          </a:xfrm>
          <a:prstGeom prst="rect">
            <a:avLst/>
          </a:prstGeom>
          <a:noFill/>
          <a:ln/>
        </p:spPr>
        <p:txBody>
          <a:bodyPr wrap="square" lIns="0" tIns="0" rIns="0" bIns="0" rtlCol="0" anchor="ctr"/>
          <a:lstStyle/>
          <a:p>
            <a:pPr indent="0" marL="0">
              <a:buNone/>
            </a:pPr>
            <a:r>
              <a:rPr lang="en-US" sz="2200" b="1" dirty="0">
                <a:solidFill>
                  <a:srgbClr val="065A82"/>
                </a:solidFill>
                <a:latin typeface="Courier New" pitchFamily="34" charset="0"/>
                <a:ea typeface="Courier New" pitchFamily="34" charset="-122"/>
                <a:cs typeface="Courier New" pitchFamily="34" charset="-120"/>
              </a:rPr>
              <a:t>4-bit:  0111 (+7)  −  0010 (+2)</a:t>
            </a:r>
            <a:endParaRPr lang="en-US" sz="2200" dirty="0"/>
          </a:p>
        </p:txBody>
      </p:sp>
      <p:sp>
        <p:nvSpPr>
          <p:cNvPr id="7" name="Text 4"/>
          <p:cNvSpPr/>
          <p:nvPr/>
        </p:nvSpPr>
        <p:spPr>
          <a:xfrm>
            <a:off x="548640" y="2468880"/>
            <a:ext cx="10515600" cy="3108960"/>
          </a:xfrm>
          <a:prstGeom prst="rect">
            <a:avLst/>
          </a:prstGeom>
          <a:noFill/>
          <a:ln/>
        </p:spPr>
        <p:txBody>
          <a:bodyPr wrap="square" lIns="0" tIns="0" rIns="0" bIns="0" rtlCol="0" anchor="t"/>
          <a:lstStyle/>
          <a:p>
            <a:pPr marL="254000" indent="-254000">
              <a:lnSpc>
                <a:spcPct val="115000"/>
              </a:lnSpc>
              <a:spcAft>
                <a:spcPts val="1200"/>
              </a:spcAft>
              <a:buSzPct val="100000"/>
              <a:buChar char="▸"/>
            </a:pPr>
            <a:r>
              <a:rPr lang="en-US" sz="2000" dirty="0">
                <a:solidFill>
                  <a:srgbClr val="21295C"/>
                </a:solidFill>
                <a:latin typeface="Calibri" pitchFamily="34" charset="0"/>
                <a:ea typeface="Calibri" pitchFamily="34" charset="-122"/>
                <a:cs typeface="Calibri" pitchFamily="34" charset="-120"/>
              </a:rPr>
              <a:t>Step 1: Find −B: 2’s complement of 0010 → flip → 1101 → add 1 → 1110 (−2).</a:t>
            </a:r>
            <a:endParaRPr lang="en-US" sz="2000" dirty="0"/>
          </a:p>
          <a:p>
            <a:pPr marL="254000" indent="-254000">
              <a:lnSpc>
                <a:spcPct val="115000"/>
              </a:lnSpc>
              <a:spcAft>
                <a:spcPts val="1200"/>
              </a:spcAft>
              <a:buSzPct val="100000"/>
              <a:buChar char="▸"/>
            </a:pPr>
            <a:r>
              <a:rPr lang="en-US" sz="2000" dirty="0">
                <a:solidFill>
                  <a:srgbClr val="21295C"/>
                </a:solidFill>
                <a:latin typeface="Calibri" pitchFamily="34" charset="0"/>
                <a:ea typeface="Calibri" pitchFamily="34" charset="-122"/>
                <a:cs typeface="Calibri" pitchFamily="34" charset="-120"/>
              </a:rPr>
              <a:t>Step 2: Add A + (−B): 0111 + 1110 = 10101 (5 bits produced).</a:t>
            </a:r>
            <a:endParaRPr lang="en-US" sz="2000" dirty="0"/>
          </a:p>
          <a:p>
            <a:pPr marL="254000" indent="-254000">
              <a:lnSpc>
                <a:spcPct val="115000"/>
              </a:lnSpc>
              <a:spcAft>
                <a:spcPts val="1200"/>
              </a:spcAft>
              <a:buSzPct val="100000"/>
              <a:buChar char="▸"/>
            </a:pPr>
            <a:r>
              <a:rPr lang="en-US" sz="2000" dirty="0">
                <a:solidFill>
                  <a:srgbClr val="21295C"/>
                </a:solidFill>
                <a:latin typeface="Calibri" pitchFamily="34" charset="0"/>
                <a:ea typeface="Calibri" pitchFamily="34" charset="-122"/>
                <a:cs typeface="Calibri" pitchFamily="34" charset="-120"/>
              </a:rPr>
              <a:t>Step 3: Discard the carry-out of the MSB → keep 0101; carries into/out of sign bit match → no overflow.</a:t>
            </a:r>
            <a:endParaRPr lang="en-US" sz="2000" dirty="0"/>
          </a:p>
        </p:txBody>
      </p:sp>
      <p:sp>
        <p:nvSpPr>
          <p:cNvPr id="8" name="Shape 5"/>
          <p:cNvSpPr/>
          <p:nvPr/>
        </p:nvSpPr>
        <p:spPr>
          <a:xfrm>
            <a:off x="548640" y="5715000"/>
            <a:ext cx="5669280" cy="548640"/>
          </a:xfrm>
          <a:prstGeom prst="roundRect">
            <a:avLst>
              <a:gd name="adj" fmla="val 20000"/>
            </a:avLst>
          </a:prstGeom>
          <a:solidFill>
            <a:srgbClr val="E8F6EE"/>
          </a:solidFill>
          <a:ln/>
          <a:effectLst>
            <a:outerShdw sx="100000" sy="100000" kx="0" ky="0" algn="bl" rotWithShape="0" blurRad="76200" dist="25400" dir="5400000">
              <a:srgbClr val="888888">
                <a:alpha val="18000"/>
              </a:srgbClr>
            </a:outerShdw>
          </a:effectLst>
        </p:spPr>
      </p:sp>
      <p:sp>
        <p:nvSpPr>
          <p:cNvPr id="9" name="Text 6"/>
          <p:cNvSpPr/>
          <p:nvPr/>
        </p:nvSpPr>
        <p:spPr>
          <a:xfrm>
            <a:off x="777240" y="5715000"/>
            <a:ext cx="5303520" cy="548640"/>
          </a:xfrm>
          <a:prstGeom prst="rect">
            <a:avLst/>
          </a:prstGeom>
          <a:noFill/>
          <a:ln/>
        </p:spPr>
        <p:txBody>
          <a:bodyPr wrap="square" lIns="0" tIns="0" rIns="0" bIns="0" rtlCol="0" anchor="ctr"/>
          <a:lstStyle/>
          <a:p>
            <a:pPr indent="0" marL="0">
              <a:buNone/>
            </a:pPr>
            <a:r>
              <a:rPr lang="en-US" sz="2000" b="1" dirty="0">
                <a:solidFill>
                  <a:srgbClr val="2C8C5A"/>
                </a:solidFill>
                <a:latin typeface="Calibri" pitchFamily="34" charset="0"/>
                <a:ea typeface="Calibri" pitchFamily="34" charset="-122"/>
                <a:cs typeface="Calibri" pitchFamily="34" charset="-120"/>
              </a:rPr>
              <a:t>Result: 0101 = +5  ✓ matches +7 − 2 = +5</a:t>
            </a:r>
            <a:endParaRPr lang="en-US" sz="2000" dirty="0"/>
          </a:p>
        </p:txBody>
      </p:sp>
      <p:sp>
        <p:nvSpPr>
          <p:cNvPr id="10" name="Shape 7"/>
          <p:cNvSpPr/>
          <p:nvPr/>
        </p:nvSpPr>
        <p:spPr>
          <a:xfrm>
            <a:off x="0" y="6400800"/>
            <a:ext cx="12191695" cy="457200"/>
          </a:xfrm>
          <a:prstGeom prst="rect">
            <a:avLst/>
          </a:prstGeom>
          <a:solidFill>
            <a:srgbClr val="FFFFFF"/>
          </a:solidFill>
          <a:ln/>
        </p:spPr>
      </p:sp>
      <p:sp>
        <p:nvSpPr>
          <p:cNvPr id="11" name="Text 8"/>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12" name="Text 9"/>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25</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9E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F2A93B"/>
          </a:solidFill>
          <a:ln/>
        </p:spPr>
      </p:sp>
      <p:pic>
        <p:nvPicPr>
          <p:cNvPr id="3" name="Image 0" descr="/home/claude/coa_signed_collab/icons/handshake.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5486400" cy="320040"/>
          </a:xfrm>
          <a:prstGeom prst="rect">
            <a:avLst/>
          </a:prstGeom>
          <a:noFill/>
          <a:ln/>
        </p:spPr>
        <p:txBody>
          <a:bodyPr wrap="square" lIns="0" tIns="0" rIns="0" bIns="0" rtlCol="0" anchor="ctr"/>
          <a:lstStyle/>
          <a:p>
            <a:pPr indent="0" marL="0">
              <a:buNone/>
            </a:pPr>
            <a:r>
              <a:rPr lang="en-US" sz="2000" b="1" spc="100" kern="0" dirty="0">
                <a:solidFill>
                  <a:srgbClr val="F2A93B"/>
                </a:solidFill>
                <a:latin typeface="Calibri" pitchFamily="34" charset="0"/>
                <a:ea typeface="Calibri" pitchFamily="34" charset="-122"/>
                <a:cs typeface="Calibri" pitchFamily="34" charset="-120"/>
              </a:rPr>
              <a:t>COLLABORATIVE TASK</a:t>
            </a:r>
            <a:endParaRPr lang="en-US" sz="2000" dirty="0"/>
          </a:p>
        </p:txBody>
      </p:sp>
      <p:sp>
        <p:nvSpPr>
          <p:cNvPr id="5" name="Text 2"/>
          <p:cNvSpPr/>
          <p:nvPr/>
        </p:nvSpPr>
        <p:spPr>
          <a:xfrm>
            <a:off x="1508760" y="777240"/>
            <a:ext cx="10134295" cy="5486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Peer-Check Practice — Subtraction</a:t>
            </a:r>
            <a:endParaRPr lang="en-US" sz="2600" dirty="0"/>
          </a:p>
        </p:txBody>
      </p:sp>
      <p:sp>
        <p:nvSpPr>
          <p:cNvPr id="6" name="Shape 3"/>
          <p:cNvSpPr/>
          <p:nvPr/>
        </p:nvSpPr>
        <p:spPr>
          <a:xfrm>
            <a:off x="548640" y="1554480"/>
            <a:ext cx="11094415" cy="658368"/>
          </a:xfrm>
          <a:prstGeom prst="roundRect">
            <a:avLst>
              <a:gd name="adj" fmla="val 16667"/>
            </a:avLst>
          </a:prstGeom>
          <a:solidFill>
            <a:srgbClr val="FFFFFF"/>
          </a:solidFill>
          <a:ln/>
          <a:effectLst>
            <a:outerShdw sx="100000" sy="100000" kx="0" ky="0" algn="bl" rotWithShape="0" blurRad="76200" dist="25400" dir="5400000">
              <a:srgbClr val="888888">
                <a:alpha val="18000"/>
              </a:srgbClr>
            </a:outerShdw>
          </a:effectLst>
        </p:spPr>
      </p:sp>
      <p:sp>
        <p:nvSpPr>
          <p:cNvPr id="7" name="Text 4"/>
          <p:cNvSpPr/>
          <p:nvPr/>
        </p:nvSpPr>
        <p:spPr>
          <a:xfrm>
            <a:off x="822960" y="1554480"/>
            <a:ext cx="10545775" cy="658368"/>
          </a:xfrm>
          <a:prstGeom prst="rect">
            <a:avLst/>
          </a:prstGeom>
          <a:noFill/>
          <a:ln/>
        </p:spPr>
        <p:txBody>
          <a:bodyPr wrap="square" lIns="0" tIns="0" rIns="0" bIns="0" rtlCol="0" anchor="ctr"/>
          <a:lstStyle/>
          <a:p>
            <a:pPr indent="0" marL="0">
              <a:buNone/>
            </a:pPr>
            <a:r>
              <a:rPr lang="en-US" sz="2000" b="1" dirty="0">
                <a:solidFill>
                  <a:srgbClr val="065A82"/>
                </a:solidFill>
                <a:latin typeface="Calibri" pitchFamily="34" charset="0"/>
                <a:ea typeface="Calibri" pitchFamily="34" charset="-122"/>
                <a:cs typeface="Calibri" pitchFamily="34" charset="-120"/>
              </a:rPr>
              <a:t>Pairs — swap and grade each other</a:t>
            </a:r>
            <a:endParaRPr lang="en-US" sz="2000" dirty="0"/>
          </a:p>
        </p:txBody>
      </p:sp>
      <p:sp>
        <p:nvSpPr>
          <p:cNvPr id="8" name="Text 5"/>
          <p:cNvSpPr/>
          <p:nvPr/>
        </p:nvSpPr>
        <p:spPr>
          <a:xfrm>
            <a:off x="548640" y="2423160"/>
            <a:ext cx="11094415" cy="822960"/>
          </a:xfrm>
          <a:prstGeom prst="rect">
            <a:avLst/>
          </a:prstGeom>
          <a:noFill/>
          <a:ln/>
        </p:spPr>
        <p:txBody>
          <a:bodyPr wrap="square" lIns="0" tIns="0" rIns="0" bIns="0" rtlCol="0" anchor="ctr"/>
          <a:lstStyle/>
          <a:p>
            <a:pPr indent="0" marL="0">
              <a:lnSpc>
                <a:spcPct val="120000"/>
              </a:lnSpc>
              <a:buNone/>
            </a:pPr>
            <a:r>
              <a:rPr lang="en-US" sz="2000" dirty="0">
                <a:solidFill>
                  <a:srgbClr val="21295C"/>
                </a:solidFill>
                <a:latin typeface="Calibri" pitchFamily="34" charset="0"/>
                <a:ea typeface="Calibri" pitchFamily="34" charset="-122"/>
                <a:cs typeface="Calibri" pitchFamily="34" charset="-120"/>
              </a:rPr>
              <a:t>Individually solve, in 5-bit 2’s complement: (a) +10 − 6  (b) −4 − 9  (c) +3 − (−5). Then trade papers with your partner.</a:t>
            </a:r>
            <a:endParaRPr lang="en-US" sz="2000" dirty="0"/>
          </a:p>
        </p:txBody>
      </p:sp>
      <p:sp>
        <p:nvSpPr>
          <p:cNvPr id="9" name="Text 6"/>
          <p:cNvSpPr/>
          <p:nvPr/>
        </p:nvSpPr>
        <p:spPr>
          <a:xfrm>
            <a:off x="548640" y="3246120"/>
            <a:ext cx="10515600" cy="260604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As the grader: verify every step — the 2’s complement of B, the addition, and overflow check.</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Circle any step where you disagree and discuss until you reach consensus.</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Flag any part you can’t explain to your partner — bring it to the class discussion.</a:t>
            </a:r>
            <a:endParaRPr lang="en-US" sz="2000" dirty="0"/>
          </a:p>
        </p:txBody>
      </p:sp>
      <p:sp>
        <p:nvSpPr>
          <p:cNvPr id="10" name="Text 7"/>
          <p:cNvSpPr/>
          <p:nvPr/>
        </p:nvSpPr>
        <p:spPr>
          <a:xfrm>
            <a:off x="548640" y="5870448"/>
            <a:ext cx="5486400" cy="365760"/>
          </a:xfrm>
          <a:prstGeom prst="rect">
            <a:avLst/>
          </a:prstGeom>
          <a:noFill/>
          <a:ln/>
        </p:spPr>
        <p:txBody>
          <a:bodyPr wrap="square" lIns="0" tIns="0" rIns="0" bIns="0" rtlCol="0" anchor="ctr"/>
          <a:lstStyle/>
          <a:p>
            <a:pPr indent="0" marL="0">
              <a:buNone/>
            </a:pPr>
            <a:r>
              <a:rPr lang="en-US" sz="2000" b="1" i="1" dirty="0">
                <a:solidFill>
                  <a:srgbClr val="1C7293"/>
                </a:solidFill>
                <a:latin typeface="Calibri" pitchFamily="34" charset="0"/>
                <a:ea typeface="Calibri" pitchFamily="34" charset="-122"/>
                <a:cs typeface="Calibri" pitchFamily="34" charset="-120"/>
              </a:rPr>
              <a:t>Time: 6 minutes</a:t>
            </a:r>
            <a:endParaRPr lang="en-US" sz="2000" dirty="0"/>
          </a:p>
        </p:txBody>
      </p:sp>
      <p:sp>
        <p:nvSpPr>
          <p:cNvPr id="11" name="Shape 8"/>
          <p:cNvSpPr/>
          <p:nvPr/>
        </p:nvSpPr>
        <p:spPr>
          <a:xfrm>
            <a:off x="0" y="6400800"/>
            <a:ext cx="12191695" cy="457200"/>
          </a:xfrm>
          <a:prstGeom prst="rect">
            <a:avLst/>
          </a:prstGeom>
          <a:solidFill>
            <a:srgbClr val="FFFFFF"/>
          </a:solidFill>
          <a:ln/>
        </p:spPr>
      </p:sp>
      <p:sp>
        <p:nvSpPr>
          <p:cNvPr id="12" name="Text 9"/>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13" name="Text 10"/>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26</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C1442D"/>
          </a:solidFill>
          <a:ln/>
        </p:spPr>
      </p:sp>
      <p:pic>
        <p:nvPicPr>
          <p:cNvPr id="3" name="Image 0" descr="/home/claude/coa_signed_collab/icons/warning.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Common Misconceptions &amp; Pitfalls</a:t>
            </a:r>
            <a:endParaRPr lang="en-US" sz="3000" dirty="0"/>
          </a:p>
        </p:txBody>
      </p:sp>
      <p:sp>
        <p:nvSpPr>
          <p:cNvPr id="5" name="Text 2"/>
          <p:cNvSpPr/>
          <p:nvPr/>
        </p:nvSpPr>
        <p:spPr>
          <a:xfrm>
            <a:off x="548640" y="1508760"/>
            <a:ext cx="10515600" cy="457200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Myth: overflow can happen when adding a positive and a negative number. (False — impossible.)</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Myth: a carry out of the MSB always means overflow. (False — it depends on matching it with the carry INTO the MSB.)</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Myth: 1’s complement and 2’s complement negation are the same thing. (2’s complement adds 1 after flipping.)</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Myth: the sign bit is separate from the value. (In 2’s complement, it carries real place-value weight: −2ⁿ⁻¹.)</a:t>
            </a:r>
            <a:endParaRPr lang="en-US" sz="2000" dirty="0"/>
          </a:p>
        </p:txBody>
      </p:sp>
      <p:sp>
        <p:nvSpPr>
          <p:cNvPr id="6" name="Shape 3"/>
          <p:cNvSpPr/>
          <p:nvPr/>
        </p:nvSpPr>
        <p:spPr>
          <a:xfrm>
            <a:off x="0" y="6400800"/>
            <a:ext cx="12191695" cy="457200"/>
          </a:xfrm>
          <a:prstGeom prst="rect">
            <a:avLst/>
          </a:prstGeom>
          <a:solidFill>
            <a:srgbClr val="FFFFFF"/>
          </a:solidFill>
          <a:ln/>
        </p:spPr>
      </p:sp>
      <p:sp>
        <p:nvSpPr>
          <p:cNvPr id="7" name="Text 4"/>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8" name="Text 5"/>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27</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F2A93B"/>
          </a:solidFill>
          <a:ln/>
        </p:spPr>
      </p:sp>
      <p:pic>
        <p:nvPicPr>
          <p:cNvPr id="3" name="Image 0" descr="/home/claude/coa_signed_collab/icons/chip.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Think-Pair-Share: Where Does This Matter?</a:t>
            </a:r>
            <a:endParaRPr lang="en-US" sz="3000" dirty="0"/>
          </a:p>
        </p:txBody>
      </p:sp>
      <p:sp>
        <p:nvSpPr>
          <p:cNvPr id="5" name="Shape 2"/>
          <p:cNvSpPr/>
          <p:nvPr/>
        </p:nvSpPr>
        <p:spPr>
          <a:xfrm>
            <a:off x="548640" y="1554480"/>
            <a:ext cx="11094415" cy="1005840"/>
          </a:xfrm>
          <a:prstGeom prst="roundRect">
            <a:avLst>
              <a:gd name="adj" fmla="val 10909"/>
            </a:avLst>
          </a:prstGeom>
          <a:solidFill>
            <a:srgbClr val="FFF4DF"/>
          </a:solidFill>
          <a:ln/>
          <a:effectLst>
            <a:outerShdw sx="100000" sy="100000" kx="0" ky="0" algn="bl" rotWithShape="0" blurRad="76200" dist="25400" dir="5400000">
              <a:srgbClr val="888888">
                <a:alpha val="18000"/>
              </a:srgbClr>
            </a:outerShdw>
          </a:effectLst>
        </p:spPr>
      </p:sp>
      <p:sp>
        <p:nvSpPr>
          <p:cNvPr id="6" name="Text 3"/>
          <p:cNvSpPr/>
          <p:nvPr/>
        </p:nvSpPr>
        <p:spPr>
          <a:xfrm>
            <a:off x="914400" y="1691640"/>
            <a:ext cx="10362895" cy="822960"/>
          </a:xfrm>
          <a:prstGeom prst="rect">
            <a:avLst/>
          </a:prstGeom>
          <a:noFill/>
          <a:ln/>
        </p:spPr>
        <p:txBody>
          <a:bodyPr wrap="square" lIns="0" tIns="0" rIns="0" bIns="0" rtlCol="0" anchor="ctr"/>
          <a:lstStyle/>
          <a:p>
            <a:pPr indent="0" marL="0">
              <a:buNone/>
            </a:pPr>
            <a:r>
              <a:rPr lang="en-US" sz="2000" i="1" dirty="0">
                <a:solidFill>
                  <a:srgbClr val="21295C"/>
                </a:solidFill>
                <a:latin typeface="Cambria" pitchFamily="34" charset="0"/>
                <a:ea typeface="Cambria" pitchFamily="34" charset="-122"/>
                <a:cs typeface="Cambria" pitchFamily="34" charset="-120"/>
              </a:rPr>
              <a:t>With your partner (2 min): name ONE real system where signed-number overflow could cause a serious failure.</a:t>
            </a:r>
            <a:endParaRPr lang="en-US" sz="2000" dirty="0"/>
          </a:p>
        </p:txBody>
      </p:sp>
      <p:sp>
        <p:nvSpPr>
          <p:cNvPr id="7" name="Text 4"/>
          <p:cNvSpPr/>
          <p:nvPr/>
        </p:nvSpPr>
        <p:spPr>
          <a:xfrm>
            <a:off x="548640" y="2834640"/>
            <a:ext cx="10515600" cy="292608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ALU design: every CPU’s arithmetic logic unit relies on this exact overflow rule.</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Embedded/automotive sensors: a signed overflow in a speed or temperature reading can trigger false alarms or missed faults.</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Famous case: the Ariane 5 rocket failure (1996) traced to an unhandled numeric overflow in flight software.</a:t>
            </a:r>
            <a:endParaRPr lang="en-US" sz="2000" dirty="0"/>
          </a:p>
        </p:txBody>
      </p:sp>
      <p:sp>
        <p:nvSpPr>
          <p:cNvPr id="8" name="Shape 5"/>
          <p:cNvSpPr/>
          <p:nvPr/>
        </p:nvSpPr>
        <p:spPr>
          <a:xfrm>
            <a:off x="0" y="6400800"/>
            <a:ext cx="12191695" cy="457200"/>
          </a:xfrm>
          <a:prstGeom prst="rect">
            <a:avLst/>
          </a:prstGeom>
          <a:solidFill>
            <a:srgbClr val="FFFFFF"/>
          </a:solidFill>
          <a:ln/>
        </p:spPr>
      </p:sp>
      <p:sp>
        <p:nvSpPr>
          <p:cNvPr id="9" name="Text 6"/>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10" name="Text 7"/>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28</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9E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F2A93B"/>
          </a:solidFill>
          <a:ln/>
        </p:spPr>
      </p:sp>
      <p:pic>
        <p:nvPicPr>
          <p:cNvPr id="3" name="Image 0" descr="/home/claude/coa_signed_collab/icons/teacher.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5486400" cy="320040"/>
          </a:xfrm>
          <a:prstGeom prst="rect">
            <a:avLst/>
          </a:prstGeom>
          <a:noFill/>
          <a:ln/>
        </p:spPr>
        <p:txBody>
          <a:bodyPr wrap="square" lIns="0" tIns="0" rIns="0" bIns="0" rtlCol="0" anchor="ctr"/>
          <a:lstStyle/>
          <a:p>
            <a:pPr indent="0" marL="0">
              <a:buNone/>
            </a:pPr>
            <a:r>
              <a:rPr lang="en-US" sz="2000" b="1" spc="100" kern="0" dirty="0">
                <a:solidFill>
                  <a:srgbClr val="F2A93B"/>
                </a:solidFill>
                <a:latin typeface="Calibri" pitchFamily="34" charset="0"/>
                <a:ea typeface="Calibri" pitchFamily="34" charset="-122"/>
                <a:cs typeface="Calibri" pitchFamily="34" charset="-120"/>
              </a:rPr>
              <a:t>COLLABORATIVE TASK</a:t>
            </a:r>
            <a:endParaRPr lang="en-US" sz="2000" dirty="0"/>
          </a:p>
        </p:txBody>
      </p:sp>
      <p:sp>
        <p:nvSpPr>
          <p:cNvPr id="5" name="Text 2"/>
          <p:cNvSpPr/>
          <p:nvPr/>
        </p:nvSpPr>
        <p:spPr>
          <a:xfrm>
            <a:off x="1508760" y="777240"/>
            <a:ext cx="10134295" cy="5486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Peer Teaching — Jigsaw Wrap-Up</a:t>
            </a:r>
            <a:endParaRPr lang="en-US" sz="2600" dirty="0"/>
          </a:p>
        </p:txBody>
      </p:sp>
      <p:sp>
        <p:nvSpPr>
          <p:cNvPr id="6" name="Shape 3"/>
          <p:cNvSpPr/>
          <p:nvPr/>
        </p:nvSpPr>
        <p:spPr>
          <a:xfrm>
            <a:off x="548640" y="1554480"/>
            <a:ext cx="11094415" cy="658368"/>
          </a:xfrm>
          <a:prstGeom prst="roundRect">
            <a:avLst>
              <a:gd name="adj" fmla="val 16667"/>
            </a:avLst>
          </a:prstGeom>
          <a:solidFill>
            <a:srgbClr val="FFFFFF"/>
          </a:solidFill>
          <a:ln/>
          <a:effectLst>
            <a:outerShdw sx="100000" sy="100000" kx="0" ky="0" algn="bl" rotWithShape="0" blurRad="76200" dist="25400" dir="5400000">
              <a:srgbClr val="888888">
                <a:alpha val="18000"/>
              </a:srgbClr>
            </a:outerShdw>
          </a:effectLst>
        </p:spPr>
      </p:sp>
      <p:sp>
        <p:nvSpPr>
          <p:cNvPr id="7" name="Text 4"/>
          <p:cNvSpPr/>
          <p:nvPr/>
        </p:nvSpPr>
        <p:spPr>
          <a:xfrm>
            <a:off x="822960" y="1554480"/>
            <a:ext cx="10545775" cy="658368"/>
          </a:xfrm>
          <a:prstGeom prst="rect">
            <a:avLst/>
          </a:prstGeom>
          <a:noFill/>
          <a:ln/>
        </p:spPr>
        <p:txBody>
          <a:bodyPr wrap="square" lIns="0" tIns="0" rIns="0" bIns="0" rtlCol="0" anchor="ctr"/>
          <a:lstStyle/>
          <a:p>
            <a:pPr indent="0" marL="0">
              <a:buNone/>
            </a:pPr>
            <a:r>
              <a:rPr lang="en-US" sz="2000" b="1" dirty="0">
                <a:solidFill>
                  <a:srgbClr val="065A82"/>
                </a:solidFill>
                <a:latin typeface="Calibri" pitchFamily="34" charset="0"/>
                <a:ea typeface="Calibri" pitchFamily="34" charset="-122"/>
                <a:cs typeface="Calibri" pitchFamily="34" charset="-120"/>
              </a:rPr>
              <a:t>New pairs — one from each side of the room</a:t>
            </a:r>
            <a:endParaRPr lang="en-US" sz="2000" dirty="0"/>
          </a:p>
        </p:txBody>
      </p:sp>
      <p:sp>
        <p:nvSpPr>
          <p:cNvPr id="8" name="Text 5"/>
          <p:cNvSpPr/>
          <p:nvPr/>
        </p:nvSpPr>
        <p:spPr>
          <a:xfrm>
            <a:off x="548640" y="2423160"/>
            <a:ext cx="11094415" cy="822960"/>
          </a:xfrm>
          <a:prstGeom prst="rect">
            <a:avLst/>
          </a:prstGeom>
          <a:noFill/>
          <a:ln/>
        </p:spPr>
        <p:txBody>
          <a:bodyPr wrap="square" lIns="0" tIns="0" rIns="0" bIns="0" rtlCol="0" anchor="ctr"/>
          <a:lstStyle/>
          <a:p>
            <a:pPr indent="0" marL="0">
              <a:lnSpc>
                <a:spcPct val="120000"/>
              </a:lnSpc>
              <a:buNone/>
            </a:pPr>
            <a:r>
              <a:rPr lang="en-US" sz="2000" dirty="0">
                <a:solidFill>
                  <a:srgbClr val="21295C"/>
                </a:solidFill>
                <a:latin typeface="Calibri" pitchFamily="34" charset="0"/>
                <a:ea typeface="Calibri" pitchFamily="34" charset="-122"/>
                <a:cs typeface="Calibri" pitchFamily="34" charset="-120"/>
              </a:rPr>
              <a:t>Pair up with someone you haven’t worked with today. Person 1 teaches “how to detect overflow” from scratch. Person 2 teaches “how 2’s complement subtraction works” from scratch. No notes for the first pass!</a:t>
            </a:r>
            <a:endParaRPr lang="en-US" sz="2000" dirty="0"/>
          </a:p>
        </p:txBody>
      </p:sp>
      <p:sp>
        <p:nvSpPr>
          <p:cNvPr id="9" name="Text 6"/>
          <p:cNvSpPr/>
          <p:nvPr/>
        </p:nvSpPr>
        <p:spPr>
          <a:xfrm>
            <a:off x="548640" y="3246120"/>
            <a:ext cx="10515600" cy="260604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Teach using your own words and a simple example — pretend your partner has never seen this before.</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Listener: ask at least one clarifying question.</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Swap roles, then together write one sentence summarizing why 2’s complement is the industry standard.</a:t>
            </a:r>
            <a:endParaRPr lang="en-US" sz="2000" dirty="0"/>
          </a:p>
        </p:txBody>
      </p:sp>
      <p:sp>
        <p:nvSpPr>
          <p:cNvPr id="10" name="Text 7"/>
          <p:cNvSpPr/>
          <p:nvPr/>
        </p:nvSpPr>
        <p:spPr>
          <a:xfrm>
            <a:off x="548640" y="5870448"/>
            <a:ext cx="5486400" cy="365760"/>
          </a:xfrm>
          <a:prstGeom prst="rect">
            <a:avLst/>
          </a:prstGeom>
          <a:noFill/>
          <a:ln/>
        </p:spPr>
        <p:txBody>
          <a:bodyPr wrap="square" lIns="0" tIns="0" rIns="0" bIns="0" rtlCol="0" anchor="ctr"/>
          <a:lstStyle/>
          <a:p>
            <a:pPr indent="0" marL="0">
              <a:buNone/>
            </a:pPr>
            <a:r>
              <a:rPr lang="en-US" sz="2000" b="1" i="1" dirty="0">
                <a:solidFill>
                  <a:srgbClr val="1C7293"/>
                </a:solidFill>
                <a:latin typeface="Calibri" pitchFamily="34" charset="0"/>
                <a:ea typeface="Calibri" pitchFamily="34" charset="-122"/>
                <a:cs typeface="Calibri" pitchFamily="34" charset="-120"/>
              </a:rPr>
              <a:t>Time: 6 minutes</a:t>
            </a:r>
            <a:endParaRPr lang="en-US" sz="2000" dirty="0"/>
          </a:p>
        </p:txBody>
      </p:sp>
      <p:sp>
        <p:nvSpPr>
          <p:cNvPr id="11" name="Shape 8"/>
          <p:cNvSpPr/>
          <p:nvPr/>
        </p:nvSpPr>
        <p:spPr>
          <a:xfrm>
            <a:off x="0" y="6400800"/>
            <a:ext cx="12191695" cy="457200"/>
          </a:xfrm>
          <a:prstGeom prst="rect">
            <a:avLst/>
          </a:prstGeom>
          <a:solidFill>
            <a:srgbClr val="FFFFFF"/>
          </a:solidFill>
          <a:ln/>
        </p:spPr>
      </p:sp>
      <p:sp>
        <p:nvSpPr>
          <p:cNvPr id="12" name="Text 9"/>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13" name="Text 10"/>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29</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065A82"/>
          </a:solidFill>
          <a:ln/>
        </p:spPr>
      </p:sp>
      <p:pic>
        <p:nvPicPr>
          <p:cNvPr id="3" name="Image 0" descr="/home/claude/coa_signed_collab/icons/clipboard.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Summary of Key Points</a:t>
            </a:r>
            <a:endParaRPr lang="en-US" sz="3000" dirty="0"/>
          </a:p>
        </p:txBody>
      </p:sp>
      <p:sp>
        <p:nvSpPr>
          <p:cNvPr id="5" name="Text 2"/>
          <p:cNvSpPr/>
          <p:nvPr/>
        </p:nvSpPr>
        <p:spPr>
          <a:xfrm>
            <a:off x="548640" y="1508760"/>
            <a:ext cx="10515600" cy="457200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Three representations exist: sign-magnitude, 1’s complement, 2’s complement — modern hardware uses 2’s complement.</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n-bit 2’s complement range: −2ⁿ⁻¹ to +2ⁿ⁻¹ − 1, with a single representation of zero.</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Addition is uniform for all signs; the carry-out of the MSB is simply discarded.</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Overflow is detected by comparing the carry into and out of the sign bit — and can only happen for same-sign operands.</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Subtraction reuses the adder: A − B = A + (2’s complement of B).</a:t>
            </a:r>
            <a:endParaRPr lang="en-US" sz="2000" dirty="0"/>
          </a:p>
        </p:txBody>
      </p:sp>
      <p:sp>
        <p:nvSpPr>
          <p:cNvPr id="6" name="Shape 3"/>
          <p:cNvSpPr/>
          <p:nvPr/>
        </p:nvSpPr>
        <p:spPr>
          <a:xfrm>
            <a:off x="0" y="6400800"/>
            <a:ext cx="12191695" cy="457200"/>
          </a:xfrm>
          <a:prstGeom prst="rect">
            <a:avLst/>
          </a:prstGeom>
          <a:solidFill>
            <a:srgbClr val="FFFFFF"/>
          </a:solidFill>
          <a:ln/>
        </p:spPr>
      </p:sp>
      <p:sp>
        <p:nvSpPr>
          <p:cNvPr id="7" name="Text 4"/>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8" name="Text 5"/>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30</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F2A93B"/>
          </a:solidFill>
          <a:ln/>
        </p:spPr>
      </p:sp>
      <p:pic>
        <p:nvPicPr>
          <p:cNvPr id="3" name="Image 0" descr="/home/claude/coa_signed_collab/icons/question.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Quiz — Check Your Understanding</a:t>
            </a:r>
            <a:endParaRPr lang="en-US" sz="3000" dirty="0"/>
          </a:p>
        </p:txBody>
      </p:sp>
      <p:sp>
        <p:nvSpPr>
          <p:cNvPr id="5" name="Text 2"/>
          <p:cNvSpPr/>
          <p:nvPr/>
        </p:nvSpPr>
        <p:spPr>
          <a:xfrm>
            <a:off x="548640" y="1508760"/>
            <a:ext cx="10515600" cy="457200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Q1. Convert −13 to 5-bit 2’s complement.</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Q2. True or False: Overflow can occur when adding +8 and −3.</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Q3. What is the range of a signed 8-bit number?</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Q4. Compute (4-bit): 0100 + 1011. State the decimal result.</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Q5. Which representation has only one pattern for zero?</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Q6. Compute +6 − 9 using 2’s complement addition (5-bit).</a:t>
            </a:r>
            <a:endParaRPr lang="en-US" sz="2000" dirty="0"/>
          </a:p>
        </p:txBody>
      </p:sp>
      <p:sp>
        <p:nvSpPr>
          <p:cNvPr id="6" name="Text 3"/>
          <p:cNvSpPr/>
          <p:nvPr/>
        </p:nvSpPr>
        <p:spPr>
          <a:xfrm>
            <a:off x="548640" y="5943600"/>
            <a:ext cx="10515600" cy="548640"/>
          </a:xfrm>
          <a:prstGeom prst="rect">
            <a:avLst/>
          </a:prstGeom>
          <a:noFill/>
          <a:ln/>
        </p:spPr>
        <p:txBody>
          <a:bodyPr wrap="square" lIns="0" tIns="0" rIns="0" bIns="0" rtlCol="0" anchor="ctr"/>
          <a:lstStyle/>
          <a:p>
            <a:pPr indent="0" marL="0">
              <a:buNone/>
            </a:pPr>
            <a:r>
              <a:rPr lang="en-US" sz="2000" i="1" dirty="0">
                <a:solidFill>
                  <a:srgbClr val="1C7293"/>
                </a:solidFill>
                <a:latin typeface="Calibri" pitchFamily="34" charset="0"/>
                <a:ea typeface="Calibri" pitchFamily="34" charset="-122"/>
                <a:cs typeface="Calibri" pitchFamily="34" charset="-120"/>
              </a:rPr>
              <a:t>Work individually, 4 minutes — then compare with your neighbor before we reveal answers.</a:t>
            </a:r>
            <a:endParaRPr lang="en-US" sz="2000" dirty="0"/>
          </a:p>
        </p:txBody>
      </p:sp>
      <p:sp>
        <p:nvSpPr>
          <p:cNvPr id="7" name="Shape 4"/>
          <p:cNvSpPr/>
          <p:nvPr/>
        </p:nvSpPr>
        <p:spPr>
          <a:xfrm>
            <a:off x="0" y="6400800"/>
            <a:ext cx="12191695" cy="457200"/>
          </a:xfrm>
          <a:prstGeom prst="rect">
            <a:avLst/>
          </a:prstGeom>
          <a:solidFill>
            <a:srgbClr val="FFFFFF"/>
          </a:solidFill>
          <a:ln/>
        </p:spPr>
      </p:sp>
      <p:sp>
        <p:nvSpPr>
          <p:cNvPr id="8" name="Text 5"/>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9" name="Text 6"/>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31</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2C8C5A"/>
          </a:solidFill>
          <a:ln/>
        </p:spPr>
      </p:sp>
      <p:pic>
        <p:nvPicPr>
          <p:cNvPr id="3" name="Image 0" descr="/home/claude/coa_signed_collab/icons/check.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Quiz Answers</a:t>
            </a:r>
            <a:endParaRPr lang="en-US" sz="3000" dirty="0"/>
          </a:p>
        </p:txBody>
      </p:sp>
      <p:sp>
        <p:nvSpPr>
          <p:cNvPr id="5" name="Text 2"/>
          <p:cNvSpPr/>
          <p:nvPr/>
        </p:nvSpPr>
        <p:spPr>
          <a:xfrm>
            <a:off x="548640" y="1508760"/>
            <a:ext cx="10515600" cy="457200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A1. 10011 (13 = 01101 → flip → 10010 → +1 → 10011).</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A2. False — opposite-sign addition can never overflow.</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A3. −128 to +127 (256 total values).</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A4. 0100+1011 = 1111 = −1 (no overflow: carries into/out of sign bit match).</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A5. 2’s complement.</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A6. +6 − 9 = 00110 + (2’s complement of 01001 = 10111) = 11101 = −3.</a:t>
            </a:r>
            <a:endParaRPr lang="en-US" sz="2000" dirty="0"/>
          </a:p>
        </p:txBody>
      </p:sp>
      <p:sp>
        <p:nvSpPr>
          <p:cNvPr id="6" name="Shape 3"/>
          <p:cNvSpPr/>
          <p:nvPr/>
        </p:nvSpPr>
        <p:spPr>
          <a:xfrm>
            <a:off x="0" y="6400800"/>
            <a:ext cx="12191695" cy="457200"/>
          </a:xfrm>
          <a:prstGeom prst="rect">
            <a:avLst/>
          </a:prstGeom>
          <a:solidFill>
            <a:srgbClr val="FFFFFF"/>
          </a:solidFill>
          <a:ln/>
        </p:spPr>
      </p:sp>
      <p:sp>
        <p:nvSpPr>
          <p:cNvPr id="7" name="Text 4"/>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8" name="Text 5"/>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32</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F2A93B"/>
          </a:solidFill>
          <a:ln/>
        </p:spPr>
      </p:sp>
      <p:pic>
        <p:nvPicPr>
          <p:cNvPr id="3" name="Image 0" descr="/home/claude/coa_signed_collab/icons/lightbulb.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Exit Ticket: Reflection</a:t>
            </a:r>
            <a:endParaRPr lang="en-US" sz="3000" dirty="0"/>
          </a:p>
        </p:txBody>
      </p:sp>
      <p:sp>
        <p:nvSpPr>
          <p:cNvPr id="5" name="Shape 2"/>
          <p:cNvSpPr/>
          <p:nvPr/>
        </p:nvSpPr>
        <p:spPr>
          <a:xfrm>
            <a:off x="548640" y="1645920"/>
            <a:ext cx="11094415" cy="3291840"/>
          </a:xfrm>
          <a:prstGeom prst="roundRect">
            <a:avLst>
              <a:gd name="adj" fmla="val 3333"/>
            </a:avLst>
          </a:prstGeom>
          <a:solidFill>
            <a:srgbClr val="FFF4DF"/>
          </a:solidFill>
          <a:ln/>
          <a:effectLst>
            <a:outerShdw sx="100000" sy="100000" kx="0" ky="0" algn="bl" rotWithShape="0" blurRad="76200" dist="25400" dir="5400000">
              <a:srgbClr val="888888">
                <a:alpha val="18000"/>
              </a:srgbClr>
            </a:outerShdw>
          </a:effectLst>
        </p:spPr>
      </p:sp>
      <p:sp>
        <p:nvSpPr>
          <p:cNvPr id="6" name="Text 3"/>
          <p:cNvSpPr/>
          <p:nvPr/>
        </p:nvSpPr>
        <p:spPr>
          <a:xfrm>
            <a:off x="914400" y="1920240"/>
            <a:ext cx="10058400" cy="274320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On a sticky note, before you leave, write:</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1) One thing you can now explain confidently.</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2) One thing that still feels shaky.</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3) One question you’d ask a classmate to help you check your understanding next class.</a:t>
            </a:r>
            <a:endParaRPr lang="en-US" sz="2000" dirty="0"/>
          </a:p>
        </p:txBody>
      </p:sp>
      <p:sp>
        <p:nvSpPr>
          <p:cNvPr id="7" name="Text 4"/>
          <p:cNvSpPr/>
          <p:nvPr/>
        </p:nvSpPr>
        <p:spPr>
          <a:xfrm>
            <a:off x="548640" y="5212080"/>
            <a:ext cx="10515600" cy="731520"/>
          </a:xfrm>
          <a:prstGeom prst="rect">
            <a:avLst/>
          </a:prstGeom>
          <a:noFill/>
          <a:ln/>
        </p:spPr>
        <p:txBody>
          <a:bodyPr wrap="square" lIns="0" tIns="0" rIns="0" bIns="0" rtlCol="0" anchor="ctr"/>
          <a:lstStyle/>
          <a:p>
            <a:pPr indent="0" marL="0">
              <a:buNone/>
            </a:pPr>
            <a:r>
              <a:rPr lang="en-US" sz="2000" i="1" dirty="0">
                <a:solidFill>
                  <a:srgbClr val="1C7293"/>
                </a:solidFill>
                <a:latin typeface="Calibri" pitchFamily="34" charset="0"/>
                <a:ea typeface="Calibri" pitchFamily="34" charset="-122"/>
                <a:cs typeface="Calibri" pitchFamily="34" charset="-120"/>
              </a:rPr>
              <a:t>Hand your sticky note to a partner — they keep it and check in with you next session.</a:t>
            </a:r>
            <a:endParaRPr lang="en-US" sz="2000" dirty="0"/>
          </a:p>
        </p:txBody>
      </p:sp>
      <p:sp>
        <p:nvSpPr>
          <p:cNvPr id="8" name="Shape 5"/>
          <p:cNvSpPr/>
          <p:nvPr/>
        </p:nvSpPr>
        <p:spPr>
          <a:xfrm>
            <a:off x="0" y="6400800"/>
            <a:ext cx="12191695" cy="457200"/>
          </a:xfrm>
          <a:prstGeom prst="rect">
            <a:avLst/>
          </a:prstGeom>
          <a:solidFill>
            <a:srgbClr val="FFFFFF"/>
          </a:solidFill>
          <a:ln/>
        </p:spPr>
      </p:sp>
      <p:sp>
        <p:nvSpPr>
          <p:cNvPr id="9" name="Text 6"/>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10" name="Text 7"/>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33</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065A82"/>
          </a:solidFill>
          <a:ln/>
        </p:spPr>
      </p:sp>
      <p:pic>
        <p:nvPicPr>
          <p:cNvPr id="3" name="Image 0" descr="/home/claude/coa_signed_collab/icons/book.png">    </p:cNvPr>
          <p:cNvPicPr>
            <a:picLocks noChangeAspect="1"/>
          </p:cNvPicPr>
          <p:nvPr/>
        </p:nvPicPr>
        <p:blipFill>
          <a:blip r:embed="rId1"/>
          <a:stretch>
            <a:fillRect/>
          </a:stretch>
        </p:blipFill>
        <p:spPr>
          <a:xfrm>
            <a:off x="719633" y="628193"/>
            <a:ext cx="435254" cy="435254"/>
          </a:xfrm>
          <a:prstGeom prst="rect">
            <a:avLst/>
          </a:prstGeom>
        </p:spPr>
      </p:pic>
      <p:sp>
        <p:nvSpPr>
          <p:cNvPr id="4" name="Text 1"/>
          <p:cNvSpPr/>
          <p:nvPr/>
        </p:nvSpPr>
        <p:spPr>
          <a:xfrm>
            <a:off x="1508760" y="457200"/>
            <a:ext cx="10134295"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Further Reading &amp; Group Assignment</a:t>
            </a:r>
            <a:endParaRPr lang="en-US" sz="3000" dirty="0"/>
          </a:p>
        </p:txBody>
      </p:sp>
      <p:sp>
        <p:nvSpPr>
          <p:cNvPr id="5" name="Text 2"/>
          <p:cNvSpPr/>
          <p:nvPr/>
        </p:nvSpPr>
        <p:spPr>
          <a:xfrm>
            <a:off x="548640" y="1508760"/>
            <a:ext cx="10515600" cy="4572000"/>
          </a:xfrm>
          <a:prstGeom prst="rect">
            <a:avLst/>
          </a:prstGeom>
          <a:noFill/>
          <a:ln/>
        </p:spPr>
        <p:txBody>
          <a:bodyPr wrap="square" lIns="0" tIns="0" rIns="0" bIns="0" rtlCol="0" anchor="t"/>
          <a:lstStyle/>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Read: Carl Hamacher, “Computer Organization and Embedded Systems,” chapter on arithmetic and logic operations.</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Read: Patterson &amp; Hennessy, “Computer Organization and Design,” arithmetic-for-computers chapter.</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GROUP ASSIGNMENT (submit as a team of 3): design an 8-bit adder-subtractor block diagram, including the overflow-detection logic, and be ready to present it next class.</a:t>
            </a:r>
            <a:endParaRPr lang="en-US" sz="2000" dirty="0"/>
          </a:p>
          <a:p>
            <a:pPr marL="279400" indent="-279400">
              <a:lnSpc>
                <a:spcPct val="115000"/>
              </a:lnSpc>
              <a:spcAft>
                <a:spcPts val="1400"/>
              </a:spcAft>
              <a:buSzPct val="100000"/>
              <a:buChar char="➔"/>
            </a:pPr>
            <a:r>
              <a:rPr lang="en-US" sz="2000" dirty="0">
                <a:solidFill>
                  <a:srgbClr val="21295C"/>
                </a:solidFill>
                <a:latin typeface="Calibri" pitchFamily="34" charset="0"/>
                <a:ea typeface="Calibri" pitchFamily="34" charset="-122"/>
                <a:cs typeface="Calibri" pitchFamily="34" charset="-120"/>
              </a:rPr>
              <a:t>Bring your sticky-note question from today’s exit ticket to compare with your teammates.</a:t>
            </a:r>
            <a:endParaRPr lang="en-US" sz="2000" dirty="0"/>
          </a:p>
        </p:txBody>
      </p:sp>
      <p:sp>
        <p:nvSpPr>
          <p:cNvPr id="6" name="Shape 3"/>
          <p:cNvSpPr/>
          <p:nvPr/>
        </p:nvSpPr>
        <p:spPr>
          <a:xfrm>
            <a:off x="0" y="6400800"/>
            <a:ext cx="12191695" cy="457200"/>
          </a:xfrm>
          <a:prstGeom prst="rect">
            <a:avLst/>
          </a:prstGeom>
          <a:solidFill>
            <a:srgbClr val="FFFFFF"/>
          </a:solidFill>
          <a:ln/>
        </p:spPr>
      </p:sp>
      <p:sp>
        <p:nvSpPr>
          <p:cNvPr id="7" name="Text 4"/>
          <p:cNvSpPr/>
          <p:nvPr/>
        </p:nvSpPr>
        <p:spPr>
          <a:xfrm>
            <a:off x="548640" y="6437376"/>
            <a:ext cx="5943600" cy="365760"/>
          </a:xfrm>
          <a:prstGeom prst="rect">
            <a:avLst/>
          </a:prstGeom>
          <a:noFill/>
          <a:ln/>
        </p:spPr>
        <p:txBody>
          <a:bodyPr wrap="square" lIns="0" tIns="0" rIns="0" bIns="0" rtlCol="0" anchor="ctr"/>
          <a:lstStyle/>
          <a:p>
            <a:pPr algn="l" indent="0" marL="0">
              <a:buNone/>
            </a:pPr>
            <a:r>
              <a:rPr lang="en-US" sz="2000" dirty="0">
                <a:solidFill>
                  <a:srgbClr val="8A8FA3"/>
                </a:solidFill>
                <a:latin typeface="Calibri" pitchFamily="34" charset="0"/>
                <a:ea typeface="Calibri" pitchFamily="34" charset="-122"/>
                <a:cs typeface="Calibri" pitchFamily="34" charset="-120"/>
              </a:rPr>
              <a:t>Presidency University  |  CSS2257</a:t>
            </a:r>
            <a:endParaRPr lang="en-US" sz="2000" dirty="0"/>
          </a:p>
        </p:txBody>
      </p:sp>
      <p:sp>
        <p:nvSpPr>
          <p:cNvPr id="8" name="Text 5"/>
          <p:cNvSpPr/>
          <p:nvPr/>
        </p:nvSpPr>
        <p:spPr>
          <a:xfrm>
            <a:off x="11094415" y="6437376"/>
            <a:ext cx="548640" cy="365760"/>
          </a:xfrm>
          <a:prstGeom prst="rect">
            <a:avLst/>
          </a:prstGeom>
          <a:noFill/>
          <a:ln/>
        </p:spPr>
        <p:txBody>
          <a:bodyPr wrap="square" lIns="0" tIns="0" rIns="0" bIns="0" rtlCol="0" anchor="ctr"/>
          <a:lstStyle/>
          <a:p>
            <a:pPr algn="r" indent="0" marL="0">
              <a:buNone/>
            </a:pPr>
            <a:r>
              <a:rPr lang="en-US" sz="2000" dirty="0">
                <a:solidFill>
                  <a:srgbClr val="8A8FA3"/>
                </a:solidFill>
                <a:latin typeface="Calibri" pitchFamily="34" charset="0"/>
                <a:ea typeface="Calibri" pitchFamily="34" charset="-122"/>
                <a:cs typeface="Calibri" pitchFamily="34" charset="-120"/>
              </a:rPr>
              <a:t>34</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2026-08-19T07:34:07Z</dcterms:created>
  <dcterms:modified xsi:type="dcterms:W3CDTF">2026-08-19T07:34:07Z</dcterms:modified>
</cp:coreProperties>
</file>