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eb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6.png"/><Relationship Id="rId12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5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2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675" y="428625"/>
            <a:ext cx="24955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598640"/>
            <a:ext cx="127635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4598640"/>
            <a:ext cx="1485900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225" y="4598640"/>
            <a:ext cx="1228725" cy="733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7200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UNIVERSITY, BENGALURU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2526059"/>
            <a:ext cx="950118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Outfit"/>
              </a:rPr>
              <a:t>Computer Organization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3931890"/>
            <a:ext cx="6229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Session 1: Course Orientation &amp; Comprehensive Blueprint Introduction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068859"/>
            <a:ext cx="8763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6375" y="2068859"/>
            <a:ext cx="1409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75" y="2068859"/>
            <a:ext cx="17526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722465"/>
            <a:ext cx="876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ExtraBold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55840"/>
            <a:ext cx="876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Class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4722465"/>
            <a:ext cx="10858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Extra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5055840"/>
            <a:ext cx="1085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Course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250" y="4722465"/>
            <a:ext cx="8286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Extra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250" y="5055840"/>
            <a:ext cx="828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Core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428625"/>
            <a:ext cx="16383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0" y="294798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24125" y="1693068"/>
            <a:ext cx="698931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FFFFFF"/>
                </a:solidFill>
                <a:latin typeface="Outfit"/>
              </a:rPr>
              <a:t>Course Blueprint &amp;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6905" y="3443286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Bridging Digital Electronics with Modern Machine Intelligence, Hardware Security, and High-Performance Processor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6000"/>
            <a:ext cx="54387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952750"/>
            <a:ext cx="5438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Connecting Computer Architecture to Your Discipline: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29565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295650"/>
            <a:ext cx="5248275" cy="6858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Cyber Security (CCS):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Understand hardware vulnerability vectors like Spectre, Meltdown, cache side-channels, and execution protection states.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409575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409575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AI &amp; Data Science (CAI, CSD, CBD):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Unlock GPU/TPU matrix acceleration, parallel pipelining, and memory bandwidth optimization.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66725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66725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Block Chain &amp; DevOps (CBC, CDV, CIT):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Master low-level register transfer operations, memory layout efficiency, and I/O bus throughput.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295525"/>
            <a:ext cx="5419725" cy="3600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Why Architecture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450" y="428625"/>
            <a:ext cx="12477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33687"/>
            <a:ext cx="361310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75" y="2833687"/>
            <a:ext cx="3613100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833687"/>
            <a:ext cx="3613100" cy="2524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7181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3757612"/>
            <a:ext cx="122799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Prerequisite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CSE2015 Digital Electronics: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Fundamental knowledge of binary arithmetic, logic gates, flip-flops, multiplexers, and combinational circuits.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307181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7500" y="3757612"/>
            <a:ext cx="136334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Contact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500" y="4064609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45 Total Sessions: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3 lecture hours per week (Credit structure 3-0-0-3). Regular attendance and LMS engagement mandatory.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3071812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31100" y="3757612"/>
            <a:ext cx="155145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Classroom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1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Scientific Calculator: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Essential for step-by-step arithmetic operations, Booth's multiplication, and floating-point computations.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3186112"/>
            <a:ext cx="2667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1800" y="3186112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3500" y="3186112"/>
            <a:ext cx="2286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Course Structure &amp; Prerequisites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5" y="428625"/>
            <a:ext cx="1219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707481"/>
            <a:ext cx="11220450" cy="277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2717006"/>
          <a:ext cx="11201398" cy="2757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080"/>
                <a:gridCol w="7280820"/>
                <a:gridCol w="2800498"/>
              </a:tblGrid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CO 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Course Outcome Statement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Bloom's Taxonomy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Describe fundamental components of a computer system and their interconnections.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Understand [L2]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Discuss concepts of Instruction Set Architecture (ISA) and memory organization.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Understand [L2]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Apply techniques to perform arithmetic and logical operations in computer systems.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Apply [L3]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Explain organization and functioning of processor and memory subsystems.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Understand [L2]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Interpret security mechanisms and AI/ML techniques in enhancing system reliability.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Apply [L3]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5300" y="3207543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5380" y="3207543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96201" y="3207543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5300" y="3659981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15380" y="3659981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96201" y="3659981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5300" y="4112418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15380" y="4112418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96201" y="4112418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5300" y="4564856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15380" y="4564856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96201" y="4564856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5300" y="5017293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15380" y="5017293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6201" y="5017293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Course Outcomes (CO1 - CO5)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5" y="428625"/>
            <a:ext cx="14478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548062"/>
            <a:ext cx="2580679" cy="1952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599" y="3548062"/>
            <a:ext cx="2580679" cy="1952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423" y="3548062"/>
            <a:ext cx="2580679" cy="1952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247" y="3548062"/>
            <a:ext cx="2580679" cy="1952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5775" y="4267200"/>
            <a:ext cx="1122045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52156"/>
            <a:ext cx="218062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Basic Structures (12 Sessions)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Functional Units, Bus Structures, RISC vs CISC, Performance Equation.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5624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5624" y="4570905"/>
            <a:ext cx="218062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ISA &amp; Memory (12 Sessions)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Addressing Modes, Stacks, Subroutines, RAM/ROM, Cache Mapping.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5448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5448" y="4043362"/>
            <a:ext cx="218062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Arithmetic &amp; I/O (10 Sessions)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Booth Multiplier, Restoring Division, Interrupts, DMA Controllers.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5272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5272" y="4043362"/>
            <a:ext cx="218062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BPU, Security &amp; AI (11 Sessions)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Control Sequences, Pipelining, Memory Security, AI Accelerators.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Course Delivery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680864" y="436758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60689" y="43763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40513" y="4429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20337" y="43324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428625"/>
            <a:ext cx="1343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167062"/>
            <a:ext cx="5438775" cy="1857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3274218"/>
            <a:ext cx="5438775" cy="1643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383678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3443287"/>
            <a:ext cx="513064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Modules 1 &amp; 2: Core Hardware &amp; 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76662"/>
            <a:ext cx="4886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Focuses on fundamental computer components, bus communication, RISC vs CISC performance metrics, instruction formats, assembly level addressing modes, memory hierarchies, and multi-level cache mapping techniques.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550443"/>
            <a:ext cx="513064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Modules 3 &amp; 4: Computing Units &amp; AI/Security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883818"/>
            <a:ext cx="48863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Covers hardware multiplication and division algorithms, I/O handling via DMA and interrupts, CPU control unit sequencing, instruction pipelining, memory protection schemes, and AI accelerators (GPUs/TPUs).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3753" y="971550"/>
            <a:ext cx="1120824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Syllabus Core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1933575"/>
            <a:ext cx="49720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MODULE 1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2238375"/>
            <a:ext cx="549068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Outfit"/>
              </a:rPr>
              <a:t>Basic Structure of Computers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5" y="1916906"/>
            <a:ext cx="6086475" cy="3043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952625"/>
            <a:ext cx="180975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2771775"/>
            <a:ext cx="5229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12 Classroom Sessions (Target CO: CO1 [L2])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31146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114675"/>
            <a:ext cx="50387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Functional Units: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Input, Memory, ALU, Output, and Control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33432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343275"/>
            <a:ext cx="50387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Bus Structures &amp; Operation: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Processor-memory communication and data transfer.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38004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800475"/>
            <a:ext cx="50387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RISC vs CISC Architectures: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Instruction set design philosophies.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40290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4029075"/>
            <a:ext cx="50387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Processor Performance Equation: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$T = \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frac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{N \times S}{R}$, clock rate, and execution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44862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4486275"/>
            <a:ext cx="50387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Signed Numbers Arithmetic: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Addition, subtraction, and memory instruction formats.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6000"/>
            <a:ext cx="54387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8367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895600"/>
            <a:ext cx="5438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12 Classroom Sessions (Target CO: CO2 [L2])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2385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2385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Instruction Set Architecture (ISA):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Addressing modes (Direct, Indirect, Index, Relative, Auto-Increment).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8100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810000"/>
            <a:ext cx="524827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Stacks &amp; Subroutines: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Stack frame management and nesting routines.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1529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1529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Main Memory Organization: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Semiconductor RAM (SRAM/DRAM) &amp; ROM chips.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47244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7244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Cache Memory System: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Locality of reference, Direct Mapping, Associative, and Set-Associative mapping.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84" y="2295525"/>
            <a:ext cx="4542106" cy="3600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3753" y="971550"/>
            <a:ext cx="1120824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Module 2: ISA &amp; Memory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33687"/>
            <a:ext cx="361310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75" y="2833687"/>
            <a:ext cx="3613100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833687"/>
            <a:ext cx="3613100" cy="2524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250328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7181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3757612"/>
            <a:ext cx="188429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Outfit"/>
              </a:rPr>
              <a:t>Hardware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10 Sessions (CO3 [L3]):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Carry-Lookahead Adders, Booth's Signed Multiplication Algorithm, Restoring Division, IEEE Floating-Point arithmetic.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307181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7500" y="3757612"/>
            <a:ext cx="193484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I/O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5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Program-Controlled I/O, Interrupt Hardware mechanisms, interrupt disabling/enabling, and priority handling across multiple peripheral devices.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3071812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31100" y="3757612"/>
            <a:ext cx="230759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DMA &amp; Bus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1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Direct Memory Access (DMA) controllers, bus arbitration, synchronous vs asynchronous bus protocols, and parallel/serial interface circuits.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186112"/>
            <a:ext cx="2286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9900" y="3186112"/>
            <a:ext cx="2286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4450" y="3186112"/>
            <a:ext cx="2667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0403" y="971550"/>
            <a:ext cx="1134159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Module 3: Arithmetic &amp; I/O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6000"/>
            <a:ext cx="54387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781300"/>
            <a:ext cx="5438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11 Classroom Sessions (Target CO: CO4 [L2] &amp; CO5 [L3])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1242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1242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Basic Processing Unit: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Control sequence, Single vs Multiple bus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6957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6957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Pipelining &amp; Hazards: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Arithmetic &amp; instruction pipelines, structural, data, and control hazards.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2672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2672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Hardware Security: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CIA Triad, cache memory security protection, and side-channel mitigation.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48387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8387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AI Compute Architectures: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Domain accelerators (GPUs, TPUs, NPUs) and ML workload scheduling.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295525"/>
            <a:ext cx="5419725" cy="3600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Module 4: BPU, Security &amp;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450" y="428625"/>
            <a:ext cx="12477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707481"/>
            <a:ext cx="11220450" cy="277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8367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2717006"/>
          <a:ext cx="11201398" cy="2757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030"/>
                <a:gridCol w="3120330"/>
                <a:gridCol w="1268015"/>
                <a:gridCol w="1367432"/>
                <a:gridCol w="1442591"/>
              </a:tblGrid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Assessment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Syllabus Coverage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Weightage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Continuous Assessment 1 (Test)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15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Midterm Examination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Modules 1 &amp;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90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50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Continuous Assessment 2 (Test)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15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Continuous Assessment 3 (Quiz/Assign)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95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End Term Examination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Comprehensive (Modules 1-4)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180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100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5300" y="3207543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98330" y="3207543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8660" y="3207543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86676" y="3207543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54108" y="3207543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5300" y="3659981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8330" y="3659981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18660" y="3659981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86676" y="3659981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54108" y="3659981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5300" y="4112418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98330" y="4112418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18660" y="4112418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86676" y="4112418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54108" y="4112418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5300" y="4564856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98330" y="4564856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18660" y="4564856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86676" y="4564856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254108" y="4564856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5300" y="5017293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98330" y="5017293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18660" y="5017293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86676" y="5017293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54108" y="5017293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3753" y="971550"/>
            <a:ext cx="1120824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Continuous Assessment Scheme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5" y="428625"/>
            <a:ext cx="14478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33687"/>
            <a:ext cx="5514975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833687"/>
            <a:ext cx="5514975" cy="2524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297953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7181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3757612"/>
            <a:ext cx="23622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Primary Textbooks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90987"/>
            <a:ext cx="5038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1.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Carl </a:t>
            </a:r>
            <a:r>
              <a:rPr sz="1200" b="1" i="0" u="none" dirty="0" err="1">
                <a:solidFill>
                  <a:srgbClr val="CBD5E1"/>
                </a:solidFill>
                <a:latin typeface="Plus Jakarta Sans"/>
              </a:rPr>
              <a:t>Hamacher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 et al.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1" u="none" dirty="0">
                <a:solidFill>
                  <a:srgbClr val="CBD5E1"/>
                </a:solidFill>
                <a:latin typeface="Plus Jakarta Sans"/>
              </a:rPr>
              <a:t>Computer Organization &amp; Embedded Systems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(6th Ed, McGraw-Hill).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2.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William Stallings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1" u="none" dirty="0">
                <a:solidFill>
                  <a:srgbClr val="CBD5E1"/>
                </a:solidFill>
                <a:latin typeface="Plus Jakarta Sans"/>
              </a:rPr>
              <a:t>Computer Organization &amp; Architecture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(11th Ed, Pearson).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307181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29375" y="3757612"/>
            <a:ext cx="215191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Special Pedagogies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4090987"/>
            <a:ext cx="5038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Collaborative Learning: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Signed Arithmetic.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Flipped Classroom: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Carry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Lookahead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Adders.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Blended Video Learning: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Instruction Pipelining (NPTEL IIT Kharagpur/Madras).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3186112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3186112"/>
            <a:ext cx="3810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8028" y="971550"/>
            <a:ext cx="112939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Textbooks &amp; Special Pedagogies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825" y="428625"/>
            <a:ext cx="12954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2250" y="2825055"/>
            <a:ext cx="66675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F1F5F9"/>
                </a:solidFill>
                <a:latin typeface="Outfit Medium"/>
              </a:rPr>
              <a:t>"The best way to predict the future is to invent it."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5350" y="3480345"/>
            <a:ext cx="2781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— Alan Kay, Turing Award Laureate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5512" y="3985170"/>
            <a:ext cx="7800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FFFFF"/>
                </a:solidFill>
                <a:latin typeface="Outfit"/>
              </a:rPr>
              <a:t>Welcome to CSS2257!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1250" y="4509045"/>
            <a:ext cx="7429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Questions &amp; Open Discussion | Presidency Linways Portal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932</Words>
  <Application>Microsoft Office PowerPoint</Application>
  <PresentationFormat>Widescreen</PresentationFormat>
  <Paragraphs>151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Outfit</vt:lpstr>
      <vt:lpstr>Outfit ExtraBold</vt:lpstr>
      <vt:lpstr>Outfit Medium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2026-08-04T18:01:33Z</dcterms:modified>
  <cp:category/>
</cp:coreProperties>
</file>