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 we open up a memory chip and look inside: how an address picks one word, and how many bits come out. We compare two chips with the same number of words but different word widths. Take 1 minute to set expectations: by the end, everyone should be able to draw both chips.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four outcomes aloud. Stress that we will move from definitions to a diagram to a small design problem. Tell students the quiz at the end mirrors these four outcomes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as a show of hands, 3 minutes total. Take two or three quick answers per question. Q1: a phone with 8 GB has billions of tiny storage cells. Q2: the address is like a house number. Use their answers to lead into 'how does a chip find one word among many?'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bit stores 0 or 1. A word is a group of bits that is read or written together. Example: a chip with 16 words of 8 bits holds 16 × 8 = 128 bits. Ask: what would 16 words of 4 bits hold? Let them answer 64 bits before you reveal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n address lines we can name 2 to the power n words. Sixteen words need 4 lines because 2 to the 4 is 16. Both of our chips have 16 words, so both use A3 to A0. Check understanding: how many lines for 1024 words? 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4-bit address enters the decoder, which raises exactly one of 16 word lines. Each word line selects a row of 8 cells. Below the array, 8 sense/write circuits connect the 8 columns to the data lines D7 to D0. R/W and CS control the operation. Animation: fade in address, decoder, word lines, array, then sense/write.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decoder, same 16 word lines, but each row now has only 4 cells. So the array is half as wide and only 4 sense/write circuits are needed. Ask students what changed: data lines drop from 8 to 4, storage drops from 128 to 64 bits. Address lines stay at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across each row. Only the width-dependent items change: bits per word, data lines, cells, sense/write circuits and pin count. Words and address lines stay the same. This is the key insight of the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read: address 0101 arrives, the decoder raises W5, the 8 cells in row 5 drive their bit lines, the sense circuits detect them, and the 8 bits appear on D7 to D0. For a write, the sense/write circuits drive the bit lines instead and the row stores the new values. Animation: highlight each box as you speak.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DRAM chips are sold in x4, x8 and x16 widths, which is exactly the 'bits per word' idea. A memory module puts several chips side by side so their data lines together form a 64-bit bus. Register files and caches use the same decoder plus array structure on-chip.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Width expansion. Both chips get the same address, CS and R/W, so they select the same row together. Chip 1 supplies the upper four data bits and chip 2 the lower four. Together they behave as one 16 by 8 memory. Ask: how many address lines? Still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1: total bits 64 times 8 is 512; each chip holds 64, so 8 chips. Step 2: width 8 divided by 4 gives 2 chips per row. Step 3: depth 64 divided by 16 gives 4 rows. Step 4: 64 words need 6 address lines; A3 to A0 go to every chip, A5 and A4 feed a 2-to-4 decoder that drives the chip selects of the 4 rows. Walk slowly and let students compute each step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in one minute. Words fix the address lines; bits per word fix the data lines, the sense/write count and the pin count. Chips combine in width for wider words and in depth for more words. Tell students the quiz is next and is for self-check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3 minutes, individually or with a neighbour. Q1 to Q3 test capacity and lines, Q4 tests the key misconception, Q5 links to the diagram, Q6 needs width and depth reasoning. Say clearly this is a self-check, not graded. Animation: reveal questions one by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each answer briefly. For Q4, restate that address lines depend only on the number of words. For Q6, show the width step (16 × 4 twice for 8 bits) and the depth step (two rows for 32 words). Ask students to note anything tricky for revision. Animation: reveal answers one by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 | CSS2257 | Computer Organization and Architecture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Organization of 16 × 8 and 16 × 4 Memory Chips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Organization and Architecture | CSS2257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Artificial Intelligence and Advanced Computing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AI &amp; Robotics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120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Manoj Sagar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9052560" y="1463040"/>
            <a:ext cx="50292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92640" y="1463040"/>
            <a:ext cx="502920" cy="502920"/>
          </a:xfrm>
          <a:prstGeom prst="rect">
            <a:avLst/>
          </a:prstGeom>
          <a:solidFill>
            <a:srgbClr val="E8B92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332720" y="1463040"/>
            <a:ext cx="50292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72800" y="1463040"/>
            <a:ext cx="502920" cy="502920"/>
          </a:xfrm>
          <a:prstGeom prst="rect">
            <a:avLst/>
          </a:prstGeom>
          <a:solidFill>
            <a:srgbClr val="E8B92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052560" y="2103120"/>
            <a:ext cx="502920" cy="502920"/>
          </a:xfrm>
          <a:prstGeom prst="rect">
            <a:avLst/>
          </a:prstGeom>
          <a:solidFill>
            <a:srgbClr val="E8B92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92640" y="2103120"/>
            <a:ext cx="50292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332720" y="2103120"/>
            <a:ext cx="502920" cy="502920"/>
          </a:xfrm>
          <a:prstGeom prst="rect">
            <a:avLst/>
          </a:prstGeom>
          <a:solidFill>
            <a:srgbClr val="E8B92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972800" y="2103120"/>
            <a:ext cx="50292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52560" y="2743200"/>
            <a:ext cx="50292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92640" y="2743200"/>
            <a:ext cx="502920" cy="502920"/>
          </a:xfrm>
          <a:prstGeom prst="rect">
            <a:avLst/>
          </a:prstGeom>
          <a:solidFill>
            <a:srgbClr val="E8B92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332720" y="2743200"/>
            <a:ext cx="50292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972800" y="2743200"/>
            <a:ext cx="502920" cy="502920"/>
          </a:xfrm>
          <a:prstGeom prst="rect">
            <a:avLst/>
          </a:prstGeom>
          <a:solidFill>
            <a:srgbClr val="E8B92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052560" y="3383280"/>
            <a:ext cx="502920" cy="502920"/>
          </a:xfrm>
          <a:prstGeom prst="rect">
            <a:avLst/>
          </a:prstGeom>
          <a:solidFill>
            <a:srgbClr val="E8B92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692640" y="3383280"/>
            <a:ext cx="50292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332720" y="3383280"/>
            <a:ext cx="502920" cy="502920"/>
          </a:xfrm>
          <a:prstGeom prst="rect">
            <a:avLst/>
          </a:prstGeom>
          <a:solidFill>
            <a:srgbClr val="E8B92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972800" y="3383280"/>
            <a:ext cx="50292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 | CSS2257 | Computer Organization and Architecture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word, bit, capacity and address lines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internal organization of a 16 × 8 chip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16 × 4 chip and compare the two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chips to build wider or deeper memory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412480" y="1554480"/>
            <a:ext cx="502920" cy="502920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144000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8412480" y="2606040"/>
            <a:ext cx="502920" cy="502920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124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9144000" y="2606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8412480" y="3657600"/>
            <a:ext cx="502920" cy="502920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0" y="3657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8412480" y="4709160"/>
            <a:ext cx="502920" cy="502920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0" y="4709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Icebreaker: Warm-up Questions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 | CSS2257 | Computer Organization and Architecture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64240" cy="1280160"/>
          </a:xfrm>
          <a:prstGeom prst="rect">
            <a:avLst/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755648"/>
            <a:ext cx="502920" cy="502920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137160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says 128 GB. How many separate storage cells do you think that is?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11064240" cy="1280160"/>
          </a:xfrm>
          <a:prstGeom prst="rect">
            <a:avLst/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310128"/>
            <a:ext cx="502920" cy="502920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292608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chip find ONE location among millions?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548640" y="4480560"/>
            <a:ext cx="11064240" cy="1280160"/>
          </a:xfrm>
          <a:prstGeom prst="rect">
            <a:avLst/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" y="4864608"/>
            <a:ext cx="502920" cy="502920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864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645920" y="448056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street has 16 houses, how many bits do you need to number them?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Words, Bits and Capacity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 | CSS2257 | Computer Organization and Architecture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Bit: one binary digit (0 or 1)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Word: bits accessed together in one operation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= number of words × bits per word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16 × 8 → 16 words of 8 bits = 128 bits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040880" y="1828800"/>
            <a:ext cx="457200" cy="548640"/>
          </a:xfrm>
          <a:prstGeom prst="rect">
            <a:avLst/>
          </a:prstGeom>
          <a:solidFill>
            <a:srgbClr val="EEF3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04088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589520" y="1828800"/>
            <a:ext cx="457200" cy="54864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38160" y="1828800"/>
            <a:ext cx="457200" cy="548640"/>
          </a:xfrm>
          <a:prstGeom prst="rect">
            <a:avLst/>
          </a:prstGeom>
          <a:solidFill>
            <a:srgbClr val="EEF3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3816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686800" y="1828800"/>
            <a:ext cx="457200" cy="54864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9235440" y="1828800"/>
            <a:ext cx="457200" cy="548640"/>
          </a:xfrm>
          <a:prstGeom prst="rect">
            <a:avLst/>
          </a:prstGeom>
          <a:solidFill>
            <a:srgbClr val="EEF3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3544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9784080" y="1828800"/>
            <a:ext cx="457200" cy="54864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78408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10332720" y="1828800"/>
            <a:ext cx="457200" cy="548640"/>
          </a:xfrm>
          <a:prstGeom prst="rect">
            <a:avLst/>
          </a:prstGeom>
          <a:solidFill>
            <a:srgbClr val="EEF3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33272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10881360" y="1828800"/>
            <a:ext cx="457200" cy="54864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81360" y="1828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25146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word = 8 bits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7132320" y="3291840"/>
            <a:ext cx="3931920" cy="1371600"/>
          </a:xfrm>
          <a:prstGeom prst="rect">
            <a:avLst/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0" y="33832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 bits</a:t>
            </a:r>
            <a:endParaRPr lang="en-US" sz="40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0" y="4114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words × 8 bits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 Lines: Choosing One Word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 | CSS2257 | Computer Organization and Architecture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address lines select 2ⁿ words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words → n = 4 (A3 A2 A1 A0)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words → 5 lines; 1024 words → 10 lines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width does NOT change the address lines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498080" y="1554480"/>
            <a:ext cx="3931920" cy="1371600"/>
          </a:xfrm>
          <a:prstGeom prst="rect">
            <a:avLst/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0" y="1645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2⁴ = 16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377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address lines → 16 words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498080" y="3291840"/>
            <a:ext cx="3931920" cy="1371600"/>
          </a:xfrm>
          <a:prstGeom prst="rect">
            <a:avLst/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33832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for both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4114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× 8 and 16 × 4 need A3–A0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× 8 Chip: Internal Organization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 | CSS2257 | Computer Organization and Architecture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280160" y="1188720"/>
            <a:ext cx="1463040" cy="3950208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80160" y="2706624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4-to-16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14400" y="2377440"/>
            <a:ext cx="36576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457200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14400" y="2880360"/>
            <a:ext cx="36576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45720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914400" y="3383280"/>
            <a:ext cx="36576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457200" y="3703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914400" y="3886200"/>
            <a:ext cx="36576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743200" y="1312164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91840" y="122072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712464" y="122072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33088" y="122072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53712" y="122072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974336" y="122072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94960" y="122072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15584" y="122072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36208" y="122072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0" y="1559052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91840" y="146761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712464" y="146761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133088" y="146761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53712" y="146761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974336" y="146761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394960" y="146761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815584" y="146761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236208" y="146761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43200" y="1805940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291840" y="171450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712464" y="171450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33088" y="171450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553712" y="171450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974336" y="171450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394960" y="171450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815584" y="171450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236208" y="171450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743200" y="2052828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291840" y="196138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712464" y="196138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133088" y="196138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553712" y="196138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974336" y="196138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394960" y="196138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815584" y="196138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236208" y="196138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43200" y="2299716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291840" y="220827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3712464" y="220827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133088" y="220827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553712" y="220827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974336" y="220827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394960" y="220827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815584" y="220827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236208" y="220827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43200" y="2546604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291840" y="245516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712464" y="245516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133088" y="245516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553712" y="245516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974336" y="245516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394960" y="245516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815584" y="245516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6236208" y="245516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743200" y="2793492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291840" y="270205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712464" y="270205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4133088" y="270205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4553712" y="270205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4974336" y="270205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5394960" y="270205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5815584" y="270205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6236208" y="270205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2743200" y="3040380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291840" y="294894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712464" y="294894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133088" y="294894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4553712" y="294894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4974336" y="294894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5394960" y="294894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5815584" y="294894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6236208" y="294894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2743200" y="3287268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291840" y="319582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712464" y="319582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4133088" y="319582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4553712" y="319582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4974336" y="319582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5394960" y="319582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5815584" y="319582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6236208" y="319582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2743200" y="3534156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3291840" y="344271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3712464" y="344271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133088" y="344271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553712" y="344271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974336" y="344271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5394960" y="344271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5815584" y="344271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6236208" y="344271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2743200" y="3781044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3291840" y="368960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3712464" y="368960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133088" y="368960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553712" y="368960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974336" y="368960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5394960" y="368960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5815584" y="368960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6236208" y="368960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2743200" y="4027932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3291840" y="393649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3712464" y="393649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133088" y="393649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553712" y="393649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974336" y="393649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5394960" y="393649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5815584" y="393649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6236208" y="393649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2743200" y="4274820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3291840" y="418338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3712464" y="418338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133088" y="418338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553712" y="418338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74336" y="418338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5394960" y="418338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5815584" y="418338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6236208" y="418338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2743200" y="4521708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291840" y="443026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3712464" y="443026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133088" y="443026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553712" y="443026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974336" y="443026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5394960" y="443026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815584" y="443026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6236208" y="443026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2743200" y="4768596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3291840" y="467715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3712464" y="467715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4133088" y="467715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4553712" y="467715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4974336" y="467715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394960" y="467715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815584" y="467715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6236208" y="467715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2743200" y="5015484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3291840" y="492404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3712464" y="492404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4133088" y="492404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4553712" y="492404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4974336" y="492404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394960" y="492404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815584" y="492404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6236208" y="492404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59" name="Text 156"/>
          <p:cNvSpPr txBox="1"/>
          <p:nvPr/>
        </p:nvSpPr>
        <p:spPr>
          <a:xfrm>
            <a:off x="6748272" y="118872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</a:t>
            </a:r>
            <a:endParaRPr lang="en-US" sz="2000" dirty="0"/>
          </a:p>
        </p:txBody>
      </p:sp>
      <p:sp>
        <p:nvSpPr>
          <p:cNvPr id="160" name="Text 157"/>
          <p:cNvSpPr txBox="1"/>
          <p:nvPr/>
        </p:nvSpPr>
        <p:spPr>
          <a:xfrm>
            <a:off x="6748272" y="143560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2000" dirty="0"/>
          </a:p>
        </p:txBody>
      </p:sp>
      <p:sp>
        <p:nvSpPr>
          <p:cNvPr id="161" name="Text 158"/>
          <p:cNvSpPr txBox="1"/>
          <p:nvPr/>
        </p:nvSpPr>
        <p:spPr>
          <a:xfrm>
            <a:off x="6748272" y="304038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2000" dirty="0"/>
          </a:p>
        </p:txBody>
      </p:sp>
      <p:sp>
        <p:nvSpPr>
          <p:cNvPr id="162" name="Text 159"/>
          <p:cNvSpPr txBox="1"/>
          <p:nvPr/>
        </p:nvSpPr>
        <p:spPr>
          <a:xfrm>
            <a:off x="6748272" y="489204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</a:t>
            </a:r>
            <a:endParaRPr lang="en-US" sz="2000" dirty="0"/>
          </a:p>
        </p:txBody>
      </p:sp>
      <p:sp>
        <p:nvSpPr>
          <p:cNvPr id="163" name="Shape 160"/>
          <p:cNvSpPr/>
          <p:nvPr/>
        </p:nvSpPr>
        <p:spPr>
          <a:xfrm>
            <a:off x="3291840" y="5248656"/>
            <a:ext cx="3364992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64" name="Text 161"/>
          <p:cNvSpPr txBox="1"/>
          <p:nvPr/>
        </p:nvSpPr>
        <p:spPr>
          <a:xfrm>
            <a:off x="3291840" y="5248656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Sense/Write</a:t>
            </a:r>
            <a:endParaRPr lang="en-US" sz="2000" dirty="0"/>
          </a:p>
        </p:txBody>
      </p:sp>
      <p:sp>
        <p:nvSpPr>
          <p:cNvPr id="165" name="Text 162"/>
          <p:cNvSpPr txBox="1"/>
          <p:nvPr/>
        </p:nvSpPr>
        <p:spPr>
          <a:xfrm>
            <a:off x="1280160" y="52486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R/W, CS</a:t>
            </a:r>
            <a:endParaRPr lang="en-US" sz="2000" dirty="0"/>
          </a:p>
        </p:txBody>
      </p:sp>
      <p:sp>
        <p:nvSpPr>
          <p:cNvPr id="166" name="Shape 163"/>
          <p:cNvSpPr/>
          <p:nvPr/>
        </p:nvSpPr>
        <p:spPr>
          <a:xfrm>
            <a:off x="2788920" y="5477256"/>
            <a:ext cx="50292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7" name="Text 164"/>
          <p:cNvSpPr txBox="1"/>
          <p:nvPr/>
        </p:nvSpPr>
        <p:spPr>
          <a:xfrm>
            <a:off x="2743200" y="5751576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 … D0  (8 data lines)</a:t>
            </a:r>
            <a:endParaRPr lang="en-US" sz="2000" dirty="0"/>
          </a:p>
        </p:txBody>
      </p:sp>
      <p:sp>
        <p:nvSpPr>
          <p:cNvPr id="168" name="Shape 165"/>
          <p:cNvSpPr/>
          <p:nvPr/>
        </p:nvSpPr>
        <p:spPr>
          <a:xfrm>
            <a:off x="7863840" y="1371600"/>
            <a:ext cx="3931920" cy="1371600"/>
          </a:xfrm>
          <a:prstGeom prst="rect">
            <a:avLst/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69" name="Text 166"/>
          <p:cNvSpPr txBox="1"/>
          <p:nvPr/>
        </p:nvSpPr>
        <p:spPr>
          <a:xfrm>
            <a:off x="8046720" y="1463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 cells</a:t>
            </a:r>
            <a:endParaRPr lang="en-US" sz="4000" dirty="0"/>
          </a:p>
        </p:txBody>
      </p:sp>
      <p:sp>
        <p:nvSpPr>
          <p:cNvPr id="170" name="Text 167"/>
          <p:cNvSpPr txBox="1"/>
          <p:nvPr/>
        </p:nvSpPr>
        <p:spPr>
          <a:xfrm>
            <a:off x="8046720" y="2194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rows × 8 columns</a:t>
            </a:r>
            <a:endParaRPr lang="en-US" sz="2000" dirty="0"/>
          </a:p>
        </p:txBody>
      </p:sp>
      <p:sp>
        <p:nvSpPr>
          <p:cNvPr id="171" name="Shape 168"/>
          <p:cNvSpPr/>
          <p:nvPr/>
        </p:nvSpPr>
        <p:spPr>
          <a:xfrm>
            <a:off x="7863840" y="3017520"/>
            <a:ext cx="3931920" cy="1371600"/>
          </a:xfrm>
          <a:prstGeom prst="rect">
            <a:avLst/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72" name="Text 169"/>
          <p:cNvSpPr txBox="1"/>
          <p:nvPr/>
        </p:nvSpPr>
        <p:spPr>
          <a:xfrm>
            <a:off x="8046720" y="3108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connections</a:t>
            </a:r>
            <a:endParaRPr lang="en-US" sz="4000" dirty="0"/>
          </a:p>
        </p:txBody>
      </p:sp>
      <p:sp>
        <p:nvSpPr>
          <p:cNvPr id="173" name="Text 170"/>
          <p:cNvSpPr txBox="1"/>
          <p:nvPr/>
        </p:nvSpPr>
        <p:spPr>
          <a:xfrm>
            <a:off x="8046720" y="3840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address + 8 data + 2 control</a:t>
            </a:r>
            <a:endParaRPr lang="en-US" sz="2000" dirty="0"/>
          </a:p>
        </p:txBody>
      </p:sp>
      <p:sp>
        <p:nvSpPr>
          <p:cNvPr id="174" name="Text 171"/>
          <p:cNvSpPr txBox="1"/>
          <p:nvPr/>
        </p:nvSpPr>
        <p:spPr>
          <a:xfrm>
            <a:off x="7863840" y="4480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(plus power and ground)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× 4 Chip: Internal Organization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 | CSS2257 | Computer Organization and Architecture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280160" y="1188720"/>
            <a:ext cx="1463040" cy="3950208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80160" y="2706624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4-to-16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14400" y="2377440"/>
            <a:ext cx="36576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457200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14400" y="2880360"/>
            <a:ext cx="36576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45720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914400" y="3383280"/>
            <a:ext cx="36576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457200" y="3703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914400" y="3886200"/>
            <a:ext cx="36576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743200" y="1312164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91840" y="122072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712464" y="122072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33088" y="122072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53712" y="122072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3200" y="1559052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91840" y="146761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712464" y="146761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33088" y="146761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53712" y="146761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43200" y="1805940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91840" y="171450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712464" y="171450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33088" y="171450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53712" y="171450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743200" y="2052828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291840" y="196138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712464" y="196138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133088" y="196138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53712" y="196138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743200" y="2299716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91840" y="220827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712464" y="220827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33088" y="220827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553712" y="220827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743200" y="2546604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91840" y="245516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712464" y="245516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133088" y="245516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553712" y="245516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743200" y="2793492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291840" y="270205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712464" y="270205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133088" y="270205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553712" y="270205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43200" y="3040380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291840" y="294894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712464" y="294894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133088" y="294894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553712" y="294894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43200" y="3287268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3291840" y="319582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712464" y="319582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133088" y="319582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553712" y="319582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743200" y="3534156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291840" y="344271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712464" y="344271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133088" y="344271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553712" y="344271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2743200" y="3781044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91840" y="368960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712464" y="368960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133088" y="368960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4553712" y="368960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2743200" y="4027932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291840" y="393649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712464" y="393649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4133088" y="393649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4553712" y="3936492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2743200" y="4274820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291840" y="418338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712464" y="418338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4133088" y="418338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4553712" y="4183380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2743200" y="4521708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291840" y="443026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712464" y="443026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4133088" y="443026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4553712" y="4430268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2743200" y="4768596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291840" y="467715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712464" y="467715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4133088" y="467715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4553712" y="4677156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2743200" y="5015484"/>
            <a:ext cx="548640" cy="0"/>
          </a:xfrm>
          <a:prstGeom prst="line">
            <a:avLst/>
          </a:prstGeom>
          <a:noFill/>
          <a:ln w="15875">
            <a:solidFill>
              <a:srgbClr val="E8B923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291840" y="492404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712464" y="492404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4133088" y="492404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553712" y="4924044"/>
            <a:ext cx="365760" cy="18288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065776" y="118872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</a:t>
            </a:r>
            <a:endParaRPr lang="en-US" sz="2000" dirty="0"/>
          </a:p>
        </p:txBody>
      </p:sp>
      <p:sp>
        <p:nvSpPr>
          <p:cNvPr id="96" name="Text 93"/>
          <p:cNvSpPr txBox="1"/>
          <p:nvPr/>
        </p:nvSpPr>
        <p:spPr>
          <a:xfrm>
            <a:off x="5065776" y="143560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2000" dirty="0"/>
          </a:p>
        </p:txBody>
      </p:sp>
      <p:sp>
        <p:nvSpPr>
          <p:cNvPr id="97" name="Text 94"/>
          <p:cNvSpPr txBox="1"/>
          <p:nvPr/>
        </p:nvSpPr>
        <p:spPr>
          <a:xfrm>
            <a:off x="5065776" y="304038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2000" dirty="0"/>
          </a:p>
        </p:txBody>
      </p:sp>
      <p:sp>
        <p:nvSpPr>
          <p:cNvPr id="98" name="Text 95"/>
          <p:cNvSpPr txBox="1"/>
          <p:nvPr/>
        </p:nvSpPr>
        <p:spPr>
          <a:xfrm>
            <a:off x="5065776" y="489204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</a:t>
            </a:r>
            <a:endParaRPr lang="en-US" sz="2000" dirty="0"/>
          </a:p>
        </p:txBody>
      </p:sp>
      <p:sp>
        <p:nvSpPr>
          <p:cNvPr id="99" name="Shape 96"/>
          <p:cNvSpPr/>
          <p:nvPr/>
        </p:nvSpPr>
        <p:spPr>
          <a:xfrm>
            <a:off x="3291840" y="5248656"/>
            <a:ext cx="1682496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3291840" y="5248656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Sense/Write</a:t>
            </a:r>
            <a:endParaRPr lang="en-US" sz="2000" dirty="0"/>
          </a:p>
        </p:txBody>
      </p:sp>
      <p:sp>
        <p:nvSpPr>
          <p:cNvPr id="101" name="Text 98"/>
          <p:cNvSpPr txBox="1"/>
          <p:nvPr/>
        </p:nvSpPr>
        <p:spPr>
          <a:xfrm>
            <a:off x="1280160" y="52486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R/W, CS</a:t>
            </a:r>
            <a:endParaRPr lang="en-US" sz="2000" dirty="0"/>
          </a:p>
        </p:txBody>
      </p:sp>
      <p:sp>
        <p:nvSpPr>
          <p:cNvPr id="102" name="Shape 99"/>
          <p:cNvSpPr/>
          <p:nvPr/>
        </p:nvSpPr>
        <p:spPr>
          <a:xfrm>
            <a:off x="2788920" y="5477256"/>
            <a:ext cx="50292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3" name="Text 100"/>
          <p:cNvSpPr txBox="1"/>
          <p:nvPr/>
        </p:nvSpPr>
        <p:spPr>
          <a:xfrm>
            <a:off x="2743200" y="5751576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… D0  (4 data lines)</a:t>
            </a:r>
            <a:endParaRPr lang="en-US" sz="2000" dirty="0"/>
          </a:p>
        </p:txBody>
      </p:sp>
      <p:sp>
        <p:nvSpPr>
          <p:cNvPr id="104" name="Shape 101"/>
          <p:cNvSpPr/>
          <p:nvPr/>
        </p:nvSpPr>
        <p:spPr>
          <a:xfrm>
            <a:off x="7863840" y="1371600"/>
            <a:ext cx="3931920" cy="1371600"/>
          </a:xfrm>
          <a:prstGeom prst="rect">
            <a:avLst/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05" name="Text 102"/>
          <p:cNvSpPr txBox="1"/>
          <p:nvPr/>
        </p:nvSpPr>
        <p:spPr>
          <a:xfrm>
            <a:off x="8046720" y="1463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 cells</a:t>
            </a:r>
            <a:endParaRPr lang="en-US" sz="4000" dirty="0"/>
          </a:p>
        </p:txBody>
      </p:sp>
      <p:sp>
        <p:nvSpPr>
          <p:cNvPr id="106" name="Text 103"/>
          <p:cNvSpPr txBox="1"/>
          <p:nvPr/>
        </p:nvSpPr>
        <p:spPr>
          <a:xfrm>
            <a:off x="8046720" y="2194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rows × 4 columns</a:t>
            </a:r>
            <a:endParaRPr lang="en-US" sz="2000" dirty="0"/>
          </a:p>
        </p:txBody>
      </p:sp>
      <p:sp>
        <p:nvSpPr>
          <p:cNvPr id="107" name="Shape 104"/>
          <p:cNvSpPr/>
          <p:nvPr/>
        </p:nvSpPr>
        <p:spPr>
          <a:xfrm>
            <a:off x="7863840" y="3017520"/>
            <a:ext cx="3931920" cy="1371600"/>
          </a:xfrm>
          <a:prstGeom prst="rect">
            <a:avLst/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08" name="Text 105"/>
          <p:cNvSpPr txBox="1"/>
          <p:nvPr/>
        </p:nvSpPr>
        <p:spPr>
          <a:xfrm>
            <a:off x="8046720" y="3108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connections</a:t>
            </a:r>
            <a:endParaRPr lang="en-US" sz="4000" dirty="0"/>
          </a:p>
        </p:txBody>
      </p:sp>
      <p:sp>
        <p:nvSpPr>
          <p:cNvPr id="109" name="Text 106"/>
          <p:cNvSpPr txBox="1"/>
          <p:nvPr/>
        </p:nvSpPr>
        <p:spPr>
          <a:xfrm>
            <a:off x="8046720" y="3840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address + 4 data + 2 control</a:t>
            </a:r>
            <a:endParaRPr lang="en-US" sz="2000" dirty="0"/>
          </a:p>
        </p:txBody>
      </p:sp>
      <p:sp>
        <p:nvSpPr>
          <p:cNvPr id="110" name="Text 107"/>
          <p:cNvSpPr txBox="1"/>
          <p:nvPr/>
        </p:nvSpPr>
        <p:spPr>
          <a:xfrm>
            <a:off x="7863840" y="4480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(plus power and ground)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× 8 vs 16 × 4 at a Glance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 | CSS2257 | Computer Organization and Architecture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3291840"/>
                <a:gridCol w="32918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× 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× 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 per word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bits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bits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lines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lines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Sense/write circuits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connections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Read or Write Works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 | CSS2257 | Computer Organization and Architecture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651760" cy="3291840"/>
          </a:xfrm>
          <a:prstGeom prst="rect">
            <a:avLst/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6888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address on A3–A0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200400" y="29260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383280" y="1554480"/>
            <a:ext cx="2651760" cy="3291840"/>
          </a:xfrm>
          <a:prstGeom prst="rect">
            <a:avLst/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66160" y="1737360"/>
            <a:ext cx="502920" cy="502920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61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3566160" y="246888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raises ONE word line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29260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6217920" y="1554480"/>
            <a:ext cx="2651760" cy="3291840"/>
          </a:xfrm>
          <a:prstGeom prst="rect">
            <a:avLst/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0" y="1737360"/>
            <a:ext cx="502920" cy="502920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246888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R/W (1 = read, 0 = write) and CS = 1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8869680" y="29260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9052560" y="1554480"/>
            <a:ext cx="2651760" cy="3291840"/>
          </a:xfrm>
          <a:prstGeom prst="rect">
            <a:avLst/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235440" y="1737360"/>
            <a:ext cx="502920" cy="502920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354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9235440" y="246888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Sense/write circuits move the word's bits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address 0101 → word line W5 → 8 bits on D7–D0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Connections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 | CSS2257 | Computer Organization and Architecture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66160" cy="3840480"/>
          </a:xfrm>
          <a:prstGeom prst="rect">
            <a:avLst/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68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 chip widths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3832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come as x4, x8, x16: bits delivered per access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297680" y="1554480"/>
            <a:ext cx="3566160" cy="3840480"/>
          </a:xfrm>
          <a:prstGeom prst="rect">
            <a:avLst/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1783080"/>
            <a:ext cx="502920" cy="502920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468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module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33832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x8 chips side by side → 64-bit data bus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046720" y="1554480"/>
            <a:ext cx="3566160" cy="3840480"/>
          </a:xfrm>
          <a:prstGeom prst="rect">
            <a:avLst/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75320" y="1783080"/>
            <a:ext cx="502920" cy="502920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753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2468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and register file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33832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+ cell array, same principle, on the CPU die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Two 16 × 4 → One 16 × 8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 | CSS2257 | Computer Organization and Architecture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754880" y="1463040"/>
            <a:ext cx="3108960" cy="13716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754880" y="14630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× 4 chip 1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754880" y="3657600"/>
            <a:ext cx="3108960" cy="1371600"/>
          </a:xfrm>
          <a:prstGeom prst="rect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54880" y="36576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× 4 chip 2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291840" y="3246120"/>
            <a:ext cx="0" cy="0"/>
          </a:xfrm>
          <a:prstGeom prst="line">
            <a:avLst/>
          </a:prstGeom>
          <a:noFill/>
          <a:ln w="12700">
            <a:solidFill>
              <a:srgbClr val="E8B92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77440" y="2148840"/>
            <a:ext cx="23774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377440" y="4343400"/>
            <a:ext cx="23774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377440" y="2148840"/>
            <a:ext cx="0" cy="219456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8346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A3–A0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R/W, CS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(shared)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7863840" y="2148840"/>
            <a:ext cx="12801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863840" y="4343400"/>
            <a:ext cx="12801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923544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D7–D4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235440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D3–D0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16 words × 8 bits = 128 bits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Problem: Build 64 × 8 from 16 × 4 Chips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 | CSS2257 | Computer Organization and Architecture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11064240" cy="1005840"/>
          </a:xfrm>
          <a:prstGeom prst="rect">
            <a:avLst/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536192"/>
            <a:ext cx="502920" cy="502920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12801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bits: 64 × 8 = 512; chip = 64 → 8 chips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11064240" cy="1005840"/>
          </a:xfrm>
          <a:prstGeom prst="rect">
            <a:avLst/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724912"/>
            <a:ext cx="502920" cy="502920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724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554480" y="24688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Width: 8 ÷ 4 = 2 chips per row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48640" y="3657600"/>
            <a:ext cx="11064240" cy="1005840"/>
          </a:xfrm>
          <a:prstGeom prst="rect">
            <a:avLst/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3913632"/>
            <a:ext cx="502920" cy="502920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554480" y="36576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Depth: 64 ÷ 16 = 4 rows of chips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48640" y="4846320"/>
            <a:ext cx="11064240" cy="1005840"/>
          </a:xfrm>
          <a:prstGeom prst="rect">
            <a:avLst/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" y="5102352"/>
            <a:ext cx="502920" cy="502920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5102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48463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words → 6 address lines: A3–A0 to all chips; A5–A4 → 2-to-4 decoder → CS of each row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 | CSS2257 | Computer Organization and Architecture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lines = log₂(words) → 4 for both chips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per word set data lines and sense/write circuits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× 8 = 128 bits (14 connections); 16 × 4 = 64 bits (10)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combine for wider words or more words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Quiz: Memory Chip Organization (CSS2257)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 | CSS2257 | Computer Organization and Architecture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Capacity of a 16 × 8 chip in bits?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Address lines needed for 16 words?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Data lines on a 16 × 4 chip?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True/False: a 16 × 4 chip needs fewer address lines than 16 × 8.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Sense/write circuits in a 16 × 8 chip?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 Chips of 16 × 4 needed to build 32 × 8?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Answers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 | CSS2257 | Computer Organization and Architecture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A1. 128 bits (16 × 8).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 4 lines, since 2⁴ = 16.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 4 data lines (D3–D0).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A4. False: both use 4; width does not matter.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A5. 8, one per column.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A6. 4 chips: 2 wide × 2 deep.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2026-09-30T04:40:22Z</dcterms:created>
  <dcterms:modified xsi:type="dcterms:W3CDTF">2026-09-30T04:40:22Z</dcterms:modified>
</cp:coreProperties>
</file>