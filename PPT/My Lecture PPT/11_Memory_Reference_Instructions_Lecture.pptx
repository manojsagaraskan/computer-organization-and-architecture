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12161520" cy="6858000"/>
  <p:notesSz cx="6858000" cy="1216152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and welcome to today's session on Memory-Reference Instructions, part of our Computer Organization and Architecture course. My name is D. Venkatesan from the Department of AI and Robotics. Over the next hour we're going to unpack exactly how a computer's CPU talks to its memory using a small, elegant set of instructions. Don't worry if 'opcode' or 'effective address' sound intimidating right now — by the end of this lecture you'll be able to trace through them by hand. Let's get started.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Just so we're all oriented: this session is offered by the Department of AI and Robotics under the School PSAIAC at Presidency University, as part of the Computer Organization and Architecture course, subject code CSS2257. Today's specific topic is Memory-Reference Instructions. This single lecture is designed to fit comfortably into one hour, and by the end you'll have a working mental model of how the CPU reads from and writes to memory.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you should be able to do by the time we wrap up. Notice the verbs I've used — explain, read, calculate, describe, trace, apply. These aren't just facts to memorise; they're skills you'll actually use later when you study assembly language or design your own instruction sets. Keep this slide in mind as a checklist — we'll circle back to it in our summary.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warm up before we dive into the technical material. Ask the first question and take two or three quick verbal answers — most students will say 'the hard disk' or 'storage', which is a great segue into memory. For the second question, let a few hands go up; use their answers to highlight that almost everything a computer does eventually boils down to reading or writing memory. For the poll, just get a show of hands for each term — note which one gets the most votes, because that's the term you should spend a little extra time on later. This should take about three to four minutes total, and it directly sets up why memory-reference instructions matter.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might be wondering — why should a fresher care about something this low-level? Here's the honest answer: every single program you will ever write, no matter how high-level the language, gets compiled down to instructions just like the ones we're studying today. When your code crashes with a mysterious memory error, this is the layer where that error actually happens. Understanding memory-reference instructions is like learning the grammar underneath every sentence you'll ever write in programming. It's not just theory — it's the reason debugging starts making sense later in your degree.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look at the instructions themselves, let's quickly recap the registers involved, since every instruction we discuss today will move data between these. Think of AR as a sticky note with an address written on it — 'go check this shelf'. PC always points to what comes next, like a bookmark. DR temporarily holds whatever we fetched from memory. AC is where most of our actual computation results land. IR holds the instruction we're currently decoding. And TR is scratch space. Don't worry about memorising all of this right now — we'll see each one in action in a few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exactly makes an instruction a 'memory-reference' instruction? Simply put, it's any instruction that needs to touch main memory — either to read a value in, or to write a value out. This is different from register-reference instructions, which just shuffle data that's already sitting inside the CPU's own registers, no memory trip required. Today we're focusing on seven specific memory-reference instructions in the Basic Computer model — remember that number, seven, because it'll come back on our summary table. And every single one of them needs to know an address — where exactly in memory to go. We call that the Effective Address, and it's the star of the next few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blueprint every memory-reference instruction follows — a single 16-bit word split into three fields. The leftmost bit, bit 15, is the 'I' bit, which tells us the addressing mode: zero for direct, one for indirect — we'll unpack exactly what that means in a moment. The next three bits, 14 down to 12, are the opcode — this is what actually tells the CPU which of our seven instructions to execute. Notice that with 3 bits we can represent 8 patterns, 000 through 111; the first seven, 000 to 110, are our memory-reference instructions, and 111 is reserved to signal 'this is actually a register-reference or I/O instruction instead'. The remaining 12 bits, bits 11 down to 0, form the address field, which can represent any value from 0 to 4095 — that's our addressable memory space in this simplified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Effective Address, or EA, is simply the real, final address in memory that an instruction is going to read from or write to. Sometimes this is straightforward — the address written directly in the instruction IS the place to go. But sometimes the instruction's address field is more like a forwarding note: 'the real address is stored over there'. That's indirect addressing, and it means we have to make two trips to memory instead of one. Getting comfortable computing EA is honestly the single most important skill in this entire lecture, because every one of our seven instructions starts by asking: what is my effective address?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make this concrete with an example on each side. On the left, direct addressing: the instruction says 'address 450', and 450 IS where our data lives — one hop and we're done, EA equals 450. On the right, indirect addressing: the instruction says 'address 300', but when we look inside memory location 300, we don't find our data — we find another address, 850. That's the real destination. So we have to make a second hop into location 850 to finally get our operand. This is why I call it 'address of an address'. In our notation, we write LDA 450 for the direct case, and LDA 300 I — with that trailing I — for the indirect case. Take a moment to really see the two-hop versus one-hop difference, because this exact pattern repeats for every single memory-reference instruction we study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first memory-reference instruction is AND, with opcode 000. In plain English: fetch the value at the effective address, and do a bitwise AND with whatever is currently in the accumulator, then store the result back in the accumulator. Why would we want this? Masking. Think of it like a stencil you use for spray painting — wherever the stencil has a hole, the paint gets through; wherever it's solid, it blocks the paint. In binary terms, wherever the mask has a 1, the original bit passes through; wherever it has a 0, that bit gets forced to 0. Let's check the example on the slide together: 1101 AND 1011 — line up the bits and AND them one by one — you should get 1001.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Opcode 001 gives us ADD. This one is intuitive: take the value sitting in the accumulator, add the value found at the effective address, and leave the sum in the accumulator. The one subtlety is the carry flag, E — if the addition produces a result too large to fit, that overflow bit is captured separately in E rather than being silently lost. This single instruction, believe it or not, is the seed from which entire arithmetic-logic units grow — subtraction, multiplication, and more complex math are all eventually built up from simple repeated additions like this one. In our example, 25 plus 17 gives 42, safely within range, so the carry flag E stays at 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LDA, opcode 010, stands for Load Accumulator. This is the instruction that answers the question, 'go get this value from memory and bring it into the CPU so I can work with it.' It's purely a copy — the data still exists back in memory afterward, completely unchanged; we've just duplicated it into the accumulator. If you've ever written 'x = someVariable' in a programming language, somewhere underneath, an instruction very much like LDA is doing the heavy lifting. We'll trace through a full worked example of LDA with both direct and indirect addressing in just a few slides — so hold onto this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 opcode 011, is the exact reverse of LDA — Store Accumulator. Instead of pulling data IN from memory, we're pushing data OUT from the accumulator into memory. Whatever was sitting at that effective address before is gone, overwritten by whatever the accumulator was holding. This is your 'save' button at the hardware level — every time a program computes a result and needs to keep it around for later, an instruction like STA is what actually commits that value to memory. It's worth flagging as a caution: unlike LDA, which is non-destructive, STA does destroy the previous contents of that memory location, so this instruction needs to be used deliberately.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BUN, opcode 100, stands for Branch Unconditionally. Up to now, our instructions have all quietly moved on to the next instruction in sequence — that's the normal job of the program counter, incrementing by one each time. BUN breaks that pattern: it directly overwrites the program counter with the effective address, so execution jumps there next, no questions asked. That word 'unconditionally' is key — it always jumps, every single time, unlike the conditional branches you'll encounter in later coursework which only jump if some condition is true. Think of it like a GPS that always tells you to take a particular exit, regardless of traffic — no decision-making involved, just an unconditional redirection.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BSA, opcode 101, is Branch and Save Address, and this is where things get genuinely powerful, because it's the hardware ancestor of the function call. Two things happen back to back: first, the current program counter — which points to the instruction right after this BSA — gets saved into memory at the effective address. Then, execution jumps to EA plus one, which is where the subroutine's actual code begins. Why plus one? Because the effective address location itself is being used to store the return address, so the real subroutine instructions start right after it. Think of it like slipping a bookmark into a novel before you jump ahead to read a footnote — that bookmark, the saved return address, is exactly what lets the subroutine find its way back to where it was called from when it's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seventh and final memory-reference instruction is ISZ, opcode 110 — Increment and Skip if Zero. It takes whatever value is stored at the effective address, adds one to it, and writes that incremented value right back into the same memory location. Then comes the clever part: if that new, incremented value happens to be exactly zero, the CPU skips over the very next instruction. Why would that be useful? This is the textbook mechanism behind loop counters — imagine counting down from some negative number toward zero; each pass through the loop increments the counter, and the moment it hits zero, we skip the instruction that would send us back to repeat the loop, effectively breaking out. With ISZ, we've now covered all seven memory-reference instructions — AND, ADD, LDA, STA, BUN, BSA, and ISZ. Let's pull them all together on one summary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our complete cheat-sheet — all seven memory-reference instructions in one place. Notice the pattern in the opcodes: they simply count up in binary from 000 to 110. AND and ADD manipulate data already inside the accumulator. LDA and STA move data between the accumulator and memory. BUN and BSA control the flow of execution — plain jumps versus subroutine calls. And ISZ gives us a self-contained loop-counter mechanism. I'd encourage you to be able to reproduce this entire table from memory by the end of the week — it's genuinely one of the most re-used tables in this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see LDA and STA working together in something you've probably done in code already — swapping two variables. In a high-level language you might write 'temp = a; a = b; b = temp' without a second thought. But at the hardware level, this takes six memory-reference instructions, alternating LDA and STA, using a temporary memory location as scratch space, because the accumulator can only hold one value at a time. Walk through the sequence with me: we load A into the accumulator, store it into TEMP; load B, store it into A's old spot; then load TEMP back and store it into B's spot. Notice how every single high-level operation you take for granted maps onto a handful of these tiny, precise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BSA really earns its keep. Suppose our main program is executing at address 125 and hits 'BSA 200' — this means 'call the subroutine that starts near address 200'. BSA does two things instantly: it stores 126, the address of the instruction right after itself, into memory location 200; and it sets the program counter to 201, one past that saved address, which is where the actual subroutine code begins. When the subroutine finishes, it executes 'BUN 200 I' — branch unconditionally, indirect through address 200 — which reads that saved return address back out and jumps to 126, right where the main program left off. This exact pattern, save-then-jump, followed later by jump-back-using-the-saved-address, is the hardware-level ancestor of every 'function call' and 'return' you'll write for the rest of your programming career.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slow right down and trace an instruction cycle by hand, the way you'll need to for exams and later assignments. We're executing LDA 450, with I equal to 0, so we already know this will be direct addressing. First, fetch: the CPU reads the instruction word from wherever the program counter is pointing, loads it into the instruction register, and bumps the program counter forward. Second, decode: the CPU looks at the opcode bits, 010, recognises this as LDA, and notes that the I bit is 0, so direct addressing applies. Third, because I is 0, computing the effective address is trivial — EA simply equals the address field, 450, no extra memory trip needed. Fourth, fetch the operand — go to memory location 450 and pull out whatever's stored there, in our case 27, into the data register. Fifth and finally, execute — copy that value from the data register into the accumulator. So at the end, AC holds 27, and importantly, memory location 450 is completely untouched, because LDA only reads.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trace an indirect example, and see how that extra hop changes things. We're executing STA 300 I, with I equal to 1, and the accumulator currently holds 63. Fetch and decode proceed just as before, except this time decoding the I bit tells us we're in indirect mode. That changes step three significantly: instead of EA simply being the address field, we first place 300 into the address register, then we go INTO memory at location 300 to read out what's stored there — in our case, 850 — and THAT becomes our effective address. That's the extra hop indirect addressing requires. Finally, in the execute step, because this is STA, we write the accumulator's value, 63, out to memory at the effective address — location 850. Notice this destroys whatever was previously sitting in location 850. This is the same effective-address logic from our diagram earlier, just applied to a write instead of a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more trace, and this is the trickiest of the three because of its 'skip' behaviour. We're executing ISZ 600, direct addressing, and memory location 600 currently holds negative one — which in two's complement is all 1 bits. Fetch and decode proceed normally, and because I is 0, EA is simply 600. Now the special part: we read the value at 600 into the data register, add one to it, and immediately that flips negative one over to zero. We write that zero back into memory location 600. Then comes the test — because the result is exactly zero, the CPU adds one extra to the program counter, which has the effect of skipping the very next instruction entirely. In real programs, that skipped instruction is almost always a BUN sending execution back to the top of a loop — so by skipping it, ISZ is effectively saying 'the counter just hit zero, so don't loop again, fall through and exit'. This is precisely how countdown-based loops were implemented on machines like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clear up a few mix-ups students commonly run into with this topic. First, some students think the I bit somehow changes what the opcode means — it doesn't; the I bit is completely separate and only ever affects how we compute the effective address. Second, don't fall into the trap of assuming EA is always just the raw address field — that's only true in direct mode; the moment I equals 1, you must take that extra hop through memory. Third, a very common slip is assuming BSA jumps straight to EA, just like BUN does — remember, BSA jumps to EA plus one, specifically because EA itself is being used as storage for the return address. And finally, with ISZ, remember it's the NEXT instruction that gets skipped, not the current one, and this only happens when the incremented value becomes exactly zero, not for any other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for a quick, low-pressure activity. Put these four instructions up and give students about sixty to ninety seconds to work with a neighbour and decide, for each one, whether it's direct or indirect addressing — the giveaway, of course, is the presence or absence of that trailing 'I'. Then cold-call two or three pairs for their answers: (a) and (c) are direct, since there's no I; (b) and (d) are indirect. For the bonus question, walk through it together on the board — since M[145] holds 600, the effective address for instruction (b) is 600, not 145. This activity takes barely two minutes but really cements the direct-versus-indirect distinction before we move to the quiz.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more hands-on check before we head into the quiz — this time predicting register and memory values across a short sequence. Give students two to three minutes to work through this on their own first, then compare with a partner. Walk through the solution together: step one, LDA 200 loads the value 5 from memory into the accumulator, so AC becomes 5 — this OVERWRITES the starting value of 10, it doesn't add to it, which trips up a few students every year. Step two, ADD 201 adds M[201], which is 3, to the current accumulator value of 5, giving AC equal to 8. Step three, STA 202 stores that 8 out to memory location 202. So the final answer is AC = 8 and M[202] = 8. If anyone got 10 or 13 anywhere along the way, that's a great moment to revisit the difference between LDA (overwrite) and ADD (accumulate).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last rapid-fire check before the quiz proper. Read the question aloud: ADD 512 I, with M[512] holding 700 and M[700] holding 9 — what actual value gets added to the accumulator? Give the class about twenty seconds of silent thinking time, then ask everyone to hold up a finger — one for A, two for B, and so on — on the count of three, so you get an honest simultaneous read of the room rather than everyone copying the first person who answers. The correct answer is C, 9 — because indirect addressing means we first go to 512 to find 700, and THEN go to 700 to find the actual operand, 9. If a good chunk of the class picked B, that's a sign to briefly revisit the two-hop diagram from earlier.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bring it all together. A memory-reference instruction, at its core, is about reading from or writing to main memory, and everything hinges on correctly computing the effective address. We saw the 16-bit format split into the I bit, the opcode, and the address field. We drew the crucial distinction between direct addressing, one hop, and indirect addressing, two hops. We walked through all seven instructions — AND and ADD for computation, LDA and STA for moving data, BUN and BSA for controlling program flow, and ISZ for loop counters. And most importantly, we practiced tracing through the fetch-decode-compute EA-execute cycle by hand, multiple times. If you can redo those traces on your own tonight, you've genuinely mastered today's session. Let's test that with a short quiz.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five-minute individual quiz, not for grades — just to check your own understanding, so answer honestly rather than looking at your neighbour. Read through all seven questions once, then take about four minutes to write down your answers; try to write the actual register-transfer notation for question four rather than just describing it in words. When time's up, we'll go straight to the answers on the next slide, and I'll pause on any question that seems to trip up a lot of the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go through these together. Question one: the I bit only ever selects addressing mode, never the opcode — a common trap. Question two is straightforwardly true by definition of direct addressing. Question three: BSA, not BUN, because only BSA saves a return address, which is exactly what a subroutine call needs so it can come back later. Question four: make sure you wrote M[EA] arrow AC, and not the reverse — that reversed version is actually LDA. Question five is another two-hop indirect calculation, giving us 900. Question six is false — remember, it's always the NEXT instruction that gets skipped, and only under the zero condition. And question seven: AND and ADD are our computation instructions. If you found any of these tricky, note them down for revision — they're exactly the kind of subtlety that shows up again in exams.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close, a few pointers for after class. Your core reference for this material is Mano and Ciletti's Computer System Architecture, specifically the chapter covering the Basic Computer's instruction set — I'd treat today's slides as a companion, not a replacement, for that reading. As a self-test, try reproducing the seven-instruction summary table completely from memory tonight; if you can do that without peeking, you're in great shape. Next lecture, we'll complete the picture by covering register-reference and input/output instructions, which fill in the opcode-111 case we set aside earlier today. For practice, I want you to hand-trace ADD 640 I and BSA 720, writing out every register value at every step, just like we did together today. And finally — please bring your questions next time; if something still feels fuzzy, that's completely normal this early in the topic.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brings us to the end of today's session on Memory-Reference Instructions. Thank you all for your attention and active participation in the icebreaker, the mini activities, and the quiz. Please review the worked examples tonight while they're fresh, attempt the assignment, and don't hesitate to reach out or catch me before next class if anything is still unclear. See you next lecture, where we'll finish the instruction set with register-reference and input/output instructions.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9418320" y="-1463040"/>
            <a:ext cx="4114800" cy="4114800"/>
          </a:xfrm>
          <a:prstGeom prst="ellipse">
            <a:avLst/>
          </a:prstGeom>
          <a:solidFill>
            <a:srgbClr val="263875"/>
          </a:solidFill>
          <a:ln/>
        </p:spPr>
      </p:sp>
      <p:sp>
        <p:nvSpPr>
          <p:cNvPr id="3" name="Shape 1"/>
          <p:cNvSpPr/>
          <p:nvPr/>
        </p:nvSpPr>
        <p:spPr>
          <a:xfrm>
            <a:off x="-1280160" y="4754880"/>
            <a:ext cx="3291840" cy="3291840"/>
          </a:xfrm>
          <a:prstGeom prst="ellipse">
            <a:avLst/>
          </a:prstGeom>
          <a:solidFill>
            <a:srgbClr val="263875"/>
          </a:solidFill>
          <a:ln/>
        </p:spPr>
      </p:sp>
      <p:sp>
        <p:nvSpPr>
          <p:cNvPr id="4" name="Text 2"/>
          <p:cNvSpPr/>
          <p:nvPr/>
        </p:nvSpPr>
        <p:spPr>
          <a:xfrm>
            <a:off x="731520" y="502920"/>
            <a:ext cx="8229600" cy="45720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Presidency University</a:t>
            </a:r>
            <a:endParaRPr lang="en-US" sz="2200" dirty="0"/>
          </a:p>
        </p:txBody>
      </p:sp>
      <p:sp>
        <p:nvSpPr>
          <p:cNvPr id="5" name="Text 3"/>
          <p:cNvSpPr/>
          <p:nvPr/>
        </p:nvSpPr>
        <p:spPr>
          <a:xfrm>
            <a:off x="731520" y="960120"/>
            <a:ext cx="9144000" cy="365760"/>
          </a:xfrm>
          <a:prstGeom prst="rect">
            <a:avLst/>
          </a:prstGeom>
          <a:noFill/>
          <a:ln/>
        </p:spPr>
        <p:txBody>
          <a:bodyPr wrap="square" lIns="0" tIns="0" rIns="0" bIns="0" rtlCol="0" anchor="ctr"/>
          <a:lstStyle/>
          <a:p>
            <a:pPr indent="0" marL="0">
              <a:buNone/>
            </a:pPr>
            <a:r>
              <a:rPr lang="en-US" sz="1400" dirty="0">
                <a:solidFill>
                  <a:srgbClr val="CADCFC"/>
                </a:solidFill>
                <a:latin typeface="Calibri" pitchFamily="34" charset="0"/>
                <a:ea typeface="Calibri" pitchFamily="34" charset="-122"/>
                <a:cs typeface="Calibri" pitchFamily="34" charset="-120"/>
              </a:rPr>
              <a:t>PSAIAC  |  Department of AI and Robotics</a:t>
            </a:r>
            <a:endParaRPr lang="en-US" sz="1400" dirty="0"/>
          </a:p>
        </p:txBody>
      </p:sp>
      <p:sp>
        <p:nvSpPr>
          <p:cNvPr id="6" name="Text 4"/>
          <p:cNvSpPr/>
          <p:nvPr/>
        </p:nvSpPr>
        <p:spPr>
          <a:xfrm>
            <a:off x="731520" y="2743200"/>
            <a:ext cx="3657600" cy="320040"/>
          </a:xfrm>
          <a:prstGeom prst="rect">
            <a:avLst/>
          </a:prstGeom>
          <a:noFill/>
          <a:ln/>
        </p:spPr>
        <p:txBody>
          <a:bodyPr wrap="square" lIns="0" tIns="0" rIns="0" bIns="0" rtlCol="0" anchor="ctr"/>
          <a:lstStyle/>
          <a:p>
            <a:pPr indent="0" marL="0">
              <a:buNone/>
            </a:pPr>
            <a:r>
              <a:rPr lang="en-US" sz="1300" b="1" spc="300" kern="0" dirty="0">
                <a:solidFill>
                  <a:srgbClr val="F2A541"/>
                </a:solidFill>
                <a:latin typeface="Calibri" pitchFamily="34" charset="0"/>
                <a:ea typeface="Calibri" pitchFamily="34" charset="-122"/>
                <a:cs typeface="Calibri" pitchFamily="34" charset="-120"/>
              </a:rPr>
              <a:t>LECTURE</a:t>
            </a:r>
            <a:endParaRPr lang="en-US" sz="1300" dirty="0"/>
          </a:p>
        </p:txBody>
      </p:sp>
      <p:sp>
        <p:nvSpPr>
          <p:cNvPr id="7" name="Text 5"/>
          <p:cNvSpPr/>
          <p:nvPr/>
        </p:nvSpPr>
        <p:spPr>
          <a:xfrm>
            <a:off x="731520" y="3063240"/>
            <a:ext cx="9875520" cy="118872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Memory-Reference Instructions</a:t>
            </a:r>
            <a:endParaRPr lang="en-US" sz="4600" dirty="0"/>
          </a:p>
        </p:txBody>
      </p:sp>
      <p:sp>
        <p:nvSpPr>
          <p:cNvPr id="8" name="Text 6"/>
          <p:cNvSpPr/>
          <p:nvPr/>
        </p:nvSpPr>
        <p:spPr>
          <a:xfrm>
            <a:off x="777240" y="4160520"/>
            <a:ext cx="9144000" cy="457200"/>
          </a:xfrm>
          <a:prstGeom prst="rect">
            <a:avLst/>
          </a:prstGeom>
          <a:noFill/>
          <a:ln/>
        </p:spPr>
        <p:txBody>
          <a:bodyPr wrap="square" lIns="0" tIns="0" rIns="0" bIns="0" rtlCol="0" anchor="ctr"/>
          <a:lstStyle/>
          <a:p>
            <a:pPr indent="0" marL="0">
              <a:buNone/>
            </a:pPr>
            <a:r>
              <a:rPr lang="en-US" sz="1800" dirty="0">
                <a:solidFill>
                  <a:srgbClr val="CADCFC"/>
                </a:solidFill>
                <a:latin typeface="Calibri" pitchFamily="34" charset="0"/>
                <a:ea typeface="Calibri" pitchFamily="34" charset="-122"/>
                <a:cs typeface="Calibri" pitchFamily="34" charset="-120"/>
              </a:rPr>
              <a:t>Computer Organization and Architecture  (CSS2257)</a:t>
            </a:r>
            <a:endParaRPr lang="en-US" sz="1800" dirty="0"/>
          </a:p>
        </p:txBody>
      </p:sp>
      <p:sp>
        <p:nvSpPr>
          <p:cNvPr id="9" name="Text 7"/>
          <p:cNvSpPr/>
          <p:nvPr/>
        </p:nvSpPr>
        <p:spPr>
          <a:xfrm>
            <a:off x="731520" y="5989320"/>
            <a:ext cx="5486400" cy="32004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Faculty: D. Venkatesan</a:t>
            </a:r>
            <a:endParaRPr lang="en-US" sz="1300" dirty="0"/>
          </a:p>
        </p:txBody>
      </p:sp>
      <p:sp>
        <p:nvSpPr>
          <p:cNvPr id="10" name="Text 8"/>
          <p:cNvSpPr/>
          <p:nvPr/>
        </p:nvSpPr>
        <p:spPr>
          <a:xfrm>
            <a:off x="731520" y="6309360"/>
            <a:ext cx="5486400" cy="320040"/>
          </a:xfrm>
          <a:prstGeom prst="rect">
            <a:avLst/>
          </a:prstGeom>
          <a:noFill/>
          <a:ln/>
        </p:spPr>
        <p:txBody>
          <a:bodyPr wrap="square" lIns="0" tIns="0" rIns="0" bIns="0" rtlCol="0" anchor="ctr"/>
          <a:lstStyle/>
          <a:p>
            <a:pPr indent="0" marL="0">
              <a:buNone/>
            </a:pPr>
            <a:r>
              <a:rPr lang="en-US" sz="1200" dirty="0">
                <a:solidFill>
                  <a:srgbClr val="9AA6C9"/>
                </a:solidFill>
                <a:latin typeface="Calibri" pitchFamily="34" charset="0"/>
                <a:ea typeface="Calibri" pitchFamily="34" charset="-122"/>
                <a:cs typeface="Calibri" pitchFamily="34" charset="-120"/>
              </a:rPr>
              <a:t>Semester: I  |  Year: I (Fresher)</a:t>
            </a:r>
            <a:endParaRPr lang="en-US" sz="1200" dirty="0"/>
          </a:p>
        </p:txBody>
      </p:sp>
      <p:sp>
        <p:nvSpPr>
          <p:cNvPr id="11" name="Text 9"/>
          <p:cNvSpPr/>
          <p:nvPr/>
        </p:nvSpPr>
        <p:spPr>
          <a:xfrm>
            <a:off x="11338560" y="6510528"/>
            <a:ext cx="457200" cy="274320"/>
          </a:xfrm>
          <a:prstGeom prst="rect">
            <a:avLst/>
          </a:prstGeom>
          <a:noFill/>
          <a:ln/>
        </p:spPr>
        <p:txBody>
          <a:bodyPr wrap="square" lIns="0" tIns="0" rIns="0" bIns="0" rtlCol="0" anchor="ctr"/>
          <a:lstStyle/>
          <a:p>
            <a:pPr algn="r" indent="0" marL="0">
              <a:buNone/>
            </a:pPr>
            <a:r>
              <a:rPr lang="en-US" sz="900" dirty="0">
                <a:solidFill>
                  <a:srgbClr val="9AA6C9"/>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48640"/>
            <a:ext cx="914400" cy="914400"/>
          </a:xfrm>
          <a:prstGeom prst="ellipse">
            <a:avLst/>
          </a:prstGeom>
          <a:solidFill>
            <a:srgbClr val="1E2761"/>
          </a:solidFill>
          <a:ln/>
        </p:spPr>
      </p:sp>
      <p:sp>
        <p:nvSpPr>
          <p:cNvPr id="3" name="Text 1"/>
          <p:cNvSpPr/>
          <p:nvPr/>
        </p:nvSpPr>
        <p:spPr>
          <a:xfrm>
            <a:off x="548640" y="548640"/>
            <a:ext cx="914400" cy="914400"/>
          </a:xfrm>
          <a:prstGeom prst="rect">
            <a:avLst/>
          </a:prstGeom>
          <a:noFill/>
          <a:ln/>
        </p:spPr>
        <p:txBody>
          <a:bodyPr wrap="square" lIns="0" tIns="0" rIns="0" bIns="0" rtlCol="0" anchor="ctr"/>
          <a:lstStyle/>
          <a:p>
            <a:pPr algn="ctr" indent="0" marL="0">
              <a:buNone/>
            </a:pPr>
            <a:r>
              <a:rPr lang="en-US" sz="3400" b="1" dirty="0">
                <a:solidFill>
                  <a:srgbClr val="FFFFFF"/>
                </a:solidFill>
                <a:latin typeface="Calibri" pitchFamily="34" charset="0"/>
                <a:ea typeface="Calibri" pitchFamily="34" charset="-122"/>
                <a:cs typeface="Calibri" pitchFamily="34" charset="-120"/>
              </a:rPr>
              <a:t>🎓</a:t>
            </a:r>
            <a:endParaRPr lang="en-US" sz="3400" dirty="0"/>
          </a:p>
        </p:txBody>
      </p:sp>
      <p:sp>
        <p:nvSpPr>
          <p:cNvPr id="4" name="Text 2"/>
          <p:cNvSpPr/>
          <p:nvPr/>
        </p:nvSpPr>
        <p:spPr>
          <a:xfrm>
            <a:off x="1691640" y="594360"/>
            <a:ext cx="8686800" cy="502920"/>
          </a:xfrm>
          <a:prstGeom prst="rect">
            <a:avLst/>
          </a:prstGeom>
          <a:noFill/>
          <a:ln/>
        </p:spPr>
        <p:txBody>
          <a:bodyPr wrap="square" lIns="0" tIns="0" rIns="0" bIns="0"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Presidency University</a:t>
            </a:r>
            <a:endParaRPr lang="en-US" sz="2800" dirty="0"/>
          </a:p>
        </p:txBody>
      </p:sp>
      <p:sp>
        <p:nvSpPr>
          <p:cNvPr id="5" name="Text 3"/>
          <p:cNvSpPr/>
          <p:nvPr/>
        </p:nvSpPr>
        <p:spPr>
          <a:xfrm>
            <a:off x="1691640" y="1097280"/>
            <a:ext cx="8686800" cy="365760"/>
          </a:xfrm>
          <a:prstGeom prst="rect">
            <a:avLst/>
          </a:prstGeom>
          <a:noFill/>
          <a:ln/>
        </p:spPr>
        <p:txBody>
          <a:bodyPr wrap="square" lIns="0" tIns="0" rIns="0" bIns="0" rtlCol="0" anchor="ctr"/>
          <a:lstStyle/>
          <a:p>
            <a:pPr indent="0" marL="0">
              <a:buNone/>
            </a:pPr>
            <a:r>
              <a:rPr lang="en-US" sz="1500" dirty="0">
                <a:solidFill>
                  <a:srgbClr val="5B6B8C"/>
                </a:solidFill>
                <a:latin typeface="Calibri" pitchFamily="34" charset="0"/>
                <a:ea typeface="Calibri" pitchFamily="34" charset="-122"/>
                <a:cs typeface="Calibri" pitchFamily="34" charset="-120"/>
              </a:rPr>
              <a:t>PSAIAC</a:t>
            </a:r>
            <a:endParaRPr lang="en-US" sz="1500" dirty="0"/>
          </a:p>
        </p:txBody>
      </p:sp>
      <p:sp>
        <p:nvSpPr>
          <p:cNvPr id="6" name="Shape 4"/>
          <p:cNvSpPr/>
          <p:nvPr/>
        </p:nvSpPr>
        <p:spPr>
          <a:xfrm>
            <a:off x="548640" y="1965960"/>
            <a:ext cx="3566160" cy="1280160"/>
          </a:xfrm>
          <a:prstGeom prst="roundRect">
            <a:avLst>
              <a:gd name="adj" fmla="val 5714"/>
            </a:avLst>
          </a:prstGeom>
          <a:solidFill>
            <a:srgbClr val="F4F6FB"/>
          </a:solidFill>
          <a:ln/>
        </p:spPr>
      </p:sp>
      <p:sp>
        <p:nvSpPr>
          <p:cNvPr id="7" name="Text 5"/>
          <p:cNvSpPr/>
          <p:nvPr/>
        </p:nvSpPr>
        <p:spPr>
          <a:xfrm>
            <a:off x="777240" y="2130552"/>
            <a:ext cx="3108960" cy="274320"/>
          </a:xfrm>
          <a:prstGeom prst="rect">
            <a:avLst/>
          </a:prstGeom>
          <a:noFill/>
          <a:ln/>
        </p:spPr>
        <p:txBody>
          <a:bodyPr wrap="square" lIns="0" tIns="0" rIns="0" bIns="0" rtlCol="0" anchor="ctr"/>
          <a:lstStyle/>
          <a:p>
            <a:pPr indent="0" marL="0">
              <a:buNone/>
            </a:pPr>
            <a:r>
              <a:rPr lang="en-US" sz="1100" b="1" spc="100" kern="0" dirty="0">
                <a:solidFill>
                  <a:srgbClr val="F2A541"/>
                </a:solidFill>
                <a:latin typeface="Calibri" pitchFamily="34" charset="0"/>
                <a:ea typeface="Calibri" pitchFamily="34" charset="-122"/>
                <a:cs typeface="Calibri" pitchFamily="34" charset="-120"/>
              </a:rPr>
              <a:t>DEPARTMENT</a:t>
            </a:r>
            <a:endParaRPr lang="en-US" sz="1100" dirty="0"/>
          </a:p>
        </p:txBody>
      </p:sp>
      <p:sp>
        <p:nvSpPr>
          <p:cNvPr id="8" name="Text 6"/>
          <p:cNvSpPr/>
          <p:nvPr/>
        </p:nvSpPr>
        <p:spPr>
          <a:xfrm>
            <a:off x="777240" y="2423160"/>
            <a:ext cx="3108960" cy="731520"/>
          </a:xfrm>
          <a:prstGeom prst="rect">
            <a:avLst/>
          </a:prstGeom>
          <a:noFill/>
          <a:ln/>
        </p:spPr>
        <p:txBody>
          <a:bodyPr wrap="square" lIns="0" tIns="0" rIns="0" bIns="0" rtlCol="0" anchor="t"/>
          <a:lstStyle/>
          <a:p>
            <a:pPr indent="0" marL="0">
              <a:buNone/>
            </a:pPr>
            <a:r>
              <a:rPr lang="en-US" sz="1600" b="1" dirty="0">
                <a:solidFill>
                  <a:srgbClr val="1E2761"/>
                </a:solidFill>
                <a:latin typeface="Cambria" pitchFamily="34" charset="0"/>
                <a:ea typeface="Cambria" pitchFamily="34" charset="-122"/>
                <a:cs typeface="Cambria" pitchFamily="34" charset="-120"/>
              </a:rPr>
              <a:t>Department of AI and Robotics</a:t>
            </a:r>
            <a:endParaRPr lang="en-US" sz="1600" dirty="0"/>
          </a:p>
        </p:txBody>
      </p:sp>
      <p:sp>
        <p:nvSpPr>
          <p:cNvPr id="9" name="Shape 7"/>
          <p:cNvSpPr/>
          <p:nvPr/>
        </p:nvSpPr>
        <p:spPr>
          <a:xfrm>
            <a:off x="4389120" y="1965960"/>
            <a:ext cx="3566160" cy="1280160"/>
          </a:xfrm>
          <a:prstGeom prst="roundRect">
            <a:avLst>
              <a:gd name="adj" fmla="val 5714"/>
            </a:avLst>
          </a:prstGeom>
          <a:solidFill>
            <a:srgbClr val="F4F6FB"/>
          </a:solidFill>
          <a:ln/>
        </p:spPr>
      </p:sp>
      <p:sp>
        <p:nvSpPr>
          <p:cNvPr id="10" name="Text 8"/>
          <p:cNvSpPr/>
          <p:nvPr/>
        </p:nvSpPr>
        <p:spPr>
          <a:xfrm>
            <a:off x="4617720" y="2130552"/>
            <a:ext cx="3108960" cy="274320"/>
          </a:xfrm>
          <a:prstGeom prst="rect">
            <a:avLst/>
          </a:prstGeom>
          <a:noFill/>
          <a:ln/>
        </p:spPr>
        <p:txBody>
          <a:bodyPr wrap="square" lIns="0" tIns="0" rIns="0" bIns="0" rtlCol="0" anchor="ctr"/>
          <a:lstStyle/>
          <a:p>
            <a:pPr indent="0" marL="0">
              <a:buNone/>
            </a:pPr>
            <a:r>
              <a:rPr lang="en-US" sz="1100" b="1" spc="100" kern="0" dirty="0">
                <a:solidFill>
                  <a:srgbClr val="F2A541"/>
                </a:solidFill>
                <a:latin typeface="Calibri" pitchFamily="34" charset="0"/>
                <a:ea typeface="Calibri" pitchFamily="34" charset="-122"/>
                <a:cs typeface="Calibri" pitchFamily="34" charset="-120"/>
              </a:rPr>
              <a:t>SUBJECT</a:t>
            </a:r>
            <a:endParaRPr lang="en-US" sz="1100" dirty="0"/>
          </a:p>
        </p:txBody>
      </p:sp>
      <p:sp>
        <p:nvSpPr>
          <p:cNvPr id="11" name="Text 9"/>
          <p:cNvSpPr/>
          <p:nvPr/>
        </p:nvSpPr>
        <p:spPr>
          <a:xfrm>
            <a:off x="4617720" y="2423160"/>
            <a:ext cx="3108960" cy="731520"/>
          </a:xfrm>
          <a:prstGeom prst="rect">
            <a:avLst/>
          </a:prstGeom>
          <a:noFill/>
          <a:ln/>
        </p:spPr>
        <p:txBody>
          <a:bodyPr wrap="square" lIns="0" tIns="0" rIns="0" bIns="0" rtlCol="0" anchor="t"/>
          <a:lstStyle/>
          <a:p>
            <a:pPr indent="0" marL="0">
              <a:buNone/>
            </a:pPr>
            <a:r>
              <a:rPr lang="en-US" sz="1600" b="1" dirty="0">
                <a:solidFill>
                  <a:srgbClr val="1E2761"/>
                </a:solidFill>
                <a:latin typeface="Cambria" pitchFamily="34" charset="0"/>
                <a:ea typeface="Cambria" pitchFamily="34" charset="-122"/>
                <a:cs typeface="Cambria" pitchFamily="34" charset="-120"/>
              </a:rPr>
              <a:t>Computer Organization and Architecture</a:t>
            </a:r>
            <a:endParaRPr lang="en-US" sz="1600" dirty="0"/>
          </a:p>
        </p:txBody>
      </p:sp>
      <p:sp>
        <p:nvSpPr>
          <p:cNvPr id="12" name="Shape 10"/>
          <p:cNvSpPr/>
          <p:nvPr/>
        </p:nvSpPr>
        <p:spPr>
          <a:xfrm>
            <a:off x="8229600" y="1965960"/>
            <a:ext cx="3566160" cy="1280160"/>
          </a:xfrm>
          <a:prstGeom prst="roundRect">
            <a:avLst>
              <a:gd name="adj" fmla="val 5714"/>
            </a:avLst>
          </a:prstGeom>
          <a:solidFill>
            <a:srgbClr val="F4F6FB"/>
          </a:solidFill>
          <a:ln/>
        </p:spPr>
      </p:sp>
      <p:sp>
        <p:nvSpPr>
          <p:cNvPr id="13" name="Text 11"/>
          <p:cNvSpPr/>
          <p:nvPr/>
        </p:nvSpPr>
        <p:spPr>
          <a:xfrm>
            <a:off x="8458200" y="2130552"/>
            <a:ext cx="3108960" cy="274320"/>
          </a:xfrm>
          <a:prstGeom prst="rect">
            <a:avLst/>
          </a:prstGeom>
          <a:noFill/>
          <a:ln/>
        </p:spPr>
        <p:txBody>
          <a:bodyPr wrap="square" lIns="0" tIns="0" rIns="0" bIns="0" rtlCol="0" anchor="ctr"/>
          <a:lstStyle/>
          <a:p>
            <a:pPr indent="0" marL="0">
              <a:buNone/>
            </a:pPr>
            <a:r>
              <a:rPr lang="en-US" sz="1100" b="1" spc="100" kern="0" dirty="0">
                <a:solidFill>
                  <a:srgbClr val="F2A541"/>
                </a:solidFill>
                <a:latin typeface="Calibri" pitchFamily="34" charset="0"/>
                <a:ea typeface="Calibri" pitchFamily="34" charset="-122"/>
                <a:cs typeface="Calibri" pitchFamily="34" charset="-120"/>
              </a:rPr>
              <a:t>SUBJECT CODE</a:t>
            </a:r>
            <a:endParaRPr lang="en-US" sz="1100" dirty="0"/>
          </a:p>
        </p:txBody>
      </p:sp>
      <p:sp>
        <p:nvSpPr>
          <p:cNvPr id="14" name="Text 12"/>
          <p:cNvSpPr/>
          <p:nvPr/>
        </p:nvSpPr>
        <p:spPr>
          <a:xfrm>
            <a:off x="8458200" y="2423160"/>
            <a:ext cx="3108960" cy="731520"/>
          </a:xfrm>
          <a:prstGeom prst="rect">
            <a:avLst/>
          </a:prstGeom>
          <a:noFill/>
          <a:ln/>
        </p:spPr>
        <p:txBody>
          <a:bodyPr wrap="square" lIns="0" tIns="0" rIns="0" bIns="0" rtlCol="0" anchor="t"/>
          <a:lstStyle/>
          <a:p>
            <a:pPr indent="0" marL="0">
              <a:buNone/>
            </a:pPr>
            <a:r>
              <a:rPr lang="en-US" sz="1600" b="1" dirty="0">
                <a:solidFill>
                  <a:srgbClr val="1E2761"/>
                </a:solidFill>
                <a:latin typeface="Cambria" pitchFamily="34" charset="0"/>
                <a:ea typeface="Cambria" pitchFamily="34" charset="-122"/>
                <a:cs typeface="Cambria" pitchFamily="34" charset="-120"/>
              </a:rPr>
              <a:t>CSS2257</a:t>
            </a:r>
            <a:endParaRPr lang="en-US" sz="1600" dirty="0"/>
          </a:p>
        </p:txBody>
      </p:sp>
      <p:sp>
        <p:nvSpPr>
          <p:cNvPr id="15" name="Shape 13"/>
          <p:cNvSpPr/>
          <p:nvPr/>
        </p:nvSpPr>
        <p:spPr>
          <a:xfrm>
            <a:off x="548640" y="3520440"/>
            <a:ext cx="3566160" cy="1280160"/>
          </a:xfrm>
          <a:prstGeom prst="roundRect">
            <a:avLst>
              <a:gd name="adj" fmla="val 5714"/>
            </a:avLst>
          </a:prstGeom>
          <a:solidFill>
            <a:srgbClr val="F4F6FB"/>
          </a:solidFill>
          <a:ln/>
        </p:spPr>
      </p:sp>
      <p:sp>
        <p:nvSpPr>
          <p:cNvPr id="16" name="Text 14"/>
          <p:cNvSpPr/>
          <p:nvPr/>
        </p:nvSpPr>
        <p:spPr>
          <a:xfrm>
            <a:off x="777240" y="3685032"/>
            <a:ext cx="3108960" cy="274320"/>
          </a:xfrm>
          <a:prstGeom prst="rect">
            <a:avLst/>
          </a:prstGeom>
          <a:noFill/>
          <a:ln/>
        </p:spPr>
        <p:txBody>
          <a:bodyPr wrap="square" lIns="0" tIns="0" rIns="0" bIns="0" rtlCol="0" anchor="ctr"/>
          <a:lstStyle/>
          <a:p>
            <a:pPr indent="0" marL="0">
              <a:buNone/>
            </a:pPr>
            <a:r>
              <a:rPr lang="en-US" sz="1100" b="1" spc="100" kern="0" dirty="0">
                <a:solidFill>
                  <a:srgbClr val="F2A541"/>
                </a:solidFill>
                <a:latin typeface="Calibri" pitchFamily="34" charset="0"/>
                <a:ea typeface="Calibri" pitchFamily="34" charset="-122"/>
                <a:cs typeface="Calibri" pitchFamily="34" charset="-120"/>
              </a:rPr>
              <a:t>FACULTY</a:t>
            </a:r>
            <a:endParaRPr lang="en-US" sz="1100" dirty="0"/>
          </a:p>
        </p:txBody>
      </p:sp>
      <p:sp>
        <p:nvSpPr>
          <p:cNvPr id="17" name="Text 15"/>
          <p:cNvSpPr/>
          <p:nvPr/>
        </p:nvSpPr>
        <p:spPr>
          <a:xfrm>
            <a:off x="777240" y="3977640"/>
            <a:ext cx="3108960" cy="731520"/>
          </a:xfrm>
          <a:prstGeom prst="rect">
            <a:avLst/>
          </a:prstGeom>
          <a:noFill/>
          <a:ln/>
        </p:spPr>
        <p:txBody>
          <a:bodyPr wrap="square" lIns="0" tIns="0" rIns="0" bIns="0" rtlCol="0" anchor="t"/>
          <a:lstStyle/>
          <a:p>
            <a:pPr indent="0" marL="0">
              <a:buNone/>
            </a:pPr>
            <a:r>
              <a:rPr lang="en-US" sz="1600" b="1" dirty="0">
                <a:solidFill>
                  <a:srgbClr val="1E2761"/>
                </a:solidFill>
                <a:latin typeface="Cambria" pitchFamily="34" charset="0"/>
                <a:ea typeface="Cambria" pitchFamily="34" charset="-122"/>
                <a:cs typeface="Cambria" pitchFamily="34" charset="-120"/>
              </a:rPr>
              <a:t>D. Venkatesan</a:t>
            </a:r>
            <a:endParaRPr lang="en-US" sz="1600" dirty="0"/>
          </a:p>
        </p:txBody>
      </p:sp>
      <p:sp>
        <p:nvSpPr>
          <p:cNvPr id="18" name="Shape 16"/>
          <p:cNvSpPr/>
          <p:nvPr/>
        </p:nvSpPr>
        <p:spPr>
          <a:xfrm>
            <a:off x="4389120" y="3520440"/>
            <a:ext cx="3566160" cy="1280160"/>
          </a:xfrm>
          <a:prstGeom prst="roundRect">
            <a:avLst>
              <a:gd name="adj" fmla="val 5714"/>
            </a:avLst>
          </a:prstGeom>
          <a:solidFill>
            <a:srgbClr val="F4F6FB"/>
          </a:solidFill>
          <a:ln/>
        </p:spPr>
      </p:sp>
      <p:sp>
        <p:nvSpPr>
          <p:cNvPr id="19" name="Text 17"/>
          <p:cNvSpPr/>
          <p:nvPr/>
        </p:nvSpPr>
        <p:spPr>
          <a:xfrm>
            <a:off x="4617720" y="3685032"/>
            <a:ext cx="3108960" cy="274320"/>
          </a:xfrm>
          <a:prstGeom prst="rect">
            <a:avLst/>
          </a:prstGeom>
          <a:noFill/>
          <a:ln/>
        </p:spPr>
        <p:txBody>
          <a:bodyPr wrap="square" lIns="0" tIns="0" rIns="0" bIns="0" rtlCol="0" anchor="ctr"/>
          <a:lstStyle/>
          <a:p>
            <a:pPr indent="0" marL="0">
              <a:buNone/>
            </a:pPr>
            <a:r>
              <a:rPr lang="en-US" sz="1100" b="1" spc="100" kern="0" dirty="0">
                <a:solidFill>
                  <a:srgbClr val="F2A541"/>
                </a:solidFill>
                <a:latin typeface="Calibri" pitchFamily="34" charset="0"/>
                <a:ea typeface="Calibri" pitchFamily="34" charset="-122"/>
                <a:cs typeface="Calibri" pitchFamily="34" charset="-120"/>
              </a:rPr>
              <a:t>SESSION TOPIC</a:t>
            </a:r>
            <a:endParaRPr lang="en-US" sz="1100" dirty="0"/>
          </a:p>
        </p:txBody>
      </p:sp>
      <p:sp>
        <p:nvSpPr>
          <p:cNvPr id="20" name="Text 18"/>
          <p:cNvSpPr/>
          <p:nvPr/>
        </p:nvSpPr>
        <p:spPr>
          <a:xfrm>
            <a:off x="4617720" y="3977640"/>
            <a:ext cx="3108960" cy="731520"/>
          </a:xfrm>
          <a:prstGeom prst="rect">
            <a:avLst/>
          </a:prstGeom>
          <a:noFill/>
          <a:ln/>
        </p:spPr>
        <p:txBody>
          <a:bodyPr wrap="square" lIns="0" tIns="0" rIns="0" bIns="0" rtlCol="0" anchor="t"/>
          <a:lstStyle/>
          <a:p>
            <a:pPr indent="0" marL="0">
              <a:buNone/>
            </a:pPr>
            <a:r>
              <a:rPr lang="en-US" sz="1600" b="1" dirty="0">
                <a:solidFill>
                  <a:srgbClr val="1E2761"/>
                </a:solidFill>
                <a:latin typeface="Cambria" pitchFamily="34" charset="0"/>
                <a:ea typeface="Cambria" pitchFamily="34" charset="-122"/>
                <a:cs typeface="Cambria" pitchFamily="34" charset="-120"/>
              </a:rPr>
              <a:t>Memory-Reference Instructions</a:t>
            </a:r>
            <a:endParaRPr lang="en-US" sz="1600" dirty="0"/>
          </a:p>
        </p:txBody>
      </p:sp>
      <p:sp>
        <p:nvSpPr>
          <p:cNvPr id="21" name="Shape 19"/>
          <p:cNvSpPr/>
          <p:nvPr/>
        </p:nvSpPr>
        <p:spPr>
          <a:xfrm>
            <a:off x="8229600" y="3520440"/>
            <a:ext cx="3566160" cy="1280160"/>
          </a:xfrm>
          <a:prstGeom prst="roundRect">
            <a:avLst>
              <a:gd name="adj" fmla="val 5714"/>
            </a:avLst>
          </a:prstGeom>
          <a:solidFill>
            <a:srgbClr val="F4F6FB"/>
          </a:solidFill>
          <a:ln/>
        </p:spPr>
      </p:sp>
      <p:sp>
        <p:nvSpPr>
          <p:cNvPr id="22" name="Text 20"/>
          <p:cNvSpPr/>
          <p:nvPr/>
        </p:nvSpPr>
        <p:spPr>
          <a:xfrm>
            <a:off x="8458200" y="3685032"/>
            <a:ext cx="3108960" cy="274320"/>
          </a:xfrm>
          <a:prstGeom prst="rect">
            <a:avLst/>
          </a:prstGeom>
          <a:noFill/>
          <a:ln/>
        </p:spPr>
        <p:txBody>
          <a:bodyPr wrap="square" lIns="0" tIns="0" rIns="0" bIns="0" rtlCol="0" anchor="ctr"/>
          <a:lstStyle/>
          <a:p>
            <a:pPr indent="0" marL="0">
              <a:buNone/>
            </a:pPr>
            <a:r>
              <a:rPr lang="en-US" sz="1100" b="1" spc="100" kern="0" dirty="0">
                <a:solidFill>
                  <a:srgbClr val="F2A541"/>
                </a:solidFill>
                <a:latin typeface="Calibri" pitchFamily="34" charset="0"/>
                <a:ea typeface="Calibri" pitchFamily="34" charset="-122"/>
                <a:cs typeface="Calibri" pitchFamily="34" charset="-120"/>
              </a:rPr>
              <a:t>DURATION</a:t>
            </a:r>
            <a:endParaRPr lang="en-US" sz="1100" dirty="0"/>
          </a:p>
        </p:txBody>
      </p:sp>
      <p:sp>
        <p:nvSpPr>
          <p:cNvPr id="23" name="Text 21"/>
          <p:cNvSpPr/>
          <p:nvPr/>
        </p:nvSpPr>
        <p:spPr>
          <a:xfrm>
            <a:off x="8458200" y="3977640"/>
            <a:ext cx="3108960" cy="731520"/>
          </a:xfrm>
          <a:prstGeom prst="rect">
            <a:avLst/>
          </a:prstGeom>
          <a:noFill/>
          <a:ln/>
        </p:spPr>
        <p:txBody>
          <a:bodyPr wrap="square" lIns="0" tIns="0" rIns="0" bIns="0" rtlCol="0" anchor="t"/>
          <a:lstStyle/>
          <a:p>
            <a:pPr indent="0" marL="0">
              <a:buNone/>
            </a:pPr>
            <a:r>
              <a:rPr lang="en-US" sz="1600" b="1" dirty="0">
                <a:solidFill>
                  <a:srgbClr val="1E2761"/>
                </a:solidFill>
                <a:latin typeface="Cambria" pitchFamily="34" charset="0"/>
                <a:ea typeface="Cambria" pitchFamily="34" charset="-122"/>
                <a:cs typeface="Cambria" pitchFamily="34" charset="-120"/>
              </a:rPr>
              <a:t>1 Hour Lecture</a:t>
            </a:r>
            <a:endParaRPr lang="en-US" sz="1600" dirty="0"/>
          </a:p>
        </p:txBody>
      </p:sp>
      <p:sp>
        <p:nvSpPr>
          <p:cNvPr id="24" name="Text 22"/>
          <p:cNvSpPr/>
          <p:nvPr/>
        </p:nvSpPr>
        <p:spPr>
          <a:xfrm>
            <a:off x="457200" y="6510528"/>
            <a:ext cx="8686800" cy="274320"/>
          </a:xfrm>
          <a:prstGeom prst="rect">
            <a:avLst/>
          </a:prstGeom>
          <a:noFill/>
          <a:ln/>
        </p:spPr>
        <p:txBody>
          <a:bodyPr wrap="square" lIns="0" tIns="0" rIns="0" bIns="0" rtlCol="0" anchor="ctr"/>
          <a:lstStyle/>
          <a:p>
            <a:pPr algn="l" indent="0" marL="0">
              <a:buNone/>
            </a:pPr>
            <a:r>
              <a:rPr lang="en-US" sz="900" dirty="0">
                <a:solidFill>
                  <a:srgbClr val="9AA0AE"/>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
        <p:nvSpPr>
          <p:cNvPr id="25" name="Text 23"/>
          <p:cNvSpPr/>
          <p:nvPr/>
        </p:nvSpPr>
        <p:spPr>
          <a:xfrm>
            <a:off x="11338560" y="6510528"/>
            <a:ext cx="457200" cy="274320"/>
          </a:xfrm>
          <a:prstGeom prst="rect">
            <a:avLst/>
          </a:prstGeom>
          <a:noFill/>
          <a:ln/>
        </p:spPr>
        <p:txBody>
          <a:bodyPr wrap="square" lIns="0" tIns="0" rIns="0" bIns="0" rtlCol="0" anchor="ctr"/>
          <a:lstStyle/>
          <a:p>
            <a:pPr algn="r" indent="0" marL="0">
              <a:buNone/>
            </a:pPr>
            <a:r>
              <a:rPr lang="en-US" sz="900" dirty="0">
                <a:solidFill>
                  <a:srgbClr val="9AA0AE"/>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indent="0" marL="0">
              <a:buNone/>
            </a:pPr>
            <a:r>
              <a:rPr lang="en-US" sz="1300" b="1" spc="200" kern="0" dirty="0">
                <a:solidFill>
                  <a:srgbClr val="F2A541"/>
                </a:solidFill>
                <a:latin typeface="Calibri" pitchFamily="34" charset="0"/>
                <a:ea typeface="Calibri" pitchFamily="34" charset="-122"/>
                <a:cs typeface="Calibri" pitchFamily="34" charset="-120"/>
              </a:rPr>
              <a:t>SESSION ROADMAP</a:t>
            </a:r>
            <a:endParaRPr lang="en-US" sz="1300" dirty="0"/>
          </a:p>
        </p:txBody>
      </p:sp>
      <p:sp>
        <p:nvSpPr>
          <p:cNvPr id="3" name="Text 1"/>
          <p:cNvSpPr/>
          <p:nvPr/>
        </p:nvSpPr>
        <p:spPr>
          <a:xfrm>
            <a:off x="548640" y="685800"/>
            <a:ext cx="8778240" cy="91440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Learning Objectives</a:t>
            </a:r>
            <a:endParaRPr lang="en-US" sz="3200" dirty="0"/>
          </a:p>
        </p:txBody>
      </p:sp>
      <p:sp>
        <p:nvSpPr>
          <p:cNvPr id="4" name="Shape 2"/>
          <p:cNvSpPr/>
          <p:nvPr/>
        </p:nvSpPr>
        <p:spPr>
          <a:xfrm>
            <a:off x="10607040" y="502920"/>
            <a:ext cx="822960" cy="822960"/>
          </a:xfrm>
          <a:prstGeom prst="ellipse">
            <a:avLst/>
          </a:prstGeom>
          <a:solidFill>
            <a:srgbClr val="1E2761"/>
          </a:solidFill>
          <a:ln/>
        </p:spPr>
      </p:sp>
      <p:sp>
        <p:nvSpPr>
          <p:cNvPr id="5" name="Text 3"/>
          <p:cNvSpPr/>
          <p:nvPr/>
        </p:nvSpPr>
        <p:spPr>
          <a:xfrm>
            <a:off x="10607040" y="502920"/>
            <a:ext cx="822960" cy="822960"/>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a:t>
            </a:r>
            <a:endParaRPr lang="en-US" sz="2600" dirty="0"/>
          </a:p>
        </p:txBody>
      </p:sp>
      <p:sp>
        <p:nvSpPr>
          <p:cNvPr id="6" name="Text 4"/>
          <p:cNvSpPr/>
          <p:nvPr/>
        </p:nvSpPr>
        <p:spPr>
          <a:xfrm>
            <a:off x="548640" y="1691640"/>
            <a:ext cx="10241280" cy="4498848"/>
          </a:xfrm>
          <a:prstGeom prst="rect">
            <a:avLst/>
          </a:prstGeom>
          <a:noFill/>
          <a:ln/>
        </p:spPr>
        <p:txBody>
          <a:bodyPr wrap="square" lIns="0" tIns="0" rIns="0" bIns="0" rtlCol="0" anchor="t"/>
          <a:lstStyle/>
          <a:p>
            <a:pPr marL="228600" indent="-228600">
              <a:spcAft>
                <a:spcPts val="1200"/>
              </a:spcAft>
              <a:buSzPct val="100000"/>
              <a:buChar char="▪"/>
            </a:pPr>
            <a:r>
              <a:rPr lang="en-US" sz="1700" dirty="0">
                <a:solidFill>
                  <a:srgbClr val="232323"/>
                </a:solidFill>
                <a:latin typeface="Calibri" pitchFamily="34" charset="0"/>
                <a:ea typeface="Calibri" pitchFamily="34" charset="-122"/>
                <a:cs typeface="Calibri" pitchFamily="34" charset="-120"/>
              </a:rPr>
              <a:t>Explain what a memory-reference instruction is and how it differs from a register-reference or I/O instruction.</a:t>
            </a:r>
            <a:endParaRPr lang="en-US" sz="1700" dirty="0"/>
          </a:p>
          <a:p>
            <a:pPr marL="228600" indent="-228600">
              <a:spcAft>
                <a:spcPts val="1200"/>
              </a:spcAft>
              <a:buSzPct val="100000"/>
              <a:buChar char="▪"/>
            </a:pPr>
            <a:r>
              <a:rPr lang="en-US" sz="1700" dirty="0">
                <a:solidFill>
                  <a:srgbClr val="232323"/>
                </a:solidFill>
                <a:latin typeface="Calibri" pitchFamily="34" charset="0"/>
                <a:ea typeface="Calibri" pitchFamily="34" charset="-122"/>
                <a:cs typeface="Calibri" pitchFamily="34" charset="-120"/>
              </a:rPr>
              <a:t>Read the 16-bit instruction format used in the Basic Computer and identify the opcode, addressing mode bit, and address field.</a:t>
            </a:r>
            <a:endParaRPr lang="en-US" sz="1700" dirty="0"/>
          </a:p>
          <a:p>
            <a:pPr marL="228600" indent="-228600">
              <a:spcAft>
                <a:spcPts val="1200"/>
              </a:spcAft>
              <a:buSzPct val="100000"/>
              <a:buChar char="▪"/>
            </a:pPr>
            <a:r>
              <a:rPr lang="en-US" sz="1700" dirty="0">
                <a:solidFill>
                  <a:srgbClr val="232323"/>
                </a:solidFill>
                <a:latin typeface="Calibri" pitchFamily="34" charset="0"/>
                <a:ea typeface="Calibri" pitchFamily="34" charset="-122"/>
                <a:cs typeface="Calibri" pitchFamily="34" charset="-120"/>
              </a:rPr>
              <a:t>Calculate the Effective Address (EA) for both direct and indirect addressing.</a:t>
            </a:r>
            <a:endParaRPr lang="en-US" sz="1700" dirty="0"/>
          </a:p>
          <a:p>
            <a:pPr marL="228600" indent="-228600">
              <a:spcAft>
                <a:spcPts val="1200"/>
              </a:spcAft>
              <a:buSzPct val="100000"/>
              <a:buChar char="▪"/>
            </a:pPr>
            <a:r>
              <a:rPr lang="en-US" sz="1700" dirty="0">
                <a:solidFill>
                  <a:srgbClr val="232323"/>
                </a:solidFill>
                <a:latin typeface="Calibri" pitchFamily="34" charset="0"/>
                <a:ea typeface="Calibri" pitchFamily="34" charset="-122"/>
                <a:cs typeface="Calibri" pitchFamily="34" charset="-120"/>
              </a:rPr>
              <a:t>Describe the operation of all seven memory-reference instructions: AND, ADD, LDA, STA, BUN, BSA, and ISZ.</a:t>
            </a:r>
            <a:endParaRPr lang="en-US" sz="1700" dirty="0"/>
          </a:p>
          <a:p>
            <a:pPr marL="228600" indent="-228600">
              <a:spcAft>
                <a:spcPts val="1200"/>
              </a:spcAft>
              <a:buSzPct val="100000"/>
              <a:buChar char="▪"/>
            </a:pPr>
            <a:r>
              <a:rPr lang="en-US" sz="1700" dirty="0">
                <a:solidFill>
                  <a:srgbClr val="232323"/>
                </a:solidFill>
                <a:latin typeface="Calibri" pitchFamily="34" charset="0"/>
                <a:ea typeface="Calibri" pitchFamily="34" charset="-122"/>
                <a:cs typeface="Calibri" pitchFamily="34" charset="-120"/>
              </a:rPr>
              <a:t>Trace, step by step, how a memory-reference instruction executes using registers AR, PC, DR, AC, and IR.</a:t>
            </a:r>
            <a:endParaRPr lang="en-US" sz="1700" dirty="0"/>
          </a:p>
          <a:p>
            <a:pPr marL="228600" indent="-228600">
              <a:spcAft>
                <a:spcPts val="1200"/>
              </a:spcAft>
              <a:buSzPct val="100000"/>
              <a:buChar char="▪"/>
            </a:pPr>
            <a:r>
              <a:rPr lang="en-US" sz="1700" dirty="0">
                <a:solidFill>
                  <a:srgbClr val="232323"/>
                </a:solidFill>
                <a:latin typeface="Calibri" pitchFamily="34" charset="0"/>
                <a:ea typeface="Calibri" pitchFamily="34" charset="-122"/>
                <a:cs typeface="Calibri" pitchFamily="34" charset="-120"/>
              </a:rPr>
              <a:t>Apply this knowledge to a short quiz at the end of the session.</a:t>
            </a:r>
            <a:endParaRPr lang="en-US" sz="1700" dirty="0"/>
          </a:p>
        </p:txBody>
      </p:sp>
      <p:sp>
        <p:nvSpPr>
          <p:cNvPr id="7" name="Text 5"/>
          <p:cNvSpPr/>
          <p:nvPr/>
        </p:nvSpPr>
        <p:spPr>
          <a:xfrm>
            <a:off x="457200" y="6510528"/>
            <a:ext cx="8686800" cy="274320"/>
          </a:xfrm>
          <a:prstGeom prst="rect">
            <a:avLst/>
          </a:prstGeom>
          <a:noFill/>
          <a:ln/>
        </p:spPr>
        <p:txBody>
          <a:bodyPr wrap="square" lIns="0" tIns="0" rIns="0" bIns="0" rtlCol="0" anchor="ctr"/>
          <a:lstStyle/>
          <a:p>
            <a:pPr algn="l" indent="0" marL="0">
              <a:buNone/>
            </a:pPr>
            <a:r>
              <a:rPr lang="en-US" sz="900" dirty="0">
                <a:solidFill>
                  <a:srgbClr val="9AA0AE"/>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
        <p:nvSpPr>
          <p:cNvPr id="8" name="Text 6"/>
          <p:cNvSpPr/>
          <p:nvPr/>
        </p:nvSpPr>
        <p:spPr>
          <a:xfrm>
            <a:off x="11338560" y="6510528"/>
            <a:ext cx="457200" cy="274320"/>
          </a:xfrm>
          <a:prstGeom prst="rect">
            <a:avLst/>
          </a:prstGeom>
          <a:noFill/>
          <a:ln/>
        </p:spPr>
        <p:txBody>
          <a:bodyPr wrap="square" lIns="0" tIns="0" rIns="0" bIns="0" rtlCol="0" anchor="ctr"/>
          <a:lstStyle/>
          <a:p>
            <a:pPr algn="r" indent="0" marL="0">
              <a:buNone/>
            </a:pPr>
            <a:r>
              <a:rPr lang="en-US" sz="900" dirty="0">
                <a:solidFill>
                  <a:srgbClr val="9AA0AE"/>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indent="0" marL="0">
              <a:buNone/>
            </a:pPr>
            <a:r>
              <a:rPr lang="en-US" sz="1300" b="1" spc="200" kern="0" dirty="0">
                <a:solidFill>
                  <a:srgbClr val="F2A541"/>
                </a:solidFill>
                <a:latin typeface="Calibri" pitchFamily="34" charset="0"/>
                <a:ea typeface="Calibri" pitchFamily="34" charset="-122"/>
                <a:cs typeface="Calibri" pitchFamily="34" charset="-120"/>
              </a:rPr>
              <a:t>WARM-UP</a:t>
            </a:r>
            <a:endParaRPr lang="en-US" sz="1300" dirty="0"/>
          </a:p>
        </p:txBody>
      </p:sp>
      <p:sp>
        <p:nvSpPr>
          <p:cNvPr id="3" name="Text 1"/>
          <p:cNvSpPr/>
          <p:nvPr/>
        </p:nvSpPr>
        <p:spPr>
          <a:xfrm>
            <a:off x="548640" y="685800"/>
            <a:ext cx="8778240" cy="91440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Icebreaker: Let's Get Thinking</a:t>
            </a:r>
            <a:endParaRPr lang="en-US" sz="3200" dirty="0"/>
          </a:p>
        </p:txBody>
      </p:sp>
      <p:sp>
        <p:nvSpPr>
          <p:cNvPr id="4" name="Shape 2"/>
          <p:cNvSpPr/>
          <p:nvPr/>
        </p:nvSpPr>
        <p:spPr>
          <a:xfrm>
            <a:off x="10607040" y="502920"/>
            <a:ext cx="822960" cy="822960"/>
          </a:xfrm>
          <a:prstGeom prst="ellipse">
            <a:avLst/>
          </a:prstGeom>
          <a:solidFill>
            <a:srgbClr val="1E2761"/>
          </a:solidFill>
          <a:ln/>
        </p:spPr>
      </p:sp>
      <p:sp>
        <p:nvSpPr>
          <p:cNvPr id="5" name="Text 3"/>
          <p:cNvSpPr/>
          <p:nvPr/>
        </p:nvSpPr>
        <p:spPr>
          <a:xfrm>
            <a:off x="10607040" y="502920"/>
            <a:ext cx="822960" cy="822960"/>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a:t>
            </a:r>
            <a:endParaRPr lang="en-US" sz="2600" dirty="0"/>
          </a:p>
        </p:txBody>
      </p:sp>
      <p:sp>
        <p:nvSpPr>
          <p:cNvPr id="6" name="Text 4"/>
          <p:cNvSpPr/>
          <p:nvPr/>
        </p:nvSpPr>
        <p:spPr>
          <a:xfrm>
            <a:off x="548640" y="1691640"/>
            <a:ext cx="10241280" cy="4498848"/>
          </a:xfrm>
          <a:prstGeom prst="rect">
            <a:avLst/>
          </a:prstGeom>
          <a:noFill/>
          <a:ln/>
        </p:spPr>
        <p:txBody>
          <a:bodyPr wrap="square" lIns="0" tIns="0" rIns="0" bIns="0" rtlCol="0" anchor="t"/>
          <a:lstStyle/>
          <a:p>
            <a:pPr marL="228600" indent="-228600">
              <a:spcAft>
                <a:spcPts val="1200"/>
              </a:spcAft>
              <a:buSzPct val="100000"/>
              <a:buChar char="▪"/>
            </a:pPr>
            <a:r>
              <a:rPr lang="en-US" sz="1700" dirty="0">
                <a:solidFill>
                  <a:srgbClr val="232323"/>
                </a:solidFill>
                <a:latin typeface="Calibri" pitchFamily="34" charset="0"/>
                <a:ea typeface="Calibri" pitchFamily="34" charset="-122"/>
                <a:cs typeface="Calibri" pitchFamily="34" charset="-120"/>
              </a:rPr>
              <a:t>When you save a file on your laptop and reopen it a week later, where do you think that data physically 'lived' the whole time?</a:t>
            </a:r>
            <a:endParaRPr lang="en-US" sz="1700" dirty="0"/>
          </a:p>
          <a:p>
            <a:pPr marL="228600" indent="-228600">
              <a:spcAft>
                <a:spcPts val="1200"/>
              </a:spcAft>
              <a:buSzPct val="100000"/>
              <a:buChar char="▪"/>
            </a:pPr>
            <a:r>
              <a:rPr lang="en-US" sz="1700" dirty="0">
                <a:solidFill>
                  <a:srgbClr val="232323"/>
                </a:solidFill>
                <a:latin typeface="Calibri" pitchFamily="34" charset="0"/>
                <a:ea typeface="Calibri" pitchFamily="34" charset="-122"/>
                <a:cs typeface="Calibri" pitchFamily="34" charset="-120"/>
              </a:rPr>
              <a:t>If you had to give your computer only ONE instruction — 'go get this value' or 'go save this value' — which everyday task would break first without it?</a:t>
            </a:r>
            <a:endParaRPr lang="en-US" sz="1700" dirty="0"/>
          </a:p>
          <a:p>
            <a:pPr marL="228600" indent="-228600">
              <a:spcAft>
                <a:spcPts val="1200"/>
              </a:spcAft>
              <a:buSzPct val="100000"/>
              <a:buChar char="▪"/>
            </a:pPr>
            <a:r>
              <a:rPr lang="en-US" sz="1700" dirty="0">
                <a:solidFill>
                  <a:srgbClr val="232323"/>
                </a:solidFill>
                <a:latin typeface="Calibri" pitchFamily="34" charset="0"/>
                <a:ea typeface="Calibri" pitchFamily="34" charset="-122"/>
                <a:cs typeface="Calibri" pitchFamily="34" charset="-120"/>
              </a:rPr>
              <a:t>Quick poll: Which sounds more mysterious to you right now — 'opcode', 'addressing mode', or 'effective address'?</a:t>
            </a:r>
            <a:endParaRPr lang="en-US" sz="1700" dirty="0"/>
          </a:p>
        </p:txBody>
      </p:sp>
      <p:sp>
        <p:nvSpPr>
          <p:cNvPr id="7" name="Text 5"/>
          <p:cNvSpPr/>
          <p:nvPr/>
        </p:nvSpPr>
        <p:spPr>
          <a:xfrm>
            <a:off x="457200" y="6510528"/>
            <a:ext cx="8686800" cy="274320"/>
          </a:xfrm>
          <a:prstGeom prst="rect">
            <a:avLst/>
          </a:prstGeom>
          <a:noFill/>
          <a:ln/>
        </p:spPr>
        <p:txBody>
          <a:bodyPr wrap="square" lIns="0" tIns="0" rIns="0" bIns="0" rtlCol="0" anchor="ctr"/>
          <a:lstStyle/>
          <a:p>
            <a:pPr algn="l" indent="0" marL="0">
              <a:buNone/>
            </a:pPr>
            <a:r>
              <a:rPr lang="en-US" sz="900" dirty="0">
                <a:solidFill>
                  <a:srgbClr val="9AA0AE"/>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
        <p:nvSpPr>
          <p:cNvPr id="8" name="Text 6"/>
          <p:cNvSpPr/>
          <p:nvPr/>
        </p:nvSpPr>
        <p:spPr>
          <a:xfrm>
            <a:off x="11338560" y="6510528"/>
            <a:ext cx="457200" cy="274320"/>
          </a:xfrm>
          <a:prstGeom prst="rect">
            <a:avLst/>
          </a:prstGeom>
          <a:noFill/>
          <a:ln/>
        </p:spPr>
        <p:txBody>
          <a:bodyPr wrap="square" lIns="0" tIns="0" rIns="0" bIns="0" rtlCol="0" anchor="ctr"/>
          <a:lstStyle/>
          <a:p>
            <a:pPr algn="r" indent="0" marL="0">
              <a:buNone/>
            </a:pPr>
            <a:r>
              <a:rPr lang="en-US" sz="900" dirty="0">
                <a:solidFill>
                  <a:srgbClr val="9AA0AE"/>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indent="0" marL="0">
              <a:buNone/>
            </a:pPr>
            <a:r>
              <a:rPr lang="en-US" sz="1300" b="1" spc="200" kern="0" dirty="0">
                <a:solidFill>
                  <a:srgbClr val="F2A541"/>
                </a:solidFill>
                <a:latin typeface="Calibri" pitchFamily="34" charset="0"/>
                <a:ea typeface="Calibri" pitchFamily="34" charset="-122"/>
                <a:cs typeface="Calibri" pitchFamily="34" charset="-120"/>
              </a:rPr>
              <a:t>MOTIVATION</a:t>
            </a:r>
            <a:endParaRPr lang="en-US" sz="1300" dirty="0"/>
          </a:p>
        </p:txBody>
      </p:sp>
      <p:sp>
        <p:nvSpPr>
          <p:cNvPr id="3" name="Text 1"/>
          <p:cNvSpPr/>
          <p:nvPr/>
        </p:nvSpPr>
        <p:spPr>
          <a:xfrm>
            <a:off x="548640" y="685800"/>
            <a:ext cx="8778240" cy="91440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Why Memory-Reference Instructions Matter</a:t>
            </a:r>
            <a:endParaRPr lang="en-US" sz="3200" dirty="0"/>
          </a:p>
        </p:txBody>
      </p:sp>
      <p:sp>
        <p:nvSpPr>
          <p:cNvPr id="4" name="Shape 2"/>
          <p:cNvSpPr/>
          <p:nvPr/>
        </p:nvSpPr>
        <p:spPr>
          <a:xfrm>
            <a:off x="10607040" y="502920"/>
            <a:ext cx="822960" cy="822960"/>
          </a:xfrm>
          <a:prstGeom prst="ellipse">
            <a:avLst/>
          </a:prstGeom>
          <a:solidFill>
            <a:srgbClr val="1E2761"/>
          </a:solidFill>
          <a:ln/>
        </p:spPr>
      </p:sp>
      <p:sp>
        <p:nvSpPr>
          <p:cNvPr id="5" name="Text 3"/>
          <p:cNvSpPr/>
          <p:nvPr/>
        </p:nvSpPr>
        <p:spPr>
          <a:xfrm>
            <a:off x="10607040" y="502920"/>
            <a:ext cx="822960" cy="822960"/>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a:t>
            </a:r>
            <a:endParaRPr lang="en-US" sz="2600" dirty="0"/>
          </a:p>
        </p:txBody>
      </p:sp>
      <p:sp>
        <p:nvSpPr>
          <p:cNvPr id="6" name="Text 4"/>
          <p:cNvSpPr/>
          <p:nvPr/>
        </p:nvSpPr>
        <p:spPr>
          <a:xfrm>
            <a:off x="548640" y="1691640"/>
            <a:ext cx="10241280" cy="4498848"/>
          </a:xfrm>
          <a:prstGeom prst="rect">
            <a:avLst/>
          </a:prstGeom>
          <a:noFill/>
          <a:ln/>
        </p:spPr>
        <p:txBody>
          <a:bodyPr wrap="square" lIns="0" tIns="0" rIns="0" bIns="0" rtlCol="0" anchor="t"/>
          <a:lstStyle/>
          <a:p>
            <a:pPr marL="228600" indent="-228600">
              <a:spcAft>
                <a:spcPts val="1200"/>
              </a:spcAft>
              <a:buSzPct val="100000"/>
              <a:buChar char="▪"/>
            </a:pPr>
            <a:r>
              <a:rPr lang="en-US" sz="1700" dirty="0">
                <a:solidFill>
                  <a:srgbClr val="232323"/>
                </a:solidFill>
                <a:latin typeface="Calibri" pitchFamily="34" charset="0"/>
                <a:ea typeface="Calibri" pitchFamily="34" charset="-122"/>
                <a:cs typeface="Calibri" pitchFamily="34" charset="-120"/>
              </a:rPr>
              <a:t>Every variable you declare in C, Python, or Java eventually becomes a memory location the CPU must read or write.</a:t>
            </a:r>
            <a:endParaRPr lang="en-US" sz="1700" dirty="0"/>
          </a:p>
          <a:p>
            <a:pPr marL="228600" indent="-228600">
              <a:spcAft>
                <a:spcPts val="1200"/>
              </a:spcAft>
              <a:buSzPct val="100000"/>
              <a:buChar char="▪"/>
            </a:pPr>
            <a:r>
              <a:rPr lang="en-US" sz="1700" dirty="0">
                <a:solidFill>
                  <a:srgbClr val="232323"/>
                </a:solidFill>
                <a:latin typeface="Calibri" pitchFamily="34" charset="0"/>
                <a:ea typeface="Calibri" pitchFamily="34" charset="-122"/>
                <a:cs typeface="Calibri" pitchFamily="34" charset="-120"/>
              </a:rPr>
              <a:t>Function calls, loops, and array indexing all rely on the CPU fetching values from — and storing values to — memory.</a:t>
            </a:r>
            <a:endParaRPr lang="en-US" sz="1700" dirty="0"/>
          </a:p>
          <a:p>
            <a:pPr marL="228600" indent="-228600">
              <a:spcAft>
                <a:spcPts val="1200"/>
              </a:spcAft>
              <a:buSzPct val="100000"/>
              <a:buChar char="▪"/>
            </a:pPr>
            <a:r>
              <a:rPr lang="en-US" sz="1700" dirty="0">
                <a:solidFill>
                  <a:srgbClr val="232323"/>
                </a:solidFill>
                <a:latin typeface="Calibri" pitchFamily="34" charset="0"/>
                <a:ea typeface="Calibri" pitchFamily="34" charset="-122"/>
                <a:cs typeface="Calibri" pitchFamily="34" charset="-120"/>
              </a:rPr>
              <a:t>Compilers translate your high-level code into exactly this kind of instruction: load, store, branch, and modify.</a:t>
            </a:r>
            <a:endParaRPr lang="en-US" sz="1700" dirty="0"/>
          </a:p>
          <a:p>
            <a:pPr marL="228600" indent="-228600">
              <a:spcAft>
                <a:spcPts val="1200"/>
              </a:spcAft>
              <a:buSzPct val="100000"/>
              <a:buChar char="▪"/>
            </a:pPr>
            <a:r>
              <a:rPr lang="en-US" sz="1700" dirty="0">
                <a:solidFill>
                  <a:srgbClr val="232323"/>
                </a:solidFill>
                <a:latin typeface="Calibri" pitchFamily="34" charset="0"/>
                <a:ea typeface="Calibri" pitchFamily="34" charset="-122"/>
                <a:cs typeface="Calibri" pitchFamily="34" charset="-120"/>
              </a:rPr>
              <a:t>Understanding this layer demystifies 'segmentation fault', 'stack overflow', and 'null pointer' errors you'll meet later.</a:t>
            </a:r>
            <a:endParaRPr lang="en-US" sz="1700" dirty="0"/>
          </a:p>
          <a:p>
            <a:pPr marL="228600" indent="-228600">
              <a:spcAft>
                <a:spcPts val="1200"/>
              </a:spcAft>
              <a:buSzPct val="100000"/>
              <a:buChar char="▪"/>
            </a:pPr>
            <a:r>
              <a:rPr lang="en-US" sz="1700" dirty="0">
                <a:solidFill>
                  <a:srgbClr val="232323"/>
                </a:solidFill>
                <a:latin typeface="Calibri" pitchFamily="34" charset="0"/>
                <a:ea typeface="Calibri" pitchFamily="34" charset="-122"/>
                <a:cs typeface="Calibri" pitchFamily="34" charset="-120"/>
              </a:rPr>
              <a:t>This is the foundation for CPU design, assembly language programming, and even how malware/exploits manipulate memory.</a:t>
            </a:r>
            <a:endParaRPr lang="en-US" sz="1700" dirty="0"/>
          </a:p>
        </p:txBody>
      </p:sp>
      <p:sp>
        <p:nvSpPr>
          <p:cNvPr id="7" name="Text 5"/>
          <p:cNvSpPr/>
          <p:nvPr/>
        </p:nvSpPr>
        <p:spPr>
          <a:xfrm>
            <a:off x="457200" y="6510528"/>
            <a:ext cx="8686800" cy="274320"/>
          </a:xfrm>
          <a:prstGeom prst="rect">
            <a:avLst/>
          </a:prstGeom>
          <a:noFill/>
          <a:ln/>
        </p:spPr>
        <p:txBody>
          <a:bodyPr wrap="square" lIns="0" tIns="0" rIns="0" bIns="0" rtlCol="0" anchor="ctr"/>
          <a:lstStyle/>
          <a:p>
            <a:pPr algn="l" indent="0" marL="0">
              <a:buNone/>
            </a:pPr>
            <a:r>
              <a:rPr lang="en-US" sz="900" dirty="0">
                <a:solidFill>
                  <a:srgbClr val="9AA0AE"/>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
        <p:nvSpPr>
          <p:cNvPr id="8" name="Text 6"/>
          <p:cNvSpPr/>
          <p:nvPr/>
        </p:nvSpPr>
        <p:spPr>
          <a:xfrm>
            <a:off x="11338560" y="6510528"/>
            <a:ext cx="457200" cy="274320"/>
          </a:xfrm>
          <a:prstGeom prst="rect">
            <a:avLst/>
          </a:prstGeom>
          <a:noFill/>
          <a:ln/>
        </p:spPr>
        <p:txBody>
          <a:bodyPr wrap="square" lIns="0" tIns="0" rIns="0" bIns="0" rtlCol="0" anchor="ctr"/>
          <a:lstStyle/>
          <a:p>
            <a:pPr algn="r" indent="0" marL="0">
              <a:buNone/>
            </a:pPr>
            <a:r>
              <a:rPr lang="en-US" sz="900" dirty="0">
                <a:solidFill>
                  <a:srgbClr val="9AA0AE"/>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indent="0" marL="0">
              <a:buNone/>
            </a:pPr>
            <a:r>
              <a:rPr lang="en-US" sz="1300" b="1" spc="200" kern="0" dirty="0">
                <a:solidFill>
                  <a:srgbClr val="F2A541"/>
                </a:solidFill>
                <a:latin typeface="Calibri" pitchFamily="34" charset="0"/>
                <a:ea typeface="Calibri" pitchFamily="34" charset="-122"/>
                <a:cs typeface="Calibri" pitchFamily="34" charset="-120"/>
              </a:rPr>
              <a:t>QUICK RECAP</a:t>
            </a:r>
            <a:endParaRPr lang="en-US" sz="1300" dirty="0"/>
          </a:p>
        </p:txBody>
      </p:sp>
      <p:sp>
        <p:nvSpPr>
          <p:cNvPr id="3" name="Text 1"/>
          <p:cNvSpPr/>
          <p:nvPr/>
        </p:nvSpPr>
        <p:spPr>
          <a:xfrm>
            <a:off x="548640" y="685800"/>
            <a:ext cx="8778240" cy="73152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The Basic Computer: Key Registers</a:t>
            </a:r>
            <a:endParaRPr lang="en-US" sz="3000" dirty="0"/>
          </a:p>
        </p:txBody>
      </p:sp>
      <p:sp>
        <p:nvSpPr>
          <p:cNvPr id="4" name="Shape 2"/>
          <p:cNvSpPr/>
          <p:nvPr/>
        </p:nvSpPr>
        <p:spPr>
          <a:xfrm>
            <a:off x="548640" y="1691640"/>
            <a:ext cx="3566160" cy="1417320"/>
          </a:xfrm>
          <a:prstGeom prst="roundRect">
            <a:avLst>
              <a:gd name="adj" fmla="val 5161"/>
            </a:avLst>
          </a:prstGeom>
          <a:solidFill>
            <a:srgbClr val="F4F6FB"/>
          </a:solidFill>
          <a:ln/>
        </p:spPr>
      </p:sp>
      <p:sp>
        <p:nvSpPr>
          <p:cNvPr id="5" name="Shape 3"/>
          <p:cNvSpPr/>
          <p:nvPr/>
        </p:nvSpPr>
        <p:spPr>
          <a:xfrm>
            <a:off x="731520" y="1874520"/>
            <a:ext cx="502920" cy="502920"/>
          </a:xfrm>
          <a:prstGeom prst="ellipse">
            <a:avLst/>
          </a:prstGeom>
          <a:solidFill>
            <a:srgbClr val="1E2761"/>
          </a:solidFill>
          <a:ln/>
        </p:spPr>
      </p:sp>
      <p:sp>
        <p:nvSpPr>
          <p:cNvPr id="6" name="Text 4"/>
          <p:cNvSpPr/>
          <p:nvPr/>
        </p:nvSpPr>
        <p:spPr>
          <a:xfrm>
            <a:off x="731520" y="1874520"/>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AR</a:t>
            </a:r>
            <a:endParaRPr lang="en-US" sz="1400" dirty="0"/>
          </a:p>
        </p:txBody>
      </p:sp>
      <p:sp>
        <p:nvSpPr>
          <p:cNvPr id="7" name="Text 5"/>
          <p:cNvSpPr/>
          <p:nvPr/>
        </p:nvSpPr>
        <p:spPr>
          <a:xfrm>
            <a:off x="1371600" y="1856232"/>
            <a:ext cx="2560320" cy="320040"/>
          </a:xfrm>
          <a:prstGeom prst="rect">
            <a:avLst/>
          </a:prstGeom>
          <a:noFill/>
          <a:ln/>
        </p:spPr>
        <p:txBody>
          <a:bodyPr wrap="square" lIns="0" tIns="0" rIns="0" bIns="0" rtlCol="0" anchor="ctr"/>
          <a:lstStyle/>
          <a:p>
            <a:pPr indent="0" marL="0">
              <a:buNone/>
            </a:pPr>
            <a:r>
              <a:rPr lang="en-US" sz="1400" b="1" dirty="0">
                <a:solidFill>
                  <a:srgbClr val="1E2761"/>
                </a:solidFill>
                <a:latin typeface="Cambria" pitchFamily="34" charset="0"/>
                <a:ea typeface="Cambria" pitchFamily="34" charset="-122"/>
                <a:cs typeface="Cambria" pitchFamily="34" charset="-120"/>
              </a:rPr>
              <a:t>Address Register</a:t>
            </a:r>
            <a:endParaRPr lang="en-US" sz="1400" dirty="0"/>
          </a:p>
        </p:txBody>
      </p:sp>
      <p:sp>
        <p:nvSpPr>
          <p:cNvPr id="8" name="Text 6"/>
          <p:cNvSpPr/>
          <p:nvPr/>
        </p:nvSpPr>
        <p:spPr>
          <a:xfrm>
            <a:off x="731520" y="2404872"/>
            <a:ext cx="3200400" cy="640080"/>
          </a:xfrm>
          <a:prstGeom prst="rect">
            <a:avLst/>
          </a:prstGeom>
          <a:noFill/>
          <a:ln/>
        </p:spPr>
        <p:txBody>
          <a:bodyPr wrap="square" lIns="0" tIns="0" rIns="0" bIns="0" rtlCol="0" anchor="t"/>
          <a:lstStyle/>
          <a:p>
            <a:pPr indent="0" marL="0">
              <a:buNone/>
            </a:pPr>
            <a:r>
              <a:rPr lang="en-US" sz="1150" dirty="0">
                <a:solidFill>
                  <a:srgbClr val="232323"/>
                </a:solidFill>
                <a:latin typeface="Calibri" pitchFamily="34" charset="0"/>
                <a:ea typeface="Calibri" pitchFamily="34" charset="-122"/>
                <a:cs typeface="Calibri" pitchFamily="34" charset="-120"/>
              </a:rPr>
              <a:t>Holds the memory address to be accessed</a:t>
            </a:r>
            <a:endParaRPr lang="en-US" sz="1150" dirty="0"/>
          </a:p>
        </p:txBody>
      </p:sp>
      <p:sp>
        <p:nvSpPr>
          <p:cNvPr id="9" name="Shape 7"/>
          <p:cNvSpPr/>
          <p:nvPr/>
        </p:nvSpPr>
        <p:spPr>
          <a:xfrm>
            <a:off x="4370832" y="1691640"/>
            <a:ext cx="3566160" cy="1417320"/>
          </a:xfrm>
          <a:prstGeom prst="roundRect">
            <a:avLst>
              <a:gd name="adj" fmla="val 5161"/>
            </a:avLst>
          </a:prstGeom>
          <a:solidFill>
            <a:srgbClr val="F4F6FB"/>
          </a:solidFill>
          <a:ln/>
        </p:spPr>
      </p:sp>
      <p:sp>
        <p:nvSpPr>
          <p:cNvPr id="10" name="Shape 8"/>
          <p:cNvSpPr/>
          <p:nvPr/>
        </p:nvSpPr>
        <p:spPr>
          <a:xfrm>
            <a:off x="4553712" y="1874520"/>
            <a:ext cx="502920" cy="502920"/>
          </a:xfrm>
          <a:prstGeom prst="ellipse">
            <a:avLst/>
          </a:prstGeom>
          <a:solidFill>
            <a:srgbClr val="1E2761"/>
          </a:solidFill>
          <a:ln/>
        </p:spPr>
      </p:sp>
      <p:sp>
        <p:nvSpPr>
          <p:cNvPr id="11" name="Text 9"/>
          <p:cNvSpPr/>
          <p:nvPr/>
        </p:nvSpPr>
        <p:spPr>
          <a:xfrm>
            <a:off x="4553712" y="1874520"/>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PC</a:t>
            </a:r>
            <a:endParaRPr lang="en-US" sz="1400" dirty="0"/>
          </a:p>
        </p:txBody>
      </p:sp>
      <p:sp>
        <p:nvSpPr>
          <p:cNvPr id="12" name="Text 10"/>
          <p:cNvSpPr/>
          <p:nvPr/>
        </p:nvSpPr>
        <p:spPr>
          <a:xfrm>
            <a:off x="5193792" y="1856232"/>
            <a:ext cx="2560320" cy="320040"/>
          </a:xfrm>
          <a:prstGeom prst="rect">
            <a:avLst/>
          </a:prstGeom>
          <a:noFill/>
          <a:ln/>
        </p:spPr>
        <p:txBody>
          <a:bodyPr wrap="square" lIns="0" tIns="0" rIns="0" bIns="0" rtlCol="0" anchor="ctr"/>
          <a:lstStyle/>
          <a:p>
            <a:pPr indent="0" marL="0">
              <a:buNone/>
            </a:pPr>
            <a:r>
              <a:rPr lang="en-US" sz="1400" b="1" dirty="0">
                <a:solidFill>
                  <a:srgbClr val="1E2761"/>
                </a:solidFill>
                <a:latin typeface="Cambria" pitchFamily="34" charset="0"/>
                <a:ea typeface="Cambria" pitchFamily="34" charset="-122"/>
                <a:cs typeface="Cambria" pitchFamily="34" charset="-120"/>
              </a:rPr>
              <a:t>Program Counter</a:t>
            </a:r>
            <a:endParaRPr lang="en-US" sz="1400" dirty="0"/>
          </a:p>
        </p:txBody>
      </p:sp>
      <p:sp>
        <p:nvSpPr>
          <p:cNvPr id="13" name="Text 11"/>
          <p:cNvSpPr/>
          <p:nvPr/>
        </p:nvSpPr>
        <p:spPr>
          <a:xfrm>
            <a:off x="4553712" y="2404872"/>
            <a:ext cx="3200400" cy="640080"/>
          </a:xfrm>
          <a:prstGeom prst="rect">
            <a:avLst/>
          </a:prstGeom>
          <a:noFill/>
          <a:ln/>
        </p:spPr>
        <p:txBody>
          <a:bodyPr wrap="square" lIns="0" tIns="0" rIns="0" bIns="0" rtlCol="0" anchor="t"/>
          <a:lstStyle/>
          <a:p>
            <a:pPr indent="0" marL="0">
              <a:buNone/>
            </a:pPr>
            <a:r>
              <a:rPr lang="en-US" sz="1150" dirty="0">
                <a:solidFill>
                  <a:srgbClr val="232323"/>
                </a:solidFill>
                <a:latin typeface="Calibri" pitchFamily="34" charset="0"/>
                <a:ea typeface="Calibri" pitchFamily="34" charset="-122"/>
                <a:cs typeface="Calibri" pitchFamily="34" charset="-120"/>
              </a:rPr>
              <a:t>Holds the address of the next instruction</a:t>
            </a:r>
            <a:endParaRPr lang="en-US" sz="1150" dirty="0"/>
          </a:p>
        </p:txBody>
      </p:sp>
      <p:sp>
        <p:nvSpPr>
          <p:cNvPr id="14" name="Shape 12"/>
          <p:cNvSpPr/>
          <p:nvPr/>
        </p:nvSpPr>
        <p:spPr>
          <a:xfrm>
            <a:off x="8193024" y="1691640"/>
            <a:ext cx="3566160" cy="1417320"/>
          </a:xfrm>
          <a:prstGeom prst="roundRect">
            <a:avLst>
              <a:gd name="adj" fmla="val 5161"/>
            </a:avLst>
          </a:prstGeom>
          <a:solidFill>
            <a:srgbClr val="F4F6FB"/>
          </a:solidFill>
          <a:ln/>
        </p:spPr>
      </p:sp>
      <p:sp>
        <p:nvSpPr>
          <p:cNvPr id="15" name="Shape 13"/>
          <p:cNvSpPr/>
          <p:nvPr/>
        </p:nvSpPr>
        <p:spPr>
          <a:xfrm>
            <a:off x="8375904" y="1874520"/>
            <a:ext cx="502920" cy="502920"/>
          </a:xfrm>
          <a:prstGeom prst="ellipse">
            <a:avLst/>
          </a:prstGeom>
          <a:solidFill>
            <a:srgbClr val="1E2761"/>
          </a:solidFill>
          <a:ln/>
        </p:spPr>
      </p:sp>
      <p:sp>
        <p:nvSpPr>
          <p:cNvPr id="16" name="Text 14"/>
          <p:cNvSpPr/>
          <p:nvPr/>
        </p:nvSpPr>
        <p:spPr>
          <a:xfrm>
            <a:off x="8375904" y="1874520"/>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DR</a:t>
            </a:r>
            <a:endParaRPr lang="en-US" sz="1400" dirty="0"/>
          </a:p>
        </p:txBody>
      </p:sp>
      <p:sp>
        <p:nvSpPr>
          <p:cNvPr id="17" name="Text 15"/>
          <p:cNvSpPr/>
          <p:nvPr/>
        </p:nvSpPr>
        <p:spPr>
          <a:xfrm>
            <a:off x="9015984" y="1856232"/>
            <a:ext cx="2560320" cy="320040"/>
          </a:xfrm>
          <a:prstGeom prst="rect">
            <a:avLst/>
          </a:prstGeom>
          <a:noFill/>
          <a:ln/>
        </p:spPr>
        <p:txBody>
          <a:bodyPr wrap="square" lIns="0" tIns="0" rIns="0" bIns="0" rtlCol="0" anchor="ctr"/>
          <a:lstStyle/>
          <a:p>
            <a:pPr indent="0" marL="0">
              <a:buNone/>
            </a:pPr>
            <a:r>
              <a:rPr lang="en-US" sz="1400" b="1" dirty="0">
                <a:solidFill>
                  <a:srgbClr val="1E2761"/>
                </a:solidFill>
                <a:latin typeface="Cambria" pitchFamily="34" charset="0"/>
                <a:ea typeface="Cambria" pitchFamily="34" charset="-122"/>
                <a:cs typeface="Cambria" pitchFamily="34" charset="-120"/>
              </a:rPr>
              <a:t>Data Register</a:t>
            </a:r>
            <a:endParaRPr lang="en-US" sz="1400" dirty="0"/>
          </a:p>
        </p:txBody>
      </p:sp>
      <p:sp>
        <p:nvSpPr>
          <p:cNvPr id="18" name="Text 16"/>
          <p:cNvSpPr/>
          <p:nvPr/>
        </p:nvSpPr>
        <p:spPr>
          <a:xfrm>
            <a:off x="8375904" y="2404872"/>
            <a:ext cx="3200400" cy="640080"/>
          </a:xfrm>
          <a:prstGeom prst="rect">
            <a:avLst/>
          </a:prstGeom>
          <a:noFill/>
          <a:ln/>
        </p:spPr>
        <p:txBody>
          <a:bodyPr wrap="square" lIns="0" tIns="0" rIns="0" bIns="0" rtlCol="0" anchor="t"/>
          <a:lstStyle/>
          <a:p>
            <a:pPr indent="0" marL="0">
              <a:buNone/>
            </a:pPr>
            <a:r>
              <a:rPr lang="en-US" sz="1150" dirty="0">
                <a:solidFill>
                  <a:srgbClr val="232323"/>
                </a:solidFill>
                <a:latin typeface="Calibri" pitchFamily="34" charset="0"/>
                <a:ea typeface="Calibri" pitchFamily="34" charset="-122"/>
                <a:cs typeface="Calibri" pitchFamily="34" charset="-120"/>
              </a:rPr>
              <a:t>Holds the operand read from memory</a:t>
            </a:r>
            <a:endParaRPr lang="en-US" sz="1150" dirty="0"/>
          </a:p>
        </p:txBody>
      </p:sp>
      <p:sp>
        <p:nvSpPr>
          <p:cNvPr id="19" name="Shape 17"/>
          <p:cNvSpPr/>
          <p:nvPr/>
        </p:nvSpPr>
        <p:spPr>
          <a:xfrm>
            <a:off x="548640" y="3364992"/>
            <a:ext cx="3566160" cy="1417320"/>
          </a:xfrm>
          <a:prstGeom prst="roundRect">
            <a:avLst>
              <a:gd name="adj" fmla="val 5161"/>
            </a:avLst>
          </a:prstGeom>
          <a:solidFill>
            <a:srgbClr val="F4F6FB"/>
          </a:solidFill>
          <a:ln/>
        </p:spPr>
      </p:sp>
      <p:sp>
        <p:nvSpPr>
          <p:cNvPr id="20" name="Shape 18"/>
          <p:cNvSpPr/>
          <p:nvPr/>
        </p:nvSpPr>
        <p:spPr>
          <a:xfrm>
            <a:off x="731520" y="3547872"/>
            <a:ext cx="502920" cy="502920"/>
          </a:xfrm>
          <a:prstGeom prst="ellipse">
            <a:avLst/>
          </a:prstGeom>
          <a:solidFill>
            <a:srgbClr val="1E2761"/>
          </a:solidFill>
          <a:ln/>
        </p:spPr>
      </p:sp>
      <p:sp>
        <p:nvSpPr>
          <p:cNvPr id="21" name="Text 19"/>
          <p:cNvSpPr/>
          <p:nvPr/>
        </p:nvSpPr>
        <p:spPr>
          <a:xfrm>
            <a:off x="731520" y="3547872"/>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AC</a:t>
            </a:r>
            <a:endParaRPr lang="en-US" sz="1400" dirty="0"/>
          </a:p>
        </p:txBody>
      </p:sp>
      <p:sp>
        <p:nvSpPr>
          <p:cNvPr id="22" name="Text 20"/>
          <p:cNvSpPr/>
          <p:nvPr/>
        </p:nvSpPr>
        <p:spPr>
          <a:xfrm>
            <a:off x="1371600" y="3529584"/>
            <a:ext cx="2560320" cy="320040"/>
          </a:xfrm>
          <a:prstGeom prst="rect">
            <a:avLst/>
          </a:prstGeom>
          <a:noFill/>
          <a:ln/>
        </p:spPr>
        <p:txBody>
          <a:bodyPr wrap="square" lIns="0" tIns="0" rIns="0" bIns="0" rtlCol="0" anchor="ctr"/>
          <a:lstStyle/>
          <a:p>
            <a:pPr indent="0" marL="0">
              <a:buNone/>
            </a:pPr>
            <a:r>
              <a:rPr lang="en-US" sz="1400" b="1" dirty="0">
                <a:solidFill>
                  <a:srgbClr val="1E2761"/>
                </a:solidFill>
                <a:latin typeface="Cambria" pitchFamily="34" charset="0"/>
                <a:ea typeface="Cambria" pitchFamily="34" charset="-122"/>
                <a:cs typeface="Cambria" pitchFamily="34" charset="-120"/>
              </a:rPr>
              <a:t>Accumulator</a:t>
            </a:r>
            <a:endParaRPr lang="en-US" sz="1400" dirty="0"/>
          </a:p>
        </p:txBody>
      </p:sp>
      <p:sp>
        <p:nvSpPr>
          <p:cNvPr id="23" name="Text 21"/>
          <p:cNvSpPr/>
          <p:nvPr/>
        </p:nvSpPr>
        <p:spPr>
          <a:xfrm>
            <a:off x="731520" y="4078224"/>
            <a:ext cx="3200400" cy="640080"/>
          </a:xfrm>
          <a:prstGeom prst="rect">
            <a:avLst/>
          </a:prstGeom>
          <a:noFill/>
          <a:ln/>
        </p:spPr>
        <p:txBody>
          <a:bodyPr wrap="square" lIns="0" tIns="0" rIns="0" bIns="0" rtlCol="0" anchor="t"/>
          <a:lstStyle/>
          <a:p>
            <a:pPr indent="0" marL="0">
              <a:buNone/>
            </a:pPr>
            <a:r>
              <a:rPr lang="en-US" sz="1150" dirty="0">
                <a:solidFill>
                  <a:srgbClr val="232323"/>
                </a:solidFill>
                <a:latin typeface="Calibri" pitchFamily="34" charset="0"/>
                <a:ea typeface="Calibri" pitchFamily="34" charset="-122"/>
                <a:cs typeface="Calibri" pitchFamily="34" charset="-120"/>
              </a:rPr>
              <a:t>General-purpose register for results</a:t>
            </a:r>
            <a:endParaRPr lang="en-US" sz="1150" dirty="0"/>
          </a:p>
        </p:txBody>
      </p:sp>
      <p:sp>
        <p:nvSpPr>
          <p:cNvPr id="24" name="Shape 22"/>
          <p:cNvSpPr/>
          <p:nvPr/>
        </p:nvSpPr>
        <p:spPr>
          <a:xfrm>
            <a:off x="4370832" y="3364992"/>
            <a:ext cx="3566160" cy="1417320"/>
          </a:xfrm>
          <a:prstGeom prst="roundRect">
            <a:avLst>
              <a:gd name="adj" fmla="val 5161"/>
            </a:avLst>
          </a:prstGeom>
          <a:solidFill>
            <a:srgbClr val="F4F6FB"/>
          </a:solidFill>
          <a:ln/>
        </p:spPr>
      </p:sp>
      <p:sp>
        <p:nvSpPr>
          <p:cNvPr id="25" name="Shape 23"/>
          <p:cNvSpPr/>
          <p:nvPr/>
        </p:nvSpPr>
        <p:spPr>
          <a:xfrm>
            <a:off x="4553712" y="3547872"/>
            <a:ext cx="502920" cy="502920"/>
          </a:xfrm>
          <a:prstGeom prst="ellipse">
            <a:avLst/>
          </a:prstGeom>
          <a:solidFill>
            <a:srgbClr val="1E2761"/>
          </a:solidFill>
          <a:ln/>
        </p:spPr>
      </p:sp>
      <p:sp>
        <p:nvSpPr>
          <p:cNvPr id="26" name="Text 24"/>
          <p:cNvSpPr/>
          <p:nvPr/>
        </p:nvSpPr>
        <p:spPr>
          <a:xfrm>
            <a:off x="4553712" y="3547872"/>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IR</a:t>
            </a:r>
            <a:endParaRPr lang="en-US" sz="1400" dirty="0"/>
          </a:p>
        </p:txBody>
      </p:sp>
      <p:sp>
        <p:nvSpPr>
          <p:cNvPr id="27" name="Text 25"/>
          <p:cNvSpPr/>
          <p:nvPr/>
        </p:nvSpPr>
        <p:spPr>
          <a:xfrm>
            <a:off x="5193792" y="3529584"/>
            <a:ext cx="2560320" cy="320040"/>
          </a:xfrm>
          <a:prstGeom prst="rect">
            <a:avLst/>
          </a:prstGeom>
          <a:noFill/>
          <a:ln/>
        </p:spPr>
        <p:txBody>
          <a:bodyPr wrap="square" lIns="0" tIns="0" rIns="0" bIns="0" rtlCol="0" anchor="ctr"/>
          <a:lstStyle/>
          <a:p>
            <a:pPr indent="0" marL="0">
              <a:buNone/>
            </a:pPr>
            <a:r>
              <a:rPr lang="en-US" sz="1400" b="1" dirty="0">
                <a:solidFill>
                  <a:srgbClr val="1E2761"/>
                </a:solidFill>
                <a:latin typeface="Cambria" pitchFamily="34" charset="0"/>
                <a:ea typeface="Cambria" pitchFamily="34" charset="-122"/>
                <a:cs typeface="Cambria" pitchFamily="34" charset="-120"/>
              </a:rPr>
              <a:t>Instruction Register</a:t>
            </a:r>
            <a:endParaRPr lang="en-US" sz="1400" dirty="0"/>
          </a:p>
        </p:txBody>
      </p:sp>
      <p:sp>
        <p:nvSpPr>
          <p:cNvPr id="28" name="Text 26"/>
          <p:cNvSpPr/>
          <p:nvPr/>
        </p:nvSpPr>
        <p:spPr>
          <a:xfrm>
            <a:off x="4553712" y="4078224"/>
            <a:ext cx="3200400" cy="640080"/>
          </a:xfrm>
          <a:prstGeom prst="rect">
            <a:avLst/>
          </a:prstGeom>
          <a:noFill/>
          <a:ln/>
        </p:spPr>
        <p:txBody>
          <a:bodyPr wrap="square" lIns="0" tIns="0" rIns="0" bIns="0" rtlCol="0" anchor="t"/>
          <a:lstStyle/>
          <a:p>
            <a:pPr indent="0" marL="0">
              <a:buNone/>
            </a:pPr>
            <a:r>
              <a:rPr lang="en-US" sz="1150" dirty="0">
                <a:solidFill>
                  <a:srgbClr val="232323"/>
                </a:solidFill>
                <a:latin typeface="Calibri" pitchFamily="34" charset="0"/>
                <a:ea typeface="Calibri" pitchFamily="34" charset="-122"/>
                <a:cs typeface="Calibri" pitchFamily="34" charset="-120"/>
              </a:rPr>
              <a:t>Holds the instruction currently executing</a:t>
            </a:r>
            <a:endParaRPr lang="en-US" sz="1150" dirty="0"/>
          </a:p>
        </p:txBody>
      </p:sp>
      <p:sp>
        <p:nvSpPr>
          <p:cNvPr id="29" name="Shape 27"/>
          <p:cNvSpPr/>
          <p:nvPr/>
        </p:nvSpPr>
        <p:spPr>
          <a:xfrm>
            <a:off x="8193024" y="3364992"/>
            <a:ext cx="3566160" cy="1417320"/>
          </a:xfrm>
          <a:prstGeom prst="roundRect">
            <a:avLst>
              <a:gd name="adj" fmla="val 5161"/>
            </a:avLst>
          </a:prstGeom>
          <a:solidFill>
            <a:srgbClr val="F4F6FB"/>
          </a:solidFill>
          <a:ln/>
        </p:spPr>
      </p:sp>
      <p:sp>
        <p:nvSpPr>
          <p:cNvPr id="30" name="Shape 28"/>
          <p:cNvSpPr/>
          <p:nvPr/>
        </p:nvSpPr>
        <p:spPr>
          <a:xfrm>
            <a:off x="8375904" y="3547872"/>
            <a:ext cx="502920" cy="502920"/>
          </a:xfrm>
          <a:prstGeom prst="ellipse">
            <a:avLst/>
          </a:prstGeom>
          <a:solidFill>
            <a:srgbClr val="1E2761"/>
          </a:solidFill>
          <a:ln/>
        </p:spPr>
      </p:sp>
      <p:sp>
        <p:nvSpPr>
          <p:cNvPr id="31" name="Text 29"/>
          <p:cNvSpPr/>
          <p:nvPr/>
        </p:nvSpPr>
        <p:spPr>
          <a:xfrm>
            <a:off x="8375904" y="3547872"/>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TR</a:t>
            </a:r>
            <a:endParaRPr lang="en-US" sz="1400" dirty="0"/>
          </a:p>
        </p:txBody>
      </p:sp>
      <p:sp>
        <p:nvSpPr>
          <p:cNvPr id="32" name="Text 30"/>
          <p:cNvSpPr/>
          <p:nvPr/>
        </p:nvSpPr>
        <p:spPr>
          <a:xfrm>
            <a:off x="9015984" y="3529584"/>
            <a:ext cx="2560320" cy="320040"/>
          </a:xfrm>
          <a:prstGeom prst="rect">
            <a:avLst/>
          </a:prstGeom>
          <a:noFill/>
          <a:ln/>
        </p:spPr>
        <p:txBody>
          <a:bodyPr wrap="square" lIns="0" tIns="0" rIns="0" bIns="0" rtlCol="0" anchor="ctr"/>
          <a:lstStyle/>
          <a:p>
            <a:pPr indent="0" marL="0">
              <a:buNone/>
            </a:pPr>
            <a:r>
              <a:rPr lang="en-US" sz="1400" b="1" dirty="0">
                <a:solidFill>
                  <a:srgbClr val="1E2761"/>
                </a:solidFill>
                <a:latin typeface="Cambria" pitchFamily="34" charset="0"/>
                <a:ea typeface="Cambria" pitchFamily="34" charset="-122"/>
                <a:cs typeface="Cambria" pitchFamily="34" charset="-120"/>
              </a:rPr>
              <a:t>Temporary Register</a:t>
            </a:r>
            <a:endParaRPr lang="en-US" sz="1400" dirty="0"/>
          </a:p>
        </p:txBody>
      </p:sp>
      <p:sp>
        <p:nvSpPr>
          <p:cNvPr id="33" name="Text 31"/>
          <p:cNvSpPr/>
          <p:nvPr/>
        </p:nvSpPr>
        <p:spPr>
          <a:xfrm>
            <a:off x="8375904" y="4078224"/>
            <a:ext cx="3200400" cy="640080"/>
          </a:xfrm>
          <a:prstGeom prst="rect">
            <a:avLst/>
          </a:prstGeom>
          <a:noFill/>
          <a:ln/>
        </p:spPr>
        <p:txBody>
          <a:bodyPr wrap="square" lIns="0" tIns="0" rIns="0" bIns="0" rtlCol="0" anchor="t"/>
          <a:lstStyle/>
          <a:p>
            <a:pPr indent="0" marL="0">
              <a:buNone/>
            </a:pPr>
            <a:r>
              <a:rPr lang="en-US" sz="1150" dirty="0">
                <a:solidFill>
                  <a:srgbClr val="232323"/>
                </a:solidFill>
                <a:latin typeface="Calibri" pitchFamily="34" charset="0"/>
                <a:ea typeface="Calibri" pitchFamily="34" charset="-122"/>
                <a:cs typeface="Calibri" pitchFamily="34" charset="-120"/>
              </a:rPr>
              <a:t>Holds intermediate data during execution</a:t>
            </a:r>
            <a:endParaRPr lang="en-US" sz="1150" dirty="0"/>
          </a:p>
        </p:txBody>
      </p:sp>
      <p:sp>
        <p:nvSpPr>
          <p:cNvPr id="34" name="Text 32"/>
          <p:cNvSpPr/>
          <p:nvPr/>
        </p:nvSpPr>
        <p:spPr>
          <a:xfrm>
            <a:off x="457200" y="6510528"/>
            <a:ext cx="8686800" cy="274320"/>
          </a:xfrm>
          <a:prstGeom prst="rect">
            <a:avLst/>
          </a:prstGeom>
          <a:noFill/>
          <a:ln/>
        </p:spPr>
        <p:txBody>
          <a:bodyPr wrap="square" lIns="0" tIns="0" rIns="0" bIns="0" rtlCol="0" anchor="ctr"/>
          <a:lstStyle/>
          <a:p>
            <a:pPr algn="l" indent="0" marL="0">
              <a:buNone/>
            </a:pPr>
            <a:r>
              <a:rPr lang="en-US" sz="900" dirty="0">
                <a:solidFill>
                  <a:srgbClr val="9AA0AE"/>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
        <p:nvSpPr>
          <p:cNvPr id="35" name="Text 33"/>
          <p:cNvSpPr/>
          <p:nvPr/>
        </p:nvSpPr>
        <p:spPr>
          <a:xfrm>
            <a:off x="11338560" y="6510528"/>
            <a:ext cx="457200" cy="274320"/>
          </a:xfrm>
          <a:prstGeom prst="rect">
            <a:avLst/>
          </a:prstGeom>
          <a:noFill/>
          <a:ln/>
        </p:spPr>
        <p:txBody>
          <a:bodyPr wrap="square" lIns="0" tIns="0" rIns="0" bIns="0" rtlCol="0" anchor="ctr"/>
          <a:lstStyle/>
          <a:p>
            <a:pPr algn="r" indent="0" marL="0">
              <a:buNone/>
            </a:pPr>
            <a:r>
              <a:rPr lang="en-US" sz="900" dirty="0">
                <a:solidFill>
                  <a:srgbClr val="9AA0AE"/>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indent="0" marL="0">
              <a:buNone/>
            </a:pPr>
            <a:r>
              <a:rPr lang="en-US" sz="1300" b="1" spc="200" kern="0" dirty="0">
                <a:solidFill>
                  <a:srgbClr val="F2A541"/>
                </a:solidFill>
                <a:latin typeface="Calibri" pitchFamily="34" charset="0"/>
                <a:ea typeface="Calibri" pitchFamily="34" charset="-122"/>
                <a:cs typeface="Calibri" pitchFamily="34" charset="-120"/>
              </a:rPr>
              <a:t>CORE CONCEPT</a:t>
            </a:r>
            <a:endParaRPr lang="en-US" sz="1300" dirty="0"/>
          </a:p>
        </p:txBody>
      </p:sp>
      <p:sp>
        <p:nvSpPr>
          <p:cNvPr id="3" name="Text 1"/>
          <p:cNvSpPr/>
          <p:nvPr/>
        </p:nvSpPr>
        <p:spPr>
          <a:xfrm>
            <a:off x="548640" y="685800"/>
            <a:ext cx="8778240" cy="91440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What Is a Memory-Reference Instruction?</a:t>
            </a:r>
            <a:endParaRPr lang="en-US" sz="3200" dirty="0"/>
          </a:p>
        </p:txBody>
      </p:sp>
      <p:sp>
        <p:nvSpPr>
          <p:cNvPr id="4" name="Shape 2"/>
          <p:cNvSpPr/>
          <p:nvPr/>
        </p:nvSpPr>
        <p:spPr>
          <a:xfrm>
            <a:off x="10607040" y="502920"/>
            <a:ext cx="822960" cy="822960"/>
          </a:xfrm>
          <a:prstGeom prst="ellipse">
            <a:avLst/>
          </a:prstGeom>
          <a:solidFill>
            <a:srgbClr val="1E2761"/>
          </a:solidFill>
          <a:ln/>
        </p:spPr>
      </p:sp>
      <p:sp>
        <p:nvSpPr>
          <p:cNvPr id="5" name="Text 3"/>
          <p:cNvSpPr/>
          <p:nvPr/>
        </p:nvSpPr>
        <p:spPr>
          <a:xfrm>
            <a:off x="10607040" y="502920"/>
            <a:ext cx="822960" cy="822960"/>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a:t>
            </a:r>
            <a:endParaRPr lang="en-US" sz="2600" dirty="0"/>
          </a:p>
        </p:txBody>
      </p:sp>
      <p:sp>
        <p:nvSpPr>
          <p:cNvPr id="6" name="Text 4"/>
          <p:cNvSpPr/>
          <p:nvPr/>
        </p:nvSpPr>
        <p:spPr>
          <a:xfrm>
            <a:off x="548640" y="1691640"/>
            <a:ext cx="10241280" cy="4498848"/>
          </a:xfrm>
          <a:prstGeom prst="rect">
            <a:avLst/>
          </a:prstGeom>
          <a:noFill/>
          <a:ln/>
        </p:spPr>
        <p:txBody>
          <a:bodyPr wrap="square" lIns="0" tIns="0" rIns="0" bIns="0" rtlCol="0" anchor="t"/>
          <a:lstStyle/>
          <a:p>
            <a:pPr marL="228600" indent="-228600">
              <a:spcAft>
                <a:spcPts val="1200"/>
              </a:spcAft>
              <a:buSzPct val="100000"/>
              <a:buChar char="▪"/>
            </a:pPr>
            <a:r>
              <a:rPr lang="en-US" sz="1700" dirty="0">
                <a:solidFill>
                  <a:srgbClr val="232323"/>
                </a:solidFill>
                <a:latin typeface="Calibri" pitchFamily="34" charset="0"/>
                <a:ea typeface="Calibri" pitchFamily="34" charset="-122"/>
                <a:cs typeface="Calibri" pitchFamily="34" charset="-120"/>
              </a:rPr>
              <a:t>A memory-reference instruction is one whose operand comes from — or is written to — a location in main memory.</a:t>
            </a:r>
            <a:endParaRPr lang="en-US" sz="1700" dirty="0"/>
          </a:p>
          <a:p>
            <a:pPr marL="228600" indent="-228600">
              <a:spcAft>
                <a:spcPts val="1200"/>
              </a:spcAft>
              <a:buSzPct val="100000"/>
              <a:buChar char="▪"/>
            </a:pPr>
            <a:r>
              <a:rPr lang="en-US" sz="1700" dirty="0">
                <a:solidFill>
                  <a:srgbClr val="232323"/>
                </a:solidFill>
                <a:latin typeface="Calibri" pitchFamily="34" charset="0"/>
                <a:ea typeface="Calibri" pitchFamily="34" charset="-122"/>
                <a:cs typeface="Calibri" pitchFamily="34" charset="-120"/>
              </a:rPr>
              <a:t>Contrast this with a register-reference instruction, which operates only on registers already inside the CPU (no memory access needed).</a:t>
            </a:r>
            <a:endParaRPr lang="en-US" sz="1700" dirty="0"/>
          </a:p>
          <a:p>
            <a:pPr marL="228600" indent="-228600">
              <a:spcAft>
                <a:spcPts val="1200"/>
              </a:spcAft>
              <a:buSzPct val="100000"/>
              <a:buChar char="▪"/>
            </a:pPr>
            <a:r>
              <a:rPr lang="en-US" sz="1700" dirty="0">
                <a:solidFill>
                  <a:srgbClr val="232323"/>
                </a:solidFill>
                <a:latin typeface="Calibri" pitchFamily="34" charset="0"/>
                <a:ea typeface="Calibri" pitchFamily="34" charset="-122"/>
                <a:cs typeface="Calibri" pitchFamily="34" charset="-120"/>
              </a:rPr>
              <a:t>In the Basic Computer model, there are exactly seven memory-reference instructions: AND, ADD, LDA, STA, BUN, BSA, ISZ.</a:t>
            </a:r>
            <a:endParaRPr lang="en-US" sz="1700" dirty="0"/>
          </a:p>
          <a:p>
            <a:pPr marL="228600" indent="-228600">
              <a:spcAft>
                <a:spcPts val="1200"/>
              </a:spcAft>
              <a:buSzPct val="100000"/>
              <a:buChar char="▪"/>
            </a:pPr>
            <a:r>
              <a:rPr lang="en-US" sz="1700" dirty="0">
                <a:solidFill>
                  <a:srgbClr val="232323"/>
                </a:solidFill>
                <a:latin typeface="Calibri" pitchFamily="34" charset="0"/>
                <a:ea typeface="Calibri" pitchFamily="34" charset="-122"/>
                <a:cs typeface="Calibri" pitchFamily="34" charset="-120"/>
              </a:rPr>
              <a:t>Each one needs an address to know WHERE in memory to look — this address is computed as the Effective Address (EA).</a:t>
            </a:r>
            <a:endParaRPr lang="en-US" sz="1700" dirty="0"/>
          </a:p>
          <a:p>
            <a:pPr marL="228600" indent="-228600">
              <a:spcAft>
                <a:spcPts val="1200"/>
              </a:spcAft>
              <a:buSzPct val="100000"/>
              <a:buChar char="▪"/>
            </a:pPr>
            <a:r>
              <a:rPr lang="en-US" sz="1700" b="1" dirty="0">
                <a:solidFill>
                  <a:srgbClr val="232323"/>
                </a:solidFill>
                <a:latin typeface="Calibri" pitchFamily="34" charset="0"/>
                <a:ea typeface="Calibri" pitchFamily="34" charset="-122"/>
                <a:cs typeface="Calibri" pitchFamily="34" charset="-120"/>
              </a:rPr>
              <a:t>Analogy: a register-reference instruction is like doing mental math; a memory-reference instruction is like looking something up in a filing cabinet first.</a:t>
            </a:r>
            <a:endParaRPr lang="en-US" sz="1700" dirty="0"/>
          </a:p>
        </p:txBody>
      </p:sp>
      <p:sp>
        <p:nvSpPr>
          <p:cNvPr id="7" name="Text 5"/>
          <p:cNvSpPr/>
          <p:nvPr/>
        </p:nvSpPr>
        <p:spPr>
          <a:xfrm>
            <a:off x="457200" y="6510528"/>
            <a:ext cx="8686800" cy="274320"/>
          </a:xfrm>
          <a:prstGeom prst="rect">
            <a:avLst/>
          </a:prstGeom>
          <a:noFill/>
          <a:ln/>
        </p:spPr>
        <p:txBody>
          <a:bodyPr wrap="square" lIns="0" tIns="0" rIns="0" bIns="0" rtlCol="0" anchor="ctr"/>
          <a:lstStyle/>
          <a:p>
            <a:pPr algn="l" indent="0" marL="0">
              <a:buNone/>
            </a:pPr>
            <a:r>
              <a:rPr lang="en-US" sz="900" dirty="0">
                <a:solidFill>
                  <a:srgbClr val="9AA0AE"/>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
        <p:nvSpPr>
          <p:cNvPr id="8" name="Text 6"/>
          <p:cNvSpPr/>
          <p:nvPr/>
        </p:nvSpPr>
        <p:spPr>
          <a:xfrm>
            <a:off x="11338560" y="6510528"/>
            <a:ext cx="457200" cy="274320"/>
          </a:xfrm>
          <a:prstGeom prst="rect">
            <a:avLst/>
          </a:prstGeom>
          <a:noFill/>
          <a:ln/>
        </p:spPr>
        <p:txBody>
          <a:bodyPr wrap="square" lIns="0" tIns="0" rIns="0" bIns="0" rtlCol="0" anchor="ctr"/>
          <a:lstStyle/>
          <a:p>
            <a:pPr algn="r" indent="0" marL="0">
              <a:buNone/>
            </a:pPr>
            <a:r>
              <a:rPr lang="en-US" sz="900" dirty="0">
                <a:solidFill>
                  <a:srgbClr val="9AA0AE"/>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indent="0" marL="0">
              <a:buNone/>
            </a:pPr>
            <a:r>
              <a:rPr lang="en-US" sz="1300" b="1" spc="200" kern="0" dirty="0">
                <a:solidFill>
                  <a:srgbClr val="F2A541"/>
                </a:solidFill>
                <a:latin typeface="Calibri" pitchFamily="34" charset="0"/>
                <a:ea typeface="Calibri" pitchFamily="34" charset="-122"/>
                <a:cs typeface="Calibri" pitchFamily="34" charset="-120"/>
              </a:rPr>
              <a:t>INSTRUCTION FORMAT</a:t>
            </a:r>
            <a:endParaRPr lang="en-US" sz="1300" dirty="0"/>
          </a:p>
        </p:txBody>
      </p:sp>
      <p:sp>
        <p:nvSpPr>
          <p:cNvPr id="3" name="Text 1"/>
          <p:cNvSpPr/>
          <p:nvPr/>
        </p:nvSpPr>
        <p:spPr>
          <a:xfrm>
            <a:off x="548640" y="685800"/>
            <a:ext cx="9692640" cy="73152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The 16-Bit Memory-Reference Format</a:t>
            </a:r>
            <a:endParaRPr lang="en-US" sz="3000" dirty="0"/>
          </a:p>
        </p:txBody>
      </p:sp>
      <p:sp>
        <p:nvSpPr>
          <p:cNvPr id="4" name="Shape 2"/>
          <p:cNvSpPr/>
          <p:nvPr/>
        </p:nvSpPr>
        <p:spPr>
          <a:xfrm>
            <a:off x="10607040" y="502920"/>
            <a:ext cx="822960" cy="822960"/>
          </a:xfrm>
          <a:prstGeom prst="ellipse">
            <a:avLst/>
          </a:prstGeom>
          <a:solidFill>
            <a:srgbClr val="1E2761"/>
          </a:solidFill>
          <a:ln/>
        </p:spPr>
      </p:sp>
      <p:sp>
        <p:nvSpPr>
          <p:cNvPr id="5" name="Text 3"/>
          <p:cNvSpPr/>
          <p:nvPr/>
        </p:nvSpPr>
        <p:spPr>
          <a:xfrm>
            <a:off x="10607040" y="502920"/>
            <a:ext cx="822960" cy="8229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0/1</a:t>
            </a:r>
            <a:endParaRPr lang="en-US" sz="1600" dirty="0"/>
          </a:p>
        </p:txBody>
      </p:sp>
      <p:sp>
        <p:nvSpPr>
          <p:cNvPr id="6" name="Shape 4"/>
          <p:cNvSpPr/>
          <p:nvPr/>
        </p:nvSpPr>
        <p:spPr>
          <a:xfrm>
            <a:off x="822960" y="2011680"/>
            <a:ext cx="822960" cy="914400"/>
          </a:xfrm>
          <a:prstGeom prst="rect">
            <a:avLst/>
          </a:prstGeom>
          <a:solidFill>
            <a:srgbClr val="F2A541"/>
          </a:solidFill>
          <a:ln w="19050">
            <a:solidFill>
              <a:srgbClr val="FFFFFF"/>
            </a:solidFill>
            <a:prstDash val="solid"/>
          </a:ln>
        </p:spPr>
      </p:sp>
      <p:sp>
        <p:nvSpPr>
          <p:cNvPr id="7" name="Text 5"/>
          <p:cNvSpPr/>
          <p:nvPr/>
        </p:nvSpPr>
        <p:spPr>
          <a:xfrm>
            <a:off x="822960" y="2121408"/>
            <a:ext cx="822960" cy="41148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I</a:t>
            </a:r>
            <a:endParaRPr lang="en-US" sz="1800" dirty="0"/>
          </a:p>
        </p:txBody>
      </p:sp>
      <p:sp>
        <p:nvSpPr>
          <p:cNvPr id="8" name="Text 6"/>
          <p:cNvSpPr/>
          <p:nvPr/>
        </p:nvSpPr>
        <p:spPr>
          <a:xfrm>
            <a:off x="822960" y="2542032"/>
            <a:ext cx="822960" cy="320040"/>
          </a:xfrm>
          <a:prstGeom prst="rect">
            <a:avLst/>
          </a:prstGeom>
          <a:noFill/>
          <a:ln/>
        </p:spPr>
        <p:txBody>
          <a:bodyPr wrap="square" lIns="0" tIns="0" rIns="0" bIns="0" rtlCol="0" anchor="ctr"/>
          <a:lstStyle/>
          <a:p>
            <a:pPr algn="ctr" indent="0" marL="0">
              <a:buNone/>
            </a:pPr>
            <a:r>
              <a:rPr lang="en-US" sz="1100" dirty="0">
                <a:solidFill>
                  <a:srgbClr val="CADCFC"/>
                </a:solidFill>
                <a:latin typeface="Calibri" pitchFamily="34" charset="0"/>
                <a:ea typeface="Calibri" pitchFamily="34" charset="-122"/>
                <a:cs typeface="Calibri" pitchFamily="34" charset="-120"/>
              </a:rPr>
              <a:t>bit 15</a:t>
            </a:r>
            <a:endParaRPr lang="en-US" sz="1100" dirty="0"/>
          </a:p>
        </p:txBody>
      </p:sp>
      <p:sp>
        <p:nvSpPr>
          <p:cNvPr id="9" name="Shape 7"/>
          <p:cNvSpPr/>
          <p:nvPr/>
        </p:nvSpPr>
        <p:spPr>
          <a:xfrm>
            <a:off x="1645920" y="2011680"/>
            <a:ext cx="2377440" cy="914400"/>
          </a:xfrm>
          <a:prstGeom prst="rect">
            <a:avLst/>
          </a:prstGeom>
          <a:solidFill>
            <a:srgbClr val="1E2761"/>
          </a:solidFill>
          <a:ln w="19050">
            <a:solidFill>
              <a:srgbClr val="FFFFFF"/>
            </a:solidFill>
            <a:prstDash val="solid"/>
          </a:ln>
        </p:spPr>
      </p:sp>
      <p:sp>
        <p:nvSpPr>
          <p:cNvPr id="10" name="Text 8"/>
          <p:cNvSpPr/>
          <p:nvPr/>
        </p:nvSpPr>
        <p:spPr>
          <a:xfrm>
            <a:off x="1645920" y="2121408"/>
            <a:ext cx="2377440" cy="41148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OPCODE</a:t>
            </a:r>
            <a:endParaRPr lang="en-US" sz="1800" dirty="0"/>
          </a:p>
        </p:txBody>
      </p:sp>
      <p:sp>
        <p:nvSpPr>
          <p:cNvPr id="11" name="Text 9"/>
          <p:cNvSpPr/>
          <p:nvPr/>
        </p:nvSpPr>
        <p:spPr>
          <a:xfrm>
            <a:off x="1645920" y="2542032"/>
            <a:ext cx="2377440" cy="320040"/>
          </a:xfrm>
          <a:prstGeom prst="rect">
            <a:avLst/>
          </a:prstGeom>
          <a:noFill/>
          <a:ln/>
        </p:spPr>
        <p:txBody>
          <a:bodyPr wrap="square" lIns="0" tIns="0" rIns="0" bIns="0" rtlCol="0" anchor="ctr"/>
          <a:lstStyle/>
          <a:p>
            <a:pPr algn="ctr" indent="0" marL="0">
              <a:buNone/>
            </a:pPr>
            <a:r>
              <a:rPr lang="en-US" sz="1100" dirty="0">
                <a:solidFill>
                  <a:srgbClr val="CADCFC"/>
                </a:solidFill>
                <a:latin typeface="Calibri" pitchFamily="34" charset="0"/>
                <a:ea typeface="Calibri" pitchFamily="34" charset="-122"/>
                <a:cs typeface="Calibri" pitchFamily="34" charset="-120"/>
              </a:rPr>
              <a:t>bits 14–12</a:t>
            </a:r>
            <a:endParaRPr lang="en-US" sz="1100" dirty="0"/>
          </a:p>
        </p:txBody>
      </p:sp>
      <p:sp>
        <p:nvSpPr>
          <p:cNvPr id="12" name="Shape 10"/>
          <p:cNvSpPr/>
          <p:nvPr/>
        </p:nvSpPr>
        <p:spPr>
          <a:xfrm>
            <a:off x="4023360" y="2011680"/>
            <a:ext cx="5943600" cy="914400"/>
          </a:xfrm>
          <a:prstGeom prst="rect">
            <a:avLst/>
          </a:prstGeom>
          <a:solidFill>
            <a:srgbClr val="3E4E9C"/>
          </a:solidFill>
          <a:ln w="19050">
            <a:solidFill>
              <a:srgbClr val="FFFFFF"/>
            </a:solidFill>
            <a:prstDash val="solid"/>
          </a:ln>
        </p:spPr>
      </p:sp>
      <p:sp>
        <p:nvSpPr>
          <p:cNvPr id="13" name="Text 11"/>
          <p:cNvSpPr/>
          <p:nvPr/>
        </p:nvSpPr>
        <p:spPr>
          <a:xfrm>
            <a:off x="4023360" y="2121408"/>
            <a:ext cx="5943600" cy="41148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ADDRESS</a:t>
            </a:r>
            <a:endParaRPr lang="en-US" sz="1800" dirty="0"/>
          </a:p>
        </p:txBody>
      </p:sp>
      <p:sp>
        <p:nvSpPr>
          <p:cNvPr id="14" name="Text 12"/>
          <p:cNvSpPr/>
          <p:nvPr/>
        </p:nvSpPr>
        <p:spPr>
          <a:xfrm>
            <a:off x="4023360" y="2542032"/>
            <a:ext cx="5943600" cy="320040"/>
          </a:xfrm>
          <a:prstGeom prst="rect">
            <a:avLst/>
          </a:prstGeom>
          <a:noFill/>
          <a:ln/>
        </p:spPr>
        <p:txBody>
          <a:bodyPr wrap="square" lIns="0" tIns="0" rIns="0" bIns="0" rtlCol="0" anchor="ctr"/>
          <a:lstStyle/>
          <a:p>
            <a:pPr algn="ctr" indent="0" marL="0">
              <a:buNone/>
            </a:pPr>
            <a:r>
              <a:rPr lang="en-US" sz="1100" dirty="0">
                <a:solidFill>
                  <a:srgbClr val="CADCFC"/>
                </a:solidFill>
                <a:latin typeface="Calibri" pitchFamily="34" charset="0"/>
                <a:ea typeface="Calibri" pitchFamily="34" charset="-122"/>
                <a:cs typeface="Calibri" pitchFamily="34" charset="-120"/>
              </a:rPr>
              <a:t>bits 11–0</a:t>
            </a:r>
            <a:endParaRPr lang="en-US" sz="1100" dirty="0"/>
          </a:p>
        </p:txBody>
      </p:sp>
      <p:sp>
        <p:nvSpPr>
          <p:cNvPr id="15" name="Text 13"/>
          <p:cNvSpPr/>
          <p:nvPr/>
        </p:nvSpPr>
        <p:spPr>
          <a:xfrm>
            <a:off x="822960" y="3246120"/>
            <a:ext cx="10058400" cy="2377440"/>
          </a:xfrm>
          <a:prstGeom prst="rect">
            <a:avLst/>
          </a:prstGeom>
          <a:noFill/>
          <a:ln/>
        </p:spPr>
        <p:txBody>
          <a:bodyPr wrap="square" lIns="0" tIns="0" rIns="0" bIns="0" rtlCol="0" anchor="t"/>
          <a:lstStyle/>
          <a:p>
            <a:pPr indent="0" marL="0">
              <a:spcAft>
                <a:spcPts val="1000"/>
              </a:spcAft>
              <a:buNone/>
            </a:pPr>
            <a:r>
              <a:rPr lang="en-US" sz="1600" b="1" dirty="0">
                <a:solidFill>
                  <a:srgbClr val="1E2761"/>
                </a:solidFill>
                <a:latin typeface="Calibri" pitchFamily="34" charset="0"/>
                <a:ea typeface="Calibri" pitchFamily="34" charset="-122"/>
                <a:cs typeface="Calibri" pitchFamily="34" charset="-120"/>
              </a:rPr>
              <a:t>I (bit 15): </a:t>
            </a:r>
            <a:pPr indent="0" marL="0">
              <a:spcAft>
                <a:spcPts val="1000"/>
              </a:spcAft>
              <a:buNone/>
            </a:pPr>
            <a:r>
              <a:rPr lang="en-US" sz="1600" dirty="0">
                <a:solidFill>
                  <a:srgbClr val="232323"/>
                </a:solidFill>
                <a:latin typeface="Calibri" pitchFamily="34" charset="0"/>
                <a:ea typeface="Calibri" pitchFamily="34" charset="-122"/>
                <a:cs typeface="Calibri" pitchFamily="34" charset="-120"/>
              </a:rPr>
              <a:t>Addressing-mode bit — 0 means direct, 1 means indirect.
</a:t>
            </a:r>
            <a:pPr indent="0" marL="0">
              <a:spcAft>
                <a:spcPts val="1000"/>
              </a:spcAft>
              <a:buNone/>
            </a:pPr>
            <a:r>
              <a:rPr lang="en-US" sz="1600" b="1" dirty="0">
                <a:solidFill>
                  <a:srgbClr val="1E2761"/>
                </a:solidFill>
                <a:latin typeface="Calibri" pitchFamily="34" charset="0"/>
                <a:ea typeface="Calibri" pitchFamily="34" charset="-122"/>
                <a:cs typeface="Calibri" pitchFamily="34" charset="-120"/>
              </a:rPr>
              <a:t>OPCODE (bits 14–12): </a:t>
            </a:r>
            <a:pPr indent="0" marL="0">
              <a:spcAft>
                <a:spcPts val="1000"/>
              </a:spcAft>
              <a:buNone/>
            </a:pPr>
            <a:r>
              <a:rPr lang="en-US" sz="1600" dirty="0">
                <a:solidFill>
                  <a:srgbClr val="232323"/>
                </a:solidFill>
                <a:latin typeface="Calibri" pitchFamily="34" charset="0"/>
                <a:ea typeface="Calibri" pitchFamily="34" charset="-122"/>
                <a:cs typeface="Calibri" pitchFamily="34" charset="-120"/>
              </a:rPr>
              <a:t>Selects which of the 7 memory-reference instructions to run (000–110). 111 is reserved for register-reference / I/O instructions.
</a:t>
            </a:r>
            <a:pPr indent="0" marL="0">
              <a:spcAft>
                <a:spcPts val="1000"/>
              </a:spcAft>
              <a:buNone/>
            </a:pPr>
            <a:r>
              <a:rPr lang="en-US" sz="1600" b="1" dirty="0">
                <a:solidFill>
                  <a:srgbClr val="1E2761"/>
                </a:solidFill>
                <a:latin typeface="Calibri" pitchFamily="34" charset="0"/>
                <a:ea typeface="Calibri" pitchFamily="34" charset="-122"/>
                <a:cs typeface="Calibri" pitchFamily="34" charset="-120"/>
              </a:rPr>
              <a:t>ADDRESS (bits 11–0): </a:t>
            </a:r>
            <a:pPr indent="0" marL="0">
              <a:spcAft>
                <a:spcPts val="1000"/>
              </a:spcAft>
              <a:buNone/>
            </a:pPr>
            <a:r>
              <a:rPr lang="en-US" sz="1600" dirty="0">
                <a:solidFill>
                  <a:srgbClr val="232323"/>
                </a:solidFill>
                <a:latin typeface="Calibri" pitchFamily="34" charset="0"/>
                <a:ea typeface="Calibri" pitchFamily="34" charset="-122"/>
                <a:cs typeface="Calibri" pitchFamily="34" charset="-120"/>
              </a:rPr>
              <a:t>A 12-bit field giving a memory address from 0 to 4095.</a:t>
            </a:r>
            <a:endParaRPr lang="en-US" sz="1600" dirty="0"/>
          </a:p>
        </p:txBody>
      </p:sp>
      <p:sp>
        <p:nvSpPr>
          <p:cNvPr id="16" name="Text 14"/>
          <p:cNvSpPr/>
          <p:nvPr/>
        </p:nvSpPr>
        <p:spPr>
          <a:xfrm>
            <a:off x="457200" y="6510528"/>
            <a:ext cx="8686800" cy="274320"/>
          </a:xfrm>
          <a:prstGeom prst="rect">
            <a:avLst/>
          </a:prstGeom>
          <a:noFill/>
          <a:ln/>
        </p:spPr>
        <p:txBody>
          <a:bodyPr wrap="square" lIns="0" tIns="0" rIns="0" bIns="0" rtlCol="0" anchor="ctr"/>
          <a:lstStyle/>
          <a:p>
            <a:pPr algn="l" indent="0" marL="0">
              <a:buNone/>
            </a:pPr>
            <a:r>
              <a:rPr lang="en-US" sz="900" dirty="0">
                <a:solidFill>
                  <a:srgbClr val="9AA0AE"/>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
        <p:nvSpPr>
          <p:cNvPr id="17" name="Text 15"/>
          <p:cNvSpPr/>
          <p:nvPr/>
        </p:nvSpPr>
        <p:spPr>
          <a:xfrm>
            <a:off x="11338560" y="6510528"/>
            <a:ext cx="457200" cy="274320"/>
          </a:xfrm>
          <a:prstGeom prst="rect">
            <a:avLst/>
          </a:prstGeom>
          <a:noFill/>
          <a:ln/>
        </p:spPr>
        <p:txBody>
          <a:bodyPr wrap="square" lIns="0" tIns="0" rIns="0" bIns="0" rtlCol="0" anchor="ctr"/>
          <a:lstStyle/>
          <a:p>
            <a:pPr algn="r" indent="0" marL="0">
              <a:buNone/>
            </a:pPr>
            <a:r>
              <a:rPr lang="en-US" sz="900" dirty="0">
                <a:solidFill>
                  <a:srgbClr val="9AA0AE"/>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indent="0" marL="0">
              <a:buNone/>
            </a:pPr>
            <a:r>
              <a:rPr lang="en-US" sz="1300" b="1" spc="200" kern="0" dirty="0">
                <a:solidFill>
                  <a:srgbClr val="F2A541"/>
                </a:solidFill>
                <a:latin typeface="Calibri" pitchFamily="34" charset="0"/>
                <a:ea typeface="Calibri" pitchFamily="34" charset="-122"/>
                <a:cs typeface="Calibri" pitchFamily="34" charset="-120"/>
              </a:rPr>
              <a:t>CORE CONCEPT</a:t>
            </a:r>
            <a:endParaRPr lang="en-US" sz="1300" dirty="0"/>
          </a:p>
        </p:txBody>
      </p:sp>
      <p:sp>
        <p:nvSpPr>
          <p:cNvPr id="3" name="Text 1"/>
          <p:cNvSpPr/>
          <p:nvPr/>
        </p:nvSpPr>
        <p:spPr>
          <a:xfrm>
            <a:off x="548640" y="685800"/>
            <a:ext cx="8778240" cy="91440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The Effective Address (EA)</a:t>
            </a:r>
            <a:endParaRPr lang="en-US" sz="3200" dirty="0"/>
          </a:p>
        </p:txBody>
      </p:sp>
      <p:sp>
        <p:nvSpPr>
          <p:cNvPr id="4" name="Shape 2"/>
          <p:cNvSpPr/>
          <p:nvPr/>
        </p:nvSpPr>
        <p:spPr>
          <a:xfrm>
            <a:off x="10607040" y="502920"/>
            <a:ext cx="822960" cy="822960"/>
          </a:xfrm>
          <a:prstGeom prst="ellipse">
            <a:avLst/>
          </a:prstGeom>
          <a:solidFill>
            <a:srgbClr val="1E2761"/>
          </a:solidFill>
          <a:ln/>
        </p:spPr>
      </p:sp>
      <p:sp>
        <p:nvSpPr>
          <p:cNvPr id="5" name="Text 3"/>
          <p:cNvSpPr/>
          <p:nvPr/>
        </p:nvSpPr>
        <p:spPr>
          <a:xfrm>
            <a:off x="10607040" y="502920"/>
            <a:ext cx="822960" cy="822960"/>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a:t>
            </a:r>
            <a:endParaRPr lang="en-US" sz="2600" dirty="0"/>
          </a:p>
        </p:txBody>
      </p:sp>
      <p:sp>
        <p:nvSpPr>
          <p:cNvPr id="6" name="Text 4"/>
          <p:cNvSpPr/>
          <p:nvPr/>
        </p:nvSpPr>
        <p:spPr>
          <a:xfrm>
            <a:off x="548640" y="1691640"/>
            <a:ext cx="10241280" cy="4498848"/>
          </a:xfrm>
          <a:prstGeom prst="rect">
            <a:avLst/>
          </a:prstGeom>
          <a:noFill/>
          <a:ln/>
        </p:spPr>
        <p:txBody>
          <a:bodyPr wrap="square" lIns="0" tIns="0" rIns="0" bIns="0" rtlCol="0" anchor="t"/>
          <a:lstStyle/>
          <a:p>
            <a:pPr marL="228600" indent="-228600">
              <a:spcAft>
                <a:spcPts val="1200"/>
              </a:spcAft>
              <a:buSzPct val="100000"/>
              <a:buChar char="▪"/>
            </a:pPr>
            <a:r>
              <a:rPr lang="en-US" sz="1700" dirty="0">
                <a:solidFill>
                  <a:srgbClr val="232323"/>
                </a:solidFill>
                <a:latin typeface="Calibri" pitchFamily="34" charset="0"/>
                <a:ea typeface="Calibri" pitchFamily="34" charset="-122"/>
                <a:cs typeface="Calibri" pitchFamily="34" charset="-120"/>
              </a:rPr>
              <a:t>The Effective Address is the ACTUAL memory location where the operand finally resides.</a:t>
            </a:r>
            <a:endParaRPr lang="en-US" sz="1700" dirty="0"/>
          </a:p>
          <a:p>
            <a:pPr marL="228600" indent="-228600">
              <a:spcAft>
                <a:spcPts val="1200"/>
              </a:spcAft>
              <a:buSzPct val="100000"/>
              <a:buChar char="▪"/>
            </a:pPr>
            <a:r>
              <a:rPr lang="en-US" sz="1700" dirty="0">
                <a:solidFill>
                  <a:srgbClr val="232323"/>
                </a:solidFill>
                <a:latin typeface="Calibri" pitchFamily="34" charset="0"/>
                <a:ea typeface="Calibri" pitchFamily="34" charset="-122"/>
                <a:cs typeface="Calibri" pitchFamily="34" charset="-120"/>
              </a:rPr>
              <a:t>Sometimes the address field IS the effective address — that's direct addressing.</a:t>
            </a:r>
            <a:endParaRPr lang="en-US" sz="1700" dirty="0"/>
          </a:p>
          <a:p>
            <a:pPr marL="228600" indent="-228600">
              <a:spcAft>
                <a:spcPts val="1200"/>
              </a:spcAft>
              <a:buSzPct val="100000"/>
              <a:buChar char="▪"/>
            </a:pPr>
            <a:r>
              <a:rPr lang="en-US" sz="1700" dirty="0">
                <a:solidFill>
                  <a:srgbClr val="232323"/>
                </a:solidFill>
                <a:latin typeface="Calibri" pitchFamily="34" charset="0"/>
                <a:ea typeface="Calibri" pitchFamily="34" charset="-122"/>
                <a:cs typeface="Calibri" pitchFamily="34" charset="-120"/>
              </a:rPr>
              <a:t>Sometimes the address field only points to another memory location that holds the real address — that's indirect addressing.</a:t>
            </a:r>
            <a:endParaRPr lang="en-US" sz="1700" dirty="0"/>
          </a:p>
          <a:p>
            <a:pPr marL="228600" indent="-228600">
              <a:spcAft>
                <a:spcPts val="1200"/>
              </a:spcAft>
              <a:buSzPct val="100000"/>
              <a:buChar char="▪"/>
            </a:pPr>
            <a:r>
              <a:rPr lang="en-US" sz="1700" dirty="0">
                <a:solidFill>
                  <a:srgbClr val="232323"/>
                </a:solidFill>
                <a:latin typeface="Calibri" pitchFamily="34" charset="0"/>
                <a:ea typeface="Calibri" pitchFamily="34" charset="-122"/>
                <a:cs typeface="Calibri" pitchFamily="34" charset="-120"/>
              </a:rPr>
              <a:t>Computing EA correctly is the single most important skill for this topic — every instruction depends on getting it right.</a:t>
            </a:r>
            <a:endParaRPr lang="en-US" sz="1700" dirty="0"/>
          </a:p>
          <a:p>
            <a:pPr marL="228600" indent="-228600">
              <a:spcAft>
                <a:spcPts val="1200"/>
              </a:spcAft>
              <a:buSzPct val="100000"/>
              <a:buChar char="▪"/>
            </a:pPr>
            <a:r>
              <a:rPr lang="en-US" sz="1700" b="1" dirty="0">
                <a:solidFill>
                  <a:srgbClr val="232323"/>
                </a:solidFill>
                <a:latin typeface="Calibri" pitchFamily="34" charset="0"/>
                <a:ea typeface="Calibri" pitchFamily="34" charset="-122"/>
                <a:cs typeface="Calibri" pitchFamily="34" charset="-120"/>
              </a:rPr>
              <a:t>Rule of thumb: 'Direct' = one hop to the data. 'Indirect' = two hops (address of an address).</a:t>
            </a:r>
            <a:endParaRPr lang="en-US" sz="1700" dirty="0"/>
          </a:p>
        </p:txBody>
      </p:sp>
      <p:sp>
        <p:nvSpPr>
          <p:cNvPr id="7" name="Text 5"/>
          <p:cNvSpPr/>
          <p:nvPr/>
        </p:nvSpPr>
        <p:spPr>
          <a:xfrm>
            <a:off x="457200" y="6510528"/>
            <a:ext cx="8686800" cy="274320"/>
          </a:xfrm>
          <a:prstGeom prst="rect">
            <a:avLst/>
          </a:prstGeom>
          <a:noFill/>
          <a:ln/>
        </p:spPr>
        <p:txBody>
          <a:bodyPr wrap="square" lIns="0" tIns="0" rIns="0" bIns="0" rtlCol="0" anchor="ctr"/>
          <a:lstStyle/>
          <a:p>
            <a:pPr algn="l" indent="0" marL="0">
              <a:buNone/>
            </a:pPr>
            <a:r>
              <a:rPr lang="en-US" sz="900" dirty="0">
                <a:solidFill>
                  <a:srgbClr val="9AA0AE"/>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
        <p:nvSpPr>
          <p:cNvPr id="8" name="Text 6"/>
          <p:cNvSpPr/>
          <p:nvPr/>
        </p:nvSpPr>
        <p:spPr>
          <a:xfrm>
            <a:off x="11338560" y="6510528"/>
            <a:ext cx="457200" cy="274320"/>
          </a:xfrm>
          <a:prstGeom prst="rect">
            <a:avLst/>
          </a:prstGeom>
          <a:noFill/>
          <a:ln/>
        </p:spPr>
        <p:txBody>
          <a:bodyPr wrap="square" lIns="0" tIns="0" rIns="0" bIns="0" rtlCol="0" anchor="ctr"/>
          <a:lstStyle/>
          <a:p>
            <a:pPr algn="r" indent="0" marL="0">
              <a:buNone/>
            </a:pPr>
            <a:r>
              <a:rPr lang="en-US" sz="900" dirty="0">
                <a:solidFill>
                  <a:srgbClr val="9AA0AE"/>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indent="0" marL="0">
              <a:buNone/>
            </a:pPr>
            <a:r>
              <a:rPr lang="en-US" sz="1300" b="1" spc="200" kern="0" dirty="0">
                <a:solidFill>
                  <a:srgbClr val="F2A541"/>
                </a:solidFill>
                <a:latin typeface="Calibri" pitchFamily="34" charset="0"/>
                <a:ea typeface="Calibri" pitchFamily="34" charset="-122"/>
                <a:cs typeface="Calibri" pitchFamily="34" charset="-120"/>
              </a:rPr>
              <a:t>ADDRESSING MODES</a:t>
            </a:r>
            <a:endParaRPr lang="en-US" sz="1300" dirty="0"/>
          </a:p>
        </p:txBody>
      </p:sp>
      <p:sp>
        <p:nvSpPr>
          <p:cNvPr id="3" name="Text 1"/>
          <p:cNvSpPr/>
          <p:nvPr/>
        </p:nvSpPr>
        <p:spPr>
          <a:xfrm>
            <a:off x="548640" y="685800"/>
            <a:ext cx="9692640" cy="64008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Direct vs. Indirect Addressing</a:t>
            </a:r>
            <a:endParaRPr lang="en-US" sz="3000" dirty="0"/>
          </a:p>
        </p:txBody>
      </p:sp>
      <p:sp>
        <p:nvSpPr>
          <p:cNvPr id="4" name="Shape 2"/>
          <p:cNvSpPr/>
          <p:nvPr/>
        </p:nvSpPr>
        <p:spPr>
          <a:xfrm>
            <a:off x="548640" y="1554480"/>
            <a:ext cx="5394960" cy="4572000"/>
          </a:xfrm>
          <a:prstGeom prst="roundRect">
            <a:avLst>
              <a:gd name="adj" fmla="val 1600"/>
            </a:avLst>
          </a:prstGeom>
          <a:solidFill>
            <a:srgbClr val="F4F6FB"/>
          </a:solidFill>
          <a:ln/>
        </p:spPr>
      </p:sp>
      <p:sp>
        <p:nvSpPr>
          <p:cNvPr id="5" name="Text 3"/>
          <p:cNvSpPr/>
          <p:nvPr/>
        </p:nvSpPr>
        <p:spPr>
          <a:xfrm>
            <a:off x="822960" y="1783080"/>
            <a:ext cx="4937760" cy="365760"/>
          </a:xfrm>
          <a:prstGeom prst="rect">
            <a:avLst/>
          </a:prstGeom>
          <a:noFill/>
          <a:ln/>
        </p:spPr>
        <p:txBody>
          <a:bodyPr wrap="square" lIns="0" tIns="0" rIns="0" bIns="0" rtlCol="0" anchor="ctr"/>
          <a:lstStyle/>
          <a:p>
            <a:pPr indent="0" marL="0">
              <a:buNone/>
            </a:pPr>
            <a:r>
              <a:rPr lang="en-US" sz="1700" b="1" dirty="0">
                <a:solidFill>
                  <a:srgbClr val="1E2761"/>
                </a:solidFill>
                <a:latin typeface="Cambria" pitchFamily="34" charset="0"/>
                <a:ea typeface="Cambria" pitchFamily="34" charset="-122"/>
                <a:cs typeface="Cambria" pitchFamily="34" charset="-120"/>
              </a:rPr>
              <a:t>Direct Addressing  (I = 0)</a:t>
            </a:r>
            <a:endParaRPr lang="en-US" sz="1700" dirty="0"/>
          </a:p>
        </p:txBody>
      </p:sp>
      <p:sp>
        <p:nvSpPr>
          <p:cNvPr id="6" name="Shape 4"/>
          <p:cNvSpPr/>
          <p:nvPr/>
        </p:nvSpPr>
        <p:spPr>
          <a:xfrm>
            <a:off x="1005840" y="2331720"/>
            <a:ext cx="1920240" cy="640080"/>
          </a:xfrm>
          <a:prstGeom prst="roundRect">
            <a:avLst>
              <a:gd name="adj" fmla="val 8571"/>
            </a:avLst>
          </a:prstGeom>
          <a:solidFill>
            <a:srgbClr val="1E2761"/>
          </a:solidFill>
          <a:ln/>
        </p:spPr>
      </p:sp>
      <p:sp>
        <p:nvSpPr>
          <p:cNvPr id="7" name="Text 5"/>
          <p:cNvSpPr/>
          <p:nvPr/>
        </p:nvSpPr>
        <p:spPr>
          <a:xfrm>
            <a:off x="1005840" y="2331720"/>
            <a:ext cx="1920240" cy="640080"/>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Instruction</a:t>
            </a:r>
            <a:endParaRPr lang="en-US" sz="1100" dirty="0"/>
          </a:p>
          <a:p>
            <a:pPr algn="ctr" indent="0" marL="0">
              <a:buNone/>
            </a:pPr>
            <a:r>
              <a:rPr lang="en-US" sz="1100" dirty="0">
                <a:solidFill>
                  <a:srgbClr val="FFFFFF"/>
                </a:solidFill>
                <a:latin typeface="Calibri" pitchFamily="34" charset="0"/>
                <a:ea typeface="Calibri" pitchFamily="34" charset="-122"/>
                <a:cs typeface="Calibri" pitchFamily="34" charset="-120"/>
              </a:rPr>
              <a:t>addr = 450</a:t>
            </a:r>
            <a:endParaRPr lang="en-US" sz="1100" dirty="0"/>
          </a:p>
        </p:txBody>
      </p:sp>
      <p:sp>
        <p:nvSpPr>
          <p:cNvPr id="8" name="Shape 6"/>
          <p:cNvSpPr/>
          <p:nvPr/>
        </p:nvSpPr>
        <p:spPr>
          <a:xfrm>
            <a:off x="3063240" y="2514600"/>
            <a:ext cx="822960" cy="274320"/>
          </a:xfrm>
          <a:prstGeom prst="rightArrow">
            <a:avLst/>
          </a:prstGeom>
          <a:solidFill>
            <a:srgbClr val="F2A541"/>
          </a:solidFill>
          <a:ln/>
        </p:spPr>
      </p:sp>
      <p:sp>
        <p:nvSpPr>
          <p:cNvPr id="9" name="Shape 7"/>
          <p:cNvSpPr/>
          <p:nvPr/>
        </p:nvSpPr>
        <p:spPr>
          <a:xfrm>
            <a:off x="4023360" y="2331720"/>
            <a:ext cx="1554480" cy="640080"/>
          </a:xfrm>
          <a:prstGeom prst="roundRect">
            <a:avLst>
              <a:gd name="adj" fmla="val 8571"/>
            </a:avLst>
          </a:prstGeom>
          <a:solidFill>
            <a:srgbClr val="3E4E9C"/>
          </a:solidFill>
          <a:ln/>
        </p:spPr>
      </p:sp>
      <p:sp>
        <p:nvSpPr>
          <p:cNvPr id="10" name="Text 8"/>
          <p:cNvSpPr/>
          <p:nvPr/>
        </p:nvSpPr>
        <p:spPr>
          <a:xfrm>
            <a:off x="4023360" y="2331720"/>
            <a:ext cx="1554480" cy="640080"/>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M[450]</a:t>
            </a:r>
            <a:endParaRPr lang="en-US" sz="1100" dirty="0"/>
          </a:p>
          <a:p>
            <a:pPr algn="ctr" indent="0" marL="0">
              <a:buNone/>
            </a:pPr>
            <a:r>
              <a:rPr lang="en-US" sz="1100" dirty="0">
                <a:solidFill>
                  <a:srgbClr val="FFFFFF"/>
                </a:solidFill>
                <a:latin typeface="Calibri" pitchFamily="34" charset="0"/>
                <a:ea typeface="Calibri" pitchFamily="34" charset="-122"/>
                <a:cs typeface="Calibri" pitchFamily="34" charset="-120"/>
              </a:rPr>
              <a:t>operand</a:t>
            </a:r>
            <a:endParaRPr lang="en-US" sz="1100" dirty="0"/>
          </a:p>
        </p:txBody>
      </p:sp>
      <p:sp>
        <p:nvSpPr>
          <p:cNvPr id="11" name="Text 9"/>
          <p:cNvSpPr/>
          <p:nvPr/>
        </p:nvSpPr>
        <p:spPr>
          <a:xfrm>
            <a:off x="822960" y="3246120"/>
            <a:ext cx="4846320" cy="822960"/>
          </a:xfrm>
          <a:prstGeom prst="rect">
            <a:avLst/>
          </a:prstGeom>
          <a:noFill/>
          <a:ln/>
        </p:spPr>
        <p:txBody>
          <a:bodyPr wrap="square" lIns="0" tIns="0" rIns="0" bIns="0" rtlCol="0" anchor="ctr"/>
          <a:lstStyle/>
          <a:p>
            <a:pPr indent="0" marL="0">
              <a:buNone/>
            </a:pPr>
            <a:r>
              <a:rPr lang="en-US" sz="1350" dirty="0">
                <a:solidFill>
                  <a:srgbClr val="232323"/>
                </a:solidFill>
                <a:latin typeface="Calibri" pitchFamily="34" charset="0"/>
                <a:ea typeface="Calibri" pitchFamily="34" charset="-122"/>
                <a:cs typeface="Calibri" pitchFamily="34" charset="-120"/>
              </a:rPr>
              <a:t>EA = address field = 450. One hop, straight to the data.</a:t>
            </a:r>
            <a:endParaRPr lang="en-US" sz="1350" dirty="0"/>
          </a:p>
        </p:txBody>
      </p:sp>
      <p:sp>
        <p:nvSpPr>
          <p:cNvPr id="12" name="Text 10"/>
          <p:cNvSpPr/>
          <p:nvPr/>
        </p:nvSpPr>
        <p:spPr>
          <a:xfrm>
            <a:off x="822960" y="4160520"/>
            <a:ext cx="4846320" cy="822960"/>
          </a:xfrm>
          <a:prstGeom prst="rect">
            <a:avLst/>
          </a:prstGeom>
          <a:noFill/>
          <a:ln/>
        </p:spPr>
        <p:txBody>
          <a:bodyPr wrap="square" lIns="0" tIns="0" rIns="0" bIns="0" rtlCol="0" anchor="ctr"/>
          <a:lstStyle/>
          <a:p>
            <a:pPr indent="0" marL="0">
              <a:buNone/>
            </a:pPr>
            <a:r>
              <a:rPr lang="en-US" sz="1300" b="1" dirty="0">
                <a:solidFill>
                  <a:srgbClr val="1E2761"/>
                </a:solidFill>
                <a:latin typeface="Courier New" pitchFamily="34" charset="0"/>
                <a:ea typeface="Courier New" pitchFamily="34" charset="-122"/>
                <a:cs typeface="Courier New" pitchFamily="34" charset="-120"/>
              </a:rPr>
              <a:t>Example:  LDA 450   (I=0)</a:t>
            </a:r>
            <a:endParaRPr lang="en-US" sz="1300" dirty="0"/>
          </a:p>
          <a:p>
            <a:pPr indent="0" marL="0">
              <a:buNone/>
            </a:pPr>
            <a:r>
              <a:rPr lang="en-US" sz="1300" b="1" dirty="0">
                <a:solidFill>
                  <a:srgbClr val="1E2761"/>
                </a:solidFill>
                <a:latin typeface="Courier New" pitchFamily="34" charset="0"/>
                <a:ea typeface="Courier New" pitchFamily="34" charset="-122"/>
                <a:cs typeface="Courier New" pitchFamily="34" charset="-120"/>
              </a:rPr>
              <a:t>AC ← M[450]</a:t>
            </a:r>
            <a:endParaRPr lang="en-US" sz="1300" dirty="0"/>
          </a:p>
        </p:txBody>
      </p:sp>
      <p:sp>
        <p:nvSpPr>
          <p:cNvPr id="13" name="Shape 11"/>
          <p:cNvSpPr/>
          <p:nvPr/>
        </p:nvSpPr>
        <p:spPr>
          <a:xfrm>
            <a:off x="6217920" y="1554480"/>
            <a:ext cx="5394960" cy="4572000"/>
          </a:xfrm>
          <a:prstGeom prst="roundRect">
            <a:avLst>
              <a:gd name="adj" fmla="val 1600"/>
            </a:avLst>
          </a:prstGeom>
          <a:solidFill>
            <a:srgbClr val="F4F6FB"/>
          </a:solidFill>
          <a:ln/>
        </p:spPr>
      </p:sp>
      <p:sp>
        <p:nvSpPr>
          <p:cNvPr id="14" name="Text 12"/>
          <p:cNvSpPr/>
          <p:nvPr/>
        </p:nvSpPr>
        <p:spPr>
          <a:xfrm>
            <a:off x="6492240" y="1783080"/>
            <a:ext cx="4937760" cy="365760"/>
          </a:xfrm>
          <a:prstGeom prst="rect">
            <a:avLst/>
          </a:prstGeom>
          <a:noFill/>
          <a:ln/>
        </p:spPr>
        <p:txBody>
          <a:bodyPr wrap="square" lIns="0" tIns="0" rIns="0" bIns="0" rtlCol="0" anchor="ctr"/>
          <a:lstStyle/>
          <a:p>
            <a:pPr indent="0" marL="0">
              <a:buNone/>
            </a:pPr>
            <a:r>
              <a:rPr lang="en-US" sz="1700" b="1" dirty="0">
                <a:solidFill>
                  <a:srgbClr val="1E2761"/>
                </a:solidFill>
                <a:latin typeface="Cambria" pitchFamily="34" charset="0"/>
                <a:ea typeface="Cambria" pitchFamily="34" charset="-122"/>
                <a:cs typeface="Cambria" pitchFamily="34" charset="-120"/>
              </a:rPr>
              <a:t>Indirect Addressing  (I = 1)</a:t>
            </a:r>
            <a:endParaRPr lang="en-US" sz="1700" dirty="0"/>
          </a:p>
        </p:txBody>
      </p:sp>
      <p:sp>
        <p:nvSpPr>
          <p:cNvPr id="15" name="Shape 13"/>
          <p:cNvSpPr/>
          <p:nvPr/>
        </p:nvSpPr>
        <p:spPr>
          <a:xfrm>
            <a:off x="6675120" y="2331720"/>
            <a:ext cx="1554480" cy="640080"/>
          </a:xfrm>
          <a:prstGeom prst="roundRect">
            <a:avLst>
              <a:gd name="adj" fmla="val 8571"/>
            </a:avLst>
          </a:prstGeom>
          <a:solidFill>
            <a:srgbClr val="1E2761"/>
          </a:solidFill>
          <a:ln/>
        </p:spPr>
      </p:sp>
      <p:sp>
        <p:nvSpPr>
          <p:cNvPr id="16" name="Text 14"/>
          <p:cNvSpPr/>
          <p:nvPr/>
        </p:nvSpPr>
        <p:spPr>
          <a:xfrm>
            <a:off x="6675120" y="2331720"/>
            <a:ext cx="1554480" cy="640080"/>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Instruction</a:t>
            </a:r>
            <a:endParaRPr lang="en-US" sz="1100" dirty="0"/>
          </a:p>
          <a:p>
            <a:pPr algn="ctr" indent="0" marL="0">
              <a:buNone/>
            </a:pPr>
            <a:r>
              <a:rPr lang="en-US" sz="1100" dirty="0">
                <a:solidFill>
                  <a:srgbClr val="FFFFFF"/>
                </a:solidFill>
                <a:latin typeface="Calibri" pitchFamily="34" charset="0"/>
                <a:ea typeface="Calibri" pitchFamily="34" charset="-122"/>
                <a:cs typeface="Calibri" pitchFamily="34" charset="-120"/>
              </a:rPr>
              <a:t>addr = 300</a:t>
            </a:r>
            <a:endParaRPr lang="en-US" sz="1100" dirty="0"/>
          </a:p>
        </p:txBody>
      </p:sp>
      <p:sp>
        <p:nvSpPr>
          <p:cNvPr id="17" name="Shape 15"/>
          <p:cNvSpPr/>
          <p:nvPr/>
        </p:nvSpPr>
        <p:spPr>
          <a:xfrm>
            <a:off x="8366760" y="2514600"/>
            <a:ext cx="640080" cy="274320"/>
          </a:xfrm>
          <a:prstGeom prst="rightArrow">
            <a:avLst/>
          </a:prstGeom>
          <a:solidFill>
            <a:srgbClr val="F2A541"/>
          </a:solidFill>
          <a:ln/>
        </p:spPr>
      </p:sp>
      <p:sp>
        <p:nvSpPr>
          <p:cNvPr id="18" name="Shape 16"/>
          <p:cNvSpPr/>
          <p:nvPr/>
        </p:nvSpPr>
        <p:spPr>
          <a:xfrm>
            <a:off x="9144000" y="2331720"/>
            <a:ext cx="1737360" cy="640080"/>
          </a:xfrm>
          <a:prstGeom prst="roundRect">
            <a:avLst>
              <a:gd name="adj" fmla="val 8571"/>
            </a:avLst>
          </a:prstGeom>
          <a:solidFill>
            <a:srgbClr val="3E4E9C"/>
          </a:solidFill>
          <a:ln/>
        </p:spPr>
      </p:sp>
      <p:sp>
        <p:nvSpPr>
          <p:cNvPr id="19" name="Text 17"/>
          <p:cNvSpPr/>
          <p:nvPr/>
        </p:nvSpPr>
        <p:spPr>
          <a:xfrm>
            <a:off x="9144000" y="2331720"/>
            <a:ext cx="1737360" cy="640080"/>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M[300]</a:t>
            </a:r>
            <a:endParaRPr lang="en-US" sz="1100" dirty="0"/>
          </a:p>
          <a:p>
            <a:pPr algn="ctr" indent="0" marL="0">
              <a:buNone/>
            </a:pPr>
            <a:r>
              <a:rPr lang="en-US" sz="1100" dirty="0">
                <a:solidFill>
                  <a:srgbClr val="FFFFFF"/>
                </a:solidFill>
                <a:latin typeface="Calibri" pitchFamily="34" charset="0"/>
                <a:ea typeface="Calibri" pitchFamily="34" charset="-122"/>
                <a:cs typeface="Calibri" pitchFamily="34" charset="-120"/>
              </a:rPr>
              <a:t>= 850</a:t>
            </a:r>
            <a:endParaRPr lang="en-US" sz="1100" dirty="0"/>
          </a:p>
        </p:txBody>
      </p:sp>
      <p:sp>
        <p:nvSpPr>
          <p:cNvPr id="20" name="Shape 18"/>
          <p:cNvSpPr/>
          <p:nvPr/>
        </p:nvSpPr>
        <p:spPr>
          <a:xfrm>
            <a:off x="9829800" y="3017520"/>
            <a:ext cx="274320" cy="502920"/>
          </a:xfrm>
          <a:prstGeom prst="downArrow">
            <a:avLst/>
          </a:prstGeom>
          <a:solidFill>
            <a:srgbClr val="F2A541"/>
          </a:solidFill>
          <a:ln/>
        </p:spPr>
      </p:sp>
      <p:sp>
        <p:nvSpPr>
          <p:cNvPr id="21" name="Shape 19"/>
          <p:cNvSpPr/>
          <p:nvPr/>
        </p:nvSpPr>
        <p:spPr>
          <a:xfrm>
            <a:off x="9144000" y="3566160"/>
            <a:ext cx="1737360" cy="640080"/>
          </a:xfrm>
          <a:prstGeom prst="roundRect">
            <a:avLst>
              <a:gd name="adj" fmla="val 8571"/>
            </a:avLst>
          </a:prstGeom>
          <a:solidFill>
            <a:srgbClr val="3E4E9C"/>
          </a:solidFill>
          <a:ln/>
        </p:spPr>
      </p:sp>
      <p:sp>
        <p:nvSpPr>
          <p:cNvPr id="22" name="Text 20"/>
          <p:cNvSpPr/>
          <p:nvPr/>
        </p:nvSpPr>
        <p:spPr>
          <a:xfrm>
            <a:off x="9144000" y="3566160"/>
            <a:ext cx="1737360" cy="640080"/>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M[850]</a:t>
            </a:r>
            <a:endParaRPr lang="en-US" sz="1100" dirty="0"/>
          </a:p>
          <a:p>
            <a:pPr algn="ctr" indent="0" marL="0">
              <a:buNone/>
            </a:pPr>
            <a:r>
              <a:rPr lang="en-US" sz="1100" dirty="0">
                <a:solidFill>
                  <a:srgbClr val="FFFFFF"/>
                </a:solidFill>
                <a:latin typeface="Calibri" pitchFamily="34" charset="0"/>
                <a:ea typeface="Calibri" pitchFamily="34" charset="-122"/>
                <a:cs typeface="Calibri" pitchFamily="34" charset="-120"/>
              </a:rPr>
              <a:t>operand</a:t>
            </a:r>
            <a:endParaRPr lang="en-US" sz="1100" dirty="0"/>
          </a:p>
        </p:txBody>
      </p:sp>
      <p:sp>
        <p:nvSpPr>
          <p:cNvPr id="23" name="Text 21"/>
          <p:cNvSpPr/>
          <p:nvPr/>
        </p:nvSpPr>
        <p:spPr>
          <a:xfrm>
            <a:off x="6492240" y="4434840"/>
            <a:ext cx="5029200" cy="822960"/>
          </a:xfrm>
          <a:prstGeom prst="rect">
            <a:avLst/>
          </a:prstGeom>
          <a:noFill/>
          <a:ln/>
        </p:spPr>
        <p:txBody>
          <a:bodyPr wrap="square" lIns="0" tIns="0" rIns="0" bIns="0" rtlCol="0" anchor="ctr"/>
          <a:lstStyle/>
          <a:p>
            <a:pPr indent="0" marL="0">
              <a:buNone/>
            </a:pPr>
            <a:r>
              <a:rPr lang="en-US" sz="1350" dirty="0">
                <a:solidFill>
                  <a:srgbClr val="232323"/>
                </a:solidFill>
                <a:latin typeface="Calibri" pitchFamily="34" charset="0"/>
                <a:ea typeface="Calibri" pitchFamily="34" charset="-122"/>
                <a:cs typeface="Calibri" pitchFamily="34" charset="-120"/>
              </a:rPr>
              <a:t>EA = M[address field] = M[300] = 850. Two hops — address of an address.</a:t>
            </a:r>
            <a:endParaRPr lang="en-US" sz="1350" dirty="0"/>
          </a:p>
        </p:txBody>
      </p:sp>
      <p:sp>
        <p:nvSpPr>
          <p:cNvPr id="24" name="Text 22"/>
          <p:cNvSpPr/>
          <p:nvPr/>
        </p:nvSpPr>
        <p:spPr>
          <a:xfrm>
            <a:off x="6492240" y="5257800"/>
            <a:ext cx="4937760" cy="731520"/>
          </a:xfrm>
          <a:prstGeom prst="rect">
            <a:avLst/>
          </a:prstGeom>
          <a:noFill/>
          <a:ln/>
        </p:spPr>
        <p:txBody>
          <a:bodyPr wrap="square" lIns="0" tIns="0" rIns="0" bIns="0" rtlCol="0" anchor="ctr"/>
          <a:lstStyle/>
          <a:p>
            <a:pPr indent="0" marL="0">
              <a:buNone/>
            </a:pPr>
            <a:r>
              <a:rPr lang="en-US" sz="1300" b="1" dirty="0">
                <a:solidFill>
                  <a:srgbClr val="1E2761"/>
                </a:solidFill>
                <a:latin typeface="Courier New" pitchFamily="34" charset="0"/>
                <a:ea typeface="Courier New" pitchFamily="34" charset="-122"/>
                <a:cs typeface="Courier New" pitchFamily="34" charset="-120"/>
              </a:rPr>
              <a:t>Example:  LDA 300 I   (I=1)</a:t>
            </a:r>
            <a:endParaRPr lang="en-US" sz="1300" dirty="0"/>
          </a:p>
          <a:p>
            <a:pPr indent="0" marL="0">
              <a:buNone/>
            </a:pPr>
            <a:r>
              <a:rPr lang="en-US" sz="1300" b="1" dirty="0">
                <a:solidFill>
                  <a:srgbClr val="1E2761"/>
                </a:solidFill>
                <a:latin typeface="Courier New" pitchFamily="34" charset="0"/>
                <a:ea typeface="Courier New" pitchFamily="34" charset="-122"/>
                <a:cs typeface="Courier New" pitchFamily="34" charset="-120"/>
              </a:rPr>
              <a:t>AC ← M[M[300]]</a:t>
            </a:r>
            <a:endParaRPr lang="en-US" sz="1300" dirty="0"/>
          </a:p>
        </p:txBody>
      </p:sp>
      <p:sp>
        <p:nvSpPr>
          <p:cNvPr id="25" name="Text 23"/>
          <p:cNvSpPr/>
          <p:nvPr/>
        </p:nvSpPr>
        <p:spPr>
          <a:xfrm>
            <a:off x="457200" y="6510528"/>
            <a:ext cx="8686800" cy="274320"/>
          </a:xfrm>
          <a:prstGeom prst="rect">
            <a:avLst/>
          </a:prstGeom>
          <a:noFill/>
          <a:ln/>
        </p:spPr>
        <p:txBody>
          <a:bodyPr wrap="square" lIns="0" tIns="0" rIns="0" bIns="0" rtlCol="0" anchor="ctr"/>
          <a:lstStyle/>
          <a:p>
            <a:pPr algn="l" indent="0" marL="0">
              <a:buNone/>
            </a:pPr>
            <a:r>
              <a:rPr lang="en-US" sz="900" dirty="0">
                <a:solidFill>
                  <a:srgbClr val="9AA0AE"/>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
        <p:nvSpPr>
          <p:cNvPr id="26" name="Text 24"/>
          <p:cNvSpPr/>
          <p:nvPr/>
        </p:nvSpPr>
        <p:spPr>
          <a:xfrm>
            <a:off x="11338560" y="6510528"/>
            <a:ext cx="457200" cy="274320"/>
          </a:xfrm>
          <a:prstGeom prst="rect">
            <a:avLst/>
          </a:prstGeom>
          <a:noFill/>
          <a:ln/>
        </p:spPr>
        <p:txBody>
          <a:bodyPr wrap="square" lIns="0" tIns="0" rIns="0" bIns="0" rtlCol="0" anchor="ctr"/>
          <a:lstStyle/>
          <a:p>
            <a:pPr algn="r" indent="0" marL="0">
              <a:buNone/>
            </a:pPr>
            <a:r>
              <a:rPr lang="en-US" sz="900" dirty="0">
                <a:solidFill>
                  <a:srgbClr val="9AA0AE"/>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indent="0" marL="0">
              <a:buNone/>
            </a:pPr>
            <a:r>
              <a:rPr lang="en-US" sz="1300" b="1" spc="200" kern="0" dirty="0">
                <a:solidFill>
                  <a:srgbClr val="F2A541"/>
                </a:solidFill>
                <a:latin typeface="Calibri" pitchFamily="34" charset="0"/>
                <a:ea typeface="Calibri" pitchFamily="34" charset="-122"/>
                <a:cs typeface="Calibri" pitchFamily="34" charset="-120"/>
              </a:rPr>
              <a:t>INSTRUCTION 1 OF 7  ·  OPCODE 000</a:t>
            </a:r>
            <a:endParaRPr lang="en-US" sz="1300" dirty="0"/>
          </a:p>
        </p:txBody>
      </p:sp>
      <p:sp>
        <p:nvSpPr>
          <p:cNvPr id="3" name="Text 1"/>
          <p:cNvSpPr/>
          <p:nvPr/>
        </p:nvSpPr>
        <p:spPr>
          <a:xfrm>
            <a:off x="548640" y="685800"/>
            <a:ext cx="8778240" cy="91440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AND — Logical AND to Accumulator</a:t>
            </a:r>
            <a:endParaRPr lang="en-US" sz="3200" dirty="0"/>
          </a:p>
        </p:txBody>
      </p:sp>
      <p:sp>
        <p:nvSpPr>
          <p:cNvPr id="4" name="Shape 2"/>
          <p:cNvSpPr/>
          <p:nvPr/>
        </p:nvSpPr>
        <p:spPr>
          <a:xfrm>
            <a:off x="10607040" y="502920"/>
            <a:ext cx="822960" cy="822960"/>
          </a:xfrm>
          <a:prstGeom prst="ellipse">
            <a:avLst/>
          </a:prstGeom>
          <a:solidFill>
            <a:srgbClr val="1E2761"/>
          </a:solidFill>
          <a:ln/>
        </p:spPr>
      </p:sp>
      <p:sp>
        <p:nvSpPr>
          <p:cNvPr id="5" name="Text 3"/>
          <p:cNvSpPr/>
          <p:nvPr/>
        </p:nvSpPr>
        <p:spPr>
          <a:xfrm>
            <a:off x="10607040" y="502920"/>
            <a:ext cx="822960" cy="822960"/>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a:t>
            </a:r>
            <a:endParaRPr lang="en-US" sz="2600" dirty="0"/>
          </a:p>
        </p:txBody>
      </p:sp>
      <p:sp>
        <p:nvSpPr>
          <p:cNvPr id="6" name="Text 4"/>
          <p:cNvSpPr/>
          <p:nvPr/>
        </p:nvSpPr>
        <p:spPr>
          <a:xfrm>
            <a:off x="548640" y="1691640"/>
            <a:ext cx="10241280" cy="4498848"/>
          </a:xfrm>
          <a:prstGeom prst="rect">
            <a:avLst/>
          </a:prstGeom>
          <a:noFill/>
          <a:ln/>
        </p:spPr>
        <p:txBody>
          <a:bodyPr wrap="square" lIns="0" tIns="0" rIns="0" bIns="0" rtlCol="0" anchor="t"/>
          <a:lstStyle/>
          <a:p>
            <a:pPr marL="228600" indent="-228600">
              <a:spcAft>
                <a:spcPts val="1200"/>
              </a:spcAft>
              <a:buSzPct val="100000"/>
              <a:buChar char="▪"/>
            </a:pPr>
            <a:r>
              <a:rPr lang="en-US" sz="1700" b="1" dirty="0">
                <a:solidFill>
                  <a:srgbClr val="232323"/>
                </a:solidFill>
                <a:latin typeface="Calibri" pitchFamily="34" charset="0"/>
                <a:ea typeface="Calibri" pitchFamily="34" charset="-122"/>
                <a:cs typeface="Calibri" pitchFamily="34" charset="-120"/>
              </a:rPr>
              <a:t>Symbolic form:  AND  (Register Transfer: AC ← AC ∧ M[EA])</a:t>
            </a:r>
            <a:endParaRPr lang="en-US" sz="1700" dirty="0"/>
          </a:p>
          <a:p>
            <a:pPr marL="228600" indent="-228600">
              <a:spcAft>
                <a:spcPts val="1200"/>
              </a:spcAft>
              <a:buSzPct val="100000"/>
              <a:buChar char="▪"/>
            </a:pPr>
            <a:r>
              <a:rPr lang="en-US" sz="1700" dirty="0">
                <a:solidFill>
                  <a:srgbClr val="232323"/>
                </a:solidFill>
                <a:latin typeface="Calibri" pitchFamily="34" charset="0"/>
                <a:ea typeface="Calibri" pitchFamily="34" charset="-122"/>
                <a:cs typeface="Calibri" pitchFamily="34" charset="-120"/>
              </a:rPr>
              <a:t>Performs a bitwise AND between the Accumulator (AC) and the operand found at the Effective Address.</a:t>
            </a:r>
            <a:endParaRPr lang="en-US" sz="1700" dirty="0"/>
          </a:p>
          <a:p>
            <a:pPr marL="228600" indent="-228600">
              <a:spcAft>
                <a:spcPts val="1200"/>
              </a:spcAft>
              <a:buSzPct val="100000"/>
              <a:buChar char="▪"/>
            </a:pPr>
            <a:r>
              <a:rPr lang="en-US" sz="1700" dirty="0">
                <a:solidFill>
                  <a:srgbClr val="232323"/>
                </a:solidFill>
                <a:latin typeface="Calibri" pitchFamily="34" charset="0"/>
                <a:ea typeface="Calibri" pitchFamily="34" charset="-122"/>
                <a:cs typeface="Calibri" pitchFamily="34" charset="-120"/>
              </a:rPr>
              <a:t>Commonly used to 'mask' bits — clearing unwanted bits to 0 while keeping others unchanged.</a:t>
            </a:r>
            <a:endParaRPr lang="en-US" sz="1700" dirty="0"/>
          </a:p>
          <a:p>
            <a:pPr marL="228600" indent="-228600">
              <a:spcAft>
                <a:spcPts val="1200"/>
              </a:spcAft>
              <a:buSzPct val="100000"/>
              <a:buChar char="▪"/>
            </a:pPr>
            <a:r>
              <a:rPr lang="en-US" sz="1700" dirty="0">
                <a:solidFill>
                  <a:srgbClr val="232323"/>
                </a:solidFill>
                <a:latin typeface="Calibri" pitchFamily="34" charset="0"/>
                <a:ea typeface="Calibri" pitchFamily="34" charset="-122"/>
                <a:cs typeface="Calibri" pitchFamily="34" charset="-120"/>
              </a:rPr>
              <a:t>Real-world analogy: a stencil — the mask lets some bits 'through' and blocks the rest.</a:t>
            </a:r>
            <a:endParaRPr lang="en-US" sz="1700" dirty="0"/>
          </a:p>
          <a:p>
            <a:pPr marL="228600" indent="-228600">
              <a:spcAft>
                <a:spcPts val="1200"/>
              </a:spcAft>
              <a:buSzPct val="100000"/>
              <a:buChar char="▪"/>
            </a:pPr>
            <a:r>
              <a:rPr lang="en-US" sz="1700" dirty="0">
                <a:solidFill>
                  <a:srgbClr val="232323"/>
                </a:solidFill>
                <a:latin typeface="Calibri" pitchFamily="34" charset="0"/>
                <a:ea typeface="Calibri" pitchFamily="34" charset="-122"/>
                <a:cs typeface="Calibri" pitchFamily="34" charset="-120"/>
              </a:rPr>
              <a:t>Example: if AC = 1101 and M[EA] = 1011, then after AND, AC = 1001.</a:t>
            </a:r>
            <a:endParaRPr lang="en-US" sz="1700" dirty="0"/>
          </a:p>
        </p:txBody>
      </p:sp>
      <p:sp>
        <p:nvSpPr>
          <p:cNvPr id="7" name="Text 5"/>
          <p:cNvSpPr/>
          <p:nvPr/>
        </p:nvSpPr>
        <p:spPr>
          <a:xfrm>
            <a:off x="457200" y="6510528"/>
            <a:ext cx="8686800" cy="274320"/>
          </a:xfrm>
          <a:prstGeom prst="rect">
            <a:avLst/>
          </a:prstGeom>
          <a:noFill/>
          <a:ln/>
        </p:spPr>
        <p:txBody>
          <a:bodyPr wrap="square" lIns="0" tIns="0" rIns="0" bIns="0" rtlCol="0" anchor="ctr"/>
          <a:lstStyle/>
          <a:p>
            <a:pPr algn="l" indent="0" marL="0">
              <a:buNone/>
            </a:pPr>
            <a:r>
              <a:rPr lang="en-US" sz="900" dirty="0">
                <a:solidFill>
                  <a:srgbClr val="9AA0AE"/>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
        <p:nvSpPr>
          <p:cNvPr id="8" name="Text 6"/>
          <p:cNvSpPr/>
          <p:nvPr/>
        </p:nvSpPr>
        <p:spPr>
          <a:xfrm>
            <a:off x="11338560" y="6510528"/>
            <a:ext cx="457200" cy="274320"/>
          </a:xfrm>
          <a:prstGeom prst="rect">
            <a:avLst/>
          </a:prstGeom>
          <a:noFill/>
          <a:ln/>
        </p:spPr>
        <p:txBody>
          <a:bodyPr wrap="square" lIns="0" tIns="0" rIns="0" bIns="0" rtlCol="0" anchor="ctr"/>
          <a:lstStyle/>
          <a:p>
            <a:pPr algn="r" indent="0" marL="0">
              <a:buNone/>
            </a:pPr>
            <a:r>
              <a:rPr lang="en-US" sz="900" dirty="0">
                <a:solidFill>
                  <a:srgbClr val="9AA0AE"/>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indent="0" marL="0">
              <a:buNone/>
            </a:pPr>
            <a:r>
              <a:rPr lang="en-US" sz="1300" b="1" spc="200" kern="0" dirty="0">
                <a:solidFill>
                  <a:srgbClr val="F2A541"/>
                </a:solidFill>
                <a:latin typeface="Calibri" pitchFamily="34" charset="0"/>
                <a:ea typeface="Calibri" pitchFamily="34" charset="-122"/>
                <a:cs typeface="Calibri" pitchFamily="34" charset="-120"/>
              </a:rPr>
              <a:t>INSTRUCTION 2 OF 7  ·  OPCODE 001</a:t>
            </a:r>
            <a:endParaRPr lang="en-US" sz="1300" dirty="0"/>
          </a:p>
        </p:txBody>
      </p:sp>
      <p:sp>
        <p:nvSpPr>
          <p:cNvPr id="3" name="Text 1"/>
          <p:cNvSpPr/>
          <p:nvPr/>
        </p:nvSpPr>
        <p:spPr>
          <a:xfrm>
            <a:off x="548640" y="685800"/>
            <a:ext cx="8778240" cy="91440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ADD — Add Memory to Accumulator</a:t>
            </a:r>
            <a:endParaRPr lang="en-US" sz="3200" dirty="0"/>
          </a:p>
        </p:txBody>
      </p:sp>
      <p:sp>
        <p:nvSpPr>
          <p:cNvPr id="4" name="Shape 2"/>
          <p:cNvSpPr/>
          <p:nvPr/>
        </p:nvSpPr>
        <p:spPr>
          <a:xfrm>
            <a:off x="10607040" y="502920"/>
            <a:ext cx="822960" cy="822960"/>
          </a:xfrm>
          <a:prstGeom prst="ellipse">
            <a:avLst/>
          </a:prstGeom>
          <a:solidFill>
            <a:srgbClr val="1E2761"/>
          </a:solidFill>
          <a:ln/>
        </p:spPr>
      </p:sp>
      <p:sp>
        <p:nvSpPr>
          <p:cNvPr id="5" name="Text 3"/>
          <p:cNvSpPr/>
          <p:nvPr/>
        </p:nvSpPr>
        <p:spPr>
          <a:xfrm>
            <a:off x="10607040" y="502920"/>
            <a:ext cx="822960" cy="822960"/>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a:t>
            </a:r>
            <a:endParaRPr lang="en-US" sz="2600" dirty="0"/>
          </a:p>
        </p:txBody>
      </p:sp>
      <p:sp>
        <p:nvSpPr>
          <p:cNvPr id="6" name="Text 4"/>
          <p:cNvSpPr/>
          <p:nvPr/>
        </p:nvSpPr>
        <p:spPr>
          <a:xfrm>
            <a:off x="548640" y="1691640"/>
            <a:ext cx="10241280" cy="4498848"/>
          </a:xfrm>
          <a:prstGeom prst="rect">
            <a:avLst/>
          </a:prstGeom>
          <a:noFill/>
          <a:ln/>
        </p:spPr>
        <p:txBody>
          <a:bodyPr wrap="square" lIns="0" tIns="0" rIns="0" bIns="0" rtlCol="0" anchor="t"/>
          <a:lstStyle/>
          <a:p>
            <a:pPr marL="228600" indent="-228600">
              <a:spcAft>
                <a:spcPts val="1200"/>
              </a:spcAft>
              <a:buSzPct val="100000"/>
              <a:buChar char="▪"/>
            </a:pPr>
            <a:r>
              <a:rPr lang="en-US" sz="1700" b="1" dirty="0">
                <a:solidFill>
                  <a:srgbClr val="232323"/>
                </a:solidFill>
                <a:latin typeface="Calibri" pitchFamily="34" charset="0"/>
                <a:ea typeface="Calibri" pitchFamily="34" charset="-122"/>
                <a:cs typeface="Calibri" pitchFamily="34" charset="-120"/>
              </a:rPr>
              <a:t>Symbolic form:  ADD  (Register Transfer: AC ← AC + M[EA],  E ← carry-out)</a:t>
            </a:r>
            <a:endParaRPr lang="en-US" sz="1700" dirty="0"/>
          </a:p>
          <a:p>
            <a:pPr marL="228600" indent="-228600">
              <a:spcAft>
                <a:spcPts val="1200"/>
              </a:spcAft>
              <a:buSzPct val="100000"/>
              <a:buChar char="▪"/>
            </a:pPr>
            <a:r>
              <a:rPr lang="en-US" sz="1700" dirty="0">
                <a:solidFill>
                  <a:srgbClr val="232323"/>
                </a:solidFill>
                <a:latin typeface="Calibri" pitchFamily="34" charset="0"/>
                <a:ea typeface="Calibri" pitchFamily="34" charset="-122"/>
                <a:cs typeface="Calibri" pitchFamily="34" charset="-120"/>
              </a:rPr>
              <a:t>Adds the operand at the Effective Address to the current value of AC.</a:t>
            </a:r>
            <a:endParaRPr lang="en-US" sz="1700" dirty="0"/>
          </a:p>
          <a:p>
            <a:pPr marL="228600" indent="-228600">
              <a:spcAft>
                <a:spcPts val="1200"/>
              </a:spcAft>
              <a:buSzPct val="100000"/>
              <a:buChar char="▪"/>
            </a:pPr>
            <a:r>
              <a:rPr lang="en-US" sz="1700" dirty="0">
                <a:solidFill>
                  <a:srgbClr val="232323"/>
                </a:solidFill>
                <a:latin typeface="Calibri" pitchFamily="34" charset="0"/>
                <a:ea typeface="Calibri" pitchFamily="34" charset="-122"/>
                <a:cs typeface="Calibri" pitchFamily="34" charset="-120"/>
              </a:rPr>
              <a:t>Any carry generated out of the most significant bit is captured in a special 1-bit Carry flag, E.</a:t>
            </a:r>
            <a:endParaRPr lang="en-US" sz="1700" dirty="0"/>
          </a:p>
          <a:p>
            <a:pPr marL="228600" indent="-228600">
              <a:spcAft>
                <a:spcPts val="1200"/>
              </a:spcAft>
              <a:buSzPct val="100000"/>
              <a:buChar char="▪"/>
            </a:pPr>
            <a:r>
              <a:rPr lang="en-US" sz="1700" dirty="0">
                <a:solidFill>
                  <a:srgbClr val="232323"/>
                </a:solidFill>
                <a:latin typeface="Calibri" pitchFamily="34" charset="0"/>
                <a:ea typeface="Calibri" pitchFamily="34" charset="-122"/>
                <a:cs typeface="Calibri" pitchFamily="34" charset="-120"/>
              </a:rPr>
              <a:t>This is the basic building block behind all arithmetic — from simple sums to full ALU-based computation.</a:t>
            </a:r>
            <a:endParaRPr lang="en-US" sz="1700" dirty="0"/>
          </a:p>
          <a:p>
            <a:pPr marL="228600" indent="-228600">
              <a:spcAft>
                <a:spcPts val="1200"/>
              </a:spcAft>
              <a:buSzPct val="100000"/>
              <a:buChar char="▪"/>
            </a:pPr>
            <a:r>
              <a:rPr lang="en-US" sz="1700" dirty="0">
                <a:solidFill>
                  <a:srgbClr val="232323"/>
                </a:solidFill>
                <a:latin typeface="Calibri" pitchFamily="34" charset="0"/>
                <a:ea typeface="Calibri" pitchFamily="34" charset="-122"/>
                <a:cs typeface="Calibri" pitchFamily="34" charset="-120"/>
              </a:rPr>
              <a:t>Example: if AC = 25 and M[EA] = 17, after ADD, AC = 42 (and E = 0, since no overflow occurred).</a:t>
            </a:r>
            <a:endParaRPr lang="en-US" sz="1700" dirty="0"/>
          </a:p>
        </p:txBody>
      </p:sp>
      <p:sp>
        <p:nvSpPr>
          <p:cNvPr id="7" name="Text 5"/>
          <p:cNvSpPr/>
          <p:nvPr/>
        </p:nvSpPr>
        <p:spPr>
          <a:xfrm>
            <a:off x="457200" y="6510528"/>
            <a:ext cx="8686800" cy="274320"/>
          </a:xfrm>
          <a:prstGeom prst="rect">
            <a:avLst/>
          </a:prstGeom>
          <a:noFill/>
          <a:ln/>
        </p:spPr>
        <p:txBody>
          <a:bodyPr wrap="square" lIns="0" tIns="0" rIns="0" bIns="0" rtlCol="0" anchor="ctr"/>
          <a:lstStyle/>
          <a:p>
            <a:pPr algn="l" indent="0" marL="0">
              <a:buNone/>
            </a:pPr>
            <a:r>
              <a:rPr lang="en-US" sz="900" dirty="0">
                <a:solidFill>
                  <a:srgbClr val="9AA0AE"/>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
        <p:nvSpPr>
          <p:cNvPr id="8" name="Text 6"/>
          <p:cNvSpPr/>
          <p:nvPr/>
        </p:nvSpPr>
        <p:spPr>
          <a:xfrm>
            <a:off x="11338560" y="6510528"/>
            <a:ext cx="457200" cy="274320"/>
          </a:xfrm>
          <a:prstGeom prst="rect">
            <a:avLst/>
          </a:prstGeom>
          <a:noFill/>
          <a:ln/>
        </p:spPr>
        <p:txBody>
          <a:bodyPr wrap="square" lIns="0" tIns="0" rIns="0" bIns="0" rtlCol="0" anchor="ctr"/>
          <a:lstStyle/>
          <a:p>
            <a:pPr algn="r" indent="0" marL="0">
              <a:buNone/>
            </a:pPr>
            <a:r>
              <a:rPr lang="en-US" sz="900" dirty="0">
                <a:solidFill>
                  <a:srgbClr val="9AA0AE"/>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indent="0" marL="0">
              <a:buNone/>
            </a:pPr>
            <a:r>
              <a:rPr lang="en-US" sz="1300" b="1" spc="200" kern="0" dirty="0">
                <a:solidFill>
                  <a:srgbClr val="F2A541"/>
                </a:solidFill>
                <a:latin typeface="Calibri" pitchFamily="34" charset="0"/>
                <a:ea typeface="Calibri" pitchFamily="34" charset="-122"/>
                <a:cs typeface="Calibri" pitchFamily="34" charset="-120"/>
              </a:rPr>
              <a:t>INSTRUCTION 3 OF 7  ·  OPCODE 010</a:t>
            </a:r>
            <a:endParaRPr lang="en-US" sz="1300" dirty="0"/>
          </a:p>
        </p:txBody>
      </p:sp>
      <p:sp>
        <p:nvSpPr>
          <p:cNvPr id="3" name="Text 1"/>
          <p:cNvSpPr/>
          <p:nvPr/>
        </p:nvSpPr>
        <p:spPr>
          <a:xfrm>
            <a:off x="548640" y="685800"/>
            <a:ext cx="8778240" cy="91440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LDA — Load Accumulator from Memory</a:t>
            </a:r>
            <a:endParaRPr lang="en-US" sz="3200" dirty="0"/>
          </a:p>
        </p:txBody>
      </p:sp>
      <p:sp>
        <p:nvSpPr>
          <p:cNvPr id="4" name="Shape 2"/>
          <p:cNvSpPr/>
          <p:nvPr/>
        </p:nvSpPr>
        <p:spPr>
          <a:xfrm>
            <a:off x="10607040" y="502920"/>
            <a:ext cx="822960" cy="822960"/>
          </a:xfrm>
          <a:prstGeom prst="ellipse">
            <a:avLst/>
          </a:prstGeom>
          <a:solidFill>
            <a:srgbClr val="1E2761"/>
          </a:solidFill>
          <a:ln/>
        </p:spPr>
      </p:sp>
      <p:sp>
        <p:nvSpPr>
          <p:cNvPr id="5" name="Text 3"/>
          <p:cNvSpPr/>
          <p:nvPr/>
        </p:nvSpPr>
        <p:spPr>
          <a:xfrm>
            <a:off x="10607040" y="502920"/>
            <a:ext cx="822960" cy="822960"/>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a:t>
            </a:r>
            <a:endParaRPr lang="en-US" sz="2600" dirty="0"/>
          </a:p>
        </p:txBody>
      </p:sp>
      <p:sp>
        <p:nvSpPr>
          <p:cNvPr id="6" name="Text 4"/>
          <p:cNvSpPr/>
          <p:nvPr/>
        </p:nvSpPr>
        <p:spPr>
          <a:xfrm>
            <a:off x="548640" y="1691640"/>
            <a:ext cx="10241280" cy="4498848"/>
          </a:xfrm>
          <a:prstGeom prst="rect">
            <a:avLst/>
          </a:prstGeom>
          <a:noFill/>
          <a:ln/>
        </p:spPr>
        <p:txBody>
          <a:bodyPr wrap="square" lIns="0" tIns="0" rIns="0" bIns="0" rtlCol="0" anchor="t"/>
          <a:lstStyle/>
          <a:p>
            <a:pPr marL="228600" indent="-228600">
              <a:spcAft>
                <a:spcPts val="1200"/>
              </a:spcAft>
              <a:buSzPct val="100000"/>
              <a:buChar char="▪"/>
            </a:pPr>
            <a:r>
              <a:rPr lang="en-US" sz="1700" b="1" dirty="0">
                <a:solidFill>
                  <a:srgbClr val="232323"/>
                </a:solidFill>
                <a:latin typeface="Calibri" pitchFamily="34" charset="0"/>
                <a:ea typeface="Calibri" pitchFamily="34" charset="-122"/>
                <a:cs typeface="Calibri" pitchFamily="34" charset="-120"/>
              </a:rPr>
              <a:t>Symbolic form:  LDA  (Register Transfer: AC ← M[EA])</a:t>
            </a:r>
            <a:endParaRPr lang="en-US" sz="1700" dirty="0"/>
          </a:p>
          <a:p>
            <a:pPr marL="228600" indent="-228600">
              <a:spcAft>
                <a:spcPts val="1200"/>
              </a:spcAft>
              <a:buSzPct val="100000"/>
              <a:buChar char="▪"/>
            </a:pPr>
            <a:r>
              <a:rPr lang="en-US" sz="1700" dirty="0">
                <a:solidFill>
                  <a:srgbClr val="232323"/>
                </a:solidFill>
                <a:latin typeface="Calibri" pitchFamily="34" charset="0"/>
                <a:ea typeface="Calibri" pitchFamily="34" charset="-122"/>
                <a:cs typeface="Calibri" pitchFamily="34" charset="-120"/>
              </a:rPr>
              <a:t>Copies the value found at the Effective Address INTO the Accumulator.</a:t>
            </a:r>
            <a:endParaRPr lang="en-US" sz="1700" dirty="0"/>
          </a:p>
          <a:p>
            <a:pPr marL="228600" indent="-228600">
              <a:spcAft>
                <a:spcPts val="1200"/>
              </a:spcAft>
              <a:buSzPct val="100000"/>
              <a:buChar char="▪"/>
            </a:pPr>
            <a:r>
              <a:rPr lang="en-US" sz="1700" dirty="0">
                <a:solidFill>
                  <a:srgbClr val="232323"/>
                </a:solidFill>
                <a:latin typeface="Calibri" pitchFamily="34" charset="0"/>
                <a:ea typeface="Calibri" pitchFamily="34" charset="-122"/>
                <a:cs typeface="Calibri" pitchFamily="34" charset="-120"/>
              </a:rPr>
              <a:t>This is a read/copy operation only — the original data in memory is left untouched.</a:t>
            </a:r>
            <a:endParaRPr lang="en-US" sz="1700" dirty="0"/>
          </a:p>
          <a:p>
            <a:pPr marL="228600" indent="-228600">
              <a:spcAft>
                <a:spcPts val="1200"/>
              </a:spcAft>
              <a:buSzPct val="100000"/>
              <a:buChar char="▪"/>
            </a:pPr>
            <a:r>
              <a:rPr lang="en-US" sz="1700" dirty="0">
                <a:solidFill>
                  <a:srgbClr val="232323"/>
                </a:solidFill>
                <a:latin typeface="Calibri" pitchFamily="34" charset="0"/>
                <a:ea typeface="Calibri" pitchFamily="34" charset="-122"/>
                <a:cs typeface="Calibri" pitchFamily="34" charset="-120"/>
              </a:rPr>
              <a:t>Every high-level 'read a variable' operation eventually compiles down to something like LDA.</a:t>
            </a:r>
            <a:endParaRPr lang="en-US" sz="1700" dirty="0"/>
          </a:p>
          <a:p>
            <a:pPr marL="228600" indent="-228600">
              <a:spcAft>
                <a:spcPts val="1200"/>
              </a:spcAft>
              <a:buSzPct val="100000"/>
              <a:buChar char="▪"/>
            </a:pPr>
            <a:r>
              <a:rPr lang="en-US" sz="1700" dirty="0">
                <a:solidFill>
                  <a:srgbClr val="232323"/>
                </a:solidFill>
                <a:latin typeface="Calibri" pitchFamily="34" charset="0"/>
                <a:ea typeface="Calibri" pitchFamily="34" charset="-122"/>
                <a:cs typeface="Calibri" pitchFamily="34" charset="-120"/>
              </a:rPr>
              <a:t>Works with both direct addressing (LDA 450) and indirect addressing (LDA 300 I).</a:t>
            </a:r>
            <a:endParaRPr lang="en-US" sz="1700" dirty="0"/>
          </a:p>
        </p:txBody>
      </p:sp>
      <p:sp>
        <p:nvSpPr>
          <p:cNvPr id="7" name="Text 5"/>
          <p:cNvSpPr/>
          <p:nvPr/>
        </p:nvSpPr>
        <p:spPr>
          <a:xfrm>
            <a:off x="457200" y="6510528"/>
            <a:ext cx="8686800" cy="274320"/>
          </a:xfrm>
          <a:prstGeom prst="rect">
            <a:avLst/>
          </a:prstGeom>
          <a:noFill/>
          <a:ln/>
        </p:spPr>
        <p:txBody>
          <a:bodyPr wrap="square" lIns="0" tIns="0" rIns="0" bIns="0" rtlCol="0" anchor="ctr"/>
          <a:lstStyle/>
          <a:p>
            <a:pPr algn="l" indent="0" marL="0">
              <a:buNone/>
            </a:pPr>
            <a:r>
              <a:rPr lang="en-US" sz="900" dirty="0">
                <a:solidFill>
                  <a:srgbClr val="9AA0AE"/>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
        <p:nvSpPr>
          <p:cNvPr id="8" name="Text 6"/>
          <p:cNvSpPr/>
          <p:nvPr/>
        </p:nvSpPr>
        <p:spPr>
          <a:xfrm>
            <a:off x="11338560" y="6510528"/>
            <a:ext cx="457200" cy="274320"/>
          </a:xfrm>
          <a:prstGeom prst="rect">
            <a:avLst/>
          </a:prstGeom>
          <a:noFill/>
          <a:ln/>
        </p:spPr>
        <p:txBody>
          <a:bodyPr wrap="square" lIns="0" tIns="0" rIns="0" bIns="0" rtlCol="0" anchor="ctr"/>
          <a:lstStyle/>
          <a:p>
            <a:pPr algn="r" indent="0" marL="0">
              <a:buNone/>
            </a:pPr>
            <a:r>
              <a:rPr lang="en-US" sz="900" dirty="0">
                <a:solidFill>
                  <a:srgbClr val="9AA0AE"/>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indent="0" marL="0">
              <a:buNone/>
            </a:pPr>
            <a:r>
              <a:rPr lang="en-US" sz="1300" b="1" spc="200" kern="0" dirty="0">
                <a:solidFill>
                  <a:srgbClr val="F2A541"/>
                </a:solidFill>
                <a:latin typeface="Calibri" pitchFamily="34" charset="0"/>
                <a:ea typeface="Calibri" pitchFamily="34" charset="-122"/>
                <a:cs typeface="Calibri" pitchFamily="34" charset="-120"/>
              </a:rPr>
              <a:t>INSTRUCTION 4 OF 7  ·  OPCODE 011</a:t>
            </a:r>
            <a:endParaRPr lang="en-US" sz="1300" dirty="0"/>
          </a:p>
        </p:txBody>
      </p:sp>
      <p:sp>
        <p:nvSpPr>
          <p:cNvPr id="3" name="Text 1"/>
          <p:cNvSpPr/>
          <p:nvPr/>
        </p:nvSpPr>
        <p:spPr>
          <a:xfrm>
            <a:off x="548640" y="685800"/>
            <a:ext cx="8778240" cy="91440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STA — Store Accumulator to Memory</a:t>
            </a:r>
            <a:endParaRPr lang="en-US" sz="3200" dirty="0"/>
          </a:p>
        </p:txBody>
      </p:sp>
      <p:sp>
        <p:nvSpPr>
          <p:cNvPr id="4" name="Shape 2"/>
          <p:cNvSpPr/>
          <p:nvPr/>
        </p:nvSpPr>
        <p:spPr>
          <a:xfrm>
            <a:off x="10607040" y="502920"/>
            <a:ext cx="822960" cy="822960"/>
          </a:xfrm>
          <a:prstGeom prst="ellipse">
            <a:avLst/>
          </a:prstGeom>
          <a:solidFill>
            <a:srgbClr val="1E2761"/>
          </a:solidFill>
          <a:ln/>
        </p:spPr>
      </p:sp>
      <p:sp>
        <p:nvSpPr>
          <p:cNvPr id="5" name="Text 3"/>
          <p:cNvSpPr/>
          <p:nvPr/>
        </p:nvSpPr>
        <p:spPr>
          <a:xfrm>
            <a:off x="10607040" y="502920"/>
            <a:ext cx="822960" cy="822960"/>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a:t>
            </a:r>
            <a:endParaRPr lang="en-US" sz="2600" dirty="0"/>
          </a:p>
        </p:txBody>
      </p:sp>
      <p:sp>
        <p:nvSpPr>
          <p:cNvPr id="6" name="Text 4"/>
          <p:cNvSpPr/>
          <p:nvPr/>
        </p:nvSpPr>
        <p:spPr>
          <a:xfrm>
            <a:off x="548640" y="1691640"/>
            <a:ext cx="10241280" cy="4498848"/>
          </a:xfrm>
          <a:prstGeom prst="rect">
            <a:avLst/>
          </a:prstGeom>
          <a:noFill/>
          <a:ln/>
        </p:spPr>
        <p:txBody>
          <a:bodyPr wrap="square" lIns="0" tIns="0" rIns="0" bIns="0" rtlCol="0" anchor="t"/>
          <a:lstStyle/>
          <a:p>
            <a:pPr marL="228600" indent="-228600">
              <a:spcAft>
                <a:spcPts val="1200"/>
              </a:spcAft>
              <a:buSzPct val="100000"/>
              <a:buChar char="▪"/>
            </a:pPr>
            <a:r>
              <a:rPr lang="en-US" sz="1700" b="1" dirty="0">
                <a:solidFill>
                  <a:srgbClr val="232323"/>
                </a:solidFill>
                <a:latin typeface="Calibri" pitchFamily="34" charset="0"/>
                <a:ea typeface="Calibri" pitchFamily="34" charset="-122"/>
                <a:cs typeface="Calibri" pitchFamily="34" charset="-120"/>
              </a:rPr>
              <a:t>Symbolic form:  STA  (Register Transfer: M[EA] ← AC)</a:t>
            </a:r>
            <a:endParaRPr lang="en-US" sz="1700" dirty="0"/>
          </a:p>
          <a:p>
            <a:pPr marL="228600" indent="-228600">
              <a:spcAft>
                <a:spcPts val="1200"/>
              </a:spcAft>
              <a:buSzPct val="100000"/>
              <a:buChar char="▪"/>
            </a:pPr>
            <a:r>
              <a:rPr lang="en-US" sz="1700" dirty="0">
                <a:solidFill>
                  <a:srgbClr val="232323"/>
                </a:solidFill>
                <a:latin typeface="Calibri" pitchFamily="34" charset="0"/>
                <a:ea typeface="Calibri" pitchFamily="34" charset="-122"/>
                <a:cs typeface="Calibri" pitchFamily="34" charset="-120"/>
              </a:rPr>
              <a:t>The mirror image of LDA — copies the value currently in the Accumulator OUT to memory.</a:t>
            </a:r>
            <a:endParaRPr lang="en-US" sz="1700" dirty="0"/>
          </a:p>
          <a:p>
            <a:pPr marL="228600" indent="-228600">
              <a:spcAft>
                <a:spcPts val="1200"/>
              </a:spcAft>
              <a:buSzPct val="100000"/>
              <a:buChar char="▪"/>
            </a:pPr>
            <a:r>
              <a:rPr lang="en-US" sz="1700" dirty="0">
                <a:solidFill>
                  <a:srgbClr val="232323"/>
                </a:solidFill>
                <a:latin typeface="Calibri" pitchFamily="34" charset="0"/>
                <a:ea typeface="Calibri" pitchFamily="34" charset="-122"/>
                <a:cs typeface="Calibri" pitchFamily="34" charset="-120"/>
              </a:rPr>
              <a:t>Overwrites whatever was previously stored at the Effective Address.</a:t>
            </a:r>
            <a:endParaRPr lang="en-US" sz="1700" dirty="0"/>
          </a:p>
          <a:p>
            <a:pPr marL="228600" indent="-228600">
              <a:spcAft>
                <a:spcPts val="1200"/>
              </a:spcAft>
              <a:buSzPct val="100000"/>
              <a:buChar char="▪"/>
            </a:pPr>
            <a:r>
              <a:rPr lang="en-US" sz="1700" dirty="0">
                <a:solidFill>
                  <a:srgbClr val="232323"/>
                </a:solidFill>
                <a:latin typeface="Calibri" pitchFamily="34" charset="0"/>
                <a:ea typeface="Calibri" pitchFamily="34" charset="-122"/>
                <a:cs typeface="Calibri" pitchFamily="34" charset="-120"/>
              </a:rPr>
              <a:t>This is how a program 'saves' a computed result for later use.</a:t>
            </a:r>
            <a:endParaRPr lang="en-US" sz="1700" dirty="0"/>
          </a:p>
          <a:p>
            <a:pPr marL="228600" indent="-228600">
              <a:spcAft>
                <a:spcPts val="1200"/>
              </a:spcAft>
              <a:buSzPct val="100000"/>
              <a:buChar char="▪"/>
            </a:pPr>
            <a:r>
              <a:rPr lang="en-US" sz="1700" dirty="0">
                <a:solidFill>
                  <a:srgbClr val="232323"/>
                </a:solidFill>
                <a:latin typeface="Calibri" pitchFamily="34" charset="0"/>
                <a:ea typeface="Calibri" pitchFamily="34" charset="-122"/>
                <a:cs typeface="Calibri" pitchFamily="34" charset="-120"/>
              </a:rPr>
              <a:t>Caution: STA is destructive to the target memory location — the old value at M[EA] is lost.</a:t>
            </a:r>
            <a:endParaRPr lang="en-US" sz="1700" dirty="0"/>
          </a:p>
        </p:txBody>
      </p:sp>
      <p:sp>
        <p:nvSpPr>
          <p:cNvPr id="7" name="Text 5"/>
          <p:cNvSpPr/>
          <p:nvPr/>
        </p:nvSpPr>
        <p:spPr>
          <a:xfrm>
            <a:off x="457200" y="6510528"/>
            <a:ext cx="8686800" cy="274320"/>
          </a:xfrm>
          <a:prstGeom prst="rect">
            <a:avLst/>
          </a:prstGeom>
          <a:noFill/>
          <a:ln/>
        </p:spPr>
        <p:txBody>
          <a:bodyPr wrap="square" lIns="0" tIns="0" rIns="0" bIns="0" rtlCol="0" anchor="ctr"/>
          <a:lstStyle/>
          <a:p>
            <a:pPr algn="l" indent="0" marL="0">
              <a:buNone/>
            </a:pPr>
            <a:r>
              <a:rPr lang="en-US" sz="900" dirty="0">
                <a:solidFill>
                  <a:srgbClr val="9AA0AE"/>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
        <p:nvSpPr>
          <p:cNvPr id="8" name="Text 6"/>
          <p:cNvSpPr/>
          <p:nvPr/>
        </p:nvSpPr>
        <p:spPr>
          <a:xfrm>
            <a:off x="11338560" y="6510528"/>
            <a:ext cx="457200" cy="274320"/>
          </a:xfrm>
          <a:prstGeom prst="rect">
            <a:avLst/>
          </a:prstGeom>
          <a:noFill/>
          <a:ln/>
        </p:spPr>
        <p:txBody>
          <a:bodyPr wrap="square" lIns="0" tIns="0" rIns="0" bIns="0" rtlCol="0" anchor="ctr"/>
          <a:lstStyle/>
          <a:p>
            <a:pPr algn="r" indent="0" marL="0">
              <a:buNone/>
            </a:pPr>
            <a:r>
              <a:rPr lang="en-US" sz="900" dirty="0">
                <a:solidFill>
                  <a:srgbClr val="9AA0AE"/>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indent="0" marL="0">
              <a:buNone/>
            </a:pPr>
            <a:r>
              <a:rPr lang="en-US" sz="1300" b="1" spc="200" kern="0" dirty="0">
                <a:solidFill>
                  <a:srgbClr val="F2A541"/>
                </a:solidFill>
                <a:latin typeface="Calibri" pitchFamily="34" charset="0"/>
                <a:ea typeface="Calibri" pitchFamily="34" charset="-122"/>
                <a:cs typeface="Calibri" pitchFamily="34" charset="-120"/>
              </a:rPr>
              <a:t>INSTRUCTION 5 OF 7  ·  OPCODE 100</a:t>
            </a:r>
            <a:endParaRPr lang="en-US" sz="1300" dirty="0"/>
          </a:p>
        </p:txBody>
      </p:sp>
      <p:sp>
        <p:nvSpPr>
          <p:cNvPr id="3" name="Text 1"/>
          <p:cNvSpPr/>
          <p:nvPr/>
        </p:nvSpPr>
        <p:spPr>
          <a:xfrm>
            <a:off x="548640" y="685800"/>
            <a:ext cx="8778240" cy="91440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BUN — Branch Unconditionally</a:t>
            </a:r>
            <a:endParaRPr lang="en-US" sz="3200" dirty="0"/>
          </a:p>
        </p:txBody>
      </p:sp>
      <p:sp>
        <p:nvSpPr>
          <p:cNvPr id="4" name="Shape 2"/>
          <p:cNvSpPr/>
          <p:nvPr/>
        </p:nvSpPr>
        <p:spPr>
          <a:xfrm>
            <a:off x="10607040" y="502920"/>
            <a:ext cx="822960" cy="822960"/>
          </a:xfrm>
          <a:prstGeom prst="ellipse">
            <a:avLst/>
          </a:prstGeom>
          <a:solidFill>
            <a:srgbClr val="1E2761"/>
          </a:solidFill>
          <a:ln/>
        </p:spPr>
      </p:sp>
      <p:sp>
        <p:nvSpPr>
          <p:cNvPr id="5" name="Text 3"/>
          <p:cNvSpPr/>
          <p:nvPr/>
        </p:nvSpPr>
        <p:spPr>
          <a:xfrm>
            <a:off x="10607040" y="502920"/>
            <a:ext cx="822960" cy="822960"/>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a:t>
            </a:r>
            <a:endParaRPr lang="en-US" sz="2600" dirty="0"/>
          </a:p>
        </p:txBody>
      </p:sp>
      <p:sp>
        <p:nvSpPr>
          <p:cNvPr id="6" name="Text 4"/>
          <p:cNvSpPr/>
          <p:nvPr/>
        </p:nvSpPr>
        <p:spPr>
          <a:xfrm>
            <a:off x="548640" y="1691640"/>
            <a:ext cx="10241280" cy="4498848"/>
          </a:xfrm>
          <a:prstGeom prst="rect">
            <a:avLst/>
          </a:prstGeom>
          <a:noFill/>
          <a:ln/>
        </p:spPr>
        <p:txBody>
          <a:bodyPr wrap="square" lIns="0" tIns="0" rIns="0" bIns="0" rtlCol="0" anchor="t"/>
          <a:lstStyle/>
          <a:p>
            <a:pPr marL="228600" indent="-228600">
              <a:spcAft>
                <a:spcPts val="1200"/>
              </a:spcAft>
              <a:buSzPct val="100000"/>
              <a:buChar char="▪"/>
            </a:pPr>
            <a:r>
              <a:rPr lang="en-US" sz="1700" b="1" dirty="0">
                <a:solidFill>
                  <a:srgbClr val="232323"/>
                </a:solidFill>
                <a:latin typeface="Calibri" pitchFamily="34" charset="0"/>
                <a:ea typeface="Calibri" pitchFamily="34" charset="-122"/>
                <a:cs typeface="Calibri" pitchFamily="34" charset="-120"/>
              </a:rPr>
              <a:t>Symbolic form:  BUN  (Register Transfer: PC ← EA)</a:t>
            </a:r>
            <a:endParaRPr lang="en-US" sz="1700" dirty="0"/>
          </a:p>
          <a:p>
            <a:pPr marL="228600" indent="-228600">
              <a:spcAft>
                <a:spcPts val="1200"/>
              </a:spcAft>
              <a:buSzPct val="100000"/>
              <a:buChar char="▪"/>
            </a:pPr>
            <a:r>
              <a:rPr lang="en-US" sz="1700" dirty="0">
                <a:solidFill>
                  <a:srgbClr val="232323"/>
                </a:solidFill>
                <a:latin typeface="Calibri" pitchFamily="34" charset="0"/>
                <a:ea typeface="Calibri" pitchFamily="34" charset="-122"/>
                <a:cs typeface="Calibri" pitchFamily="34" charset="-120"/>
              </a:rPr>
              <a:t>Forces the Program Counter to jump straight to the Effective Address — no condition needed.</a:t>
            </a:r>
            <a:endParaRPr lang="en-US" sz="1700" dirty="0"/>
          </a:p>
          <a:p>
            <a:pPr marL="228600" indent="-228600">
              <a:spcAft>
                <a:spcPts val="1200"/>
              </a:spcAft>
              <a:buSzPct val="100000"/>
              <a:buChar char="▪"/>
            </a:pPr>
            <a:r>
              <a:rPr lang="en-US" sz="1700" dirty="0">
                <a:solidFill>
                  <a:srgbClr val="232323"/>
                </a:solidFill>
                <a:latin typeface="Calibri" pitchFamily="34" charset="0"/>
                <a:ea typeface="Calibri" pitchFamily="34" charset="-122"/>
                <a:cs typeface="Calibri" pitchFamily="34" charset="-120"/>
              </a:rPr>
              <a:t>This is how loops, if-statements, and function calls are ultimately implemented at the hardware level.</a:t>
            </a:r>
            <a:endParaRPr lang="en-US" sz="1700" dirty="0"/>
          </a:p>
          <a:p>
            <a:pPr marL="228600" indent="-228600">
              <a:spcAft>
                <a:spcPts val="1200"/>
              </a:spcAft>
              <a:buSzPct val="100000"/>
              <a:buChar char="▪"/>
            </a:pPr>
            <a:r>
              <a:rPr lang="en-US" sz="1700" dirty="0">
                <a:solidFill>
                  <a:srgbClr val="232323"/>
                </a:solidFill>
                <a:latin typeface="Calibri" pitchFamily="34" charset="0"/>
                <a:ea typeface="Calibri" pitchFamily="34" charset="-122"/>
                <a:cs typeface="Calibri" pitchFamily="34" charset="-120"/>
              </a:rPr>
              <a:t>'Unconditional' means it ALWAYS branches — compare this later with conditional branches you'll study in future lectures.</a:t>
            </a:r>
            <a:endParaRPr lang="en-US" sz="1700" dirty="0"/>
          </a:p>
          <a:p>
            <a:pPr marL="228600" indent="-228600">
              <a:spcAft>
                <a:spcPts val="1200"/>
              </a:spcAft>
              <a:buSzPct val="100000"/>
              <a:buChar char="▪"/>
            </a:pPr>
            <a:r>
              <a:rPr lang="en-US" sz="1700" dirty="0">
                <a:solidFill>
                  <a:srgbClr val="232323"/>
                </a:solidFill>
                <a:latin typeface="Calibri" pitchFamily="34" charset="0"/>
                <a:ea typeface="Calibri" pitchFamily="34" charset="-122"/>
                <a:cs typeface="Calibri" pitchFamily="34" charset="-120"/>
              </a:rPr>
              <a:t>Analogy: like a GPS instruction that says 'always take this exit', regardless of traffic conditions.</a:t>
            </a:r>
            <a:endParaRPr lang="en-US" sz="1700" dirty="0"/>
          </a:p>
        </p:txBody>
      </p:sp>
      <p:sp>
        <p:nvSpPr>
          <p:cNvPr id="7" name="Text 5"/>
          <p:cNvSpPr/>
          <p:nvPr/>
        </p:nvSpPr>
        <p:spPr>
          <a:xfrm>
            <a:off x="457200" y="6510528"/>
            <a:ext cx="8686800" cy="274320"/>
          </a:xfrm>
          <a:prstGeom prst="rect">
            <a:avLst/>
          </a:prstGeom>
          <a:noFill/>
          <a:ln/>
        </p:spPr>
        <p:txBody>
          <a:bodyPr wrap="square" lIns="0" tIns="0" rIns="0" bIns="0" rtlCol="0" anchor="ctr"/>
          <a:lstStyle/>
          <a:p>
            <a:pPr algn="l" indent="0" marL="0">
              <a:buNone/>
            </a:pPr>
            <a:r>
              <a:rPr lang="en-US" sz="900" dirty="0">
                <a:solidFill>
                  <a:srgbClr val="9AA0AE"/>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
        <p:nvSpPr>
          <p:cNvPr id="8" name="Text 6"/>
          <p:cNvSpPr/>
          <p:nvPr/>
        </p:nvSpPr>
        <p:spPr>
          <a:xfrm>
            <a:off x="11338560" y="6510528"/>
            <a:ext cx="457200" cy="274320"/>
          </a:xfrm>
          <a:prstGeom prst="rect">
            <a:avLst/>
          </a:prstGeom>
          <a:noFill/>
          <a:ln/>
        </p:spPr>
        <p:txBody>
          <a:bodyPr wrap="square" lIns="0" tIns="0" rIns="0" bIns="0" rtlCol="0" anchor="ctr"/>
          <a:lstStyle/>
          <a:p>
            <a:pPr algn="r" indent="0" marL="0">
              <a:buNone/>
            </a:pPr>
            <a:r>
              <a:rPr lang="en-US" sz="900" dirty="0">
                <a:solidFill>
                  <a:srgbClr val="9AA0AE"/>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indent="0" marL="0">
              <a:buNone/>
            </a:pPr>
            <a:r>
              <a:rPr lang="en-US" sz="1300" b="1" spc="200" kern="0" dirty="0">
                <a:solidFill>
                  <a:srgbClr val="F2A541"/>
                </a:solidFill>
                <a:latin typeface="Calibri" pitchFamily="34" charset="0"/>
                <a:ea typeface="Calibri" pitchFamily="34" charset="-122"/>
                <a:cs typeface="Calibri" pitchFamily="34" charset="-120"/>
              </a:rPr>
              <a:t>INSTRUCTION 6 OF 7  ·  OPCODE 101</a:t>
            </a:r>
            <a:endParaRPr lang="en-US" sz="1300" dirty="0"/>
          </a:p>
        </p:txBody>
      </p:sp>
      <p:sp>
        <p:nvSpPr>
          <p:cNvPr id="3" name="Text 1"/>
          <p:cNvSpPr/>
          <p:nvPr/>
        </p:nvSpPr>
        <p:spPr>
          <a:xfrm>
            <a:off x="548640" y="685800"/>
            <a:ext cx="8778240" cy="91440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BSA — Branch and Save Return Address</a:t>
            </a:r>
            <a:endParaRPr lang="en-US" sz="3200" dirty="0"/>
          </a:p>
        </p:txBody>
      </p:sp>
      <p:sp>
        <p:nvSpPr>
          <p:cNvPr id="4" name="Shape 2"/>
          <p:cNvSpPr/>
          <p:nvPr/>
        </p:nvSpPr>
        <p:spPr>
          <a:xfrm>
            <a:off x="10607040" y="502920"/>
            <a:ext cx="822960" cy="822960"/>
          </a:xfrm>
          <a:prstGeom prst="ellipse">
            <a:avLst/>
          </a:prstGeom>
          <a:solidFill>
            <a:srgbClr val="1E2761"/>
          </a:solidFill>
          <a:ln/>
        </p:spPr>
      </p:sp>
      <p:sp>
        <p:nvSpPr>
          <p:cNvPr id="5" name="Text 3"/>
          <p:cNvSpPr/>
          <p:nvPr/>
        </p:nvSpPr>
        <p:spPr>
          <a:xfrm>
            <a:off x="10607040" y="502920"/>
            <a:ext cx="822960" cy="822960"/>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a:t>
            </a:r>
            <a:endParaRPr lang="en-US" sz="2600" dirty="0"/>
          </a:p>
        </p:txBody>
      </p:sp>
      <p:sp>
        <p:nvSpPr>
          <p:cNvPr id="6" name="Text 4"/>
          <p:cNvSpPr/>
          <p:nvPr/>
        </p:nvSpPr>
        <p:spPr>
          <a:xfrm>
            <a:off x="548640" y="1691640"/>
            <a:ext cx="10241280" cy="4498848"/>
          </a:xfrm>
          <a:prstGeom prst="rect">
            <a:avLst/>
          </a:prstGeom>
          <a:noFill/>
          <a:ln/>
        </p:spPr>
        <p:txBody>
          <a:bodyPr wrap="square" lIns="0" tIns="0" rIns="0" bIns="0" rtlCol="0" anchor="t"/>
          <a:lstStyle/>
          <a:p>
            <a:pPr marL="228600" indent="-228600">
              <a:spcAft>
                <a:spcPts val="1200"/>
              </a:spcAft>
              <a:buSzPct val="100000"/>
              <a:buChar char="▪"/>
            </a:pPr>
            <a:r>
              <a:rPr lang="en-US" sz="1700" b="1" dirty="0">
                <a:solidFill>
                  <a:srgbClr val="232323"/>
                </a:solidFill>
                <a:latin typeface="Calibri" pitchFamily="34" charset="0"/>
                <a:ea typeface="Calibri" pitchFamily="34" charset="-122"/>
                <a:cs typeface="Calibri" pitchFamily="34" charset="-120"/>
              </a:rPr>
              <a:t>Symbolic form:  BSA  (Register Transfer: M[EA] ← PC,  PC ← EA + 1)</a:t>
            </a:r>
            <a:endParaRPr lang="en-US" sz="1700" dirty="0"/>
          </a:p>
          <a:p>
            <a:pPr marL="228600" indent="-228600">
              <a:spcAft>
                <a:spcPts val="1200"/>
              </a:spcAft>
              <a:buSzPct val="100000"/>
              <a:buChar char="▪"/>
            </a:pPr>
            <a:r>
              <a:rPr lang="en-US" sz="1700" dirty="0">
                <a:solidFill>
                  <a:srgbClr val="232323"/>
                </a:solidFill>
                <a:latin typeface="Calibri" pitchFamily="34" charset="0"/>
                <a:ea typeface="Calibri" pitchFamily="34" charset="-122"/>
                <a:cs typeface="Calibri" pitchFamily="34" charset="-120"/>
              </a:rPr>
              <a:t>Two things happen in one instruction: (1) the return address is saved at M[EA], (2) execution jumps to EA + 1.</a:t>
            </a:r>
            <a:endParaRPr lang="en-US" sz="1700" dirty="0"/>
          </a:p>
          <a:p>
            <a:pPr marL="228600" indent="-228600">
              <a:spcAft>
                <a:spcPts val="1200"/>
              </a:spcAft>
              <a:buSzPct val="100000"/>
              <a:buChar char="▪"/>
            </a:pPr>
            <a:r>
              <a:rPr lang="en-US" sz="1700" dirty="0">
                <a:solidFill>
                  <a:srgbClr val="232323"/>
                </a:solidFill>
                <a:latin typeface="Calibri" pitchFamily="34" charset="0"/>
                <a:ea typeface="Calibri" pitchFamily="34" charset="-122"/>
                <a:cs typeface="Calibri" pitchFamily="34" charset="-120"/>
              </a:rPr>
              <a:t>This is precisely how subroutine (function) calls are implemented in hardware.</a:t>
            </a:r>
            <a:endParaRPr lang="en-US" sz="1700" dirty="0"/>
          </a:p>
          <a:p>
            <a:pPr marL="228600" indent="-228600">
              <a:spcAft>
                <a:spcPts val="1200"/>
              </a:spcAft>
              <a:buSzPct val="100000"/>
              <a:buChar char="▪"/>
            </a:pPr>
            <a:r>
              <a:rPr lang="en-US" sz="1700" dirty="0">
                <a:solidFill>
                  <a:srgbClr val="232323"/>
                </a:solidFill>
                <a:latin typeface="Calibri" pitchFamily="34" charset="0"/>
                <a:ea typeface="Calibri" pitchFamily="34" charset="-122"/>
                <a:cs typeface="Calibri" pitchFamily="34" charset="-120"/>
              </a:rPr>
              <a:t>The subroutine can later use that saved return address to jump back to where it was called from.</a:t>
            </a:r>
            <a:endParaRPr lang="en-US" sz="1700" dirty="0"/>
          </a:p>
          <a:p>
            <a:pPr marL="228600" indent="-228600">
              <a:spcAft>
                <a:spcPts val="1200"/>
              </a:spcAft>
              <a:buSzPct val="100000"/>
              <a:buChar char="▪"/>
            </a:pPr>
            <a:r>
              <a:rPr lang="en-US" sz="1700" dirty="0">
                <a:solidFill>
                  <a:srgbClr val="232323"/>
                </a:solidFill>
                <a:latin typeface="Calibri" pitchFamily="34" charset="0"/>
                <a:ea typeface="Calibri" pitchFamily="34" charset="-122"/>
                <a:cs typeface="Calibri" pitchFamily="34" charset="-120"/>
              </a:rPr>
              <a:t>Analogy: like leaving a bookmark in a novel before you flip to a footnote, so you can find your way back.</a:t>
            </a:r>
            <a:endParaRPr lang="en-US" sz="1700" dirty="0"/>
          </a:p>
        </p:txBody>
      </p:sp>
      <p:sp>
        <p:nvSpPr>
          <p:cNvPr id="7" name="Text 5"/>
          <p:cNvSpPr/>
          <p:nvPr/>
        </p:nvSpPr>
        <p:spPr>
          <a:xfrm>
            <a:off x="457200" y="6510528"/>
            <a:ext cx="8686800" cy="274320"/>
          </a:xfrm>
          <a:prstGeom prst="rect">
            <a:avLst/>
          </a:prstGeom>
          <a:noFill/>
          <a:ln/>
        </p:spPr>
        <p:txBody>
          <a:bodyPr wrap="square" lIns="0" tIns="0" rIns="0" bIns="0" rtlCol="0" anchor="ctr"/>
          <a:lstStyle/>
          <a:p>
            <a:pPr algn="l" indent="0" marL="0">
              <a:buNone/>
            </a:pPr>
            <a:r>
              <a:rPr lang="en-US" sz="900" dirty="0">
                <a:solidFill>
                  <a:srgbClr val="9AA0AE"/>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
        <p:nvSpPr>
          <p:cNvPr id="8" name="Text 6"/>
          <p:cNvSpPr/>
          <p:nvPr/>
        </p:nvSpPr>
        <p:spPr>
          <a:xfrm>
            <a:off x="11338560" y="6510528"/>
            <a:ext cx="457200" cy="274320"/>
          </a:xfrm>
          <a:prstGeom prst="rect">
            <a:avLst/>
          </a:prstGeom>
          <a:noFill/>
          <a:ln/>
        </p:spPr>
        <p:txBody>
          <a:bodyPr wrap="square" lIns="0" tIns="0" rIns="0" bIns="0" rtlCol="0" anchor="ctr"/>
          <a:lstStyle/>
          <a:p>
            <a:pPr algn="r" indent="0" marL="0">
              <a:buNone/>
            </a:pPr>
            <a:r>
              <a:rPr lang="en-US" sz="900" dirty="0">
                <a:solidFill>
                  <a:srgbClr val="9AA0AE"/>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indent="0" marL="0">
              <a:buNone/>
            </a:pPr>
            <a:r>
              <a:rPr lang="en-US" sz="1300" b="1" spc="200" kern="0" dirty="0">
                <a:solidFill>
                  <a:srgbClr val="F2A541"/>
                </a:solidFill>
                <a:latin typeface="Calibri" pitchFamily="34" charset="0"/>
                <a:ea typeface="Calibri" pitchFamily="34" charset="-122"/>
                <a:cs typeface="Calibri" pitchFamily="34" charset="-120"/>
              </a:rPr>
              <a:t>INSTRUCTION 7 OF 7  ·  OPCODE 110</a:t>
            </a:r>
            <a:endParaRPr lang="en-US" sz="1300" dirty="0"/>
          </a:p>
        </p:txBody>
      </p:sp>
      <p:sp>
        <p:nvSpPr>
          <p:cNvPr id="3" name="Text 1"/>
          <p:cNvSpPr/>
          <p:nvPr/>
        </p:nvSpPr>
        <p:spPr>
          <a:xfrm>
            <a:off x="548640" y="685800"/>
            <a:ext cx="8778240" cy="91440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ISZ — Increment and Skip if Zero</a:t>
            </a:r>
            <a:endParaRPr lang="en-US" sz="3200" dirty="0"/>
          </a:p>
        </p:txBody>
      </p:sp>
      <p:sp>
        <p:nvSpPr>
          <p:cNvPr id="4" name="Shape 2"/>
          <p:cNvSpPr/>
          <p:nvPr/>
        </p:nvSpPr>
        <p:spPr>
          <a:xfrm>
            <a:off x="10607040" y="502920"/>
            <a:ext cx="822960" cy="822960"/>
          </a:xfrm>
          <a:prstGeom prst="ellipse">
            <a:avLst/>
          </a:prstGeom>
          <a:solidFill>
            <a:srgbClr val="1E2761"/>
          </a:solidFill>
          <a:ln/>
        </p:spPr>
      </p:sp>
      <p:sp>
        <p:nvSpPr>
          <p:cNvPr id="5" name="Text 3"/>
          <p:cNvSpPr/>
          <p:nvPr/>
        </p:nvSpPr>
        <p:spPr>
          <a:xfrm>
            <a:off x="10607040" y="502920"/>
            <a:ext cx="822960" cy="822960"/>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a:t>
            </a:r>
            <a:endParaRPr lang="en-US" sz="2600" dirty="0"/>
          </a:p>
        </p:txBody>
      </p:sp>
      <p:sp>
        <p:nvSpPr>
          <p:cNvPr id="6" name="Text 4"/>
          <p:cNvSpPr/>
          <p:nvPr/>
        </p:nvSpPr>
        <p:spPr>
          <a:xfrm>
            <a:off x="548640" y="1691640"/>
            <a:ext cx="10241280" cy="4498848"/>
          </a:xfrm>
          <a:prstGeom prst="rect">
            <a:avLst/>
          </a:prstGeom>
          <a:noFill/>
          <a:ln/>
        </p:spPr>
        <p:txBody>
          <a:bodyPr wrap="square" lIns="0" tIns="0" rIns="0" bIns="0" rtlCol="0" anchor="t"/>
          <a:lstStyle/>
          <a:p>
            <a:pPr marL="228600" indent="-228600">
              <a:spcAft>
                <a:spcPts val="1200"/>
              </a:spcAft>
              <a:buSzPct val="100000"/>
              <a:buChar char="▪"/>
            </a:pPr>
            <a:r>
              <a:rPr lang="en-US" sz="1700" b="1" dirty="0">
                <a:solidFill>
                  <a:srgbClr val="232323"/>
                </a:solidFill>
                <a:latin typeface="Calibri" pitchFamily="34" charset="0"/>
                <a:ea typeface="Calibri" pitchFamily="34" charset="-122"/>
                <a:cs typeface="Calibri" pitchFamily="34" charset="-120"/>
              </a:rPr>
              <a:t>Symbolic form:  ISZ  (Register Transfer: M[EA] ← M[EA] + 1;  if result = 0 then PC ← PC + 1)</a:t>
            </a:r>
            <a:endParaRPr lang="en-US" sz="1700" dirty="0"/>
          </a:p>
          <a:p>
            <a:pPr marL="228600" indent="-228600">
              <a:spcAft>
                <a:spcPts val="1200"/>
              </a:spcAft>
              <a:buSzPct val="100000"/>
              <a:buChar char="▪"/>
            </a:pPr>
            <a:r>
              <a:rPr lang="en-US" sz="1700" dirty="0">
                <a:solidFill>
                  <a:srgbClr val="232323"/>
                </a:solidFill>
                <a:latin typeface="Calibri" pitchFamily="34" charset="0"/>
                <a:ea typeface="Calibri" pitchFamily="34" charset="-122"/>
                <a:cs typeface="Calibri" pitchFamily="34" charset="-120"/>
              </a:rPr>
              <a:t>Increments the value stored at the Effective Address by 1, and writes it back to that same location.</a:t>
            </a:r>
            <a:endParaRPr lang="en-US" sz="1700" dirty="0"/>
          </a:p>
          <a:p>
            <a:pPr marL="228600" indent="-228600">
              <a:spcAft>
                <a:spcPts val="1200"/>
              </a:spcAft>
              <a:buSzPct val="100000"/>
              <a:buChar char="▪"/>
            </a:pPr>
            <a:r>
              <a:rPr lang="en-US" sz="1700" dirty="0">
                <a:solidFill>
                  <a:srgbClr val="232323"/>
                </a:solidFill>
                <a:latin typeface="Calibri" pitchFamily="34" charset="0"/>
                <a:ea typeface="Calibri" pitchFamily="34" charset="-122"/>
                <a:cs typeface="Calibri" pitchFamily="34" charset="-120"/>
              </a:rPr>
              <a:t>If the incremented value becomes exactly zero, the NEXT instruction is skipped.</a:t>
            </a:r>
            <a:endParaRPr lang="en-US" sz="1700" dirty="0"/>
          </a:p>
          <a:p>
            <a:pPr marL="228600" indent="-228600">
              <a:spcAft>
                <a:spcPts val="1200"/>
              </a:spcAft>
              <a:buSzPct val="100000"/>
              <a:buChar char="▪"/>
            </a:pPr>
            <a:r>
              <a:rPr lang="en-US" sz="1700" dirty="0">
                <a:solidFill>
                  <a:srgbClr val="232323"/>
                </a:solidFill>
                <a:latin typeface="Calibri" pitchFamily="34" charset="0"/>
                <a:ea typeface="Calibri" pitchFamily="34" charset="-122"/>
                <a:cs typeface="Calibri" pitchFamily="34" charset="-120"/>
              </a:rPr>
              <a:t>This is the classic hardware building block behind loop counters — 'keep looping until the counter hits zero'.</a:t>
            </a:r>
            <a:endParaRPr lang="en-US" sz="1700" dirty="0"/>
          </a:p>
          <a:p>
            <a:pPr marL="228600" indent="-228600">
              <a:spcAft>
                <a:spcPts val="1200"/>
              </a:spcAft>
              <a:buSzPct val="100000"/>
              <a:buChar char="▪"/>
            </a:pPr>
            <a:r>
              <a:rPr lang="en-US" sz="1700" dirty="0">
                <a:solidFill>
                  <a:srgbClr val="232323"/>
                </a:solidFill>
                <a:latin typeface="Calibri" pitchFamily="34" charset="0"/>
                <a:ea typeface="Calibri" pitchFamily="34" charset="-122"/>
                <a:cs typeface="Calibri" pitchFamily="34" charset="-120"/>
              </a:rPr>
              <a:t>Completes our set of seven memory-reference instructions: AND, ADD, LDA, STA, BUN, BSA, ISZ.</a:t>
            </a:r>
            <a:endParaRPr lang="en-US" sz="1700" dirty="0"/>
          </a:p>
        </p:txBody>
      </p:sp>
      <p:sp>
        <p:nvSpPr>
          <p:cNvPr id="7" name="Text 5"/>
          <p:cNvSpPr/>
          <p:nvPr/>
        </p:nvSpPr>
        <p:spPr>
          <a:xfrm>
            <a:off x="457200" y="6510528"/>
            <a:ext cx="8686800" cy="274320"/>
          </a:xfrm>
          <a:prstGeom prst="rect">
            <a:avLst/>
          </a:prstGeom>
          <a:noFill/>
          <a:ln/>
        </p:spPr>
        <p:txBody>
          <a:bodyPr wrap="square" lIns="0" tIns="0" rIns="0" bIns="0" rtlCol="0" anchor="ctr"/>
          <a:lstStyle/>
          <a:p>
            <a:pPr algn="l" indent="0" marL="0">
              <a:buNone/>
            </a:pPr>
            <a:r>
              <a:rPr lang="en-US" sz="900" dirty="0">
                <a:solidFill>
                  <a:srgbClr val="9AA0AE"/>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
        <p:nvSpPr>
          <p:cNvPr id="8" name="Text 6"/>
          <p:cNvSpPr/>
          <p:nvPr/>
        </p:nvSpPr>
        <p:spPr>
          <a:xfrm>
            <a:off x="11338560" y="6510528"/>
            <a:ext cx="457200" cy="274320"/>
          </a:xfrm>
          <a:prstGeom prst="rect">
            <a:avLst/>
          </a:prstGeom>
          <a:noFill/>
          <a:ln/>
        </p:spPr>
        <p:txBody>
          <a:bodyPr wrap="square" lIns="0" tIns="0" rIns="0" bIns="0" rtlCol="0" anchor="ctr"/>
          <a:lstStyle/>
          <a:p>
            <a:pPr algn="r" indent="0" marL="0">
              <a:buNone/>
            </a:pPr>
            <a:r>
              <a:rPr lang="en-US" sz="900" dirty="0">
                <a:solidFill>
                  <a:srgbClr val="9AA0AE"/>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indent="0" marL="0">
              <a:buNone/>
            </a:pPr>
            <a:r>
              <a:rPr lang="en-US" sz="1300" b="1" spc="200" kern="0" dirty="0">
                <a:solidFill>
                  <a:srgbClr val="F2A541"/>
                </a:solidFill>
                <a:latin typeface="Calibri" pitchFamily="34" charset="0"/>
                <a:ea typeface="Calibri" pitchFamily="34" charset="-122"/>
                <a:cs typeface="Calibri" pitchFamily="34" charset="-120"/>
              </a:rPr>
              <a:t>SUMMARY</a:t>
            </a:r>
            <a:endParaRPr lang="en-US" sz="1300" dirty="0"/>
          </a:p>
        </p:txBody>
      </p:sp>
      <p:sp>
        <p:nvSpPr>
          <p:cNvPr id="3" name="Text 1"/>
          <p:cNvSpPr/>
          <p:nvPr/>
        </p:nvSpPr>
        <p:spPr>
          <a:xfrm>
            <a:off x="548640" y="685800"/>
            <a:ext cx="10058400" cy="640080"/>
          </a:xfrm>
          <a:prstGeom prst="rect">
            <a:avLst/>
          </a:prstGeom>
          <a:noFill/>
          <a:ln/>
        </p:spPr>
        <p:txBody>
          <a:bodyPr wrap="square" lIns="0" tIns="0" rIns="0" bIns="0"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All Seven Memory-Reference Instructions</a:t>
            </a:r>
            <a:endParaRPr lang="en-US" sz="28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64240" cy="914400"/>
        </p:xfrm>
        <a:graphic>
          <a:graphicData uri="http://schemas.openxmlformats.org/drawingml/2006/table">
            <a:tbl>
              <a:tblPr/>
              <a:tblGrid>
                <a:gridCol w="1280160"/>
                <a:gridCol w="1188720"/>
                <a:gridCol w="4937760"/>
                <a:gridCol w="3657600"/>
              </a:tblGrid>
              <a:tr h="502920">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Symbol</a:t>
                      </a:r>
                      <a:endParaRPr lang="en-US" sz="1300" dirty="0">
                        <a:latin typeface="Calibri" charset="0"/>
                        <a:ea typeface="Calibri" charset="0"/>
                        <a:cs typeface="Calibri" charset="0"/>
                      </a:endParaRPr>
                    </a:p>
                  </a:txBody>
                  <a:tcPr marL="91440" marR="91440" marT="45720" marB="45720" anchor="ctr">
                    <a:lnL w="9525" cap="flat" cmpd="sng" algn="ctr">
                      <a:solidFill>
                        <a:srgbClr val="E4E8F2"/>
                      </a:solidFill>
                      <a:prstDash val="solid"/>
                      <a:round/>
                      <a:headEnd type="none" w="med" len="med"/>
                      <a:tailEnd type="none" w="med" len="med"/>
                    </a:lnL>
                    <a:lnR w="9525" cap="flat" cmpd="sng" algn="ctr">
                      <a:solidFill>
                        <a:srgbClr val="E4E8F2"/>
                      </a:solidFill>
                      <a:prstDash val="solid"/>
                      <a:round/>
                      <a:headEnd type="none" w="med" len="med"/>
                      <a:tailEnd type="none" w="med" len="med"/>
                    </a:lnR>
                    <a:lnT w="9525" cap="flat" cmpd="sng" algn="ctr">
                      <a:solidFill>
                        <a:srgbClr val="E4E8F2"/>
                      </a:solidFill>
                      <a:prstDash val="solid"/>
                      <a:round/>
                      <a:headEnd type="none" w="med" len="med"/>
                      <a:tailEnd type="none" w="med" len="med"/>
                    </a:lnT>
                    <a:lnB w="9525" cap="flat" cmpd="sng" algn="ctr">
                      <a:solidFill>
                        <a:srgbClr val="E4E8F2"/>
                      </a:solidFill>
                      <a:prstDash val="solid"/>
                      <a:round/>
                      <a:headEnd type="none" w="med" len="med"/>
                      <a:tailEnd type="none" w="med" len="med"/>
                    </a:lnB>
                    <a:solidFill>
                      <a:srgbClr val="1E2761"/>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Opcode</a:t>
                      </a:r>
                      <a:endParaRPr lang="en-US" sz="1300" dirty="0">
                        <a:latin typeface="Calibri" charset="0"/>
                        <a:ea typeface="Calibri" charset="0"/>
                        <a:cs typeface="Calibri" charset="0"/>
                      </a:endParaRPr>
                    </a:p>
                  </a:txBody>
                  <a:tcPr marL="91440" marR="91440" marT="45720" marB="45720" anchor="ctr">
                    <a:lnL w="9525" cap="flat" cmpd="sng" algn="ctr">
                      <a:solidFill>
                        <a:srgbClr val="E4E8F2"/>
                      </a:solidFill>
                      <a:prstDash val="solid"/>
                      <a:round/>
                      <a:headEnd type="none" w="med" len="med"/>
                      <a:tailEnd type="none" w="med" len="med"/>
                    </a:lnL>
                    <a:lnR w="9525" cap="flat" cmpd="sng" algn="ctr">
                      <a:solidFill>
                        <a:srgbClr val="E4E8F2"/>
                      </a:solidFill>
                      <a:prstDash val="solid"/>
                      <a:round/>
                      <a:headEnd type="none" w="med" len="med"/>
                      <a:tailEnd type="none" w="med" len="med"/>
                    </a:lnR>
                    <a:lnT w="9525" cap="flat" cmpd="sng" algn="ctr">
                      <a:solidFill>
                        <a:srgbClr val="E4E8F2"/>
                      </a:solidFill>
                      <a:prstDash val="solid"/>
                      <a:round/>
                      <a:headEnd type="none" w="med" len="med"/>
                      <a:tailEnd type="none" w="med" len="med"/>
                    </a:lnT>
                    <a:lnB w="9525" cap="flat" cmpd="sng" algn="ctr">
                      <a:solidFill>
                        <a:srgbClr val="E4E8F2"/>
                      </a:solidFill>
                      <a:prstDash val="solid"/>
                      <a:round/>
                      <a:headEnd type="none" w="med" len="med"/>
                      <a:tailEnd type="none" w="med" len="med"/>
                    </a:lnB>
                    <a:solidFill>
                      <a:srgbClr val="1E2761"/>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Register Transfer</a:t>
                      </a:r>
                      <a:endParaRPr lang="en-US" sz="1300" dirty="0">
                        <a:latin typeface="Calibri" charset="0"/>
                        <a:ea typeface="Calibri" charset="0"/>
                        <a:cs typeface="Calibri" charset="0"/>
                      </a:endParaRPr>
                    </a:p>
                  </a:txBody>
                  <a:tcPr marL="91440" marR="91440" marT="45720" marB="45720" anchor="ctr">
                    <a:lnL w="9525" cap="flat" cmpd="sng" algn="ctr">
                      <a:solidFill>
                        <a:srgbClr val="E4E8F2"/>
                      </a:solidFill>
                      <a:prstDash val="solid"/>
                      <a:round/>
                      <a:headEnd type="none" w="med" len="med"/>
                      <a:tailEnd type="none" w="med" len="med"/>
                    </a:lnL>
                    <a:lnR w="9525" cap="flat" cmpd="sng" algn="ctr">
                      <a:solidFill>
                        <a:srgbClr val="E4E8F2"/>
                      </a:solidFill>
                      <a:prstDash val="solid"/>
                      <a:round/>
                      <a:headEnd type="none" w="med" len="med"/>
                      <a:tailEnd type="none" w="med" len="med"/>
                    </a:lnR>
                    <a:lnT w="9525" cap="flat" cmpd="sng" algn="ctr">
                      <a:solidFill>
                        <a:srgbClr val="E4E8F2"/>
                      </a:solidFill>
                      <a:prstDash val="solid"/>
                      <a:round/>
                      <a:headEnd type="none" w="med" len="med"/>
                      <a:tailEnd type="none" w="med" len="med"/>
                    </a:lnT>
                    <a:lnB w="9525" cap="flat" cmpd="sng" algn="ctr">
                      <a:solidFill>
                        <a:srgbClr val="E4E8F2"/>
                      </a:solidFill>
                      <a:prstDash val="solid"/>
                      <a:round/>
                      <a:headEnd type="none" w="med" len="med"/>
                      <a:tailEnd type="none" w="med" len="med"/>
                    </a:lnB>
                    <a:solidFill>
                      <a:srgbClr val="1E2761"/>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Purpose</a:t>
                      </a:r>
                      <a:endParaRPr lang="en-US" sz="1300" dirty="0">
                        <a:latin typeface="Calibri" charset="0"/>
                        <a:ea typeface="Calibri" charset="0"/>
                        <a:cs typeface="Calibri" charset="0"/>
                      </a:endParaRPr>
                    </a:p>
                  </a:txBody>
                  <a:tcPr marL="91440" marR="91440" marT="45720" marB="45720" anchor="ctr">
                    <a:lnL w="9525" cap="flat" cmpd="sng" algn="ctr">
                      <a:solidFill>
                        <a:srgbClr val="E4E8F2"/>
                      </a:solidFill>
                      <a:prstDash val="solid"/>
                      <a:round/>
                      <a:headEnd type="none" w="med" len="med"/>
                      <a:tailEnd type="none" w="med" len="med"/>
                    </a:lnL>
                    <a:lnR w="9525" cap="flat" cmpd="sng" algn="ctr">
                      <a:solidFill>
                        <a:srgbClr val="E4E8F2"/>
                      </a:solidFill>
                      <a:prstDash val="solid"/>
                      <a:round/>
                      <a:headEnd type="none" w="med" len="med"/>
                      <a:tailEnd type="none" w="med" len="med"/>
                    </a:lnR>
                    <a:lnT w="9525" cap="flat" cmpd="sng" algn="ctr">
                      <a:solidFill>
                        <a:srgbClr val="E4E8F2"/>
                      </a:solidFill>
                      <a:prstDash val="solid"/>
                      <a:round/>
                      <a:headEnd type="none" w="med" len="med"/>
                      <a:tailEnd type="none" w="med" len="med"/>
                    </a:lnT>
                    <a:lnB w="9525" cap="flat" cmpd="sng" algn="ctr">
                      <a:solidFill>
                        <a:srgbClr val="E4E8F2"/>
                      </a:solidFill>
                      <a:prstDash val="solid"/>
                      <a:round/>
                      <a:headEnd type="none" w="med" len="med"/>
                      <a:tailEnd type="none" w="med" len="med"/>
                    </a:lnB>
                    <a:solidFill>
                      <a:srgbClr val="1E2761"/>
                    </a:solidFill>
                  </a:tcPr>
                </a:tc>
              </a:tr>
              <a:tr h="502920">
                <a:tc>
                  <a:txBody>
                    <a:bodyPr/>
                    <a:lstStyle/>
                    <a:p>
                      <a:pPr algn="l" indent="0" marL="0">
                        <a:buNone/>
                      </a:pPr>
                      <a:r>
                        <a:rPr lang="en-US" sz="1300" dirty="0">
                          <a:solidFill>
                            <a:srgbClr val="232323"/>
                          </a:solidFill>
                          <a:latin typeface="Courier New" pitchFamily="34" charset="0"/>
                          <a:ea typeface="Courier New" pitchFamily="34" charset="-122"/>
                          <a:cs typeface="Courier New" pitchFamily="34" charset="-120"/>
                        </a:rPr>
                        <a:t>AND</a:t>
                      </a:r>
                      <a:endParaRPr lang="en-US" sz="1300" dirty="0">
                        <a:latin typeface="Courier New" charset="0"/>
                        <a:ea typeface="Courier New" charset="0"/>
                        <a:cs typeface="Courier New" charset="0"/>
                      </a:endParaRPr>
                    </a:p>
                  </a:txBody>
                  <a:tcPr marL="91440" marR="91440" marT="45720" marB="45720" anchor="ctr">
                    <a:lnL w="9525" cap="flat" cmpd="sng" algn="ctr">
                      <a:solidFill>
                        <a:srgbClr val="E4E8F2"/>
                      </a:solidFill>
                      <a:prstDash val="solid"/>
                      <a:round/>
                      <a:headEnd type="none" w="med" len="med"/>
                      <a:tailEnd type="none" w="med" len="med"/>
                    </a:lnL>
                    <a:lnR w="9525" cap="flat" cmpd="sng" algn="ctr">
                      <a:solidFill>
                        <a:srgbClr val="E4E8F2"/>
                      </a:solidFill>
                      <a:prstDash val="solid"/>
                      <a:round/>
                      <a:headEnd type="none" w="med" len="med"/>
                      <a:tailEnd type="none" w="med" len="med"/>
                    </a:lnR>
                    <a:lnT w="9525" cap="flat" cmpd="sng" algn="ctr">
                      <a:solidFill>
                        <a:srgbClr val="E4E8F2"/>
                      </a:solidFill>
                      <a:prstDash val="solid"/>
                      <a:round/>
                      <a:headEnd type="none" w="med" len="med"/>
                      <a:tailEnd type="none" w="med" len="med"/>
                    </a:lnT>
                    <a:lnB w="9525" cap="flat" cmpd="sng" algn="ctr">
                      <a:solidFill>
                        <a:srgbClr val="E4E8F2"/>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32323"/>
                          </a:solidFill>
                          <a:latin typeface="Courier New" pitchFamily="34" charset="0"/>
                          <a:ea typeface="Courier New" pitchFamily="34" charset="-122"/>
                          <a:cs typeface="Courier New" pitchFamily="34" charset="-120"/>
                        </a:rPr>
                        <a:t>000</a:t>
                      </a:r>
                      <a:endParaRPr lang="en-US" sz="1300" dirty="0">
                        <a:latin typeface="Courier New" charset="0"/>
                        <a:ea typeface="Courier New" charset="0"/>
                        <a:cs typeface="Courier New" charset="0"/>
                      </a:endParaRPr>
                    </a:p>
                  </a:txBody>
                  <a:tcPr marL="91440" marR="91440" marT="45720" marB="45720" anchor="ctr">
                    <a:lnL w="9525" cap="flat" cmpd="sng" algn="ctr">
                      <a:solidFill>
                        <a:srgbClr val="E4E8F2"/>
                      </a:solidFill>
                      <a:prstDash val="solid"/>
                      <a:round/>
                      <a:headEnd type="none" w="med" len="med"/>
                      <a:tailEnd type="none" w="med" len="med"/>
                    </a:lnL>
                    <a:lnR w="9525" cap="flat" cmpd="sng" algn="ctr">
                      <a:solidFill>
                        <a:srgbClr val="E4E8F2"/>
                      </a:solidFill>
                      <a:prstDash val="solid"/>
                      <a:round/>
                      <a:headEnd type="none" w="med" len="med"/>
                      <a:tailEnd type="none" w="med" len="med"/>
                    </a:lnR>
                    <a:lnT w="9525" cap="flat" cmpd="sng" algn="ctr">
                      <a:solidFill>
                        <a:srgbClr val="E4E8F2"/>
                      </a:solidFill>
                      <a:prstDash val="solid"/>
                      <a:round/>
                      <a:headEnd type="none" w="med" len="med"/>
                      <a:tailEnd type="none" w="med" len="med"/>
                    </a:lnT>
                    <a:lnB w="9525" cap="flat" cmpd="sng" algn="ctr">
                      <a:solidFill>
                        <a:srgbClr val="E4E8F2"/>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32323"/>
                          </a:solidFill>
                          <a:latin typeface="Calibri" pitchFamily="34" charset="0"/>
                          <a:ea typeface="Calibri" pitchFamily="34" charset="-122"/>
                          <a:cs typeface="Calibri" pitchFamily="34" charset="-120"/>
                        </a:rPr>
                        <a:t>AC ← AC ∧ M[EA]</a:t>
                      </a:r>
                      <a:endParaRPr lang="en-US" sz="1300" dirty="0">
                        <a:latin typeface="Calibri" charset="0"/>
                        <a:ea typeface="Calibri" charset="0"/>
                        <a:cs typeface="Calibri" charset="0"/>
                      </a:endParaRPr>
                    </a:p>
                  </a:txBody>
                  <a:tcPr marL="91440" marR="91440" marT="45720" marB="45720" anchor="ctr">
                    <a:lnL w="9525" cap="flat" cmpd="sng" algn="ctr">
                      <a:solidFill>
                        <a:srgbClr val="E4E8F2"/>
                      </a:solidFill>
                      <a:prstDash val="solid"/>
                      <a:round/>
                      <a:headEnd type="none" w="med" len="med"/>
                      <a:tailEnd type="none" w="med" len="med"/>
                    </a:lnL>
                    <a:lnR w="9525" cap="flat" cmpd="sng" algn="ctr">
                      <a:solidFill>
                        <a:srgbClr val="E4E8F2"/>
                      </a:solidFill>
                      <a:prstDash val="solid"/>
                      <a:round/>
                      <a:headEnd type="none" w="med" len="med"/>
                      <a:tailEnd type="none" w="med" len="med"/>
                    </a:lnR>
                    <a:lnT w="9525" cap="flat" cmpd="sng" algn="ctr">
                      <a:solidFill>
                        <a:srgbClr val="E4E8F2"/>
                      </a:solidFill>
                      <a:prstDash val="solid"/>
                      <a:round/>
                      <a:headEnd type="none" w="med" len="med"/>
                      <a:tailEnd type="none" w="med" len="med"/>
                    </a:lnT>
                    <a:lnB w="9525" cap="flat" cmpd="sng" algn="ctr">
                      <a:solidFill>
                        <a:srgbClr val="E4E8F2"/>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32323"/>
                          </a:solidFill>
                          <a:latin typeface="Calibri" pitchFamily="34" charset="0"/>
                          <a:ea typeface="Calibri" pitchFamily="34" charset="-122"/>
                          <a:cs typeface="Calibri" pitchFamily="34" charset="-120"/>
                        </a:rPr>
                        <a:t>Bitwise mask</a:t>
                      </a:r>
                      <a:endParaRPr lang="en-US" sz="1300" dirty="0">
                        <a:latin typeface="Calibri" charset="0"/>
                        <a:ea typeface="Calibri" charset="0"/>
                        <a:cs typeface="Calibri" charset="0"/>
                      </a:endParaRPr>
                    </a:p>
                  </a:txBody>
                  <a:tcPr marL="91440" marR="91440" marT="45720" marB="45720" anchor="ctr">
                    <a:lnL w="9525" cap="flat" cmpd="sng" algn="ctr">
                      <a:solidFill>
                        <a:srgbClr val="E4E8F2"/>
                      </a:solidFill>
                      <a:prstDash val="solid"/>
                      <a:round/>
                      <a:headEnd type="none" w="med" len="med"/>
                      <a:tailEnd type="none" w="med" len="med"/>
                    </a:lnL>
                    <a:lnR w="9525" cap="flat" cmpd="sng" algn="ctr">
                      <a:solidFill>
                        <a:srgbClr val="E4E8F2"/>
                      </a:solidFill>
                      <a:prstDash val="solid"/>
                      <a:round/>
                      <a:headEnd type="none" w="med" len="med"/>
                      <a:tailEnd type="none" w="med" len="med"/>
                    </a:lnR>
                    <a:lnT w="9525" cap="flat" cmpd="sng" algn="ctr">
                      <a:solidFill>
                        <a:srgbClr val="E4E8F2"/>
                      </a:solidFill>
                      <a:prstDash val="solid"/>
                      <a:round/>
                      <a:headEnd type="none" w="med" len="med"/>
                      <a:tailEnd type="none" w="med" len="med"/>
                    </a:lnT>
                    <a:lnB w="9525" cap="flat" cmpd="sng" algn="ctr">
                      <a:solidFill>
                        <a:srgbClr val="E4E8F2"/>
                      </a:solidFill>
                      <a:prstDash val="solid"/>
                      <a:round/>
                      <a:headEnd type="none" w="med" len="med"/>
                      <a:tailEnd type="none" w="med" len="med"/>
                    </a:lnB>
                    <a:solidFill>
                      <a:srgbClr val="FFFFFF"/>
                    </a:solidFill>
                  </a:tcPr>
                </a:tc>
              </a:tr>
              <a:tr h="502920">
                <a:tc>
                  <a:txBody>
                    <a:bodyPr/>
                    <a:lstStyle/>
                    <a:p>
                      <a:pPr algn="l" indent="0" marL="0">
                        <a:buNone/>
                      </a:pPr>
                      <a:r>
                        <a:rPr lang="en-US" sz="1300" dirty="0">
                          <a:solidFill>
                            <a:srgbClr val="232323"/>
                          </a:solidFill>
                          <a:latin typeface="Courier New" pitchFamily="34" charset="0"/>
                          <a:ea typeface="Courier New" pitchFamily="34" charset="-122"/>
                          <a:cs typeface="Courier New" pitchFamily="34" charset="-120"/>
                        </a:rPr>
                        <a:t>ADD</a:t>
                      </a:r>
                      <a:endParaRPr lang="en-US" sz="1300" dirty="0">
                        <a:latin typeface="Courier New" charset="0"/>
                        <a:ea typeface="Courier New" charset="0"/>
                        <a:cs typeface="Courier New" charset="0"/>
                      </a:endParaRPr>
                    </a:p>
                  </a:txBody>
                  <a:tcPr marL="91440" marR="91440" marT="45720" marB="45720" anchor="ctr">
                    <a:lnL w="9525" cap="flat" cmpd="sng" algn="ctr">
                      <a:solidFill>
                        <a:srgbClr val="E4E8F2"/>
                      </a:solidFill>
                      <a:prstDash val="solid"/>
                      <a:round/>
                      <a:headEnd type="none" w="med" len="med"/>
                      <a:tailEnd type="none" w="med" len="med"/>
                    </a:lnL>
                    <a:lnR w="9525" cap="flat" cmpd="sng" algn="ctr">
                      <a:solidFill>
                        <a:srgbClr val="E4E8F2"/>
                      </a:solidFill>
                      <a:prstDash val="solid"/>
                      <a:round/>
                      <a:headEnd type="none" w="med" len="med"/>
                      <a:tailEnd type="none" w="med" len="med"/>
                    </a:lnR>
                    <a:lnT w="9525" cap="flat" cmpd="sng" algn="ctr">
                      <a:solidFill>
                        <a:srgbClr val="E4E8F2"/>
                      </a:solidFill>
                      <a:prstDash val="solid"/>
                      <a:round/>
                      <a:headEnd type="none" w="med" len="med"/>
                      <a:tailEnd type="none" w="med" len="med"/>
                    </a:lnT>
                    <a:lnB w="9525" cap="flat" cmpd="sng" algn="ctr">
                      <a:solidFill>
                        <a:srgbClr val="E4E8F2"/>
                      </a:solidFill>
                      <a:prstDash val="solid"/>
                      <a:round/>
                      <a:headEnd type="none" w="med" len="med"/>
                      <a:tailEnd type="none" w="med" len="med"/>
                    </a:lnB>
                    <a:solidFill>
                      <a:srgbClr val="F4F6FB"/>
                    </a:solidFill>
                  </a:tcPr>
                </a:tc>
                <a:tc>
                  <a:txBody>
                    <a:bodyPr/>
                    <a:lstStyle/>
                    <a:p>
                      <a:pPr algn="l" indent="0" marL="0">
                        <a:buNone/>
                      </a:pPr>
                      <a:r>
                        <a:rPr lang="en-US" sz="1300" dirty="0">
                          <a:solidFill>
                            <a:srgbClr val="232323"/>
                          </a:solidFill>
                          <a:latin typeface="Courier New" pitchFamily="34" charset="0"/>
                          <a:ea typeface="Courier New" pitchFamily="34" charset="-122"/>
                          <a:cs typeface="Courier New" pitchFamily="34" charset="-120"/>
                        </a:rPr>
                        <a:t>001</a:t>
                      </a:r>
                      <a:endParaRPr lang="en-US" sz="1300" dirty="0">
                        <a:latin typeface="Courier New" charset="0"/>
                        <a:ea typeface="Courier New" charset="0"/>
                        <a:cs typeface="Courier New" charset="0"/>
                      </a:endParaRPr>
                    </a:p>
                  </a:txBody>
                  <a:tcPr marL="91440" marR="91440" marT="45720" marB="45720" anchor="ctr">
                    <a:lnL w="9525" cap="flat" cmpd="sng" algn="ctr">
                      <a:solidFill>
                        <a:srgbClr val="E4E8F2"/>
                      </a:solidFill>
                      <a:prstDash val="solid"/>
                      <a:round/>
                      <a:headEnd type="none" w="med" len="med"/>
                      <a:tailEnd type="none" w="med" len="med"/>
                    </a:lnL>
                    <a:lnR w="9525" cap="flat" cmpd="sng" algn="ctr">
                      <a:solidFill>
                        <a:srgbClr val="E4E8F2"/>
                      </a:solidFill>
                      <a:prstDash val="solid"/>
                      <a:round/>
                      <a:headEnd type="none" w="med" len="med"/>
                      <a:tailEnd type="none" w="med" len="med"/>
                    </a:lnR>
                    <a:lnT w="9525" cap="flat" cmpd="sng" algn="ctr">
                      <a:solidFill>
                        <a:srgbClr val="E4E8F2"/>
                      </a:solidFill>
                      <a:prstDash val="solid"/>
                      <a:round/>
                      <a:headEnd type="none" w="med" len="med"/>
                      <a:tailEnd type="none" w="med" len="med"/>
                    </a:lnT>
                    <a:lnB w="9525" cap="flat" cmpd="sng" algn="ctr">
                      <a:solidFill>
                        <a:srgbClr val="E4E8F2"/>
                      </a:solidFill>
                      <a:prstDash val="solid"/>
                      <a:round/>
                      <a:headEnd type="none" w="med" len="med"/>
                      <a:tailEnd type="none" w="med" len="med"/>
                    </a:lnB>
                    <a:solidFill>
                      <a:srgbClr val="F4F6FB"/>
                    </a:solidFill>
                  </a:tcPr>
                </a:tc>
                <a:tc>
                  <a:txBody>
                    <a:bodyPr/>
                    <a:lstStyle/>
                    <a:p>
                      <a:pPr algn="l" indent="0" marL="0">
                        <a:buNone/>
                      </a:pPr>
                      <a:r>
                        <a:rPr lang="en-US" sz="1300" dirty="0">
                          <a:solidFill>
                            <a:srgbClr val="232323"/>
                          </a:solidFill>
                          <a:latin typeface="Calibri" pitchFamily="34" charset="0"/>
                          <a:ea typeface="Calibri" pitchFamily="34" charset="-122"/>
                          <a:cs typeface="Calibri" pitchFamily="34" charset="-120"/>
                        </a:rPr>
                        <a:t>AC ← AC + M[EA]</a:t>
                      </a:r>
                      <a:endParaRPr lang="en-US" sz="1300" dirty="0">
                        <a:latin typeface="Calibri" charset="0"/>
                        <a:ea typeface="Calibri" charset="0"/>
                        <a:cs typeface="Calibri" charset="0"/>
                      </a:endParaRPr>
                    </a:p>
                  </a:txBody>
                  <a:tcPr marL="91440" marR="91440" marT="45720" marB="45720" anchor="ctr">
                    <a:lnL w="9525" cap="flat" cmpd="sng" algn="ctr">
                      <a:solidFill>
                        <a:srgbClr val="E4E8F2"/>
                      </a:solidFill>
                      <a:prstDash val="solid"/>
                      <a:round/>
                      <a:headEnd type="none" w="med" len="med"/>
                      <a:tailEnd type="none" w="med" len="med"/>
                    </a:lnL>
                    <a:lnR w="9525" cap="flat" cmpd="sng" algn="ctr">
                      <a:solidFill>
                        <a:srgbClr val="E4E8F2"/>
                      </a:solidFill>
                      <a:prstDash val="solid"/>
                      <a:round/>
                      <a:headEnd type="none" w="med" len="med"/>
                      <a:tailEnd type="none" w="med" len="med"/>
                    </a:lnR>
                    <a:lnT w="9525" cap="flat" cmpd="sng" algn="ctr">
                      <a:solidFill>
                        <a:srgbClr val="E4E8F2"/>
                      </a:solidFill>
                      <a:prstDash val="solid"/>
                      <a:round/>
                      <a:headEnd type="none" w="med" len="med"/>
                      <a:tailEnd type="none" w="med" len="med"/>
                    </a:lnT>
                    <a:lnB w="9525" cap="flat" cmpd="sng" algn="ctr">
                      <a:solidFill>
                        <a:srgbClr val="E4E8F2"/>
                      </a:solidFill>
                      <a:prstDash val="solid"/>
                      <a:round/>
                      <a:headEnd type="none" w="med" len="med"/>
                      <a:tailEnd type="none" w="med" len="med"/>
                    </a:lnB>
                    <a:solidFill>
                      <a:srgbClr val="F4F6FB"/>
                    </a:solidFill>
                  </a:tcPr>
                </a:tc>
                <a:tc>
                  <a:txBody>
                    <a:bodyPr/>
                    <a:lstStyle/>
                    <a:p>
                      <a:pPr algn="l" indent="0" marL="0">
                        <a:buNone/>
                      </a:pPr>
                      <a:r>
                        <a:rPr lang="en-US" sz="1300" dirty="0">
                          <a:solidFill>
                            <a:srgbClr val="232323"/>
                          </a:solidFill>
                          <a:latin typeface="Calibri" pitchFamily="34" charset="0"/>
                          <a:ea typeface="Calibri" pitchFamily="34" charset="-122"/>
                          <a:cs typeface="Calibri" pitchFamily="34" charset="-120"/>
                        </a:rPr>
                        <a:t>Addition</a:t>
                      </a:r>
                      <a:endParaRPr lang="en-US" sz="1300" dirty="0">
                        <a:latin typeface="Calibri" charset="0"/>
                        <a:ea typeface="Calibri" charset="0"/>
                        <a:cs typeface="Calibri" charset="0"/>
                      </a:endParaRPr>
                    </a:p>
                  </a:txBody>
                  <a:tcPr marL="91440" marR="91440" marT="45720" marB="45720" anchor="ctr">
                    <a:lnL w="9525" cap="flat" cmpd="sng" algn="ctr">
                      <a:solidFill>
                        <a:srgbClr val="E4E8F2"/>
                      </a:solidFill>
                      <a:prstDash val="solid"/>
                      <a:round/>
                      <a:headEnd type="none" w="med" len="med"/>
                      <a:tailEnd type="none" w="med" len="med"/>
                    </a:lnL>
                    <a:lnR w="9525" cap="flat" cmpd="sng" algn="ctr">
                      <a:solidFill>
                        <a:srgbClr val="E4E8F2"/>
                      </a:solidFill>
                      <a:prstDash val="solid"/>
                      <a:round/>
                      <a:headEnd type="none" w="med" len="med"/>
                      <a:tailEnd type="none" w="med" len="med"/>
                    </a:lnR>
                    <a:lnT w="9525" cap="flat" cmpd="sng" algn="ctr">
                      <a:solidFill>
                        <a:srgbClr val="E4E8F2"/>
                      </a:solidFill>
                      <a:prstDash val="solid"/>
                      <a:round/>
                      <a:headEnd type="none" w="med" len="med"/>
                      <a:tailEnd type="none" w="med" len="med"/>
                    </a:lnT>
                    <a:lnB w="9525" cap="flat" cmpd="sng" algn="ctr">
                      <a:solidFill>
                        <a:srgbClr val="E4E8F2"/>
                      </a:solidFill>
                      <a:prstDash val="solid"/>
                      <a:round/>
                      <a:headEnd type="none" w="med" len="med"/>
                      <a:tailEnd type="none" w="med" len="med"/>
                    </a:lnB>
                    <a:solidFill>
                      <a:srgbClr val="F4F6FB"/>
                    </a:solidFill>
                  </a:tcPr>
                </a:tc>
              </a:tr>
              <a:tr h="502920">
                <a:tc>
                  <a:txBody>
                    <a:bodyPr/>
                    <a:lstStyle/>
                    <a:p>
                      <a:pPr algn="l" indent="0" marL="0">
                        <a:buNone/>
                      </a:pPr>
                      <a:r>
                        <a:rPr lang="en-US" sz="1300" dirty="0">
                          <a:solidFill>
                            <a:srgbClr val="232323"/>
                          </a:solidFill>
                          <a:latin typeface="Courier New" pitchFamily="34" charset="0"/>
                          <a:ea typeface="Courier New" pitchFamily="34" charset="-122"/>
                          <a:cs typeface="Courier New" pitchFamily="34" charset="-120"/>
                        </a:rPr>
                        <a:t>LDA</a:t>
                      </a:r>
                      <a:endParaRPr lang="en-US" sz="1300" dirty="0">
                        <a:latin typeface="Courier New" charset="0"/>
                        <a:ea typeface="Courier New" charset="0"/>
                        <a:cs typeface="Courier New" charset="0"/>
                      </a:endParaRPr>
                    </a:p>
                  </a:txBody>
                  <a:tcPr marL="91440" marR="91440" marT="45720" marB="45720" anchor="ctr">
                    <a:lnL w="9525" cap="flat" cmpd="sng" algn="ctr">
                      <a:solidFill>
                        <a:srgbClr val="E4E8F2"/>
                      </a:solidFill>
                      <a:prstDash val="solid"/>
                      <a:round/>
                      <a:headEnd type="none" w="med" len="med"/>
                      <a:tailEnd type="none" w="med" len="med"/>
                    </a:lnL>
                    <a:lnR w="9525" cap="flat" cmpd="sng" algn="ctr">
                      <a:solidFill>
                        <a:srgbClr val="E4E8F2"/>
                      </a:solidFill>
                      <a:prstDash val="solid"/>
                      <a:round/>
                      <a:headEnd type="none" w="med" len="med"/>
                      <a:tailEnd type="none" w="med" len="med"/>
                    </a:lnR>
                    <a:lnT w="9525" cap="flat" cmpd="sng" algn="ctr">
                      <a:solidFill>
                        <a:srgbClr val="E4E8F2"/>
                      </a:solidFill>
                      <a:prstDash val="solid"/>
                      <a:round/>
                      <a:headEnd type="none" w="med" len="med"/>
                      <a:tailEnd type="none" w="med" len="med"/>
                    </a:lnT>
                    <a:lnB w="9525" cap="flat" cmpd="sng" algn="ctr">
                      <a:solidFill>
                        <a:srgbClr val="E4E8F2"/>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32323"/>
                          </a:solidFill>
                          <a:latin typeface="Courier New" pitchFamily="34" charset="0"/>
                          <a:ea typeface="Courier New" pitchFamily="34" charset="-122"/>
                          <a:cs typeface="Courier New" pitchFamily="34" charset="-120"/>
                        </a:rPr>
                        <a:t>010</a:t>
                      </a:r>
                      <a:endParaRPr lang="en-US" sz="1300" dirty="0">
                        <a:latin typeface="Courier New" charset="0"/>
                        <a:ea typeface="Courier New" charset="0"/>
                        <a:cs typeface="Courier New" charset="0"/>
                      </a:endParaRPr>
                    </a:p>
                  </a:txBody>
                  <a:tcPr marL="91440" marR="91440" marT="45720" marB="45720" anchor="ctr">
                    <a:lnL w="9525" cap="flat" cmpd="sng" algn="ctr">
                      <a:solidFill>
                        <a:srgbClr val="E4E8F2"/>
                      </a:solidFill>
                      <a:prstDash val="solid"/>
                      <a:round/>
                      <a:headEnd type="none" w="med" len="med"/>
                      <a:tailEnd type="none" w="med" len="med"/>
                    </a:lnL>
                    <a:lnR w="9525" cap="flat" cmpd="sng" algn="ctr">
                      <a:solidFill>
                        <a:srgbClr val="E4E8F2"/>
                      </a:solidFill>
                      <a:prstDash val="solid"/>
                      <a:round/>
                      <a:headEnd type="none" w="med" len="med"/>
                      <a:tailEnd type="none" w="med" len="med"/>
                    </a:lnR>
                    <a:lnT w="9525" cap="flat" cmpd="sng" algn="ctr">
                      <a:solidFill>
                        <a:srgbClr val="E4E8F2"/>
                      </a:solidFill>
                      <a:prstDash val="solid"/>
                      <a:round/>
                      <a:headEnd type="none" w="med" len="med"/>
                      <a:tailEnd type="none" w="med" len="med"/>
                    </a:lnT>
                    <a:lnB w="9525" cap="flat" cmpd="sng" algn="ctr">
                      <a:solidFill>
                        <a:srgbClr val="E4E8F2"/>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32323"/>
                          </a:solidFill>
                          <a:latin typeface="Calibri" pitchFamily="34" charset="0"/>
                          <a:ea typeface="Calibri" pitchFamily="34" charset="-122"/>
                          <a:cs typeface="Calibri" pitchFamily="34" charset="-120"/>
                        </a:rPr>
                        <a:t>AC ← M[EA]</a:t>
                      </a:r>
                      <a:endParaRPr lang="en-US" sz="1300" dirty="0">
                        <a:latin typeface="Calibri" charset="0"/>
                        <a:ea typeface="Calibri" charset="0"/>
                        <a:cs typeface="Calibri" charset="0"/>
                      </a:endParaRPr>
                    </a:p>
                  </a:txBody>
                  <a:tcPr marL="91440" marR="91440" marT="45720" marB="45720" anchor="ctr">
                    <a:lnL w="9525" cap="flat" cmpd="sng" algn="ctr">
                      <a:solidFill>
                        <a:srgbClr val="E4E8F2"/>
                      </a:solidFill>
                      <a:prstDash val="solid"/>
                      <a:round/>
                      <a:headEnd type="none" w="med" len="med"/>
                      <a:tailEnd type="none" w="med" len="med"/>
                    </a:lnL>
                    <a:lnR w="9525" cap="flat" cmpd="sng" algn="ctr">
                      <a:solidFill>
                        <a:srgbClr val="E4E8F2"/>
                      </a:solidFill>
                      <a:prstDash val="solid"/>
                      <a:round/>
                      <a:headEnd type="none" w="med" len="med"/>
                      <a:tailEnd type="none" w="med" len="med"/>
                    </a:lnR>
                    <a:lnT w="9525" cap="flat" cmpd="sng" algn="ctr">
                      <a:solidFill>
                        <a:srgbClr val="E4E8F2"/>
                      </a:solidFill>
                      <a:prstDash val="solid"/>
                      <a:round/>
                      <a:headEnd type="none" w="med" len="med"/>
                      <a:tailEnd type="none" w="med" len="med"/>
                    </a:lnT>
                    <a:lnB w="9525" cap="flat" cmpd="sng" algn="ctr">
                      <a:solidFill>
                        <a:srgbClr val="E4E8F2"/>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32323"/>
                          </a:solidFill>
                          <a:latin typeface="Calibri" pitchFamily="34" charset="0"/>
                          <a:ea typeface="Calibri" pitchFamily="34" charset="-122"/>
                          <a:cs typeface="Calibri" pitchFamily="34" charset="-120"/>
                        </a:rPr>
                        <a:t>Load from memory</a:t>
                      </a:r>
                      <a:endParaRPr lang="en-US" sz="1300" dirty="0">
                        <a:latin typeface="Calibri" charset="0"/>
                        <a:ea typeface="Calibri" charset="0"/>
                        <a:cs typeface="Calibri" charset="0"/>
                      </a:endParaRPr>
                    </a:p>
                  </a:txBody>
                  <a:tcPr marL="91440" marR="91440" marT="45720" marB="45720" anchor="ctr">
                    <a:lnL w="9525" cap="flat" cmpd="sng" algn="ctr">
                      <a:solidFill>
                        <a:srgbClr val="E4E8F2"/>
                      </a:solidFill>
                      <a:prstDash val="solid"/>
                      <a:round/>
                      <a:headEnd type="none" w="med" len="med"/>
                      <a:tailEnd type="none" w="med" len="med"/>
                    </a:lnL>
                    <a:lnR w="9525" cap="flat" cmpd="sng" algn="ctr">
                      <a:solidFill>
                        <a:srgbClr val="E4E8F2"/>
                      </a:solidFill>
                      <a:prstDash val="solid"/>
                      <a:round/>
                      <a:headEnd type="none" w="med" len="med"/>
                      <a:tailEnd type="none" w="med" len="med"/>
                    </a:lnR>
                    <a:lnT w="9525" cap="flat" cmpd="sng" algn="ctr">
                      <a:solidFill>
                        <a:srgbClr val="E4E8F2"/>
                      </a:solidFill>
                      <a:prstDash val="solid"/>
                      <a:round/>
                      <a:headEnd type="none" w="med" len="med"/>
                      <a:tailEnd type="none" w="med" len="med"/>
                    </a:lnT>
                    <a:lnB w="9525" cap="flat" cmpd="sng" algn="ctr">
                      <a:solidFill>
                        <a:srgbClr val="E4E8F2"/>
                      </a:solidFill>
                      <a:prstDash val="solid"/>
                      <a:round/>
                      <a:headEnd type="none" w="med" len="med"/>
                      <a:tailEnd type="none" w="med" len="med"/>
                    </a:lnB>
                    <a:solidFill>
                      <a:srgbClr val="FFFFFF"/>
                    </a:solidFill>
                  </a:tcPr>
                </a:tc>
              </a:tr>
              <a:tr h="502920">
                <a:tc>
                  <a:txBody>
                    <a:bodyPr/>
                    <a:lstStyle/>
                    <a:p>
                      <a:pPr algn="l" indent="0" marL="0">
                        <a:buNone/>
                      </a:pPr>
                      <a:r>
                        <a:rPr lang="en-US" sz="1300" dirty="0">
                          <a:solidFill>
                            <a:srgbClr val="232323"/>
                          </a:solidFill>
                          <a:latin typeface="Courier New" pitchFamily="34" charset="0"/>
                          <a:ea typeface="Courier New" pitchFamily="34" charset="-122"/>
                          <a:cs typeface="Courier New" pitchFamily="34" charset="-120"/>
                        </a:rPr>
                        <a:t>STA</a:t>
                      </a:r>
                      <a:endParaRPr lang="en-US" sz="1300" dirty="0">
                        <a:latin typeface="Courier New" charset="0"/>
                        <a:ea typeface="Courier New" charset="0"/>
                        <a:cs typeface="Courier New" charset="0"/>
                      </a:endParaRPr>
                    </a:p>
                  </a:txBody>
                  <a:tcPr marL="91440" marR="91440" marT="45720" marB="45720" anchor="ctr">
                    <a:lnL w="9525" cap="flat" cmpd="sng" algn="ctr">
                      <a:solidFill>
                        <a:srgbClr val="E4E8F2"/>
                      </a:solidFill>
                      <a:prstDash val="solid"/>
                      <a:round/>
                      <a:headEnd type="none" w="med" len="med"/>
                      <a:tailEnd type="none" w="med" len="med"/>
                    </a:lnL>
                    <a:lnR w="9525" cap="flat" cmpd="sng" algn="ctr">
                      <a:solidFill>
                        <a:srgbClr val="E4E8F2"/>
                      </a:solidFill>
                      <a:prstDash val="solid"/>
                      <a:round/>
                      <a:headEnd type="none" w="med" len="med"/>
                      <a:tailEnd type="none" w="med" len="med"/>
                    </a:lnR>
                    <a:lnT w="9525" cap="flat" cmpd="sng" algn="ctr">
                      <a:solidFill>
                        <a:srgbClr val="E4E8F2"/>
                      </a:solidFill>
                      <a:prstDash val="solid"/>
                      <a:round/>
                      <a:headEnd type="none" w="med" len="med"/>
                      <a:tailEnd type="none" w="med" len="med"/>
                    </a:lnT>
                    <a:lnB w="9525" cap="flat" cmpd="sng" algn="ctr">
                      <a:solidFill>
                        <a:srgbClr val="E4E8F2"/>
                      </a:solidFill>
                      <a:prstDash val="solid"/>
                      <a:round/>
                      <a:headEnd type="none" w="med" len="med"/>
                      <a:tailEnd type="none" w="med" len="med"/>
                    </a:lnB>
                    <a:solidFill>
                      <a:srgbClr val="F4F6FB"/>
                    </a:solidFill>
                  </a:tcPr>
                </a:tc>
                <a:tc>
                  <a:txBody>
                    <a:bodyPr/>
                    <a:lstStyle/>
                    <a:p>
                      <a:pPr algn="l" indent="0" marL="0">
                        <a:buNone/>
                      </a:pPr>
                      <a:r>
                        <a:rPr lang="en-US" sz="1300" dirty="0">
                          <a:solidFill>
                            <a:srgbClr val="232323"/>
                          </a:solidFill>
                          <a:latin typeface="Courier New" pitchFamily="34" charset="0"/>
                          <a:ea typeface="Courier New" pitchFamily="34" charset="-122"/>
                          <a:cs typeface="Courier New" pitchFamily="34" charset="-120"/>
                        </a:rPr>
                        <a:t>011</a:t>
                      </a:r>
                      <a:endParaRPr lang="en-US" sz="1300" dirty="0">
                        <a:latin typeface="Courier New" charset="0"/>
                        <a:ea typeface="Courier New" charset="0"/>
                        <a:cs typeface="Courier New" charset="0"/>
                      </a:endParaRPr>
                    </a:p>
                  </a:txBody>
                  <a:tcPr marL="91440" marR="91440" marT="45720" marB="45720" anchor="ctr">
                    <a:lnL w="9525" cap="flat" cmpd="sng" algn="ctr">
                      <a:solidFill>
                        <a:srgbClr val="E4E8F2"/>
                      </a:solidFill>
                      <a:prstDash val="solid"/>
                      <a:round/>
                      <a:headEnd type="none" w="med" len="med"/>
                      <a:tailEnd type="none" w="med" len="med"/>
                    </a:lnL>
                    <a:lnR w="9525" cap="flat" cmpd="sng" algn="ctr">
                      <a:solidFill>
                        <a:srgbClr val="E4E8F2"/>
                      </a:solidFill>
                      <a:prstDash val="solid"/>
                      <a:round/>
                      <a:headEnd type="none" w="med" len="med"/>
                      <a:tailEnd type="none" w="med" len="med"/>
                    </a:lnR>
                    <a:lnT w="9525" cap="flat" cmpd="sng" algn="ctr">
                      <a:solidFill>
                        <a:srgbClr val="E4E8F2"/>
                      </a:solidFill>
                      <a:prstDash val="solid"/>
                      <a:round/>
                      <a:headEnd type="none" w="med" len="med"/>
                      <a:tailEnd type="none" w="med" len="med"/>
                    </a:lnT>
                    <a:lnB w="9525" cap="flat" cmpd="sng" algn="ctr">
                      <a:solidFill>
                        <a:srgbClr val="E4E8F2"/>
                      </a:solidFill>
                      <a:prstDash val="solid"/>
                      <a:round/>
                      <a:headEnd type="none" w="med" len="med"/>
                      <a:tailEnd type="none" w="med" len="med"/>
                    </a:lnB>
                    <a:solidFill>
                      <a:srgbClr val="F4F6FB"/>
                    </a:solidFill>
                  </a:tcPr>
                </a:tc>
                <a:tc>
                  <a:txBody>
                    <a:bodyPr/>
                    <a:lstStyle/>
                    <a:p>
                      <a:pPr algn="l" indent="0" marL="0">
                        <a:buNone/>
                      </a:pPr>
                      <a:r>
                        <a:rPr lang="en-US" sz="1300" dirty="0">
                          <a:solidFill>
                            <a:srgbClr val="232323"/>
                          </a:solidFill>
                          <a:latin typeface="Calibri" pitchFamily="34" charset="0"/>
                          <a:ea typeface="Calibri" pitchFamily="34" charset="-122"/>
                          <a:cs typeface="Calibri" pitchFamily="34" charset="-120"/>
                        </a:rPr>
                        <a:t>M[EA] ← AC</a:t>
                      </a:r>
                      <a:endParaRPr lang="en-US" sz="1300" dirty="0">
                        <a:latin typeface="Calibri" charset="0"/>
                        <a:ea typeface="Calibri" charset="0"/>
                        <a:cs typeface="Calibri" charset="0"/>
                      </a:endParaRPr>
                    </a:p>
                  </a:txBody>
                  <a:tcPr marL="91440" marR="91440" marT="45720" marB="45720" anchor="ctr">
                    <a:lnL w="9525" cap="flat" cmpd="sng" algn="ctr">
                      <a:solidFill>
                        <a:srgbClr val="E4E8F2"/>
                      </a:solidFill>
                      <a:prstDash val="solid"/>
                      <a:round/>
                      <a:headEnd type="none" w="med" len="med"/>
                      <a:tailEnd type="none" w="med" len="med"/>
                    </a:lnL>
                    <a:lnR w="9525" cap="flat" cmpd="sng" algn="ctr">
                      <a:solidFill>
                        <a:srgbClr val="E4E8F2"/>
                      </a:solidFill>
                      <a:prstDash val="solid"/>
                      <a:round/>
                      <a:headEnd type="none" w="med" len="med"/>
                      <a:tailEnd type="none" w="med" len="med"/>
                    </a:lnR>
                    <a:lnT w="9525" cap="flat" cmpd="sng" algn="ctr">
                      <a:solidFill>
                        <a:srgbClr val="E4E8F2"/>
                      </a:solidFill>
                      <a:prstDash val="solid"/>
                      <a:round/>
                      <a:headEnd type="none" w="med" len="med"/>
                      <a:tailEnd type="none" w="med" len="med"/>
                    </a:lnT>
                    <a:lnB w="9525" cap="flat" cmpd="sng" algn="ctr">
                      <a:solidFill>
                        <a:srgbClr val="E4E8F2"/>
                      </a:solidFill>
                      <a:prstDash val="solid"/>
                      <a:round/>
                      <a:headEnd type="none" w="med" len="med"/>
                      <a:tailEnd type="none" w="med" len="med"/>
                    </a:lnB>
                    <a:solidFill>
                      <a:srgbClr val="F4F6FB"/>
                    </a:solidFill>
                  </a:tcPr>
                </a:tc>
                <a:tc>
                  <a:txBody>
                    <a:bodyPr/>
                    <a:lstStyle/>
                    <a:p>
                      <a:pPr algn="l" indent="0" marL="0">
                        <a:buNone/>
                      </a:pPr>
                      <a:r>
                        <a:rPr lang="en-US" sz="1300" dirty="0">
                          <a:solidFill>
                            <a:srgbClr val="232323"/>
                          </a:solidFill>
                          <a:latin typeface="Calibri" pitchFamily="34" charset="0"/>
                          <a:ea typeface="Calibri" pitchFamily="34" charset="-122"/>
                          <a:cs typeface="Calibri" pitchFamily="34" charset="-120"/>
                        </a:rPr>
                        <a:t>Store to memory</a:t>
                      </a:r>
                      <a:endParaRPr lang="en-US" sz="1300" dirty="0">
                        <a:latin typeface="Calibri" charset="0"/>
                        <a:ea typeface="Calibri" charset="0"/>
                        <a:cs typeface="Calibri" charset="0"/>
                      </a:endParaRPr>
                    </a:p>
                  </a:txBody>
                  <a:tcPr marL="91440" marR="91440" marT="45720" marB="45720" anchor="ctr">
                    <a:lnL w="9525" cap="flat" cmpd="sng" algn="ctr">
                      <a:solidFill>
                        <a:srgbClr val="E4E8F2"/>
                      </a:solidFill>
                      <a:prstDash val="solid"/>
                      <a:round/>
                      <a:headEnd type="none" w="med" len="med"/>
                      <a:tailEnd type="none" w="med" len="med"/>
                    </a:lnL>
                    <a:lnR w="9525" cap="flat" cmpd="sng" algn="ctr">
                      <a:solidFill>
                        <a:srgbClr val="E4E8F2"/>
                      </a:solidFill>
                      <a:prstDash val="solid"/>
                      <a:round/>
                      <a:headEnd type="none" w="med" len="med"/>
                      <a:tailEnd type="none" w="med" len="med"/>
                    </a:lnR>
                    <a:lnT w="9525" cap="flat" cmpd="sng" algn="ctr">
                      <a:solidFill>
                        <a:srgbClr val="E4E8F2"/>
                      </a:solidFill>
                      <a:prstDash val="solid"/>
                      <a:round/>
                      <a:headEnd type="none" w="med" len="med"/>
                      <a:tailEnd type="none" w="med" len="med"/>
                    </a:lnT>
                    <a:lnB w="9525" cap="flat" cmpd="sng" algn="ctr">
                      <a:solidFill>
                        <a:srgbClr val="E4E8F2"/>
                      </a:solidFill>
                      <a:prstDash val="solid"/>
                      <a:round/>
                      <a:headEnd type="none" w="med" len="med"/>
                      <a:tailEnd type="none" w="med" len="med"/>
                    </a:lnB>
                    <a:solidFill>
                      <a:srgbClr val="F4F6FB"/>
                    </a:solidFill>
                  </a:tcPr>
                </a:tc>
              </a:tr>
              <a:tr h="502920">
                <a:tc>
                  <a:txBody>
                    <a:bodyPr/>
                    <a:lstStyle/>
                    <a:p>
                      <a:pPr algn="l" indent="0" marL="0">
                        <a:buNone/>
                      </a:pPr>
                      <a:r>
                        <a:rPr lang="en-US" sz="1300" dirty="0">
                          <a:solidFill>
                            <a:srgbClr val="232323"/>
                          </a:solidFill>
                          <a:latin typeface="Courier New" pitchFamily="34" charset="0"/>
                          <a:ea typeface="Courier New" pitchFamily="34" charset="-122"/>
                          <a:cs typeface="Courier New" pitchFamily="34" charset="-120"/>
                        </a:rPr>
                        <a:t>BUN</a:t>
                      </a:r>
                      <a:endParaRPr lang="en-US" sz="1300" dirty="0">
                        <a:latin typeface="Courier New" charset="0"/>
                        <a:ea typeface="Courier New" charset="0"/>
                        <a:cs typeface="Courier New" charset="0"/>
                      </a:endParaRPr>
                    </a:p>
                  </a:txBody>
                  <a:tcPr marL="91440" marR="91440" marT="45720" marB="45720" anchor="ctr">
                    <a:lnL w="9525" cap="flat" cmpd="sng" algn="ctr">
                      <a:solidFill>
                        <a:srgbClr val="E4E8F2"/>
                      </a:solidFill>
                      <a:prstDash val="solid"/>
                      <a:round/>
                      <a:headEnd type="none" w="med" len="med"/>
                      <a:tailEnd type="none" w="med" len="med"/>
                    </a:lnL>
                    <a:lnR w="9525" cap="flat" cmpd="sng" algn="ctr">
                      <a:solidFill>
                        <a:srgbClr val="E4E8F2"/>
                      </a:solidFill>
                      <a:prstDash val="solid"/>
                      <a:round/>
                      <a:headEnd type="none" w="med" len="med"/>
                      <a:tailEnd type="none" w="med" len="med"/>
                    </a:lnR>
                    <a:lnT w="9525" cap="flat" cmpd="sng" algn="ctr">
                      <a:solidFill>
                        <a:srgbClr val="E4E8F2"/>
                      </a:solidFill>
                      <a:prstDash val="solid"/>
                      <a:round/>
                      <a:headEnd type="none" w="med" len="med"/>
                      <a:tailEnd type="none" w="med" len="med"/>
                    </a:lnT>
                    <a:lnB w="9525" cap="flat" cmpd="sng" algn="ctr">
                      <a:solidFill>
                        <a:srgbClr val="E4E8F2"/>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32323"/>
                          </a:solidFill>
                          <a:latin typeface="Courier New" pitchFamily="34" charset="0"/>
                          <a:ea typeface="Courier New" pitchFamily="34" charset="-122"/>
                          <a:cs typeface="Courier New" pitchFamily="34" charset="-120"/>
                        </a:rPr>
                        <a:t>100</a:t>
                      </a:r>
                      <a:endParaRPr lang="en-US" sz="1300" dirty="0">
                        <a:latin typeface="Courier New" charset="0"/>
                        <a:ea typeface="Courier New" charset="0"/>
                        <a:cs typeface="Courier New" charset="0"/>
                      </a:endParaRPr>
                    </a:p>
                  </a:txBody>
                  <a:tcPr marL="91440" marR="91440" marT="45720" marB="45720" anchor="ctr">
                    <a:lnL w="9525" cap="flat" cmpd="sng" algn="ctr">
                      <a:solidFill>
                        <a:srgbClr val="E4E8F2"/>
                      </a:solidFill>
                      <a:prstDash val="solid"/>
                      <a:round/>
                      <a:headEnd type="none" w="med" len="med"/>
                      <a:tailEnd type="none" w="med" len="med"/>
                    </a:lnL>
                    <a:lnR w="9525" cap="flat" cmpd="sng" algn="ctr">
                      <a:solidFill>
                        <a:srgbClr val="E4E8F2"/>
                      </a:solidFill>
                      <a:prstDash val="solid"/>
                      <a:round/>
                      <a:headEnd type="none" w="med" len="med"/>
                      <a:tailEnd type="none" w="med" len="med"/>
                    </a:lnR>
                    <a:lnT w="9525" cap="flat" cmpd="sng" algn="ctr">
                      <a:solidFill>
                        <a:srgbClr val="E4E8F2"/>
                      </a:solidFill>
                      <a:prstDash val="solid"/>
                      <a:round/>
                      <a:headEnd type="none" w="med" len="med"/>
                      <a:tailEnd type="none" w="med" len="med"/>
                    </a:lnT>
                    <a:lnB w="9525" cap="flat" cmpd="sng" algn="ctr">
                      <a:solidFill>
                        <a:srgbClr val="E4E8F2"/>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32323"/>
                          </a:solidFill>
                          <a:latin typeface="Calibri" pitchFamily="34" charset="0"/>
                          <a:ea typeface="Calibri" pitchFamily="34" charset="-122"/>
                          <a:cs typeface="Calibri" pitchFamily="34" charset="-120"/>
                        </a:rPr>
                        <a:t>PC ← EA</a:t>
                      </a:r>
                      <a:endParaRPr lang="en-US" sz="1300" dirty="0">
                        <a:latin typeface="Calibri" charset="0"/>
                        <a:ea typeface="Calibri" charset="0"/>
                        <a:cs typeface="Calibri" charset="0"/>
                      </a:endParaRPr>
                    </a:p>
                  </a:txBody>
                  <a:tcPr marL="91440" marR="91440" marT="45720" marB="45720" anchor="ctr">
                    <a:lnL w="9525" cap="flat" cmpd="sng" algn="ctr">
                      <a:solidFill>
                        <a:srgbClr val="E4E8F2"/>
                      </a:solidFill>
                      <a:prstDash val="solid"/>
                      <a:round/>
                      <a:headEnd type="none" w="med" len="med"/>
                      <a:tailEnd type="none" w="med" len="med"/>
                    </a:lnL>
                    <a:lnR w="9525" cap="flat" cmpd="sng" algn="ctr">
                      <a:solidFill>
                        <a:srgbClr val="E4E8F2"/>
                      </a:solidFill>
                      <a:prstDash val="solid"/>
                      <a:round/>
                      <a:headEnd type="none" w="med" len="med"/>
                      <a:tailEnd type="none" w="med" len="med"/>
                    </a:lnR>
                    <a:lnT w="9525" cap="flat" cmpd="sng" algn="ctr">
                      <a:solidFill>
                        <a:srgbClr val="E4E8F2"/>
                      </a:solidFill>
                      <a:prstDash val="solid"/>
                      <a:round/>
                      <a:headEnd type="none" w="med" len="med"/>
                      <a:tailEnd type="none" w="med" len="med"/>
                    </a:lnT>
                    <a:lnB w="9525" cap="flat" cmpd="sng" algn="ctr">
                      <a:solidFill>
                        <a:srgbClr val="E4E8F2"/>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32323"/>
                          </a:solidFill>
                          <a:latin typeface="Calibri" pitchFamily="34" charset="0"/>
                          <a:ea typeface="Calibri" pitchFamily="34" charset="-122"/>
                          <a:cs typeface="Calibri" pitchFamily="34" charset="-120"/>
                        </a:rPr>
                        <a:t>Unconditional jump</a:t>
                      </a:r>
                      <a:endParaRPr lang="en-US" sz="1300" dirty="0">
                        <a:latin typeface="Calibri" charset="0"/>
                        <a:ea typeface="Calibri" charset="0"/>
                        <a:cs typeface="Calibri" charset="0"/>
                      </a:endParaRPr>
                    </a:p>
                  </a:txBody>
                  <a:tcPr marL="91440" marR="91440" marT="45720" marB="45720" anchor="ctr">
                    <a:lnL w="9525" cap="flat" cmpd="sng" algn="ctr">
                      <a:solidFill>
                        <a:srgbClr val="E4E8F2"/>
                      </a:solidFill>
                      <a:prstDash val="solid"/>
                      <a:round/>
                      <a:headEnd type="none" w="med" len="med"/>
                      <a:tailEnd type="none" w="med" len="med"/>
                    </a:lnL>
                    <a:lnR w="9525" cap="flat" cmpd="sng" algn="ctr">
                      <a:solidFill>
                        <a:srgbClr val="E4E8F2"/>
                      </a:solidFill>
                      <a:prstDash val="solid"/>
                      <a:round/>
                      <a:headEnd type="none" w="med" len="med"/>
                      <a:tailEnd type="none" w="med" len="med"/>
                    </a:lnR>
                    <a:lnT w="9525" cap="flat" cmpd="sng" algn="ctr">
                      <a:solidFill>
                        <a:srgbClr val="E4E8F2"/>
                      </a:solidFill>
                      <a:prstDash val="solid"/>
                      <a:round/>
                      <a:headEnd type="none" w="med" len="med"/>
                      <a:tailEnd type="none" w="med" len="med"/>
                    </a:lnT>
                    <a:lnB w="9525" cap="flat" cmpd="sng" algn="ctr">
                      <a:solidFill>
                        <a:srgbClr val="E4E8F2"/>
                      </a:solidFill>
                      <a:prstDash val="solid"/>
                      <a:round/>
                      <a:headEnd type="none" w="med" len="med"/>
                      <a:tailEnd type="none" w="med" len="med"/>
                    </a:lnB>
                    <a:solidFill>
                      <a:srgbClr val="FFFFFF"/>
                    </a:solidFill>
                  </a:tcPr>
                </a:tc>
              </a:tr>
              <a:tr h="502920">
                <a:tc>
                  <a:txBody>
                    <a:bodyPr/>
                    <a:lstStyle/>
                    <a:p>
                      <a:pPr algn="l" indent="0" marL="0">
                        <a:buNone/>
                      </a:pPr>
                      <a:r>
                        <a:rPr lang="en-US" sz="1300" dirty="0">
                          <a:solidFill>
                            <a:srgbClr val="232323"/>
                          </a:solidFill>
                          <a:latin typeface="Courier New" pitchFamily="34" charset="0"/>
                          <a:ea typeface="Courier New" pitchFamily="34" charset="-122"/>
                          <a:cs typeface="Courier New" pitchFamily="34" charset="-120"/>
                        </a:rPr>
                        <a:t>BSA</a:t>
                      </a:r>
                      <a:endParaRPr lang="en-US" sz="1300" dirty="0">
                        <a:latin typeface="Courier New" charset="0"/>
                        <a:ea typeface="Courier New" charset="0"/>
                        <a:cs typeface="Courier New" charset="0"/>
                      </a:endParaRPr>
                    </a:p>
                  </a:txBody>
                  <a:tcPr marL="91440" marR="91440" marT="45720" marB="45720" anchor="ctr">
                    <a:lnL w="9525" cap="flat" cmpd="sng" algn="ctr">
                      <a:solidFill>
                        <a:srgbClr val="E4E8F2"/>
                      </a:solidFill>
                      <a:prstDash val="solid"/>
                      <a:round/>
                      <a:headEnd type="none" w="med" len="med"/>
                      <a:tailEnd type="none" w="med" len="med"/>
                    </a:lnL>
                    <a:lnR w="9525" cap="flat" cmpd="sng" algn="ctr">
                      <a:solidFill>
                        <a:srgbClr val="E4E8F2"/>
                      </a:solidFill>
                      <a:prstDash val="solid"/>
                      <a:round/>
                      <a:headEnd type="none" w="med" len="med"/>
                      <a:tailEnd type="none" w="med" len="med"/>
                    </a:lnR>
                    <a:lnT w="9525" cap="flat" cmpd="sng" algn="ctr">
                      <a:solidFill>
                        <a:srgbClr val="E4E8F2"/>
                      </a:solidFill>
                      <a:prstDash val="solid"/>
                      <a:round/>
                      <a:headEnd type="none" w="med" len="med"/>
                      <a:tailEnd type="none" w="med" len="med"/>
                    </a:lnT>
                    <a:lnB w="9525" cap="flat" cmpd="sng" algn="ctr">
                      <a:solidFill>
                        <a:srgbClr val="E4E8F2"/>
                      </a:solidFill>
                      <a:prstDash val="solid"/>
                      <a:round/>
                      <a:headEnd type="none" w="med" len="med"/>
                      <a:tailEnd type="none" w="med" len="med"/>
                    </a:lnB>
                    <a:solidFill>
                      <a:srgbClr val="F4F6FB"/>
                    </a:solidFill>
                  </a:tcPr>
                </a:tc>
                <a:tc>
                  <a:txBody>
                    <a:bodyPr/>
                    <a:lstStyle/>
                    <a:p>
                      <a:pPr algn="l" indent="0" marL="0">
                        <a:buNone/>
                      </a:pPr>
                      <a:r>
                        <a:rPr lang="en-US" sz="1300" dirty="0">
                          <a:solidFill>
                            <a:srgbClr val="232323"/>
                          </a:solidFill>
                          <a:latin typeface="Courier New" pitchFamily="34" charset="0"/>
                          <a:ea typeface="Courier New" pitchFamily="34" charset="-122"/>
                          <a:cs typeface="Courier New" pitchFamily="34" charset="-120"/>
                        </a:rPr>
                        <a:t>101</a:t>
                      </a:r>
                      <a:endParaRPr lang="en-US" sz="1300" dirty="0">
                        <a:latin typeface="Courier New" charset="0"/>
                        <a:ea typeface="Courier New" charset="0"/>
                        <a:cs typeface="Courier New" charset="0"/>
                      </a:endParaRPr>
                    </a:p>
                  </a:txBody>
                  <a:tcPr marL="91440" marR="91440" marT="45720" marB="45720" anchor="ctr">
                    <a:lnL w="9525" cap="flat" cmpd="sng" algn="ctr">
                      <a:solidFill>
                        <a:srgbClr val="E4E8F2"/>
                      </a:solidFill>
                      <a:prstDash val="solid"/>
                      <a:round/>
                      <a:headEnd type="none" w="med" len="med"/>
                      <a:tailEnd type="none" w="med" len="med"/>
                    </a:lnL>
                    <a:lnR w="9525" cap="flat" cmpd="sng" algn="ctr">
                      <a:solidFill>
                        <a:srgbClr val="E4E8F2"/>
                      </a:solidFill>
                      <a:prstDash val="solid"/>
                      <a:round/>
                      <a:headEnd type="none" w="med" len="med"/>
                      <a:tailEnd type="none" w="med" len="med"/>
                    </a:lnR>
                    <a:lnT w="9525" cap="flat" cmpd="sng" algn="ctr">
                      <a:solidFill>
                        <a:srgbClr val="E4E8F2"/>
                      </a:solidFill>
                      <a:prstDash val="solid"/>
                      <a:round/>
                      <a:headEnd type="none" w="med" len="med"/>
                      <a:tailEnd type="none" w="med" len="med"/>
                    </a:lnT>
                    <a:lnB w="9525" cap="flat" cmpd="sng" algn="ctr">
                      <a:solidFill>
                        <a:srgbClr val="E4E8F2"/>
                      </a:solidFill>
                      <a:prstDash val="solid"/>
                      <a:round/>
                      <a:headEnd type="none" w="med" len="med"/>
                      <a:tailEnd type="none" w="med" len="med"/>
                    </a:lnB>
                    <a:solidFill>
                      <a:srgbClr val="F4F6FB"/>
                    </a:solidFill>
                  </a:tcPr>
                </a:tc>
                <a:tc>
                  <a:txBody>
                    <a:bodyPr/>
                    <a:lstStyle/>
                    <a:p>
                      <a:pPr algn="l" indent="0" marL="0">
                        <a:buNone/>
                      </a:pPr>
                      <a:r>
                        <a:rPr lang="en-US" sz="1300" dirty="0">
                          <a:solidFill>
                            <a:srgbClr val="232323"/>
                          </a:solidFill>
                          <a:latin typeface="Calibri" pitchFamily="34" charset="0"/>
                          <a:ea typeface="Calibri" pitchFamily="34" charset="-122"/>
                          <a:cs typeface="Calibri" pitchFamily="34" charset="-120"/>
                        </a:rPr>
                        <a:t>M[EA]←PC, PC←EA+1</a:t>
                      </a:r>
                      <a:endParaRPr lang="en-US" sz="1300" dirty="0">
                        <a:latin typeface="Calibri" charset="0"/>
                        <a:ea typeface="Calibri" charset="0"/>
                        <a:cs typeface="Calibri" charset="0"/>
                      </a:endParaRPr>
                    </a:p>
                  </a:txBody>
                  <a:tcPr marL="91440" marR="91440" marT="45720" marB="45720" anchor="ctr">
                    <a:lnL w="9525" cap="flat" cmpd="sng" algn="ctr">
                      <a:solidFill>
                        <a:srgbClr val="E4E8F2"/>
                      </a:solidFill>
                      <a:prstDash val="solid"/>
                      <a:round/>
                      <a:headEnd type="none" w="med" len="med"/>
                      <a:tailEnd type="none" w="med" len="med"/>
                    </a:lnL>
                    <a:lnR w="9525" cap="flat" cmpd="sng" algn="ctr">
                      <a:solidFill>
                        <a:srgbClr val="E4E8F2"/>
                      </a:solidFill>
                      <a:prstDash val="solid"/>
                      <a:round/>
                      <a:headEnd type="none" w="med" len="med"/>
                      <a:tailEnd type="none" w="med" len="med"/>
                    </a:lnR>
                    <a:lnT w="9525" cap="flat" cmpd="sng" algn="ctr">
                      <a:solidFill>
                        <a:srgbClr val="E4E8F2"/>
                      </a:solidFill>
                      <a:prstDash val="solid"/>
                      <a:round/>
                      <a:headEnd type="none" w="med" len="med"/>
                      <a:tailEnd type="none" w="med" len="med"/>
                    </a:lnT>
                    <a:lnB w="9525" cap="flat" cmpd="sng" algn="ctr">
                      <a:solidFill>
                        <a:srgbClr val="E4E8F2"/>
                      </a:solidFill>
                      <a:prstDash val="solid"/>
                      <a:round/>
                      <a:headEnd type="none" w="med" len="med"/>
                      <a:tailEnd type="none" w="med" len="med"/>
                    </a:lnB>
                    <a:solidFill>
                      <a:srgbClr val="F4F6FB"/>
                    </a:solidFill>
                  </a:tcPr>
                </a:tc>
                <a:tc>
                  <a:txBody>
                    <a:bodyPr/>
                    <a:lstStyle/>
                    <a:p>
                      <a:pPr algn="l" indent="0" marL="0">
                        <a:buNone/>
                      </a:pPr>
                      <a:r>
                        <a:rPr lang="en-US" sz="1300" dirty="0">
                          <a:solidFill>
                            <a:srgbClr val="232323"/>
                          </a:solidFill>
                          <a:latin typeface="Calibri" pitchFamily="34" charset="0"/>
                          <a:ea typeface="Calibri" pitchFamily="34" charset="-122"/>
                          <a:cs typeface="Calibri" pitchFamily="34" charset="-120"/>
                        </a:rPr>
                        <a:t>Subroutine call</a:t>
                      </a:r>
                      <a:endParaRPr lang="en-US" sz="1300" dirty="0">
                        <a:latin typeface="Calibri" charset="0"/>
                        <a:ea typeface="Calibri" charset="0"/>
                        <a:cs typeface="Calibri" charset="0"/>
                      </a:endParaRPr>
                    </a:p>
                  </a:txBody>
                  <a:tcPr marL="91440" marR="91440" marT="45720" marB="45720" anchor="ctr">
                    <a:lnL w="9525" cap="flat" cmpd="sng" algn="ctr">
                      <a:solidFill>
                        <a:srgbClr val="E4E8F2"/>
                      </a:solidFill>
                      <a:prstDash val="solid"/>
                      <a:round/>
                      <a:headEnd type="none" w="med" len="med"/>
                      <a:tailEnd type="none" w="med" len="med"/>
                    </a:lnL>
                    <a:lnR w="9525" cap="flat" cmpd="sng" algn="ctr">
                      <a:solidFill>
                        <a:srgbClr val="E4E8F2"/>
                      </a:solidFill>
                      <a:prstDash val="solid"/>
                      <a:round/>
                      <a:headEnd type="none" w="med" len="med"/>
                      <a:tailEnd type="none" w="med" len="med"/>
                    </a:lnR>
                    <a:lnT w="9525" cap="flat" cmpd="sng" algn="ctr">
                      <a:solidFill>
                        <a:srgbClr val="E4E8F2"/>
                      </a:solidFill>
                      <a:prstDash val="solid"/>
                      <a:round/>
                      <a:headEnd type="none" w="med" len="med"/>
                      <a:tailEnd type="none" w="med" len="med"/>
                    </a:lnT>
                    <a:lnB w="9525" cap="flat" cmpd="sng" algn="ctr">
                      <a:solidFill>
                        <a:srgbClr val="E4E8F2"/>
                      </a:solidFill>
                      <a:prstDash val="solid"/>
                      <a:round/>
                      <a:headEnd type="none" w="med" len="med"/>
                      <a:tailEnd type="none" w="med" len="med"/>
                    </a:lnB>
                    <a:solidFill>
                      <a:srgbClr val="F4F6FB"/>
                    </a:solidFill>
                  </a:tcPr>
                </a:tc>
              </a:tr>
              <a:tr h="502920">
                <a:tc>
                  <a:txBody>
                    <a:bodyPr/>
                    <a:lstStyle/>
                    <a:p>
                      <a:pPr algn="l" indent="0" marL="0">
                        <a:buNone/>
                      </a:pPr>
                      <a:r>
                        <a:rPr lang="en-US" sz="1300" dirty="0">
                          <a:solidFill>
                            <a:srgbClr val="232323"/>
                          </a:solidFill>
                          <a:latin typeface="Courier New" pitchFamily="34" charset="0"/>
                          <a:ea typeface="Courier New" pitchFamily="34" charset="-122"/>
                          <a:cs typeface="Courier New" pitchFamily="34" charset="-120"/>
                        </a:rPr>
                        <a:t>ISZ</a:t>
                      </a:r>
                      <a:endParaRPr lang="en-US" sz="1300" dirty="0">
                        <a:latin typeface="Courier New" charset="0"/>
                        <a:ea typeface="Courier New" charset="0"/>
                        <a:cs typeface="Courier New" charset="0"/>
                      </a:endParaRPr>
                    </a:p>
                  </a:txBody>
                  <a:tcPr marL="91440" marR="91440" marT="45720" marB="45720" anchor="ctr">
                    <a:lnL w="9525" cap="flat" cmpd="sng" algn="ctr">
                      <a:solidFill>
                        <a:srgbClr val="E4E8F2"/>
                      </a:solidFill>
                      <a:prstDash val="solid"/>
                      <a:round/>
                      <a:headEnd type="none" w="med" len="med"/>
                      <a:tailEnd type="none" w="med" len="med"/>
                    </a:lnL>
                    <a:lnR w="9525" cap="flat" cmpd="sng" algn="ctr">
                      <a:solidFill>
                        <a:srgbClr val="E4E8F2"/>
                      </a:solidFill>
                      <a:prstDash val="solid"/>
                      <a:round/>
                      <a:headEnd type="none" w="med" len="med"/>
                      <a:tailEnd type="none" w="med" len="med"/>
                    </a:lnR>
                    <a:lnT w="9525" cap="flat" cmpd="sng" algn="ctr">
                      <a:solidFill>
                        <a:srgbClr val="E4E8F2"/>
                      </a:solidFill>
                      <a:prstDash val="solid"/>
                      <a:round/>
                      <a:headEnd type="none" w="med" len="med"/>
                      <a:tailEnd type="none" w="med" len="med"/>
                    </a:lnT>
                    <a:lnB w="9525" cap="flat" cmpd="sng" algn="ctr">
                      <a:solidFill>
                        <a:srgbClr val="E4E8F2"/>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32323"/>
                          </a:solidFill>
                          <a:latin typeface="Courier New" pitchFamily="34" charset="0"/>
                          <a:ea typeface="Courier New" pitchFamily="34" charset="-122"/>
                          <a:cs typeface="Courier New" pitchFamily="34" charset="-120"/>
                        </a:rPr>
                        <a:t>110</a:t>
                      </a:r>
                      <a:endParaRPr lang="en-US" sz="1300" dirty="0">
                        <a:latin typeface="Courier New" charset="0"/>
                        <a:ea typeface="Courier New" charset="0"/>
                        <a:cs typeface="Courier New" charset="0"/>
                      </a:endParaRPr>
                    </a:p>
                  </a:txBody>
                  <a:tcPr marL="91440" marR="91440" marT="45720" marB="45720" anchor="ctr">
                    <a:lnL w="9525" cap="flat" cmpd="sng" algn="ctr">
                      <a:solidFill>
                        <a:srgbClr val="E4E8F2"/>
                      </a:solidFill>
                      <a:prstDash val="solid"/>
                      <a:round/>
                      <a:headEnd type="none" w="med" len="med"/>
                      <a:tailEnd type="none" w="med" len="med"/>
                    </a:lnL>
                    <a:lnR w="9525" cap="flat" cmpd="sng" algn="ctr">
                      <a:solidFill>
                        <a:srgbClr val="E4E8F2"/>
                      </a:solidFill>
                      <a:prstDash val="solid"/>
                      <a:round/>
                      <a:headEnd type="none" w="med" len="med"/>
                      <a:tailEnd type="none" w="med" len="med"/>
                    </a:lnR>
                    <a:lnT w="9525" cap="flat" cmpd="sng" algn="ctr">
                      <a:solidFill>
                        <a:srgbClr val="E4E8F2"/>
                      </a:solidFill>
                      <a:prstDash val="solid"/>
                      <a:round/>
                      <a:headEnd type="none" w="med" len="med"/>
                      <a:tailEnd type="none" w="med" len="med"/>
                    </a:lnT>
                    <a:lnB w="9525" cap="flat" cmpd="sng" algn="ctr">
                      <a:solidFill>
                        <a:srgbClr val="E4E8F2"/>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32323"/>
                          </a:solidFill>
                          <a:latin typeface="Calibri" pitchFamily="34" charset="0"/>
                          <a:ea typeface="Calibri" pitchFamily="34" charset="-122"/>
                          <a:cs typeface="Calibri" pitchFamily="34" charset="-120"/>
                        </a:rPr>
                        <a:t>M[EA]←M[EA]+1; skip if 0</a:t>
                      </a:r>
                      <a:endParaRPr lang="en-US" sz="1300" dirty="0">
                        <a:latin typeface="Calibri" charset="0"/>
                        <a:ea typeface="Calibri" charset="0"/>
                        <a:cs typeface="Calibri" charset="0"/>
                      </a:endParaRPr>
                    </a:p>
                  </a:txBody>
                  <a:tcPr marL="91440" marR="91440" marT="45720" marB="45720" anchor="ctr">
                    <a:lnL w="9525" cap="flat" cmpd="sng" algn="ctr">
                      <a:solidFill>
                        <a:srgbClr val="E4E8F2"/>
                      </a:solidFill>
                      <a:prstDash val="solid"/>
                      <a:round/>
                      <a:headEnd type="none" w="med" len="med"/>
                      <a:tailEnd type="none" w="med" len="med"/>
                    </a:lnL>
                    <a:lnR w="9525" cap="flat" cmpd="sng" algn="ctr">
                      <a:solidFill>
                        <a:srgbClr val="E4E8F2"/>
                      </a:solidFill>
                      <a:prstDash val="solid"/>
                      <a:round/>
                      <a:headEnd type="none" w="med" len="med"/>
                      <a:tailEnd type="none" w="med" len="med"/>
                    </a:lnR>
                    <a:lnT w="9525" cap="flat" cmpd="sng" algn="ctr">
                      <a:solidFill>
                        <a:srgbClr val="E4E8F2"/>
                      </a:solidFill>
                      <a:prstDash val="solid"/>
                      <a:round/>
                      <a:headEnd type="none" w="med" len="med"/>
                      <a:tailEnd type="none" w="med" len="med"/>
                    </a:lnT>
                    <a:lnB w="9525" cap="flat" cmpd="sng" algn="ctr">
                      <a:solidFill>
                        <a:srgbClr val="E4E8F2"/>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32323"/>
                          </a:solidFill>
                          <a:latin typeface="Calibri" pitchFamily="34" charset="0"/>
                          <a:ea typeface="Calibri" pitchFamily="34" charset="-122"/>
                          <a:cs typeface="Calibri" pitchFamily="34" charset="-120"/>
                        </a:rPr>
                        <a:t>Loop counter</a:t>
                      </a:r>
                      <a:endParaRPr lang="en-US" sz="1300" dirty="0">
                        <a:latin typeface="Calibri" charset="0"/>
                        <a:ea typeface="Calibri" charset="0"/>
                        <a:cs typeface="Calibri" charset="0"/>
                      </a:endParaRPr>
                    </a:p>
                  </a:txBody>
                  <a:tcPr marL="91440" marR="91440" marT="45720" marB="45720" anchor="ctr">
                    <a:lnL w="9525" cap="flat" cmpd="sng" algn="ctr">
                      <a:solidFill>
                        <a:srgbClr val="E4E8F2"/>
                      </a:solidFill>
                      <a:prstDash val="solid"/>
                      <a:round/>
                      <a:headEnd type="none" w="med" len="med"/>
                      <a:tailEnd type="none" w="med" len="med"/>
                    </a:lnL>
                    <a:lnR w="9525" cap="flat" cmpd="sng" algn="ctr">
                      <a:solidFill>
                        <a:srgbClr val="E4E8F2"/>
                      </a:solidFill>
                      <a:prstDash val="solid"/>
                      <a:round/>
                      <a:headEnd type="none" w="med" len="med"/>
                      <a:tailEnd type="none" w="med" len="med"/>
                    </a:lnR>
                    <a:lnT w="9525" cap="flat" cmpd="sng" algn="ctr">
                      <a:solidFill>
                        <a:srgbClr val="E4E8F2"/>
                      </a:solidFill>
                      <a:prstDash val="solid"/>
                      <a:round/>
                      <a:headEnd type="none" w="med" len="med"/>
                      <a:tailEnd type="none" w="med" len="med"/>
                    </a:lnT>
                    <a:lnB w="9525" cap="flat" cmpd="sng" algn="ctr">
                      <a:solidFill>
                        <a:srgbClr val="E4E8F2"/>
                      </a:solidFill>
                      <a:prstDash val="solid"/>
                      <a:round/>
                      <a:headEnd type="none" w="med" len="med"/>
                      <a:tailEnd type="none" w="med" len="med"/>
                    </a:lnB>
                    <a:solidFill>
                      <a:srgbClr val="FFFFFF"/>
                    </a:solidFill>
                  </a:tcPr>
                </a:tc>
              </a:tr>
            </a:tbl>
          </a:graphicData>
        </a:graphic>
      </p:graphicFrame>
      <p:sp>
        <p:nvSpPr>
          <p:cNvPr id="5" name="Text 2"/>
          <p:cNvSpPr/>
          <p:nvPr/>
        </p:nvSpPr>
        <p:spPr>
          <a:xfrm>
            <a:off x="457200" y="6510528"/>
            <a:ext cx="8686800" cy="274320"/>
          </a:xfrm>
          <a:prstGeom prst="rect">
            <a:avLst/>
          </a:prstGeom>
          <a:noFill/>
          <a:ln/>
        </p:spPr>
        <p:txBody>
          <a:bodyPr wrap="square" lIns="0" tIns="0" rIns="0" bIns="0" rtlCol="0" anchor="ctr"/>
          <a:lstStyle/>
          <a:p>
            <a:pPr algn="l" indent="0" marL="0">
              <a:buNone/>
            </a:pPr>
            <a:r>
              <a:rPr lang="en-US" sz="900" dirty="0">
                <a:solidFill>
                  <a:srgbClr val="9AA0AE"/>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
        <p:nvSpPr>
          <p:cNvPr id="6" name="Text 3"/>
          <p:cNvSpPr/>
          <p:nvPr/>
        </p:nvSpPr>
        <p:spPr>
          <a:xfrm>
            <a:off x="11338560" y="6510528"/>
            <a:ext cx="457200" cy="274320"/>
          </a:xfrm>
          <a:prstGeom prst="rect">
            <a:avLst/>
          </a:prstGeom>
          <a:noFill/>
          <a:ln/>
        </p:spPr>
        <p:txBody>
          <a:bodyPr wrap="square" lIns="0" tIns="0" rIns="0" bIns="0" rtlCol="0" anchor="ctr"/>
          <a:lstStyle/>
          <a:p>
            <a:pPr algn="r" indent="0" marL="0">
              <a:buNone/>
            </a:pPr>
            <a:r>
              <a:rPr lang="en-US" sz="900" dirty="0">
                <a:solidFill>
                  <a:srgbClr val="9AA0AE"/>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indent="0" marL="0">
              <a:buNone/>
            </a:pPr>
            <a:r>
              <a:rPr lang="en-US" sz="1300" b="1" spc="200" kern="0" dirty="0">
                <a:solidFill>
                  <a:srgbClr val="F2A541"/>
                </a:solidFill>
                <a:latin typeface="Calibri" pitchFamily="34" charset="0"/>
                <a:ea typeface="Calibri" pitchFamily="34" charset="-122"/>
                <a:cs typeface="Calibri" pitchFamily="34" charset="-120"/>
              </a:rPr>
              <a:t>REAL-WORLD EXAMPLE 1</a:t>
            </a:r>
            <a:endParaRPr lang="en-US" sz="1300" dirty="0"/>
          </a:p>
        </p:txBody>
      </p:sp>
      <p:sp>
        <p:nvSpPr>
          <p:cNvPr id="3" name="Text 1"/>
          <p:cNvSpPr/>
          <p:nvPr/>
        </p:nvSpPr>
        <p:spPr>
          <a:xfrm>
            <a:off x="548640" y="685800"/>
            <a:ext cx="8778240" cy="91440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Swapping Two Variables in Memory</a:t>
            </a:r>
            <a:endParaRPr lang="en-US" sz="3200" dirty="0"/>
          </a:p>
        </p:txBody>
      </p:sp>
      <p:sp>
        <p:nvSpPr>
          <p:cNvPr id="4" name="Shape 2"/>
          <p:cNvSpPr/>
          <p:nvPr/>
        </p:nvSpPr>
        <p:spPr>
          <a:xfrm>
            <a:off x="10607040" y="502920"/>
            <a:ext cx="822960" cy="822960"/>
          </a:xfrm>
          <a:prstGeom prst="ellipse">
            <a:avLst/>
          </a:prstGeom>
          <a:solidFill>
            <a:srgbClr val="1E2761"/>
          </a:solidFill>
          <a:ln/>
        </p:spPr>
      </p:sp>
      <p:sp>
        <p:nvSpPr>
          <p:cNvPr id="5" name="Text 3"/>
          <p:cNvSpPr/>
          <p:nvPr/>
        </p:nvSpPr>
        <p:spPr>
          <a:xfrm>
            <a:off x="10607040" y="502920"/>
            <a:ext cx="822960" cy="822960"/>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a:t>
            </a:r>
            <a:endParaRPr lang="en-US" sz="2600" dirty="0"/>
          </a:p>
        </p:txBody>
      </p:sp>
      <p:sp>
        <p:nvSpPr>
          <p:cNvPr id="6" name="Text 4"/>
          <p:cNvSpPr/>
          <p:nvPr/>
        </p:nvSpPr>
        <p:spPr>
          <a:xfrm>
            <a:off x="548640" y="1691640"/>
            <a:ext cx="10241280" cy="4498848"/>
          </a:xfrm>
          <a:prstGeom prst="rect">
            <a:avLst/>
          </a:prstGeom>
          <a:noFill/>
          <a:ln/>
        </p:spPr>
        <p:txBody>
          <a:bodyPr wrap="square" lIns="0" tIns="0" rIns="0" bIns="0" rtlCol="0" anchor="t"/>
          <a:lstStyle/>
          <a:p>
            <a:pPr marL="228600" indent="-228600">
              <a:spcAft>
                <a:spcPts val="1200"/>
              </a:spcAft>
              <a:buSzPct val="100000"/>
              <a:buChar char="▪"/>
            </a:pPr>
            <a:r>
              <a:rPr lang="en-US" sz="1700" dirty="0">
                <a:solidFill>
                  <a:srgbClr val="232323"/>
                </a:solidFill>
                <a:latin typeface="Calibri" pitchFamily="34" charset="0"/>
                <a:ea typeface="Calibri" pitchFamily="34" charset="-122"/>
                <a:cs typeface="Calibri" pitchFamily="34" charset="-120"/>
              </a:rPr>
              <a:t>Goal: swap the values stored at memory locations 500 (variable A) and 501 (variable B), using a temporary location 502.</a:t>
            </a:r>
            <a:endParaRPr lang="en-US" sz="1700" dirty="0"/>
          </a:p>
          <a:p>
            <a:pPr lvl="1" marL="457200" indent="-228600">
              <a:spcAft>
                <a:spcPts val="1200"/>
              </a:spcAft>
              <a:buSzPct val="100000"/>
              <a:buChar char="▪"/>
            </a:pPr>
            <a:r>
              <a:rPr lang="en-US" sz="1500" dirty="0">
                <a:solidFill>
                  <a:srgbClr val="232323"/>
                </a:solidFill>
                <a:latin typeface="Calibri" pitchFamily="34" charset="0"/>
                <a:ea typeface="Calibri" pitchFamily="34" charset="-122"/>
                <a:cs typeface="Calibri" pitchFamily="34" charset="-120"/>
              </a:rPr>
              <a:t>LDA 500        ; AC ← A</a:t>
            </a:r>
            <a:endParaRPr lang="en-US" sz="1700" dirty="0"/>
          </a:p>
          <a:p>
            <a:pPr lvl="1" marL="457200" indent="-228600">
              <a:spcAft>
                <a:spcPts val="1200"/>
              </a:spcAft>
              <a:buSzPct val="100000"/>
              <a:buChar char="▪"/>
            </a:pPr>
            <a:r>
              <a:rPr lang="en-US" sz="1500" dirty="0">
                <a:solidFill>
                  <a:srgbClr val="232323"/>
                </a:solidFill>
                <a:latin typeface="Calibri" pitchFamily="34" charset="0"/>
                <a:ea typeface="Calibri" pitchFamily="34" charset="-122"/>
                <a:cs typeface="Calibri" pitchFamily="34" charset="-120"/>
              </a:rPr>
              <a:t>STA 502        ; TEMP ← A</a:t>
            </a:r>
            <a:endParaRPr lang="en-US" sz="1700" dirty="0"/>
          </a:p>
          <a:p>
            <a:pPr lvl="1" marL="457200" indent="-228600">
              <a:spcAft>
                <a:spcPts val="1200"/>
              </a:spcAft>
              <a:buSzPct val="100000"/>
              <a:buChar char="▪"/>
            </a:pPr>
            <a:r>
              <a:rPr lang="en-US" sz="1500" dirty="0">
                <a:solidFill>
                  <a:srgbClr val="232323"/>
                </a:solidFill>
                <a:latin typeface="Calibri" pitchFamily="34" charset="0"/>
                <a:ea typeface="Calibri" pitchFamily="34" charset="-122"/>
                <a:cs typeface="Calibri" pitchFamily="34" charset="-120"/>
              </a:rPr>
              <a:t>LDA 501        ; AC ← B</a:t>
            </a:r>
            <a:endParaRPr lang="en-US" sz="1700" dirty="0"/>
          </a:p>
          <a:p>
            <a:pPr lvl="1" marL="457200" indent="-228600">
              <a:spcAft>
                <a:spcPts val="1200"/>
              </a:spcAft>
              <a:buSzPct val="100000"/>
              <a:buChar char="▪"/>
            </a:pPr>
            <a:r>
              <a:rPr lang="en-US" sz="1500" dirty="0">
                <a:solidFill>
                  <a:srgbClr val="232323"/>
                </a:solidFill>
                <a:latin typeface="Calibri" pitchFamily="34" charset="0"/>
                <a:ea typeface="Calibri" pitchFamily="34" charset="-122"/>
                <a:cs typeface="Calibri" pitchFamily="34" charset="-120"/>
              </a:rPr>
              <a:t>STA 500        ; A ← B</a:t>
            </a:r>
            <a:endParaRPr lang="en-US" sz="1700" dirty="0"/>
          </a:p>
          <a:p>
            <a:pPr lvl="1" marL="457200" indent="-228600">
              <a:spcAft>
                <a:spcPts val="1200"/>
              </a:spcAft>
              <a:buSzPct val="100000"/>
              <a:buChar char="▪"/>
            </a:pPr>
            <a:r>
              <a:rPr lang="en-US" sz="1500" dirty="0">
                <a:solidFill>
                  <a:srgbClr val="232323"/>
                </a:solidFill>
                <a:latin typeface="Calibri" pitchFamily="34" charset="0"/>
                <a:ea typeface="Calibri" pitchFamily="34" charset="-122"/>
                <a:cs typeface="Calibri" pitchFamily="34" charset="-120"/>
              </a:rPr>
              <a:t>LDA 502        ; AC ← TEMP (original A)</a:t>
            </a:r>
            <a:endParaRPr lang="en-US" sz="1700" dirty="0"/>
          </a:p>
          <a:p>
            <a:pPr lvl="1" marL="457200" indent="-228600">
              <a:spcAft>
                <a:spcPts val="1200"/>
              </a:spcAft>
              <a:buSzPct val="100000"/>
              <a:buChar char="▪"/>
            </a:pPr>
            <a:r>
              <a:rPr lang="en-US" sz="1500" dirty="0">
                <a:solidFill>
                  <a:srgbClr val="232323"/>
                </a:solidFill>
                <a:latin typeface="Calibri" pitchFamily="34" charset="0"/>
                <a:ea typeface="Calibri" pitchFamily="34" charset="-122"/>
                <a:cs typeface="Calibri" pitchFamily="34" charset="-120"/>
              </a:rPr>
              <a:t>STA 501        ; B ← original A</a:t>
            </a:r>
            <a:endParaRPr lang="en-US" sz="1700" dirty="0"/>
          </a:p>
          <a:p>
            <a:pPr marL="228600" indent="-228600">
              <a:spcAft>
                <a:spcPts val="1200"/>
              </a:spcAft>
              <a:buSzPct val="100000"/>
              <a:buChar char="▪"/>
            </a:pPr>
            <a:r>
              <a:rPr lang="en-US" sz="1700" dirty="0">
                <a:solidFill>
                  <a:srgbClr val="232323"/>
                </a:solidFill>
                <a:latin typeface="Calibri" pitchFamily="34" charset="0"/>
                <a:ea typeface="Calibri" pitchFamily="34" charset="-122"/>
                <a:cs typeface="Calibri" pitchFamily="34" charset="-120"/>
              </a:rPr>
              <a:t>This is exactly what happens under the hood when you write 'a, b = b, a' in a high-level language.</a:t>
            </a:r>
            <a:endParaRPr lang="en-US" sz="1700" dirty="0"/>
          </a:p>
        </p:txBody>
      </p:sp>
      <p:sp>
        <p:nvSpPr>
          <p:cNvPr id="7" name="Text 5"/>
          <p:cNvSpPr/>
          <p:nvPr/>
        </p:nvSpPr>
        <p:spPr>
          <a:xfrm>
            <a:off x="457200" y="6510528"/>
            <a:ext cx="8686800" cy="274320"/>
          </a:xfrm>
          <a:prstGeom prst="rect">
            <a:avLst/>
          </a:prstGeom>
          <a:noFill/>
          <a:ln/>
        </p:spPr>
        <p:txBody>
          <a:bodyPr wrap="square" lIns="0" tIns="0" rIns="0" bIns="0" rtlCol="0" anchor="ctr"/>
          <a:lstStyle/>
          <a:p>
            <a:pPr algn="l" indent="0" marL="0">
              <a:buNone/>
            </a:pPr>
            <a:r>
              <a:rPr lang="en-US" sz="900" dirty="0">
                <a:solidFill>
                  <a:srgbClr val="9AA0AE"/>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
        <p:nvSpPr>
          <p:cNvPr id="8" name="Text 6"/>
          <p:cNvSpPr/>
          <p:nvPr/>
        </p:nvSpPr>
        <p:spPr>
          <a:xfrm>
            <a:off x="11338560" y="6510528"/>
            <a:ext cx="457200" cy="274320"/>
          </a:xfrm>
          <a:prstGeom prst="rect">
            <a:avLst/>
          </a:prstGeom>
          <a:noFill/>
          <a:ln/>
        </p:spPr>
        <p:txBody>
          <a:bodyPr wrap="square" lIns="0" tIns="0" rIns="0" bIns="0" rtlCol="0" anchor="ctr"/>
          <a:lstStyle/>
          <a:p>
            <a:pPr algn="r" indent="0" marL="0">
              <a:buNone/>
            </a:pPr>
            <a:r>
              <a:rPr lang="en-US" sz="900" dirty="0">
                <a:solidFill>
                  <a:srgbClr val="9AA0AE"/>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indent="0" marL="0">
              <a:buNone/>
            </a:pPr>
            <a:r>
              <a:rPr lang="en-US" sz="1300" b="1" spc="200" kern="0" dirty="0">
                <a:solidFill>
                  <a:srgbClr val="F2A541"/>
                </a:solidFill>
                <a:latin typeface="Calibri" pitchFamily="34" charset="0"/>
                <a:ea typeface="Calibri" pitchFamily="34" charset="-122"/>
                <a:cs typeface="Calibri" pitchFamily="34" charset="-120"/>
              </a:rPr>
              <a:t>REAL-WORLD EXAMPLE 2</a:t>
            </a:r>
            <a:endParaRPr lang="en-US" sz="1300" dirty="0"/>
          </a:p>
        </p:txBody>
      </p:sp>
      <p:sp>
        <p:nvSpPr>
          <p:cNvPr id="3" name="Text 1"/>
          <p:cNvSpPr/>
          <p:nvPr/>
        </p:nvSpPr>
        <p:spPr>
          <a:xfrm>
            <a:off x="548640" y="685800"/>
            <a:ext cx="8778240" cy="91440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BSA in Action: Calling a Subroutine</a:t>
            </a:r>
            <a:endParaRPr lang="en-US" sz="3200" dirty="0"/>
          </a:p>
        </p:txBody>
      </p:sp>
      <p:sp>
        <p:nvSpPr>
          <p:cNvPr id="4" name="Shape 2"/>
          <p:cNvSpPr/>
          <p:nvPr/>
        </p:nvSpPr>
        <p:spPr>
          <a:xfrm>
            <a:off x="10607040" y="502920"/>
            <a:ext cx="822960" cy="822960"/>
          </a:xfrm>
          <a:prstGeom prst="ellipse">
            <a:avLst/>
          </a:prstGeom>
          <a:solidFill>
            <a:srgbClr val="1E2761"/>
          </a:solidFill>
          <a:ln/>
        </p:spPr>
      </p:sp>
      <p:sp>
        <p:nvSpPr>
          <p:cNvPr id="5" name="Text 3"/>
          <p:cNvSpPr/>
          <p:nvPr/>
        </p:nvSpPr>
        <p:spPr>
          <a:xfrm>
            <a:off x="10607040" y="502920"/>
            <a:ext cx="822960" cy="822960"/>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a:t>
            </a:r>
            <a:endParaRPr lang="en-US" sz="2600" dirty="0"/>
          </a:p>
        </p:txBody>
      </p:sp>
      <p:sp>
        <p:nvSpPr>
          <p:cNvPr id="6" name="Text 4"/>
          <p:cNvSpPr/>
          <p:nvPr/>
        </p:nvSpPr>
        <p:spPr>
          <a:xfrm>
            <a:off x="548640" y="1691640"/>
            <a:ext cx="10241280" cy="4498848"/>
          </a:xfrm>
          <a:prstGeom prst="rect">
            <a:avLst/>
          </a:prstGeom>
          <a:noFill/>
          <a:ln/>
        </p:spPr>
        <p:txBody>
          <a:bodyPr wrap="square" lIns="0" tIns="0" rIns="0" bIns="0" rtlCol="0" anchor="t"/>
          <a:lstStyle/>
          <a:p>
            <a:pPr lvl="1" marL="457200" indent="-228600">
              <a:spcAft>
                <a:spcPts val="1200"/>
              </a:spcAft>
              <a:buSzPct val="100000"/>
              <a:buChar char="▪"/>
            </a:pPr>
            <a:r>
              <a:rPr lang="en-US" sz="1500" dirty="0">
                <a:solidFill>
                  <a:srgbClr val="232323"/>
                </a:solidFill>
                <a:latin typeface="Calibri" pitchFamily="34" charset="0"/>
                <a:ea typeface="Calibri" pitchFamily="34" charset="-122"/>
                <a:cs typeface="Calibri" pitchFamily="34" charset="-120"/>
              </a:rPr>
              <a:t>Main program:              125   BSA  200          ; call subroutine at 200</a:t>
            </a:r>
            <a:endParaRPr lang="en-US" sz="1500" dirty="0"/>
          </a:p>
          <a:p>
            <a:pPr lvl="1" marL="457200" indent="-228600">
              <a:spcAft>
                <a:spcPts val="1200"/>
              </a:spcAft>
              <a:buSzPct val="100000"/>
              <a:buChar char="▪"/>
            </a:pPr>
            <a:r>
              <a:rPr lang="en-US" sz="1500" dirty="0">
                <a:solidFill>
                  <a:srgbClr val="232323"/>
                </a:solidFill>
                <a:latin typeface="Calibri" pitchFamily="34" charset="0"/>
                <a:ea typeface="Calibri" pitchFamily="34" charset="-122"/>
                <a:cs typeface="Calibri" pitchFamily="34" charset="-120"/>
              </a:rPr>
              <a:t>                              126   (next instruction runs after return)</a:t>
            </a:r>
            <a:endParaRPr lang="en-US" sz="1500" dirty="0"/>
          </a:p>
          <a:p>
            <a:pPr lvl="1" marL="457200" indent="-228600">
              <a:spcAft>
                <a:spcPts val="1200"/>
              </a:spcAft>
              <a:buSzPct val="100000"/>
              <a:buChar char="▪"/>
            </a:pPr>
            <a:r>
              <a:rPr lang="en-US" sz="1500" dirty="0">
                <a:solidFill>
                  <a:srgbClr val="232323"/>
                </a:solidFill>
                <a:latin typeface="Calibri" pitchFamily="34" charset="0"/>
                <a:ea typeface="Calibri" pitchFamily="34" charset="-122"/>
                <a:cs typeface="Calibri" pitchFamily="34" charset="-120"/>
              </a:rPr>
              <a:t>Subroutine:                 200   (return address stored here automatically)</a:t>
            </a:r>
            <a:endParaRPr lang="en-US" sz="1500" dirty="0"/>
          </a:p>
          <a:p>
            <a:pPr lvl="1" marL="457200" indent="-228600">
              <a:spcAft>
                <a:spcPts val="1200"/>
              </a:spcAft>
              <a:buSzPct val="100000"/>
              <a:buChar char="▪"/>
            </a:pPr>
            <a:r>
              <a:rPr lang="en-US" sz="1500" dirty="0">
                <a:solidFill>
                  <a:srgbClr val="232323"/>
                </a:solidFill>
                <a:latin typeface="Calibri" pitchFamily="34" charset="0"/>
                <a:ea typeface="Calibri" pitchFamily="34" charset="-122"/>
                <a:cs typeface="Calibri" pitchFamily="34" charset="-120"/>
              </a:rPr>
              <a:t>                              201   ... subroutine body ...</a:t>
            </a:r>
            <a:endParaRPr lang="en-US" sz="1500" dirty="0"/>
          </a:p>
          <a:p>
            <a:pPr lvl="1" marL="457200" indent="-228600">
              <a:spcAft>
                <a:spcPts val="1200"/>
              </a:spcAft>
              <a:buSzPct val="100000"/>
              <a:buChar char="▪"/>
            </a:pPr>
            <a:r>
              <a:rPr lang="en-US" sz="1500" dirty="0">
                <a:solidFill>
                  <a:srgbClr val="232323"/>
                </a:solidFill>
                <a:latin typeface="Calibri" pitchFamily="34" charset="0"/>
                <a:ea typeface="Calibri" pitchFamily="34" charset="-122"/>
                <a:cs typeface="Calibri" pitchFamily="34" charset="-120"/>
              </a:rPr>
              <a:t>                              ...   BUN  200 I         ; return, using the saved address</a:t>
            </a:r>
            <a:endParaRPr lang="en-US" sz="1500" dirty="0"/>
          </a:p>
          <a:p>
            <a:pPr marL="228600" indent="-228600">
              <a:spcAft>
                <a:spcPts val="1200"/>
              </a:spcAft>
              <a:buSzPct val="100000"/>
              <a:buChar char="▪"/>
            </a:pPr>
            <a:r>
              <a:rPr lang="en-US" sz="1700" dirty="0">
                <a:solidFill>
                  <a:srgbClr val="232323"/>
                </a:solidFill>
                <a:latin typeface="Calibri" pitchFamily="34" charset="0"/>
                <a:ea typeface="Calibri" pitchFamily="34" charset="-122"/>
                <a:cs typeface="Calibri" pitchFamily="34" charset="-120"/>
              </a:rPr>
              <a:t>Step 1: BSA stores 126 (the return address) into location 200, then sets PC = 201.</a:t>
            </a:r>
            <a:endParaRPr lang="en-US" sz="1500" dirty="0"/>
          </a:p>
          <a:p>
            <a:pPr marL="228600" indent="-228600">
              <a:spcAft>
                <a:spcPts val="1200"/>
              </a:spcAft>
              <a:buSzPct val="100000"/>
              <a:buChar char="▪"/>
            </a:pPr>
            <a:r>
              <a:rPr lang="en-US" sz="1700" dirty="0">
                <a:solidFill>
                  <a:srgbClr val="232323"/>
                </a:solidFill>
                <a:latin typeface="Calibri" pitchFamily="34" charset="0"/>
                <a:ea typeface="Calibri" pitchFamily="34" charset="-122"/>
                <a:cs typeface="Calibri" pitchFamily="34" charset="-120"/>
              </a:rPr>
              <a:t>Step 2: at the end of the subroutine, 'BUN 200 I' reads the saved address from 200 and jumps back to 126.</a:t>
            </a:r>
            <a:endParaRPr lang="en-US" sz="1500" dirty="0"/>
          </a:p>
          <a:p>
            <a:pPr marL="228600" indent="-228600">
              <a:spcAft>
                <a:spcPts val="1200"/>
              </a:spcAft>
              <a:buSzPct val="100000"/>
              <a:buChar char="▪"/>
            </a:pPr>
            <a:r>
              <a:rPr lang="en-US" sz="1700" dirty="0">
                <a:solidFill>
                  <a:srgbClr val="232323"/>
                </a:solidFill>
                <a:latin typeface="Calibri" pitchFamily="34" charset="0"/>
                <a:ea typeface="Calibri" pitchFamily="34" charset="-122"/>
                <a:cs typeface="Calibri" pitchFamily="34" charset="-120"/>
              </a:rPr>
              <a:t>This BSA / BUN-indirect pair is the direct hardware ancestor of the 'call' and 'return' instructions in modern CPUs.</a:t>
            </a:r>
            <a:endParaRPr lang="en-US" sz="1500" dirty="0"/>
          </a:p>
        </p:txBody>
      </p:sp>
      <p:sp>
        <p:nvSpPr>
          <p:cNvPr id="7" name="Text 5"/>
          <p:cNvSpPr/>
          <p:nvPr/>
        </p:nvSpPr>
        <p:spPr>
          <a:xfrm>
            <a:off x="457200" y="6510528"/>
            <a:ext cx="8686800" cy="274320"/>
          </a:xfrm>
          <a:prstGeom prst="rect">
            <a:avLst/>
          </a:prstGeom>
          <a:noFill/>
          <a:ln/>
        </p:spPr>
        <p:txBody>
          <a:bodyPr wrap="square" lIns="0" tIns="0" rIns="0" bIns="0" rtlCol="0" anchor="ctr"/>
          <a:lstStyle/>
          <a:p>
            <a:pPr algn="l" indent="0" marL="0">
              <a:buNone/>
            </a:pPr>
            <a:r>
              <a:rPr lang="en-US" sz="900" dirty="0">
                <a:solidFill>
                  <a:srgbClr val="9AA0AE"/>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
        <p:nvSpPr>
          <p:cNvPr id="8" name="Text 6"/>
          <p:cNvSpPr/>
          <p:nvPr/>
        </p:nvSpPr>
        <p:spPr>
          <a:xfrm>
            <a:off x="11338560" y="6510528"/>
            <a:ext cx="457200" cy="274320"/>
          </a:xfrm>
          <a:prstGeom prst="rect">
            <a:avLst/>
          </a:prstGeom>
          <a:noFill/>
          <a:ln/>
        </p:spPr>
        <p:txBody>
          <a:bodyPr wrap="square" lIns="0" tIns="0" rIns="0" bIns="0" rtlCol="0" anchor="ctr"/>
          <a:lstStyle/>
          <a:p>
            <a:pPr algn="r" indent="0" marL="0">
              <a:buNone/>
            </a:pPr>
            <a:r>
              <a:rPr lang="en-US" sz="900" dirty="0">
                <a:solidFill>
                  <a:srgbClr val="9AA0AE"/>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indent="0" marL="0">
              <a:buNone/>
            </a:pPr>
            <a:r>
              <a:rPr lang="en-US" sz="1300" b="1" spc="200" kern="0" dirty="0">
                <a:solidFill>
                  <a:srgbClr val="F2A541"/>
                </a:solidFill>
                <a:latin typeface="Calibri" pitchFamily="34" charset="0"/>
                <a:ea typeface="Calibri" pitchFamily="34" charset="-122"/>
                <a:cs typeface="Calibri" pitchFamily="34" charset="-120"/>
              </a:rPr>
              <a:t>WORKED EXAMPLE 1  ·  STEP BY STEP</a:t>
            </a:r>
            <a:endParaRPr lang="en-US" sz="1300" dirty="0"/>
          </a:p>
        </p:txBody>
      </p:sp>
      <p:sp>
        <p:nvSpPr>
          <p:cNvPr id="3" name="Text 1"/>
          <p:cNvSpPr/>
          <p:nvPr/>
        </p:nvSpPr>
        <p:spPr>
          <a:xfrm>
            <a:off x="548640" y="685800"/>
            <a:ext cx="8778240" cy="91440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Tracing LDA 450  (Direct Addressing)</a:t>
            </a:r>
            <a:endParaRPr lang="en-US" sz="3200" dirty="0"/>
          </a:p>
        </p:txBody>
      </p:sp>
      <p:sp>
        <p:nvSpPr>
          <p:cNvPr id="4" name="Shape 2"/>
          <p:cNvSpPr/>
          <p:nvPr/>
        </p:nvSpPr>
        <p:spPr>
          <a:xfrm>
            <a:off x="10607040" y="502920"/>
            <a:ext cx="822960" cy="822960"/>
          </a:xfrm>
          <a:prstGeom prst="ellipse">
            <a:avLst/>
          </a:prstGeom>
          <a:solidFill>
            <a:srgbClr val="1E2761"/>
          </a:solidFill>
          <a:ln/>
        </p:spPr>
      </p:sp>
      <p:sp>
        <p:nvSpPr>
          <p:cNvPr id="5" name="Text 3"/>
          <p:cNvSpPr/>
          <p:nvPr/>
        </p:nvSpPr>
        <p:spPr>
          <a:xfrm>
            <a:off x="10607040" y="502920"/>
            <a:ext cx="822960" cy="822960"/>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1</a:t>
            </a:r>
            <a:endParaRPr lang="en-US" sz="2600" dirty="0"/>
          </a:p>
        </p:txBody>
      </p:sp>
      <p:sp>
        <p:nvSpPr>
          <p:cNvPr id="6" name="Text 4"/>
          <p:cNvSpPr/>
          <p:nvPr/>
        </p:nvSpPr>
        <p:spPr>
          <a:xfrm>
            <a:off x="548640" y="1691640"/>
            <a:ext cx="10241280" cy="4498848"/>
          </a:xfrm>
          <a:prstGeom prst="rect">
            <a:avLst/>
          </a:prstGeom>
          <a:noFill/>
          <a:ln/>
        </p:spPr>
        <p:txBody>
          <a:bodyPr wrap="square" lIns="0" tIns="0" rIns="0" bIns="0" rtlCol="0" anchor="t"/>
          <a:lstStyle/>
          <a:p>
            <a:pPr marL="228600" indent="-228600">
              <a:spcAft>
                <a:spcPts val="1200"/>
              </a:spcAft>
              <a:buSzPct val="100000"/>
              <a:buChar char="▪"/>
            </a:pPr>
            <a:r>
              <a:rPr lang="en-US" sz="1700" b="1" dirty="0">
                <a:solidFill>
                  <a:srgbClr val="232323"/>
                </a:solidFill>
                <a:latin typeface="Calibri" pitchFamily="34" charset="0"/>
                <a:ea typeface="Calibri" pitchFamily="34" charset="-122"/>
                <a:cs typeface="Calibri" pitchFamily="34" charset="-120"/>
              </a:rPr>
              <a:t>Given: instruction word = LDA, I = 0, address field = 450. Memory M[450] currently holds 27.</a:t>
            </a:r>
            <a:endParaRPr lang="en-US" sz="1700" dirty="0"/>
          </a:p>
          <a:p>
            <a:pPr lvl="1" marL="457200" indent="-228600">
              <a:spcAft>
                <a:spcPts val="1200"/>
              </a:spcAft>
              <a:buSzPct val="100000"/>
              <a:buChar char="▪"/>
            </a:pPr>
            <a:r>
              <a:rPr lang="en-US" sz="1500" dirty="0">
                <a:solidFill>
                  <a:srgbClr val="232323"/>
                </a:solidFill>
                <a:latin typeface="Calibri" pitchFamily="34" charset="0"/>
                <a:ea typeface="Calibri" pitchFamily="34" charset="-122"/>
                <a:cs typeface="Calibri" pitchFamily="34" charset="-120"/>
              </a:rPr>
              <a:t>Step 1 — Fetch: IR ← M[PC]; the instruction 'LDA 450' is loaded into IR, PC increments.</a:t>
            </a:r>
            <a:endParaRPr lang="en-US" sz="1700" dirty="0"/>
          </a:p>
          <a:p>
            <a:pPr lvl="1" marL="457200" indent="-228600">
              <a:spcAft>
                <a:spcPts val="1200"/>
              </a:spcAft>
              <a:buSzPct val="100000"/>
              <a:buChar char="▪"/>
            </a:pPr>
            <a:r>
              <a:rPr lang="en-US" sz="1500" dirty="0">
                <a:solidFill>
                  <a:srgbClr val="232323"/>
                </a:solidFill>
                <a:latin typeface="Calibri" pitchFamily="34" charset="0"/>
                <a:ea typeface="Calibri" pitchFamily="34" charset="-122"/>
                <a:cs typeface="Calibri" pitchFamily="34" charset="-120"/>
              </a:rPr>
              <a:t>Step 2 — Decode: CPU decodes opcode 010 → this is LDA; I = 0 → direct addressing.</a:t>
            </a:r>
            <a:endParaRPr lang="en-US" sz="1700" dirty="0"/>
          </a:p>
          <a:p>
            <a:pPr lvl="1" marL="457200" indent="-228600">
              <a:spcAft>
                <a:spcPts val="1200"/>
              </a:spcAft>
              <a:buSzPct val="100000"/>
              <a:buChar char="▪"/>
            </a:pPr>
            <a:r>
              <a:rPr lang="en-US" sz="1500" dirty="0">
                <a:solidFill>
                  <a:srgbClr val="232323"/>
                </a:solidFill>
                <a:latin typeface="Calibri" pitchFamily="34" charset="0"/>
                <a:ea typeface="Calibri" pitchFamily="34" charset="-122"/>
                <a:cs typeface="Calibri" pitchFamily="34" charset="-120"/>
              </a:rPr>
              <a:t>Step 3 — Compute EA: since I = 0, EA = address field directly, so EA = 450.</a:t>
            </a:r>
            <a:endParaRPr lang="en-US" sz="1700" dirty="0"/>
          </a:p>
          <a:p>
            <a:pPr lvl="1" marL="457200" indent="-228600">
              <a:spcAft>
                <a:spcPts val="1200"/>
              </a:spcAft>
              <a:buSzPct val="100000"/>
              <a:buChar char="▪"/>
            </a:pPr>
            <a:r>
              <a:rPr lang="en-US" sz="1500" dirty="0">
                <a:solidFill>
                  <a:srgbClr val="232323"/>
                </a:solidFill>
                <a:latin typeface="Calibri" pitchFamily="34" charset="0"/>
                <a:ea typeface="Calibri" pitchFamily="34" charset="-122"/>
                <a:cs typeface="Calibri" pitchFamily="34" charset="-120"/>
              </a:rPr>
              <a:t>Step 4 — Fetch operand: DR ← M[EA] = M[450] = 27.</a:t>
            </a:r>
            <a:endParaRPr lang="en-US" sz="1700" dirty="0"/>
          </a:p>
          <a:p>
            <a:pPr lvl="1" marL="457200" indent="-228600">
              <a:spcAft>
                <a:spcPts val="1200"/>
              </a:spcAft>
              <a:buSzPct val="100000"/>
              <a:buChar char="▪"/>
            </a:pPr>
            <a:r>
              <a:rPr lang="en-US" sz="1500" dirty="0">
                <a:solidFill>
                  <a:srgbClr val="232323"/>
                </a:solidFill>
                <a:latin typeface="Calibri" pitchFamily="34" charset="0"/>
                <a:ea typeface="Calibri" pitchFamily="34" charset="-122"/>
                <a:cs typeface="Calibri" pitchFamily="34" charset="-120"/>
              </a:rPr>
              <a:t>Step 5 — Execute: AC ← DR, so AC = 27.</a:t>
            </a:r>
            <a:endParaRPr lang="en-US" sz="1700" dirty="0"/>
          </a:p>
          <a:p>
            <a:pPr marL="228600" indent="-228600">
              <a:spcAft>
                <a:spcPts val="1200"/>
              </a:spcAft>
              <a:buSzPct val="100000"/>
              <a:buChar char="▪"/>
            </a:pPr>
            <a:r>
              <a:rPr lang="en-US" sz="1700" b="1" dirty="0">
                <a:solidFill>
                  <a:srgbClr val="232323"/>
                </a:solidFill>
                <a:latin typeface="Calibri" pitchFamily="34" charset="0"/>
                <a:ea typeface="Calibri" pitchFamily="34" charset="-122"/>
                <a:cs typeface="Calibri" pitchFamily="34" charset="-120"/>
              </a:rPr>
              <a:t>Result: AC now holds 27. Memory at 450 is unchanged (LDA never writes to memory).</a:t>
            </a:r>
            <a:endParaRPr lang="en-US" sz="1700" dirty="0"/>
          </a:p>
        </p:txBody>
      </p:sp>
      <p:sp>
        <p:nvSpPr>
          <p:cNvPr id="7" name="Text 5"/>
          <p:cNvSpPr/>
          <p:nvPr/>
        </p:nvSpPr>
        <p:spPr>
          <a:xfrm>
            <a:off x="457200" y="6510528"/>
            <a:ext cx="8686800" cy="274320"/>
          </a:xfrm>
          <a:prstGeom prst="rect">
            <a:avLst/>
          </a:prstGeom>
          <a:noFill/>
          <a:ln/>
        </p:spPr>
        <p:txBody>
          <a:bodyPr wrap="square" lIns="0" tIns="0" rIns="0" bIns="0" rtlCol="0" anchor="ctr"/>
          <a:lstStyle/>
          <a:p>
            <a:pPr algn="l" indent="0" marL="0">
              <a:buNone/>
            </a:pPr>
            <a:r>
              <a:rPr lang="en-US" sz="900" dirty="0">
                <a:solidFill>
                  <a:srgbClr val="9AA0AE"/>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
        <p:nvSpPr>
          <p:cNvPr id="8" name="Text 6"/>
          <p:cNvSpPr/>
          <p:nvPr/>
        </p:nvSpPr>
        <p:spPr>
          <a:xfrm>
            <a:off x="11338560" y="6510528"/>
            <a:ext cx="457200" cy="274320"/>
          </a:xfrm>
          <a:prstGeom prst="rect">
            <a:avLst/>
          </a:prstGeom>
          <a:noFill/>
          <a:ln/>
        </p:spPr>
        <p:txBody>
          <a:bodyPr wrap="square" lIns="0" tIns="0" rIns="0" bIns="0" rtlCol="0" anchor="ctr"/>
          <a:lstStyle/>
          <a:p>
            <a:pPr algn="r" indent="0" marL="0">
              <a:buNone/>
            </a:pPr>
            <a:r>
              <a:rPr lang="en-US" sz="900" dirty="0">
                <a:solidFill>
                  <a:srgbClr val="9AA0AE"/>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indent="0" marL="0">
              <a:buNone/>
            </a:pPr>
            <a:r>
              <a:rPr lang="en-US" sz="1300" b="1" spc="200" kern="0" dirty="0">
                <a:solidFill>
                  <a:srgbClr val="F2A541"/>
                </a:solidFill>
                <a:latin typeface="Calibri" pitchFamily="34" charset="0"/>
                <a:ea typeface="Calibri" pitchFamily="34" charset="-122"/>
                <a:cs typeface="Calibri" pitchFamily="34" charset="-120"/>
              </a:rPr>
              <a:t>WORKED EXAMPLE 2  ·  STEP BY STEP</a:t>
            </a:r>
            <a:endParaRPr lang="en-US" sz="1300" dirty="0"/>
          </a:p>
        </p:txBody>
      </p:sp>
      <p:sp>
        <p:nvSpPr>
          <p:cNvPr id="3" name="Text 1"/>
          <p:cNvSpPr/>
          <p:nvPr/>
        </p:nvSpPr>
        <p:spPr>
          <a:xfrm>
            <a:off x="548640" y="685800"/>
            <a:ext cx="8778240" cy="91440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Tracing STA 300 I  (Indirect Addressing)</a:t>
            </a:r>
            <a:endParaRPr lang="en-US" sz="3200" dirty="0"/>
          </a:p>
        </p:txBody>
      </p:sp>
      <p:sp>
        <p:nvSpPr>
          <p:cNvPr id="4" name="Shape 2"/>
          <p:cNvSpPr/>
          <p:nvPr/>
        </p:nvSpPr>
        <p:spPr>
          <a:xfrm>
            <a:off x="10607040" y="502920"/>
            <a:ext cx="822960" cy="822960"/>
          </a:xfrm>
          <a:prstGeom prst="ellipse">
            <a:avLst/>
          </a:prstGeom>
          <a:solidFill>
            <a:srgbClr val="1E2761"/>
          </a:solidFill>
          <a:ln/>
        </p:spPr>
      </p:sp>
      <p:sp>
        <p:nvSpPr>
          <p:cNvPr id="5" name="Text 3"/>
          <p:cNvSpPr/>
          <p:nvPr/>
        </p:nvSpPr>
        <p:spPr>
          <a:xfrm>
            <a:off x="10607040" y="502920"/>
            <a:ext cx="822960" cy="822960"/>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2</a:t>
            </a:r>
            <a:endParaRPr lang="en-US" sz="2600" dirty="0"/>
          </a:p>
        </p:txBody>
      </p:sp>
      <p:sp>
        <p:nvSpPr>
          <p:cNvPr id="6" name="Text 4"/>
          <p:cNvSpPr/>
          <p:nvPr/>
        </p:nvSpPr>
        <p:spPr>
          <a:xfrm>
            <a:off x="548640" y="1691640"/>
            <a:ext cx="10241280" cy="4498848"/>
          </a:xfrm>
          <a:prstGeom prst="rect">
            <a:avLst/>
          </a:prstGeom>
          <a:noFill/>
          <a:ln/>
        </p:spPr>
        <p:txBody>
          <a:bodyPr wrap="square" lIns="0" tIns="0" rIns="0" bIns="0" rtlCol="0" anchor="t"/>
          <a:lstStyle/>
          <a:p>
            <a:pPr marL="228600" indent="-228600">
              <a:spcAft>
                <a:spcPts val="1200"/>
              </a:spcAft>
              <a:buSzPct val="100000"/>
              <a:buChar char="▪"/>
            </a:pPr>
            <a:r>
              <a:rPr lang="en-US" sz="1700" b="1" dirty="0">
                <a:solidFill>
                  <a:srgbClr val="232323"/>
                </a:solidFill>
                <a:latin typeface="Calibri" pitchFamily="34" charset="0"/>
                <a:ea typeface="Calibri" pitchFamily="34" charset="-122"/>
                <a:cs typeface="Calibri" pitchFamily="34" charset="-120"/>
              </a:rPr>
              <a:t>Given: instruction word = STA, I = 1, address field = 300. M[300] = 850. AC currently holds 63.</a:t>
            </a:r>
            <a:endParaRPr lang="en-US" sz="1700" dirty="0"/>
          </a:p>
          <a:p>
            <a:pPr lvl="1" marL="457200" indent="-228600">
              <a:spcAft>
                <a:spcPts val="1200"/>
              </a:spcAft>
              <a:buSzPct val="100000"/>
              <a:buChar char="▪"/>
            </a:pPr>
            <a:r>
              <a:rPr lang="en-US" sz="1500" dirty="0">
                <a:solidFill>
                  <a:srgbClr val="232323"/>
                </a:solidFill>
                <a:latin typeface="Calibri" pitchFamily="34" charset="0"/>
                <a:ea typeface="Calibri" pitchFamily="34" charset="-122"/>
                <a:cs typeface="Calibri" pitchFamily="34" charset="-120"/>
              </a:rPr>
              <a:t>Step 1 — Fetch: IR ← M[PC]; 'STA 300 I' loaded into IR, PC increments.</a:t>
            </a:r>
            <a:endParaRPr lang="en-US" sz="1700" dirty="0"/>
          </a:p>
          <a:p>
            <a:pPr lvl="1" marL="457200" indent="-228600">
              <a:spcAft>
                <a:spcPts val="1200"/>
              </a:spcAft>
              <a:buSzPct val="100000"/>
              <a:buChar char="▪"/>
            </a:pPr>
            <a:r>
              <a:rPr lang="en-US" sz="1500" dirty="0">
                <a:solidFill>
                  <a:srgbClr val="232323"/>
                </a:solidFill>
                <a:latin typeface="Calibri" pitchFamily="34" charset="0"/>
                <a:ea typeface="Calibri" pitchFamily="34" charset="-122"/>
                <a:cs typeface="Calibri" pitchFamily="34" charset="-120"/>
              </a:rPr>
              <a:t>Step 2 — Decode: opcode 011 → this is STA; I = 1 → indirect addressing needed.</a:t>
            </a:r>
            <a:endParaRPr lang="en-US" sz="1700" dirty="0"/>
          </a:p>
          <a:p>
            <a:pPr lvl="1" marL="457200" indent="-228600">
              <a:spcAft>
                <a:spcPts val="1200"/>
              </a:spcAft>
              <a:buSzPct val="100000"/>
              <a:buChar char="▪"/>
            </a:pPr>
            <a:r>
              <a:rPr lang="en-US" sz="1500" dirty="0">
                <a:solidFill>
                  <a:srgbClr val="232323"/>
                </a:solidFill>
                <a:latin typeface="Calibri" pitchFamily="34" charset="0"/>
                <a:ea typeface="Calibri" pitchFamily="34" charset="-122"/>
                <a:cs typeface="Calibri" pitchFamily="34" charset="-120"/>
              </a:rPr>
              <a:t>Step 3 — Compute EA (indirect): first AR ← 300 (address field); then AR ← M[AR] = M[300] = 850. So EA = 850.</a:t>
            </a:r>
            <a:endParaRPr lang="en-US" sz="1700" dirty="0"/>
          </a:p>
          <a:p>
            <a:pPr lvl="1" marL="457200" indent="-228600">
              <a:spcAft>
                <a:spcPts val="1200"/>
              </a:spcAft>
              <a:buSzPct val="100000"/>
              <a:buChar char="▪"/>
            </a:pPr>
            <a:r>
              <a:rPr lang="en-US" sz="1500" dirty="0">
                <a:solidFill>
                  <a:srgbClr val="232323"/>
                </a:solidFill>
                <a:latin typeface="Calibri" pitchFamily="34" charset="0"/>
                <a:ea typeface="Calibri" pitchFamily="34" charset="-122"/>
                <a:cs typeface="Calibri" pitchFamily="34" charset="-120"/>
              </a:rPr>
              <a:t>Step 4 — Execute: M[EA] ← AC, so M[850] ← 63.</a:t>
            </a:r>
            <a:endParaRPr lang="en-US" sz="1700" dirty="0"/>
          </a:p>
          <a:p>
            <a:pPr marL="228600" indent="-228600">
              <a:spcAft>
                <a:spcPts val="1200"/>
              </a:spcAft>
              <a:buSzPct val="100000"/>
              <a:buChar char="▪"/>
            </a:pPr>
            <a:r>
              <a:rPr lang="en-US" sz="1700" b="1" dirty="0">
                <a:solidFill>
                  <a:srgbClr val="232323"/>
                </a:solidFill>
                <a:latin typeface="Calibri" pitchFamily="34" charset="0"/>
                <a:ea typeface="Calibri" pitchFamily="34" charset="-122"/>
                <a:cs typeface="Calibri" pitchFamily="34" charset="-120"/>
              </a:rPr>
              <a:t>Result: memory location 850 now holds 63, overwriting whatever was there before.</a:t>
            </a:r>
            <a:endParaRPr lang="en-US" sz="1700" dirty="0"/>
          </a:p>
        </p:txBody>
      </p:sp>
      <p:sp>
        <p:nvSpPr>
          <p:cNvPr id="7" name="Text 5"/>
          <p:cNvSpPr/>
          <p:nvPr/>
        </p:nvSpPr>
        <p:spPr>
          <a:xfrm>
            <a:off x="457200" y="6510528"/>
            <a:ext cx="8686800" cy="274320"/>
          </a:xfrm>
          <a:prstGeom prst="rect">
            <a:avLst/>
          </a:prstGeom>
          <a:noFill/>
          <a:ln/>
        </p:spPr>
        <p:txBody>
          <a:bodyPr wrap="square" lIns="0" tIns="0" rIns="0" bIns="0" rtlCol="0" anchor="ctr"/>
          <a:lstStyle/>
          <a:p>
            <a:pPr algn="l" indent="0" marL="0">
              <a:buNone/>
            </a:pPr>
            <a:r>
              <a:rPr lang="en-US" sz="900" dirty="0">
                <a:solidFill>
                  <a:srgbClr val="9AA0AE"/>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
        <p:nvSpPr>
          <p:cNvPr id="8" name="Text 6"/>
          <p:cNvSpPr/>
          <p:nvPr/>
        </p:nvSpPr>
        <p:spPr>
          <a:xfrm>
            <a:off x="11338560" y="6510528"/>
            <a:ext cx="457200" cy="274320"/>
          </a:xfrm>
          <a:prstGeom prst="rect">
            <a:avLst/>
          </a:prstGeom>
          <a:noFill/>
          <a:ln/>
        </p:spPr>
        <p:txBody>
          <a:bodyPr wrap="square" lIns="0" tIns="0" rIns="0" bIns="0" rtlCol="0" anchor="ctr"/>
          <a:lstStyle/>
          <a:p>
            <a:pPr algn="r" indent="0" marL="0">
              <a:buNone/>
            </a:pPr>
            <a:r>
              <a:rPr lang="en-US" sz="900" dirty="0">
                <a:solidFill>
                  <a:srgbClr val="9AA0AE"/>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indent="0" marL="0">
              <a:buNone/>
            </a:pPr>
            <a:r>
              <a:rPr lang="en-US" sz="1300" b="1" spc="200" kern="0" dirty="0">
                <a:solidFill>
                  <a:srgbClr val="F2A541"/>
                </a:solidFill>
                <a:latin typeface="Calibri" pitchFamily="34" charset="0"/>
                <a:ea typeface="Calibri" pitchFamily="34" charset="-122"/>
                <a:cs typeface="Calibri" pitchFamily="34" charset="-120"/>
              </a:rPr>
              <a:t>WORKED EXAMPLE 3  ·  STEP BY STEP</a:t>
            </a:r>
            <a:endParaRPr lang="en-US" sz="1300" dirty="0"/>
          </a:p>
        </p:txBody>
      </p:sp>
      <p:sp>
        <p:nvSpPr>
          <p:cNvPr id="3" name="Text 1"/>
          <p:cNvSpPr/>
          <p:nvPr/>
        </p:nvSpPr>
        <p:spPr>
          <a:xfrm>
            <a:off x="548640" y="685800"/>
            <a:ext cx="8778240" cy="91440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Tracing ISZ 600  (Loop Counter)</a:t>
            </a:r>
            <a:endParaRPr lang="en-US" sz="3200" dirty="0"/>
          </a:p>
        </p:txBody>
      </p:sp>
      <p:sp>
        <p:nvSpPr>
          <p:cNvPr id="4" name="Shape 2"/>
          <p:cNvSpPr/>
          <p:nvPr/>
        </p:nvSpPr>
        <p:spPr>
          <a:xfrm>
            <a:off x="10607040" y="502920"/>
            <a:ext cx="822960" cy="822960"/>
          </a:xfrm>
          <a:prstGeom prst="ellipse">
            <a:avLst/>
          </a:prstGeom>
          <a:solidFill>
            <a:srgbClr val="1E2761"/>
          </a:solidFill>
          <a:ln/>
        </p:spPr>
      </p:sp>
      <p:sp>
        <p:nvSpPr>
          <p:cNvPr id="5" name="Text 3"/>
          <p:cNvSpPr/>
          <p:nvPr/>
        </p:nvSpPr>
        <p:spPr>
          <a:xfrm>
            <a:off x="10607040" y="502920"/>
            <a:ext cx="822960" cy="822960"/>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3</a:t>
            </a:r>
            <a:endParaRPr lang="en-US" sz="2600" dirty="0"/>
          </a:p>
        </p:txBody>
      </p:sp>
      <p:sp>
        <p:nvSpPr>
          <p:cNvPr id="6" name="Text 4"/>
          <p:cNvSpPr/>
          <p:nvPr/>
        </p:nvSpPr>
        <p:spPr>
          <a:xfrm>
            <a:off x="548640" y="1691640"/>
            <a:ext cx="10241280" cy="4498848"/>
          </a:xfrm>
          <a:prstGeom prst="rect">
            <a:avLst/>
          </a:prstGeom>
          <a:noFill/>
          <a:ln/>
        </p:spPr>
        <p:txBody>
          <a:bodyPr wrap="square" lIns="0" tIns="0" rIns="0" bIns="0" rtlCol="0" anchor="t"/>
          <a:lstStyle/>
          <a:p>
            <a:pPr marL="228600" indent="-228600">
              <a:spcAft>
                <a:spcPts val="1200"/>
              </a:spcAft>
              <a:buSzPct val="100000"/>
              <a:buChar char="▪"/>
            </a:pPr>
            <a:r>
              <a:rPr lang="en-US" sz="1700" b="1" dirty="0">
                <a:solidFill>
                  <a:srgbClr val="232323"/>
                </a:solidFill>
                <a:latin typeface="Calibri" pitchFamily="34" charset="0"/>
                <a:ea typeface="Calibri" pitchFamily="34" charset="-122"/>
                <a:cs typeface="Calibri" pitchFamily="34" charset="-120"/>
              </a:rPr>
              <a:t>Given: I = 0, address field = 600. Memory M[600] currently holds –1 (i.e. all 1's in two's complement).</a:t>
            </a:r>
            <a:endParaRPr lang="en-US" sz="1700" dirty="0"/>
          </a:p>
          <a:p>
            <a:pPr lvl="1" marL="457200" indent="-228600">
              <a:spcAft>
                <a:spcPts val="1200"/>
              </a:spcAft>
              <a:buSzPct val="100000"/>
              <a:buChar char="▪"/>
            </a:pPr>
            <a:r>
              <a:rPr lang="en-US" sz="1500" dirty="0">
                <a:solidFill>
                  <a:srgbClr val="232323"/>
                </a:solidFill>
                <a:latin typeface="Calibri" pitchFamily="34" charset="0"/>
                <a:ea typeface="Calibri" pitchFamily="34" charset="-122"/>
                <a:cs typeface="Calibri" pitchFamily="34" charset="-120"/>
              </a:rPr>
              <a:t>Step 1–2 — Fetch &amp; Decode: opcode 110 → ISZ; I = 0 → EA = 600 directly.</a:t>
            </a:r>
            <a:endParaRPr lang="en-US" sz="1700" dirty="0"/>
          </a:p>
          <a:p>
            <a:pPr lvl="1" marL="457200" indent="-228600">
              <a:spcAft>
                <a:spcPts val="1200"/>
              </a:spcAft>
              <a:buSzPct val="100000"/>
              <a:buChar char="▪"/>
            </a:pPr>
            <a:r>
              <a:rPr lang="en-US" sz="1500" dirty="0">
                <a:solidFill>
                  <a:srgbClr val="232323"/>
                </a:solidFill>
                <a:latin typeface="Calibri" pitchFamily="34" charset="0"/>
                <a:ea typeface="Calibri" pitchFamily="34" charset="-122"/>
                <a:cs typeface="Calibri" pitchFamily="34" charset="-120"/>
              </a:rPr>
              <a:t>Step 3 — Read &amp; increment: DR ← M[600] = –1; DR ← DR + 1 = 0.</a:t>
            </a:r>
            <a:endParaRPr lang="en-US" sz="1700" dirty="0"/>
          </a:p>
          <a:p>
            <a:pPr lvl="1" marL="457200" indent="-228600">
              <a:spcAft>
                <a:spcPts val="1200"/>
              </a:spcAft>
              <a:buSzPct val="100000"/>
              <a:buChar char="▪"/>
            </a:pPr>
            <a:r>
              <a:rPr lang="en-US" sz="1500" dirty="0">
                <a:solidFill>
                  <a:srgbClr val="232323"/>
                </a:solidFill>
                <a:latin typeface="Calibri" pitchFamily="34" charset="0"/>
                <a:ea typeface="Calibri" pitchFamily="34" charset="-122"/>
                <a:cs typeface="Calibri" pitchFamily="34" charset="-120"/>
              </a:rPr>
              <a:t>Step 4 — Write back: M[600] ← DR, so M[600] now holds 0.</a:t>
            </a:r>
            <a:endParaRPr lang="en-US" sz="1700" dirty="0"/>
          </a:p>
          <a:p>
            <a:pPr lvl="1" marL="457200" indent="-228600">
              <a:spcAft>
                <a:spcPts val="1200"/>
              </a:spcAft>
              <a:buSzPct val="100000"/>
              <a:buChar char="▪"/>
            </a:pPr>
            <a:r>
              <a:rPr lang="en-US" sz="1500" dirty="0">
                <a:solidFill>
                  <a:srgbClr val="232323"/>
                </a:solidFill>
                <a:latin typeface="Calibri" pitchFamily="34" charset="0"/>
                <a:ea typeface="Calibri" pitchFamily="34" charset="-122"/>
                <a:cs typeface="Calibri" pitchFamily="34" charset="-120"/>
              </a:rPr>
              <a:t>Step 5 — Test: since the incremented value is exactly 0, the CPU sets PC ← PC + 1, SKIPPING the next instruction.</a:t>
            </a:r>
            <a:endParaRPr lang="en-US" sz="1700" dirty="0"/>
          </a:p>
          <a:p>
            <a:pPr marL="228600" indent="-228600">
              <a:spcAft>
                <a:spcPts val="1200"/>
              </a:spcAft>
              <a:buSzPct val="100000"/>
              <a:buChar char="▪"/>
            </a:pPr>
            <a:r>
              <a:rPr lang="en-US" sz="1700" b="1" dirty="0">
                <a:solidFill>
                  <a:srgbClr val="232323"/>
                </a:solidFill>
                <a:latin typeface="Calibri" pitchFamily="34" charset="0"/>
                <a:ea typeface="Calibri" pitchFamily="34" charset="-122"/>
                <a:cs typeface="Calibri" pitchFamily="34" charset="-120"/>
              </a:rPr>
              <a:t>Typical use: the skipped instruction is usually a BUN back to the top of a loop — skipping it means the loop finally exits.</a:t>
            </a:r>
            <a:endParaRPr lang="en-US" sz="1700" dirty="0"/>
          </a:p>
        </p:txBody>
      </p:sp>
      <p:sp>
        <p:nvSpPr>
          <p:cNvPr id="7" name="Text 5"/>
          <p:cNvSpPr/>
          <p:nvPr/>
        </p:nvSpPr>
        <p:spPr>
          <a:xfrm>
            <a:off x="457200" y="6510528"/>
            <a:ext cx="8686800" cy="274320"/>
          </a:xfrm>
          <a:prstGeom prst="rect">
            <a:avLst/>
          </a:prstGeom>
          <a:noFill/>
          <a:ln/>
        </p:spPr>
        <p:txBody>
          <a:bodyPr wrap="square" lIns="0" tIns="0" rIns="0" bIns="0" rtlCol="0" anchor="ctr"/>
          <a:lstStyle/>
          <a:p>
            <a:pPr algn="l" indent="0" marL="0">
              <a:buNone/>
            </a:pPr>
            <a:r>
              <a:rPr lang="en-US" sz="900" dirty="0">
                <a:solidFill>
                  <a:srgbClr val="9AA0AE"/>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
        <p:nvSpPr>
          <p:cNvPr id="8" name="Text 6"/>
          <p:cNvSpPr/>
          <p:nvPr/>
        </p:nvSpPr>
        <p:spPr>
          <a:xfrm>
            <a:off x="11338560" y="6510528"/>
            <a:ext cx="457200" cy="274320"/>
          </a:xfrm>
          <a:prstGeom prst="rect">
            <a:avLst/>
          </a:prstGeom>
          <a:noFill/>
          <a:ln/>
        </p:spPr>
        <p:txBody>
          <a:bodyPr wrap="square" lIns="0" tIns="0" rIns="0" bIns="0" rtlCol="0" anchor="ctr"/>
          <a:lstStyle/>
          <a:p>
            <a:pPr algn="r" indent="0" marL="0">
              <a:buNone/>
            </a:pPr>
            <a:r>
              <a:rPr lang="en-US" sz="900" dirty="0">
                <a:solidFill>
                  <a:srgbClr val="9AA0AE"/>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indent="0" marL="0">
              <a:buNone/>
            </a:pPr>
            <a:r>
              <a:rPr lang="en-US" sz="1300" b="1" spc="200" kern="0" dirty="0">
                <a:solidFill>
                  <a:srgbClr val="F2A541"/>
                </a:solidFill>
                <a:latin typeface="Calibri" pitchFamily="34" charset="0"/>
                <a:ea typeface="Calibri" pitchFamily="34" charset="-122"/>
                <a:cs typeface="Calibri" pitchFamily="34" charset="-120"/>
              </a:rPr>
              <a:t>WATCH OUT</a:t>
            </a:r>
            <a:endParaRPr lang="en-US" sz="1300" dirty="0"/>
          </a:p>
        </p:txBody>
      </p:sp>
      <p:sp>
        <p:nvSpPr>
          <p:cNvPr id="3" name="Text 1"/>
          <p:cNvSpPr/>
          <p:nvPr/>
        </p:nvSpPr>
        <p:spPr>
          <a:xfrm>
            <a:off x="548640" y="685800"/>
            <a:ext cx="8778240" cy="91440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Common Misconceptions &amp; Pitfalls</a:t>
            </a:r>
            <a:endParaRPr lang="en-US" sz="3200" dirty="0"/>
          </a:p>
        </p:txBody>
      </p:sp>
      <p:sp>
        <p:nvSpPr>
          <p:cNvPr id="4" name="Shape 2"/>
          <p:cNvSpPr/>
          <p:nvPr/>
        </p:nvSpPr>
        <p:spPr>
          <a:xfrm>
            <a:off x="10607040" y="502920"/>
            <a:ext cx="822960" cy="822960"/>
          </a:xfrm>
          <a:prstGeom prst="ellipse">
            <a:avLst/>
          </a:prstGeom>
          <a:solidFill>
            <a:srgbClr val="1E2761"/>
          </a:solidFill>
          <a:ln/>
        </p:spPr>
      </p:sp>
      <p:sp>
        <p:nvSpPr>
          <p:cNvPr id="5" name="Text 3"/>
          <p:cNvSpPr/>
          <p:nvPr/>
        </p:nvSpPr>
        <p:spPr>
          <a:xfrm>
            <a:off x="10607040" y="502920"/>
            <a:ext cx="822960" cy="822960"/>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a:t>
            </a:r>
            <a:endParaRPr lang="en-US" sz="2600" dirty="0"/>
          </a:p>
        </p:txBody>
      </p:sp>
      <p:sp>
        <p:nvSpPr>
          <p:cNvPr id="6" name="Text 4"/>
          <p:cNvSpPr/>
          <p:nvPr/>
        </p:nvSpPr>
        <p:spPr>
          <a:xfrm>
            <a:off x="548640" y="1691640"/>
            <a:ext cx="10241280" cy="4498848"/>
          </a:xfrm>
          <a:prstGeom prst="rect">
            <a:avLst/>
          </a:prstGeom>
          <a:noFill/>
          <a:ln/>
        </p:spPr>
        <p:txBody>
          <a:bodyPr wrap="square" lIns="0" tIns="0" rIns="0" bIns="0" rtlCol="0" anchor="t"/>
          <a:lstStyle/>
          <a:p>
            <a:pPr marL="228600" indent="-228600">
              <a:spcAft>
                <a:spcPts val="1200"/>
              </a:spcAft>
              <a:buSzPct val="100000"/>
              <a:buChar char="▪"/>
            </a:pPr>
            <a:r>
              <a:rPr lang="en-US" sz="1700" b="1" dirty="0">
                <a:solidFill>
                  <a:srgbClr val="232323"/>
                </a:solidFill>
                <a:latin typeface="Calibri" pitchFamily="34" charset="0"/>
                <a:ea typeface="Calibri" pitchFamily="34" charset="-122"/>
                <a:cs typeface="Calibri" pitchFamily="34" charset="-120"/>
              </a:rPr>
              <a:t>Misconception: 'Indirect addressing means I=1 changes the opcode.'</a:t>
            </a:r>
            <a:endParaRPr lang="en-US" sz="1700" dirty="0"/>
          </a:p>
          <a:p>
            <a:pPr marL="228600" indent="-228600">
              <a:spcAft>
                <a:spcPts val="1200"/>
              </a:spcAft>
              <a:buSzPct val="100000"/>
              <a:buChar char="▪"/>
            </a:pPr>
            <a:r>
              <a:rPr lang="en-US" sz="1700" dirty="0">
                <a:solidFill>
                  <a:srgbClr val="232323"/>
                </a:solidFill>
                <a:latin typeface="Calibri" pitchFamily="34" charset="0"/>
                <a:ea typeface="Calibri" pitchFamily="34" charset="-122"/>
                <a:cs typeface="Calibri" pitchFamily="34" charset="-120"/>
              </a:rPr>
              <a:t>Reality: the I bit ONLY affects how EA is computed — the opcode meaning never changes.</a:t>
            </a:r>
            <a:endParaRPr lang="en-US" sz="1700" dirty="0"/>
          </a:p>
          <a:p>
            <a:pPr marL="228600" indent="-228600">
              <a:spcAft>
                <a:spcPts val="1200"/>
              </a:spcAft>
              <a:buSzPct val="100000"/>
              <a:buChar char="▪"/>
            </a:pPr>
            <a:r>
              <a:rPr lang="en-US" sz="1700" b="1" dirty="0">
                <a:solidFill>
                  <a:srgbClr val="232323"/>
                </a:solidFill>
                <a:latin typeface="Calibri" pitchFamily="34" charset="0"/>
                <a:ea typeface="Calibri" pitchFamily="34" charset="-122"/>
                <a:cs typeface="Calibri" pitchFamily="34" charset="-120"/>
              </a:rPr>
              <a:t>Misconception: 'EA is always just the address field.'</a:t>
            </a:r>
            <a:endParaRPr lang="en-US" sz="1700" dirty="0"/>
          </a:p>
          <a:p>
            <a:pPr marL="228600" indent="-228600">
              <a:spcAft>
                <a:spcPts val="1200"/>
              </a:spcAft>
              <a:buSzPct val="100000"/>
              <a:buChar char="▪"/>
            </a:pPr>
            <a:r>
              <a:rPr lang="en-US" sz="1700" dirty="0">
                <a:solidFill>
                  <a:srgbClr val="232323"/>
                </a:solidFill>
                <a:latin typeface="Calibri" pitchFamily="34" charset="0"/>
                <a:ea typeface="Calibri" pitchFamily="34" charset="-122"/>
                <a:cs typeface="Calibri" pitchFamily="34" charset="-120"/>
              </a:rPr>
              <a:t>Reality: that's only true for direct addressing. For indirect, EA = M[address field].</a:t>
            </a:r>
            <a:endParaRPr lang="en-US" sz="1700" dirty="0"/>
          </a:p>
          <a:p>
            <a:pPr marL="228600" indent="-228600">
              <a:spcAft>
                <a:spcPts val="1200"/>
              </a:spcAft>
              <a:buSzPct val="100000"/>
              <a:buChar char="▪"/>
            </a:pPr>
            <a:r>
              <a:rPr lang="en-US" sz="1700" b="1" dirty="0">
                <a:solidFill>
                  <a:srgbClr val="232323"/>
                </a:solidFill>
                <a:latin typeface="Calibri" pitchFamily="34" charset="0"/>
                <a:ea typeface="Calibri" pitchFamily="34" charset="-122"/>
                <a:cs typeface="Calibri" pitchFamily="34" charset="-120"/>
              </a:rPr>
              <a:t>Misconception: 'BSA jumps to EA, same as BUN.'</a:t>
            </a:r>
            <a:endParaRPr lang="en-US" sz="1700" dirty="0"/>
          </a:p>
          <a:p>
            <a:pPr marL="228600" indent="-228600">
              <a:spcAft>
                <a:spcPts val="1200"/>
              </a:spcAft>
              <a:buSzPct val="100000"/>
              <a:buChar char="▪"/>
            </a:pPr>
            <a:r>
              <a:rPr lang="en-US" sz="1700" dirty="0">
                <a:solidFill>
                  <a:srgbClr val="232323"/>
                </a:solidFill>
                <a:latin typeface="Calibri" pitchFamily="34" charset="0"/>
                <a:ea typeface="Calibri" pitchFamily="34" charset="-122"/>
                <a:cs typeface="Calibri" pitchFamily="34" charset="-120"/>
              </a:rPr>
              <a:t>Reality: BSA jumps to EA + 1, because EA itself is used to store the return address.</a:t>
            </a:r>
            <a:endParaRPr lang="en-US" sz="1700" dirty="0"/>
          </a:p>
          <a:p>
            <a:pPr marL="228600" indent="-228600">
              <a:spcAft>
                <a:spcPts val="1200"/>
              </a:spcAft>
              <a:buSzPct val="100000"/>
              <a:buChar char="▪"/>
            </a:pPr>
            <a:r>
              <a:rPr lang="en-US" sz="1700" b="1" dirty="0">
                <a:solidFill>
                  <a:srgbClr val="232323"/>
                </a:solidFill>
                <a:latin typeface="Calibri" pitchFamily="34" charset="0"/>
                <a:ea typeface="Calibri" pitchFamily="34" charset="-122"/>
                <a:cs typeface="Calibri" pitchFamily="34" charset="-120"/>
              </a:rPr>
              <a:t>Misconception: 'ISZ skips the CURRENT instruction.'</a:t>
            </a:r>
            <a:endParaRPr lang="en-US" sz="1700" dirty="0"/>
          </a:p>
          <a:p>
            <a:pPr marL="228600" indent="-228600">
              <a:spcAft>
                <a:spcPts val="1200"/>
              </a:spcAft>
              <a:buSzPct val="100000"/>
              <a:buChar char="▪"/>
            </a:pPr>
            <a:r>
              <a:rPr lang="en-US" sz="1700" dirty="0">
                <a:solidFill>
                  <a:srgbClr val="232323"/>
                </a:solidFill>
                <a:latin typeface="Calibri" pitchFamily="34" charset="0"/>
                <a:ea typeface="Calibri" pitchFamily="34" charset="-122"/>
                <a:cs typeface="Calibri" pitchFamily="34" charset="-120"/>
              </a:rPr>
              <a:t>Reality: ISZ skips the NEXT instruction, and only if the incremented value becomes zero.</a:t>
            </a:r>
            <a:endParaRPr lang="en-US" sz="1700" dirty="0"/>
          </a:p>
        </p:txBody>
      </p:sp>
      <p:sp>
        <p:nvSpPr>
          <p:cNvPr id="7" name="Text 5"/>
          <p:cNvSpPr/>
          <p:nvPr/>
        </p:nvSpPr>
        <p:spPr>
          <a:xfrm>
            <a:off x="457200" y="6510528"/>
            <a:ext cx="8686800" cy="274320"/>
          </a:xfrm>
          <a:prstGeom prst="rect">
            <a:avLst/>
          </a:prstGeom>
          <a:noFill/>
          <a:ln/>
        </p:spPr>
        <p:txBody>
          <a:bodyPr wrap="square" lIns="0" tIns="0" rIns="0" bIns="0" rtlCol="0" anchor="ctr"/>
          <a:lstStyle/>
          <a:p>
            <a:pPr algn="l" indent="0" marL="0">
              <a:buNone/>
            </a:pPr>
            <a:r>
              <a:rPr lang="en-US" sz="900" dirty="0">
                <a:solidFill>
                  <a:srgbClr val="9AA0AE"/>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
        <p:nvSpPr>
          <p:cNvPr id="8" name="Text 6"/>
          <p:cNvSpPr/>
          <p:nvPr/>
        </p:nvSpPr>
        <p:spPr>
          <a:xfrm>
            <a:off x="11338560" y="6510528"/>
            <a:ext cx="457200" cy="274320"/>
          </a:xfrm>
          <a:prstGeom prst="rect">
            <a:avLst/>
          </a:prstGeom>
          <a:noFill/>
          <a:ln/>
        </p:spPr>
        <p:txBody>
          <a:bodyPr wrap="square" lIns="0" tIns="0" rIns="0" bIns="0" rtlCol="0" anchor="ctr"/>
          <a:lstStyle/>
          <a:p>
            <a:pPr algn="r" indent="0" marL="0">
              <a:buNone/>
            </a:pPr>
            <a:r>
              <a:rPr lang="en-US" sz="900" dirty="0">
                <a:solidFill>
                  <a:srgbClr val="9AA0AE"/>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indent="0" marL="0">
              <a:buNone/>
            </a:pPr>
            <a:r>
              <a:rPr lang="en-US" sz="1300" b="1" spc="200" kern="0" dirty="0">
                <a:solidFill>
                  <a:srgbClr val="F2A541"/>
                </a:solidFill>
                <a:latin typeface="Calibri" pitchFamily="34" charset="0"/>
                <a:ea typeface="Calibri" pitchFamily="34" charset="-122"/>
                <a:cs typeface="Calibri" pitchFamily="34" charset="-120"/>
              </a:rPr>
              <a:t>QUICK CHECK  ·  2 MINUTES</a:t>
            </a:r>
            <a:endParaRPr lang="en-US" sz="1300" dirty="0"/>
          </a:p>
        </p:txBody>
      </p:sp>
      <p:sp>
        <p:nvSpPr>
          <p:cNvPr id="3" name="Text 1"/>
          <p:cNvSpPr/>
          <p:nvPr/>
        </p:nvSpPr>
        <p:spPr>
          <a:xfrm>
            <a:off x="548640" y="685800"/>
            <a:ext cx="8778240" cy="91440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Mini Activity: Spot the Addressing Mode</a:t>
            </a:r>
            <a:endParaRPr lang="en-US" sz="3200" dirty="0"/>
          </a:p>
        </p:txBody>
      </p:sp>
      <p:sp>
        <p:nvSpPr>
          <p:cNvPr id="4" name="Shape 2"/>
          <p:cNvSpPr/>
          <p:nvPr/>
        </p:nvSpPr>
        <p:spPr>
          <a:xfrm>
            <a:off x="10607040" y="502920"/>
            <a:ext cx="822960" cy="822960"/>
          </a:xfrm>
          <a:prstGeom prst="ellipse">
            <a:avLst/>
          </a:prstGeom>
          <a:solidFill>
            <a:srgbClr val="1E2761"/>
          </a:solidFill>
          <a:ln/>
        </p:spPr>
      </p:sp>
      <p:sp>
        <p:nvSpPr>
          <p:cNvPr id="5" name="Text 3"/>
          <p:cNvSpPr/>
          <p:nvPr/>
        </p:nvSpPr>
        <p:spPr>
          <a:xfrm>
            <a:off x="10607040" y="502920"/>
            <a:ext cx="822960" cy="822960"/>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a:t>
            </a:r>
            <a:endParaRPr lang="en-US" sz="2600" dirty="0"/>
          </a:p>
        </p:txBody>
      </p:sp>
      <p:sp>
        <p:nvSpPr>
          <p:cNvPr id="6" name="Text 4"/>
          <p:cNvSpPr/>
          <p:nvPr/>
        </p:nvSpPr>
        <p:spPr>
          <a:xfrm>
            <a:off x="548640" y="1691640"/>
            <a:ext cx="10241280" cy="4498848"/>
          </a:xfrm>
          <a:prstGeom prst="rect">
            <a:avLst/>
          </a:prstGeom>
          <a:noFill/>
          <a:ln/>
        </p:spPr>
        <p:txBody>
          <a:bodyPr wrap="square" lIns="0" tIns="0" rIns="0" bIns="0" rtlCol="0" anchor="t"/>
          <a:lstStyle/>
          <a:p>
            <a:pPr marL="228600" indent="-228600">
              <a:spcAft>
                <a:spcPts val="1200"/>
              </a:spcAft>
              <a:buSzPct val="100000"/>
              <a:buChar char="▪"/>
            </a:pPr>
            <a:r>
              <a:rPr lang="en-US" sz="1700" dirty="0">
                <a:solidFill>
                  <a:srgbClr val="232323"/>
                </a:solidFill>
                <a:latin typeface="Calibri" pitchFamily="34" charset="0"/>
                <a:ea typeface="Calibri" pitchFamily="34" charset="-122"/>
                <a:cs typeface="Calibri" pitchFamily="34" charset="-120"/>
              </a:rPr>
              <a:t>Look at each instruction below and decide: direct or indirect? Discuss with your neighbour for 60 seconds.</a:t>
            </a:r>
            <a:endParaRPr lang="en-US" sz="1700" dirty="0"/>
          </a:p>
          <a:p>
            <a:pPr lvl="1" marL="457200" indent="-228600">
              <a:spcAft>
                <a:spcPts val="1200"/>
              </a:spcAft>
              <a:buSzPct val="100000"/>
              <a:buChar char="▪"/>
            </a:pPr>
            <a:r>
              <a:rPr lang="en-US" sz="1500" dirty="0">
                <a:solidFill>
                  <a:srgbClr val="232323"/>
                </a:solidFill>
                <a:latin typeface="Calibri" pitchFamily="34" charset="0"/>
                <a:ea typeface="Calibri" pitchFamily="34" charset="-122"/>
                <a:cs typeface="Calibri" pitchFamily="34" charset="-120"/>
              </a:rPr>
              <a:t>(a)  LDA 720</a:t>
            </a:r>
            <a:endParaRPr lang="en-US" sz="1700" dirty="0"/>
          </a:p>
          <a:p>
            <a:pPr lvl="1" marL="457200" indent="-228600">
              <a:spcAft>
                <a:spcPts val="1200"/>
              </a:spcAft>
              <a:buSzPct val="100000"/>
              <a:buChar char="▪"/>
            </a:pPr>
            <a:r>
              <a:rPr lang="en-US" sz="1500" dirty="0">
                <a:solidFill>
                  <a:srgbClr val="232323"/>
                </a:solidFill>
                <a:latin typeface="Calibri" pitchFamily="34" charset="0"/>
                <a:ea typeface="Calibri" pitchFamily="34" charset="-122"/>
                <a:cs typeface="Calibri" pitchFamily="34" charset="-120"/>
              </a:rPr>
              <a:t>(b)  STA 145 I</a:t>
            </a:r>
            <a:endParaRPr lang="en-US" sz="1700" dirty="0"/>
          </a:p>
          <a:p>
            <a:pPr lvl="1" marL="457200" indent="-228600">
              <a:spcAft>
                <a:spcPts val="1200"/>
              </a:spcAft>
              <a:buSzPct val="100000"/>
              <a:buChar char="▪"/>
            </a:pPr>
            <a:r>
              <a:rPr lang="en-US" sz="1500" dirty="0">
                <a:solidFill>
                  <a:srgbClr val="232323"/>
                </a:solidFill>
                <a:latin typeface="Calibri" pitchFamily="34" charset="0"/>
                <a:ea typeface="Calibri" pitchFamily="34" charset="-122"/>
                <a:cs typeface="Calibri" pitchFamily="34" charset="-120"/>
              </a:rPr>
              <a:t>(c)  BUN 900</a:t>
            </a:r>
            <a:endParaRPr lang="en-US" sz="1700" dirty="0"/>
          </a:p>
          <a:p>
            <a:pPr lvl="1" marL="457200" indent="-228600">
              <a:spcAft>
                <a:spcPts val="1200"/>
              </a:spcAft>
              <a:buSzPct val="100000"/>
              <a:buChar char="▪"/>
            </a:pPr>
            <a:r>
              <a:rPr lang="en-US" sz="1500" dirty="0">
                <a:solidFill>
                  <a:srgbClr val="232323"/>
                </a:solidFill>
                <a:latin typeface="Calibri" pitchFamily="34" charset="0"/>
                <a:ea typeface="Calibri" pitchFamily="34" charset="-122"/>
                <a:cs typeface="Calibri" pitchFamily="34" charset="-120"/>
              </a:rPr>
              <a:t>(d)  ADD 88 I</a:t>
            </a:r>
            <a:endParaRPr lang="en-US" sz="1700" dirty="0"/>
          </a:p>
          <a:p>
            <a:pPr marL="228600" indent="-228600">
              <a:spcAft>
                <a:spcPts val="1200"/>
              </a:spcAft>
              <a:buSzPct val="100000"/>
              <a:buChar char="▪"/>
            </a:pPr>
            <a:r>
              <a:rPr lang="en-US" sz="1700" b="1" dirty="0">
                <a:solidFill>
                  <a:srgbClr val="232323"/>
                </a:solidFill>
                <a:latin typeface="Calibri" pitchFamily="34" charset="0"/>
                <a:ea typeface="Calibri" pitchFamily="34" charset="-122"/>
                <a:cs typeface="Calibri" pitchFamily="34" charset="-120"/>
              </a:rPr>
              <a:t>Bonus: for (b), if M[145] = 600, what is the Effective Address?</a:t>
            </a:r>
            <a:endParaRPr lang="en-US" sz="1700" dirty="0"/>
          </a:p>
        </p:txBody>
      </p:sp>
      <p:sp>
        <p:nvSpPr>
          <p:cNvPr id="7" name="Text 5"/>
          <p:cNvSpPr/>
          <p:nvPr/>
        </p:nvSpPr>
        <p:spPr>
          <a:xfrm>
            <a:off x="457200" y="6510528"/>
            <a:ext cx="8686800" cy="274320"/>
          </a:xfrm>
          <a:prstGeom prst="rect">
            <a:avLst/>
          </a:prstGeom>
          <a:noFill/>
          <a:ln/>
        </p:spPr>
        <p:txBody>
          <a:bodyPr wrap="square" lIns="0" tIns="0" rIns="0" bIns="0" rtlCol="0" anchor="ctr"/>
          <a:lstStyle/>
          <a:p>
            <a:pPr algn="l" indent="0" marL="0">
              <a:buNone/>
            </a:pPr>
            <a:r>
              <a:rPr lang="en-US" sz="900" dirty="0">
                <a:solidFill>
                  <a:srgbClr val="9AA0AE"/>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
        <p:nvSpPr>
          <p:cNvPr id="8" name="Text 6"/>
          <p:cNvSpPr/>
          <p:nvPr/>
        </p:nvSpPr>
        <p:spPr>
          <a:xfrm>
            <a:off x="11338560" y="6510528"/>
            <a:ext cx="457200" cy="274320"/>
          </a:xfrm>
          <a:prstGeom prst="rect">
            <a:avLst/>
          </a:prstGeom>
          <a:noFill/>
          <a:ln/>
        </p:spPr>
        <p:txBody>
          <a:bodyPr wrap="square" lIns="0" tIns="0" rIns="0" bIns="0" rtlCol="0" anchor="ctr"/>
          <a:lstStyle/>
          <a:p>
            <a:pPr algn="r" indent="0" marL="0">
              <a:buNone/>
            </a:pPr>
            <a:r>
              <a:rPr lang="en-US" sz="900" dirty="0">
                <a:solidFill>
                  <a:srgbClr val="9AA0AE"/>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indent="0" marL="0">
              <a:buNone/>
            </a:pPr>
            <a:r>
              <a:rPr lang="en-US" sz="1300" b="1" spc="200" kern="0" dirty="0">
                <a:solidFill>
                  <a:srgbClr val="F2A541"/>
                </a:solidFill>
                <a:latin typeface="Calibri" pitchFamily="34" charset="0"/>
                <a:ea typeface="Calibri" pitchFamily="34" charset="-122"/>
                <a:cs typeface="Calibri" pitchFamily="34" charset="-120"/>
              </a:rPr>
              <a:t>QUICK CHECK  ·  3 MINUTES</a:t>
            </a:r>
            <a:endParaRPr lang="en-US" sz="1300" dirty="0"/>
          </a:p>
        </p:txBody>
      </p:sp>
      <p:sp>
        <p:nvSpPr>
          <p:cNvPr id="3" name="Text 1"/>
          <p:cNvSpPr/>
          <p:nvPr/>
        </p:nvSpPr>
        <p:spPr>
          <a:xfrm>
            <a:off x="548640" y="685800"/>
            <a:ext cx="8778240" cy="91440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Mini Activity: Predict the Register Values</a:t>
            </a:r>
            <a:endParaRPr lang="en-US" sz="3200" dirty="0"/>
          </a:p>
        </p:txBody>
      </p:sp>
      <p:sp>
        <p:nvSpPr>
          <p:cNvPr id="4" name="Shape 2"/>
          <p:cNvSpPr/>
          <p:nvPr/>
        </p:nvSpPr>
        <p:spPr>
          <a:xfrm>
            <a:off x="10607040" y="502920"/>
            <a:ext cx="822960" cy="822960"/>
          </a:xfrm>
          <a:prstGeom prst="ellipse">
            <a:avLst/>
          </a:prstGeom>
          <a:solidFill>
            <a:srgbClr val="1E2761"/>
          </a:solidFill>
          <a:ln/>
        </p:spPr>
      </p:sp>
      <p:sp>
        <p:nvSpPr>
          <p:cNvPr id="5" name="Text 3"/>
          <p:cNvSpPr/>
          <p:nvPr/>
        </p:nvSpPr>
        <p:spPr>
          <a:xfrm>
            <a:off x="10607040" y="502920"/>
            <a:ext cx="822960" cy="822960"/>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a:t>
            </a:r>
            <a:endParaRPr lang="en-US" sz="2600" dirty="0"/>
          </a:p>
        </p:txBody>
      </p:sp>
      <p:sp>
        <p:nvSpPr>
          <p:cNvPr id="6" name="Text 4"/>
          <p:cNvSpPr/>
          <p:nvPr/>
        </p:nvSpPr>
        <p:spPr>
          <a:xfrm>
            <a:off x="548640" y="1691640"/>
            <a:ext cx="10241280" cy="4498848"/>
          </a:xfrm>
          <a:prstGeom prst="rect">
            <a:avLst/>
          </a:prstGeom>
          <a:noFill/>
          <a:ln/>
        </p:spPr>
        <p:txBody>
          <a:bodyPr wrap="square" lIns="0" tIns="0" rIns="0" bIns="0" rtlCol="0" anchor="t"/>
          <a:lstStyle/>
          <a:p>
            <a:pPr marL="228600" indent="-228600">
              <a:spcAft>
                <a:spcPts val="1200"/>
              </a:spcAft>
              <a:buSzPct val="100000"/>
              <a:buChar char="▪"/>
            </a:pPr>
            <a:r>
              <a:rPr lang="en-US" sz="1700" dirty="0">
                <a:solidFill>
                  <a:srgbClr val="232323"/>
                </a:solidFill>
                <a:latin typeface="Calibri" pitchFamily="34" charset="0"/>
                <a:ea typeface="Calibri" pitchFamily="34" charset="-122"/>
                <a:cs typeface="Calibri" pitchFamily="34" charset="-120"/>
              </a:rPr>
              <a:t>Starting state: AC = 10, M[200] = 5, M[201] = 3.</a:t>
            </a:r>
            <a:endParaRPr lang="en-US" sz="1700" dirty="0"/>
          </a:p>
          <a:p>
            <a:pPr marL="228600" indent="-228600">
              <a:spcAft>
                <a:spcPts val="1200"/>
              </a:spcAft>
              <a:buSzPct val="100000"/>
              <a:buChar char="▪"/>
            </a:pPr>
            <a:r>
              <a:rPr lang="en-US" sz="1700" b="1" dirty="0">
                <a:solidFill>
                  <a:srgbClr val="232323"/>
                </a:solidFill>
                <a:latin typeface="Calibri" pitchFamily="34" charset="0"/>
                <a:ea typeface="Calibri" pitchFamily="34" charset="-122"/>
                <a:cs typeface="Calibri" pitchFamily="34" charset="-120"/>
              </a:rPr>
              <a:t>Instruction sequence:</a:t>
            </a:r>
            <a:endParaRPr lang="en-US" sz="1700" dirty="0"/>
          </a:p>
          <a:p>
            <a:pPr lvl="1" marL="457200" indent="-228600">
              <a:spcAft>
                <a:spcPts val="1200"/>
              </a:spcAft>
              <a:buSzPct val="100000"/>
              <a:buChar char="▪"/>
            </a:pPr>
            <a:r>
              <a:rPr lang="en-US" sz="1500" dirty="0">
                <a:solidFill>
                  <a:srgbClr val="232323"/>
                </a:solidFill>
                <a:latin typeface="Calibri" pitchFamily="34" charset="0"/>
                <a:ea typeface="Calibri" pitchFamily="34" charset="-122"/>
                <a:cs typeface="Calibri" pitchFamily="34" charset="-120"/>
              </a:rPr>
              <a:t>1.  LDA 200          → AC = ?</a:t>
            </a:r>
            <a:endParaRPr lang="en-US" sz="1700" dirty="0"/>
          </a:p>
          <a:p>
            <a:pPr lvl="1" marL="457200" indent="-228600">
              <a:spcAft>
                <a:spcPts val="1200"/>
              </a:spcAft>
              <a:buSzPct val="100000"/>
              <a:buChar char="▪"/>
            </a:pPr>
            <a:r>
              <a:rPr lang="en-US" sz="1500" dirty="0">
                <a:solidFill>
                  <a:srgbClr val="232323"/>
                </a:solidFill>
                <a:latin typeface="Calibri" pitchFamily="34" charset="0"/>
                <a:ea typeface="Calibri" pitchFamily="34" charset="-122"/>
                <a:cs typeface="Calibri" pitchFamily="34" charset="-120"/>
              </a:rPr>
              <a:t>2.  ADD 201          → AC = ?</a:t>
            </a:r>
            <a:endParaRPr lang="en-US" sz="1700" dirty="0"/>
          </a:p>
          <a:p>
            <a:pPr lvl="1" marL="457200" indent="-228600">
              <a:spcAft>
                <a:spcPts val="1200"/>
              </a:spcAft>
              <a:buSzPct val="100000"/>
              <a:buChar char="▪"/>
            </a:pPr>
            <a:r>
              <a:rPr lang="en-US" sz="1500" dirty="0">
                <a:solidFill>
                  <a:srgbClr val="232323"/>
                </a:solidFill>
                <a:latin typeface="Calibri" pitchFamily="34" charset="0"/>
                <a:ea typeface="Calibri" pitchFamily="34" charset="-122"/>
                <a:cs typeface="Calibri" pitchFamily="34" charset="-120"/>
              </a:rPr>
              <a:t>3.  STA 202          → M[202] = ?</a:t>
            </a:r>
            <a:endParaRPr lang="en-US" sz="1700" dirty="0"/>
          </a:p>
          <a:p>
            <a:pPr marL="228600" indent="-228600">
              <a:spcAft>
                <a:spcPts val="1200"/>
              </a:spcAft>
              <a:buSzPct val="100000"/>
              <a:buChar char="▪"/>
            </a:pPr>
            <a:r>
              <a:rPr lang="en-US" sz="1700" dirty="0">
                <a:solidFill>
                  <a:srgbClr val="232323"/>
                </a:solidFill>
                <a:latin typeface="Calibri" pitchFamily="34" charset="0"/>
                <a:ea typeface="Calibri" pitchFamily="34" charset="-122"/>
                <a:cs typeface="Calibri" pitchFamily="34" charset="-120"/>
              </a:rPr>
              <a:t>Work through it individually first, then compare your answers with a partner.</a:t>
            </a:r>
            <a:endParaRPr lang="en-US" sz="1700" dirty="0"/>
          </a:p>
        </p:txBody>
      </p:sp>
      <p:sp>
        <p:nvSpPr>
          <p:cNvPr id="7" name="Text 5"/>
          <p:cNvSpPr/>
          <p:nvPr/>
        </p:nvSpPr>
        <p:spPr>
          <a:xfrm>
            <a:off x="457200" y="6510528"/>
            <a:ext cx="8686800" cy="274320"/>
          </a:xfrm>
          <a:prstGeom prst="rect">
            <a:avLst/>
          </a:prstGeom>
          <a:noFill/>
          <a:ln/>
        </p:spPr>
        <p:txBody>
          <a:bodyPr wrap="square" lIns="0" tIns="0" rIns="0" bIns="0" rtlCol="0" anchor="ctr"/>
          <a:lstStyle/>
          <a:p>
            <a:pPr algn="l" indent="0" marL="0">
              <a:buNone/>
            </a:pPr>
            <a:r>
              <a:rPr lang="en-US" sz="900" dirty="0">
                <a:solidFill>
                  <a:srgbClr val="9AA0AE"/>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
        <p:nvSpPr>
          <p:cNvPr id="8" name="Text 6"/>
          <p:cNvSpPr/>
          <p:nvPr/>
        </p:nvSpPr>
        <p:spPr>
          <a:xfrm>
            <a:off x="11338560" y="6510528"/>
            <a:ext cx="457200" cy="274320"/>
          </a:xfrm>
          <a:prstGeom prst="rect">
            <a:avLst/>
          </a:prstGeom>
          <a:noFill/>
          <a:ln/>
        </p:spPr>
        <p:txBody>
          <a:bodyPr wrap="square" lIns="0" tIns="0" rIns="0" bIns="0" rtlCol="0" anchor="ctr"/>
          <a:lstStyle/>
          <a:p>
            <a:pPr algn="r" indent="0" marL="0">
              <a:buNone/>
            </a:pPr>
            <a:r>
              <a:rPr lang="en-US" sz="900" dirty="0">
                <a:solidFill>
                  <a:srgbClr val="9AA0AE"/>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indent="0" marL="0">
              <a:buNone/>
            </a:pPr>
            <a:r>
              <a:rPr lang="en-US" sz="1300" b="1" spc="200" kern="0" dirty="0">
                <a:solidFill>
                  <a:srgbClr val="F2A541"/>
                </a:solidFill>
                <a:latin typeface="Calibri" pitchFamily="34" charset="0"/>
                <a:ea typeface="Calibri" pitchFamily="34" charset="-122"/>
                <a:cs typeface="Calibri" pitchFamily="34" charset="-120"/>
              </a:rPr>
              <a:t>QUICK CHECK  ·  1 MINUTE</a:t>
            </a:r>
            <a:endParaRPr lang="en-US" sz="1300" dirty="0"/>
          </a:p>
        </p:txBody>
      </p:sp>
      <p:sp>
        <p:nvSpPr>
          <p:cNvPr id="3" name="Text 1"/>
          <p:cNvSpPr/>
          <p:nvPr/>
        </p:nvSpPr>
        <p:spPr>
          <a:xfrm>
            <a:off x="548640" y="685800"/>
            <a:ext cx="8778240" cy="91440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Quick Check: Multiple Choice</a:t>
            </a:r>
            <a:endParaRPr lang="en-US" sz="3200" dirty="0"/>
          </a:p>
        </p:txBody>
      </p:sp>
      <p:sp>
        <p:nvSpPr>
          <p:cNvPr id="4" name="Shape 2"/>
          <p:cNvSpPr/>
          <p:nvPr/>
        </p:nvSpPr>
        <p:spPr>
          <a:xfrm>
            <a:off x="10607040" y="502920"/>
            <a:ext cx="822960" cy="822960"/>
          </a:xfrm>
          <a:prstGeom prst="ellipse">
            <a:avLst/>
          </a:prstGeom>
          <a:solidFill>
            <a:srgbClr val="1E2761"/>
          </a:solidFill>
          <a:ln/>
        </p:spPr>
      </p:sp>
      <p:sp>
        <p:nvSpPr>
          <p:cNvPr id="5" name="Text 3"/>
          <p:cNvSpPr/>
          <p:nvPr/>
        </p:nvSpPr>
        <p:spPr>
          <a:xfrm>
            <a:off x="10607040" y="502920"/>
            <a:ext cx="822960" cy="822960"/>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a:t>
            </a:r>
            <a:endParaRPr lang="en-US" sz="2600" dirty="0"/>
          </a:p>
        </p:txBody>
      </p:sp>
      <p:sp>
        <p:nvSpPr>
          <p:cNvPr id="6" name="Text 4"/>
          <p:cNvSpPr/>
          <p:nvPr/>
        </p:nvSpPr>
        <p:spPr>
          <a:xfrm>
            <a:off x="548640" y="1691640"/>
            <a:ext cx="10241280" cy="4498848"/>
          </a:xfrm>
          <a:prstGeom prst="rect">
            <a:avLst/>
          </a:prstGeom>
          <a:noFill/>
          <a:ln/>
        </p:spPr>
        <p:txBody>
          <a:bodyPr wrap="square" lIns="0" tIns="0" rIns="0" bIns="0" rtlCol="0" anchor="t"/>
          <a:lstStyle/>
          <a:p>
            <a:pPr marL="228600" indent="-228600">
              <a:spcAft>
                <a:spcPts val="1200"/>
              </a:spcAft>
              <a:buSzPct val="100000"/>
              <a:buChar char="▪"/>
            </a:pPr>
            <a:r>
              <a:rPr lang="en-US" sz="1700" b="1" dirty="0">
                <a:solidFill>
                  <a:srgbClr val="232323"/>
                </a:solidFill>
                <a:latin typeface="Calibri" pitchFamily="34" charset="0"/>
                <a:ea typeface="Calibri" pitchFamily="34" charset="-122"/>
                <a:cs typeface="Calibri" pitchFamily="34" charset="-120"/>
              </a:rPr>
              <a:t>For the instruction  ADD 512 I,  if M[512] = 700 and M[700] = 9, what value gets added to AC?</a:t>
            </a:r>
            <a:endParaRPr lang="en-US" sz="1700" dirty="0"/>
          </a:p>
          <a:p>
            <a:pPr lvl="1" marL="457200" indent="-228600">
              <a:spcAft>
                <a:spcPts val="1200"/>
              </a:spcAft>
              <a:buSzPct val="100000"/>
              <a:buChar char="▪"/>
            </a:pPr>
            <a:r>
              <a:rPr lang="en-US" sz="1500" dirty="0">
                <a:solidFill>
                  <a:srgbClr val="232323"/>
                </a:solidFill>
                <a:latin typeface="Calibri" pitchFamily="34" charset="0"/>
                <a:ea typeface="Calibri" pitchFamily="34" charset="-122"/>
                <a:cs typeface="Calibri" pitchFamily="34" charset="-120"/>
              </a:rPr>
              <a:t>A.  512</a:t>
            </a:r>
            <a:endParaRPr lang="en-US" sz="1700" dirty="0"/>
          </a:p>
          <a:p>
            <a:pPr lvl="1" marL="457200" indent="-228600">
              <a:spcAft>
                <a:spcPts val="1200"/>
              </a:spcAft>
              <a:buSzPct val="100000"/>
              <a:buChar char="▪"/>
            </a:pPr>
            <a:r>
              <a:rPr lang="en-US" sz="1500" dirty="0">
                <a:solidFill>
                  <a:srgbClr val="232323"/>
                </a:solidFill>
                <a:latin typeface="Calibri" pitchFamily="34" charset="0"/>
                <a:ea typeface="Calibri" pitchFamily="34" charset="-122"/>
                <a:cs typeface="Calibri" pitchFamily="34" charset="-120"/>
              </a:rPr>
              <a:t>B.  700</a:t>
            </a:r>
            <a:endParaRPr lang="en-US" sz="1700" dirty="0"/>
          </a:p>
          <a:p>
            <a:pPr lvl="1" marL="457200" indent="-228600">
              <a:spcAft>
                <a:spcPts val="1200"/>
              </a:spcAft>
              <a:buSzPct val="100000"/>
              <a:buChar char="▪"/>
            </a:pPr>
            <a:r>
              <a:rPr lang="en-US" sz="1500" dirty="0">
                <a:solidFill>
                  <a:srgbClr val="232323"/>
                </a:solidFill>
                <a:latin typeface="Calibri" pitchFamily="34" charset="0"/>
                <a:ea typeface="Calibri" pitchFamily="34" charset="-122"/>
                <a:cs typeface="Calibri" pitchFamily="34" charset="-120"/>
              </a:rPr>
              <a:t>C.  9</a:t>
            </a:r>
            <a:endParaRPr lang="en-US" sz="1700" dirty="0"/>
          </a:p>
          <a:p>
            <a:pPr lvl="1" marL="457200" indent="-228600">
              <a:spcAft>
                <a:spcPts val="1200"/>
              </a:spcAft>
              <a:buSzPct val="100000"/>
              <a:buChar char="▪"/>
            </a:pPr>
            <a:r>
              <a:rPr lang="en-US" sz="1500" dirty="0">
                <a:solidFill>
                  <a:srgbClr val="232323"/>
                </a:solidFill>
                <a:latin typeface="Calibri" pitchFamily="34" charset="0"/>
                <a:ea typeface="Calibri" pitchFamily="34" charset="-122"/>
                <a:cs typeface="Calibri" pitchFamily="34" charset="-120"/>
              </a:rPr>
              <a:t>D.  Cannot be determined</a:t>
            </a:r>
            <a:endParaRPr lang="en-US" sz="1700" dirty="0"/>
          </a:p>
          <a:p>
            <a:pPr marL="228600" indent="-228600">
              <a:spcAft>
                <a:spcPts val="1200"/>
              </a:spcAft>
              <a:buSzPct val="100000"/>
              <a:buChar char="▪"/>
            </a:pPr>
            <a:r>
              <a:rPr lang="en-US" sz="1700" dirty="0">
                <a:solidFill>
                  <a:srgbClr val="232323"/>
                </a:solidFill>
                <a:latin typeface="Calibri" pitchFamily="34" charset="0"/>
                <a:ea typeface="Calibri" pitchFamily="34" charset="-122"/>
                <a:cs typeface="Calibri" pitchFamily="34" charset="-120"/>
              </a:rPr>
              <a:t>Think for 20 seconds, then show me your answer on the count of three: A, B, C, or D?</a:t>
            </a:r>
            <a:endParaRPr lang="en-US" sz="1700" dirty="0"/>
          </a:p>
        </p:txBody>
      </p:sp>
      <p:sp>
        <p:nvSpPr>
          <p:cNvPr id="7" name="Text 5"/>
          <p:cNvSpPr/>
          <p:nvPr/>
        </p:nvSpPr>
        <p:spPr>
          <a:xfrm>
            <a:off x="457200" y="6510528"/>
            <a:ext cx="8686800" cy="274320"/>
          </a:xfrm>
          <a:prstGeom prst="rect">
            <a:avLst/>
          </a:prstGeom>
          <a:noFill/>
          <a:ln/>
        </p:spPr>
        <p:txBody>
          <a:bodyPr wrap="square" lIns="0" tIns="0" rIns="0" bIns="0" rtlCol="0" anchor="ctr"/>
          <a:lstStyle/>
          <a:p>
            <a:pPr algn="l" indent="0" marL="0">
              <a:buNone/>
            </a:pPr>
            <a:r>
              <a:rPr lang="en-US" sz="900" dirty="0">
                <a:solidFill>
                  <a:srgbClr val="9AA0AE"/>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
        <p:nvSpPr>
          <p:cNvPr id="8" name="Text 6"/>
          <p:cNvSpPr/>
          <p:nvPr/>
        </p:nvSpPr>
        <p:spPr>
          <a:xfrm>
            <a:off x="11338560" y="6510528"/>
            <a:ext cx="457200" cy="274320"/>
          </a:xfrm>
          <a:prstGeom prst="rect">
            <a:avLst/>
          </a:prstGeom>
          <a:noFill/>
          <a:ln/>
        </p:spPr>
        <p:txBody>
          <a:bodyPr wrap="square" lIns="0" tIns="0" rIns="0" bIns="0" rtlCol="0" anchor="ctr"/>
          <a:lstStyle/>
          <a:p>
            <a:pPr algn="r" indent="0" marL="0">
              <a:buNone/>
            </a:pPr>
            <a:r>
              <a:rPr lang="en-US" sz="900" dirty="0">
                <a:solidFill>
                  <a:srgbClr val="9AA0AE"/>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indent="0" marL="0">
              <a:buNone/>
            </a:pPr>
            <a:r>
              <a:rPr lang="en-US" sz="1300" b="1" spc="200" kern="0" dirty="0">
                <a:solidFill>
                  <a:srgbClr val="CADCFC"/>
                </a:solidFill>
                <a:latin typeface="Calibri" pitchFamily="34" charset="0"/>
                <a:ea typeface="Calibri" pitchFamily="34" charset="-122"/>
                <a:cs typeface="Calibri" pitchFamily="34" charset="-120"/>
              </a:rPr>
              <a:t>WRAP-UP</a:t>
            </a:r>
            <a:endParaRPr lang="en-US" sz="1300" dirty="0"/>
          </a:p>
        </p:txBody>
      </p:sp>
      <p:sp>
        <p:nvSpPr>
          <p:cNvPr id="3" name="Text 1"/>
          <p:cNvSpPr/>
          <p:nvPr/>
        </p:nvSpPr>
        <p:spPr>
          <a:xfrm>
            <a:off x="548640" y="685800"/>
            <a:ext cx="8778240" cy="91440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Summary: Key Points to Remember</a:t>
            </a:r>
            <a:endParaRPr lang="en-US" sz="3200" dirty="0"/>
          </a:p>
        </p:txBody>
      </p:sp>
      <p:sp>
        <p:nvSpPr>
          <p:cNvPr id="4" name="Shape 2"/>
          <p:cNvSpPr/>
          <p:nvPr/>
        </p:nvSpPr>
        <p:spPr>
          <a:xfrm>
            <a:off x="10607040" y="502920"/>
            <a:ext cx="822960" cy="822960"/>
          </a:xfrm>
          <a:prstGeom prst="ellipse">
            <a:avLst/>
          </a:prstGeom>
          <a:solidFill>
            <a:srgbClr val="F2A541"/>
          </a:solidFill>
          <a:ln/>
        </p:spPr>
      </p:sp>
      <p:sp>
        <p:nvSpPr>
          <p:cNvPr id="5" name="Text 3"/>
          <p:cNvSpPr/>
          <p:nvPr/>
        </p:nvSpPr>
        <p:spPr>
          <a:xfrm>
            <a:off x="10607040" y="502920"/>
            <a:ext cx="822960" cy="822960"/>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a:t>
            </a:r>
            <a:endParaRPr lang="en-US" sz="2600" dirty="0"/>
          </a:p>
        </p:txBody>
      </p:sp>
      <p:sp>
        <p:nvSpPr>
          <p:cNvPr id="6" name="Text 4"/>
          <p:cNvSpPr/>
          <p:nvPr/>
        </p:nvSpPr>
        <p:spPr>
          <a:xfrm>
            <a:off x="548640" y="1691640"/>
            <a:ext cx="10241280" cy="4498848"/>
          </a:xfrm>
          <a:prstGeom prst="rect">
            <a:avLst/>
          </a:prstGeom>
          <a:noFill/>
          <a:ln/>
        </p:spPr>
        <p:txBody>
          <a:bodyPr wrap="square" lIns="0" tIns="0" rIns="0" bIns="0" rtlCol="0" anchor="t"/>
          <a:lstStyle/>
          <a:p>
            <a:pPr marL="228600" indent="-228600">
              <a:spcAft>
                <a:spcPts val="1200"/>
              </a:spcAft>
              <a:buSzPct val="100000"/>
              <a:buChar char="▪"/>
            </a:pPr>
            <a:r>
              <a:rPr lang="en-US" sz="1700" dirty="0">
                <a:solidFill>
                  <a:srgbClr val="CADCFC"/>
                </a:solidFill>
                <a:latin typeface="Calibri" pitchFamily="34" charset="0"/>
                <a:ea typeface="Calibri" pitchFamily="34" charset="-122"/>
                <a:cs typeface="Calibri" pitchFamily="34" charset="-120"/>
              </a:rPr>
              <a:t>A memory-reference instruction reads from or writes to main memory using an Effective Address (EA).</a:t>
            </a:r>
            <a:endParaRPr lang="en-US" sz="1700" dirty="0"/>
          </a:p>
          <a:p>
            <a:pPr marL="228600" indent="-228600">
              <a:spcAft>
                <a:spcPts val="1200"/>
              </a:spcAft>
              <a:buSzPct val="100000"/>
              <a:buChar char="▪"/>
            </a:pPr>
            <a:r>
              <a:rPr lang="en-US" sz="1700" dirty="0">
                <a:solidFill>
                  <a:srgbClr val="CADCFC"/>
                </a:solidFill>
                <a:latin typeface="Calibri" pitchFamily="34" charset="0"/>
                <a:ea typeface="Calibri" pitchFamily="34" charset="-122"/>
                <a:cs typeface="Calibri" pitchFamily="34" charset="-120"/>
              </a:rPr>
              <a:t>The 16-bit format: 1 bit for addressing mode (I), 3 bits for opcode, 12 bits for address.</a:t>
            </a:r>
            <a:endParaRPr lang="en-US" sz="1700" dirty="0"/>
          </a:p>
          <a:p>
            <a:pPr marL="228600" indent="-228600">
              <a:spcAft>
                <a:spcPts val="1200"/>
              </a:spcAft>
              <a:buSzPct val="100000"/>
              <a:buChar char="▪"/>
            </a:pPr>
            <a:r>
              <a:rPr lang="en-US" sz="1700" dirty="0">
                <a:solidFill>
                  <a:srgbClr val="CADCFC"/>
                </a:solidFill>
                <a:latin typeface="Calibri" pitchFamily="34" charset="0"/>
                <a:ea typeface="Calibri" pitchFamily="34" charset="-122"/>
                <a:cs typeface="Calibri" pitchFamily="34" charset="-120"/>
              </a:rPr>
              <a:t>Direct addressing (I=0): EA = address field. Indirect addressing (I=1): EA = M[address field].</a:t>
            </a:r>
            <a:endParaRPr lang="en-US" sz="1700" dirty="0"/>
          </a:p>
          <a:p>
            <a:pPr marL="228600" indent="-228600">
              <a:spcAft>
                <a:spcPts val="1200"/>
              </a:spcAft>
              <a:buSzPct val="100000"/>
              <a:buChar char="▪"/>
            </a:pPr>
            <a:r>
              <a:rPr lang="en-US" sz="1700" dirty="0">
                <a:solidFill>
                  <a:srgbClr val="CADCFC"/>
                </a:solidFill>
                <a:latin typeface="Calibri" pitchFamily="34" charset="0"/>
                <a:ea typeface="Calibri" pitchFamily="34" charset="-122"/>
                <a:cs typeface="Calibri" pitchFamily="34" charset="-120"/>
              </a:rPr>
              <a:t>Seven instructions: AND, ADD, LDA, STA, BUN, BSA, ISZ — each with a distinct register-transfer statement.</a:t>
            </a:r>
            <a:endParaRPr lang="en-US" sz="1700" dirty="0"/>
          </a:p>
          <a:p>
            <a:pPr marL="228600" indent="-228600">
              <a:spcAft>
                <a:spcPts val="1200"/>
              </a:spcAft>
              <a:buSzPct val="100000"/>
              <a:buChar char="▪"/>
            </a:pPr>
            <a:r>
              <a:rPr lang="en-US" sz="1700" dirty="0">
                <a:solidFill>
                  <a:srgbClr val="CADCFC"/>
                </a:solidFill>
                <a:latin typeface="Calibri" pitchFamily="34" charset="0"/>
                <a:ea typeface="Calibri" pitchFamily="34" charset="-122"/>
                <a:cs typeface="Calibri" pitchFamily="34" charset="-120"/>
              </a:rPr>
              <a:t>LDA/STA move data; AND/ADD compute; BUN/BSA control flow; ISZ implements loop counters.</a:t>
            </a:r>
            <a:endParaRPr lang="en-US" sz="1700" dirty="0"/>
          </a:p>
          <a:p>
            <a:pPr marL="228600" indent="-228600">
              <a:spcAft>
                <a:spcPts val="1200"/>
              </a:spcAft>
              <a:buSzPct val="100000"/>
              <a:buChar char="▪"/>
            </a:pPr>
            <a:r>
              <a:rPr lang="en-US" sz="1700" dirty="0">
                <a:solidFill>
                  <a:srgbClr val="CADCFC"/>
                </a:solidFill>
                <a:latin typeface="Calibri" pitchFamily="34" charset="0"/>
                <a:ea typeface="Calibri" pitchFamily="34" charset="-122"/>
                <a:cs typeface="Calibri" pitchFamily="34" charset="-120"/>
              </a:rPr>
              <a:t>You should now be able to trace any of these instructions step by step, exactly as we did today.</a:t>
            </a:r>
            <a:endParaRPr lang="en-US" sz="1700" dirty="0"/>
          </a:p>
        </p:txBody>
      </p:sp>
      <p:sp>
        <p:nvSpPr>
          <p:cNvPr id="7" name="Text 5"/>
          <p:cNvSpPr/>
          <p:nvPr/>
        </p:nvSpPr>
        <p:spPr>
          <a:xfrm>
            <a:off x="457200" y="6510528"/>
            <a:ext cx="8686800" cy="274320"/>
          </a:xfrm>
          <a:prstGeom prst="rect">
            <a:avLst/>
          </a:prstGeom>
          <a:noFill/>
          <a:ln/>
        </p:spPr>
        <p:txBody>
          <a:bodyPr wrap="square" lIns="0" tIns="0" rIns="0" bIns="0" rtlCol="0" anchor="ctr"/>
          <a:lstStyle/>
          <a:p>
            <a:pPr algn="l" indent="0" marL="0">
              <a:buNone/>
            </a:pPr>
            <a:r>
              <a:rPr lang="en-US" sz="900" dirty="0">
                <a:solidFill>
                  <a:srgbClr val="9AA6C9"/>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
        <p:nvSpPr>
          <p:cNvPr id="8" name="Text 6"/>
          <p:cNvSpPr/>
          <p:nvPr/>
        </p:nvSpPr>
        <p:spPr>
          <a:xfrm>
            <a:off x="11338560" y="6510528"/>
            <a:ext cx="457200" cy="274320"/>
          </a:xfrm>
          <a:prstGeom prst="rect">
            <a:avLst/>
          </a:prstGeom>
          <a:noFill/>
          <a:ln/>
        </p:spPr>
        <p:txBody>
          <a:bodyPr wrap="square" lIns="0" tIns="0" rIns="0" bIns="0" rtlCol="0" anchor="ctr"/>
          <a:lstStyle/>
          <a:p>
            <a:pPr algn="r" indent="0" marL="0">
              <a:buNone/>
            </a:pPr>
            <a:r>
              <a:rPr lang="en-US" sz="900" dirty="0">
                <a:solidFill>
                  <a:srgbClr val="9AA6C9"/>
                </a:solidFill>
                <a:latin typeface="Calibri" pitchFamily="34" charset="0"/>
                <a:ea typeface="Calibri" pitchFamily="34" charset="-122"/>
                <a:cs typeface="Calibri"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indent="0" marL="0">
              <a:buNone/>
            </a:pPr>
            <a:r>
              <a:rPr lang="en-US" sz="1300" b="1" spc="200" kern="0" dirty="0">
                <a:solidFill>
                  <a:srgbClr val="F2A541"/>
                </a:solidFill>
                <a:latin typeface="Calibri" pitchFamily="34" charset="0"/>
                <a:ea typeface="Calibri" pitchFamily="34" charset="-122"/>
                <a:cs typeface="Calibri" pitchFamily="34" charset="-120"/>
              </a:rPr>
              <a:t>QUIZ  ·  CSS2257</a:t>
            </a:r>
            <a:endParaRPr lang="en-US" sz="1300" dirty="0"/>
          </a:p>
        </p:txBody>
      </p:sp>
      <p:sp>
        <p:nvSpPr>
          <p:cNvPr id="3" name="Text 1"/>
          <p:cNvSpPr/>
          <p:nvPr/>
        </p:nvSpPr>
        <p:spPr>
          <a:xfrm>
            <a:off x="548640" y="685800"/>
            <a:ext cx="8778240" cy="91440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Quiz: Test Your Understanding</a:t>
            </a:r>
            <a:endParaRPr lang="en-US" sz="3200" dirty="0"/>
          </a:p>
        </p:txBody>
      </p:sp>
      <p:sp>
        <p:nvSpPr>
          <p:cNvPr id="4" name="Shape 2"/>
          <p:cNvSpPr/>
          <p:nvPr/>
        </p:nvSpPr>
        <p:spPr>
          <a:xfrm>
            <a:off x="10607040" y="502920"/>
            <a:ext cx="822960" cy="822960"/>
          </a:xfrm>
          <a:prstGeom prst="ellipse">
            <a:avLst/>
          </a:prstGeom>
          <a:solidFill>
            <a:srgbClr val="1E2761"/>
          </a:solidFill>
          <a:ln/>
        </p:spPr>
      </p:sp>
      <p:sp>
        <p:nvSpPr>
          <p:cNvPr id="5" name="Text 3"/>
          <p:cNvSpPr/>
          <p:nvPr/>
        </p:nvSpPr>
        <p:spPr>
          <a:xfrm>
            <a:off x="10607040" y="502920"/>
            <a:ext cx="822960" cy="822960"/>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a:t>
            </a:r>
            <a:endParaRPr lang="en-US" sz="2600" dirty="0"/>
          </a:p>
        </p:txBody>
      </p:sp>
      <p:sp>
        <p:nvSpPr>
          <p:cNvPr id="6" name="Text 4"/>
          <p:cNvSpPr/>
          <p:nvPr/>
        </p:nvSpPr>
        <p:spPr>
          <a:xfrm>
            <a:off x="548640" y="1691640"/>
            <a:ext cx="10241280" cy="4498848"/>
          </a:xfrm>
          <a:prstGeom prst="rect">
            <a:avLst/>
          </a:prstGeom>
          <a:noFill/>
          <a:ln/>
        </p:spPr>
        <p:txBody>
          <a:bodyPr wrap="square" lIns="0" tIns="0" rIns="0" bIns="0" rtlCol="0" anchor="t"/>
          <a:lstStyle/>
          <a:p>
            <a:pPr marL="228600" indent="-228600">
              <a:spcAft>
                <a:spcPts val="1200"/>
              </a:spcAft>
              <a:buSzPct val="100000"/>
              <a:buChar char="▪"/>
            </a:pPr>
            <a:r>
              <a:rPr lang="en-US" sz="1700" dirty="0">
                <a:solidFill>
                  <a:srgbClr val="232323"/>
                </a:solidFill>
                <a:latin typeface="Calibri" pitchFamily="34" charset="0"/>
                <a:ea typeface="Calibri" pitchFamily="34" charset="-122"/>
                <a:cs typeface="Calibri" pitchFamily="34" charset="-120"/>
              </a:rPr>
              <a:t>Q1. What does the I bit in the instruction format control?</a:t>
            </a:r>
            <a:endParaRPr lang="en-US" sz="1700" dirty="0"/>
          </a:p>
          <a:p>
            <a:pPr marL="228600" indent="-228600">
              <a:spcAft>
                <a:spcPts val="1200"/>
              </a:spcAft>
              <a:buSzPct val="100000"/>
              <a:buChar char="▪"/>
            </a:pPr>
            <a:r>
              <a:rPr lang="en-US" sz="1700" dirty="0">
                <a:solidFill>
                  <a:srgbClr val="232323"/>
                </a:solidFill>
                <a:latin typeface="Calibri" pitchFamily="34" charset="0"/>
                <a:ea typeface="Calibri" pitchFamily="34" charset="-122"/>
                <a:cs typeface="Calibri" pitchFamily="34" charset="-120"/>
              </a:rPr>
              <a:t>Q2. True or False: In direct addressing, EA equals the address field exactly.</a:t>
            </a:r>
            <a:endParaRPr lang="en-US" sz="1700" dirty="0"/>
          </a:p>
          <a:p>
            <a:pPr marL="228600" indent="-228600">
              <a:spcAft>
                <a:spcPts val="1200"/>
              </a:spcAft>
              <a:buSzPct val="100000"/>
              <a:buChar char="▪"/>
            </a:pPr>
            <a:r>
              <a:rPr lang="en-US" sz="1700" dirty="0">
                <a:solidFill>
                  <a:srgbClr val="232323"/>
                </a:solidFill>
                <a:latin typeface="Calibri" pitchFamily="34" charset="0"/>
                <a:ea typeface="Calibri" pitchFamily="34" charset="-122"/>
                <a:cs typeface="Calibri" pitchFamily="34" charset="-120"/>
              </a:rPr>
              <a:t>Q3. Which instruction is used to implement a subroutine call — BUN or BSA?</a:t>
            </a:r>
            <a:endParaRPr lang="en-US" sz="1700" dirty="0"/>
          </a:p>
          <a:p>
            <a:pPr marL="228600" indent="-228600">
              <a:spcAft>
                <a:spcPts val="1200"/>
              </a:spcAft>
              <a:buSzPct val="100000"/>
              <a:buChar char="▪"/>
            </a:pPr>
            <a:r>
              <a:rPr lang="en-US" sz="1700" dirty="0">
                <a:solidFill>
                  <a:srgbClr val="232323"/>
                </a:solidFill>
                <a:latin typeface="Calibri" pitchFamily="34" charset="0"/>
                <a:ea typeface="Calibri" pitchFamily="34" charset="-122"/>
                <a:cs typeface="Calibri" pitchFamily="34" charset="-120"/>
              </a:rPr>
              <a:t>Q4. Write the register-transfer statement for STA.</a:t>
            </a:r>
            <a:endParaRPr lang="en-US" sz="1700" dirty="0"/>
          </a:p>
          <a:p>
            <a:pPr marL="228600" indent="-228600">
              <a:spcAft>
                <a:spcPts val="1200"/>
              </a:spcAft>
              <a:buSzPct val="100000"/>
              <a:buChar char="▪"/>
            </a:pPr>
            <a:r>
              <a:rPr lang="en-US" sz="1700" dirty="0">
                <a:solidFill>
                  <a:srgbClr val="232323"/>
                </a:solidFill>
                <a:latin typeface="Calibri" pitchFamily="34" charset="0"/>
                <a:ea typeface="Calibri" pitchFamily="34" charset="-122"/>
                <a:cs typeface="Calibri" pitchFamily="34" charset="-120"/>
              </a:rPr>
              <a:t>Q5. For LDA 640 I, if M[640] = 900, what is the Effective Address?</a:t>
            </a:r>
            <a:endParaRPr lang="en-US" sz="1700" dirty="0"/>
          </a:p>
          <a:p>
            <a:pPr marL="228600" indent="-228600">
              <a:spcAft>
                <a:spcPts val="1200"/>
              </a:spcAft>
              <a:buSzPct val="100000"/>
              <a:buChar char="▪"/>
            </a:pPr>
            <a:r>
              <a:rPr lang="en-US" sz="1700" dirty="0">
                <a:solidFill>
                  <a:srgbClr val="232323"/>
                </a:solidFill>
                <a:latin typeface="Calibri" pitchFamily="34" charset="0"/>
                <a:ea typeface="Calibri" pitchFamily="34" charset="-122"/>
                <a:cs typeface="Calibri" pitchFamily="34" charset="-120"/>
              </a:rPr>
              <a:t>Q6. True or False: ISZ skips the current instruction if the result is zero.</a:t>
            </a:r>
            <a:endParaRPr lang="en-US" sz="1700" dirty="0"/>
          </a:p>
          <a:p>
            <a:pPr marL="228600" indent="-228600">
              <a:spcAft>
                <a:spcPts val="1200"/>
              </a:spcAft>
              <a:buSzPct val="100000"/>
              <a:buChar char="▪"/>
            </a:pPr>
            <a:r>
              <a:rPr lang="en-US" sz="1700" dirty="0">
                <a:solidFill>
                  <a:srgbClr val="232323"/>
                </a:solidFill>
                <a:latin typeface="Calibri" pitchFamily="34" charset="0"/>
                <a:ea typeface="Calibri" pitchFamily="34" charset="-122"/>
                <a:cs typeface="Calibri" pitchFamily="34" charset="-120"/>
              </a:rPr>
              <a:t>Q7. Which two instructions perform computation rather than pure data movement or flow control — AND &amp; ADD, or LDA &amp; STA?</a:t>
            </a:r>
            <a:endParaRPr lang="en-US" sz="1700" dirty="0"/>
          </a:p>
        </p:txBody>
      </p:sp>
      <p:sp>
        <p:nvSpPr>
          <p:cNvPr id="7" name="Text 5"/>
          <p:cNvSpPr/>
          <p:nvPr/>
        </p:nvSpPr>
        <p:spPr>
          <a:xfrm>
            <a:off x="457200" y="6510528"/>
            <a:ext cx="8686800" cy="274320"/>
          </a:xfrm>
          <a:prstGeom prst="rect">
            <a:avLst/>
          </a:prstGeom>
          <a:noFill/>
          <a:ln/>
        </p:spPr>
        <p:txBody>
          <a:bodyPr wrap="square" lIns="0" tIns="0" rIns="0" bIns="0" rtlCol="0" anchor="ctr"/>
          <a:lstStyle/>
          <a:p>
            <a:pPr algn="l" indent="0" marL="0">
              <a:buNone/>
            </a:pPr>
            <a:r>
              <a:rPr lang="en-US" sz="900" dirty="0">
                <a:solidFill>
                  <a:srgbClr val="9AA0AE"/>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
        <p:nvSpPr>
          <p:cNvPr id="8" name="Text 6"/>
          <p:cNvSpPr/>
          <p:nvPr/>
        </p:nvSpPr>
        <p:spPr>
          <a:xfrm>
            <a:off x="11338560" y="6510528"/>
            <a:ext cx="457200" cy="274320"/>
          </a:xfrm>
          <a:prstGeom prst="rect">
            <a:avLst/>
          </a:prstGeom>
          <a:noFill/>
          <a:ln/>
        </p:spPr>
        <p:txBody>
          <a:bodyPr wrap="square" lIns="0" tIns="0" rIns="0" bIns="0" rtlCol="0" anchor="ctr"/>
          <a:lstStyle/>
          <a:p>
            <a:pPr algn="r" indent="0" marL="0">
              <a:buNone/>
            </a:pPr>
            <a:r>
              <a:rPr lang="en-US" sz="900" dirty="0">
                <a:solidFill>
                  <a:srgbClr val="9AA0AE"/>
                </a:solidFill>
                <a:latin typeface="Calibri" pitchFamily="34" charset="0"/>
                <a:ea typeface="Calibri" pitchFamily="34" charset="-122"/>
                <a:cs typeface="Calibri"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indent="0" marL="0">
              <a:buNone/>
            </a:pPr>
            <a:r>
              <a:rPr lang="en-US" sz="1300" b="1" spc="200" kern="0" dirty="0">
                <a:solidFill>
                  <a:srgbClr val="F2A541"/>
                </a:solidFill>
                <a:latin typeface="Calibri" pitchFamily="34" charset="0"/>
                <a:ea typeface="Calibri" pitchFamily="34" charset="-122"/>
                <a:cs typeface="Calibri" pitchFamily="34" charset="-120"/>
              </a:rPr>
              <a:t>QUIZ ANSWERS  ·  CSS2257</a:t>
            </a:r>
            <a:endParaRPr lang="en-US" sz="1300" dirty="0"/>
          </a:p>
        </p:txBody>
      </p:sp>
      <p:sp>
        <p:nvSpPr>
          <p:cNvPr id="3" name="Text 1"/>
          <p:cNvSpPr/>
          <p:nvPr/>
        </p:nvSpPr>
        <p:spPr>
          <a:xfrm>
            <a:off x="548640" y="685800"/>
            <a:ext cx="8778240" cy="91440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Quiz Answers &amp; Explanations</a:t>
            </a:r>
            <a:endParaRPr lang="en-US" sz="3200" dirty="0"/>
          </a:p>
        </p:txBody>
      </p:sp>
      <p:sp>
        <p:nvSpPr>
          <p:cNvPr id="4" name="Shape 2"/>
          <p:cNvSpPr/>
          <p:nvPr/>
        </p:nvSpPr>
        <p:spPr>
          <a:xfrm>
            <a:off x="10607040" y="502920"/>
            <a:ext cx="822960" cy="822960"/>
          </a:xfrm>
          <a:prstGeom prst="ellipse">
            <a:avLst/>
          </a:prstGeom>
          <a:solidFill>
            <a:srgbClr val="1E2761"/>
          </a:solidFill>
          <a:ln/>
        </p:spPr>
      </p:sp>
      <p:sp>
        <p:nvSpPr>
          <p:cNvPr id="5" name="Text 3"/>
          <p:cNvSpPr/>
          <p:nvPr/>
        </p:nvSpPr>
        <p:spPr>
          <a:xfrm>
            <a:off x="10607040" y="502920"/>
            <a:ext cx="822960" cy="822960"/>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a:t>
            </a:r>
            <a:endParaRPr lang="en-US" sz="2600" dirty="0"/>
          </a:p>
        </p:txBody>
      </p:sp>
      <p:sp>
        <p:nvSpPr>
          <p:cNvPr id="6" name="Text 4"/>
          <p:cNvSpPr/>
          <p:nvPr/>
        </p:nvSpPr>
        <p:spPr>
          <a:xfrm>
            <a:off x="548640" y="1691640"/>
            <a:ext cx="10241280" cy="4498848"/>
          </a:xfrm>
          <a:prstGeom prst="rect">
            <a:avLst/>
          </a:prstGeom>
          <a:noFill/>
          <a:ln/>
        </p:spPr>
        <p:txBody>
          <a:bodyPr wrap="square" lIns="0" tIns="0" rIns="0" bIns="0" rtlCol="0" anchor="t"/>
          <a:lstStyle/>
          <a:p>
            <a:pPr lvl="1" marL="457200" indent="-228600">
              <a:spcAft>
                <a:spcPts val="1200"/>
              </a:spcAft>
              <a:buSzPct val="100000"/>
              <a:buChar char="▪"/>
            </a:pPr>
            <a:r>
              <a:rPr lang="en-US" sz="1500" dirty="0">
                <a:solidFill>
                  <a:srgbClr val="232323"/>
                </a:solidFill>
                <a:latin typeface="Calibri" pitchFamily="34" charset="0"/>
                <a:ea typeface="Calibri" pitchFamily="34" charset="-122"/>
                <a:cs typeface="Calibri" pitchFamily="34" charset="-120"/>
              </a:rPr>
              <a:t>A1. It selects the addressing mode: 0 = direct, 1 = indirect. It does not change the opcode's meaning.</a:t>
            </a:r>
            <a:endParaRPr lang="en-US" sz="1500" dirty="0"/>
          </a:p>
          <a:p>
            <a:pPr lvl="1" marL="457200" indent="-228600">
              <a:spcAft>
                <a:spcPts val="1200"/>
              </a:spcAft>
              <a:buSzPct val="100000"/>
              <a:buChar char="▪"/>
            </a:pPr>
            <a:r>
              <a:rPr lang="en-US" sz="1500" dirty="0">
                <a:solidFill>
                  <a:srgbClr val="232323"/>
                </a:solidFill>
                <a:latin typeface="Calibri" pitchFamily="34" charset="0"/>
                <a:ea typeface="Calibri" pitchFamily="34" charset="-122"/>
                <a:cs typeface="Calibri" pitchFamily="34" charset="-120"/>
              </a:rPr>
              <a:t>A2. True — in direct addressing, EA is exactly the address field, no extra memory access needed.</a:t>
            </a:r>
            <a:endParaRPr lang="en-US" sz="1500" dirty="0"/>
          </a:p>
          <a:p>
            <a:pPr lvl="1" marL="457200" indent="-228600">
              <a:spcAft>
                <a:spcPts val="1200"/>
              </a:spcAft>
              <a:buSzPct val="100000"/>
              <a:buChar char="▪"/>
            </a:pPr>
            <a:r>
              <a:rPr lang="en-US" sz="1500" dirty="0">
                <a:solidFill>
                  <a:srgbClr val="232323"/>
                </a:solidFill>
                <a:latin typeface="Calibri" pitchFamily="34" charset="0"/>
                <a:ea typeface="Calibri" pitchFamily="34" charset="-122"/>
                <a:cs typeface="Calibri" pitchFamily="34" charset="-120"/>
              </a:rPr>
              <a:t>A3. BSA — because it saves the return address AND jumps, enabling the subroutine to return later.</a:t>
            </a:r>
            <a:endParaRPr lang="en-US" sz="1500" dirty="0"/>
          </a:p>
          <a:p>
            <a:pPr lvl="1" marL="457200" indent="-228600">
              <a:spcAft>
                <a:spcPts val="1200"/>
              </a:spcAft>
              <a:buSzPct val="100000"/>
              <a:buChar char="▪"/>
            </a:pPr>
            <a:r>
              <a:rPr lang="en-US" sz="1500" dirty="0">
                <a:solidFill>
                  <a:srgbClr val="232323"/>
                </a:solidFill>
                <a:latin typeface="Calibri" pitchFamily="34" charset="0"/>
                <a:ea typeface="Calibri" pitchFamily="34" charset="-122"/>
                <a:cs typeface="Calibri" pitchFamily="34" charset="-120"/>
              </a:rPr>
              <a:t>A4. STA:  M[EA] ← AC — the accumulator's value is written out to the effective address.</a:t>
            </a:r>
            <a:endParaRPr lang="en-US" sz="1500" dirty="0"/>
          </a:p>
          <a:p>
            <a:pPr lvl="1" marL="457200" indent="-228600">
              <a:spcAft>
                <a:spcPts val="1200"/>
              </a:spcAft>
              <a:buSzPct val="100000"/>
              <a:buChar char="▪"/>
            </a:pPr>
            <a:r>
              <a:rPr lang="en-US" sz="1500" dirty="0">
                <a:solidFill>
                  <a:srgbClr val="232323"/>
                </a:solidFill>
                <a:latin typeface="Calibri" pitchFamily="34" charset="0"/>
                <a:ea typeface="Calibri" pitchFamily="34" charset="-122"/>
                <a:cs typeface="Calibri" pitchFamily="34" charset="-120"/>
              </a:rPr>
              <a:t>A5. EA = 900 — since I = 1 (indirect), we look up M[640] = 900, and that becomes the Effective Address.</a:t>
            </a:r>
            <a:endParaRPr lang="en-US" sz="1500" dirty="0"/>
          </a:p>
          <a:p>
            <a:pPr lvl="1" marL="457200" indent="-228600">
              <a:spcAft>
                <a:spcPts val="1200"/>
              </a:spcAft>
              <a:buSzPct val="100000"/>
              <a:buChar char="▪"/>
            </a:pPr>
            <a:r>
              <a:rPr lang="en-US" sz="1500" dirty="0">
                <a:solidFill>
                  <a:srgbClr val="232323"/>
                </a:solidFill>
                <a:latin typeface="Calibri" pitchFamily="34" charset="0"/>
                <a:ea typeface="Calibri" pitchFamily="34" charset="-122"/>
                <a:cs typeface="Calibri" pitchFamily="34" charset="-120"/>
              </a:rPr>
              <a:t>A6. False — ISZ skips the NEXT instruction, not the current one, and only when the result becomes 0.</a:t>
            </a:r>
            <a:endParaRPr lang="en-US" sz="1500" dirty="0"/>
          </a:p>
          <a:p>
            <a:pPr lvl="1" marL="457200" indent="-228600">
              <a:spcAft>
                <a:spcPts val="1200"/>
              </a:spcAft>
              <a:buSzPct val="100000"/>
              <a:buChar char="▪"/>
            </a:pPr>
            <a:r>
              <a:rPr lang="en-US" sz="1500" dirty="0">
                <a:solidFill>
                  <a:srgbClr val="232323"/>
                </a:solidFill>
                <a:latin typeface="Calibri" pitchFamily="34" charset="0"/>
                <a:ea typeface="Calibri" pitchFamily="34" charset="-122"/>
                <a:cs typeface="Calibri" pitchFamily="34" charset="-120"/>
              </a:rPr>
              <a:t>A7. AND &amp; ADD — these perform logical/arithmetic computation; LDA/STA move data; BUN/BSA control flow.</a:t>
            </a:r>
            <a:endParaRPr lang="en-US" sz="1500" dirty="0"/>
          </a:p>
        </p:txBody>
      </p:sp>
      <p:sp>
        <p:nvSpPr>
          <p:cNvPr id="7" name="Text 5"/>
          <p:cNvSpPr/>
          <p:nvPr/>
        </p:nvSpPr>
        <p:spPr>
          <a:xfrm>
            <a:off x="457200" y="6510528"/>
            <a:ext cx="8686800" cy="274320"/>
          </a:xfrm>
          <a:prstGeom prst="rect">
            <a:avLst/>
          </a:prstGeom>
          <a:noFill/>
          <a:ln/>
        </p:spPr>
        <p:txBody>
          <a:bodyPr wrap="square" lIns="0" tIns="0" rIns="0" bIns="0" rtlCol="0" anchor="ctr"/>
          <a:lstStyle/>
          <a:p>
            <a:pPr algn="l" indent="0" marL="0">
              <a:buNone/>
            </a:pPr>
            <a:r>
              <a:rPr lang="en-US" sz="900" dirty="0">
                <a:solidFill>
                  <a:srgbClr val="9AA0AE"/>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
        <p:nvSpPr>
          <p:cNvPr id="8" name="Text 6"/>
          <p:cNvSpPr/>
          <p:nvPr/>
        </p:nvSpPr>
        <p:spPr>
          <a:xfrm>
            <a:off x="11338560" y="6510528"/>
            <a:ext cx="457200" cy="274320"/>
          </a:xfrm>
          <a:prstGeom prst="rect">
            <a:avLst/>
          </a:prstGeom>
          <a:noFill/>
          <a:ln/>
        </p:spPr>
        <p:txBody>
          <a:bodyPr wrap="square" lIns="0" tIns="0" rIns="0" bIns="0" rtlCol="0" anchor="ctr"/>
          <a:lstStyle/>
          <a:p>
            <a:pPr algn="r" indent="0" marL="0">
              <a:buNone/>
            </a:pPr>
            <a:r>
              <a:rPr lang="en-US" sz="900" dirty="0">
                <a:solidFill>
                  <a:srgbClr val="9AA0AE"/>
                </a:solidFill>
                <a:latin typeface="Calibri" pitchFamily="34" charset="0"/>
                <a:ea typeface="Calibri" pitchFamily="34" charset="-122"/>
                <a:cs typeface="Calibri"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indent="0" marL="0">
              <a:buNone/>
            </a:pPr>
            <a:r>
              <a:rPr lang="en-US" sz="1300" b="1" spc="200" kern="0" dirty="0">
                <a:solidFill>
                  <a:srgbClr val="F2A541"/>
                </a:solidFill>
                <a:latin typeface="Calibri" pitchFamily="34" charset="0"/>
                <a:ea typeface="Calibri" pitchFamily="34" charset="-122"/>
                <a:cs typeface="Calibri" pitchFamily="34" charset="-120"/>
              </a:rPr>
              <a:t>LOOKING AHEAD</a:t>
            </a:r>
            <a:endParaRPr lang="en-US" sz="1300" dirty="0"/>
          </a:p>
        </p:txBody>
      </p:sp>
      <p:sp>
        <p:nvSpPr>
          <p:cNvPr id="3" name="Text 1"/>
          <p:cNvSpPr/>
          <p:nvPr/>
        </p:nvSpPr>
        <p:spPr>
          <a:xfrm>
            <a:off x="548640" y="685800"/>
            <a:ext cx="8778240" cy="91440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Further Reading &amp; What's Next</a:t>
            </a:r>
            <a:endParaRPr lang="en-US" sz="3200" dirty="0"/>
          </a:p>
        </p:txBody>
      </p:sp>
      <p:sp>
        <p:nvSpPr>
          <p:cNvPr id="4" name="Shape 2"/>
          <p:cNvSpPr/>
          <p:nvPr/>
        </p:nvSpPr>
        <p:spPr>
          <a:xfrm>
            <a:off x="10607040" y="502920"/>
            <a:ext cx="822960" cy="822960"/>
          </a:xfrm>
          <a:prstGeom prst="ellipse">
            <a:avLst/>
          </a:prstGeom>
          <a:solidFill>
            <a:srgbClr val="1E2761"/>
          </a:solidFill>
          <a:ln/>
        </p:spPr>
      </p:sp>
      <p:sp>
        <p:nvSpPr>
          <p:cNvPr id="5" name="Text 3"/>
          <p:cNvSpPr/>
          <p:nvPr/>
        </p:nvSpPr>
        <p:spPr>
          <a:xfrm>
            <a:off x="10607040" y="502920"/>
            <a:ext cx="822960" cy="822960"/>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a:t>
            </a:r>
            <a:endParaRPr lang="en-US" sz="2600" dirty="0"/>
          </a:p>
        </p:txBody>
      </p:sp>
      <p:sp>
        <p:nvSpPr>
          <p:cNvPr id="6" name="Text 4"/>
          <p:cNvSpPr/>
          <p:nvPr/>
        </p:nvSpPr>
        <p:spPr>
          <a:xfrm>
            <a:off x="548640" y="1691640"/>
            <a:ext cx="10241280" cy="4498848"/>
          </a:xfrm>
          <a:prstGeom prst="rect">
            <a:avLst/>
          </a:prstGeom>
          <a:noFill/>
          <a:ln/>
        </p:spPr>
        <p:txBody>
          <a:bodyPr wrap="square" lIns="0" tIns="0" rIns="0" bIns="0" rtlCol="0" anchor="t"/>
          <a:lstStyle/>
          <a:p>
            <a:pPr marL="228600" indent="-228600">
              <a:spcAft>
                <a:spcPts val="1200"/>
              </a:spcAft>
              <a:buSzPct val="100000"/>
              <a:buChar char="▪"/>
            </a:pPr>
            <a:r>
              <a:rPr lang="en-US" sz="1700" dirty="0">
                <a:solidFill>
                  <a:srgbClr val="232323"/>
                </a:solidFill>
                <a:latin typeface="Calibri" pitchFamily="34" charset="0"/>
                <a:ea typeface="Calibri" pitchFamily="34" charset="-122"/>
                <a:cs typeface="Calibri" pitchFamily="34" charset="-120"/>
              </a:rPr>
              <a:t>Textbook: M. Morris Mano &amp; Michael D. Ciletti, 'Computer System Architecture' — Chapter on the Basic Computer.</a:t>
            </a:r>
            <a:endParaRPr lang="en-US" sz="1700" dirty="0"/>
          </a:p>
          <a:p>
            <a:pPr marL="228600" indent="-228600">
              <a:spcAft>
                <a:spcPts val="1200"/>
              </a:spcAft>
              <a:buSzPct val="100000"/>
              <a:buChar char="▪"/>
            </a:pPr>
            <a:r>
              <a:rPr lang="en-US" sz="1700" dirty="0">
                <a:solidFill>
                  <a:srgbClr val="232323"/>
                </a:solidFill>
                <a:latin typeface="Calibri" pitchFamily="34" charset="0"/>
                <a:ea typeface="Calibri" pitchFamily="34" charset="-122"/>
                <a:cs typeface="Calibri" pitchFamily="34" charset="-120"/>
              </a:rPr>
              <a:t>Recommended: re-derive the summary table (slide 18) from memory, without looking, as a self-test.</a:t>
            </a:r>
            <a:endParaRPr lang="en-US" sz="1700" dirty="0"/>
          </a:p>
          <a:p>
            <a:pPr marL="228600" indent="-228600">
              <a:spcAft>
                <a:spcPts val="1200"/>
              </a:spcAft>
              <a:buSzPct val="100000"/>
              <a:buChar char="▪"/>
            </a:pPr>
            <a:r>
              <a:rPr lang="en-US" sz="1700" dirty="0">
                <a:solidFill>
                  <a:srgbClr val="232323"/>
                </a:solidFill>
                <a:latin typeface="Calibri" pitchFamily="34" charset="0"/>
                <a:ea typeface="Calibri" pitchFamily="34" charset="-122"/>
                <a:cs typeface="Calibri" pitchFamily="34" charset="-120"/>
              </a:rPr>
              <a:t>Next lecture: Register-Reference and Input/Output Instructions — the two remaining instruction categories.</a:t>
            </a:r>
            <a:endParaRPr lang="en-US" sz="1700" dirty="0"/>
          </a:p>
          <a:p>
            <a:pPr marL="228600" indent="-228600">
              <a:spcAft>
                <a:spcPts val="1200"/>
              </a:spcAft>
              <a:buSzPct val="100000"/>
              <a:buChar char="▪"/>
            </a:pPr>
            <a:r>
              <a:rPr lang="en-US" sz="1700" dirty="0">
                <a:solidFill>
                  <a:srgbClr val="232323"/>
                </a:solidFill>
                <a:latin typeface="Calibri" pitchFamily="34" charset="0"/>
                <a:ea typeface="Calibri" pitchFamily="34" charset="-122"/>
                <a:cs typeface="Calibri" pitchFamily="34" charset="-120"/>
              </a:rPr>
              <a:t>Assignment: trace the execution of ADD 640 I and BSA 720 by hand, showing every register value at each step.</a:t>
            </a:r>
            <a:endParaRPr lang="en-US" sz="1700" dirty="0"/>
          </a:p>
          <a:p>
            <a:pPr marL="228600" indent="-228600">
              <a:spcAft>
                <a:spcPts val="1200"/>
              </a:spcAft>
              <a:buSzPct val="100000"/>
              <a:buChar char="▪"/>
            </a:pPr>
            <a:r>
              <a:rPr lang="en-US" sz="1700" dirty="0">
                <a:solidFill>
                  <a:srgbClr val="232323"/>
                </a:solidFill>
                <a:latin typeface="Calibri" pitchFamily="34" charset="0"/>
                <a:ea typeface="Calibri" pitchFamily="34" charset="-122"/>
                <a:cs typeface="Calibri" pitchFamily="34" charset="-120"/>
              </a:rPr>
              <a:t>Come prepared with questions on anything from today that still feels unclear — there are no 'silly' questions here.</a:t>
            </a:r>
            <a:endParaRPr lang="en-US" sz="1700" dirty="0"/>
          </a:p>
        </p:txBody>
      </p:sp>
      <p:sp>
        <p:nvSpPr>
          <p:cNvPr id="7" name="Text 5"/>
          <p:cNvSpPr/>
          <p:nvPr/>
        </p:nvSpPr>
        <p:spPr>
          <a:xfrm>
            <a:off x="457200" y="6510528"/>
            <a:ext cx="8686800" cy="274320"/>
          </a:xfrm>
          <a:prstGeom prst="rect">
            <a:avLst/>
          </a:prstGeom>
          <a:noFill/>
          <a:ln/>
        </p:spPr>
        <p:txBody>
          <a:bodyPr wrap="square" lIns="0" tIns="0" rIns="0" bIns="0" rtlCol="0" anchor="ctr"/>
          <a:lstStyle/>
          <a:p>
            <a:pPr algn="l" indent="0" marL="0">
              <a:buNone/>
            </a:pPr>
            <a:r>
              <a:rPr lang="en-US" sz="900" dirty="0">
                <a:solidFill>
                  <a:srgbClr val="9AA0AE"/>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
        <p:nvSpPr>
          <p:cNvPr id="8" name="Text 6"/>
          <p:cNvSpPr/>
          <p:nvPr/>
        </p:nvSpPr>
        <p:spPr>
          <a:xfrm>
            <a:off x="11338560" y="6510528"/>
            <a:ext cx="457200" cy="274320"/>
          </a:xfrm>
          <a:prstGeom prst="rect">
            <a:avLst/>
          </a:prstGeom>
          <a:noFill/>
          <a:ln/>
        </p:spPr>
        <p:txBody>
          <a:bodyPr wrap="square" lIns="0" tIns="0" rIns="0" bIns="0" rtlCol="0" anchor="ctr"/>
          <a:lstStyle/>
          <a:p>
            <a:pPr algn="r" indent="0" marL="0">
              <a:buNone/>
            </a:pPr>
            <a:r>
              <a:rPr lang="en-US" sz="900" dirty="0">
                <a:solidFill>
                  <a:srgbClr val="9AA0AE"/>
                </a:solidFill>
                <a:latin typeface="Calibri" pitchFamily="34" charset="0"/>
                <a:ea typeface="Calibri" pitchFamily="34" charset="-122"/>
                <a:cs typeface="Calibri" pitchFamily="34" charset="-120"/>
              </a:rPr>
              <a:t>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9418320" y="-1463040"/>
            <a:ext cx="4114800" cy="4114800"/>
          </a:xfrm>
          <a:prstGeom prst="ellipse">
            <a:avLst/>
          </a:prstGeom>
          <a:solidFill>
            <a:srgbClr val="263875"/>
          </a:solidFill>
          <a:ln/>
        </p:spPr>
      </p:sp>
      <p:sp>
        <p:nvSpPr>
          <p:cNvPr id="3" name="Shape 1"/>
          <p:cNvSpPr/>
          <p:nvPr/>
        </p:nvSpPr>
        <p:spPr>
          <a:xfrm>
            <a:off x="-1280160" y="4754880"/>
            <a:ext cx="3291840" cy="3291840"/>
          </a:xfrm>
          <a:prstGeom prst="ellipse">
            <a:avLst/>
          </a:prstGeom>
          <a:solidFill>
            <a:srgbClr val="263875"/>
          </a:solidFill>
          <a:ln/>
        </p:spPr>
      </p:sp>
      <p:sp>
        <p:nvSpPr>
          <p:cNvPr id="4" name="Text 2"/>
          <p:cNvSpPr/>
          <p:nvPr/>
        </p:nvSpPr>
        <p:spPr>
          <a:xfrm>
            <a:off x="822960" y="2377440"/>
            <a:ext cx="9144000" cy="109728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Thank You</a:t>
            </a:r>
            <a:endParaRPr lang="en-US" sz="4600" dirty="0"/>
          </a:p>
        </p:txBody>
      </p:sp>
      <p:sp>
        <p:nvSpPr>
          <p:cNvPr id="5" name="Text 3"/>
          <p:cNvSpPr/>
          <p:nvPr/>
        </p:nvSpPr>
        <p:spPr>
          <a:xfrm>
            <a:off x="868680" y="3337560"/>
            <a:ext cx="9144000" cy="457200"/>
          </a:xfrm>
          <a:prstGeom prst="rect">
            <a:avLst/>
          </a:prstGeom>
          <a:noFill/>
          <a:ln/>
        </p:spPr>
        <p:txBody>
          <a:bodyPr wrap="square" lIns="0" tIns="0" rIns="0" bIns="0" rtlCol="0" anchor="ctr"/>
          <a:lstStyle/>
          <a:p>
            <a:pPr indent="0" marL="0">
              <a:buNone/>
            </a:pPr>
            <a:r>
              <a:rPr lang="en-US" sz="1800" dirty="0">
                <a:solidFill>
                  <a:srgbClr val="CADCFC"/>
                </a:solidFill>
                <a:latin typeface="Calibri" pitchFamily="34" charset="0"/>
                <a:ea typeface="Calibri" pitchFamily="34" charset="-122"/>
                <a:cs typeface="Calibri" pitchFamily="34" charset="-120"/>
              </a:rPr>
              <a:t>Questions are always welcome.</a:t>
            </a:r>
            <a:endParaRPr lang="en-US" sz="1800" dirty="0"/>
          </a:p>
        </p:txBody>
      </p:sp>
      <p:sp>
        <p:nvSpPr>
          <p:cNvPr id="6" name="Text 4"/>
          <p:cNvSpPr/>
          <p:nvPr/>
        </p:nvSpPr>
        <p:spPr>
          <a:xfrm>
            <a:off x="868680" y="5120640"/>
            <a:ext cx="7315200" cy="1097280"/>
          </a:xfrm>
          <a:prstGeom prst="rect">
            <a:avLst/>
          </a:prstGeom>
          <a:noFill/>
          <a:ln/>
        </p:spPr>
        <p:txBody>
          <a:bodyPr wrap="square" lIns="0" tIns="0" rIns="0" bIns="0" rtlCol="0" anchor="ctr"/>
          <a:lstStyle/>
          <a:p>
            <a:pPr indent="0" marL="0">
              <a:lnSpc>
                <a:spcPct val="130000"/>
              </a:lnSpc>
              <a:buNone/>
            </a:pPr>
            <a:r>
              <a:rPr lang="en-US" sz="1300" dirty="0">
                <a:solidFill>
                  <a:srgbClr val="9AA6C9"/>
                </a:solidFill>
                <a:latin typeface="Calibri" pitchFamily="34" charset="0"/>
                <a:ea typeface="Calibri" pitchFamily="34" charset="-122"/>
                <a:cs typeface="Calibri" pitchFamily="34" charset="-120"/>
              </a:rPr>
              <a:t>D. Venkatesan</a:t>
            </a:r>
            <a:endParaRPr lang="en-US" sz="1300" dirty="0"/>
          </a:p>
          <a:p>
            <a:pPr indent="0" marL="0">
              <a:lnSpc>
                <a:spcPct val="130000"/>
              </a:lnSpc>
              <a:buNone/>
            </a:pPr>
            <a:r>
              <a:rPr lang="en-US" sz="1300" dirty="0">
                <a:solidFill>
                  <a:srgbClr val="9AA6C9"/>
                </a:solidFill>
                <a:latin typeface="Calibri" pitchFamily="34" charset="0"/>
                <a:ea typeface="Calibri" pitchFamily="34" charset="-122"/>
                <a:cs typeface="Calibri" pitchFamily="34" charset="-120"/>
              </a:rPr>
              <a:t>Department of AI and Robotics, PSAIAC</a:t>
            </a:r>
            <a:endParaRPr lang="en-US" sz="1300" dirty="0"/>
          </a:p>
          <a:p>
            <a:pPr indent="0" marL="0">
              <a:lnSpc>
                <a:spcPct val="130000"/>
              </a:lnSpc>
              <a:buNone/>
            </a:pPr>
            <a:r>
              <a:rPr lang="en-US" sz="1300" dirty="0">
                <a:solidFill>
                  <a:srgbClr val="9AA6C9"/>
                </a:solidFill>
                <a:latin typeface="Calibri" pitchFamily="34" charset="0"/>
                <a:ea typeface="Calibri" pitchFamily="34" charset="-122"/>
                <a:cs typeface="Calibri" pitchFamily="34" charset="-120"/>
              </a:rPr>
              <a:t>Presidency University</a:t>
            </a:r>
            <a:endParaRPr lang="en-US" sz="1300" dirty="0"/>
          </a:p>
        </p:txBody>
      </p:sp>
      <p:sp>
        <p:nvSpPr>
          <p:cNvPr id="7" name="Text 5"/>
          <p:cNvSpPr/>
          <p:nvPr/>
        </p:nvSpPr>
        <p:spPr>
          <a:xfrm>
            <a:off x="11338560" y="6510528"/>
            <a:ext cx="457200" cy="274320"/>
          </a:xfrm>
          <a:prstGeom prst="rect">
            <a:avLst/>
          </a:prstGeom>
          <a:noFill/>
          <a:ln/>
        </p:spPr>
        <p:txBody>
          <a:bodyPr wrap="square" lIns="0" tIns="0" rIns="0" bIns="0" rtlCol="0" anchor="ctr"/>
          <a:lstStyle/>
          <a:p>
            <a:pPr algn="r" indent="0" marL="0">
              <a:buNone/>
            </a:pPr>
            <a:r>
              <a:rPr lang="en-US" sz="900" dirty="0">
                <a:solidFill>
                  <a:srgbClr val="9AA6C9"/>
                </a:solidFill>
                <a:latin typeface="Calibri" pitchFamily="34" charset="0"/>
                <a:ea typeface="Calibri" pitchFamily="34" charset="-122"/>
                <a:cs typeface="Calibri" pitchFamily="34" charset="-120"/>
              </a:rPr>
              <a:t>32</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2026-08-20T07:51:40Z</dcterms:created>
  <dcterms:modified xsi:type="dcterms:W3CDTF">2026-08-20T07:51:40Z</dcterms:modified>
</cp:coreProperties>
</file>