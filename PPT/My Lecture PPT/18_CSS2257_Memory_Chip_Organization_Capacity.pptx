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5" autoAdjust="0"/>
    <p:restoredTop sz="89065" autoAdjust="0"/>
  </p:normalViewPr>
  <p:slideViewPr>
    <p:cSldViewPr snapToGrid="0" snapToObjects="1">
      <p:cViewPr varScale="1">
        <p:scale>
          <a:sx n="76" d="100"/>
          <a:sy n="76" d="100"/>
        </p:scale>
        <p:origin x="7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75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reminder of the course context. Everything today builds directly on last class’s RAM/ROM/SRAM/DRAM foundation, so flag now if any of that felt shaky before we build on top of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very calculation-heavy lecture — keep a calculator handy. Everything here is exam-critical and genuinely useful for reading hardware datasheets.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Q1 and let students guess without correcting yet. Q2 sets up row-column decoding. For Q4, the real answer is over 68 billion cells — the gap between guesses and reality is a great hook. Transition: "Today we build up to calculating that exact number ourselves."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"16GB" RAM stick isn’t an arbitrary number — it’s built from a specific number of chips with a specific internal organization. This also happens to be where most numerical exam questions in this course come from.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before we go deeper. You already know the basic formula. Today we unpack exactly how it translates into physical layout inside the chip, and push the arithmetic much further.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memory chip like a library. The cell array is the shelves. The decoder is the librarian who walks straight to the right shelf given a catalog number. The I/O buffers are the front desk, handing you the book once found.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decoder is pure combinational logic — feed it a binary code, exactly one output activates. A 10-bit address needs a 10-to-1024 decoder. Decoder outputs always equal the number of words, since each output selects one word.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math as address lines, framed differently. 1024 locations need 1024 decoder outputs, one per location. Since 2 to the 10 is 1024, 10 input bits. Decoder inputs = address lines — same number, two names.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decoder works on paper, but a decoder with over a million output lines eats enormous chip area and power. Real chips almost never do this for large memories. Engineers use a smarter 2D approach instead.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icebreaker. Instead of one giant decoder, use two small ones — the selected cell is wherever the active row and column lines cross. Just like coordinates on a graph: no million labels, just an x and a 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total address space as Slide 10’s impractical case, but now built from two modest 10-to-1024 decoders. Same total address bits, vastly simpler hardware — this is why real DRAM chips use row/column addressing.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formula today — write it down. Capacity is how many locations, multiplied by bits per location. Everything else today is a variation of this one idea.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word size is exactly 8 bits (1 byte), byte capacity equals word count directly — 4096 words = 4096 bytes. This won’t always be this clean, so let’s try a case where it isn’t.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4K × 8 and 2K × 16 are completely different internal organizations that store exactly the same total data. Capacity alone doesn’t tell you everything about a chip — word width matters just as much for how it’s used.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"1M × 8" chip is word-organized — one address gives 8 bits at once. A "1M × 1" chip is bit-organized — one address gives exactly 1 bit; you’d need 8 of these in parallel to build a byte-wide memory.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chip receives the exact same address at the same time — each asked "give me your bit for word 12345." Chip 0 supplies bit 0, chip 1 supplies bit 1, and so on — together they produce one full 8-bit word.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seen an old motherboard covered in many tiny identical chips, that’s likely bit-organized memory. Modern memory moved to word-organized chips because it’s simpler to route and faster to access.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 questions love flipping the formula — instead of giving words and bits and asking for capacity, they give total capacity and ask for address lines. Same relationship, solved in a different order.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 total bits by word size first to recover word count — that undoes the multiplication. Then take log₂ for address lines. Students who skip the division and take log₂ of the raw bit count get the wrong answer — watch for that trap.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starts from pin counts, exactly how you’d approach a real datasheet. Address lines give word count via 2 to that power; data lines directly give word size. Multiply for total capacity — your general-purpose toolkit.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touched on this last class — today we formalize the math fully. Stack multiple identical chips and use a small decoder to pick which chip is "listening," while the chip’s own address lines pick the word within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out chip count by dividing total words by per-chip words. Find each chip’s own address lines. Find the extra "which chip" lines via log₂ of chip count. Add the two counts together for the system total — 13 here.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grid: each row is a "bank" forming one wide word (word-size expansion), and you stack multiple rows for more total capacity (capacity expansion). Total chip count is simply rows times columns.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challenge problem from last class — let’s solve it properly. Two chips side by side give the 16-bit width; four such pairs stacked give the 16K depth. Eight chips total, 14 address lines.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 = 1024 confusion is the single most common arithmetic mistake in this topic — using 1000 instead of 1024 breaks your log₂ calculations. Always use powers of 2 for K, M, G in this course.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to attempt this fully — it combines capacity calculation and chip combination in one problem. After time is up, ask a pair to share their steps out loud, not just the final answer.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genuine industry gotcha — manufacturers specify chip capacity in bits (lowercase "b"), while consumers think in bytes (capital "B"). An 8GB module is built from chips rated in gigabits, not gigabytes.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went from physical chip layout, through the core capacity formula, into word vs. bit organization, and finished with full system-design problems. Check each objective from Slide 3 — any questions before the quiz?</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about 5 minutes — this is a longer quiz since today was calculation-heavy. Q1/Q6 test the address-line formula and K=1024 rule, Q2 tests capacity calculation, Q3 tests row-column decoding, Q4 is a trick (a ×1 chip is bit-organized, so False), Q5 tests capacity expansion, Q7 tests the bits-vs-bytes gotcha.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Q1 live: 2048 words needs log₂(2048), and since 2¹¹ = 2048, the answer is 11 — an easy off-by-one to make with powers of 2, so remind students to double-check by recomputing 2 to the power they chose. Pay extra attention to Q4 and Q7 — the two "gotcha" items testing careful reading.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Excellent work today — this was dense and calculation-heavy, and you handled it well. Next class we move to cache mapping, which builds on today’s addressing concepts. For homework, try finding a real datasheet online. See you next class!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E2761"/>
          </a:solidFill>
          <a:ln/>
        </p:spPr>
      </p:sp>
      <p:sp>
        <p:nvSpPr>
          <p:cNvPr id="3" name="Shape 1"/>
          <p:cNvSpPr/>
          <p:nvPr/>
        </p:nvSpPr>
        <p:spPr>
          <a:xfrm>
            <a:off x="9326880" y="-1828800"/>
            <a:ext cx="5486400" cy="5486400"/>
          </a:xfrm>
          <a:prstGeom prst="ellipse">
            <a:avLst/>
          </a:prstGeom>
          <a:solidFill>
            <a:srgbClr val="141A45"/>
          </a:solidFill>
          <a:ln/>
        </p:spPr>
      </p:sp>
      <p:sp>
        <p:nvSpPr>
          <p:cNvPr id="4" name="Shape 2"/>
          <p:cNvSpPr/>
          <p:nvPr/>
        </p:nvSpPr>
        <p:spPr>
          <a:xfrm>
            <a:off x="-2194560" y="4206240"/>
            <a:ext cx="4572000" cy="4572000"/>
          </a:xfrm>
          <a:prstGeom prst="ellipse">
            <a:avLst/>
          </a:prstGeom>
          <a:solidFill>
            <a:srgbClr val="141A45"/>
          </a:solidFill>
          <a:ln/>
        </p:spPr>
      </p:sp>
      <p:sp>
        <p:nvSpPr>
          <p:cNvPr id="5" name="Text 3"/>
          <p:cNvSpPr txBox="1"/>
          <p:nvPr/>
        </p:nvSpPr>
        <p:spPr>
          <a:xfrm>
            <a:off x="822960" y="640080"/>
            <a:ext cx="10515600" cy="457200"/>
          </a:xfrm>
          <a:prstGeom prst="rect">
            <a:avLst/>
          </a:prstGeom>
          <a:noFill/>
          <a:ln/>
        </p:spPr>
        <p:txBody>
          <a:bodyPr wrap="square" lIns="0" tIns="0" rIns="0" bIns="0" rtlCol="0" anchor="ctr"/>
          <a:lstStyle/>
          <a:p>
            <a:pPr marL="0" indent="0">
              <a:buNone/>
            </a:pPr>
            <a:r>
              <a:rPr lang="en-US" sz="2000" b="1" kern="0" spc="200" dirty="0">
                <a:solidFill>
                  <a:srgbClr val="D4AF37"/>
                </a:solidFill>
                <a:latin typeface="Calibri" pitchFamily="34" charset="0"/>
                <a:ea typeface="Calibri" pitchFamily="34" charset="-122"/>
                <a:cs typeface="Calibri" pitchFamily="34" charset="-120"/>
              </a:rPr>
              <a:t>PRESIDENCY UNIVERSITY, BENGALURU</a:t>
            </a:r>
            <a:endParaRPr lang="en-US" sz="2000" dirty="0"/>
          </a:p>
        </p:txBody>
      </p:sp>
      <p:sp>
        <p:nvSpPr>
          <p:cNvPr id="6" name="Text 4"/>
          <p:cNvSpPr txBox="1"/>
          <p:nvPr/>
        </p:nvSpPr>
        <p:spPr>
          <a:xfrm>
            <a:off x="822960" y="1078992"/>
            <a:ext cx="10515600" cy="45720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School of Artificial Intelligence and Advanced Computing  |  Department of AI &amp; Robotics</a:t>
            </a:r>
            <a:endParaRPr lang="en-US" sz="2000" dirty="0"/>
          </a:p>
        </p:txBody>
      </p:sp>
      <p:sp>
        <p:nvSpPr>
          <p:cNvPr id="7" name="Shape 5"/>
          <p:cNvSpPr/>
          <p:nvPr/>
        </p:nvSpPr>
        <p:spPr>
          <a:xfrm>
            <a:off x="868680" y="1874520"/>
            <a:ext cx="2926080" cy="0"/>
          </a:xfrm>
          <a:prstGeom prst="line">
            <a:avLst/>
          </a:prstGeom>
          <a:noFill/>
          <a:ln w="25400">
            <a:solidFill>
              <a:srgbClr val="D4AF37"/>
            </a:solidFill>
            <a:prstDash val="solid"/>
          </a:ln>
        </p:spPr>
      </p:sp>
      <p:sp>
        <p:nvSpPr>
          <p:cNvPr id="8" name="Text 6"/>
          <p:cNvSpPr txBox="1"/>
          <p:nvPr/>
        </p:nvSpPr>
        <p:spPr>
          <a:xfrm>
            <a:off x="822960" y="2194560"/>
            <a:ext cx="10515600" cy="2011680"/>
          </a:xfrm>
          <a:prstGeom prst="rect">
            <a:avLst/>
          </a:prstGeom>
          <a:noFill/>
          <a:ln/>
        </p:spPr>
        <p:txBody>
          <a:bodyPr wrap="square" lIns="0" tIns="0" rIns="0" bIns="0" rtlCol="0" anchor="t"/>
          <a:lstStyle/>
          <a:p>
            <a:pPr marL="0" indent="0">
              <a:lnSpc>
                <a:spcPct val="108000"/>
              </a:lnSpc>
              <a:buNone/>
            </a:pPr>
            <a:r>
              <a:rPr lang="en-US" sz="4400" b="1" dirty="0">
                <a:solidFill>
                  <a:srgbClr val="FFFFFF"/>
                </a:solidFill>
                <a:latin typeface="Cambria" pitchFamily="34" charset="0"/>
                <a:ea typeface="Cambria" pitchFamily="34" charset="-122"/>
                <a:cs typeface="Cambria" pitchFamily="34" charset="-120"/>
              </a:rPr>
              <a:t>Internal Organization of Memory Chips:</a:t>
            </a:r>
            <a:endParaRPr lang="en-US" sz="4400" dirty="0"/>
          </a:p>
          <a:p>
            <a:pPr marL="0" indent="0">
              <a:lnSpc>
                <a:spcPct val="108000"/>
              </a:lnSpc>
              <a:buNone/>
            </a:pPr>
            <a:r>
              <a:rPr lang="en-US" sz="4400" b="1" dirty="0">
                <a:solidFill>
                  <a:srgbClr val="FFFFFF"/>
                </a:solidFill>
                <a:latin typeface="Cambria" pitchFamily="34" charset="0"/>
                <a:ea typeface="Cambria" pitchFamily="34" charset="-122"/>
                <a:cs typeface="Cambria" pitchFamily="34" charset="-120"/>
              </a:rPr>
              <a:t>Capacity Calculation, Word &amp; Bit Organization</a:t>
            </a:r>
            <a:endParaRPr lang="en-US" sz="4400" dirty="0"/>
          </a:p>
        </p:txBody>
      </p:sp>
      <p:sp>
        <p:nvSpPr>
          <p:cNvPr id="9" name="Text 7"/>
          <p:cNvSpPr txBox="1"/>
          <p:nvPr/>
        </p:nvSpPr>
        <p:spPr>
          <a:xfrm>
            <a:off x="822960" y="4343400"/>
            <a:ext cx="10515600" cy="457200"/>
          </a:xfrm>
          <a:prstGeom prst="rect">
            <a:avLst/>
          </a:prstGeom>
          <a:noFill/>
          <a:ln/>
        </p:spPr>
        <p:txBody>
          <a:bodyPr wrap="square" lIns="0" tIns="0" rIns="0" bIns="0" rtlCol="0" anchor="ctr"/>
          <a:lstStyle/>
          <a:p>
            <a:pPr marL="0" indent="0">
              <a:buNone/>
            </a:pPr>
            <a:r>
              <a:rPr lang="en-US" sz="2400" dirty="0">
                <a:solidFill>
                  <a:srgbClr val="CADCFC"/>
                </a:solidFill>
                <a:latin typeface="Calibri" pitchFamily="34" charset="0"/>
                <a:ea typeface="Calibri" pitchFamily="34" charset="-122"/>
                <a:cs typeface="Calibri" pitchFamily="34" charset="-120"/>
              </a:rPr>
              <a:t>Computer Organization and Architecture  •  CSS2257</a:t>
            </a:r>
            <a:endParaRPr lang="en-US" sz="2400" dirty="0"/>
          </a:p>
        </p:txBody>
      </p:sp>
      <p:pic>
        <p:nvPicPr>
          <p:cNvPr id="10" name="Image 0" descr="preencoded.png"/>
          <p:cNvPicPr>
            <a:picLocks noChangeAspect="1"/>
          </p:cNvPicPr>
          <p:nvPr/>
        </p:nvPicPr>
        <p:blipFill>
          <a:blip r:embed="rId3"/>
          <a:stretch>
            <a:fillRect/>
          </a:stretch>
        </p:blipFill>
        <p:spPr>
          <a:xfrm>
            <a:off x="10241280" y="5120640"/>
            <a:ext cx="1188720" cy="1188720"/>
          </a:xfrm>
          <a:prstGeom prst="rect">
            <a:avLst/>
          </a:prstGeom>
        </p:spPr>
      </p:pic>
      <p:sp>
        <p:nvSpPr>
          <p:cNvPr id="11" name="Text 8"/>
          <p:cNvSpPr txBox="1"/>
          <p:nvPr/>
        </p:nvSpPr>
        <p:spPr>
          <a:xfrm>
            <a:off x="822960" y="5806440"/>
            <a:ext cx="594360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Faculty: Mr. Manoj Sagar</a:t>
            </a:r>
            <a:endParaRPr lang="en-US" sz="2000" dirty="0"/>
          </a:p>
        </p:txBody>
      </p:sp>
      <p:sp>
        <p:nvSpPr>
          <p:cNvPr id="12" name="Text 9"/>
          <p:cNvSpPr txBox="1"/>
          <p:nvPr/>
        </p:nvSpPr>
        <p:spPr>
          <a:xfrm>
            <a:off x="822960" y="6236208"/>
            <a:ext cx="5943600" cy="36576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Semester — | Academic Year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COMPUTER ORGANIZATION AND ARCHITECTURE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Institute &amp; Department</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Presidency University, Bengaluru</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School of Artificial Intelligence and Advanced Computing</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Department of Artificial Intelligence &amp; Robotics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Course: CSS2257 — Computer Organization and Architecture</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TODAY'S ROADMAP</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Learning Objectives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Describe a memory chip’s internal organization</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Distinguish word organization from bit organization</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Calculate capacity from address and data line counts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Convert between total capacity, word count, and word size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Design a 2D (row-column) decoder layout</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Solve chip-combination problems (width and capacity)</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3</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ICEBREAKER</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Chip Detective</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If you saw "256M × 8" on a chip, what do those numbers mean?</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Why organize memory as a grid instead of one long line?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Ever seen memory chips inside an old computer or phone?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Guess: how many memory cells are inside an 8GB RAM stick?</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4</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MOTIVATION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Why This Topic Matters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Every RAM upgrade decision depends on capacity math</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Chip designers must minimize address-decoding hardware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Engineers combine chips to hit exact capacity/width targets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The most heavily tested numerical topic in this unit</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5</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RECAP</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What We Know So Far</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Memory = collection of addressable storage locations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Each location holds a fixed-size word</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Address lines select a location; data lines carry the word</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Address lines needed = log₂(number of words)</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6</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BIG PICTURE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Inside a Memory Chip</a:t>
            </a:r>
            <a:endParaRPr lang="en-US" sz="3600" dirty="0"/>
          </a:p>
        </p:txBody>
      </p:sp>
      <p:sp>
        <p:nvSpPr>
          <p:cNvPr id="4" name="Shape 2"/>
          <p:cNvSpPr/>
          <p:nvPr/>
        </p:nvSpPr>
        <p:spPr>
          <a:xfrm>
            <a:off x="640080" y="1691640"/>
            <a:ext cx="1737360" cy="822960"/>
          </a:xfrm>
          <a:prstGeom prst="roundRect">
            <a:avLst>
              <a:gd name="adj" fmla="val 8889"/>
            </a:avLst>
          </a:prstGeom>
          <a:solidFill>
            <a:srgbClr val="E7EEFC"/>
          </a:solidFill>
          <a:ln w="12700">
            <a:solidFill>
              <a:srgbClr val="1E2761"/>
            </a:solidFill>
            <a:prstDash val="solid"/>
          </a:ln>
        </p:spPr>
      </p:sp>
      <p:sp>
        <p:nvSpPr>
          <p:cNvPr id="5" name="Text 3"/>
          <p:cNvSpPr txBox="1"/>
          <p:nvPr/>
        </p:nvSpPr>
        <p:spPr>
          <a:xfrm>
            <a:off x="640080" y="1828800"/>
            <a:ext cx="1737360" cy="59436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Address In</a:t>
            </a:r>
            <a:endParaRPr lang="en-US" sz="2000" dirty="0"/>
          </a:p>
        </p:txBody>
      </p:sp>
      <p:sp>
        <p:nvSpPr>
          <p:cNvPr id="6" name="Shape 4"/>
          <p:cNvSpPr/>
          <p:nvPr/>
        </p:nvSpPr>
        <p:spPr>
          <a:xfrm>
            <a:off x="2377440" y="2103120"/>
            <a:ext cx="365760" cy="0"/>
          </a:xfrm>
          <a:prstGeom prst="line">
            <a:avLst/>
          </a:prstGeom>
          <a:noFill/>
          <a:ln w="31750">
            <a:solidFill>
              <a:srgbClr val="D4AF37"/>
            </a:solidFill>
            <a:prstDash val="solid"/>
            <a:tailEnd type="triangle"/>
          </a:ln>
        </p:spPr>
      </p:sp>
      <p:sp>
        <p:nvSpPr>
          <p:cNvPr id="7" name="Shape 5"/>
          <p:cNvSpPr/>
          <p:nvPr/>
        </p:nvSpPr>
        <p:spPr>
          <a:xfrm>
            <a:off x="2743200" y="1691640"/>
            <a:ext cx="1737360" cy="822960"/>
          </a:xfrm>
          <a:prstGeom prst="roundRect">
            <a:avLst>
              <a:gd name="adj" fmla="val 8889"/>
            </a:avLst>
          </a:prstGeom>
          <a:solidFill>
            <a:srgbClr val="1E2761"/>
          </a:solidFill>
          <a:ln w="12700">
            <a:solidFill>
              <a:srgbClr val="1E2761"/>
            </a:solidFill>
            <a:prstDash val="solid"/>
          </a:ln>
        </p:spPr>
      </p:sp>
      <p:sp>
        <p:nvSpPr>
          <p:cNvPr id="8" name="Text 6"/>
          <p:cNvSpPr txBox="1"/>
          <p:nvPr/>
        </p:nvSpPr>
        <p:spPr>
          <a:xfrm>
            <a:off x="2743200" y="1828800"/>
            <a:ext cx="1737360" cy="59436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Decoder</a:t>
            </a:r>
            <a:endParaRPr lang="en-US" sz="2000" dirty="0"/>
          </a:p>
        </p:txBody>
      </p:sp>
      <p:sp>
        <p:nvSpPr>
          <p:cNvPr id="9" name="Shape 7"/>
          <p:cNvSpPr/>
          <p:nvPr/>
        </p:nvSpPr>
        <p:spPr>
          <a:xfrm>
            <a:off x="4480560" y="2103120"/>
            <a:ext cx="365760" cy="0"/>
          </a:xfrm>
          <a:prstGeom prst="line">
            <a:avLst/>
          </a:prstGeom>
          <a:noFill/>
          <a:ln w="31750">
            <a:solidFill>
              <a:srgbClr val="D4AF37"/>
            </a:solidFill>
            <a:prstDash val="solid"/>
            <a:tailEnd type="triangle"/>
          </a:ln>
        </p:spPr>
      </p:sp>
      <p:sp>
        <p:nvSpPr>
          <p:cNvPr id="10" name="Shape 8"/>
          <p:cNvSpPr/>
          <p:nvPr/>
        </p:nvSpPr>
        <p:spPr>
          <a:xfrm>
            <a:off x="4846320" y="1691640"/>
            <a:ext cx="1920240" cy="822960"/>
          </a:xfrm>
          <a:prstGeom prst="roundRect">
            <a:avLst>
              <a:gd name="adj" fmla="val 8889"/>
            </a:avLst>
          </a:prstGeom>
          <a:solidFill>
            <a:srgbClr val="1E2761"/>
          </a:solidFill>
          <a:ln w="12700">
            <a:solidFill>
              <a:srgbClr val="1E2761"/>
            </a:solidFill>
            <a:prstDash val="solid"/>
          </a:ln>
        </p:spPr>
      </p:sp>
      <p:sp>
        <p:nvSpPr>
          <p:cNvPr id="11" name="Text 9"/>
          <p:cNvSpPr txBox="1"/>
          <p:nvPr/>
        </p:nvSpPr>
        <p:spPr>
          <a:xfrm>
            <a:off x="4846320" y="1828800"/>
            <a:ext cx="1920240" cy="59436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Memory</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Cell Array</a:t>
            </a:r>
            <a:endParaRPr lang="en-US" sz="2000" dirty="0"/>
          </a:p>
        </p:txBody>
      </p:sp>
      <p:sp>
        <p:nvSpPr>
          <p:cNvPr id="12" name="Shape 10"/>
          <p:cNvSpPr/>
          <p:nvPr/>
        </p:nvSpPr>
        <p:spPr>
          <a:xfrm>
            <a:off x="6766560" y="2103120"/>
            <a:ext cx="365760" cy="0"/>
          </a:xfrm>
          <a:prstGeom prst="line">
            <a:avLst/>
          </a:prstGeom>
          <a:noFill/>
          <a:ln w="31750">
            <a:solidFill>
              <a:srgbClr val="D4AF37"/>
            </a:solidFill>
            <a:prstDash val="solid"/>
            <a:tailEnd type="triangle"/>
          </a:ln>
        </p:spPr>
      </p:sp>
      <p:sp>
        <p:nvSpPr>
          <p:cNvPr id="13" name="Shape 11"/>
          <p:cNvSpPr/>
          <p:nvPr/>
        </p:nvSpPr>
        <p:spPr>
          <a:xfrm>
            <a:off x="7132320" y="1691640"/>
            <a:ext cx="1737360" cy="822960"/>
          </a:xfrm>
          <a:prstGeom prst="roundRect">
            <a:avLst>
              <a:gd name="adj" fmla="val 8889"/>
            </a:avLst>
          </a:prstGeom>
          <a:solidFill>
            <a:srgbClr val="E7EEFC"/>
          </a:solidFill>
          <a:ln w="12700">
            <a:solidFill>
              <a:srgbClr val="1E2761"/>
            </a:solidFill>
            <a:prstDash val="solid"/>
          </a:ln>
        </p:spPr>
      </p:sp>
      <p:sp>
        <p:nvSpPr>
          <p:cNvPr id="14" name="Text 12"/>
          <p:cNvSpPr txBox="1"/>
          <p:nvPr/>
        </p:nvSpPr>
        <p:spPr>
          <a:xfrm>
            <a:off x="7132320" y="1828800"/>
            <a:ext cx="1737360" cy="59436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Data Out</a:t>
            </a:r>
            <a:endParaRPr lang="en-US" sz="2000" dirty="0"/>
          </a:p>
        </p:txBody>
      </p:sp>
      <p:sp>
        <p:nvSpPr>
          <p:cNvPr id="15" name="Shape 13"/>
          <p:cNvSpPr/>
          <p:nvPr/>
        </p:nvSpPr>
        <p:spPr>
          <a:xfrm>
            <a:off x="2743200" y="2971800"/>
            <a:ext cx="1737360" cy="594360"/>
          </a:xfrm>
          <a:prstGeom prst="roundRect">
            <a:avLst>
              <a:gd name="adj" fmla="val 12308"/>
            </a:avLst>
          </a:prstGeom>
          <a:solidFill>
            <a:srgbClr val="D4AF37"/>
          </a:solidFill>
          <a:ln/>
        </p:spPr>
      </p:sp>
      <p:sp>
        <p:nvSpPr>
          <p:cNvPr id="16" name="Text 14"/>
          <p:cNvSpPr txBox="1"/>
          <p:nvPr/>
        </p:nvSpPr>
        <p:spPr>
          <a:xfrm>
            <a:off x="2743200" y="3044952"/>
            <a:ext cx="1737360" cy="45720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CS · R/W Control</a:t>
            </a:r>
            <a:endParaRPr lang="en-US" sz="2000" dirty="0"/>
          </a:p>
        </p:txBody>
      </p:sp>
      <p:sp>
        <p:nvSpPr>
          <p:cNvPr id="17" name="Shape 15"/>
          <p:cNvSpPr/>
          <p:nvPr/>
        </p:nvSpPr>
        <p:spPr>
          <a:xfrm>
            <a:off x="3611880" y="2971800"/>
            <a:ext cx="0" cy="0"/>
          </a:xfrm>
          <a:prstGeom prst="line">
            <a:avLst/>
          </a:prstGeom>
          <a:noFill/>
          <a:ln w="31750">
            <a:solidFill>
              <a:srgbClr val="D4AF37"/>
            </a:solidFill>
            <a:prstDash val="solid"/>
            <a:tailEnd type="triangle"/>
          </a:ln>
        </p:spPr>
      </p:sp>
      <p:sp>
        <p:nvSpPr>
          <p:cNvPr id="18" name="Text 16"/>
          <p:cNvSpPr txBox="1"/>
          <p:nvPr/>
        </p:nvSpPr>
        <p:spPr>
          <a:xfrm>
            <a:off x="640080" y="3977640"/>
            <a:ext cx="10881360" cy="21031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Four blocks: Decoder, Cell Array, R/W Control Logic, I/O Buffers</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Decoder: turns a binary address into "select exactly one location"</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Cell array: physically holds the bits</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I/O buffers: hand data back out once found</a:t>
            </a:r>
            <a:endParaRPr lang="en-US" sz="2000" dirty="0"/>
          </a:p>
        </p:txBody>
      </p:sp>
      <p:sp>
        <p:nvSpPr>
          <p:cNvPr id="19" name="Text 17"/>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0" name="Text 18"/>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7</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ADDRESS DECODER</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How Selection Works</a:t>
            </a:r>
            <a:endParaRPr lang="en-US" sz="3600" dirty="0"/>
          </a:p>
        </p:txBody>
      </p:sp>
      <p:sp>
        <p:nvSpPr>
          <p:cNvPr id="4" name="Shape 2"/>
          <p:cNvSpPr/>
          <p:nvPr/>
        </p:nvSpPr>
        <p:spPr>
          <a:xfrm>
            <a:off x="2651760" y="1874520"/>
            <a:ext cx="1645920" cy="1828800"/>
          </a:xfrm>
          <a:prstGeom prst="roundRect">
            <a:avLst>
              <a:gd name="adj" fmla="val 4444"/>
            </a:avLst>
          </a:prstGeom>
          <a:solidFill>
            <a:srgbClr val="1E2761"/>
          </a:solidFill>
          <a:ln/>
        </p:spPr>
      </p:sp>
      <p:sp>
        <p:nvSpPr>
          <p:cNvPr id="5" name="Text 3"/>
          <p:cNvSpPr txBox="1"/>
          <p:nvPr/>
        </p:nvSpPr>
        <p:spPr>
          <a:xfrm>
            <a:off x="2651760" y="2331720"/>
            <a:ext cx="1645920" cy="9144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n-to-2^n</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Decoder</a:t>
            </a:r>
            <a:endParaRPr lang="en-US" sz="2000" dirty="0"/>
          </a:p>
        </p:txBody>
      </p:sp>
      <p:sp>
        <p:nvSpPr>
          <p:cNvPr id="6" name="Shape 4"/>
          <p:cNvSpPr/>
          <p:nvPr/>
        </p:nvSpPr>
        <p:spPr>
          <a:xfrm>
            <a:off x="2011680" y="2148840"/>
            <a:ext cx="640080" cy="0"/>
          </a:xfrm>
          <a:prstGeom prst="line">
            <a:avLst/>
          </a:prstGeom>
          <a:noFill/>
          <a:ln w="19050">
            <a:solidFill>
              <a:srgbClr val="5B6B8C"/>
            </a:solidFill>
            <a:prstDash val="solid"/>
            <a:tailEnd type="triangle"/>
          </a:ln>
        </p:spPr>
      </p:sp>
      <p:sp>
        <p:nvSpPr>
          <p:cNvPr id="7" name="Shape 5"/>
          <p:cNvSpPr/>
          <p:nvPr/>
        </p:nvSpPr>
        <p:spPr>
          <a:xfrm>
            <a:off x="2011680" y="2575560"/>
            <a:ext cx="640080" cy="0"/>
          </a:xfrm>
          <a:prstGeom prst="line">
            <a:avLst/>
          </a:prstGeom>
          <a:noFill/>
          <a:ln w="19050">
            <a:solidFill>
              <a:srgbClr val="5B6B8C"/>
            </a:solidFill>
            <a:prstDash val="solid"/>
            <a:tailEnd type="triangle"/>
          </a:ln>
        </p:spPr>
      </p:sp>
      <p:sp>
        <p:nvSpPr>
          <p:cNvPr id="8" name="Shape 6"/>
          <p:cNvSpPr/>
          <p:nvPr/>
        </p:nvSpPr>
        <p:spPr>
          <a:xfrm>
            <a:off x="2011680" y="3002280"/>
            <a:ext cx="640080" cy="0"/>
          </a:xfrm>
          <a:prstGeom prst="line">
            <a:avLst/>
          </a:prstGeom>
          <a:noFill/>
          <a:ln w="19050">
            <a:solidFill>
              <a:srgbClr val="5B6B8C"/>
            </a:solidFill>
            <a:prstDash val="solid"/>
            <a:tailEnd type="triangle"/>
          </a:ln>
        </p:spPr>
      </p:sp>
      <p:sp>
        <p:nvSpPr>
          <p:cNvPr id="9" name="Shape 7"/>
          <p:cNvSpPr/>
          <p:nvPr/>
        </p:nvSpPr>
        <p:spPr>
          <a:xfrm>
            <a:off x="2011680" y="3429000"/>
            <a:ext cx="640080" cy="0"/>
          </a:xfrm>
          <a:prstGeom prst="line">
            <a:avLst/>
          </a:prstGeom>
          <a:noFill/>
          <a:ln w="19050">
            <a:solidFill>
              <a:srgbClr val="5B6B8C"/>
            </a:solidFill>
            <a:prstDash val="solid"/>
            <a:tailEnd type="triangle"/>
          </a:ln>
        </p:spPr>
      </p:sp>
      <p:sp>
        <p:nvSpPr>
          <p:cNvPr id="10" name="Text 8"/>
          <p:cNvSpPr txBox="1"/>
          <p:nvPr/>
        </p:nvSpPr>
        <p:spPr>
          <a:xfrm>
            <a:off x="548640" y="2331720"/>
            <a:ext cx="1965960" cy="914400"/>
          </a:xfrm>
          <a:prstGeom prst="rect">
            <a:avLst/>
          </a:prstGeom>
          <a:noFill/>
          <a:ln/>
        </p:spPr>
        <p:txBody>
          <a:bodyPr wrap="square" lIns="25400" tIns="25400" rIns="25400" bIns="2540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n address</a:t>
            </a:r>
            <a:endParaRPr lang="en-US" sz="2000" dirty="0"/>
          </a:p>
          <a:p>
            <a:pPr marL="0" indent="0" algn="r">
              <a:buNone/>
            </a:pPr>
            <a:r>
              <a:rPr lang="en-US" sz="2000" dirty="0">
                <a:solidFill>
                  <a:srgbClr val="5B6B8C"/>
                </a:solidFill>
                <a:latin typeface="Calibri" pitchFamily="34" charset="0"/>
                <a:ea typeface="Calibri" pitchFamily="34" charset="-122"/>
                <a:cs typeface="Calibri" pitchFamily="34" charset="-120"/>
              </a:rPr>
              <a:t>bits in</a:t>
            </a:r>
            <a:endParaRPr lang="en-US" sz="2000" dirty="0"/>
          </a:p>
        </p:txBody>
      </p:sp>
      <p:sp>
        <p:nvSpPr>
          <p:cNvPr id="11" name="Shape 9"/>
          <p:cNvSpPr/>
          <p:nvPr/>
        </p:nvSpPr>
        <p:spPr>
          <a:xfrm>
            <a:off x="4297680" y="2011680"/>
            <a:ext cx="640080" cy="0"/>
          </a:xfrm>
          <a:prstGeom prst="line">
            <a:avLst/>
          </a:prstGeom>
          <a:noFill/>
          <a:ln w="19050">
            <a:solidFill>
              <a:srgbClr val="CADCFC"/>
            </a:solidFill>
            <a:prstDash val="solid"/>
          </a:ln>
        </p:spPr>
      </p:sp>
      <p:sp>
        <p:nvSpPr>
          <p:cNvPr id="12" name="Shape 10"/>
          <p:cNvSpPr/>
          <p:nvPr/>
        </p:nvSpPr>
        <p:spPr>
          <a:xfrm>
            <a:off x="4937760" y="1883664"/>
            <a:ext cx="1828800" cy="256032"/>
          </a:xfrm>
          <a:prstGeom prst="roundRect">
            <a:avLst>
              <a:gd name="adj" fmla="val 17857"/>
            </a:avLst>
          </a:prstGeom>
          <a:solidFill>
            <a:srgbClr val="E7EEFC"/>
          </a:solidFill>
          <a:ln/>
        </p:spPr>
      </p:sp>
      <p:sp>
        <p:nvSpPr>
          <p:cNvPr id="13" name="Text 11"/>
          <p:cNvSpPr txBox="1"/>
          <p:nvPr/>
        </p:nvSpPr>
        <p:spPr>
          <a:xfrm>
            <a:off x="4983480" y="1883664"/>
            <a:ext cx="1737360" cy="256032"/>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4297680" y="2322576"/>
            <a:ext cx="640080" cy="0"/>
          </a:xfrm>
          <a:prstGeom prst="line">
            <a:avLst/>
          </a:prstGeom>
          <a:noFill/>
          <a:ln w="19050">
            <a:solidFill>
              <a:srgbClr val="CADCFC"/>
            </a:solidFill>
            <a:prstDash val="solid"/>
          </a:ln>
        </p:spPr>
      </p:sp>
      <p:sp>
        <p:nvSpPr>
          <p:cNvPr id="15" name="Shape 13"/>
          <p:cNvSpPr/>
          <p:nvPr/>
        </p:nvSpPr>
        <p:spPr>
          <a:xfrm>
            <a:off x="4937760" y="2194560"/>
            <a:ext cx="1828800" cy="256032"/>
          </a:xfrm>
          <a:prstGeom prst="roundRect">
            <a:avLst>
              <a:gd name="adj" fmla="val 17857"/>
            </a:avLst>
          </a:prstGeom>
          <a:solidFill>
            <a:srgbClr val="E7EEFC"/>
          </a:solidFill>
          <a:ln/>
        </p:spPr>
      </p:sp>
      <p:sp>
        <p:nvSpPr>
          <p:cNvPr id="16" name="Text 14"/>
          <p:cNvSpPr txBox="1"/>
          <p:nvPr/>
        </p:nvSpPr>
        <p:spPr>
          <a:xfrm>
            <a:off x="4983480" y="2194560"/>
            <a:ext cx="1737360" cy="256032"/>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4297680" y="2633472"/>
            <a:ext cx="640080" cy="0"/>
          </a:xfrm>
          <a:prstGeom prst="line">
            <a:avLst/>
          </a:prstGeom>
          <a:noFill/>
          <a:ln w="38100">
            <a:solidFill>
              <a:srgbClr val="D4AF37"/>
            </a:solidFill>
            <a:prstDash val="solid"/>
          </a:ln>
        </p:spPr>
      </p:sp>
      <p:sp>
        <p:nvSpPr>
          <p:cNvPr id="18" name="Shape 16"/>
          <p:cNvSpPr/>
          <p:nvPr/>
        </p:nvSpPr>
        <p:spPr>
          <a:xfrm>
            <a:off x="4937760" y="2505456"/>
            <a:ext cx="1828800" cy="256032"/>
          </a:xfrm>
          <a:prstGeom prst="roundRect">
            <a:avLst>
              <a:gd name="adj" fmla="val 17857"/>
            </a:avLst>
          </a:prstGeom>
          <a:solidFill>
            <a:srgbClr val="D4AF37"/>
          </a:solidFill>
          <a:ln/>
        </p:spPr>
      </p:sp>
      <p:sp>
        <p:nvSpPr>
          <p:cNvPr id="19" name="Text 17"/>
          <p:cNvSpPr txBox="1"/>
          <p:nvPr/>
        </p:nvSpPr>
        <p:spPr>
          <a:xfrm>
            <a:off x="4983480" y="2505456"/>
            <a:ext cx="1737360" cy="256032"/>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Active word</a:t>
            </a:r>
            <a:endParaRPr lang="en-US" sz="2000" dirty="0"/>
          </a:p>
        </p:txBody>
      </p:sp>
      <p:sp>
        <p:nvSpPr>
          <p:cNvPr id="20" name="Shape 18"/>
          <p:cNvSpPr/>
          <p:nvPr/>
        </p:nvSpPr>
        <p:spPr>
          <a:xfrm>
            <a:off x="4297680" y="2944368"/>
            <a:ext cx="640080" cy="0"/>
          </a:xfrm>
          <a:prstGeom prst="line">
            <a:avLst/>
          </a:prstGeom>
          <a:noFill/>
          <a:ln w="19050">
            <a:solidFill>
              <a:srgbClr val="CADCFC"/>
            </a:solidFill>
            <a:prstDash val="solid"/>
          </a:ln>
        </p:spPr>
      </p:sp>
      <p:sp>
        <p:nvSpPr>
          <p:cNvPr id="21" name="Shape 19"/>
          <p:cNvSpPr/>
          <p:nvPr/>
        </p:nvSpPr>
        <p:spPr>
          <a:xfrm>
            <a:off x="4937760" y="2816352"/>
            <a:ext cx="1828800" cy="256032"/>
          </a:xfrm>
          <a:prstGeom prst="roundRect">
            <a:avLst>
              <a:gd name="adj" fmla="val 17857"/>
            </a:avLst>
          </a:prstGeom>
          <a:solidFill>
            <a:srgbClr val="E7EEFC"/>
          </a:solidFill>
          <a:ln/>
        </p:spPr>
      </p:sp>
      <p:sp>
        <p:nvSpPr>
          <p:cNvPr id="22" name="Text 20"/>
          <p:cNvSpPr txBox="1"/>
          <p:nvPr/>
        </p:nvSpPr>
        <p:spPr>
          <a:xfrm>
            <a:off x="4983480" y="2816352"/>
            <a:ext cx="1737360" cy="256032"/>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4297680" y="3255264"/>
            <a:ext cx="640080" cy="0"/>
          </a:xfrm>
          <a:prstGeom prst="line">
            <a:avLst/>
          </a:prstGeom>
          <a:noFill/>
          <a:ln w="19050">
            <a:solidFill>
              <a:srgbClr val="CADCFC"/>
            </a:solidFill>
            <a:prstDash val="solid"/>
          </a:ln>
        </p:spPr>
      </p:sp>
      <p:sp>
        <p:nvSpPr>
          <p:cNvPr id="24" name="Shape 22"/>
          <p:cNvSpPr/>
          <p:nvPr/>
        </p:nvSpPr>
        <p:spPr>
          <a:xfrm>
            <a:off x="4937760" y="3127248"/>
            <a:ext cx="1828800" cy="256032"/>
          </a:xfrm>
          <a:prstGeom prst="roundRect">
            <a:avLst>
              <a:gd name="adj" fmla="val 17857"/>
            </a:avLst>
          </a:prstGeom>
          <a:solidFill>
            <a:srgbClr val="E7EEFC"/>
          </a:solidFill>
          <a:ln/>
        </p:spPr>
      </p:sp>
      <p:sp>
        <p:nvSpPr>
          <p:cNvPr id="25" name="Text 23"/>
          <p:cNvSpPr txBox="1"/>
          <p:nvPr/>
        </p:nvSpPr>
        <p:spPr>
          <a:xfrm>
            <a:off x="4983480" y="3127248"/>
            <a:ext cx="1737360" cy="256032"/>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4297680" y="3566160"/>
            <a:ext cx="640080" cy="0"/>
          </a:xfrm>
          <a:prstGeom prst="line">
            <a:avLst/>
          </a:prstGeom>
          <a:noFill/>
          <a:ln w="19050">
            <a:solidFill>
              <a:srgbClr val="CADCFC"/>
            </a:solidFill>
            <a:prstDash val="solid"/>
          </a:ln>
        </p:spPr>
      </p:sp>
      <p:sp>
        <p:nvSpPr>
          <p:cNvPr id="27" name="Shape 25"/>
          <p:cNvSpPr/>
          <p:nvPr/>
        </p:nvSpPr>
        <p:spPr>
          <a:xfrm>
            <a:off x="4937760" y="3438144"/>
            <a:ext cx="1828800" cy="256032"/>
          </a:xfrm>
          <a:prstGeom prst="roundRect">
            <a:avLst>
              <a:gd name="adj" fmla="val 17857"/>
            </a:avLst>
          </a:prstGeom>
          <a:solidFill>
            <a:srgbClr val="E7EEFC"/>
          </a:solidFill>
          <a:ln/>
        </p:spPr>
      </p:sp>
      <p:sp>
        <p:nvSpPr>
          <p:cNvPr id="28" name="Text 26"/>
          <p:cNvSpPr txBox="1"/>
          <p:nvPr/>
        </p:nvSpPr>
        <p:spPr>
          <a:xfrm>
            <a:off x="4983480" y="3438144"/>
            <a:ext cx="1737360" cy="256032"/>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a:t>
            </a:r>
            <a:endParaRPr lang="en-US" sz="2000" dirty="0"/>
          </a:p>
        </p:txBody>
      </p:sp>
      <p:sp>
        <p:nvSpPr>
          <p:cNvPr id="29" name="Text 27"/>
          <p:cNvSpPr txBox="1"/>
          <p:nvPr/>
        </p:nvSpPr>
        <p:spPr>
          <a:xfrm>
            <a:off x="4937760" y="3794760"/>
            <a:ext cx="32918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2^n outputs — only one active</a:t>
            </a:r>
            <a:endParaRPr lang="en-US" sz="2000" dirty="0"/>
          </a:p>
        </p:txBody>
      </p:sp>
      <p:sp>
        <p:nvSpPr>
          <p:cNvPr id="30" name="Text 28"/>
          <p:cNvSpPr txBox="1"/>
          <p:nvPr/>
        </p:nvSpPr>
        <p:spPr>
          <a:xfrm>
            <a:off x="640080" y="4572000"/>
            <a:ext cx="10881360" cy="141732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Takes an n-bit binary address as input</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Produces 2ⁿ output lines — exactly one goes active</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Only the active line enables its word for read/write</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Called an n-to-2ⁿ decoder</a:t>
            </a:r>
            <a:endParaRPr lang="en-US" sz="2000" dirty="0"/>
          </a:p>
        </p:txBody>
      </p:sp>
      <p:sp>
        <p:nvSpPr>
          <p:cNvPr id="31" name="Text 29"/>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32" name="Text 30"/>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8</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Decoder Sizing</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A memory has 1024 words. Find the decoder inputs and outputs.</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1024 words</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Outputs = number of words = 1024</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Inputs = log₂(1024)</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2¹⁰ = 1024, so 10 inputs</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10-to-1024 decoder (10 inputs, 1024 outputs)</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9</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LIMITATION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1D (Linear) Decoding</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Simplest approach: one decoder selects the word directly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Works fine for small memories (e.g., 1K words)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Problem: for large memories, the decoder becomes enormous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 1M-word memory needs a 20-to-1,048,576 decoder — impractical</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10</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SOLUTION</a:t>
            </a:r>
            <a:endParaRPr lang="en-US" sz="2000" dirty="0"/>
          </a:p>
        </p:txBody>
      </p:sp>
      <p:sp>
        <p:nvSpPr>
          <p:cNvPr id="3" name="Text 1"/>
          <p:cNvSpPr txBox="1"/>
          <p:nvPr/>
        </p:nvSpPr>
        <p:spPr>
          <a:xfrm>
            <a:off x="548639" y="795528"/>
            <a:ext cx="9941839"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Two-Dimensional (Row-Column) Decoding</a:t>
            </a:r>
            <a:endParaRPr lang="en-US" sz="3600" dirty="0"/>
          </a:p>
        </p:txBody>
      </p:sp>
      <p:sp>
        <p:nvSpPr>
          <p:cNvPr id="4" name="Shape 2"/>
          <p:cNvSpPr/>
          <p:nvPr/>
        </p:nvSpPr>
        <p:spPr>
          <a:xfrm>
            <a:off x="2011680" y="1371600"/>
            <a:ext cx="2304288" cy="384048"/>
          </a:xfrm>
          <a:prstGeom prst="roundRect">
            <a:avLst>
              <a:gd name="adj" fmla="val 11905"/>
            </a:avLst>
          </a:prstGeom>
          <a:solidFill>
            <a:srgbClr val="1E2761"/>
          </a:solidFill>
          <a:ln/>
        </p:spPr>
      </p:sp>
      <p:sp>
        <p:nvSpPr>
          <p:cNvPr id="5" name="Text 3"/>
          <p:cNvSpPr txBox="1"/>
          <p:nvPr/>
        </p:nvSpPr>
        <p:spPr>
          <a:xfrm>
            <a:off x="2011680" y="1371600"/>
            <a:ext cx="2304288" cy="384048"/>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Column Decoder</a:t>
            </a:r>
            <a:endParaRPr lang="en-US" sz="2000" dirty="0"/>
          </a:p>
        </p:txBody>
      </p:sp>
      <p:sp>
        <p:nvSpPr>
          <p:cNvPr id="6" name="Shape 4"/>
          <p:cNvSpPr/>
          <p:nvPr/>
        </p:nvSpPr>
        <p:spPr>
          <a:xfrm>
            <a:off x="640080" y="1920240"/>
            <a:ext cx="1188720" cy="2304288"/>
          </a:xfrm>
          <a:prstGeom prst="roundRect">
            <a:avLst>
              <a:gd name="adj" fmla="val 3846"/>
            </a:avLst>
          </a:prstGeom>
          <a:solidFill>
            <a:srgbClr val="1E2761"/>
          </a:solidFill>
          <a:ln/>
        </p:spPr>
      </p:sp>
      <p:sp>
        <p:nvSpPr>
          <p:cNvPr id="7" name="Text 5"/>
          <p:cNvSpPr txBox="1"/>
          <p:nvPr/>
        </p:nvSpPr>
        <p:spPr>
          <a:xfrm>
            <a:off x="640080" y="1920240"/>
            <a:ext cx="1188720" cy="2304288"/>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Row</a:t>
            </a:r>
            <a:endParaRPr lang="en-US" sz="2000" dirty="0"/>
          </a:p>
          <a:p>
            <a:pPr marL="0" indent="0" algn="ctr">
              <a:buNone/>
            </a:pPr>
            <a:r>
              <a:rPr lang="en-US" sz="2000" b="1" dirty="0">
                <a:solidFill>
                  <a:srgbClr val="FFFFFF"/>
                </a:solidFill>
                <a:latin typeface="Calibri" pitchFamily="34" charset="0"/>
                <a:ea typeface="Calibri" pitchFamily="34" charset="-122"/>
                <a:cs typeface="Calibri" pitchFamily="34" charset="-120"/>
              </a:rPr>
              <a:t>Decoder</a:t>
            </a:r>
            <a:endParaRPr lang="en-US" sz="2000" dirty="0"/>
          </a:p>
        </p:txBody>
      </p:sp>
      <p:sp>
        <p:nvSpPr>
          <p:cNvPr id="8" name="Shape 6"/>
          <p:cNvSpPr/>
          <p:nvPr/>
        </p:nvSpPr>
        <p:spPr>
          <a:xfrm>
            <a:off x="2011680" y="1920240"/>
            <a:ext cx="347472" cy="347472"/>
          </a:xfrm>
          <a:prstGeom prst="rect">
            <a:avLst/>
          </a:prstGeom>
          <a:solidFill>
            <a:srgbClr val="E7EEFC"/>
          </a:solidFill>
          <a:ln w="12700">
            <a:solidFill>
              <a:srgbClr val="FFFFFF"/>
            </a:solidFill>
            <a:prstDash val="solid"/>
          </a:ln>
        </p:spPr>
      </p:sp>
      <p:sp>
        <p:nvSpPr>
          <p:cNvPr id="9" name="Shape 7"/>
          <p:cNvSpPr/>
          <p:nvPr/>
        </p:nvSpPr>
        <p:spPr>
          <a:xfrm>
            <a:off x="2395728" y="1920240"/>
            <a:ext cx="347472" cy="347472"/>
          </a:xfrm>
          <a:prstGeom prst="rect">
            <a:avLst/>
          </a:prstGeom>
          <a:solidFill>
            <a:srgbClr val="E7EEFC"/>
          </a:solidFill>
          <a:ln w="12700">
            <a:solidFill>
              <a:srgbClr val="FFFFFF"/>
            </a:solidFill>
            <a:prstDash val="solid"/>
          </a:ln>
        </p:spPr>
      </p:sp>
      <p:sp>
        <p:nvSpPr>
          <p:cNvPr id="10" name="Shape 8"/>
          <p:cNvSpPr/>
          <p:nvPr/>
        </p:nvSpPr>
        <p:spPr>
          <a:xfrm>
            <a:off x="2779776" y="1920240"/>
            <a:ext cx="347472" cy="347472"/>
          </a:xfrm>
          <a:prstGeom prst="rect">
            <a:avLst/>
          </a:prstGeom>
          <a:solidFill>
            <a:srgbClr val="E7EEFC"/>
          </a:solidFill>
          <a:ln w="12700">
            <a:solidFill>
              <a:srgbClr val="FFFFFF"/>
            </a:solidFill>
            <a:prstDash val="solid"/>
          </a:ln>
        </p:spPr>
      </p:sp>
      <p:sp>
        <p:nvSpPr>
          <p:cNvPr id="11" name="Shape 9"/>
          <p:cNvSpPr/>
          <p:nvPr/>
        </p:nvSpPr>
        <p:spPr>
          <a:xfrm>
            <a:off x="3163824" y="1920240"/>
            <a:ext cx="347472" cy="347472"/>
          </a:xfrm>
          <a:prstGeom prst="rect">
            <a:avLst/>
          </a:prstGeom>
          <a:solidFill>
            <a:srgbClr val="CADCFC"/>
          </a:solidFill>
          <a:ln w="12700">
            <a:solidFill>
              <a:srgbClr val="FFFFFF"/>
            </a:solidFill>
            <a:prstDash val="solid"/>
          </a:ln>
        </p:spPr>
      </p:sp>
      <p:sp>
        <p:nvSpPr>
          <p:cNvPr id="12" name="Shape 10"/>
          <p:cNvSpPr/>
          <p:nvPr/>
        </p:nvSpPr>
        <p:spPr>
          <a:xfrm>
            <a:off x="3547872" y="1920240"/>
            <a:ext cx="347472" cy="347472"/>
          </a:xfrm>
          <a:prstGeom prst="rect">
            <a:avLst/>
          </a:prstGeom>
          <a:solidFill>
            <a:srgbClr val="E7EEFC"/>
          </a:solidFill>
          <a:ln w="12700">
            <a:solidFill>
              <a:srgbClr val="FFFFFF"/>
            </a:solidFill>
            <a:prstDash val="solid"/>
          </a:ln>
        </p:spPr>
      </p:sp>
      <p:sp>
        <p:nvSpPr>
          <p:cNvPr id="13" name="Shape 11"/>
          <p:cNvSpPr/>
          <p:nvPr/>
        </p:nvSpPr>
        <p:spPr>
          <a:xfrm>
            <a:off x="3931920" y="1920240"/>
            <a:ext cx="347472" cy="347472"/>
          </a:xfrm>
          <a:prstGeom prst="rect">
            <a:avLst/>
          </a:prstGeom>
          <a:solidFill>
            <a:srgbClr val="E7EEFC"/>
          </a:solidFill>
          <a:ln w="12700">
            <a:solidFill>
              <a:srgbClr val="FFFFFF"/>
            </a:solidFill>
            <a:prstDash val="solid"/>
          </a:ln>
        </p:spPr>
      </p:sp>
      <p:sp>
        <p:nvSpPr>
          <p:cNvPr id="14" name="Shape 12"/>
          <p:cNvSpPr/>
          <p:nvPr/>
        </p:nvSpPr>
        <p:spPr>
          <a:xfrm>
            <a:off x="2011680" y="2304288"/>
            <a:ext cx="347472" cy="347472"/>
          </a:xfrm>
          <a:prstGeom prst="rect">
            <a:avLst/>
          </a:prstGeom>
          <a:solidFill>
            <a:srgbClr val="E7EEFC"/>
          </a:solidFill>
          <a:ln w="12700">
            <a:solidFill>
              <a:srgbClr val="FFFFFF"/>
            </a:solidFill>
            <a:prstDash val="solid"/>
          </a:ln>
        </p:spPr>
      </p:sp>
      <p:sp>
        <p:nvSpPr>
          <p:cNvPr id="15" name="Shape 13"/>
          <p:cNvSpPr/>
          <p:nvPr/>
        </p:nvSpPr>
        <p:spPr>
          <a:xfrm>
            <a:off x="2395728" y="2304288"/>
            <a:ext cx="347472" cy="347472"/>
          </a:xfrm>
          <a:prstGeom prst="rect">
            <a:avLst/>
          </a:prstGeom>
          <a:solidFill>
            <a:srgbClr val="E7EEFC"/>
          </a:solidFill>
          <a:ln w="12700">
            <a:solidFill>
              <a:srgbClr val="FFFFFF"/>
            </a:solidFill>
            <a:prstDash val="solid"/>
          </a:ln>
        </p:spPr>
      </p:sp>
      <p:sp>
        <p:nvSpPr>
          <p:cNvPr id="16" name="Shape 14"/>
          <p:cNvSpPr/>
          <p:nvPr/>
        </p:nvSpPr>
        <p:spPr>
          <a:xfrm>
            <a:off x="2779776" y="2304288"/>
            <a:ext cx="347472" cy="347472"/>
          </a:xfrm>
          <a:prstGeom prst="rect">
            <a:avLst/>
          </a:prstGeom>
          <a:solidFill>
            <a:srgbClr val="E7EEFC"/>
          </a:solidFill>
          <a:ln w="12700">
            <a:solidFill>
              <a:srgbClr val="FFFFFF"/>
            </a:solidFill>
            <a:prstDash val="solid"/>
          </a:ln>
        </p:spPr>
      </p:sp>
      <p:sp>
        <p:nvSpPr>
          <p:cNvPr id="17" name="Shape 15"/>
          <p:cNvSpPr/>
          <p:nvPr/>
        </p:nvSpPr>
        <p:spPr>
          <a:xfrm>
            <a:off x="3163824" y="2304288"/>
            <a:ext cx="347472" cy="347472"/>
          </a:xfrm>
          <a:prstGeom prst="rect">
            <a:avLst/>
          </a:prstGeom>
          <a:solidFill>
            <a:srgbClr val="CADCFC"/>
          </a:solidFill>
          <a:ln w="12700">
            <a:solidFill>
              <a:srgbClr val="FFFFFF"/>
            </a:solidFill>
            <a:prstDash val="solid"/>
          </a:ln>
        </p:spPr>
      </p:sp>
      <p:sp>
        <p:nvSpPr>
          <p:cNvPr id="18" name="Shape 16"/>
          <p:cNvSpPr/>
          <p:nvPr/>
        </p:nvSpPr>
        <p:spPr>
          <a:xfrm>
            <a:off x="3547872" y="2304288"/>
            <a:ext cx="347472" cy="347472"/>
          </a:xfrm>
          <a:prstGeom prst="rect">
            <a:avLst/>
          </a:prstGeom>
          <a:solidFill>
            <a:srgbClr val="E7EEFC"/>
          </a:solidFill>
          <a:ln w="12700">
            <a:solidFill>
              <a:srgbClr val="FFFFFF"/>
            </a:solidFill>
            <a:prstDash val="solid"/>
          </a:ln>
        </p:spPr>
      </p:sp>
      <p:sp>
        <p:nvSpPr>
          <p:cNvPr id="19" name="Shape 17"/>
          <p:cNvSpPr/>
          <p:nvPr/>
        </p:nvSpPr>
        <p:spPr>
          <a:xfrm>
            <a:off x="3931920" y="2304288"/>
            <a:ext cx="347472" cy="347472"/>
          </a:xfrm>
          <a:prstGeom prst="rect">
            <a:avLst/>
          </a:prstGeom>
          <a:solidFill>
            <a:srgbClr val="E7EEFC"/>
          </a:solidFill>
          <a:ln w="12700">
            <a:solidFill>
              <a:srgbClr val="FFFFFF"/>
            </a:solidFill>
            <a:prstDash val="solid"/>
          </a:ln>
        </p:spPr>
      </p:sp>
      <p:sp>
        <p:nvSpPr>
          <p:cNvPr id="20" name="Shape 18"/>
          <p:cNvSpPr/>
          <p:nvPr/>
        </p:nvSpPr>
        <p:spPr>
          <a:xfrm>
            <a:off x="2011680" y="2688336"/>
            <a:ext cx="347472" cy="347472"/>
          </a:xfrm>
          <a:prstGeom prst="rect">
            <a:avLst/>
          </a:prstGeom>
          <a:solidFill>
            <a:srgbClr val="CADCFC"/>
          </a:solidFill>
          <a:ln w="12700">
            <a:solidFill>
              <a:srgbClr val="FFFFFF"/>
            </a:solidFill>
            <a:prstDash val="solid"/>
          </a:ln>
        </p:spPr>
      </p:sp>
      <p:sp>
        <p:nvSpPr>
          <p:cNvPr id="21" name="Shape 19"/>
          <p:cNvSpPr/>
          <p:nvPr/>
        </p:nvSpPr>
        <p:spPr>
          <a:xfrm>
            <a:off x="2395728" y="2688336"/>
            <a:ext cx="347472" cy="347472"/>
          </a:xfrm>
          <a:prstGeom prst="rect">
            <a:avLst/>
          </a:prstGeom>
          <a:solidFill>
            <a:srgbClr val="CADCFC"/>
          </a:solidFill>
          <a:ln w="12700">
            <a:solidFill>
              <a:srgbClr val="FFFFFF"/>
            </a:solidFill>
            <a:prstDash val="solid"/>
          </a:ln>
        </p:spPr>
      </p:sp>
      <p:sp>
        <p:nvSpPr>
          <p:cNvPr id="22" name="Shape 20"/>
          <p:cNvSpPr/>
          <p:nvPr/>
        </p:nvSpPr>
        <p:spPr>
          <a:xfrm>
            <a:off x="2779776" y="2688336"/>
            <a:ext cx="347472" cy="347472"/>
          </a:xfrm>
          <a:prstGeom prst="rect">
            <a:avLst/>
          </a:prstGeom>
          <a:solidFill>
            <a:srgbClr val="CADCFC"/>
          </a:solidFill>
          <a:ln w="12700">
            <a:solidFill>
              <a:srgbClr val="FFFFFF"/>
            </a:solidFill>
            <a:prstDash val="solid"/>
          </a:ln>
        </p:spPr>
      </p:sp>
      <p:sp>
        <p:nvSpPr>
          <p:cNvPr id="23" name="Shape 21"/>
          <p:cNvSpPr/>
          <p:nvPr/>
        </p:nvSpPr>
        <p:spPr>
          <a:xfrm>
            <a:off x="3163824" y="2688336"/>
            <a:ext cx="347472" cy="347472"/>
          </a:xfrm>
          <a:prstGeom prst="rect">
            <a:avLst/>
          </a:prstGeom>
          <a:solidFill>
            <a:srgbClr val="D4AF37"/>
          </a:solidFill>
          <a:ln w="12700">
            <a:solidFill>
              <a:srgbClr val="FFFFFF"/>
            </a:solidFill>
            <a:prstDash val="solid"/>
          </a:ln>
        </p:spPr>
      </p:sp>
      <p:sp>
        <p:nvSpPr>
          <p:cNvPr id="24" name="Shape 22"/>
          <p:cNvSpPr/>
          <p:nvPr/>
        </p:nvSpPr>
        <p:spPr>
          <a:xfrm>
            <a:off x="3547872" y="2688336"/>
            <a:ext cx="347472" cy="347472"/>
          </a:xfrm>
          <a:prstGeom prst="rect">
            <a:avLst/>
          </a:prstGeom>
          <a:solidFill>
            <a:srgbClr val="CADCFC"/>
          </a:solidFill>
          <a:ln w="12700">
            <a:solidFill>
              <a:srgbClr val="FFFFFF"/>
            </a:solidFill>
            <a:prstDash val="solid"/>
          </a:ln>
        </p:spPr>
      </p:sp>
      <p:sp>
        <p:nvSpPr>
          <p:cNvPr id="25" name="Shape 23"/>
          <p:cNvSpPr/>
          <p:nvPr/>
        </p:nvSpPr>
        <p:spPr>
          <a:xfrm>
            <a:off x="3931920" y="2688336"/>
            <a:ext cx="347472" cy="347472"/>
          </a:xfrm>
          <a:prstGeom prst="rect">
            <a:avLst/>
          </a:prstGeom>
          <a:solidFill>
            <a:srgbClr val="CADCFC"/>
          </a:solidFill>
          <a:ln w="12700">
            <a:solidFill>
              <a:srgbClr val="FFFFFF"/>
            </a:solidFill>
            <a:prstDash val="solid"/>
          </a:ln>
        </p:spPr>
      </p:sp>
      <p:sp>
        <p:nvSpPr>
          <p:cNvPr id="26" name="Shape 24"/>
          <p:cNvSpPr/>
          <p:nvPr/>
        </p:nvSpPr>
        <p:spPr>
          <a:xfrm>
            <a:off x="2011680" y="3072384"/>
            <a:ext cx="347472" cy="347472"/>
          </a:xfrm>
          <a:prstGeom prst="rect">
            <a:avLst/>
          </a:prstGeom>
          <a:solidFill>
            <a:srgbClr val="E7EEFC"/>
          </a:solidFill>
          <a:ln w="12700">
            <a:solidFill>
              <a:srgbClr val="FFFFFF"/>
            </a:solidFill>
            <a:prstDash val="solid"/>
          </a:ln>
        </p:spPr>
      </p:sp>
      <p:sp>
        <p:nvSpPr>
          <p:cNvPr id="27" name="Shape 25"/>
          <p:cNvSpPr/>
          <p:nvPr/>
        </p:nvSpPr>
        <p:spPr>
          <a:xfrm>
            <a:off x="2395728" y="3072384"/>
            <a:ext cx="347472" cy="347472"/>
          </a:xfrm>
          <a:prstGeom prst="rect">
            <a:avLst/>
          </a:prstGeom>
          <a:solidFill>
            <a:srgbClr val="E7EEFC"/>
          </a:solidFill>
          <a:ln w="12700">
            <a:solidFill>
              <a:srgbClr val="FFFFFF"/>
            </a:solidFill>
            <a:prstDash val="solid"/>
          </a:ln>
        </p:spPr>
      </p:sp>
      <p:sp>
        <p:nvSpPr>
          <p:cNvPr id="28" name="Shape 26"/>
          <p:cNvSpPr/>
          <p:nvPr/>
        </p:nvSpPr>
        <p:spPr>
          <a:xfrm>
            <a:off x="2779776" y="3072384"/>
            <a:ext cx="347472" cy="347472"/>
          </a:xfrm>
          <a:prstGeom prst="rect">
            <a:avLst/>
          </a:prstGeom>
          <a:solidFill>
            <a:srgbClr val="E7EEFC"/>
          </a:solidFill>
          <a:ln w="12700">
            <a:solidFill>
              <a:srgbClr val="FFFFFF"/>
            </a:solidFill>
            <a:prstDash val="solid"/>
          </a:ln>
        </p:spPr>
      </p:sp>
      <p:sp>
        <p:nvSpPr>
          <p:cNvPr id="29" name="Shape 27"/>
          <p:cNvSpPr/>
          <p:nvPr/>
        </p:nvSpPr>
        <p:spPr>
          <a:xfrm>
            <a:off x="3163824" y="3072384"/>
            <a:ext cx="347472" cy="347472"/>
          </a:xfrm>
          <a:prstGeom prst="rect">
            <a:avLst/>
          </a:prstGeom>
          <a:solidFill>
            <a:srgbClr val="CADCFC"/>
          </a:solidFill>
          <a:ln w="12700">
            <a:solidFill>
              <a:srgbClr val="FFFFFF"/>
            </a:solidFill>
            <a:prstDash val="solid"/>
          </a:ln>
        </p:spPr>
      </p:sp>
      <p:sp>
        <p:nvSpPr>
          <p:cNvPr id="30" name="Shape 28"/>
          <p:cNvSpPr/>
          <p:nvPr/>
        </p:nvSpPr>
        <p:spPr>
          <a:xfrm>
            <a:off x="3547872" y="3072384"/>
            <a:ext cx="347472" cy="347472"/>
          </a:xfrm>
          <a:prstGeom prst="rect">
            <a:avLst/>
          </a:prstGeom>
          <a:solidFill>
            <a:srgbClr val="E7EEFC"/>
          </a:solidFill>
          <a:ln w="12700">
            <a:solidFill>
              <a:srgbClr val="FFFFFF"/>
            </a:solidFill>
            <a:prstDash val="solid"/>
          </a:ln>
        </p:spPr>
      </p:sp>
      <p:sp>
        <p:nvSpPr>
          <p:cNvPr id="31" name="Shape 29"/>
          <p:cNvSpPr/>
          <p:nvPr/>
        </p:nvSpPr>
        <p:spPr>
          <a:xfrm>
            <a:off x="3931920" y="3072384"/>
            <a:ext cx="347472" cy="347472"/>
          </a:xfrm>
          <a:prstGeom prst="rect">
            <a:avLst/>
          </a:prstGeom>
          <a:solidFill>
            <a:srgbClr val="E7EEFC"/>
          </a:solidFill>
          <a:ln w="12700">
            <a:solidFill>
              <a:srgbClr val="FFFFFF"/>
            </a:solidFill>
            <a:prstDash val="solid"/>
          </a:ln>
        </p:spPr>
      </p:sp>
      <p:sp>
        <p:nvSpPr>
          <p:cNvPr id="32" name="Shape 30"/>
          <p:cNvSpPr/>
          <p:nvPr/>
        </p:nvSpPr>
        <p:spPr>
          <a:xfrm>
            <a:off x="2011680" y="3456432"/>
            <a:ext cx="347472" cy="347472"/>
          </a:xfrm>
          <a:prstGeom prst="rect">
            <a:avLst/>
          </a:prstGeom>
          <a:solidFill>
            <a:srgbClr val="E7EEFC"/>
          </a:solidFill>
          <a:ln w="12700">
            <a:solidFill>
              <a:srgbClr val="FFFFFF"/>
            </a:solidFill>
            <a:prstDash val="solid"/>
          </a:ln>
        </p:spPr>
      </p:sp>
      <p:sp>
        <p:nvSpPr>
          <p:cNvPr id="33" name="Shape 31"/>
          <p:cNvSpPr/>
          <p:nvPr/>
        </p:nvSpPr>
        <p:spPr>
          <a:xfrm>
            <a:off x="2395728" y="3456432"/>
            <a:ext cx="347472" cy="347472"/>
          </a:xfrm>
          <a:prstGeom prst="rect">
            <a:avLst/>
          </a:prstGeom>
          <a:solidFill>
            <a:srgbClr val="E7EEFC"/>
          </a:solidFill>
          <a:ln w="12700">
            <a:solidFill>
              <a:srgbClr val="FFFFFF"/>
            </a:solidFill>
            <a:prstDash val="solid"/>
          </a:ln>
        </p:spPr>
      </p:sp>
      <p:sp>
        <p:nvSpPr>
          <p:cNvPr id="34" name="Shape 32"/>
          <p:cNvSpPr/>
          <p:nvPr/>
        </p:nvSpPr>
        <p:spPr>
          <a:xfrm>
            <a:off x="2779776" y="3456432"/>
            <a:ext cx="347472" cy="347472"/>
          </a:xfrm>
          <a:prstGeom prst="rect">
            <a:avLst/>
          </a:prstGeom>
          <a:solidFill>
            <a:srgbClr val="E7EEFC"/>
          </a:solidFill>
          <a:ln w="12700">
            <a:solidFill>
              <a:srgbClr val="FFFFFF"/>
            </a:solidFill>
            <a:prstDash val="solid"/>
          </a:ln>
        </p:spPr>
      </p:sp>
      <p:sp>
        <p:nvSpPr>
          <p:cNvPr id="35" name="Shape 33"/>
          <p:cNvSpPr/>
          <p:nvPr/>
        </p:nvSpPr>
        <p:spPr>
          <a:xfrm>
            <a:off x="3163824" y="3456432"/>
            <a:ext cx="347472" cy="347472"/>
          </a:xfrm>
          <a:prstGeom prst="rect">
            <a:avLst/>
          </a:prstGeom>
          <a:solidFill>
            <a:srgbClr val="CADCFC"/>
          </a:solidFill>
          <a:ln w="12700">
            <a:solidFill>
              <a:srgbClr val="FFFFFF"/>
            </a:solidFill>
            <a:prstDash val="solid"/>
          </a:ln>
        </p:spPr>
      </p:sp>
      <p:sp>
        <p:nvSpPr>
          <p:cNvPr id="36" name="Shape 34"/>
          <p:cNvSpPr/>
          <p:nvPr/>
        </p:nvSpPr>
        <p:spPr>
          <a:xfrm>
            <a:off x="3547872" y="3456432"/>
            <a:ext cx="347472" cy="347472"/>
          </a:xfrm>
          <a:prstGeom prst="rect">
            <a:avLst/>
          </a:prstGeom>
          <a:solidFill>
            <a:srgbClr val="E7EEFC"/>
          </a:solidFill>
          <a:ln w="12700">
            <a:solidFill>
              <a:srgbClr val="FFFFFF"/>
            </a:solidFill>
            <a:prstDash val="solid"/>
          </a:ln>
        </p:spPr>
      </p:sp>
      <p:sp>
        <p:nvSpPr>
          <p:cNvPr id="37" name="Shape 35"/>
          <p:cNvSpPr/>
          <p:nvPr/>
        </p:nvSpPr>
        <p:spPr>
          <a:xfrm>
            <a:off x="3931920" y="3456432"/>
            <a:ext cx="347472" cy="347472"/>
          </a:xfrm>
          <a:prstGeom prst="rect">
            <a:avLst/>
          </a:prstGeom>
          <a:solidFill>
            <a:srgbClr val="E7EEFC"/>
          </a:solidFill>
          <a:ln w="12700">
            <a:solidFill>
              <a:srgbClr val="FFFFFF"/>
            </a:solidFill>
            <a:prstDash val="solid"/>
          </a:ln>
        </p:spPr>
      </p:sp>
      <p:sp>
        <p:nvSpPr>
          <p:cNvPr id="38" name="Shape 36"/>
          <p:cNvSpPr/>
          <p:nvPr/>
        </p:nvSpPr>
        <p:spPr>
          <a:xfrm>
            <a:off x="2011680" y="3840480"/>
            <a:ext cx="347472" cy="347472"/>
          </a:xfrm>
          <a:prstGeom prst="rect">
            <a:avLst/>
          </a:prstGeom>
          <a:solidFill>
            <a:srgbClr val="E7EEFC"/>
          </a:solidFill>
          <a:ln w="12700">
            <a:solidFill>
              <a:srgbClr val="FFFFFF"/>
            </a:solidFill>
            <a:prstDash val="solid"/>
          </a:ln>
        </p:spPr>
      </p:sp>
      <p:sp>
        <p:nvSpPr>
          <p:cNvPr id="39" name="Shape 37"/>
          <p:cNvSpPr/>
          <p:nvPr/>
        </p:nvSpPr>
        <p:spPr>
          <a:xfrm>
            <a:off x="2395728" y="3840480"/>
            <a:ext cx="347472" cy="347472"/>
          </a:xfrm>
          <a:prstGeom prst="rect">
            <a:avLst/>
          </a:prstGeom>
          <a:solidFill>
            <a:srgbClr val="E7EEFC"/>
          </a:solidFill>
          <a:ln w="12700">
            <a:solidFill>
              <a:srgbClr val="FFFFFF"/>
            </a:solidFill>
            <a:prstDash val="solid"/>
          </a:ln>
        </p:spPr>
      </p:sp>
      <p:sp>
        <p:nvSpPr>
          <p:cNvPr id="40" name="Shape 38"/>
          <p:cNvSpPr/>
          <p:nvPr/>
        </p:nvSpPr>
        <p:spPr>
          <a:xfrm>
            <a:off x="2779776" y="3840480"/>
            <a:ext cx="347472" cy="347472"/>
          </a:xfrm>
          <a:prstGeom prst="rect">
            <a:avLst/>
          </a:prstGeom>
          <a:solidFill>
            <a:srgbClr val="E7EEFC"/>
          </a:solidFill>
          <a:ln w="12700">
            <a:solidFill>
              <a:srgbClr val="FFFFFF"/>
            </a:solidFill>
            <a:prstDash val="solid"/>
          </a:ln>
        </p:spPr>
      </p:sp>
      <p:sp>
        <p:nvSpPr>
          <p:cNvPr id="41" name="Shape 39"/>
          <p:cNvSpPr/>
          <p:nvPr/>
        </p:nvSpPr>
        <p:spPr>
          <a:xfrm>
            <a:off x="3163824" y="3840480"/>
            <a:ext cx="347472" cy="347472"/>
          </a:xfrm>
          <a:prstGeom prst="rect">
            <a:avLst/>
          </a:prstGeom>
          <a:solidFill>
            <a:srgbClr val="CADCFC"/>
          </a:solidFill>
          <a:ln w="12700">
            <a:solidFill>
              <a:srgbClr val="FFFFFF"/>
            </a:solidFill>
            <a:prstDash val="solid"/>
          </a:ln>
        </p:spPr>
      </p:sp>
      <p:sp>
        <p:nvSpPr>
          <p:cNvPr id="42" name="Shape 40"/>
          <p:cNvSpPr/>
          <p:nvPr/>
        </p:nvSpPr>
        <p:spPr>
          <a:xfrm>
            <a:off x="3547872" y="3840480"/>
            <a:ext cx="347472" cy="347472"/>
          </a:xfrm>
          <a:prstGeom prst="rect">
            <a:avLst/>
          </a:prstGeom>
          <a:solidFill>
            <a:srgbClr val="E7EEFC"/>
          </a:solidFill>
          <a:ln w="12700">
            <a:solidFill>
              <a:srgbClr val="FFFFFF"/>
            </a:solidFill>
            <a:prstDash val="solid"/>
          </a:ln>
        </p:spPr>
      </p:sp>
      <p:sp>
        <p:nvSpPr>
          <p:cNvPr id="43" name="Shape 41"/>
          <p:cNvSpPr/>
          <p:nvPr/>
        </p:nvSpPr>
        <p:spPr>
          <a:xfrm>
            <a:off x="3931920" y="3840480"/>
            <a:ext cx="347472" cy="347472"/>
          </a:xfrm>
          <a:prstGeom prst="rect">
            <a:avLst/>
          </a:prstGeom>
          <a:solidFill>
            <a:srgbClr val="E7EEFC"/>
          </a:solidFill>
          <a:ln w="12700">
            <a:solidFill>
              <a:srgbClr val="FFFFFF"/>
            </a:solidFill>
            <a:prstDash val="solid"/>
          </a:ln>
        </p:spPr>
      </p:sp>
      <p:sp>
        <p:nvSpPr>
          <p:cNvPr id="44" name="Shape 42"/>
          <p:cNvSpPr/>
          <p:nvPr/>
        </p:nvSpPr>
        <p:spPr>
          <a:xfrm>
            <a:off x="3547872" y="2880360"/>
            <a:ext cx="1225296" cy="0"/>
          </a:xfrm>
          <a:prstGeom prst="line">
            <a:avLst/>
          </a:prstGeom>
          <a:noFill/>
          <a:ln w="25400">
            <a:solidFill>
              <a:srgbClr val="D4AF37"/>
            </a:solidFill>
            <a:prstDash val="solid"/>
          </a:ln>
        </p:spPr>
      </p:sp>
      <p:sp>
        <p:nvSpPr>
          <p:cNvPr id="45" name="Text 43"/>
          <p:cNvSpPr txBox="1"/>
          <p:nvPr/>
        </p:nvSpPr>
        <p:spPr>
          <a:xfrm>
            <a:off x="4773168" y="2560320"/>
            <a:ext cx="2743200" cy="64008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Selected cell</a:t>
            </a:r>
            <a:endParaRPr lang="en-US" sz="2000" dirty="0"/>
          </a:p>
          <a:p>
            <a:pPr marL="0" indent="0" algn="l">
              <a:buNone/>
            </a:pPr>
            <a:r>
              <a:rPr lang="en-US" sz="2000" b="1" dirty="0">
                <a:solidFill>
                  <a:srgbClr val="1E2761"/>
                </a:solidFill>
                <a:latin typeface="Calibri" pitchFamily="34" charset="0"/>
                <a:ea typeface="Calibri" pitchFamily="34" charset="-122"/>
                <a:cs typeface="Calibri" pitchFamily="34" charset="-120"/>
              </a:rPr>
              <a:t>(row ∩ column)</a:t>
            </a:r>
            <a:endParaRPr lang="en-US" sz="2000" dirty="0"/>
          </a:p>
        </p:txBody>
      </p:sp>
      <p:sp>
        <p:nvSpPr>
          <p:cNvPr id="46" name="Text 44"/>
          <p:cNvSpPr txBox="1"/>
          <p:nvPr/>
        </p:nvSpPr>
        <p:spPr>
          <a:xfrm>
            <a:off x="640080" y="4636008"/>
            <a:ext cx="10881360" cy="1353312"/>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141A45"/>
                </a:solidFill>
                <a:latin typeface="Calibri" pitchFamily="34" charset="0"/>
                <a:ea typeface="Calibri" pitchFamily="34" charset="-122"/>
                <a:cs typeface="Calibri" pitchFamily="34" charset="-120"/>
              </a:rPr>
              <a:t>Split the address into a row address and a column address</a:t>
            </a:r>
            <a:endParaRPr lang="en-US" sz="2000" dirty="0"/>
          </a:p>
          <a:p>
            <a:pPr marL="342900" indent="-342900">
              <a:spcAft>
                <a:spcPts val="600"/>
              </a:spcAft>
              <a:buSzPct val="100000"/>
              <a:buChar char="•"/>
            </a:pPr>
            <a:r>
              <a:rPr lang="en-US" sz="2000" dirty="0">
                <a:solidFill>
                  <a:srgbClr val="141A45"/>
                </a:solidFill>
                <a:latin typeface="Calibri" pitchFamily="34" charset="0"/>
                <a:ea typeface="Calibri" pitchFamily="34" charset="-122"/>
                <a:cs typeface="Calibri" pitchFamily="34" charset="-120"/>
              </a:rPr>
              <a:t>A row decoder selects one row; a column decoder selects one column</a:t>
            </a:r>
            <a:endParaRPr lang="en-US" sz="2000" dirty="0"/>
          </a:p>
          <a:p>
            <a:pPr marL="342900" indent="-342900">
              <a:spcAft>
                <a:spcPts val="600"/>
              </a:spcAft>
              <a:buSzPct val="100000"/>
              <a:buChar char="•"/>
            </a:pPr>
            <a:r>
              <a:rPr lang="en-US" sz="2000" dirty="0">
                <a:solidFill>
                  <a:srgbClr val="141A45"/>
                </a:solidFill>
                <a:latin typeface="Calibri" pitchFamily="34" charset="0"/>
                <a:ea typeface="Calibri" pitchFamily="34" charset="-122"/>
                <a:cs typeface="Calibri" pitchFamily="34" charset="-120"/>
              </a:rPr>
              <a:t>The cell at the intersection is the selected location</a:t>
            </a:r>
            <a:endParaRPr lang="en-US" sz="2000" dirty="0"/>
          </a:p>
          <a:p>
            <a:pPr marL="342900" indent="-342900">
              <a:spcAft>
                <a:spcPts val="600"/>
              </a:spcAft>
              <a:buSzPct val="100000"/>
              <a:buChar char="•"/>
            </a:pPr>
            <a:r>
              <a:rPr lang="en-US" sz="2000" dirty="0">
                <a:solidFill>
                  <a:srgbClr val="141A45"/>
                </a:solidFill>
                <a:latin typeface="Calibri" pitchFamily="34" charset="0"/>
                <a:ea typeface="Calibri" pitchFamily="34" charset="-122"/>
                <a:cs typeface="Calibri" pitchFamily="34" charset="-120"/>
              </a:rPr>
              <a:t>Dramatically reduces decoder size and chip area</a:t>
            </a:r>
            <a:endParaRPr lang="en-US" sz="2000" dirty="0"/>
          </a:p>
        </p:txBody>
      </p:sp>
      <p:sp>
        <p:nvSpPr>
          <p:cNvPr id="47" name="Text 4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48" name="Text 4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11</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Row-Column Decoder Sizing</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A 1M-word memory is a 1024 × 1024 array. Size the decoders.</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1024 rows × 1024 columns = 1,048,576 words</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Rows = 1024 → row decoder = 10-to-1024</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Columns = 1024 → column decoder = 10-to-1024</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Total: two 10-to-1024 decoders (20 address bits)</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20 address bits total, vs. one impractical 20-to-1,048,576 decoder</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12</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CORE FORMULA</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Memory Capacity</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Capacity (bits) = (number of words) × (bits per word)</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Number of words = 2^(number of address lines)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Written as "words × bits" — e.g., "4K × 8"</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Bytes = bits ÷ 8</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13</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Basic Capacity Calculation</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A chip is organized as 4K × 8. Find total capacity in bits and bytes.</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4K words = 4096 words, 8 bits per word</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Capacity = 4096 × 8 = 32,768 bits</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32,768 ÷ 8 = 4096 bytes</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4096 bytes = 4 KB</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32,768 bits = 4 KB</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14</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Capacity with a Wider Word</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A chip is organized as 2K × 16. Find total capacity in bits and bytes.</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2K words = 2048 words, 16 bits per word</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Capacity = 2048 × 16 = 32,768 bits</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32,768 ÷ 8 = 4096 bytes</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Same total as 4K × 8!</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32,768 bits = 4 KB — identical capacity, different organization</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15</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ORGANIZATION TYPES</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Word Organization vs. Bit Organization</a:t>
            </a:r>
            <a:endParaRPr lang="en-US" sz="3600" dirty="0"/>
          </a:p>
        </p:txBody>
      </p:sp>
      <p:sp>
        <p:nvSpPr>
          <p:cNvPr id="4" name="Shape 2"/>
          <p:cNvSpPr/>
          <p:nvPr/>
        </p:nvSpPr>
        <p:spPr>
          <a:xfrm>
            <a:off x="548640" y="1737360"/>
            <a:ext cx="5349240" cy="1737360"/>
          </a:xfrm>
          <a:prstGeom prst="roundRect">
            <a:avLst>
              <a:gd name="adj" fmla="val 5263"/>
            </a:avLst>
          </a:prstGeom>
          <a:solidFill>
            <a:srgbClr val="E7EEFC"/>
          </a:solidFill>
          <a:ln/>
        </p:spPr>
      </p:sp>
      <p:sp>
        <p:nvSpPr>
          <p:cNvPr id="5" name="Shape 3"/>
          <p:cNvSpPr/>
          <p:nvPr/>
        </p:nvSpPr>
        <p:spPr>
          <a:xfrm>
            <a:off x="2766060" y="1938528"/>
            <a:ext cx="914400" cy="914400"/>
          </a:xfrm>
          <a:prstGeom prst="ellipse">
            <a:avLst/>
          </a:prstGeom>
          <a:solidFill>
            <a:srgbClr val="D4AF37"/>
          </a:solidFill>
          <a:ln/>
        </p:spPr>
      </p:sp>
      <p:pic>
        <p:nvPicPr>
          <p:cNvPr id="6" name="Image 0" descr="preencoded.png"/>
          <p:cNvPicPr>
            <a:picLocks noChangeAspect="1"/>
          </p:cNvPicPr>
          <p:nvPr/>
        </p:nvPicPr>
        <p:blipFill>
          <a:blip r:embed="rId3"/>
          <a:stretch>
            <a:fillRect/>
          </a:stretch>
        </p:blipFill>
        <p:spPr>
          <a:xfrm>
            <a:off x="2884932" y="2057400"/>
            <a:ext cx="676656" cy="676656"/>
          </a:xfrm>
          <a:prstGeom prst="rect">
            <a:avLst/>
          </a:prstGeom>
        </p:spPr>
      </p:pic>
      <p:sp>
        <p:nvSpPr>
          <p:cNvPr id="7" name="Text 4"/>
          <p:cNvSpPr txBox="1"/>
          <p:nvPr/>
        </p:nvSpPr>
        <p:spPr>
          <a:xfrm>
            <a:off x="640080" y="2926080"/>
            <a:ext cx="5166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Word-organized — full word per address</a:t>
            </a:r>
            <a:endParaRPr lang="en-US" sz="2000" dirty="0"/>
          </a:p>
        </p:txBody>
      </p:sp>
      <p:sp>
        <p:nvSpPr>
          <p:cNvPr id="8" name="Shape 5"/>
          <p:cNvSpPr/>
          <p:nvPr/>
        </p:nvSpPr>
        <p:spPr>
          <a:xfrm>
            <a:off x="6263640" y="1737360"/>
            <a:ext cx="5349240" cy="1737360"/>
          </a:xfrm>
          <a:prstGeom prst="roundRect">
            <a:avLst>
              <a:gd name="adj" fmla="val 5263"/>
            </a:avLst>
          </a:prstGeom>
          <a:solidFill>
            <a:srgbClr val="E7EEFC"/>
          </a:solidFill>
          <a:ln/>
        </p:spPr>
      </p:sp>
      <p:sp>
        <p:nvSpPr>
          <p:cNvPr id="9" name="Shape 6"/>
          <p:cNvSpPr/>
          <p:nvPr/>
        </p:nvSpPr>
        <p:spPr>
          <a:xfrm>
            <a:off x="8481060" y="1938528"/>
            <a:ext cx="914400" cy="914400"/>
          </a:xfrm>
          <a:prstGeom prst="ellipse">
            <a:avLst/>
          </a:prstGeom>
          <a:solidFill>
            <a:srgbClr val="D4AF37"/>
          </a:solidFill>
          <a:ln/>
        </p:spPr>
      </p:sp>
      <p:pic>
        <p:nvPicPr>
          <p:cNvPr id="10" name="Image 1" descr="preencoded.png"/>
          <p:cNvPicPr>
            <a:picLocks noChangeAspect="1"/>
          </p:cNvPicPr>
          <p:nvPr/>
        </p:nvPicPr>
        <p:blipFill>
          <a:blip r:embed="rId4"/>
          <a:stretch>
            <a:fillRect/>
          </a:stretch>
        </p:blipFill>
        <p:spPr>
          <a:xfrm>
            <a:off x="8599932" y="2057400"/>
            <a:ext cx="676656" cy="676656"/>
          </a:xfrm>
          <a:prstGeom prst="rect">
            <a:avLst/>
          </a:prstGeom>
        </p:spPr>
      </p:pic>
      <p:sp>
        <p:nvSpPr>
          <p:cNvPr id="11" name="Text 7"/>
          <p:cNvSpPr txBox="1"/>
          <p:nvPr/>
        </p:nvSpPr>
        <p:spPr>
          <a:xfrm>
            <a:off x="6355080" y="2926080"/>
            <a:ext cx="5166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Bit-organized — 1 bit per address</a:t>
            </a:r>
            <a:endParaRPr lang="en-US" sz="2000" dirty="0"/>
          </a:p>
        </p:txBody>
      </p:sp>
      <p:sp>
        <p:nvSpPr>
          <p:cNvPr id="12" name="Shape 8"/>
          <p:cNvSpPr/>
          <p:nvPr/>
        </p:nvSpPr>
        <p:spPr>
          <a:xfrm>
            <a:off x="548640" y="3749040"/>
            <a:ext cx="11064240" cy="2331720"/>
          </a:xfrm>
          <a:prstGeom prst="roundRect">
            <a:avLst>
              <a:gd name="adj" fmla="val 3922"/>
            </a:avLst>
          </a:prstGeom>
          <a:solidFill>
            <a:srgbClr val="FFFFFF"/>
          </a:solidFill>
          <a:ln w="19050">
            <a:solidFill>
              <a:srgbClr val="CADCFC"/>
            </a:solidFill>
            <a:prstDash val="solid"/>
          </a:ln>
        </p:spPr>
      </p:sp>
      <p:sp>
        <p:nvSpPr>
          <p:cNvPr id="13" name="Text 9"/>
          <p:cNvSpPr txBox="1"/>
          <p:nvPr/>
        </p:nvSpPr>
        <p:spPr>
          <a:xfrm>
            <a:off x="868680" y="3950208"/>
            <a:ext cx="10424160" cy="196596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Bit-organized chips are combined side-by-side to build wider words</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Word-organized chips are simpler to use</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Bit-organized chips offer flexible widths</a:t>
            </a:r>
            <a:endParaRPr lang="en-US" sz="1900" dirty="0"/>
          </a:p>
        </p:txBody>
      </p:sp>
      <p:sp>
        <p:nvSpPr>
          <p:cNvPr id="14" name="Text 10"/>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15" name="Text 11"/>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16</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Bit-Organized Chip Combination</a:t>
            </a:r>
            <a:endParaRPr lang="en-US" sz="3600" dirty="0"/>
          </a:p>
        </p:txBody>
      </p:sp>
      <p:sp>
        <p:nvSpPr>
          <p:cNvPr id="4" name="Shape 2"/>
          <p:cNvSpPr/>
          <p:nvPr/>
        </p:nvSpPr>
        <p:spPr>
          <a:xfrm>
            <a:off x="1005840" y="1965960"/>
            <a:ext cx="1172718" cy="1051560"/>
          </a:xfrm>
          <a:prstGeom prst="roundRect">
            <a:avLst>
              <a:gd name="adj" fmla="val 6087"/>
            </a:avLst>
          </a:prstGeom>
          <a:solidFill>
            <a:srgbClr val="1E2761"/>
          </a:solidFill>
          <a:ln w="15240">
            <a:solidFill>
              <a:srgbClr val="D4AF37"/>
            </a:solidFill>
            <a:prstDash val="solid"/>
          </a:ln>
        </p:spPr>
      </p:sp>
      <p:sp>
        <p:nvSpPr>
          <p:cNvPr id="5" name="Text 3"/>
          <p:cNvSpPr txBox="1"/>
          <p:nvPr/>
        </p:nvSpPr>
        <p:spPr>
          <a:xfrm>
            <a:off x="1005840" y="2286000"/>
            <a:ext cx="1172718" cy="4572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Bit 1</a:t>
            </a:r>
            <a:endParaRPr lang="en-US" sz="2000" dirty="0"/>
          </a:p>
        </p:txBody>
      </p:sp>
      <p:sp>
        <p:nvSpPr>
          <p:cNvPr id="6" name="Shape 4"/>
          <p:cNvSpPr/>
          <p:nvPr/>
        </p:nvSpPr>
        <p:spPr>
          <a:xfrm>
            <a:off x="1592199" y="1645920"/>
            <a:ext cx="0" cy="320040"/>
          </a:xfrm>
          <a:prstGeom prst="line">
            <a:avLst/>
          </a:prstGeom>
          <a:noFill/>
          <a:ln w="19050">
            <a:solidFill>
              <a:srgbClr val="1E2761"/>
            </a:solidFill>
            <a:prstDash val="solid"/>
          </a:ln>
        </p:spPr>
      </p:sp>
      <p:sp>
        <p:nvSpPr>
          <p:cNvPr id="7" name="Shape 5"/>
          <p:cNvSpPr/>
          <p:nvPr/>
        </p:nvSpPr>
        <p:spPr>
          <a:xfrm>
            <a:off x="2288286" y="1965960"/>
            <a:ext cx="1172718" cy="1051560"/>
          </a:xfrm>
          <a:prstGeom prst="roundRect">
            <a:avLst>
              <a:gd name="adj" fmla="val 6087"/>
            </a:avLst>
          </a:prstGeom>
          <a:solidFill>
            <a:srgbClr val="1E2761"/>
          </a:solidFill>
          <a:ln w="15240">
            <a:solidFill>
              <a:srgbClr val="D4AF37"/>
            </a:solidFill>
            <a:prstDash val="solid"/>
          </a:ln>
        </p:spPr>
      </p:sp>
      <p:sp>
        <p:nvSpPr>
          <p:cNvPr id="8" name="Text 6"/>
          <p:cNvSpPr txBox="1"/>
          <p:nvPr/>
        </p:nvSpPr>
        <p:spPr>
          <a:xfrm>
            <a:off x="2288286" y="2286000"/>
            <a:ext cx="1172718" cy="4572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Bit 2</a:t>
            </a:r>
            <a:endParaRPr lang="en-US" sz="2000" dirty="0"/>
          </a:p>
        </p:txBody>
      </p:sp>
      <p:sp>
        <p:nvSpPr>
          <p:cNvPr id="9" name="Shape 7"/>
          <p:cNvSpPr/>
          <p:nvPr/>
        </p:nvSpPr>
        <p:spPr>
          <a:xfrm>
            <a:off x="2874645" y="1645920"/>
            <a:ext cx="0" cy="320040"/>
          </a:xfrm>
          <a:prstGeom prst="line">
            <a:avLst/>
          </a:prstGeom>
          <a:noFill/>
          <a:ln w="19050">
            <a:solidFill>
              <a:srgbClr val="1E2761"/>
            </a:solidFill>
            <a:prstDash val="solid"/>
          </a:ln>
        </p:spPr>
      </p:sp>
      <p:sp>
        <p:nvSpPr>
          <p:cNvPr id="10" name="Shape 8"/>
          <p:cNvSpPr/>
          <p:nvPr/>
        </p:nvSpPr>
        <p:spPr>
          <a:xfrm>
            <a:off x="3570732" y="1965960"/>
            <a:ext cx="1172718" cy="1051560"/>
          </a:xfrm>
          <a:prstGeom prst="roundRect">
            <a:avLst>
              <a:gd name="adj" fmla="val 6087"/>
            </a:avLst>
          </a:prstGeom>
          <a:solidFill>
            <a:srgbClr val="1E2761"/>
          </a:solidFill>
          <a:ln w="15240">
            <a:solidFill>
              <a:srgbClr val="D4AF37"/>
            </a:solidFill>
            <a:prstDash val="solid"/>
          </a:ln>
        </p:spPr>
      </p:sp>
      <p:sp>
        <p:nvSpPr>
          <p:cNvPr id="11" name="Text 9"/>
          <p:cNvSpPr txBox="1"/>
          <p:nvPr/>
        </p:nvSpPr>
        <p:spPr>
          <a:xfrm>
            <a:off x="3570732" y="2286000"/>
            <a:ext cx="1172718" cy="4572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Bit 3</a:t>
            </a:r>
            <a:endParaRPr lang="en-US" sz="2000" dirty="0"/>
          </a:p>
        </p:txBody>
      </p:sp>
      <p:sp>
        <p:nvSpPr>
          <p:cNvPr id="12" name="Shape 10"/>
          <p:cNvSpPr/>
          <p:nvPr/>
        </p:nvSpPr>
        <p:spPr>
          <a:xfrm>
            <a:off x="4157091" y="1645920"/>
            <a:ext cx="0" cy="320040"/>
          </a:xfrm>
          <a:prstGeom prst="line">
            <a:avLst/>
          </a:prstGeom>
          <a:noFill/>
          <a:ln w="19050">
            <a:solidFill>
              <a:srgbClr val="1E2761"/>
            </a:solidFill>
            <a:prstDash val="solid"/>
          </a:ln>
        </p:spPr>
      </p:sp>
      <p:sp>
        <p:nvSpPr>
          <p:cNvPr id="13" name="Shape 11"/>
          <p:cNvSpPr/>
          <p:nvPr/>
        </p:nvSpPr>
        <p:spPr>
          <a:xfrm>
            <a:off x="4853178" y="1965960"/>
            <a:ext cx="1172718" cy="1051560"/>
          </a:xfrm>
          <a:prstGeom prst="roundRect">
            <a:avLst>
              <a:gd name="adj" fmla="val 6087"/>
            </a:avLst>
          </a:prstGeom>
          <a:solidFill>
            <a:srgbClr val="1E2761"/>
          </a:solidFill>
          <a:ln w="15240">
            <a:solidFill>
              <a:srgbClr val="D4AF37"/>
            </a:solidFill>
            <a:prstDash val="solid"/>
          </a:ln>
        </p:spPr>
      </p:sp>
      <p:sp>
        <p:nvSpPr>
          <p:cNvPr id="14" name="Text 12"/>
          <p:cNvSpPr txBox="1"/>
          <p:nvPr/>
        </p:nvSpPr>
        <p:spPr>
          <a:xfrm>
            <a:off x="4853178" y="2286000"/>
            <a:ext cx="1172718" cy="4572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Bit 4</a:t>
            </a:r>
            <a:endParaRPr lang="en-US" sz="2000" dirty="0"/>
          </a:p>
        </p:txBody>
      </p:sp>
      <p:sp>
        <p:nvSpPr>
          <p:cNvPr id="15" name="Shape 13"/>
          <p:cNvSpPr/>
          <p:nvPr/>
        </p:nvSpPr>
        <p:spPr>
          <a:xfrm>
            <a:off x="5439537" y="1645920"/>
            <a:ext cx="0" cy="320040"/>
          </a:xfrm>
          <a:prstGeom prst="line">
            <a:avLst/>
          </a:prstGeom>
          <a:noFill/>
          <a:ln w="19050">
            <a:solidFill>
              <a:srgbClr val="1E2761"/>
            </a:solidFill>
            <a:prstDash val="solid"/>
          </a:ln>
        </p:spPr>
      </p:sp>
      <p:sp>
        <p:nvSpPr>
          <p:cNvPr id="16" name="Shape 14"/>
          <p:cNvSpPr/>
          <p:nvPr/>
        </p:nvSpPr>
        <p:spPr>
          <a:xfrm>
            <a:off x="6135624" y="1965960"/>
            <a:ext cx="1172718" cy="1051560"/>
          </a:xfrm>
          <a:prstGeom prst="roundRect">
            <a:avLst>
              <a:gd name="adj" fmla="val 6087"/>
            </a:avLst>
          </a:prstGeom>
          <a:solidFill>
            <a:srgbClr val="1E2761"/>
          </a:solidFill>
          <a:ln w="15240">
            <a:solidFill>
              <a:srgbClr val="D4AF37"/>
            </a:solidFill>
            <a:prstDash val="solid"/>
          </a:ln>
        </p:spPr>
      </p:sp>
      <p:sp>
        <p:nvSpPr>
          <p:cNvPr id="17" name="Text 15"/>
          <p:cNvSpPr txBox="1"/>
          <p:nvPr/>
        </p:nvSpPr>
        <p:spPr>
          <a:xfrm>
            <a:off x="6135624" y="2286000"/>
            <a:ext cx="1172718" cy="4572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Bit 5</a:t>
            </a:r>
            <a:endParaRPr lang="en-US" sz="2000" dirty="0"/>
          </a:p>
        </p:txBody>
      </p:sp>
      <p:sp>
        <p:nvSpPr>
          <p:cNvPr id="18" name="Shape 16"/>
          <p:cNvSpPr/>
          <p:nvPr/>
        </p:nvSpPr>
        <p:spPr>
          <a:xfrm>
            <a:off x="6721983" y="1645920"/>
            <a:ext cx="0" cy="320040"/>
          </a:xfrm>
          <a:prstGeom prst="line">
            <a:avLst/>
          </a:prstGeom>
          <a:noFill/>
          <a:ln w="19050">
            <a:solidFill>
              <a:srgbClr val="1E2761"/>
            </a:solidFill>
            <a:prstDash val="solid"/>
          </a:ln>
        </p:spPr>
      </p:sp>
      <p:sp>
        <p:nvSpPr>
          <p:cNvPr id="19" name="Shape 17"/>
          <p:cNvSpPr/>
          <p:nvPr/>
        </p:nvSpPr>
        <p:spPr>
          <a:xfrm>
            <a:off x="7418070" y="1965960"/>
            <a:ext cx="1172718" cy="1051560"/>
          </a:xfrm>
          <a:prstGeom prst="roundRect">
            <a:avLst>
              <a:gd name="adj" fmla="val 6087"/>
            </a:avLst>
          </a:prstGeom>
          <a:solidFill>
            <a:srgbClr val="1E2761"/>
          </a:solidFill>
          <a:ln w="15240">
            <a:solidFill>
              <a:srgbClr val="D4AF37"/>
            </a:solidFill>
            <a:prstDash val="solid"/>
          </a:ln>
        </p:spPr>
      </p:sp>
      <p:sp>
        <p:nvSpPr>
          <p:cNvPr id="20" name="Text 18"/>
          <p:cNvSpPr txBox="1"/>
          <p:nvPr/>
        </p:nvSpPr>
        <p:spPr>
          <a:xfrm>
            <a:off x="7418070" y="2286000"/>
            <a:ext cx="1172718" cy="4572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Bit 6</a:t>
            </a:r>
            <a:endParaRPr lang="en-US" sz="2000" dirty="0"/>
          </a:p>
        </p:txBody>
      </p:sp>
      <p:sp>
        <p:nvSpPr>
          <p:cNvPr id="21" name="Shape 19"/>
          <p:cNvSpPr/>
          <p:nvPr/>
        </p:nvSpPr>
        <p:spPr>
          <a:xfrm>
            <a:off x="8004429" y="1645920"/>
            <a:ext cx="0" cy="320040"/>
          </a:xfrm>
          <a:prstGeom prst="line">
            <a:avLst/>
          </a:prstGeom>
          <a:noFill/>
          <a:ln w="19050">
            <a:solidFill>
              <a:srgbClr val="1E2761"/>
            </a:solidFill>
            <a:prstDash val="solid"/>
          </a:ln>
        </p:spPr>
      </p:sp>
      <p:sp>
        <p:nvSpPr>
          <p:cNvPr id="22" name="Shape 20"/>
          <p:cNvSpPr/>
          <p:nvPr/>
        </p:nvSpPr>
        <p:spPr>
          <a:xfrm>
            <a:off x="8700516" y="1965960"/>
            <a:ext cx="1172718" cy="1051560"/>
          </a:xfrm>
          <a:prstGeom prst="roundRect">
            <a:avLst>
              <a:gd name="adj" fmla="val 6087"/>
            </a:avLst>
          </a:prstGeom>
          <a:solidFill>
            <a:srgbClr val="1E2761"/>
          </a:solidFill>
          <a:ln w="15240">
            <a:solidFill>
              <a:srgbClr val="D4AF37"/>
            </a:solidFill>
            <a:prstDash val="solid"/>
          </a:ln>
        </p:spPr>
      </p:sp>
      <p:sp>
        <p:nvSpPr>
          <p:cNvPr id="23" name="Text 21"/>
          <p:cNvSpPr txBox="1"/>
          <p:nvPr/>
        </p:nvSpPr>
        <p:spPr>
          <a:xfrm>
            <a:off x="8700516" y="2286000"/>
            <a:ext cx="1172718" cy="4572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Bit 7</a:t>
            </a:r>
            <a:endParaRPr lang="en-US" sz="2000" dirty="0"/>
          </a:p>
        </p:txBody>
      </p:sp>
      <p:sp>
        <p:nvSpPr>
          <p:cNvPr id="24" name="Shape 22"/>
          <p:cNvSpPr/>
          <p:nvPr/>
        </p:nvSpPr>
        <p:spPr>
          <a:xfrm>
            <a:off x="9286875" y="1645920"/>
            <a:ext cx="0" cy="320040"/>
          </a:xfrm>
          <a:prstGeom prst="line">
            <a:avLst/>
          </a:prstGeom>
          <a:noFill/>
          <a:ln w="19050">
            <a:solidFill>
              <a:srgbClr val="1E2761"/>
            </a:solidFill>
            <a:prstDash val="solid"/>
          </a:ln>
        </p:spPr>
      </p:sp>
      <p:sp>
        <p:nvSpPr>
          <p:cNvPr id="25" name="Shape 23"/>
          <p:cNvSpPr/>
          <p:nvPr/>
        </p:nvSpPr>
        <p:spPr>
          <a:xfrm>
            <a:off x="9982962" y="1965960"/>
            <a:ext cx="1172718" cy="1051560"/>
          </a:xfrm>
          <a:prstGeom prst="roundRect">
            <a:avLst>
              <a:gd name="adj" fmla="val 6087"/>
            </a:avLst>
          </a:prstGeom>
          <a:solidFill>
            <a:srgbClr val="1E2761"/>
          </a:solidFill>
          <a:ln w="15240">
            <a:solidFill>
              <a:srgbClr val="D4AF37"/>
            </a:solidFill>
            <a:prstDash val="solid"/>
          </a:ln>
        </p:spPr>
      </p:sp>
      <p:sp>
        <p:nvSpPr>
          <p:cNvPr id="26" name="Text 24"/>
          <p:cNvSpPr txBox="1"/>
          <p:nvPr/>
        </p:nvSpPr>
        <p:spPr>
          <a:xfrm>
            <a:off x="9982962" y="2286000"/>
            <a:ext cx="1172718" cy="45720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Bit 8</a:t>
            </a:r>
            <a:endParaRPr lang="en-US" sz="2000" dirty="0"/>
          </a:p>
        </p:txBody>
      </p:sp>
      <p:sp>
        <p:nvSpPr>
          <p:cNvPr id="27" name="Shape 25"/>
          <p:cNvSpPr/>
          <p:nvPr/>
        </p:nvSpPr>
        <p:spPr>
          <a:xfrm>
            <a:off x="10569321" y="1645920"/>
            <a:ext cx="0" cy="320040"/>
          </a:xfrm>
          <a:prstGeom prst="line">
            <a:avLst/>
          </a:prstGeom>
          <a:noFill/>
          <a:ln w="19050">
            <a:solidFill>
              <a:srgbClr val="1E2761"/>
            </a:solidFill>
            <a:prstDash val="solid"/>
          </a:ln>
        </p:spPr>
      </p:sp>
      <p:sp>
        <p:nvSpPr>
          <p:cNvPr id="28" name="Shape 26"/>
          <p:cNvSpPr/>
          <p:nvPr/>
        </p:nvSpPr>
        <p:spPr>
          <a:xfrm>
            <a:off x="1005840" y="1645920"/>
            <a:ext cx="10149840" cy="0"/>
          </a:xfrm>
          <a:prstGeom prst="line">
            <a:avLst/>
          </a:prstGeom>
          <a:noFill/>
          <a:ln w="25400">
            <a:solidFill>
              <a:srgbClr val="1E2761"/>
            </a:solidFill>
            <a:prstDash val="solid"/>
          </a:ln>
        </p:spPr>
      </p:sp>
      <p:sp>
        <p:nvSpPr>
          <p:cNvPr id="29" name="Text 27"/>
          <p:cNvSpPr txBox="1"/>
          <p:nvPr/>
        </p:nvSpPr>
        <p:spPr>
          <a:xfrm>
            <a:off x="1005840" y="1280160"/>
            <a:ext cx="5486400" cy="32004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Shared Address Bus</a:t>
            </a:r>
            <a:endParaRPr lang="en-US" sz="2000" dirty="0"/>
          </a:p>
        </p:txBody>
      </p:sp>
      <p:sp>
        <p:nvSpPr>
          <p:cNvPr id="30" name="Shape 28"/>
          <p:cNvSpPr/>
          <p:nvPr/>
        </p:nvSpPr>
        <p:spPr>
          <a:xfrm>
            <a:off x="1592199" y="3017520"/>
            <a:ext cx="0" cy="320040"/>
          </a:xfrm>
          <a:prstGeom prst="line">
            <a:avLst/>
          </a:prstGeom>
          <a:noFill/>
          <a:ln w="19050">
            <a:solidFill>
              <a:srgbClr val="D4AF37"/>
            </a:solidFill>
            <a:prstDash val="solid"/>
          </a:ln>
        </p:spPr>
      </p:sp>
      <p:sp>
        <p:nvSpPr>
          <p:cNvPr id="31" name="Shape 29"/>
          <p:cNvSpPr/>
          <p:nvPr/>
        </p:nvSpPr>
        <p:spPr>
          <a:xfrm>
            <a:off x="2874645" y="3017520"/>
            <a:ext cx="0" cy="320040"/>
          </a:xfrm>
          <a:prstGeom prst="line">
            <a:avLst/>
          </a:prstGeom>
          <a:noFill/>
          <a:ln w="19050">
            <a:solidFill>
              <a:srgbClr val="D4AF37"/>
            </a:solidFill>
            <a:prstDash val="solid"/>
          </a:ln>
        </p:spPr>
      </p:sp>
      <p:sp>
        <p:nvSpPr>
          <p:cNvPr id="32" name="Shape 30"/>
          <p:cNvSpPr/>
          <p:nvPr/>
        </p:nvSpPr>
        <p:spPr>
          <a:xfrm>
            <a:off x="4157091" y="3017520"/>
            <a:ext cx="0" cy="320040"/>
          </a:xfrm>
          <a:prstGeom prst="line">
            <a:avLst/>
          </a:prstGeom>
          <a:noFill/>
          <a:ln w="19050">
            <a:solidFill>
              <a:srgbClr val="D4AF37"/>
            </a:solidFill>
            <a:prstDash val="solid"/>
          </a:ln>
        </p:spPr>
      </p:sp>
      <p:sp>
        <p:nvSpPr>
          <p:cNvPr id="33" name="Shape 31"/>
          <p:cNvSpPr/>
          <p:nvPr/>
        </p:nvSpPr>
        <p:spPr>
          <a:xfrm>
            <a:off x="5439537" y="3017520"/>
            <a:ext cx="0" cy="320040"/>
          </a:xfrm>
          <a:prstGeom prst="line">
            <a:avLst/>
          </a:prstGeom>
          <a:noFill/>
          <a:ln w="19050">
            <a:solidFill>
              <a:srgbClr val="D4AF37"/>
            </a:solidFill>
            <a:prstDash val="solid"/>
          </a:ln>
        </p:spPr>
      </p:sp>
      <p:sp>
        <p:nvSpPr>
          <p:cNvPr id="34" name="Shape 32"/>
          <p:cNvSpPr/>
          <p:nvPr/>
        </p:nvSpPr>
        <p:spPr>
          <a:xfrm>
            <a:off x="6721983" y="3017520"/>
            <a:ext cx="0" cy="320040"/>
          </a:xfrm>
          <a:prstGeom prst="line">
            <a:avLst/>
          </a:prstGeom>
          <a:noFill/>
          <a:ln w="19050">
            <a:solidFill>
              <a:srgbClr val="D4AF37"/>
            </a:solidFill>
            <a:prstDash val="solid"/>
          </a:ln>
        </p:spPr>
      </p:sp>
      <p:sp>
        <p:nvSpPr>
          <p:cNvPr id="35" name="Shape 33"/>
          <p:cNvSpPr/>
          <p:nvPr/>
        </p:nvSpPr>
        <p:spPr>
          <a:xfrm>
            <a:off x="8004429" y="3017520"/>
            <a:ext cx="0" cy="320040"/>
          </a:xfrm>
          <a:prstGeom prst="line">
            <a:avLst/>
          </a:prstGeom>
          <a:noFill/>
          <a:ln w="19050">
            <a:solidFill>
              <a:srgbClr val="D4AF37"/>
            </a:solidFill>
            <a:prstDash val="solid"/>
          </a:ln>
        </p:spPr>
      </p:sp>
      <p:sp>
        <p:nvSpPr>
          <p:cNvPr id="36" name="Shape 34"/>
          <p:cNvSpPr/>
          <p:nvPr/>
        </p:nvSpPr>
        <p:spPr>
          <a:xfrm>
            <a:off x="9286875" y="3017520"/>
            <a:ext cx="0" cy="320040"/>
          </a:xfrm>
          <a:prstGeom prst="line">
            <a:avLst/>
          </a:prstGeom>
          <a:noFill/>
          <a:ln w="19050">
            <a:solidFill>
              <a:srgbClr val="D4AF37"/>
            </a:solidFill>
            <a:prstDash val="solid"/>
          </a:ln>
        </p:spPr>
      </p:sp>
      <p:sp>
        <p:nvSpPr>
          <p:cNvPr id="37" name="Shape 35"/>
          <p:cNvSpPr/>
          <p:nvPr/>
        </p:nvSpPr>
        <p:spPr>
          <a:xfrm>
            <a:off x="10569321" y="3017520"/>
            <a:ext cx="0" cy="320040"/>
          </a:xfrm>
          <a:prstGeom prst="line">
            <a:avLst/>
          </a:prstGeom>
          <a:noFill/>
          <a:ln w="19050">
            <a:solidFill>
              <a:srgbClr val="D4AF37"/>
            </a:solidFill>
            <a:prstDash val="solid"/>
          </a:ln>
        </p:spPr>
      </p:sp>
      <p:sp>
        <p:nvSpPr>
          <p:cNvPr id="38" name="Shape 36"/>
          <p:cNvSpPr/>
          <p:nvPr/>
        </p:nvSpPr>
        <p:spPr>
          <a:xfrm>
            <a:off x="1005840" y="3337560"/>
            <a:ext cx="10149840" cy="0"/>
          </a:xfrm>
          <a:prstGeom prst="line">
            <a:avLst/>
          </a:prstGeom>
          <a:noFill/>
          <a:ln w="38100">
            <a:solidFill>
              <a:srgbClr val="D4AF37"/>
            </a:solidFill>
            <a:prstDash val="solid"/>
          </a:ln>
        </p:spPr>
      </p:sp>
      <p:sp>
        <p:nvSpPr>
          <p:cNvPr id="39" name="Text 37"/>
          <p:cNvSpPr txBox="1"/>
          <p:nvPr/>
        </p:nvSpPr>
        <p:spPr>
          <a:xfrm>
            <a:off x="1005840" y="3429000"/>
            <a:ext cx="5943600" cy="32004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Combined Data Bus</a:t>
            </a:r>
            <a:endParaRPr lang="en-US" sz="2000" dirty="0"/>
          </a:p>
        </p:txBody>
      </p:sp>
      <p:sp>
        <p:nvSpPr>
          <p:cNvPr id="40" name="Text 38"/>
          <p:cNvSpPr txBox="1"/>
          <p:nvPr/>
        </p:nvSpPr>
        <p:spPr>
          <a:xfrm>
            <a:off x="640080" y="4297680"/>
            <a:ext cx="10881360" cy="169164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Build 64K × 8 memory using 64K × 1 (bit-organized) chips</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Need 8 chips — one per bit position — for an 8-bit word</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All 8 chips share the same address lines</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log₂(65536) = 16 address lines shared across all</a:t>
            </a:r>
            <a:endParaRPr lang="en-US" sz="2000" dirty="0"/>
          </a:p>
        </p:txBody>
      </p:sp>
      <p:sp>
        <p:nvSpPr>
          <p:cNvPr id="41" name="Text 39"/>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42" name="Text 40"/>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17</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REAL-WORLD</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Why Bit Organization Still Matters</a:t>
            </a:r>
            <a:endParaRPr lang="en-US" sz="3600" dirty="0"/>
          </a:p>
        </p:txBody>
      </p:sp>
      <p:sp>
        <p:nvSpPr>
          <p:cNvPr id="4" name="Shape 2"/>
          <p:cNvSpPr/>
          <p:nvPr/>
        </p:nvSpPr>
        <p:spPr>
          <a:xfrm>
            <a:off x="548640" y="1737360"/>
            <a:ext cx="3444240" cy="1737360"/>
          </a:xfrm>
          <a:prstGeom prst="roundRect">
            <a:avLst>
              <a:gd name="adj" fmla="val 5263"/>
            </a:avLst>
          </a:prstGeom>
          <a:solidFill>
            <a:srgbClr val="E7EEFC"/>
          </a:solidFill>
          <a:ln/>
        </p:spPr>
      </p:sp>
      <p:sp>
        <p:nvSpPr>
          <p:cNvPr id="5" name="Shape 3"/>
          <p:cNvSpPr/>
          <p:nvPr/>
        </p:nvSpPr>
        <p:spPr>
          <a:xfrm>
            <a:off x="1813560" y="1938528"/>
            <a:ext cx="914400" cy="914400"/>
          </a:xfrm>
          <a:prstGeom prst="ellipse">
            <a:avLst/>
          </a:prstGeom>
          <a:solidFill>
            <a:srgbClr val="D4AF37"/>
          </a:solidFill>
          <a:ln/>
        </p:spPr>
      </p:sp>
      <p:pic>
        <p:nvPicPr>
          <p:cNvPr id="6" name="Image 0" descr="preencoded.png"/>
          <p:cNvPicPr>
            <a:picLocks noChangeAspect="1"/>
          </p:cNvPicPr>
          <p:nvPr/>
        </p:nvPicPr>
        <p:blipFill>
          <a:blip r:embed="rId3"/>
          <a:stretch>
            <a:fillRect/>
          </a:stretch>
        </p:blipFill>
        <p:spPr>
          <a:xfrm>
            <a:off x="1932432" y="2057400"/>
            <a:ext cx="676656" cy="676656"/>
          </a:xfrm>
          <a:prstGeom prst="rect">
            <a:avLst/>
          </a:prstGeom>
        </p:spPr>
      </p:pic>
      <p:sp>
        <p:nvSpPr>
          <p:cNvPr id="7" name="Text 4"/>
          <p:cNvSpPr txBox="1"/>
          <p:nvPr/>
        </p:nvSpPr>
        <p:spPr>
          <a:xfrm>
            <a:off x="64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Legacy PCs (1980s-90s) — 1-bit DRAM</a:t>
            </a:r>
            <a:endParaRPr lang="en-US" sz="2000" dirty="0"/>
          </a:p>
        </p:txBody>
      </p:sp>
      <p:sp>
        <p:nvSpPr>
          <p:cNvPr id="8" name="Shape 5"/>
          <p:cNvSpPr/>
          <p:nvPr/>
        </p:nvSpPr>
        <p:spPr>
          <a:xfrm>
            <a:off x="4358640" y="1737360"/>
            <a:ext cx="3444240" cy="1737360"/>
          </a:xfrm>
          <a:prstGeom prst="roundRect">
            <a:avLst>
              <a:gd name="adj" fmla="val 5263"/>
            </a:avLst>
          </a:prstGeom>
          <a:solidFill>
            <a:srgbClr val="E7EEFC"/>
          </a:solidFill>
          <a:ln/>
        </p:spPr>
      </p:sp>
      <p:sp>
        <p:nvSpPr>
          <p:cNvPr id="9" name="Shape 6"/>
          <p:cNvSpPr/>
          <p:nvPr/>
        </p:nvSpPr>
        <p:spPr>
          <a:xfrm>
            <a:off x="5623560" y="1938528"/>
            <a:ext cx="914400" cy="914400"/>
          </a:xfrm>
          <a:prstGeom prst="ellipse">
            <a:avLst/>
          </a:prstGeom>
          <a:solidFill>
            <a:srgbClr val="D4AF37"/>
          </a:solidFill>
          <a:ln/>
        </p:spPr>
      </p:sp>
      <p:pic>
        <p:nvPicPr>
          <p:cNvPr id="10" name="Image 1" descr="preencoded.png"/>
          <p:cNvPicPr>
            <a:picLocks noChangeAspect="1"/>
          </p:cNvPicPr>
          <p:nvPr/>
        </p:nvPicPr>
        <p:blipFill>
          <a:blip r:embed="rId4"/>
          <a:stretch>
            <a:fillRect/>
          </a:stretch>
        </p:blipFill>
        <p:spPr>
          <a:xfrm>
            <a:off x="5742432" y="2057400"/>
            <a:ext cx="676656" cy="676656"/>
          </a:xfrm>
          <a:prstGeom prst="rect">
            <a:avLst/>
          </a:prstGeom>
        </p:spPr>
      </p:pic>
      <p:sp>
        <p:nvSpPr>
          <p:cNvPr id="11" name="Text 7"/>
          <p:cNvSpPr txBox="1"/>
          <p:nvPr/>
        </p:nvSpPr>
        <p:spPr>
          <a:xfrm>
            <a:off x="445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ECC Memory — narrow chips for flexibility</a:t>
            </a:r>
            <a:endParaRPr lang="en-US" sz="2000" dirty="0"/>
          </a:p>
        </p:txBody>
      </p:sp>
      <p:sp>
        <p:nvSpPr>
          <p:cNvPr id="12" name="Shape 8"/>
          <p:cNvSpPr/>
          <p:nvPr/>
        </p:nvSpPr>
        <p:spPr>
          <a:xfrm>
            <a:off x="8168640" y="1737360"/>
            <a:ext cx="3444240" cy="1737360"/>
          </a:xfrm>
          <a:prstGeom prst="roundRect">
            <a:avLst>
              <a:gd name="adj" fmla="val 5263"/>
            </a:avLst>
          </a:prstGeom>
          <a:solidFill>
            <a:srgbClr val="E7EEFC"/>
          </a:solidFill>
          <a:ln/>
        </p:spPr>
      </p:sp>
      <p:sp>
        <p:nvSpPr>
          <p:cNvPr id="13" name="Shape 9"/>
          <p:cNvSpPr/>
          <p:nvPr/>
        </p:nvSpPr>
        <p:spPr>
          <a:xfrm>
            <a:off x="9433560" y="1938528"/>
            <a:ext cx="914400" cy="914400"/>
          </a:xfrm>
          <a:prstGeom prst="ellipse">
            <a:avLst/>
          </a:prstGeom>
          <a:solidFill>
            <a:srgbClr val="D4AF37"/>
          </a:solidFill>
          <a:ln/>
        </p:spPr>
      </p:sp>
      <p:pic>
        <p:nvPicPr>
          <p:cNvPr id="14" name="Image 2" descr="preencoded.png"/>
          <p:cNvPicPr>
            <a:picLocks noChangeAspect="1"/>
          </p:cNvPicPr>
          <p:nvPr/>
        </p:nvPicPr>
        <p:blipFill>
          <a:blip r:embed="rId5"/>
          <a:stretch>
            <a:fillRect/>
          </a:stretch>
        </p:blipFill>
        <p:spPr>
          <a:xfrm>
            <a:off x="9552432" y="2057400"/>
            <a:ext cx="676656" cy="676656"/>
          </a:xfrm>
          <a:prstGeom prst="rect">
            <a:avLst/>
          </a:prstGeom>
        </p:spPr>
      </p:pic>
      <p:sp>
        <p:nvSpPr>
          <p:cNvPr id="15" name="Text 10"/>
          <p:cNvSpPr txBox="1"/>
          <p:nvPr/>
        </p:nvSpPr>
        <p:spPr>
          <a:xfrm>
            <a:off x="8260080" y="2926080"/>
            <a:ext cx="326136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Modern DRAM — word-organized</a:t>
            </a:r>
            <a:endParaRPr lang="en-US" sz="2000" dirty="0"/>
          </a:p>
        </p:txBody>
      </p:sp>
      <p:sp>
        <p:nvSpPr>
          <p:cNvPr id="16" name="Shape 11"/>
          <p:cNvSpPr/>
          <p:nvPr/>
        </p:nvSpPr>
        <p:spPr>
          <a:xfrm>
            <a:off x="548640" y="3749040"/>
            <a:ext cx="11064240" cy="2331720"/>
          </a:xfrm>
          <a:prstGeom prst="roundRect">
            <a:avLst>
              <a:gd name="adj" fmla="val 3922"/>
            </a:avLst>
          </a:prstGeom>
          <a:solidFill>
            <a:srgbClr val="FFFFFF"/>
          </a:solidFill>
          <a:ln w="19050">
            <a:solidFill>
              <a:srgbClr val="CADCFC"/>
            </a:solidFill>
            <a:prstDash val="solid"/>
          </a:ln>
        </p:spPr>
      </p:sp>
      <p:sp>
        <p:nvSpPr>
          <p:cNvPr id="17" name="Text 12"/>
          <p:cNvSpPr txBox="1"/>
          <p:nvPr/>
        </p:nvSpPr>
        <p:spPr>
          <a:xfrm>
            <a:off x="868680" y="3950208"/>
            <a:ext cx="10424160" cy="196596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Old motherboards covered in many tiny identical chips = bit-organized</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Modern memory consolidated to word-organized chips</a:t>
            </a:r>
            <a:endParaRPr lang="en-US" sz="1900" dirty="0"/>
          </a:p>
          <a:p>
            <a:pPr marL="279400" indent="-279400">
              <a:spcAft>
                <a:spcPts val="1400"/>
              </a:spcAft>
              <a:buSzPct val="100000"/>
              <a:buChar char="•"/>
            </a:pPr>
            <a:r>
              <a:rPr lang="en-US" sz="1900" dirty="0">
                <a:solidFill>
                  <a:srgbClr val="141A45"/>
                </a:solidFill>
                <a:latin typeface="Calibri" pitchFamily="34" charset="0"/>
                <a:ea typeface="Calibri" pitchFamily="34" charset="-122"/>
                <a:cs typeface="Calibri" pitchFamily="34" charset="-120"/>
              </a:rPr>
              <a:t>The underlying math applies identically either way</a:t>
            </a:r>
            <a:endParaRPr lang="en-US" sz="1900" dirty="0"/>
          </a:p>
        </p:txBody>
      </p:sp>
      <p:sp>
        <p:nvSpPr>
          <p:cNvPr id="18" name="Text 13"/>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19" name="Text 14"/>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18</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REVERSE DIRECTION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Capacity — Working Backwards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Sometimes given total capacity + word size, must find address lines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Step 1: Divide total capacity by word size to get word count</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Step 2: Take log₂ of that word count</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Same formula, opposite direction</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19</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Working Backwards from Capacity</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A chip has 65,536 bits total, word size 8 bits. Find words and address lines.</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65,536 bits, 8 bits/word</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Words = 65,536 ÷ 8 = 8192</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Address lines = log₂(8192)</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2¹³ = 8192, so 13 lines</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8192 words (8K), 13 address lines</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20</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Full Chip Specification</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A chip has 12 address lines and 16 data lines. Give its full spec and capacity.</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12 address lines, 16 data lines</a:t>
            </a:r>
            <a:endParaRPr lang="en-US" sz="2000" dirty="0"/>
          </a:p>
        </p:txBody>
      </p:sp>
      <p:sp>
        <p:nvSpPr>
          <p:cNvPr id="7" name="Shape 5"/>
          <p:cNvSpPr/>
          <p:nvPr/>
        </p:nvSpPr>
        <p:spPr>
          <a:xfrm>
            <a:off x="548640" y="3017520"/>
            <a:ext cx="350520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Words = 2¹² = 4096</a:t>
            </a:r>
            <a:endParaRPr lang="en-US" sz="2000" dirty="0"/>
          </a:p>
        </p:txBody>
      </p:sp>
      <p:sp>
        <p:nvSpPr>
          <p:cNvPr id="10" name="Shape 8"/>
          <p:cNvSpPr/>
          <p:nvPr/>
        </p:nvSpPr>
        <p:spPr>
          <a:xfrm>
            <a:off x="4053840" y="3566160"/>
            <a:ext cx="274320" cy="0"/>
          </a:xfrm>
          <a:prstGeom prst="line">
            <a:avLst/>
          </a:prstGeom>
          <a:noFill/>
          <a:ln w="25400">
            <a:solidFill>
              <a:srgbClr val="D4AF37"/>
            </a:solidFill>
            <a:prstDash val="solid"/>
            <a:tailEnd type="triangle"/>
          </a:ln>
        </p:spPr>
      </p:sp>
      <p:sp>
        <p:nvSpPr>
          <p:cNvPr id="11" name="Shape 9"/>
          <p:cNvSpPr/>
          <p:nvPr/>
        </p:nvSpPr>
        <p:spPr>
          <a:xfrm>
            <a:off x="4328160" y="3017520"/>
            <a:ext cx="350520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432816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441960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Word size = 16 bits (from data lines)</a:t>
            </a:r>
            <a:endParaRPr lang="en-US" sz="2000" dirty="0"/>
          </a:p>
        </p:txBody>
      </p:sp>
      <p:sp>
        <p:nvSpPr>
          <p:cNvPr id="14" name="Shape 12"/>
          <p:cNvSpPr/>
          <p:nvPr/>
        </p:nvSpPr>
        <p:spPr>
          <a:xfrm>
            <a:off x="7833360" y="3566160"/>
            <a:ext cx="274320" cy="0"/>
          </a:xfrm>
          <a:prstGeom prst="line">
            <a:avLst/>
          </a:prstGeom>
          <a:noFill/>
          <a:ln w="25400">
            <a:solidFill>
              <a:srgbClr val="D4AF37"/>
            </a:solidFill>
            <a:prstDash val="solid"/>
            <a:tailEnd type="triangle"/>
          </a:ln>
        </p:spPr>
      </p:sp>
      <p:sp>
        <p:nvSpPr>
          <p:cNvPr id="15" name="Shape 13"/>
          <p:cNvSpPr/>
          <p:nvPr/>
        </p:nvSpPr>
        <p:spPr>
          <a:xfrm>
            <a:off x="8107680" y="3017520"/>
            <a:ext cx="350520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8107680" y="3090672"/>
            <a:ext cx="350520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8199120" y="3401568"/>
            <a:ext cx="332232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Spec: 4096 × 16 = 65,536 bits = 8 KB</a:t>
            </a:r>
            <a:endParaRPr lang="en-US" sz="2000" dirty="0"/>
          </a:p>
        </p:txBody>
      </p:sp>
      <p:sp>
        <p:nvSpPr>
          <p:cNvPr id="18" name="Shape 16"/>
          <p:cNvSpPr/>
          <p:nvPr/>
        </p:nvSpPr>
        <p:spPr>
          <a:xfrm>
            <a:off x="548640" y="4434840"/>
            <a:ext cx="11064240" cy="685800"/>
          </a:xfrm>
          <a:prstGeom prst="roundRect">
            <a:avLst>
              <a:gd name="adj" fmla="val 10667"/>
            </a:avLst>
          </a:prstGeom>
          <a:solidFill>
            <a:srgbClr val="D4AF37"/>
          </a:solidFill>
          <a:ln/>
        </p:spPr>
      </p:sp>
      <p:sp>
        <p:nvSpPr>
          <p:cNvPr id="19" name="Text 17"/>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"4K × 16" — 8192 bytes total</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21</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CAPACITY EXPANSION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Combining Chips — Recap</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Goal: build a bigger memory than one chip can hold</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Word size stays the same; only total word count increases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Requires extra address lines to select which chip is active</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Extra lines = log₂(number of chips), via a small external decoder</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22</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Full Capacity Expansion</a:t>
            </a:r>
            <a:endParaRPr lang="en-US" sz="3600" dirty="0"/>
          </a:p>
        </p:txBody>
      </p:sp>
      <p:sp>
        <p:nvSpPr>
          <p:cNvPr id="4" name="Shape 2"/>
          <p:cNvSpPr/>
          <p:nvPr/>
        </p:nvSpPr>
        <p:spPr>
          <a:xfrm>
            <a:off x="1188720" y="1645920"/>
            <a:ext cx="2743200" cy="548640"/>
          </a:xfrm>
          <a:prstGeom prst="roundRect">
            <a:avLst>
              <a:gd name="adj" fmla="val 13333"/>
            </a:avLst>
          </a:prstGeom>
          <a:solidFill>
            <a:srgbClr val="1E2761"/>
          </a:solidFill>
          <a:ln w="19050">
            <a:solidFill>
              <a:srgbClr val="D4AF37"/>
            </a:solidFill>
            <a:prstDash val="solid"/>
          </a:ln>
        </p:spPr>
      </p:sp>
      <p:sp>
        <p:nvSpPr>
          <p:cNvPr id="5" name="Text 3"/>
          <p:cNvSpPr txBox="1"/>
          <p:nvPr/>
        </p:nvSpPr>
        <p:spPr>
          <a:xfrm>
            <a:off x="1188720" y="1645920"/>
            <a:ext cx="27432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1 — 2K × 8</a:t>
            </a:r>
            <a:endParaRPr lang="en-US" sz="2000" dirty="0"/>
          </a:p>
        </p:txBody>
      </p:sp>
      <p:sp>
        <p:nvSpPr>
          <p:cNvPr id="6" name="Shape 4"/>
          <p:cNvSpPr/>
          <p:nvPr/>
        </p:nvSpPr>
        <p:spPr>
          <a:xfrm>
            <a:off x="1188720" y="2322576"/>
            <a:ext cx="2743200" cy="548640"/>
          </a:xfrm>
          <a:prstGeom prst="roundRect">
            <a:avLst>
              <a:gd name="adj" fmla="val 13333"/>
            </a:avLst>
          </a:prstGeom>
          <a:solidFill>
            <a:srgbClr val="1E2761"/>
          </a:solidFill>
          <a:ln w="19050">
            <a:solidFill>
              <a:srgbClr val="D4AF37"/>
            </a:solidFill>
            <a:prstDash val="solid"/>
          </a:ln>
        </p:spPr>
      </p:sp>
      <p:sp>
        <p:nvSpPr>
          <p:cNvPr id="7" name="Text 5"/>
          <p:cNvSpPr txBox="1"/>
          <p:nvPr/>
        </p:nvSpPr>
        <p:spPr>
          <a:xfrm>
            <a:off x="1188720" y="2322576"/>
            <a:ext cx="27432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2 — 2K × 8</a:t>
            </a:r>
            <a:endParaRPr lang="en-US" sz="2000" dirty="0"/>
          </a:p>
        </p:txBody>
      </p:sp>
      <p:sp>
        <p:nvSpPr>
          <p:cNvPr id="8" name="Shape 6"/>
          <p:cNvSpPr/>
          <p:nvPr/>
        </p:nvSpPr>
        <p:spPr>
          <a:xfrm>
            <a:off x="1188720" y="2999232"/>
            <a:ext cx="2743200" cy="548640"/>
          </a:xfrm>
          <a:prstGeom prst="roundRect">
            <a:avLst>
              <a:gd name="adj" fmla="val 13333"/>
            </a:avLst>
          </a:prstGeom>
          <a:solidFill>
            <a:srgbClr val="1E2761"/>
          </a:solidFill>
          <a:ln w="19050">
            <a:solidFill>
              <a:srgbClr val="D4AF37"/>
            </a:solidFill>
            <a:prstDash val="solid"/>
          </a:ln>
        </p:spPr>
      </p:sp>
      <p:sp>
        <p:nvSpPr>
          <p:cNvPr id="9" name="Text 7"/>
          <p:cNvSpPr txBox="1"/>
          <p:nvPr/>
        </p:nvSpPr>
        <p:spPr>
          <a:xfrm>
            <a:off x="1188720" y="2999232"/>
            <a:ext cx="27432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3 — 2K × 8</a:t>
            </a:r>
            <a:endParaRPr lang="en-US" sz="2000" dirty="0"/>
          </a:p>
        </p:txBody>
      </p:sp>
      <p:sp>
        <p:nvSpPr>
          <p:cNvPr id="10" name="Shape 8"/>
          <p:cNvSpPr/>
          <p:nvPr/>
        </p:nvSpPr>
        <p:spPr>
          <a:xfrm>
            <a:off x="1188720" y="3675888"/>
            <a:ext cx="2743200" cy="548640"/>
          </a:xfrm>
          <a:prstGeom prst="roundRect">
            <a:avLst>
              <a:gd name="adj" fmla="val 13333"/>
            </a:avLst>
          </a:prstGeom>
          <a:solidFill>
            <a:srgbClr val="1E2761"/>
          </a:solidFill>
          <a:ln w="19050">
            <a:solidFill>
              <a:srgbClr val="D4AF37"/>
            </a:solidFill>
            <a:prstDash val="solid"/>
          </a:ln>
        </p:spPr>
      </p:sp>
      <p:sp>
        <p:nvSpPr>
          <p:cNvPr id="11" name="Text 9"/>
          <p:cNvSpPr txBox="1"/>
          <p:nvPr/>
        </p:nvSpPr>
        <p:spPr>
          <a:xfrm>
            <a:off x="1188720" y="3675888"/>
            <a:ext cx="2743200" cy="54864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Chip 4 — 2K × 8</a:t>
            </a:r>
            <a:endParaRPr lang="en-US" sz="2000" dirty="0"/>
          </a:p>
        </p:txBody>
      </p:sp>
      <p:sp>
        <p:nvSpPr>
          <p:cNvPr id="12" name="Shape 10"/>
          <p:cNvSpPr/>
          <p:nvPr/>
        </p:nvSpPr>
        <p:spPr>
          <a:xfrm>
            <a:off x="4846320" y="2478024"/>
            <a:ext cx="1280160" cy="914400"/>
          </a:xfrm>
          <a:prstGeom prst="roundRect">
            <a:avLst>
              <a:gd name="adj" fmla="val 8000"/>
            </a:avLst>
          </a:prstGeom>
          <a:solidFill>
            <a:srgbClr val="D4AF37"/>
          </a:solidFill>
          <a:ln/>
        </p:spPr>
      </p:sp>
      <p:sp>
        <p:nvSpPr>
          <p:cNvPr id="13" name="Text 11"/>
          <p:cNvSpPr txBox="1"/>
          <p:nvPr/>
        </p:nvSpPr>
        <p:spPr>
          <a:xfrm>
            <a:off x="4846320" y="2615184"/>
            <a:ext cx="1280160" cy="64008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Decoder</a:t>
            </a:r>
            <a:endParaRPr lang="en-US" sz="2000" dirty="0"/>
          </a:p>
        </p:txBody>
      </p:sp>
      <p:sp>
        <p:nvSpPr>
          <p:cNvPr id="14" name="Shape 12"/>
          <p:cNvSpPr/>
          <p:nvPr/>
        </p:nvSpPr>
        <p:spPr>
          <a:xfrm>
            <a:off x="4846320" y="2935224"/>
            <a:ext cx="0" cy="0"/>
          </a:xfrm>
          <a:prstGeom prst="line">
            <a:avLst/>
          </a:prstGeom>
          <a:noFill/>
          <a:ln w="19050">
            <a:solidFill>
              <a:srgbClr val="1E2761"/>
            </a:solidFill>
            <a:prstDash val="solid"/>
            <a:tailEnd type="triangle"/>
          </a:ln>
        </p:spPr>
      </p:sp>
      <p:sp>
        <p:nvSpPr>
          <p:cNvPr id="15" name="Shape 13"/>
          <p:cNvSpPr/>
          <p:nvPr/>
        </p:nvSpPr>
        <p:spPr>
          <a:xfrm>
            <a:off x="4846320" y="2935224"/>
            <a:ext cx="0" cy="0"/>
          </a:xfrm>
          <a:prstGeom prst="line">
            <a:avLst/>
          </a:prstGeom>
          <a:noFill/>
          <a:ln w="19050">
            <a:solidFill>
              <a:srgbClr val="1E2761"/>
            </a:solidFill>
            <a:prstDash val="solid"/>
            <a:tailEnd type="triangle"/>
          </a:ln>
        </p:spPr>
      </p:sp>
      <p:sp>
        <p:nvSpPr>
          <p:cNvPr id="16" name="Shape 14"/>
          <p:cNvSpPr/>
          <p:nvPr/>
        </p:nvSpPr>
        <p:spPr>
          <a:xfrm>
            <a:off x="4846320" y="2935224"/>
            <a:ext cx="0" cy="338328"/>
          </a:xfrm>
          <a:prstGeom prst="line">
            <a:avLst/>
          </a:prstGeom>
          <a:noFill/>
          <a:ln w="19050">
            <a:solidFill>
              <a:srgbClr val="1E2761"/>
            </a:solidFill>
            <a:prstDash val="solid"/>
            <a:tailEnd type="triangle"/>
          </a:ln>
        </p:spPr>
      </p:sp>
      <p:sp>
        <p:nvSpPr>
          <p:cNvPr id="17" name="Shape 15"/>
          <p:cNvSpPr/>
          <p:nvPr/>
        </p:nvSpPr>
        <p:spPr>
          <a:xfrm>
            <a:off x="4846320" y="2935224"/>
            <a:ext cx="0" cy="1014984"/>
          </a:xfrm>
          <a:prstGeom prst="line">
            <a:avLst/>
          </a:prstGeom>
          <a:noFill/>
          <a:ln w="19050">
            <a:solidFill>
              <a:srgbClr val="1E2761"/>
            </a:solidFill>
            <a:prstDash val="solid"/>
            <a:tailEnd type="triangle"/>
          </a:ln>
        </p:spPr>
      </p:sp>
      <p:sp>
        <p:nvSpPr>
          <p:cNvPr id="18" name="Text 16"/>
          <p:cNvSpPr txBox="1"/>
          <p:nvPr/>
        </p:nvSpPr>
        <p:spPr>
          <a:xfrm>
            <a:off x="4846320" y="2066544"/>
            <a:ext cx="2377440" cy="32004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2 extra address lines</a:t>
            </a:r>
            <a:endParaRPr lang="en-US" sz="2000" dirty="0"/>
          </a:p>
        </p:txBody>
      </p:sp>
      <p:sp>
        <p:nvSpPr>
          <p:cNvPr id="19" name="Text 17"/>
          <p:cNvSpPr txBox="1"/>
          <p:nvPr/>
        </p:nvSpPr>
        <p:spPr>
          <a:xfrm>
            <a:off x="640080" y="4617720"/>
            <a:ext cx="10881360" cy="1371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Design an 8K × 8 memory using 2K × 8 chips</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Chips = 8192 ÷ 2048 = 4</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Address lines per chip = log₂(2048) = 11</a:t>
            </a:r>
            <a:endParaRPr lang="en-US" sz="2000" dirty="0"/>
          </a:p>
          <a:p>
            <a:pPr marL="342900" indent="-342900">
              <a:spcAft>
                <a:spcPts val="800"/>
              </a:spcAft>
              <a:buSzPct val="100000"/>
              <a:buChar char="•"/>
            </a:pPr>
            <a:r>
              <a:rPr lang="en-US" sz="2000" dirty="0">
                <a:solidFill>
                  <a:srgbClr val="141A45"/>
                </a:solidFill>
                <a:latin typeface="Calibri" pitchFamily="34" charset="0"/>
                <a:ea typeface="Calibri" pitchFamily="34" charset="-122"/>
                <a:cs typeface="Calibri" pitchFamily="34" charset="-120"/>
              </a:rPr>
              <a:t>Total: 11 + log₂(4) = 11 + 2 = 13 address lines</a:t>
            </a:r>
            <a:endParaRPr lang="en-US" sz="2000" dirty="0"/>
          </a:p>
        </p:txBody>
      </p:sp>
      <p:sp>
        <p:nvSpPr>
          <p:cNvPr id="20" name="Text 18"/>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9"/>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23</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COMBINED EXPANSION</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Word-Size AND Capacity Expansion</a:t>
            </a:r>
            <a:endParaRPr lang="en-US" sz="3600" dirty="0"/>
          </a:p>
        </p:txBody>
      </p:sp>
      <p:sp>
        <p:nvSpPr>
          <p:cNvPr id="4" name="Shape 2"/>
          <p:cNvSpPr/>
          <p:nvPr/>
        </p:nvSpPr>
        <p:spPr>
          <a:xfrm>
            <a:off x="3840480" y="1828800"/>
            <a:ext cx="1371600" cy="502920"/>
          </a:xfrm>
          <a:prstGeom prst="roundRect">
            <a:avLst>
              <a:gd name="adj" fmla="val 10909"/>
            </a:avLst>
          </a:prstGeom>
          <a:solidFill>
            <a:srgbClr val="1E2761"/>
          </a:solidFill>
          <a:ln w="12700">
            <a:solidFill>
              <a:srgbClr val="D4AF37"/>
            </a:solidFill>
            <a:prstDash val="solid"/>
          </a:ln>
        </p:spPr>
      </p:sp>
      <p:sp>
        <p:nvSpPr>
          <p:cNvPr id="5" name="Text 3"/>
          <p:cNvSpPr txBox="1"/>
          <p:nvPr/>
        </p:nvSpPr>
        <p:spPr>
          <a:xfrm>
            <a:off x="3840480" y="1828800"/>
            <a:ext cx="137160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B1·W1</a:t>
            </a:r>
            <a:endParaRPr lang="en-US" sz="2000" dirty="0"/>
          </a:p>
        </p:txBody>
      </p:sp>
      <p:sp>
        <p:nvSpPr>
          <p:cNvPr id="6" name="Shape 4"/>
          <p:cNvSpPr/>
          <p:nvPr/>
        </p:nvSpPr>
        <p:spPr>
          <a:xfrm>
            <a:off x="5394960" y="1828800"/>
            <a:ext cx="1371600" cy="502920"/>
          </a:xfrm>
          <a:prstGeom prst="roundRect">
            <a:avLst>
              <a:gd name="adj" fmla="val 10909"/>
            </a:avLst>
          </a:prstGeom>
          <a:solidFill>
            <a:srgbClr val="1E2761"/>
          </a:solidFill>
          <a:ln w="12700">
            <a:solidFill>
              <a:srgbClr val="D4AF37"/>
            </a:solidFill>
            <a:prstDash val="solid"/>
          </a:ln>
        </p:spPr>
      </p:sp>
      <p:sp>
        <p:nvSpPr>
          <p:cNvPr id="7" name="Text 5"/>
          <p:cNvSpPr txBox="1"/>
          <p:nvPr/>
        </p:nvSpPr>
        <p:spPr>
          <a:xfrm>
            <a:off x="5394960" y="1828800"/>
            <a:ext cx="137160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B1·W2</a:t>
            </a:r>
            <a:endParaRPr lang="en-US" sz="2000" dirty="0"/>
          </a:p>
        </p:txBody>
      </p:sp>
      <p:sp>
        <p:nvSpPr>
          <p:cNvPr id="8" name="Shape 6"/>
          <p:cNvSpPr/>
          <p:nvPr/>
        </p:nvSpPr>
        <p:spPr>
          <a:xfrm>
            <a:off x="6949440" y="1828800"/>
            <a:ext cx="1371600" cy="502920"/>
          </a:xfrm>
          <a:prstGeom prst="roundRect">
            <a:avLst>
              <a:gd name="adj" fmla="val 10909"/>
            </a:avLst>
          </a:prstGeom>
          <a:solidFill>
            <a:srgbClr val="1E2761"/>
          </a:solidFill>
          <a:ln w="12700">
            <a:solidFill>
              <a:srgbClr val="D4AF37"/>
            </a:solidFill>
            <a:prstDash val="solid"/>
          </a:ln>
        </p:spPr>
      </p:sp>
      <p:sp>
        <p:nvSpPr>
          <p:cNvPr id="9" name="Text 7"/>
          <p:cNvSpPr txBox="1"/>
          <p:nvPr/>
        </p:nvSpPr>
        <p:spPr>
          <a:xfrm>
            <a:off x="6949440" y="1828800"/>
            <a:ext cx="137160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B1·W3</a:t>
            </a:r>
            <a:endParaRPr lang="en-US" sz="2000" dirty="0"/>
          </a:p>
        </p:txBody>
      </p:sp>
      <p:sp>
        <p:nvSpPr>
          <p:cNvPr id="10" name="Text 8"/>
          <p:cNvSpPr txBox="1"/>
          <p:nvPr/>
        </p:nvSpPr>
        <p:spPr>
          <a:xfrm>
            <a:off x="2651760" y="1828800"/>
            <a:ext cx="1051560" cy="502920"/>
          </a:xfrm>
          <a:prstGeom prst="rect">
            <a:avLst/>
          </a:prstGeom>
          <a:noFill/>
          <a:ln/>
        </p:spPr>
        <p:txBody>
          <a:bodyPr wrap="square" lIns="25400" tIns="25400" rIns="25400" bIns="2540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Bank 1</a:t>
            </a:r>
            <a:endParaRPr lang="en-US" sz="2000" dirty="0"/>
          </a:p>
        </p:txBody>
      </p:sp>
      <p:sp>
        <p:nvSpPr>
          <p:cNvPr id="11" name="Shape 9"/>
          <p:cNvSpPr/>
          <p:nvPr/>
        </p:nvSpPr>
        <p:spPr>
          <a:xfrm>
            <a:off x="3840480" y="2478024"/>
            <a:ext cx="1371600" cy="502920"/>
          </a:xfrm>
          <a:prstGeom prst="roundRect">
            <a:avLst>
              <a:gd name="adj" fmla="val 10909"/>
            </a:avLst>
          </a:prstGeom>
          <a:solidFill>
            <a:srgbClr val="1E2761"/>
          </a:solidFill>
          <a:ln w="12700">
            <a:solidFill>
              <a:srgbClr val="D4AF37"/>
            </a:solidFill>
            <a:prstDash val="solid"/>
          </a:ln>
        </p:spPr>
      </p:sp>
      <p:sp>
        <p:nvSpPr>
          <p:cNvPr id="12" name="Text 10"/>
          <p:cNvSpPr txBox="1"/>
          <p:nvPr/>
        </p:nvSpPr>
        <p:spPr>
          <a:xfrm>
            <a:off x="3840480" y="2478024"/>
            <a:ext cx="137160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B2·W1</a:t>
            </a:r>
            <a:endParaRPr lang="en-US" sz="2000" dirty="0"/>
          </a:p>
        </p:txBody>
      </p:sp>
      <p:sp>
        <p:nvSpPr>
          <p:cNvPr id="13" name="Shape 11"/>
          <p:cNvSpPr/>
          <p:nvPr/>
        </p:nvSpPr>
        <p:spPr>
          <a:xfrm>
            <a:off x="5394960" y="2478024"/>
            <a:ext cx="1371600" cy="502920"/>
          </a:xfrm>
          <a:prstGeom prst="roundRect">
            <a:avLst>
              <a:gd name="adj" fmla="val 10909"/>
            </a:avLst>
          </a:prstGeom>
          <a:solidFill>
            <a:srgbClr val="1E2761"/>
          </a:solidFill>
          <a:ln w="12700">
            <a:solidFill>
              <a:srgbClr val="D4AF37"/>
            </a:solidFill>
            <a:prstDash val="solid"/>
          </a:ln>
        </p:spPr>
      </p:sp>
      <p:sp>
        <p:nvSpPr>
          <p:cNvPr id="14" name="Text 12"/>
          <p:cNvSpPr txBox="1"/>
          <p:nvPr/>
        </p:nvSpPr>
        <p:spPr>
          <a:xfrm>
            <a:off x="5394960" y="2478024"/>
            <a:ext cx="137160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B2·W2</a:t>
            </a:r>
            <a:endParaRPr lang="en-US" sz="2000" dirty="0"/>
          </a:p>
        </p:txBody>
      </p:sp>
      <p:sp>
        <p:nvSpPr>
          <p:cNvPr id="15" name="Shape 13"/>
          <p:cNvSpPr/>
          <p:nvPr/>
        </p:nvSpPr>
        <p:spPr>
          <a:xfrm>
            <a:off x="6949440" y="2478024"/>
            <a:ext cx="1371600" cy="502920"/>
          </a:xfrm>
          <a:prstGeom prst="roundRect">
            <a:avLst>
              <a:gd name="adj" fmla="val 10909"/>
            </a:avLst>
          </a:prstGeom>
          <a:solidFill>
            <a:srgbClr val="1E2761"/>
          </a:solidFill>
          <a:ln w="12700">
            <a:solidFill>
              <a:srgbClr val="D4AF37"/>
            </a:solidFill>
            <a:prstDash val="solid"/>
          </a:ln>
        </p:spPr>
      </p:sp>
      <p:sp>
        <p:nvSpPr>
          <p:cNvPr id="16" name="Text 14"/>
          <p:cNvSpPr txBox="1"/>
          <p:nvPr/>
        </p:nvSpPr>
        <p:spPr>
          <a:xfrm>
            <a:off x="6949440" y="2478024"/>
            <a:ext cx="137160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B2·W3</a:t>
            </a:r>
            <a:endParaRPr lang="en-US" sz="2000" dirty="0"/>
          </a:p>
        </p:txBody>
      </p:sp>
      <p:sp>
        <p:nvSpPr>
          <p:cNvPr id="17" name="Text 15"/>
          <p:cNvSpPr txBox="1"/>
          <p:nvPr/>
        </p:nvSpPr>
        <p:spPr>
          <a:xfrm>
            <a:off x="2651760" y="2478024"/>
            <a:ext cx="1051560" cy="502920"/>
          </a:xfrm>
          <a:prstGeom prst="rect">
            <a:avLst/>
          </a:prstGeom>
          <a:noFill/>
          <a:ln/>
        </p:spPr>
        <p:txBody>
          <a:bodyPr wrap="square" lIns="25400" tIns="25400" rIns="25400" bIns="2540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Bank 2</a:t>
            </a:r>
            <a:endParaRPr lang="en-US" sz="2000" dirty="0"/>
          </a:p>
        </p:txBody>
      </p:sp>
      <p:sp>
        <p:nvSpPr>
          <p:cNvPr id="18" name="Shape 16"/>
          <p:cNvSpPr/>
          <p:nvPr/>
        </p:nvSpPr>
        <p:spPr>
          <a:xfrm>
            <a:off x="3840480" y="3127248"/>
            <a:ext cx="1371600" cy="502920"/>
          </a:xfrm>
          <a:prstGeom prst="roundRect">
            <a:avLst>
              <a:gd name="adj" fmla="val 10909"/>
            </a:avLst>
          </a:prstGeom>
          <a:solidFill>
            <a:srgbClr val="1E2761"/>
          </a:solidFill>
          <a:ln w="12700">
            <a:solidFill>
              <a:srgbClr val="D4AF37"/>
            </a:solidFill>
            <a:prstDash val="solid"/>
          </a:ln>
        </p:spPr>
      </p:sp>
      <p:sp>
        <p:nvSpPr>
          <p:cNvPr id="19" name="Text 17"/>
          <p:cNvSpPr txBox="1"/>
          <p:nvPr/>
        </p:nvSpPr>
        <p:spPr>
          <a:xfrm>
            <a:off x="3840480" y="3127248"/>
            <a:ext cx="137160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B3·W1</a:t>
            </a:r>
            <a:endParaRPr lang="en-US" sz="2000" dirty="0"/>
          </a:p>
        </p:txBody>
      </p:sp>
      <p:sp>
        <p:nvSpPr>
          <p:cNvPr id="20" name="Shape 18"/>
          <p:cNvSpPr/>
          <p:nvPr/>
        </p:nvSpPr>
        <p:spPr>
          <a:xfrm>
            <a:off x="5394960" y="3127248"/>
            <a:ext cx="1371600" cy="502920"/>
          </a:xfrm>
          <a:prstGeom prst="roundRect">
            <a:avLst>
              <a:gd name="adj" fmla="val 10909"/>
            </a:avLst>
          </a:prstGeom>
          <a:solidFill>
            <a:srgbClr val="1E2761"/>
          </a:solidFill>
          <a:ln w="12700">
            <a:solidFill>
              <a:srgbClr val="D4AF37"/>
            </a:solidFill>
            <a:prstDash val="solid"/>
          </a:ln>
        </p:spPr>
      </p:sp>
      <p:sp>
        <p:nvSpPr>
          <p:cNvPr id="21" name="Text 19"/>
          <p:cNvSpPr txBox="1"/>
          <p:nvPr/>
        </p:nvSpPr>
        <p:spPr>
          <a:xfrm>
            <a:off x="5394960" y="3127248"/>
            <a:ext cx="137160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B3·W2</a:t>
            </a:r>
            <a:endParaRPr lang="en-US" sz="2000" dirty="0"/>
          </a:p>
        </p:txBody>
      </p:sp>
      <p:sp>
        <p:nvSpPr>
          <p:cNvPr id="22" name="Shape 20"/>
          <p:cNvSpPr/>
          <p:nvPr/>
        </p:nvSpPr>
        <p:spPr>
          <a:xfrm>
            <a:off x="6949440" y="3127248"/>
            <a:ext cx="1371600" cy="502920"/>
          </a:xfrm>
          <a:prstGeom prst="roundRect">
            <a:avLst>
              <a:gd name="adj" fmla="val 10909"/>
            </a:avLst>
          </a:prstGeom>
          <a:solidFill>
            <a:srgbClr val="1E2761"/>
          </a:solidFill>
          <a:ln w="12700">
            <a:solidFill>
              <a:srgbClr val="D4AF37"/>
            </a:solidFill>
            <a:prstDash val="solid"/>
          </a:ln>
        </p:spPr>
      </p:sp>
      <p:sp>
        <p:nvSpPr>
          <p:cNvPr id="23" name="Text 21"/>
          <p:cNvSpPr txBox="1"/>
          <p:nvPr/>
        </p:nvSpPr>
        <p:spPr>
          <a:xfrm>
            <a:off x="6949440" y="3127248"/>
            <a:ext cx="1371600" cy="502920"/>
          </a:xfrm>
          <a:prstGeom prst="rect">
            <a:avLst/>
          </a:prstGeom>
          <a:noFill/>
          <a:ln/>
        </p:spPr>
        <p:txBody>
          <a:bodyPr wrap="square" lIns="25400" tIns="25400" rIns="25400" bIns="2540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B3·W3</a:t>
            </a:r>
            <a:endParaRPr lang="en-US" sz="2000" dirty="0"/>
          </a:p>
        </p:txBody>
      </p:sp>
      <p:sp>
        <p:nvSpPr>
          <p:cNvPr id="24" name="Text 22"/>
          <p:cNvSpPr txBox="1"/>
          <p:nvPr/>
        </p:nvSpPr>
        <p:spPr>
          <a:xfrm>
            <a:off x="2651760" y="3127248"/>
            <a:ext cx="1051560" cy="502920"/>
          </a:xfrm>
          <a:prstGeom prst="rect">
            <a:avLst/>
          </a:prstGeom>
          <a:noFill/>
          <a:ln/>
        </p:spPr>
        <p:txBody>
          <a:bodyPr wrap="square" lIns="25400" tIns="25400" rIns="25400" bIns="2540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Bank 3</a:t>
            </a:r>
            <a:endParaRPr lang="en-US" sz="2000" dirty="0"/>
          </a:p>
        </p:txBody>
      </p:sp>
      <p:sp>
        <p:nvSpPr>
          <p:cNvPr id="25" name="Text 23"/>
          <p:cNvSpPr txBox="1"/>
          <p:nvPr/>
        </p:nvSpPr>
        <p:spPr>
          <a:xfrm>
            <a:off x="2651760" y="3913632"/>
            <a:ext cx="5669280" cy="594360"/>
          </a:xfrm>
          <a:prstGeom prst="rect">
            <a:avLst/>
          </a:prstGeom>
          <a:noFill/>
          <a:ln/>
        </p:spPr>
        <p:txBody>
          <a:bodyPr wrap="square" lIns="25400" tIns="25400" rIns="25400" bIns="25400" rtlCol="0" anchor="ctr"/>
          <a:lstStyle/>
          <a:p>
            <a:pPr marL="0" indent="0" algn="ctr">
              <a:buNone/>
            </a:pPr>
            <a:r>
              <a:rPr lang="en-US" sz="2000" dirty="0">
                <a:solidFill>
                  <a:srgbClr val="5B6B8C"/>
                </a:solidFill>
                <a:latin typeface="Calibri" pitchFamily="34" charset="0"/>
                <a:ea typeface="Calibri" pitchFamily="34" charset="-122"/>
                <a:cs typeface="Calibri" pitchFamily="34" charset="-120"/>
              </a:rPr>
              <a:t>each row = word-size expansion   ·   stacked rows = capacity expansion</a:t>
            </a:r>
            <a:endParaRPr lang="en-US" sz="2000" dirty="0"/>
          </a:p>
        </p:txBody>
      </p:sp>
      <p:sp>
        <p:nvSpPr>
          <p:cNvPr id="26" name="Text 24"/>
          <p:cNvSpPr txBox="1"/>
          <p:nvPr/>
        </p:nvSpPr>
        <p:spPr>
          <a:xfrm>
            <a:off x="640080" y="4690872"/>
            <a:ext cx="10881360" cy="1344168"/>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Some designs need wider words AND more total words than one chip offers</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Build "banks" — each bank is word-size-expanded, then stack banks</a:t>
            </a:r>
            <a:endParaRPr lang="en-US" sz="2000" dirty="0"/>
          </a:p>
          <a:p>
            <a:pPr marL="342900" indent="-342900">
              <a:spcAft>
                <a:spcPts val="1000"/>
              </a:spcAft>
              <a:buSzPct val="100000"/>
              <a:buChar char="•"/>
            </a:pPr>
            <a:r>
              <a:rPr lang="en-US" sz="2000" dirty="0">
                <a:solidFill>
                  <a:srgbClr val="141A45"/>
                </a:solidFill>
                <a:latin typeface="Calibri" pitchFamily="34" charset="0"/>
                <a:ea typeface="Calibri" pitchFamily="34" charset="-122"/>
                <a:cs typeface="Calibri" pitchFamily="34" charset="-120"/>
              </a:rPr>
              <a:t>Total chips = (chips per bank) × (number of banks)</a:t>
            </a:r>
            <a:endParaRPr lang="en-US" sz="2000" dirty="0"/>
          </a:p>
        </p:txBody>
      </p:sp>
      <p:sp>
        <p:nvSpPr>
          <p:cNvPr id="27" name="Text 2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8" name="Text 2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24</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WORKED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Combined Expansion</a:t>
            </a:r>
            <a:endParaRPr lang="en-US" sz="3600" dirty="0"/>
          </a:p>
        </p:txBody>
      </p:sp>
      <p:sp>
        <p:nvSpPr>
          <p:cNvPr id="4" name="Shape 2"/>
          <p:cNvSpPr/>
          <p:nvPr/>
        </p:nvSpPr>
        <p:spPr>
          <a:xfrm>
            <a:off x="548640" y="1600200"/>
            <a:ext cx="11064240" cy="777240"/>
          </a:xfrm>
          <a:prstGeom prst="roundRect">
            <a:avLst>
              <a:gd name="adj" fmla="val 9412"/>
            </a:avLst>
          </a:prstGeom>
          <a:solidFill>
            <a:srgbClr val="1E2761"/>
          </a:solidFill>
          <a:ln/>
        </p:spPr>
      </p:sp>
      <p:sp>
        <p:nvSpPr>
          <p:cNvPr id="5" name="Text 3"/>
          <p:cNvSpPr txBox="1"/>
          <p:nvPr/>
        </p:nvSpPr>
        <p:spPr>
          <a:xfrm>
            <a:off x="822960" y="1600200"/>
            <a:ext cx="10515600" cy="777240"/>
          </a:xfrm>
          <a:prstGeom prst="rect">
            <a:avLst/>
          </a:prstGeom>
          <a:noFill/>
          <a:ln/>
        </p:spPr>
        <p:txBody>
          <a:bodyPr wrap="square" lIns="25400" tIns="25400" rIns="25400" bIns="254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Build a 16K × 16 memory using 4K × 8 chips.</a:t>
            </a:r>
            <a:endParaRPr lang="en-US" sz="2000" dirty="0"/>
          </a:p>
        </p:txBody>
      </p:sp>
      <p:sp>
        <p:nvSpPr>
          <p:cNvPr id="6" name="Text 4"/>
          <p:cNvSpPr txBox="1"/>
          <p:nvPr/>
        </p:nvSpPr>
        <p:spPr>
          <a:xfrm>
            <a:off x="548640" y="2514600"/>
            <a:ext cx="11064240" cy="365760"/>
          </a:xfrm>
          <a:prstGeom prst="rect">
            <a:avLst/>
          </a:prstGeom>
          <a:noFill/>
          <a:ln/>
        </p:spPr>
        <p:txBody>
          <a:bodyPr wrap="square" lIns="25400" tIns="25400" rIns="25400" bIns="2540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Given: need 16K × 16, have 4K × 8 chips</a:t>
            </a:r>
            <a:endParaRPr lang="en-US" sz="2000" dirty="0"/>
          </a:p>
        </p:txBody>
      </p:sp>
      <p:sp>
        <p:nvSpPr>
          <p:cNvPr id="7" name="Shape 5"/>
          <p:cNvSpPr/>
          <p:nvPr/>
        </p:nvSpPr>
        <p:spPr>
          <a:xfrm>
            <a:off x="548640" y="3017520"/>
            <a:ext cx="2560320" cy="1097280"/>
          </a:xfrm>
          <a:prstGeom prst="roundRect">
            <a:avLst>
              <a:gd name="adj" fmla="val 6667"/>
            </a:avLst>
          </a:prstGeom>
          <a:solidFill>
            <a:srgbClr val="E7EEFC"/>
          </a:solidFill>
          <a:ln w="12700">
            <a:solidFill>
              <a:srgbClr val="CADCFC"/>
            </a:solidFill>
            <a:prstDash val="solid"/>
          </a:ln>
        </p:spPr>
      </p:sp>
      <p:sp>
        <p:nvSpPr>
          <p:cNvPr id="8" name="Text 6"/>
          <p:cNvSpPr txBox="1"/>
          <p:nvPr/>
        </p:nvSpPr>
        <p:spPr>
          <a:xfrm>
            <a:off x="548640" y="3090672"/>
            <a:ext cx="256032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1</a:t>
            </a:r>
            <a:endParaRPr lang="en-US" sz="2000" dirty="0"/>
          </a:p>
        </p:txBody>
      </p:sp>
      <p:sp>
        <p:nvSpPr>
          <p:cNvPr id="9" name="Text 7"/>
          <p:cNvSpPr txBox="1"/>
          <p:nvPr/>
        </p:nvSpPr>
        <p:spPr>
          <a:xfrm>
            <a:off x="640080" y="3401568"/>
            <a:ext cx="237744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Width: 16 ÷ 8 = 2 chips per bank</a:t>
            </a:r>
            <a:endParaRPr lang="en-US" sz="2000" dirty="0"/>
          </a:p>
        </p:txBody>
      </p:sp>
      <p:sp>
        <p:nvSpPr>
          <p:cNvPr id="10" name="Shape 8"/>
          <p:cNvSpPr/>
          <p:nvPr/>
        </p:nvSpPr>
        <p:spPr>
          <a:xfrm>
            <a:off x="3108960" y="3566160"/>
            <a:ext cx="274320" cy="0"/>
          </a:xfrm>
          <a:prstGeom prst="line">
            <a:avLst/>
          </a:prstGeom>
          <a:noFill/>
          <a:ln w="25400">
            <a:solidFill>
              <a:srgbClr val="D4AF37"/>
            </a:solidFill>
            <a:prstDash val="solid"/>
            <a:tailEnd type="triangle"/>
          </a:ln>
        </p:spPr>
      </p:sp>
      <p:sp>
        <p:nvSpPr>
          <p:cNvPr id="11" name="Shape 9"/>
          <p:cNvSpPr/>
          <p:nvPr/>
        </p:nvSpPr>
        <p:spPr>
          <a:xfrm>
            <a:off x="3383280" y="3017520"/>
            <a:ext cx="2560320" cy="1097280"/>
          </a:xfrm>
          <a:prstGeom prst="roundRect">
            <a:avLst>
              <a:gd name="adj" fmla="val 6667"/>
            </a:avLst>
          </a:prstGeom>
          <a:solidFill>
            <a:srgbClr val="E7EEFC"/>
          </a:solidFill>
          <a:ln w="12700">
            <a:solidFill>
              <a:srgbClr val="CADCFC"/>
            </a:solidFill>
            <a:prstDash val="solid"/>
          </a:ln>
        </p:spPr>
      </p:sp>
      <p:sp>
        <p:nvSpPr>
          <p:cNvPr id="12" name="Text 10"/>
          <p:cNvSpPr txBox="1"/>
          <p:nvPr/>
        </p:nvSpPr>
        <p:spPr>
          <a:xfrm>
            <a:off x="3383280" y="3090672"/>
            <a:ext cx="256032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2</a:t>
            </a:r>
            <a:endParaRPr lang="en-US" sz="2000" dirty="0"/>
          </a:p>
        </p:txBody>
      </p:sp>
      <p:sp>
        <p:nvSpPr>
          <p:cNvPr id="13" name="Text 11"/>
          <p:cNvSpPr txBox="1"/>
          <p:nvPr/>
        </p:nvSpPr>
        <p:spPr>
          <a:xfrm>
            <a:off x="3474720" y="3401568"/>
            <a:ext cx="237744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Capacity: 16K ÷ 4K = 4 banks</a:t>
            </a:r>
            <a:endParaRPr lang="en-US" sz="2000" dirty="0"/>
          </a:p>
        </p:txBody>
      </p:sp>
      <p:sp>
        <p:nvSpPr>
          <p:cNvPr id="14" name="Shape 12"/>
          <p:cNvSpPr/>
          <p:nvPr/>
        </p:nvSpPr>
        <p:spPr>
          <a:xfrm>
            <a:off x="5943600" y="3566160"/>
            <a:ext cx="274320" cy="0"/>
          </a:xfrm>
          <a:prstGeom prst="line">
            <a:avLst/>
          </a:prstGeom>
          <a:noFill/>
          <a:ln w="25400">
            <a:solidFill>
              <a:srgbClr val="D4AF37"/>
            </a:solidFill>
            <a:prstDash val="solid"/>
            <a:tailEnd type="triangle"/>
          </a:ln>
        </p:spPr>
      </p:sp>
      <p:sp>
        <p:nvSpPr>
          <p:cNvPr id="15" name="Shape 13"/>
          <p:cNvSpPr/>
          <p:nvPr/>
        </p:nvSpPr>
        <p:spPr>
          <a:xfrm>
            <a:off x="6217920" y="3017520"/>
            <a:ext cx="2560320" cy="1097280"/>
          </a:xfrm>
          <a:prstGeom prst="roundRect">
            <a:avLst>
              <a:gd name="adj" fmla="val 6667"/>
            </a:avLst>
          </a:prstGeom>
          <a:solidFill>
            <a:srgbClr val="E7EEFC"/>
          </a:solidFill>
          <a:ln w="12700">
            <a:solidFill>
              <a:srgbClr val="CADCFC"/>
            </a:solidFill>
            <a:prstDash val="solid"/>
          </a:ln>
        </p:spPr>
      </p:sp>
      <p:sp>
        <p:nvSpPr>
          <p:cNvPr id="16" name="Text 14"/>
          <p:cNvSpPr txBox="1"/>
          <p:nvPr/>
        </p:nvSpPr>
        <p:spPr>
          <a:xfrm>
            <a:off x="6217920" y="3090672"/>
            <a:ext cx="256032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3</a:t>
            </a:r>
            <a:endParaRPr lang="en-US" sz="2000" dirty="0"/>
          </a:p>
        </p:txBody>
      </p:sp>
      <p:sp>
        <p:nvSpPr>
          <p:cNvPr id="17" name="Text 15"/>
          <p:cNvSpPr txBox="1"/>
          <p:nvPr/>
        </p:nvSpPr>
        <p:spPr>
          <a:xfrm>
            <a:off x="6309360" y="3401568"/>
            <a:ext cx="237744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Total chips: 2 × 4 = 8</a:t>
            </a:r>
            <a:endParaRPr lang="en-US" sz="2000" dirty="0"/>
          </a:p>
        </p:txBody>
      </p:sp>
      <p:sp>
        <p:nvSpPr>
          <p:cNvPr id="18" name="Shape 16"/>
          <p:cNvSpPr/>
          <p:nvPr/>
        </p:nvSpPr>
        <p:spPr>
          <a:xfrm>
            <a:off x="8778240" y="3566160"/>
            <a:ext cx="274320" cy="0"/>
          </a:xfrm>
          <a:prstGeom prst="line">
            <a:avLst/>
          </a:prstGeom>
          <a:noFill/>
          <a:ln w="25400">
            <a:solidFill>
              <a:srgbClr val="D4AF37"/>
            </a:solidFill>
            <a:prstDash val="solid"/>
            <a:tailEnd type="triangle"/>
          </a:ln>
        </p:spPr>
      </p:sp>
      <p:sp>
        <p:nvSpPr>
          <p:cNvPr id="19" name="Shape 17"/>
          <p:cNvSpPr/>
          <p:nvPr/>
        </p:nvSpPr>
        <p:spPr>
          <a:xfrm>
            <a:off x="9052560" y="3017520"/>
            <a:ext cx="2560320" cy="1097280"/>
          </a:xfrm>
          <a:prstGeom prst="roundRect">
            <a:avLst>
              <a:gd name="adj" fmla="val 6667"/>
            </a:avLst>
          </a:prstGeom>
          <a:solidFill>
            <a:srgbClr val="E7EEFC"/>
          </a:solidFill>
          <a:ln w="12700">
            <a:solidFill>
              <a:srgbClr val="CADCFC"/>
            </a:solidFill>
            <a:prstDash val="solid"/>
          </a:ln>
        </p:spPr>
      </p:sp>
      <p:sp>
        <p:nvSpPr>
          <p:cNvPr id="20" name="Text 18"/>
          <p:cNvSpPr txBox="1"/>
          <p:nvPr/>
        </p:nvSpPr>
        <p:spPr>
          <a:xfrm>
            <a:off x="9052560" y="3090672"/>
            <a:ext cx="2560320" cy="320040"/>
          </a:xfrm>
          <a:prstGeom prst="rect">
            <a:avLst/>
          </a:prstGeom>
          <a:noFill/>
          <a:ln/>
        </p:spPr>
        <p:txBody>
          <a:bodyPr wrap="square" lIns="25400" tIns="25400" rIns="25400" bIns="2540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Step 4</a:t>
            </a:r>
            <a:endParaRPr lang="en-US" sz="2000" dirty="0"/>
          </a:p>
        </p:txBody>
      </p:sp>
      <p:sp>
        <p:nvSpPr>
          <p:cNvPr id="21" name="Text 19"/>
          <p:cNvSpPr txBox="1"/>
          <p:nvPr/>
        </p:nvSpPr>
        <p:spPr>
          <a:xfrm>
            <a:off x="9144000" y="3401568"/>
            <a:ext cx="2377440" cy="640080"/>
          </a:xfrm>
          <a:prstGeom prst="rect">
            <a:avLst/>
          </a:prstGeom>
          <a:noFill/>
          <a:ln/>
        </p:spPr>
        <p:txBody>
          <a:bodyPr wrap="square" lIns="25400" tIns="25400" rIns="25400" bIns="25400" rtlCol="0" anchor="ctr"/>
          <a:lstStyle/>
          <a:p>
            <a:pPr marL="0" indent="0" algn="ctr">
              <a:buNone/>
            </a:pPr>
            <a:r>
              <a:rPr lang="en-US" sz="2000" dirty="0">
                <a:solidFill>
                  <a:srgbClr val="141A45"/>
                </a:solidFill>
                <a:latin typeface="Calibri" pitchFamily="34" charset="0"/>
                <a:ea typeface="Calibri" pitchFamily="34" charset="-122"/>
                <a:cs typeface="Calibri" pitchFamily="34" charset="-120"/>
              </a:rPr>
              <a:t>Address lines: log₂(4096)=12 + log₂(4)=2 → 14</a:t>
            </a:r>
            <a:endParaRPr lang="en-US" sz="2000" dirty="0"/>
          </a:p>
        </p:txBody>
      </p:sp>
      <p:sp>
        <p:nvSpPr>
          <p:cNvPr id="22" name="Shape 20"/>
          <p:cNvSpPr/>
          <p:nvPr/>
        </p:nvSpPr>
        <p:spPr>
          <a:xfrm>
            <a:off x="548640" y="4434840"/>
            <a:ext cx="11064240" cy="685800"/>
          </a:xfrm>
          <a:prstGeom prst="roundRect">
            <a:avLst>
              <a:gd name="adj" fmla="val 10667"/>
            </a:avLst>
          </a:prstGeom>
          <a:solidFill>
            <a:srgbClr val="D4AF37"/>
          </a:solidFill>
          <a:ln/>
        </p:spPr>
      </p:sp>
      <p:sp>
        <p:nvSpPr>
          <p:cNvPr id="23" name="Text 21"/>
          <p:cNvSpPr txBox="1"/>
          <p:nvPr/>
        </p:nvSpPr>
        <p:spPr>
          <a:xfrm>
            <a:off x="822960" y="4434840"/>
            <a:ext cx="10515600" cy="685800"/>
          </a:xfrm>
          <a:prstGeom prst="rect">
            <a:avLst/>
          </a:prstGeom>
          <a:noFill/>
          <a:ln/>
        </p:spPr>
        <p:txBody>
          <a:bodyPr wrap="square" lIns="25400" tIns="25400" rIns="25400" bIns="25400" rtlCol="0" anchor="ctr"/>
          <a:lstStyle/>
          <a:p>
            <a:pPr marL="0" indent="0" algn="l">
              <a:buNone/>
            </a:pPr>
            <a:r>
              <a:rPr lang="en-US" sz="2000" b="1" dirty="0">
                <a:solidFill>
                  <a:srgbClr val="1E2761"/>
                </a:solidFill>
                <a:latin typeface="Calibri" pitchFamily="34" charset="0"/>
                <a:ea typeface="Calibri" pitchFamily="34" charset="-122"/>
                <a:cs typeface="Calibri" pitchFamily="34" charset="-120"/>
              </a:rPr>
              <a:t>Answer: 8 chips, 14 address lines total</a:t>
            </a:r>
            <a:endParaRPr lang="en-US" sz="2000" dirty="0"/>
          </a:p>
        </p:txBody>
      </p:sp>
      <p:sp>
        <p:nvSpPr>
          <p:cNvPr id="24" name="Text 22"/>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5" name="Text 23"/>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25</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COMMON MISCONCEPTIONS</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Myth vs. Fact</a:t>
            </a:r>
            <a:endParaRPr lang="en-US" sz="3600" dirty="0"/>
          </a:p>
        </p:txBody>
      </p:sp>
      <p:sp>
        <p:nvSpPr>
          <p:cNvPr id="4" name="Shape 2"/>
          <p:cNvSpPr/>
          <p:nvPr/>
        </p:nvSpPr>
        <p:spPr>
          <a:xfrm>
            <a:off x="548640" y="1645920"/>
            <a:ext cx="5394960" cy="960120"/>
          </a:xfrm>
          <a:prstGeom prst="roundRect">
            <a:avLst>
              <a:gd name="adj" fmla="val 7619"/>
            </a:avLst>
          </a:prstGeom>
          <a:solidFill>
            <a:srgbClr val="FBEAEA"/>
          </a:solidFill>
          <a:ln/>
        </p:spPr>
      </p:sp>
      <p:sp>
        <p:nvSpPr>
          <p:cNvPr id="5" name="Text 3"/>
          <p:cNvSpPr txBox="1"/>
          <p:nvPr/>
        </p:nvSpPr>
        <p:spPr>
          <a:xfrm>
            <a:off x="731520" y="170078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6" name="Text 4"/>
          <p:cNvSpPr txBox="1"/>
          <p:nvPr/>
        </p:nvSpPr>
        <p:spPr>
          <a:xfrm>
            <a:off x="731520" y="201168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More address lines always means more chips</a:t>
            </a:r>
            <a:endParaRPr lang="en-US" sz="2000" dirty="0"/>
          </a:p>
        </p:txBody>
      </p:sp>
      <p:sp>
        <p:nvSpPr>
          <p:cNvPr id="7" name="Shape 5"/>
          <p:cNvSpPr/>
          <p:nvPr/>
        </p:nvSpPr>
        <p:spPr>
          <a:xfrm>
            <a:off x="6217920" y="1645920"/>
            <a:ext cx="5394960" cy="960120"/>
          </a:xfrm>
          <a:prstGeom prst="roundRect">
            <a:avLst>
              <a:gd name="adj" fmla="val 7619"/>
            </a:avLst>
          </a:prstGeom>
          <a:solidFill>
            <a:srgbClr val="E7F3EC"/>
          </a:solidFill>
          <a:ln/>
        </p:spPr>
      </p:sp>
      <p:sp>
        <p:nvSpPr>
          <p:cNvPr id="8" name="Text 6"/>
          <p:cNvSpPr txBox="1"/>
          <p:nvPr/>
        </p:nvSpPr>
        <p:spPr>
          <a:xfrm>
            <a:off x="6400800" y="170078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9" name="Text 7"/>
          <p:cNvSpPr txBox="1"/>
          <p:nvPr/>
        </p:nvSpPr>
        <p:spPr>
          <a:xfrm>
            <a:off x="6400800" y="201168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Address lines depend on total words, not chip count</a:t>
            </a:r>
            <a:endParaRPr lang="en-US" sz="2000" dirty="0"/>
          </a:p>
        </p:txBody>
      </p:sp>
      <p:sp>
        <p:nvSpPr>
          <p:cNvPr id="10" name="Shape 8"/>
          <p:cNvSpPr/>
          <p:nvPr/>
        </p:nvSpPr>
        <p:spPr>
          <a:xfrm>
            <a:off x="548640" y="2743200"/>
            <a:ext cx="5394960" cy="960120"/>
          </a:xfrm>
          <a:prstGeom prst="roundRect">
            <a:avLst>
              <a:gd name="adj" fmla="val 7619"/>
            </a:avLst>
          </a:prstGeom>
          <a:solidFill>
            <a:srgbClr val="FBEAEA"/>
          </a:solidFill>
          <a:ln/>
        </p:spPr>
      </p:sp>
      <p:sp>
        <p:nvSpPr>
          <p:cNvPr id="11" name="Text 9"/>
          <p:cNvSpPr txBox="1"/>
          <p:nvPr/>
        </p:nvSpPr>
        <p:spPr>
          <a:xfrm>
            <a:off x="731520" y="279806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12" name="Text 10"/>
          <p:cNvSpPr txBox="1"/>
          <p:nvPr/>
        </p:nvSpPr>
        <p:spPr>
          <a:xfrm>
            <a:off x="731520" y="310896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Capacity in bits and bytes are interchangeable</a:t>
            </a:r>
            <a:endParaRPr lang="en-US" sz="2000" dirty="0"/>
          </a:p>
        </p:txBody>
      </p:sp>
      <p:sp>
        <p:nvSpPr>
          <p:cNvPr id="13" name="Shape 11"/>
          <p:cNvSpPr/>
          <p:nvPr/>
        </p:nvSpPr>
        <p:spPr>
          <a:xfrm>
            <a:off x="6217920" y="2743200"/>
            <a:ext cx="5394960" cy="960120"/>
          </a:xfrm>
          <a:prstGeom prst="roundRect">
            <a:avLst>
              <a:gd name="adj" fmla="val 7619"/>
            </a:avLst>
          </a:prstGeom>
          <a:solidFill>
            <a:srgbClr val="E7F3EC"/>
          </a:solidFill>
          <a:ln/>
        </p:spPr>
      </p:sp>
      <p:sp>
        <p:nvSpPr>
          <p:cNvPr id="14" name="Text 12"/>
          <p:cNvSpPr txBox="1"/>
          <p:nvPr/>
        </p:nvSpPr>
        <p:spPr>
          <a:xfrm>
            <a:off x="6400800" y="279806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15" name="Text 13"/>
          <p:cNvSpPr txBox="1"/>
          <p:nvPr/>
        </p:nvSpPr>
        <p:spPr>
          <a:xfrm>
            <a:off x="6400800" y="310896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Always divide by 8 to convert bits to bytes</a:t>
            </a:r>
            <a:endParaRPr lang="en-US" sz="2000" dirty="0"/>
          </a:p>
        </p:txBody>
      </p:sp>
      <p:sp>
        <p:nvSpPr>
          <p:cNvPr id="16" name="Shape 14"/>
          <p:cNvSpPr/>
          <p:nvPr/>
        </p:nvSpPr>
        <p:spPr>
          <a:xfrm>
            <a:off x="548640" y="3840480"/>
            <a:ext cx="5394960" cy="960120"/>
          </a:xfrm>
          <a:prstGeom prst="roundRect">
            <a:avLst>
              <a:gd name="adj" fmla="val 7619"/>
            </a:avLst>
          </a:prstGeom>
          <a:solidFill>
            <a:srgbClr val="FBEAEA"/>
          </a:solidFill>
          <a:ln/>
        </p:spPr>
      </p:sp>
      <p:sp>
        <p:nvSpPr>
          <p:cNvPr id="17" name="Text 15"/>
          <p:cNvSpPr txBox="1"/>
          <p:nvPr/>
        </p:nvSpPr>
        <p:spPr>
          <a:xfrm>
            <a:off x="731520" y="389534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18" name="Text 16"/>
          <p:cNvSpPr txBox="1"/>
          <p:nvPr/>
        </p:nvSpPr>
        <p:spPr>
          <a:xfrm>
            <a:off x="731520" y="420624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Word- and bit-organized chips store different amounts</a:t>
            </a:r>
            <a:endParaRPr lang="en-US" sz="2000" dirty="0"/>
          </a:p>
        </p:txBody>
      </p:sp>
      <p:sp>
        <p:nvSpPr>
          <p:cNvPr id="19" name="Shape 17"/>
          <p:cNvSpPr/>
          <p:nvPr/>
        </p:nvSpPr>
        <p:spPr>
          <a:xfrm>
            <a:off x="6217920" y="3840480"/>
            <a:ext cx="5394960" cy="960120"/>
          </a:xfrm>
          <a:prstGeom prst="roundRect">
            <a:avLst>
              <a:gd name="adj" fmla="val 7619"/>
            </a:avLst>
          </a:prstGeom>
          <a:solidFill>
            <a:srgbClr val="E7F3EC"/>
          </a:solidFill>
          <a:ln/>
        </p:spPr>
      </p:sp>
      <p:sp>
        <p:nvSpPr>
          <p:cNvPr id="20" name="Text 18"/>
          <p:cNvSpPr txBox="1"/>
          <p:nvPr/>
        </p:nvSpPr>
        <p:spPr>
          <a:xfrm>
            <a:off x="6400800" y="389534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21" name="Text 19"/>
          <p:cNvSpPr txBox="1"/>
          <p:nvPr/>
        </p:nvSpPr>
        <p:spPr>
          <a:xfrm>
            <a:off x="6400800" y="420624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Organization differs; total capacity can be identical</a:t>
            </a:r>
            <a:endParaRPr lang="en-US" sz="2000" dirty="0"/>
          </a:p>
        </p:txBody>
      </p:sp>
      <p:sp>
        <p:nvSpPr>
          <p:cNvPr id="22" name="Shape 20"/>
          <p:cNvSpPr/>
          <p:nvPr/>
        </p:nvSpPr>
        <p:spPr>
          <a:xfrm>
            <a:off x="548640" y="4937760"/>
            <a:ext cx="5394960" cy="960120"/>
          </a:xfrm>
          <a:prstGeom prst="roundRect">
            <a:avLst>
              <a:gd name="adj" fmla="val 7619"/>
            </a:avLst>
          </a:prstGeom>
          <a:solidFill>
            <a:srgbClr val="FBEAEA"/>
          </a:solidFill>
          <a:ln/>
        </p:spPr>
      </p:sp>
      <p:sp>
        <p:nvSpPr>
          <p:cNvPr id="23" name="Text 21"/>
          <p:cNvSpPr txBox="1"/>
          <p:nvPr/>
        </p:nvSpPr>
        <p:spPr>
          <a:xfrm>
            <a:off x="731520" y="4992624"/>
            <a:ext cx="1097280" cy="320040"/>
          </a:xfrm>
          <a:prstGeom prst="rect">
            <a:avLst/>
          </a:prstGeom>
          <a:noFill/>
          <a:ln/>
        </p:spPr>
        <p:txBody>
          <a:bodyPr wrap="square" lIns="25400" tIns="25400" rIns="25400" bIns="25400" rtlCol="0" anchor="ctr"/>
          <a:lstStyle/>
          <a:p>
            <a:pPr marL="0" indent="0" algn="l">
              <a:buNone/>
            </a:pPr>
            <a:r>
              <a:rPr lang="en-US" sz="2000" b="1" dirty="0">
                <a:solidFill>
                  <a:srgbClr val="B23B3B"/>
                </a:solidFill>
                <a:latin typeface="Calibri" pitchFamily="34" charset="0"/>
                <a:ea typeface="Calibri" pitchFamily="34" charset="-122"/>
                <a:cs typeface="Calibri" pitchFamily="34" charset="-120"/>
              </a:rPr>
              <a:t>Myth</a:t>
            </a:r>
            <a:endParaRPr lang="en-US" sz="2000" dirty="0"/>
          </a:p>
        </p:txBody>
      </p:sp>
      <p:sp>
        <p:nvSpPr>
          <p:cNvPr id="24" name="Text 22"/>
          <p:cNvSpPr txBox="1"/>
          <p:nvPr/>
        </p:nvSpPr>
        <p:spPr>
          <a:xfrm>
            <a:off x="731520" y="530352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"K" in memory always means exactly 1000</a:t>
            </a:r>
            <a:endParaRPr lang="en-US" sz="2000" dirty="0"/>
          </a:p>
        </p:txBody>
      </p:sp>
      <p:sp>
        <p:nvSpPr>
          <p:cNvPr id="25" name="Shape 23"/>
          <p:cNvSpPr/>
          <p:nvPr/>
        </p:nvSpPr>
        <p:spPr>
          <a:xfrm>
            <a:off x="6217920" y="4937760"/>
            <a:ext cx="5394960" cy="960120"/>
          </a:xfrm>
          <a:prstGeom prst="roundRect">
            <a:avLst>
              <a:gd name="adj" fmla="val 7619"/>
            </a:avLst>
          </a:prstGeom>
          <a:solidFill>
            <a:srgbClr val="E7F3EC"/>
          </a:solidFill>
          <a:ln/>
        </p:spPr>
      </p:sp>
      <p:sp>
        <p:nvSpPr>
          <p:cNvPr id="26" name="Text 24"/>
          <p:cNvSpPr txBox="1"/>
          <p:nvPr/>
        </p:nvSpPr>
        <p:spPr>
          <a:xfrm>
            <a:off x="6400800" y="4992624"/>
            <a:ext cx="1097280" cy="320040"/>
          </a:xfrm>
          <a:prstGeom prst="rect">
            <a:avLst/>
          </a:prstGeom>
          <a:noFill/>
          <a:ln/>
        </p:spPr>
        <p:txBody>
          <a:bodyPr wrap="square" lIns="25400" tIns="25400" rIns="25400" bIns="25400" rtlCol="0" anchor="ctr"/>
          <a:lstStyle/>
          <a:p>
            <a:pPr marL="0" indent="0" algn="l">
              <a:buNone/>
            </a:pPr>
            <a:r>
              <a:rPr lang="en-US" sz="2000" b="1" dirty="0">
                <a:solidFill>
                  <a:srgbClr val="2E7D5B"/>
                </a:solidFill>
                <a:latin typeface="Calibri" pitchFamily="34" charset="0"/>
                <a:ea typeface="Calibri" pitchFamily="34" charset="-122"/>
                <a:cs typeface="Calibri" pitchFamily="34" charset="-120"/>
              </a:rPr>
              <a:t>Fact</a:t>
            </a:r>
            <a:endParaRPr lang="en-US" sz="2000" dirty="0"/>
          </a:p>
        </p:txBody>
      </p:sp>
      <p:sp>
        <p:nvSpPr>
          <p:cNvPr id="27" name="Text 25"/>
          <p:cNvSpPr txBox="1"/>
          <p:nvPr/>
        </p:nvSpPr>
        <p:spPr>
          <a:xfrm>
            <a:off x="6400800" y="5303520"/>
            <a:ext cx="5029200" cy="548640"/>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In memory context, K = 1024 (2¹⁰)</a:t>
            </a:r>
            <a:endParaRPr lang="en-US" sz="2000" dirty="0"/>
          </a:p>
        </p:txBody>
      </p:sp>
      <p:sp>
        <p:nvSpPr>
          <p:cNvPr id="28" name="Text 26"/>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9" name="Text 27"/>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26</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QUICK CHECK</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Mini Activity</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In pairs, spend 2 minutes on this problem:</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 chip is specified as 512K × 4. Find total capacity in bytes,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and how many chips to build a 2M × 4 memory.</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27</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INDUSTRY EXAMPLE</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Reading a Real Datasheet</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Real DRAM chips are labeled like "512Mb × 8" or "2Gb × 16"</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"Mb"/"Gb" mean megabits/gigabits — not bytes!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"512Mb × 8": 512M words × 8 = 4Gb = 512MB</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Engineers convert bit-capacity to byte-capacity constantly</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28</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RECAP</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Summary of Key Points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Internal organization: decoder + cell array + control + I/O</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Large memories use row-column (2D) decoding</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Capacity = words × bits/word; divide by 8 for bytes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Word- vs. bit-organized chips can share identical capacity</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Combine chips by width, by capacity, or both</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Always use powers of 2 for K, M, G</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29</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CHECK YOUR UNDERSTANDING</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Quiz — Memory Organization &amp; Capacity</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728216"/>
            <a:ext cx="11064240" cy="535577"/>
          </a:xfrm>
          <a:prstGeom prst="roundRect">
            <a:avLst>
              <a:gd name="adj" fmla="val 10244"/>
            </a:avLst>
          </a:prstGeom>
          <a:solidFill>
            <a:srgbClr val="E7EEFC"/>
          </a:solidFill>
          <a:ln w="9525">
            <a:solidFill>
              <a:srgbClr val="CADCFC"/>
            </a:solidFill>
            <a:prstDash val="solid"/>
          </a:ln>
        </p:spPr>
      </p:sp>
      <p:sp>
        <p:nvSpPr>
          <p:cNvPr id="7" name="Text 4"/>
          <p:cNvSpPr txBox="1"/>
          <p:nvPr/>
        </p:nvSpPr>
        <p:spPr>
          <a:xfrm>
            <a:off x="822960" y="1728216"/>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Q1. A memory with 2048 words needs how many address lines? (a) 9 (b) 10 (c) 11</a:t>
            </a:r>
            <a:endParaRPr lang="en-US" sz="2000" dirty="0"/>
          </a:p>
        </p:txBody>
      </p:sp>
      <p:sp>
        <p:nvSpPr>
          <p:cNvPr id="8" name="Shape 5"/>
          <p:cNvSpPr/>
          <p:nvPr/>
        </p:nvSpPr>
        <p:spPr>
          <a:xfrm>
            <a:off x="548640" y="2355233"/>
            <a:ext cx="11064240" cy="535577"/>
          </a:xfrm>
          <a:prstGeom prst="roundRect">
            <a:avLst>
              <a:gd name="adj" fmla="val 10244"/>
            </a:avLst>
          </a:prstGeom>
          <a:solidFill>
            <a:srgbClr val="FFFFFF"/>
          </a:solidFill>
          <a:ln w="9525">
            <a:solidFill>
              <a:srgbClr val="CADCFC"/>
            </a:solidFill>
            <a:prstDash val="solid"/>
          </a:ln>
        </p:spPr>
      </p:sp>
      <p:sp>
        <p:nvSpPr>
          <p:cNvPr id="9" name="Text 6"/>
          <p:cNvSpPr txBox="1"/>
          <p:nvPr/>
        </p:nvSpPr>
        <p:spPr>
          <a:xfrm>
            <a:off x="822960" y="2355233"/>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Q2. A chip is 8K × 16. Find its total capacity in bytes.</a:t>
            </a:r>
            <a:endParaRPr lang="en-US" sz="2000" dirty="0"/>
          </a:p>
        </p:txBody>
      </p:sp>
      <p:sp>
        <p:nvSpPr>
          <p:cNvPr id="10" name="Shape 7"/>
          <p:cNvSpPr/>
          <p:nvPr/>
        </p:nvSpPr>
        <p:spPr>
          <a:xfrm>
            <a:off x="548640" y="2982250"/>
            <a:ext cx="11064240" cy="535577"/>
          </a:xfrm>
          <a:prstGeom prst="roundRect">
            <a:avLst>
              <a:gd name="adj" fmla="val 10244"/>
            </a:avLst>
          </a:prstGeom>
          <a:solidFill>
            <a:srgbClr val="E7EEFC"/>
          </a:solidFill>
          <a:ln w="9525">
            <a:solidFill>
              <a:srgbClr val="CADCFC"/>
            </a:solidFill>
            <a:prstDash val="solid"/>
          </a:ln>
        </p:spPr>
      </p:sp>
      <p:sp>
        <p:nvSpPr>
          <p:cNvPr id="11" name="Text 8"/>
          <p:cNvSpPr txBox="1"/>
          <p:nvPr/>
        </p:nvSpPr>
        <p:spPr>
          <a:xfrm>
            <a:off x="822960" y="2982250"/>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Q3. Row-column decoding is used mainly to: (a) increase speed (b) reduce decoder size</a:t>
            </a:r>
            <a:endParaRPr lang="en-US" sz="2000" dirty="0"/>
          </a:p>
        </p:txBody>
      </p:sp>
      <p:sp>
        <p:nvSpPr>
          <p:cNvPr id="12" name="Shape 9"/>
          <p:cNvSpPr/>
          <p:nvPr/>
        </p:nvSpPr>
        <p:spPr>
          <a:xfrm>
            <a:off x="548640" y="3609267"/>
            <a:ext cx="11064240" cy="535577"/>
          </a:xfrm>
          <a:prstGeom prst="roundRect">
            <a:avLst>
              <a:gd name="adj" fmla="val 10244"/>
            </a:avLst>
          </a:prstGeom>
          <a:solidFill>
            <a:srgbClr val="FFFFFF"/>
          </a:solidFill>
          <a:ln w="9525">
            <a:solidFill>
              <a:srgbClr val="CADCFC"/>
            </a:solidFill>
            <a:prstDash val="solid"/>
          </a:ln>
        </p:spPr>
      </p:sp>
      <p:sp>
        <p:nvSpPr>
          <p:cNvPr id="13" name="Text 10"/>
          <p:cNvSpPr txBox="1"/>
          <p:nvPr/>
        </p:nvSpPr>
        <p:spPr>
          <a:xfrm>
            <a:off x="822960" y="3609267"/>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Q4. True/False: A "1M × 1" chip is word-organized.</a:t>
            </a:r>
            <a:endParaRPr lang="en-US" sz="2000" dirty="0"/>
          </a:p>
        </p:txBody>
      </p:sp>
      <p:sp>
        <p:nvSpPr>
          <p:cNvPr id="14" name="Shape 11"/>
          <p:cNvSpPr/>
          <p:nvPr/>
        </p:nvSpPr>
        <p:spPr>
          <a:xfrm>
            <a:off x="548640" y="4236285"/>
            <a:ext cx="11064240" cy="535577"/>
          </a:xfrm>
          <a:prstGeom prst="roundRect">
            <a:avLst>
              <a:gd name="adj" fmla="val 10244"/>
            </a:avLst>
          </a:prstGeom>
          <a:solidFill>
            <a:srgbClr val="E7EEFC"/>
          </a:solidFill>
          <a:ln w="9525">
            <a:solidFill>
              <a:srgbClr val="CADCFC"/>
            </a:solidFill>
            <a:prstDash val="solid"/>
          </a:ln>
        </p:spPr>
      </p:sp>
      <p:sp>
        <p:nvSpPr>
          <p:cNvPr id="15" name="Text 12"/>
          <p:cNvSpPr txBox="1"/>
          <p:nvPr/>
        </p:nvSpPr>
        <p:spPr>
          <a:xfrm>
            <a:off x="822960" y="4236285"/>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Q5. You need 4K × 8 memory but have only 1K × 8 chips. How many chips?</a:t>
            </a:r>
            <a:endParaRPr lang="en-US" sz="2000" dirty="0"/>
          </a:p>
        </p:txBody>
      </p:sp>
      <p:sp>
        <p:nvSpPr>
          <p:cNvPr id="16" name="Shape 13"/>
          <p:cNvSpPr/>
          <p:nvPr/>
        </p:nvSpPr>
        <p:spPr>
          <a:xfrm>
            <a:off x="548640" y="4863302"/>
            <a:ext cx="11064240" cy="535577"/>
          </a:xfrm>
          <a:prstGeom prst="roundRect">
            <a:avLst>
              <a:gd name="adj" fmla="val 10244"/>
            </a:avLst>
          </a:prstGeom>
          <a:solidFill>
            <a:srgbClr val="FFFFFF"/>
          </a:solidFill>
          <a:ln w="9525">
            <a:solidFill>
              <a:srgbClr val="CADCFC"/>
            </a:solidFill>
            <a:prstDash val="solid"/>
          </a:ln>
        </p:spPr>
      </p:sp>
      <p:sp>
        <p:nvSpPr>
          <p:cNvPr id="17" name="Text 14"/>
          <p:cNvSpPr txBox="1"/>
          <p:nvPr/>
        </p:nvSpPr>
        <p:spPr>
          <a:xfrm>
            <a:off x="822960" y="4863302"/>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Q6. In memory context, 1K equals: (a) 1000 (b) 1024 (c) 1,000,000</a:t>
            </a:r>
            <a:endParaRPr lang="en-US" sz="2000" dirty="0"/>
          </a:p>
        </p:txBody>
      </p:sp>
      <p:sp>
        <p:nvSpPr>
          <p:cNvPr id="18" name="Shape 15"/>
          <p:cNvSpPr/>
          <p:nvPr/>
        </p:nvSpPr>
        <p:spPr>
          <a:xfrm>
            <a:off x="548640" y="5490319"/>
            <a:ext cx="11064240" cy="535577"/>
          </a:xfrm>
          <a:prstGeom prst="roundRect">
            <a:avLst>
              <a:gd name="adj" fmla="val 10244"/>
            </a:avLst>
          </a:prstGeom>
          <a:solidFill>
            <a:srgbClr val="E7EEFC"/>
          </a:solidFill>
          <a:ln w="9525">
            <a:solidFill>
              <a:srgbClr val="CADCFC"/>
            </a:solidFill>
            <a:prstDash val="solid"/>
          </a:ln>
        </p:spPr>
      </p:sp>
      <p:sp>
        <p:nvSpPr>
          <p:cNvPr id="19" name="Text 16"/>
          <p:cNvSpPr txBox="1"/>
          <p:nvPr/>
        </p:nvSpPr>
        <p:spPr>
          <a:xfrm>
            <a:off x="822960" y="5490319"/>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Q7. A datasheet lists "256Mb". How many megabytes is that?</a:t>
            </a:r>
            <a:endParaRPr lang="en-US" sz="2000" dirty="0"/>
          </a:p>
        </p:txBody>
      </p:sp>
      <p:sp>
        <p:nvSpPr>
          <p:cNvPr id="20" name="Text 17"/>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8"/>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30</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ANSWERS</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Quiz Answers — Organization &amp; Capacity</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728216"/>
            <a:ext cx="11064240" cy="535577"/>
          </a:xfrm>
          <a:prstGeom prst="roundRect">
            <a:avLst>
              <a:gd name="adj" fmla="val 10244"/>
            </a:avLst>
          </a:prstGeom>
          <a:solidFill>
            <a:srgbClr val="E7EEFC"/>
          </a:solidFill>
          <a:ln w="9525">
            <a:solidFill>
              <a:srgbClr val="CADCFC"/>
            </a:solidFill>
            <a:prstDash val="solid"/>
          </a:ln>
        </p:spPr>
      </p:sp>
      <p:sp>
        <p:nvSpPr>
          <p:cNvPr id="7" name="Text 4"/>
          <p:cNvSpPr txBox="1"/>
          <p:nvPr/>
        </p:nvSpPr>
        <p:spPr>
          <a:xfrm>
            <a:off x="822960" y="1728216"/>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A1. log₂(2048) = 11 → (c) 11</a:t>
            </a:r>
            <a:endParaRPr lang="en-US" sz="2000" dirty="0"/>
          </a:p>
        </p:txBody>
      </p:sp>
      <p:sp>
        <p:nvSpPr>
          <p:cNvPr id="8" name="Shape 5"/>
          <p:cNvSpPr/>
          <p:nvPr/>
        </p:nvSpPr>
        <p:spPr>
          <a:xfrm>
            <a:off x="548640" y="2355233"/>
            <a:ext cx="11064240" cy="535577"/>
          </a:xfrm>
          <a:prstGeom prst="roundRect">
            <a:avLst>
              <a:gd name="adj" fmla="val 10244"/>
            </a:avLst>
          </a:prstGeom>
          <a:solidFill>
            <a:srgbClr val="FFFFFF"/>
          </a:solidFill>
          <a:ln w="9525">
            <a:solidFill>
              <a:srgbClr val="CADCFC"/>
            </a:solidFill>
            <a:prstDash val="solid"/>
          </a:ln>
        </p:spPr>
      </p:sp>
      <p:sp>
        <p:nvSpPr>
          <p:cNvPr id="9" name="Text 6"/>
          <p:cNvSpPr txBox="1"/>
          <p:nvPr/>
        </p:nvSpPr>
        <p:spPr>
          <a:xfrm>
            <a:off x="822960" y="2355233"/>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A2. 8192 × 16 = 131,072 bits ÷ 8 = 16,384 bytes = 16 KB</a:t>
            </a:r>
            <a:endParaRPr lang="en-US" sz="2000" dirty="0"/>
          </a:p>
        </p:txBody>
      </p:sp>
      <p:sp>
        <p:nvSpPr>
          <p:cNvPr id="10" name="Shape 7"/>
          <p:cNvSpPr/>
          <p:nvPr/>
        </p:nvSpPr>
        <p:spPr>
          <a:xfrm>
            <a:off x="548640" y="2982250"/>
            <a:ext cx="11064240" cy="535577"/>
          </a:xfrm>
          <a:prstGeom prst="roundRect">
            <a:avLst>
              <a:gd name="adj" fmla="val 10244"/>
            </a:avLst>
          </a:prstGeom>
          <a:solidFill>
            <a:srgbClr val="E7EEFC"/>
          </a:solidFill>
          <a:ln w="9525">
            <a:solidFill>
              <a:srgbClr val="CADCFC"/>
            </a:solidFill>
            <a:prstDash val="solid"/>
          </a:ln>
        </p:spPr>
      </p:sp>
      <p:sp>
        <p:nvSpPr>
          <p:cNvPr id="11" name="Text 8"/>
          <p:cNvSpPr txBox="1"/>
          <p:nvPr/>
        </p:nvSpPr>
        <p:spPr>
          <a:xfrm>
            <a:off x="822960" y="2982250"/>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A3. (b) reduce decoder size — avoids one enormous single decoder</a:t>
            </a:r>
            <a:endParaRPr lang="en-US" sz="2000" dirty="0"/>
          </a:p>
        </p:txBody>
      </p:sp>
      <p:sp>
        <p:nvSpPr>
          <p:cNvPr id="12" name="Shape 9"/>
          <p:cNvSpPr/>
          <p:nvPr/>
        </p:nvSpPr>
        <p:spPr>
          <a:xfrm>
            <a:off x="548640" y="3609267"/>
            <a:ext cx="11064240" cy="535577"/>
          </a:xfrm>
          <a:prstGeom prst="roundRect">
            <a:avLst>
              <a:gd name="adj" fmla="val 10244"/>
            </a:avLst>
          </a:prstGeom>
          <a:solidFill>
            <a:srgbClr val="FFFFFF"/>
          </a:solidFill>
          <a:ln w="9525">
            <a:solidFill>
              <a:srgbClr val="CADCFC"/>
            </a:solidFill>
            <a:prstDash val="solid"/>
          </a:ln>
        </p:spPr>
      </p:sp>
      <p:sp>
        <p:nvSpPr>
          <p:cNvPr id="13" name="Text 10"/>
          <p:cNvSpPr txBox="1"/>
          <p:nvPr/>
        </p:nvSpPr>
        <p:spPr>
          <a:xfrm>
            <a:off x="822960" y="3609267"/>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A4. False — a "×1" chip is bit-organized, not word-organized</a:t>
            </a:r>
            <a:endParaRPr lang="en-US" sz="2000" dirty="0"/>
          </a:p>
        </p:txBody>
      </p:sp>
      <p:sp>
        <p:nvSpPr>
          <p:cNvPr id="14" name="Shape 11"/>
          <p:cNvSpPr/>
          <p:nvPr/>
        </p:nvSpPr>
        <p:spPr>
          <a:xfrm>
            <a:off x="548640" y="4236285"/>
            <a:ext cx="11064240" cy="535577"/>
          </a:xfrm>
          <a:prstGeom prst="roundRect">
            <a:avLst>
              <a:gd name="adj" fmla="val 10244"/>
            </a:avLst>
          </a:prstGeom>
          <a:solidFill>
            <a:srgbClr val="E7EEFC"/>
          </a:solidFill>
          <a:ln w="9525">
            <a:solidFill>
              <a:srgbClr val="CADCFC"/>
            </a:solidFill>
            <a:prstDash val="solid"/>
          </a:ln>
        </p:spPr>
      </p:sp>
      <p:sp>
        <p:nvSpPr>
          <p:cNvPr id="15" name="Text 12"/>
          <p:cNvSpPr txBox="1"/>
          <p:nvPr/>
        </p:nvSpPr>
        <p:spPr>
          <a:xfrm>
            <a:off x="822960" y="4236285"/>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A5. 4096 ÷ 1024 = 4 chips</a:t>
            </a:r>
            <a:endParaRPr lang="en-US" sz="2000" dirty="0"/>
          </a:p>
        </p:txBody>
      </p:sp>
      <p:sp>
        <p:nvSpPr>
          <p:cNvPr id="16" name="Shape 13"/>
          <p:cNvSpPr/>
          <p:nvPr/>
        </p:nvSpPr>
        <p:spPr>
          <a:xfrm>
            <a:off x="548640" y="4863302"/>
            <a:ext cx="11064240" cy="535577"/>
          </a:xfrm>
          <a:prstGeom prst="roundRect">
            <a:avLst>
              <a:gd name="adj" fmla="val 10244"/>
            </a:avLst>
          </a:prstGeom>
          <a:solidFill>
            <a:srgbClr val="FFFFFF"/>
          </a:solidFill>
          <a:ln w="9525">
            <a:solidFill>
              <a:srgbClr val="CADCFC"/>
            </a:solidFill>
            <a:prstDash val="solid"/>
          </a:ln>
        </p:spPr>
      </p:sp>
      <p:sp>
        <p:nvSpPr>
          <p:cNvPr id="17" name="Text 14"/>
          <p:cNvSpPr txBox="1"/>
          <p:nvPr/>
        </p:nvSpPr>
        <p:spPr>
          <a:xfrm>
            <a:off x="822960" y="4863302"/>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A6. (b) 1024 — memory always uses powers of 2 for K/M/G</a:t>
            </a:r>
            <a:endParaRPr lang="en-US" sz="2000" dirty="0"/>
          </a:p>
        </p:txBody>
      </p:sp>
      <p:sp>
        <p:nvSpPr>
          <p:cNvPr id="18" name="Shape 15"/>
          <p:cNvSpPr/>
          <p:nvPr/>
        </p:nvSpPr>
        <p:spPr>
          <a:xfrm>
            <a:off x="548640" y="5490319"/>
            <a:ext cx="11064240" cy="535577"/>
          </a:xfrm>
          <a:prstGeom prst="roundRect">
            <a:avLst>
              <a:gd name="adj" fmla="val 10244"/>
            </a:avLst>
          </a:prstGeom>
          <a:solidFill>
            <a:srgbClr val="E7EEFC"/>
          </a:solidFill>
          <a:ln w="9525">
            <a:solidFill>
              <a:srgbClr val="CADCFC"/>
            </a:solidFill>
            <a:prstDash val="solid"/>
          </a:ln>
        </p:spPr>
      </p:sp>
      <p:sp>
        <p:nvSpPr>
          <p:cNvPr id="19" name="Text 16"/>
          <p:cNvSpPr txBox="1"/>
          <p:nvPr/>
        </p:nvSpPr>
        <p:spPr>
          <a:xfrm>
            <a:off x="822960" y="5490319"/>
            <a:ext cx="10515600" cy="535577"/>
          </a:xfrm>
          <a:prstGeom prst="rect">
            <a:avLst/>
          </a:prstGeom>
          <a:noFill/>
          <a:ln/>
        </p:spPr>
        <p:txBody>
          <a:bodyPr wrap="square" lIns="25400" tIns="25400" rIns="25400" bIns="25400" rtlCol="0" anchor="ctr"/>
          <a:lstStyle/>
          <a:p>
            <a:pPr marL="0" indent="0" algn="l">
              <a:buNone/>
            </a:pPr>
            <a:r>
              <a:rPr lang="en-US" sz="2000" dirty="0">
                <a:solidFill>
                  <a:srgbClr val="141A45"/>
                </a:solidFill>
                <a:latin typeface="Calibri" pitchFamily="34" charset="0"/>
                <a:ea typeface="Calibri" pitchFamily="34" charset="-122"/>
                <a:cs typeface="Calibri" pitchFamily="34" charset="-120"/>
              </a:rPr>
              <a:t>A7. 256Mb ÷ 8 = 32 MB</a:t>
            </a:r>
            <a:endParaRPr lang="en-US" sz="2000" dirty="0"/>
          </a:p>
        </p:txBody>
      </p:sp>
      <p:sp>
        <p:nvSpPr>
          <p:cNvPr id="20" name="Text 17"/>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21" name="Text 18"/>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31</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778240" cy="320040"/>
          </a:xfrm>
          <a:prstGeom prst="rect">
            <a:avLst/>
          </a:prstGeom>
          <a:noFill/>
          <a:ln/>
        </p:spPr>
        <p:txBody>
          <a:bodyPr wrap="square" lIns="0" tIns="0" rIns="0" bIns="0" rtlCol="0" anchor="ctr"/>
          <a:lstStyle/>
          <a:p>
            <a:pPr marL="0" indent="0">
              <a:buNone/>
            </a:pPr>
            <a:r>
              <a:rPr lang="en-US" sz="2000" b="1" kern="0" spc="100" dirty="0">
                <a:solidFill>
                  <a:srgbClr val="D4AF37"/>
                </a:solidFill>
                <a:latin typeface="Calibri" pitchFamily="34" charset="0"/>
                <a:ea typeface="Calibri" pitchFamily="34" charset="-122"/>
                <a:cs typeface="Calibri" pitchFamily="34" charset="-120"/>
              </a:rPr>
              <a:t>WHAT'S NEXT</a:t>
            </a:r>
            <a:endParaRPr lang="en-US" sz="2000" dirty="0"/>
          </a:p>
        </p:txBody>
      </p:sp>
      <p:sp>
        <p:nvSpPr>
          <p:cNvPr id="3" name="Text 1"/>
          <p:cNvSpPr txBox="1"/>
          <p:nvPr/>
        </p:nvSpPr>
        <p:spPr>
          <a:xfrm>
            <a:off x="548640" y="795528"/>
            <a:ext cx="8778240" cy="914400"/>
          </a:xfrm>
          <a:prstGeom prst="rect">
            <a:avLst/>
          </a:prstGeom>
          <a:noFill/>
          <a:ln/>
        </p:spPr>
        <p:txBody>
          <a:bodyPr wrap="square" lIns="0" tIns="0" rIns="0" bIns="0" rtlCol="0" anchor="t"/>
          <a:lstStyle/>
          <a:p>
            <a:pPr marL="0" indent="0">
              <a:buNone/>
            </a:pPr>
            <a:r>
              <a:rPr lang="en-US" sz="3600" b="1" dirty="0">
                <a:solidFill>
                  <a:srgbClr val="1E2761"/>
                </a:solidFill>
                <a:latin typeface="Cambria" pitchFamily="34" charset="0"/>
                <a:ea typeface="Cambria" pitchFamily="34" charset="-122"/>
                <a:cs typeface="Cambria" pitchFamily="34" charset="-120"/>
              </a:rPr>
              <a:t>Further Reading &amp; Next Class</a:t>
            </a:r>
            <a:endParaRPr lang="en-US" sz="3600" dirty="0"/>
          </a:p>
        </p:txBody>
      </p:sp>
      <p:sp>
        <p:nvSpPr>
          <p:cNvPr id="4" name="Shape 2"/>
          <p:cNvSpPr/>
          <p:nvPr/>
        </p:nvSpPr>
        <p:spPr>
          <a:xfrm>
            <a:off x="10424160" y="457200"/>
            <a:ext cx="1051560" cy="1051560"/>
          </a:xfrm>
          <a:prstGeom prst="ellipse">
            <a:avLst/>
          </a:prstGeom>
          <a:solidFill>
            <a:srgbClr val="D4AF37"/>
          </a:solidFill>
          <a:ln/>
        </p:spPr>
      </p:sp>
      <p:pic>
        <p:nvPicPr>
          <p:cNvPr id="5" name="Image 0" descr="preencoded.png"/>
          <p:cNvPicPr>
            <a:picLocks noChangeAspect="1"/>
          </p:cNvPicPr>
          <p:nvPr/>
        </p:nvPicPr>
        <p:blipFill>
          <a:blip r:embed="rId3"/>
          <a:stretch>
            <a:fillRect/>
          </a:stretch>
        </p:blipFill>
        <p:spPr>
          <a:xfrm>
            <a:off x="10560863" y="593903"/>
            <a:ext cx="778154" cy="778154"/>
          </a:xfrm>
          <a:prstGeom prst="rect">
            <a:avLst/>
          </a:prstGeom>
        </p:spPr>
      </p:pic>
      <p:sp>
        <p:nvSpPr>
          <p:cNvPr id="6" name="Shape 3"/>
          <p:cNvSpPr/>
          <p:nvPr/>
        </p:nvSpPr>
        <p:spPr>
          <a:xfrm>
            <a:off x="548640" y="1600200"/>
            <a:ext cx="11064240" cy="4480560"/>
          </a:xfrm>
          <a:prstGeom prst="roundRect">
            <a:avLst>
              <a:gd name="adj" fmla="val 2449"/>
            </a:avLst>
          </a:prstGeom>
          <a:solidFill>
            <a:srgbClr val="E7EEFC"/>
          </a:solidFill>
          <a:ln/>
        </p:spPr>
      </p:sp>
      <p:sp>
        <p:nvSpPr>
          <p:cNvPr id="7" name="Text 4"/>
          <p:cNvSpPr txBox="1"/>
          <p:nvPr/>
        </p:nvSpPr>
        <p:spPr>
          <a:xfrm>
            <a:off x="914400" y="1920240"/>
            <a:ext cx="10332720" cy="3840480"/>
          </a:xfrm>
          <a:prstGeom prst="rect">
            <a:avLst/>
          </a:prstGeom>
          <a:noFill/>
          <a:ln/>
        </p:spPr>
        <p:txBody>
          <a:bodyPr wrap="square" lIns="0" tIns="0" rIns="0" bIns="0" rtlCol="0" anchor="t"/>
          <a:lstStyle/>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Next topic: Cache Memory — Mapping Techniques</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Reading: Hamacher, Computer Organization — Memory Systems chapter</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Try it: find a real DRAM datasheet, identify its row/column organization</a:t>
            </a:r>
            <a:endParaRPr lang="en-US" sz="2100" dirty="0"/>
          </a:p>
          <a:p>
            <a:pPr marL="279400" indent="-279400">
              <a:spcAft>
                <a:spcPts val="1400"/>
              </a:spcAft>
              <a:buSzPct val="100000"/>
              <a:buChar char="•"/>
            </a:pPr>
            <a:r>
              <a:rPr lang="en-US" sz="2100" dirty="0">
                <a:solidFill>
                  <a:srgbClr val="141A45"/>
                </a:solidFill>
                <a:latin typeface="Calibri" pitchFamily="34" charset="0"/>
                <a:ea typeface="Calibri" pitchFamily="34" charset="-122"/>
                <a:cs typeface="Calibri" pitchFamily="34" charset="-120"/>
              </a:rPr>
              <a:t>Challenge: design a 32K × 32 memory using 8K × 8 chips</a:t>
            </a:r>
            <a:endParaRPr lang="en-US" sz="2100" dirty="0"/>
          </a:p>
        </p:txBody>
      </p:sp>
      <p:sp>
        <p:nvSpPr>
          <p:cNvPr id="8" name="Text 5"/>
          <p:cNvSpPr txBox="1"/>
          <p:nvPr/>
        </p:nvSpPr>
        <p:spPr>
          <a:xfrm>
            <a:off x="457200" y="6355080"/>
            <a:ext cx="8229600" cy="365760"/>
          </a:xfrm>
          <a:prstGeom prst="rect">
            <a:avLst/>
          </a:prstGeom>
          <a:noFill/>
          <a:ln/>
        </p:spPr>
        <p:txBody>
          <a:bodyPr wrap="square" lIns="0" tIns="0" rIns="0" bIns="0" rtlCol="0" anchor="ctr"/>
          <a:lstStyle/>
          <a:p>
            <a:pPr marL="0" indent="0" algn="l">
              <a:buNone/>
            </a:pPr>
            <a:r>
              <a:rPr lang="en-US" sz="2000" dirty="0">
                <a:solidFill>
                  <a:srgbClr val="5B6B8C"/>
                </a:solidFill>
                <a:latin typeface="Calibri" pitchFamily="34" charset="0"/>
                <a:ea typeface="Calibri" pitchFamily="34" charset="-122"/>
                <a:cs typeface="Calibri" pitchFamily="34" charset="-120"/>
              </a:rPr>
              <a:t>Presidency University, Bengaluru  |  CSS2257</a:t>
            </a:r>
            <a:endParaRPr lang="en-US" sz="2000" dirty="0"/>
          </a:p>
        </p:txBody>
      </p:sp>
      <p:sp>
        <p:nvSpPr>
          <p:cNvPr id="9" name="Text 6"/>
          <p:cNvSpPr txBox="1"/>
          <p:nvPr/>
        </p:nvSpPr>
        <p:spPr>
          <a:xfrm>
            <a:off x="11247120" y="6355080"/>
            <a:ext cx="457200" cy="365760"/>
          </a:xfrm>
          <a:prstGeom prst="rect">
            <a:avLst/>
          </a:prstGeom>
          <a:noFill/>
          <a:ln/>
        </p:spPr>
        <p:txBody>
          <a:bodyPr wrap="square" lIns="0" tIns="0" rIns="0" bIns="0" rtlCol="0" anchor="ctr"/>
          <a:lstStyle/>
          <a:p>
            <a:pPr marL="0" indent="0" algn="r">
              <a:buNone/>
            </a:pPr>
            <a:r>
              <a:rPr lang="en-US" sz="2000" dirty="0">
                <a:solidFill>
                  <a:srgbClr val="5B6B8C"/>
                </a:solidFill>
                <a:latin typeface="Calibri" pitchFamily="34" charset="0"/>
                <a:ea typeface="Calibri" pitchFamily="34" charset="-122"/>
                <a:cs typeface="Calibri" pitchFamily="34" charset="-120"/>
              </a:rPr>
              <a:t>32</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3640</Words>
  <Application>Microsoft Office PowerPoint</Application>
  <PresentationFormat>Widescreen</PresentationFormat>
  <Paragraphs>429</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Manoj  Sagar K - Assistant Professor - SAIAC</cp:lastModifiedBy>
  <cp:revision>3</cp:revision>
  <dcterms:created xsi:type="dcterms:W3CDTF">2026-09-22T08:17:27Z</dcterms:created>
  <dcterms:modified xsi:type="dcterms:W3CDTF">2026-09-24T06:03:34Z</dcterms:modified>
</cp:coreProperties>
</file>