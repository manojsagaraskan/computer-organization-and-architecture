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session is part of our ongoing journey through Computer Organization and Architecture (CSS2257), and we are going to answer a question every computer engineer eventually asks: "how fast is this processor, really?" We'll build up the Basic Performance Equation from scratch, see how pipeline stalls and penalties eat into that performance, look at why the number of pipeline stages is a double-edged sword, and finally learn how to measure performance honestly using clock speed and instruction execution rate. By the end of this hour you'll be able to calculate CPU execution time for a real program and explain why "more GHz" or "more MIPS" doesn't automatically mean "faster computer."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slide -- this lecture is delivered under the Computer Organization and Architecture course, code CSS2257, offered by the Department of AI &amp; Robotics within the School of Artificial Intelligence and Advanced Computing at Presidency University, Bengaluru. This sits right after our earlier sessions on processor clock and basic operational concepts, so today we go one level deeper into how we actually quantify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we are headed this hour. By the end you should be able to sit down with a program's instruction count, its CPI, and a clock rate, and confidently compute -- and interpret -- how long that program actually takes to run. We'll also arm you against two of the most common traps in this course and in industry marketing: assuming higher clock speed means a faster machine, and assuming a bigger MIPS number means a better processor. Keep these six objectives in the back of your mind as we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warm up before diving into formulas. Pose these one at a time -- take quick show-of-hands or a couple of verbal answers, don't let any single question eat more than a minute. The goal is to surface their existing (often marketing-driven) intuitions about "fast processors" so we can gently correct them over the next 45 minutes. The third question is the real hook -- most students will instinctively say "yes, A is faster," and you can tell them: "hold that thought, we'll revisit this exact question in 10 minutes." Use their answers to transition into why this topic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should you, as future engineers, care about a formula? Because this equation is the referee for every performance claim you'll ever read. When NVIDIA or Intel or Apple announces a new chip, marketing gives you one or two numbers -- but the real story is always Instruction Count, CPI, and Clock Cycle Time interacting. Understanding this equation is what separates someone who can read a spec sheet from someone who can actually evaluate a system. It's also foundational -- almost every later topic in this course, from caches to superscalar execution, is really just another way of shrinking one of these three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from our earlier session on basic operational concepts: CPU time is not the same as "elapsed time" you'd see on a stopwatch while a program runs -- that also includes disk waits, network waits, other processes taking turns. CPU time isolates just the processor's own effort. This distinction matters because our formula today predicts CPU time specifically, and it's the number architects actually optimize.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our three building blocks: Instruction Count. A common student mistake is confusing "lines of code" with instruction count -- they are not the same. A single C statement like "a = b + c * d" might compile into three or four machine instructions. And a loop that iterates a thousand times executes its body a thousand times over, even though it's written once in the source. IC captures dynamic behavior, not static code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building block: CPI, cycles per instruction. Think of it as "how many turns of the clock does the average instruction cost me." A perfectly pipelined, hazard-free processor would love a CPI of exactly 1.0 -- meaning every single clock tick retires one instruction. But real programs on real hardware almost never hit that, because of the stalls we're about to discuss. This is the term most directly under the compiler and hardware designer's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third and final building block: clock rate and clock cycle time -- two sides of the same coin, reciprocals of each other. This is the number that appears on every box and spec sheet -- "3.5 GHz," "4.2 GHz." It genuinely matters, but notice the last bullet: clock rate only tells you how long each tick is. It says nothing about how many ticks each instruction needs. That's exactly the trap our icebreaker Question 3 was setting up -- and we're about to formalize why "higher GHz" alone can mislead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 the single most important equation in this entire course: CPU Time equals Instruction Count times CPI times Clock Cycle Time. Say it out loud with the class once. Every processor performance question you will ever face reduces to changing one of these three variables while (usually) holding the others fixed, or trading one off against another. Compilers attack IC. Pipeline and hazard design attacks CPI. Process technology and pipeline depth attack clock cycle time. Today we go deep on the second and third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not just memorize the formula -- let's derive it, so it sticks. Step one: the program consumes some total number of clock cycles. Step two: since CPI is the average cost per instruction, total cycles is just Instruction Count times CPI. Step three: each of those cycles takes T-clock seconds, a fixed hardware property. Multiply cycles by seconds-per-cycle and you get seconds -- actual wall-clock CPU time. This derivation is worth being able to reproduce from memory in an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CPU time is a product of three terms, three different specialists spend their careers attacking three different levers. Compiler writers and algorithm designers shrink Instruction Count. Microarchitects -- the pipeline designers -- shrink CPI by removing stalls, which is where we're headed next. And chip fabrication engineers shrink clock cycle time by cramming more, smaller, faster transistors onto silicon. Crucially: pulling one lever can push another the wrong way -- that tension is exactly what we explore with pipeline depth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said real CPI is almost always above the ideal of 1. The reason is stalls -- sometimes called pipeline bubbles. Picture the pipeline as an assembly line: if station three has to wait because the part from station two isn't ready, the whole line pauses for a beat. That paused beat is a stall cycle -- no instruction finishes during it, but the clock still ticks. Multiply that wasted cycle across millions of instructions, and it becomes a very real performance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named culprits behind stalls. Structural hazards: two instructions literally fighting over the same physical resource, like a single memory port. Data hazards: an instruction needs an operand that an earlier instruction, still mid-flight in the pipeline, hasn't produced yet -- think "add uses a register that a load two instructions earlier hasn't finished loading." Control hazards: the classic branch problem -- the pipeline doesn't yet know if a branch will be taken, so it doesn't know what to fetch next. We'll zoom into control hazards specifically in a couple of slides, since they tend to be the costliest.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quantify it. The real, effective CPI is the ideal CPI plus however many extra stall cycles each instruction costs on average. And that stall term itself breaks down further: how often does the bad event happen, times how expensive it is when it does. This "frequency times penalty" pattern is going to reappear constantly in this course -- cache misses, TLB misses, branch mispredictions -- they're all the same mathematical shape. Master this one formula and half of computer architecture performance analysis becomes pattern matching.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 penalties deserve special attention because they're usually the single biggest contributor to real-world CPI inflation. When the fetch stage hits a branch, it has to guess what comes next -- taken or not taken -- and keep the pipeline full while the branch condition is still being computed. Guess wrong, and everything fetched behind that guess is worthless and must be flushed, costing several cycles. Walk through the worked example on the right with the class: multiply the branch frequency, by the misprediction rate, by the penalty, and you get the CPI contribution -- here, 0.18 extra cycles per instruction, which sounds small until you remember it applies to every single instruction in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connect stalls back to pipeline structure itself. A pipeline stage is one slice of the instruction's journey -- fetch, decode, execute, memory access, write-back, in the classic five-stage design. The trick of pipelining is that while instruction 5 is being fetched, instruction 4 can be decoding, instruction 3 executing, and so on -- five instructions genuinely in flight at once. The critical insight for the next slide: the clock cycle time is dictated by whichever single stage takes the longest. If you split a slow stage into two shorter ones, you can run the clock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today's trade-off. Split the pipeline into more stages, and each individual stage becomes simpler and faster -- so the clock cycle time shrinks and the clock rate you can advertise goes up. Sounds great, right? But remember our CPI formula: more stages generally means a longer path for data to travel between where it's produced and where it's needed, and a bigger flush penalty when a branch is mispredicted, because more instructions are "in flight" and have to be discarded. So CPI creeps upward even as clock rate climbs. Which effect wins? That depends entirely on the workload -- which is exactly why chip designers don't just keep adding stages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lay the trade-off out as a table, since students often want a clean reference for revision. Walk down each row: shallow pipelines keep CPI low and design simple but cap your clock rate; deep pipelines unlock higher clock rates but raise your branch and data hazard exposure, and are much harder to verify correctly. The last row is deliberately unresolved -- "depends on workload" -- because that is the honest, examinable answer. A branch-heavy program (lots of if-statements) suffers more from deep pipelines than a branch-light, arithmetic-heavy program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Approximate, illustrative figures, but the story is real and well documented in architecture history. The textbook 5-stage RISC pipeline is our teaching baseline. ARM's Cortex-A53, used in countless phones, sits around eight stages -- a deliberate middle ground because mobile chips care about battery life as much as raw speed. Intel's Pentium 4 "Prescott" generation famously pushed past thirty pipeline stages chasing clock-rate bragging rights -- and became the textbook cautionary tale, because branch mispredictions became so costly that real-world performance often disappointed despite the huge GHz numbers. This is precisely why the industry pulled back toward shallower, smarter pipelines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put the equation to work. Read the problem aloud and let students jot down the three given values before you move to the next slide: IC = 50 million, clock rate = 2 GHz, CPI = 1.5. Ask them: "which formula do we reach for?" -- give them thirty seconds to attempt it themselves on paper before revealing the step-by-step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out loud, step by step, don't skip the unit conversion. First restate the formula, noting that dividing by clock rate is identical to multiplying by clock cycle time -- both are valid and students will see both forms in textbooks. Substitute the given numbers. Compute total cycles first: 75 million cycles. Then divide by the clock rate to get seconds: 37.5 thousandths of a second, or 37.5 milliseconds. Pause here and ask: "does that feel fast or slow for 50 million instructions?" It's a good moment to build intuition for realistic magnitudes.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bring stalls into the same equation, tying together everything from the middle of the lecture. Same instruction count magnitude as before but a slower, 1 GHz clock, so the numbers stay easy to follow. Emphasize: this is exactly the CPI = CPI-ideal + stall cycles per instruction formula from slide 15, now combined with the Basic Performance Equation from slide 10. Give students a minute to identify which numbers plug into which part of the formula before revealing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 it makes the abstract CPI formula feel concrete. First we compute the CPI penalty purely from branches: 0.4 extra cycles per instruction, pushing actual CPI to 1.4. Then we run the full Basic Performance Equation twice -- once with the real, stall-inflated CPI, and once with the ideal CPI of 1.0 -- and compare. The program takes 14 milliseconds in reality versus 10 milliseconds in a hazard-free fantasy world -- a full 40% slower, purely because of branch stalls. Emphasize: this is the exact mechanism by which "more pipeline stages, badly handled" translates into disappointing real-world speed, tying straight back to the Pentium 4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return to our icebreaker question: is a 4 GHz processor definitely faster than a 2 GHz one? Clock speed is real, it's measurable, and it's marketable -- which is exactly why it dominates advertising. But we've just spent the whole lecture proving that CPU time depends equally on CPI and instruction count. A 2 GHz chip with CPI of 1.0 can easily outperform a 4 GHz chip with CPI of 2.5. Clock speed is necessary information, but never sufficient information, for a performance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answer to our icebreaker, with real numbers side by side. Processor A boasts double the clock speed but has a bloated CPI of 2.5 from an overly deep, stall-prone pipeline -- 62.5 milliseconds. Processor B, at half the clock speed but a clean CPI of 1.0, finishes in 50 milliseconds -- genuinely faster despite the lower GHz. This exact scenario played out historically: AMD famously beat higher-clocked Pentium 4 chips in real workloads for precisely this reason, which is why the industry nicknamed this the "Megahertz Myth." Make sure students can reproduce this comparison calculation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clock speed alone was clearly insufficient, the industry reached for a metric that folds in CPI too: MIPS, Million Instructions Per Second. Notice the formula: it's literally Clock Rate divided by CPI, scaled to millions -- so a processor with high clock rate AND low CPI gets a high MIPS score, which intuitively feels like the right answer. It seems like exactly the fix we need. But -- and this is the twist for the next slide -- MIPS has its own serious blind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catch, and it's a classic exam trap: MIPS treats every instruction as equal, but instructions are not equal in the work they accomplish. One complex CISC instruction might replace three or four simpler RISC instructions doing the same job -- so a RISC chip executing more, smaller instructions per second can post a higher MIPS number while doing identical real work, or even less. This is exactly why some architects joke that MIPS really stands for "Meaningless Indicator of Performance" when used to compare across different instruction set architectures. The only fair MIPS comparison is the same program, same ISA, different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should you actually trust? Execution time on a real task is the gold standard -- it can't be gamed the way clock speed or MIPS can, because it directly answers "how long did I wait." Since running every possible program on every possible chip isn't practical, the industry agreed on standardized benchmark suites like SPEC, which bundle a representative mix of real-world programs and report execution time or a derived score. And for your own engineering decisions -- picking a chip for a product -- always benchmark the software you actually care about, because generic scores are, at best, a starting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myth-busting round-up, useful right before revision. Go through each claim and ask the class "true or false?" before revealing the answer on the right. The last one is deliberately more nuanced than the others -- a reminder that this course will later introduce superscalar and out-of-order designs that can push CPI below 1 by completing more than one instruction per cycle, so "CPI = 1 is the ceiling" is only true for the simple, single-issue pipeline we've studied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a hands-on check before we summarize. Give students two minutes in pairs to work this through on paper -- don't reveal the numbers on the bottom half immediately, cover them or advance the animation if you're presenting live. It's deliberately built to feel like an "upgrade" (higher clock rate) that is secretly a regression once CPI is accounted for -- reinforcing the Megahertz Myth lesson from earlier with a fresh number. After two minutes, cold-call a pair or two, then reveal the worked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it all together. Four ideas to leave with today: first, the Basic Performance Equation itself, which you should be able to write from memory. Second, that CPI inflation has three named causes -- structural, data, and control hazards -- and a clean "frequency times penalty" formula. Third, that pipeline depth is a genuine engineering trade-off, not a free upgrade -- more stages is not automatically better. And fourth, the big-picture lesson: never trust a single number like clock speed or MIPS in isolation; always ask what it's leaving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knowledge check, not a graded exam -- tell students that up front to keep the pressure low. Give them about four minutes, working individually first, then let them briefly discuss with a neighbor before you reveal answers. Question 3 tests the hazard vocabulary from earlier; Questions 4 through 6 test whether the equation and its caveats have really sunk in, not just rote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briefly, and pause on any question where a show of hands reveals a lot of disagreement -- that's your signal for what to revisit in the next class. Question 2 and 5 are the two most commonly missed in practice, because they directly contradict the marketing intuition students walked in with -- circle back to the Megahertz Myth slide if needed. Encourage students to note down which questions they got wrong for their own revision, this isn't being 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point students to the Hennessy &amp; Patterson chapters for a deeper treatment with more rigor than we had time for today. Assign the CPU-time-and-CPI problem set so they get individual practice before it appears on an assessment. And tease next session -- once students are comfortable with CPI possibly exceeding 1, the natural next question is "can CPI go below 1?" -- which sets up superscalar and out-of-order execution perfectly. Thank the class and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52560" y="822960"/>
            <a:ext cx="2377440" cy="777240"/>
          </a:xfrm>
          <a:prstGeom prst="roundRect">
            <a:avLst>
              <a:gd name="adj" fmla="val 11765"/>
            </a:avLst>
          </a:prstGeom>
          <a:solidFill>
            <a:srgbClr val="1C7293">
              <a:alpha val="90000"/>
            </a:srgbClr>
          </a:solidFill>
          <a:ln/>
        </p:spPr>
      </p:sp>
      <p:sp>
        <p:nvSpPr>
          <p:cNvPr id="3" name="Shape 1"/>
          <p:cNvSpPr/>
          <p:nvPr/>
        </p:nvSpPr>
        <p:spPr>
          <a:xfrm>
            <a:off x="9052560" y="1874520"/>
            <a:ext cx="2377440" cy="777240"/>
          </a:xfrm>
          <a:prstGeom prst="roundRect">
            <a:avLst>
              <a:gd name="adj" fmla="val 11765"/>
            </a:avLst>
          </a:prstGeom>
          <a:solidFill>
            <a:srgbClr val="065A82">
              <a:alpha val="90000"/>
            </a:srgbClr>
          </a:solidFill>
          <a:ln/>
        </p:spPr>
      </p:sp>
      <p:sp>
        <p:nvSpPr>
          <p:cNvPr id="4" name="Shape 2"/>
          <p:cNvSpPr/>
          <p:nvPr/>
        </p:nvSpPr>
        <p:spPr>
          <a:xfrm>
            <a:off x="9052560" y="2926080"/>
            <a:ext cx="2377440" cy="777240"/>
          </a:xfrm>
          <a:prstGeom prst="roundRect">
            <a:avLst>
              <a:gd name="adj" fmla="val 11765"/>
            </a:avLst>
          </a:prstGeom>
          <a:solidFill>
            <a:srgbClr val="1C7293">
              <a:alpha val="90000"/>
            </a:srgbClr>
          </a:solidFill>
          <a:ln/>
        </p:spPr>
      </p:sp>
      <p:sp>
        <p:nvSpPr>
          <p:cNvPr id="5" name="Shape 3"/>
          <p:cNvSpPr/>
          <p:nvPr/>
        </p:nvSpPr>
        <p:spPr>
          <a:xfrm>
            <a:off x="9052560" y="3977640"/>
            <a:ext cx="2377440" cy="777240"/>
          </a:xfrm>
          <a:prstGeom prst="roundRect">
            <a:avLst>
              <a:gd name="adj" fmla="val 11765"/>
            </a:avLst>
          </a:prstGeom>
          <a:solidFill>
            <a:srgbClr val="065A82">
              <a:alpha val="90000"/>
            </a:srgbClr>
          </a:solidFill>
          <a:ln/>
        </p:spPr>
      </p:sp>
      <p:sp>
        <p:nvSpPr>
          <p:cNvPr id="6" name="Shape 4"/>
          <p:cNvSpPr/>
          <p:nvPr/>
        </p:nvSpPr>
        <p:spPr>
          <a:xfrm>
            <a:off x="9052560" y="5029200"/>
            <a:ext cx="2377440" cy="777240"/>
          </a:xfrm>
          <a:prstGeom prst="roundRect">
            <a:avLst>
              <a:gd name="adj" fmla="val 11765"/>
            </a:avLst>
          </a:prstGeom>
          <a:solidFill>
            <a:srgbClr val="1C7293">
              <a:alpha val="90000"/>
            </a:srgbClr>
          </a:solidFill>
          <a:ln/>
        </p:spPr>
      </p:sp>
      <p:sp>
        <p:nvSpPr>
          <p:cNvPr id="7" name="Text 5"/>
          <p:cNvSpPr/>
          <p:nvPr/>
        </p:nvSpPr>
        <p:spPr>
          <a:xfrm>
            <a:off x="9052560" y="822960"/>
            <a:ext cx="23774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IF</a:t>
            </a:r>
            <a:endParaRPr lang="en-US" sz="2200" dirty="0"/>
          </a:p>
        </p:txBody>
      </p:sp>
      <p:sp>
        <p:nvSpPr>
          <p:cNvPr id="8" name="Text 6"/>
          <p:cNvSpPr/>
          <p:nvPr/>
        </p:nvSpPr>
        <p:spPr>
          <a:xfrm>
            <a:off x="9052560" y="1874520"/>
            <a:ext cx="23774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ID</a:t>
            </a:r>
            <a:endParaRPr lang="en-US" sz="2200" dirty="0"/>
          </a:p>
        </p:txBody>
      </p:sp>
      <p:sp>
        <p:nvSpPr>
          <p:cNvPr id="9" name="Text 7"/>
          <p:cNvSpPr/>
          <p:nvPr/>
        </p:nvSpPr>
        <p:spPr>
          <a:xfrm>
            <a:off x="9052560" y="2926080"/>
            <a:ext cx="23774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EX</a:t>
            </a:r>
            <a:endParaRPr lang="en-US" sz="2200" dirty="0"/>
          </a:p>
        </p:txBody>
      </p:sp>
      <p:sp>
        <p:nvSpPr>
          <p:cNvPr id="10" name="Text 8"/>
          <p:cNvSpPr/>
          <p:nvPr/>
        </p:nvSpPr>
        <p:spPr>
          <a:xfrm>
            <a:off x="9052560" y="3977640"/>
            <a:ext cx="23774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MEM</a:t>
            </a:r>
            <a:endParaRPr lang="en-US" sz="2200" dirty="0"/>
          </a:p>
        </p:txBody>
      </p:sp>
      <p:sp>
        <p:nvSpPr>
          <p:cNvPr id="11" name="Text 9"/>
          <p:cNvSpPr/>
          <p:nvPr/>
        </p:nvSpPr>
        <p:spPr>
          <a:xfrm>
            <a:off x="9052560" y="5029200"/>
            <a:ext cx="23774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WB</a:t>
            </a:r>
            <a:endParaRPr lang="en-US" sz="2200" dirty="0"/>
          </a:p>
        </p:txBody>
      </p:sp>
      <p:sp>
        <p:nvSpPr>
          <p:cNvPr id="12" name="Text 10"/>
          <p:cNvSpPr/>
          <p:nvPr/>
        </p:nvSpPr>
        <p:spPr>
          <a:xfrm>
            <a:off x="640080" y="685800"/>
            <a:ext cx="7772400" cy="365760"/>
          </a:xfrm>
          <a:prstGeom prst="rect">
            <a:avLst/>
          </a:prstGeom>
          <a:noFill/>
          <a:ln/>
        </p:spPr>
        <p:txBody>
          <a:bodyPr wrap="square" lIns="0" tIns="0" rIns="0" bIns="0" rtlCol="0" anchor="ctr"/>
          <a:lstStyle/>
          <a:p>
            <a:pPr indent="0" marL="0">
              <a:buNone/>
            </a:pPr>
            <a:r>
              <a:rPr lang="en-US" sz="1500" b="1" spc="150" kern="0" dirty="0">
                <a:solidFill>
                  <a:srgbClr val="9FD6E8"/>
                </a:solidFill>
                <a:latin typeface="Calibri" pitchFamily="34" charset="0"/>
                <a:ea typeface="Calibri" pitchFamily="34" charset="-122"/>
                <a:cs typeface="Calibri" pitchFamily="34" charset="-120"/>
              </a:rPr>
              <a:t>CSS2257  •  Computer Organization and Architecture</a:t>
            </a:r>
            <a:endParaRPr lang="en-US" sz="1500" dirty="0"/>
          </a:p>
        </p:txBody>
      </p:sp>
      <p:sp>
        <p:nvSpPr>
          <p:cNvPr id="13" name="Text 11"/>
          <p:cNvSpPr/>
          <p:nvPr/>
        </p:nvSpPr>
        <p:spPr>
          <a:xfrm>
            <a:off x="640080" y="1143000"/>
            <a:ext cx="813816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Basic Performance Equation</a:t>
            </a:r>
            <a:endParaRPr lang="en-US" sz="4200" dirty="0"/>
          </a:p>
        </p:txBody>
      </p:sp>
      <p:sp>
        <p:nvSpPr>
          <p:cNvPr id="14" name="Text 12"/>
          <p:cNvSpPr/>
          <p:nvPr/>
        </p:nvSpPr>
        <p:spPr>
          <a:xfrm>
            <a:off x="640080" y="2057400"/>
            <a:ext cx="8138160" cy="54864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Stalls &amp; Penalties  •  Pipeline Depth  •  Clock Rate  •  Performance Metrics</a:t>
            </a:r>
            <a:endParaRPr lang="en-US" sz="1700" dirty="0"/>
          </a:p>
        </p:txBody>
      </p:sp>
      <p:sp>
        <p:nvSpPr>
          <p:cNvPr id="15" name="Shape 13"/>
          <p:cNvSpPr/>
          <p:nvPr/>
        </p:nvSpPr>
        <p:spPr>
          <a:xfrm>
            <a:off x="640080" y="2834640"/>
            <a:ext cx="2926080" cy="0"/>
          </a:xfrm>
          <a:prstGeom prst="line">
            <a:avLst/>
          </a:prstGeom>
          <a:noFill/>
          <a:ln w="25400">
            <a:solidFill>
              <a:srgbClr val="1C7293"/>
            </a:solidFill>
            <a:prstDash val="solid"/>
          </a:ln>
        </p:spPr>
      </p:sp>
      <p:sp>
        <p:nvSpPr>
          <p:cNvPr id="16" name="Text 14"/>
          <p:cNvSpPr/>
          <p:nvPr/>
        </p:nvSpPr>
        <p:spPr>
          <a:xfrm>
            <a:off x="640080" y="3108960"/>
            <a:ext cx="7863840" cy="548640"/>
          </a:xfrm>
          <a:prstGeom prst="rect">
            <a:avLst/>
          </a:prstGeom>
          <a:noFill/>
          <a:ln/>
        </p:spPr>
        <p:txBody>
          <a:bodyPr wrap="square" lIns="0" tIns="0" rIns="0" bIns="0" rtlCol="0" anchor="ctr"/>
          <a:lstStyle/>
          <a:p>
            <a:pPr indent="0" marL="0">
              <a:spcAft>
                <a:spcPts val="600"/>
              </a:spcAft>
              <a:buNone/>
            </a:pPr>
            <a:r>
              <a:rPr lang="en-US" sz="2400" b="1" dirty="0">
                <a:solidFill>
                  <a:srgbClr val="FFFFFF"/>
                </a:solidFill>
                <a:latin typeface="Cambria" pitchFamily="34" charset="0"/>
                <a:ea typeface="Cambria" pitchFamily="34" charset="-122"/>
                <a:cs typeface="Cambria" pitchFamily="34" charset="-120"/>
              </a:rPr>
              <a:t>CPU Time  =  IC  ×  CPI  ×  Clock Cycle Time</a:t>
            </a:r>
            <a:endParaRPr lang="en-US" sz="2400" dirty="0"/>
          </a:p>
        </p:txBody>
      </p:sp>
      <p:sp>
        <p:nvSpPr>
          <p:cNvPr id="17" name="Shape 15"/>
          <p:cNvSpPr/>
          <p:nvPr/>
        </p:nvSpPr>
        <p:spPr>
          <a:xfrm>
            <a:off x="640080" y="3977640"/>
            <a:ext cx="7863840" cy="1920240"/>
          </a:xfrm>
          <a:prstGeom prst="roundRect">
            <a:avLst>
              <a:gd name="adj" fmla="val 3810"/>
            </a:avLst>
          </a:prstGeom>
          <a:solidFill>
            <a:srgbClr val="1A2150"/>
          </a:solidFill>
          <a:ln/>
        </p:spPr>
      </p:sp>
      <p:sp>
        <p:nvSpPr>
          <p:cNvPr id="18" name="Text 16"/>
          <p:cNvSpPr/>
          <p:nvPr/>
        </p:nvSpPr>
        <p:spPr>
          <a:xfrm>
            <a:off x="914400" y="4160520"/>
            <a:ext cx="1828800" cy="365760"/>
          </a:xfrm>
          <a:prstGeom prst="rect">
            <a:avLst/>
          </a:prstGeom>
          <a:noFill/>
          <a:ln/>
        </p:spPr>
        <p:txBody>
          <a:bodyPr wrap="square" lIns="0" tIns="0" rIns="0" bIns="0" rtlCol="0" anchor="ctr"/>
          <a:lstStyle/>
          <a:p>
            <a:pPr indent="0" marL="0">
              <a:buNone/>
            </a:pPr>
            <a:r>
              <a:rPr lang="en-US" sz="1200" dirty="0">
                <a:solidFill>
                  <a:srgbClr val="9FD6E8"/>
                </a:solidFill>
                <a:latin typeface="Calibri" pitchFamily="34" charset="0"/>
                <a:ea typeface="Calibri" pitchFamily="34" charset="-122"/>
                <a:cs typeface="Calibri" pitchFamily="34" charset="-120"/>
              </a:rPr>
              <a:t>University</a:t>
            </a:r>
            <a:endParaRPr lang="en-US" sz="1200" dirty="0"/>
          </a:p>
        </p:txBody>
      </p:sp>
      <p:sp>
        <p:nvSpPr>
          <p:cNvPr id="19" name="Text 17"/>
          <p:cNvSpPr/>
          <p:nvPr/>
        </p:nvSpPr>
        <p:spPr>
          <a:xfrm>
            <a:off x="2743200" y="4160520"/>
            <a:ext cx="5577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Presidency University, Bengaluru</a:t>
            </a:r>
            <a:endParaRPr lang="en-US" sz="1300" dirty="0"/>
          </a:p>
        </p:txBody>
      </p:sp>
      <p:sp>
        <p:nvSpPr>
          <p:cNvPr id="20" name="Text 18"/>
          <p:cNvSpPr/>
          <p:nvPr/>
        </p:nvSpPr>
        <p:spPr>
          <a:xfrm>
            <a:off x="914400" y="4562856"/>
            <a:ext cx="1828800" cy="365760"/>
          </a:xfrm>
          <a:prstGeom prst="rect">
            <a:avLst/>
          </a:prstGeom>
          <a:noFill/>
          <a:ln/>
        </p:spPr>
        <p:txBody>
          <a:bodyPr wrap="square" lIns="0" tIns="0" rIns="0" bIns="0" rtlCol="0" anchor="ctr"/>
          <a:lstStyle/>
          <a:p>
            <a:pPr indent="0" marL="0">
              <a:buNone/>
            </a:pPr>
            <a:r>
              <a:rPr lang="en-US" sz="1200" dirty="0">
                <a:solidFill>
                  <a:srgbClr val="9FD6E8"/>
                </a:solidFill>
                <a:latin typeface="Calibri" pitchFamily="34" charset="0"/>
                <a:ea typeface="Calibri" pitchFamily="34" charset="-122"/>
                <a:cs typeface="Calibri" pitchFamily="34" charset="-120"/>
              </a:rPr>
              <a:t>School</a:t>
            </a:r>
            <a:endParaRPr lang="en-US" sz="1200" dirty="0"/>
          </a:p>
        </p:txBody>
      </p:sp>
      <p:sp>
        <p:nvSpPr>
          <p:cNvPr id="21" name="Text 19"/>
          <p:cNvSpPr/>
          <p:nvPr/>
        </p:nvSpPr>
        <p:spPr>
          <a:xfrm>
            <a:off x="2743200" y="4562856"/>
            <a:ext cx="5577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School of Artificial Intelligence and Advanced Computing</a:t>
            </a:r>
            <a:endParaRPr lang="en-US" sz="1300" dirty="0"/>
          </a:p>
        </p:txBody>
      </p:sp>
      <p:sp>
        <p:nvSpPr>
          <p:cNvPr id="22" name="Text 20"/>
          <p:cNvSpPr/>
          <p:nvPr/>
        </p:nvSpPr>
        <p:spPr>
          <a:xfrm>
            <a:off x="914400" y="4965192"/>
            <a:ext cx="1828800" cy="365760"/>
          </a:xfrm>
          <a:prstGeom prst="rect">
            <a:avLst/>
          </a:prstGeom>
          <a:noFill/>
          <a:ln/>
        </p:spPr>
        <p:txBody>
          <a:bodyPr wrap="square" lIns="0" tIns="0" rIns="0" bIns="0" rtlCol="0" anchor="ctr"/>
          <a:lstStyle/>
          <a:p>
            <a:pPr indent="0" marL="0">
              <a:buNone/>
            </a:pPr>
            <a:r>
              <a:rPr lang="en-US" sz="1200" dirty="0">
                <a:solidFill>
                  <a:srgbClr val="9FD6E8"/>
                </a:solidFill>
                <a:latin typeface="Calibri" pitchFamily="34" charset="0"/>
                <a:ea typeface="Calibri" pitchFamily="34" charset="-122"/>
                <a:cs typeface="Calibri" pitchFamily="34" charset="-120"/>
              </a:rPr>
              <a:t>Department</a:t>
            </a:r>
            <a:endParaRPr lang="en-US" sz="1200" dirty="0"/>
          </a:p>
        </p:txBody>
      </p:sp>
      <p:sp>
        <p:nvSpPr>
          <p:cNvPr id="23" name="Text 21"/>
          <p:cNvSpPr/>
          <p:nvPr/>
        </p:nvSpPr>
        <p:spPr>
          <a:xfrm>
            <a:off x="2743200" y="4965192"/>
            <a:ext cx="5577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Department of AI &amp; Robotics</a:t>
            </a:r>
            <a:endParaRPr lang="en-US" sz="1300" dirty="0"/>
          </a:p>
        </p:txBody>
      </p:sp>
      <p:sp>
        <p:nvSpPr>
          <p:cNvPr id="24" name="Text 22"/>
          <p:cNvSpPr/>
          <p:nvPr/>
        </p:nvSpPr>
        <p:spPr>
          <a:xfrm>
            <a:off x="914400" y="5367528"/>
            <a:ext cx="1828800" cy="365760"/>
          </a:xfrm>
          <a:prstGeom prst="rect">
            <a:avLst/>
          </a:prstGeom>
          <a:noFill/>
          <a:ln/>
        </p:spPr>
        <p:txBody>
          <a:bodyPr wrap="square" lIns="0" tIns="0" rIns="0" bIns="0" rtlCol="0" anchor="ctr"/>
          <a:lstStyle/>
          <a:p>
            <a:pPr indent="0" marL="0">
              <a:buNone/>
            </a:pPr>
            <a:r>
              <a:rPr lang="en-US" sz="1200" dirty="0">
                <a:solidFill>
                  <a:srgbClr val="9FD6E8"/>
                </a:solidFill>
                <a:latin typeface="Calibri" pitchFamily="34" charset="0"/>
                <a:ea typeface="Calibri" pitchFamily="34" charset="-122"/>
                <a:cs typeface="Calibri" pitchFamily="34" charset="-120"/>
              </a:rPr>
              <a:t>Faculty</a:t>
            </a:r>
            <a:endParaRPr lang="en-US" sz="1200" dirty="0"/>
          </a:p>
        </p:txBody>
      </p:sp>
      <p:sp>
        <p:nvSpPr>
          <p:cNvPr id="25" name="Text 23"/>
          <p:cNvSpPr/>
          <p:nvPr/>
        </p:nvSpPr>
        <p:spPr>
          <a:xfrm>
            <a:off x="2743200" y="5367528"/>
            <a:ext cx="5577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Manoj Sagar</a:t>
            </a:r>
            <a:endParaRPr lang="en-US" sz="1300" dirty="0"/>
          </a:p>
        </p:txBody>
      </p:sp>
      <p:sp>
        <p:nvSpPr>
          <p:cNvPr id="26" name="Text 2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C7D0DE"/>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7" name="Text 2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9FD6E8"/>
                </a:solidFill>
                <a:latin typeface="Calibri" pitchFamily="34" charset="0"/>
                <a:ea typeface="Calibri" pitchFamily="34" charset="-122"/>
                <a:cs typeface="Calibri" pitchFamily="34" charset="-120"/>
              </a:rPr>
              <a:t>COURSE INFORMATION</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Where This Lecture Fits</a:t>
            </a:r>
            <a:endParaRPr lang="en-US" sz="3000" dirty="0"/>
          </a:p>
        </p:txBody>
      </p:sp>
      <p:sp>
        <p:nvSpPr>
          <p:cNvPr id="4" name="Shape 2"/>
          <p:cNvSpPr/>
          <p:nvPr/>
        </p:nvSpPr>
        <p:spPr>
          <a:xfrm>
            <a:off x="640080" y="1691640"/>
            <a:ext cx="5212080" cy="1691640"/>
          </a:xfrm>
          <a:prstGeom prst="roundRect">
            <a:avLst>
              <a:gd name="adj" fmla="val 4865"/>
            </a:avLst>
          </a:prstGeom>
          <a:solidFill>
            <a:srgbClr val="1A2150"/>
          </a:solidFill>
          <a:ln/>
        </p:spPr>
      </p:sp>
      <p:sp>
        <p:nvSpPr>
          <p:cNvPr id="5" name="Shape 3"/>
          <p:cNvSpPr/>
          <p:nvPr/>
        </p:nvSpPr>
        <p:spPr>
          <a:xfrm>
            <a:off x="960120" y="2125980"/>
            <a:ext cx="822960" cy="82296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1058875" y="2224735"/>
            <a:ext cx="625450" cy="625450"/>
          </a:xfrm>
          <a:prstGeom prst="rect">
            <a:avLst/>
          </a:prstGeom>
        </p:spPr>
      </p:pic>
      <p:sp>
        <p:nvSpPr>
          <p:cNvPr id="7" name="Text 4"/>
          <p:cNvSpPr/>
          <p:nvPr/>
        </p:nvSpPr>
        <p:spPr>
          <a:xfrm>
            <a:off x="2011680" y="1984248"/>
            <a:ext cx="3566160" cy="320040"/>
          </a:xfrm>
          <a:prstGeom prst="rect">
            <a:avLst/>
          </a:prstGeom>
          <a:noFill/>
          <a:ln/>
        </p:spPr>
        <p:txBody>
          <a:bodyPr wrap="square" lIns="0" tIns="0" rIns="0" bIns="0" rtlCol="0" anchor="ctr"/>
          <a:lstStyle/>
          <a:p>
            <a:pPr indent="0" marL="0">
              <a:buNone/>
            </a:pPr>
            <a:r>
              <a:rPr lang="en-US" sz="1200" b="1" spc="150" kern="0" dirty="0">
                <a:solidFill>
                  <a:srgbClr val="9FD6E8"/>
                </a:solidFill>
                <a:latin typeface="Calibri" pitchFamily="34" charset="0"/>
                <a:ea typeface="Calibri" pitchFamily="34" charset="-122"/>
                <a:cs typeface="Calibri" pitchFamily="34" charset="-120"/>
              </a:rPr>
              <a:t>SUBJECT</a:t>
            </a:r>
            <a:endParaRPr lang="en-US" sz="1200" dirty="0"/>
          </a:p>
        </p:txBody>
      </p:sp>
      <p:sp>
        <p:nvSpPr>
          <p:cNvPr id="8" name="Text 5"/>
          <p:cNvSpPr/>
          <p:nvPr/>
        </p:nvSpPr>
        <p:spPr>
          <a:xfrm>
            <a:off x="2011680" y="2313432"/>
            <a:ext cx="3657600" cy="9144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Computer Organization and Architecture (CSS2257)</a:t>
            </a:r>
            <a:endParaRPr lang="en-US" sz="1500" dirty="0"/>
          </a:p>
        </p:txBody>
      </p:sp>
      <p:sp>
        <p:nvSpPr>
          <p:cNvPr id="9" name="Shape 6"/>
          <p:cNvSpPr/>
          <p:nvPr/>
        </p:nvSpPr>
        <p:spPr>
          <a:xfrm>
            <a:off x="6172200" y="1691640"/>
            <a:ext cx="5212080" cy="1691640"/>
          </a:xfrm>
          <a:prstGeom prst="roundRect">
            <a:avLst>
              <a:gd name="adj" fmla="val 4865"/>
            </a:avLst>
          </a:prstGeom>
          <a:solidFill>
            <a:srgbClr val="1A2150"/>
          </a:solidFill>
          <a:ln/>
        </p:spPr>
      </p:sp>
      <p:sp>
        <p:nvSpPr>
          <p:cNvPr id="10" name="Shape 7"/>
          <p:cNvSpPr/>
          <p:nvPr/>
        </p:nvSpPr>
        <p:spPr>
          <a:xfrm>
            <a:off x="6492240" y="2125980"/>
            <a:ext cx="822960" cy="822960"/>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6590995" y="2224735"/>
            <a:ext cx="625450" cy="625450"/>
          </a:xfrm>
          <a:prstGeom prst="rect">
            <a:avLst/>
          </a:prstGeom>
        </p:spPr>
      </p:pic>
      <p:sp>
        <p:nvSpPr>
          <p:cNvPr id="12" name="Text 8"/>
          <p:cNvSpPr/>
          <p:nvPr/>
        </p:nvSpPr>
        <p:spPr>
          <a:xfrm>
            <a:off x="7543800" y="1984248"/>
            <a:ext cx="3566160" cy="320040"/>
          </a:xfrm>
          <a:prstGeom prst="rect">
            <a:avLst/>
          </a:prstGeom>
          <a:noFill/>
          <a:ln/>
        </p:spPr>
        <p:txBody>
          <a:bodyPr wrap="square" lIns="0" tIns="0" rIns="0" bIns="0" rtlCol="0" anchor="ctr"/>
          <a:lstStyle/>
          <a:p>
            <a:pPr indent="0" marL="0">
              <a:buNone/>
            </a:pPr>
            <a:r>
              <a:rPr lang="en-US" sz="1200" b="1" spc="150" kern="0" dirty="0">
                <a:solidFill>
                  <a:srgbClr val="9FD6E8"/>
                </a:solidFill>
                <a:latin typeface="Calibri" pitchFamily="34" charset="0"/>
                <a:ea typeface="Calibri" pitchFamily="34" charset="-122"/>
                <a:cs typeface="Calibri" pitchFamily="34" charset="-120"/>
              </a:rPr>
              <a:t>SCHOOL</a:t>
            </a:r>
            <a:endParaRPr lang="en-US" sz="1200" dirty="0"/>
          </a:p>
        </p:txBody>
      </p:sp>
      <p:sp>
        <p:nvSpPr>
          <p:cNvPr id="13" name="Text 9"/>
          <p:cNvSpPr/>
          <p:nvPr/>
        </p:nvSpPr>
        <p:spPr>
          <a:xfrm>
            <a:off x="7543800" y="2313432"/>
            <a:ext cx="3657600" cy="9144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School of Artificial Intelligence and Advanced Computing</a:t>
            </a:r>
            <a:endParaRPr lang="en-US" sz="1500" dirty="0"/>
          </a:p>
        </p:txBody>
      </p:sp>
      <p:sp>
        <p:nvSpPr>
          <p:cNvPr id="14" name="Shape 10"/>
          <p:cNvSpPr/>
          <p:nvPr/>
        </p:nvSpPr>
        <p:spPr>
          <a:xfrm>
            <a:off x="640080" y="3657600"/>
            <a:ext cx="5212080" cy="1691640"/>
          </a:xfrm>
          <a:prstGeom prst="roundRect">
            <a:avLst>
              <a:gd name="adj" fmla="val 4865"/>
            </a:avLst>
          </a:prstGeom>
          <a:solidFill>
            <a:srgbClr val="1A2150"/>
          </a:solidFill>
          <a:ln/>
        </p:spPr>
      </p:sp>
      <p:sp>
        <p:nvSpPr>
          <p:cNvPr id="15" name="Shape 11"/>
          <p:cNvSpPr/>
          <p:nvPr/>
        </p:nvSpPr>
        <p:spPr>
          <a:xfrm>
            <a:off x="960120" y="4091940"/>
            <a:ext cx="822960" cy="822960"/>
          </a:xfrm>
          <a:prstGeom prst="ellipse">
            <a:avLst/>
          </a:prstGeom>
          <a:solidFill>
            <a:srgbClr val="065A82"/>
          </a:solidFill>
          <a:ln/>
        </p:spPr>
      </p:sp>
      <p:pic>
        <p:nvPicPr>
          <p:cNvPr id="16" name="Image 2" descr="preencoded.png">    </p:cNvPr>
          <p:cNvPicPr>
            <a:picLocks noChangeAspect="1"/>
          </p:cNvPicPr>
          <p:nvPr/>
        </p:nvPicPr>
        <p:blipFill>
          <a:blip r:embed="rId3"/>
          <a:stretch>
            <a:fillRect/>
          </a:stretch>
        </p:blipFill>
        <p:spPr>
          <a:xfrm>
            <a:off x="1058875" y="4190695"/>
            <a:ext cx="625450" cy="625450"/>
          </a:xfrm>
          <a:prstGeom prst="rect">
            <a:avLst/>
          </a:prstGeom>
        </p:spPr>
      </p:pic>
      <p:sp>
        <p:nvSpPr>
          <p:cNvPr id="17" name="Text 12"/>
          <p:cNvSpPr/>
          <p:nvPr/>
        </p:nvSpPr>
        <p:spPr>
          <a:xfrm>
            <a:off x="2011680" y="3950208"/>
            <a:ext cx="3566160" cy="320040"/>
          </a:xfrm>
          <a:prstGeom prst="rect">
            <a:avLst/>
          </a:prstGeom>
          <a:noFill/>
          <a:ln/>
        </p:spPr>
        <p:txBody>
          <a:bodyPr wrap="square" lIns="0" tIns="0" rIns="0" bIns="0" rtlCol="0" anchor="ctr"/>
          <a:lstStyle/>
          <a:p>
            <a:pPr indent="0" marL="0">
              <a:buNone/>
            </a:pPr>
            <a:r>
              <a:rPr lang="en-US" sz="1200" b="1" spc="150" kern="0" dirty="0">
                <a:solidFill>
                  <a:srgbClr val="9FD6E8"/>
                </a:solidFill>
                <a:latin typeface="Calibri" pitchFamily="34" charset="0"/>
                <a:ea typeface="Calibri" pitchFamily="34" charset="-122"/>
                <a:cs typeface="Calibri" pitchFamily="34" charset="-120"/>
              </a:rPr>
              <a:t>DEPARTMENT</a:t>
            </a:r>
            <a:endParaRPr lang="en-US" sz="1200" dirty="0"/>
          </a:p>
        </p:txBody>
      </p:sp>
      <p:sp>
        <p:nvSpPr>
          <p:cNvPr id="18" name="Text 13"/>
          <p:cNvSpPr/>
          <p:nvPr/>
        </p:nvSpPr>
        <p:spPr>
          <a:xfrm>
            <a:off x="2011680" y="4279392"/>
            <a:ext cx="3657600" cy="9144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Department of AI &amp; Robotics</a:t>
            </a:r>
            <a:endParaRPr lang="en-US" sz="1500" dirty="0"/>
          </a:p>
        </p:txBody>
      </p:sp>
      <p:sp>
        <p:nvSpPr>
          <p:cNvPr id="19" name="Shape 14"/>
          <p:cNvSpPr/>
          <p:nvPr/>
        </p:nvSpPr>
        <p:spPr>
          <a:xfrm>
            <a:off x="6172200" y="3657600"/>
            <a:ext cx="5212080" cy="1691640"/>
          </a:xfrm>
          <a:prstGeom prst="roundRect">
            <a:avLst>
              <a:gd name="adj" fmla="val 4865"/>
            </a:avLst>
          </a:prstGeom>
          <a:solidFill>
            <a:srgbClr val="1A2150"/>
          </a:solidFill>
          <a:ln/>
        </p:spPr>
      </p:sp>
      <p:sp>
        <p:nvSpPr>
          <p:cNvPr id="20" name="Shape 15"/>
          <p:cNvSpPr/>
          <p:nvPr/>
        </p:nvSpPr>
        <p:spPr>
          <a:xfrm>
            <a:off x="6492240" y="4091940"/>
            <a:ext cx="822960" cy="822960"/>
          </a:xfrm>
          <a:prstGeom prst="ellipse">
            <a:avLst/>
          </a:prstGeom>
          <a:solidFill>
            <a:srgbClr val="065A82"/>
          </a:solidFill>
          <a:ln/>
        </p:spPr>
      </p:sp>
      <p:pic>
        <p:nvPicPr>
          <p:cNvPr id="21" name="Image 3" descr="preencoded.png">    </p:cNvPr>
          <p:cNvPicPr>
            <a:picLocks noChangeAspect="1"/>
          </p:cNvPicPr>
          <p:nvPr/>
        </p:nvPicPr>
        <p:blipFill>
          <a:blip r:embed="rId4"/>
          <a:stretch>
            <a:fillRect/>
          </a:stretch>
        </p:blipFill>
        <p:spPr>
          <a:xfrm>
            <a:off x="6590995" y="4190695"/>
            <a:ext cx="625450" cy="625450"/>
          </a:xfrm>
          <a:prstGeom prst="rect">
            <a:avLst/>
          </a:prstGeom>
        </p:spPr>
      </p:pic>
      <p:sp>
        <p:nvSpPr>
          <p:cNvPr id="22" name="Text 16"/>
          <p:cNvSpPr/>
          <p:nvPr/>
        </p:nvSpPr>
        <p:spPr>
          <a:xfrm>
            <a:off x="7543800" y="3950208"/>
            <a:ext cx="3566160" cy="320040"/>
          </a:xfrm>
          <a:prstGeom prst="rect">
            <a:avLst/>
          </a:prstGeom>
          <a:noFill/>
          <a:ln/>
        </p:spPr>
        <p:txBody>
          <a:bodyPr wrap="square" lIns="0" tIns="0" rIns="0" bIns="0" rtlCol="0" anchor="ctr"/>
          <a:lstStyle/>
          <a:p>
            <a:pPr indent="0" marL="0">
              <a:buNone/>
            </a:pPr>
            <a:r>
              <a:rPr lang="en-US" sz="1200" b="1" spc="150" kern="0" dirty="0">
                <a:solidFill>
                  <a:srgbClr val="9FD6E8"/>
                </a:solidFill>
                <a:latin typeface="Calibri" pitchFamily="34" charset="0"/>
                <a:ea typeface="Calibri" pitchFamily="34" charset="-122"/>
                <a:cs typeface="Calibri" pitchFamily="34" charset="-120"/>
              </a:rPr>
              <a:t>FACULTY</a:t>
            </a:r>
            <a:endParaRPr lang="en-US" sz="1200" dirty="0"/>
          </a:p>
        </p:txBody>
      </p:sp>
      <p:sp>
        <p:nvSpPr>
          <p:cNvPr id="23" name="Text 17"/>
          <p:cNvSpPr/>
          <p:nvPr/>
        </p:nvSpPr>
        <p:spPr>
          <a:xfrm>
            <a:off x="7543800" y="4279392"/>
            <a:ext cx="3657600" cy="9144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Manoj Sagar</a:t>
            </a:r>
            <a:endParaRPr lang="en-US" sz="1500" dirty="0"/>
          </a:p>
        </p:txBody>
      </p:sp>
      <p:sp>
        <p:nvSpPr>
          <p:cNvPr id="24" name="Text 18"/>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C7D0DE"/>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5" name="Text 19"/>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26" name="Text 20"/>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C7D0DE"/>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SESSION ROADMAP</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Learning Objectives</a:t>
            </a:r>
            <a:endParaRPr lang="en-US" sz="3200" dirty="0"/>
          </a:p>
        </p:txBody>
      </p:sp>
      <p:sp>
        <p:nvSpPr>
          <p:cNvPr id="4" name="Shape 2"/>
          <p:cNvSpPr/>
          <p:nvPr/>
        </p:nvSpPr>
        <p:spPr>
          <a:xfrm>
            <a:off x="640080" y="1600200"/>
            <a:ext cx="502920" cy="50292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700430" y="1660550"/>
            <a:ext cx="382219" cy="382219"/>
          </a:xfrm>
          <a:prstGeom prst="rect">
            <a:avLst/>
          </a:prstGeom>
        </p:spPr>
      </p:pic>
      <p:sp>
        <p:nvSpPr>
          <p:cNvPr id="6" name="Text 3"/>
          <p:cNvSpPr/>
          <p:nvPr/>
        </p:nvSpPr>
        <p:spPr>
          <a:xfrm>
            <a:off x="1371600" y="1554480"/>
            <a:ext cx="10149840" cy="594360"/>
          </a:xfrm>
          <a:prstGeom prst="rect">
            <a:avLst/>
          </a:prstGeom>
          <a:noFill/>
          <a:ln/>
        </p:spPr>
        <p:txBody>
          <a:bodyPr wrap="square" lIns="0" tIns="0" rIns="0" bIns="0" rtlCol="0" anchor="ctr"/>
          <a:lstStyle/>
          <a:p>
            <a:pPr indent="0" marL="0">
              <a:buNone/>
            </a:pPr>
            <a:r>
              <a:rPr lang="en-US" sz="1600" dirty="0">
                <a:solidFill>
                  <a:srgbClr val="20242C"/>
                </a:solidFill>
                <a:latin typeface="Calibri" pitchFamily="34" charset="0"/>
                <a:ea typeface="Calibri" pitchFamily="34" charset="-122"/>
                <a:cs typeface="Calibri" pitchFamily="34" charset="-120"/>
              </a:rPr>
              <a:t>State and apply the Basic Performance Equation to compute CPU execution time.</a:t>
            </a:r>
            <a:endParaRPr lang="en-US" sz="1600" dirty="0"/>
          </a:p>
        </p:txBody>
      </p:sp>
      <p:sp>
        <p:nvSpPr>
          <p:cNvPr id="7" name="Shape 4"/>
          <p:cNvSpPr/>
          <p:nvPr/>
        </p:nvSpPr>
        <p:spPr>
          <a:xfrm>
            <a:off x="640080" y="2350008"/>
            <a:ext cx="502920" cy="502920"/>
          </a:xfrm>
          <a:prstGeom prst="ellipse">
            <a:avLst/>
          </a:prstGeom>
          <a:solidFill>
            <a:srgbClr val="1C7293"/>
          </a:solidFill>
          <a:ln/>
        </p:spPr>
      </p:sp>
      <p:pic>
        <p:nvPicPr>
          <p:cNvPr id="8" name="Image 1" descr="preencoded.png">    </p:cNvPr>
          <p:cNvPicPr>
            <a:picLocks noChangeAspect="1"/>
          </p:cNvPicPr>
          <p:nvPr/>
        </p:nvPicPr>
        <p:blipFill>
          <a:blip r:embed="rId2"/>
          <a:stretch>
            <a:fillRect/>
          </a:stretch>
        </p:blipFill>
        <p:spPr>
          <a:xfrm>
            <a:off x="700430" y="2410358"/>
            <a:ext cx="382219" cy="382219"/>
          </a:xfrm>
          <a:prstGeom prst="rect">
            <a:avLst/>
          </a:prstGeom>
        </p:spPr>
      </p:pic>
      <p:sp>
        <p:nvSpPr>
          <p:cNvPr id="9" name="Text 5"/>
          <p:cNvSpPr/>
          <p:nvPr/>
        </p:nvSpPr>
        <p:spPr>
          <a:xfrm>
            <a:off x="1371600" y="2304288"/>
            <a:ext cx="10149840" cy="594360"/>
          </a:xfrm>
          <a:prstGeom prst="rect">
            <a:avLst/>
          </a:prstGeom>
          <a:noFill/>
          <a:ln/>
        </p:spPr>
        <p:txBody>
          <a:bodyPr wrap="square" lIns="0" tIns="0" rIns="0" bIns="0" rtlCol="0" anchor="ctr"/>
          <a:lstStyle/>
          <a:p>
            <a:pPr indent="0" marL="0">
              <a:buNone/>
            </a:pPr>
            <a:r>
              <a:rPr lang="en-US" sz="1600" dirty="0">
                <a:solidFill>
                  <a:srgbClr val="20242C"/>
                </a:solidFill>
                <a:latin typeface="Calibri" pitchFamily="34" charset="0"/>
                <a:ea typeface="Calibri" pitchFamily="34" charset="-122"/>
                <a:cs typeface="Calibri" pitchFamily="34" charset="-120"/>
              </a:rPr>
              <a:t>Explain how pipeline stalls and penalties inflate the effective CPI.</a:t>
            </a:r>
            <a:endParaRPr lang="en-US" sz="1600" dirty="0"/>
          </a:p>
        </p:txBody>
      </p:sp>
      <p:sp>
        <p:nvSpPr>
          <p:cNvPr id="10" name="Shape 6"/>
          <p:cNvSpPr/>
          <p:nvPr/>
        </p:nvSpPr>
        <p:spPr>
          <a:xfrm>
            <a:off x="640080" y="3099816"/>
            <a:ext cx="502920" cy="502920"/>
          </a:xfrm>
          <a:prstGeom prst="ellipse">
            <a:avLst/>
          </a:prstGeom>
          <a:solidFill>
            <a:srgbClr val="065A82"/>
          </a:solidFill>
          <a:ln/>
        </p:spPr>
      </p:sp>
      <p:pic>
        <p:nvPicPr>
          <p:cNvPr id="11" name="Image 2" descr="preencoded.png">    </p:cNvPr>
          <p:cNvPicPr>
            <a:picLocks noChangeAspect="1"/>
          </p:cNvPicPr>
          <p:nvPr/>
        </p:nvPicPr>
        <p:blipFill>
          <a:blip r:embed="rId3"/>
          <a:stretch>
            <a:fillRect/>
          </a:stretch>
        </p:blipFill>
        <p:spPr>
          <a:xfrm>
            <a:off x="700430" y="3160166"/>
            <a:ext cx="382219" cy="382219"/>
          </a:xfrm>
          <a:prstGeom prst="rect">
            <a:avLst/>
          </a:prstGeom>
        </p:spPr>
      </p:pic>
      <p:sp>
        <p:nvSpPr>
          <p:cNvPr id="12" name="Text 7"/>
          <p:cNvSpPr/>
          <p:nvPr/>
        </p:nvSpPr>
        <p:spPr>
          <a:xfrm>
            <a:off x="1371600" y="3054096"/>
            <a:ext cx="10149840" cy="594360"/>
          </a:xfrm>
          <a:prstGeom prst="rect">
            <a:avLst/>
          </a:prstGeom>
          <a:noFill/>
          <a:ln/>
        </p:spPr>
        <p:txBody>
          <a:bodyPr wrap="square" lIns="0" tIns="0" rIns="0" bIns="0" rtlCol="0" anchor="ctr"/>
          <a:lstStyle/>
          <a:p>
            <a:pPr indent="0" marL="0">
              <a:buNone/>
            </a:pPr>
            <a:r>
              <a:rPr lang="en-US" sz="1600" dirty="0">
                <a:solidFill>
                  <a:srgbClr val="20242C"/>
                </a:solidFill>
                <a:latin typeface="Calibri" pitchFamily="34" charset="0"/>
                <a:ea typeface="Calibri" pitchFamily="34" charset="-122"/>
                <a:cs typeface="Calibri" pitchFamily="34" charset="-120"/>
              </a:rPr>
              <a:t>Analyze the trade-off between the number of pipeline stages and clock rate.</a:t>
            </a:r>
            <a:endParaRPr lang="en-US" sz="1600" dirty="0"/>
          </a:p>
        </p:txBody>
      </p:sp>
      <p:sp>
        <p:nvSpPr>
          <p:cNvPr id="13" name="Shape 8"/>
          <p:cNvSpPr/>
          <p:nvPr/>
        </p:nvSpPr>
        <p:spPr>
          <a:xfrm>
            <a:off x="640080" y="3849624"/>
            <a:ext cx="502920" cy="502920"/>
          </a:xfrm>
          <a:prstGeom prst="ellipse">
            <a:avLst/>
          </a:prstGeom>
          <a:solidFill>
            <a:srgbClr val="1C7293"/>
          </a:solidFill>
          <a:ln/>
        </p:spPr>
      </p:sp>
      <p:pic>
        <p:nvPicPr>
          <p:cNvPr id="14" name="Image 3" descr="preencoded.png">    </p:cNvPr>
          <p:cNvPicPr>
            <a:picLocks noChangeAspect="1"/>
          </p:cNvPicPr>
          <p:nvPr/>
        </p:nvPicPr>
        <p:blipFill>
          <a:blip r:embed="rId4"/>
          <a:stretch>
            <a:fillRect/>
          </a:stretch>
        </p:blipFill>
        <p:spPr>
          <a:xfrm>
            <a:off x="700430" y="3909974"/>
            <a:ext cx="382219" cy="382219"/>
          </a:xfrm>
          <a:prstGeom prst="rect">
            <a:avLst/>
          </a:prstGeom>
        </p:spPr>
      </p:pic>
      <p:sp>
        <p:nvSpPr>
          <p:cNvPr id="15" name="Text 9"/>
          <p:cNvSpPr/>
          <p:nvPr/>
        </p:nvSpPr>
        <p:spPr>
          <a:xfrm>
            <a:off x="1371600" y="3803904"/>
            <a:ext cx="10149840" cy="594360"/>
          </a:xfrm>
          <a:prstGeom prst="rect">
            <a:avLst/>
          </a:prstGeom>
          <a:noFill/>
          <a:ln/>
        </p:spPr>
        <p:txBody>
          <a:bodyPr wrap="square" lIns="0" tIns="0" rIns="0" bIns="0" rtlCol="0" anchor="ctr"/>
          <a:lstStyle/>
          <a:p>
            <a:pPr indent="0" marL="0">
              <a:buNone/>
            </a:pPr>
            <a:r>
              <a:rPr lang="en-US" sz="1600" dirty="0">
                <a:solidFill>
                  <a:srgbClr val="20242C"/>
                </a:solidFill>
                <a:latin typeface="Calibri" pitchFamily="34" charset="0"/>
                <a:ea typeface="Calibri" pitchFamily="34" charset="-122"/>
                <a:cs typeface="Calibri" pitchFamily="34" charset="-120"/>
              </a:rPr>
              <a:t>Differentiate clock rate from real instruction throughput.</a:t>
            </a:r>
            <a:endParaRPr lang="en-US" sz="1600" dirty="0"/>
          </a:p>
        </p:txBody>
      </p:sp>
      <p:sp>
        <p:nvSpPr>
          <p:cNvPr id="16" name="Shape 10"/>
          <p:cNvSpPr/>
          <p:nvPr/>
        </p:nvSpPr>
        <p:spPr>
          <a:xfrm>
            <a:off x="640080" y="4599432"/>
            <a:ext cx="502920" cy="502920"/>
          </a:xfrm>
          <a:prstGeom prst="ellipse">
            <a:avLst/>
          </a:prstGeom>
          <a:solidFill>
            <a:srgbClr val="065A82"/>
          </a:solidFill>
          <a:ln/>
        </p:spPr>
      </p:sp>
      <p:pic>
        <p:nvPicPr>
          <p:cNvPr id="17" name="Image 4" descr="preencoded.png">    </p:cNvPr>
          <p:cNvPicPr>
            <a:picLocks noChangeAspect="1"/>
          </p:cNvPicPr>
          <p:nvPr/>
        </p:nvPicPr>
        <p:blipFill>
          <a:blip r:embed="rId5"/>
          <a:stretch>
            <a:fillRect/>
          </a:stretch>
        </p:blipFill>
        <p:spPr>
          <a:xfrm>
            <a:off x="700430" y="4659782"/>
            <a:ext cx="382219" cy="382219"/>
          </a:xfrm>
          <a:prstGeom prst="rect">
            <a:avLst/>
          </a:prstGeom>
        </p:spPr>
      </p:pic>
      <p:sp>
        <p:nvSpPr>
          <p:cNvPr id="18" name="Text 11"/>
          <p:cNvSpPr/>
          <p:nvPr/>
        </p:nvSpPr>
        <p:spPr>
          <a:xfrm>
            <a:off x="1371600" y="4553712"/>
            <a:ext cx="10149840" cy="594360"/>
          </a:xfrm>
          <a:prstGeom prst="rect">
            <a:avLst/>
          </a:prstGeom>
          <a:noFill/>
          <a:ln/>
        </p:spPr>
        <p:txBody>
          <a:bodyPr wrap="square" lIns="0" tIns="0" rIns="0" bIns="0" rtlCol="0" anchor="ctr"/>
          <a:lstStyle/>
          <a:p>
            <a:pPr indent="0" marL="0">
              <a:buNone/>
            </a:pPr>
            <a:r>
              <a:rPr lang="en-US" sz="1600" dirty="0">
                <a:solidFill>
                  <a:srgbClr val="20242C"/>
                </a:solidFill>
                <a:latin typeface="Calibri" pitchFamily="34" charset="0"/>
                <a:ea typeface="Calibri" pitchFamily="34" charset="-122"/>
                <a:cs typeface="Calibri" pitchFamily="34" charset="-120"/>
              </a:rPr>
              <a:t>Compute and critique performance using clock speed and instruction execution rate (MIPS).</a:t>
            </a:r>
            <a:endParaRPr lang="en-US" sz="1600" dirty="0"/>
          </a:p>
        </p:txBody>
      </p:sp>
      <p:sp>
        <p:nvSpPr>
          <p:cNvPr id="19" name="Shape 12"/>
          <p:cNvSpPr/>
          <p:nvPr/>
        </p:nvSpPr>
        <p:spPr>
          <a:xfrm>
            <a:off x="640080" y="5349240"/>
            <a:ext cx="502920" cy="502920"/>
          </a:xfrm>
          <a:prstGeom prst="ellipse">
            <a:avLst/>
          </a:prstGeom>
          <a:solidFill>
            <a:srgbClr val="1C7293"/>
          </a:solidFill>
          <a:ln/>
        </p:spPr>
      </p:sp>
      <p:pic>
        <p:nvPicPr>
          <p:cNvPr id="20" name="Image 5" descr="preencoded.png">    </p:cNvPr>
          <p:cNvPicPr>
            <a:picLocks noChangeAspect="1"/>
          </p:cNvPicPr>
          <p:nvPr/>
        </p:nvPicPr>
        <p:blipFill>
          <a:blip r:embed="rId6"/>
          <a:stretch>
            <a:fillRect/>
          </a:stretch>
        </p:blipFill>
        <p:spPr>
          <a:xfrm>
            <a:off x="700430" y="5409590"/>
            <a:ext cx="382219" cy="382219"/>
          </a:xfrm>
          <a:prstGeom prst="rect">
            <a:avLst/>
          </a:prstGeom>
        </p:spPr>
      </p:pic>
      <p:sp>
        <p:nvSpPr>
          <p:cNvPr id="21" name="Text 13"/>
          <p:cNvSpPr/>
          <p:nvPr/>
        </p:nvSpPr>
        <p:spPr>
          <a:xfrm>
            <a:off x="1371600" y="5303520"/>
            <a:ext cx="10149840" cy="594360"/>
          </a:xfrm>
          <a:prstGeom prst="rect">
            <a:avLst/>
          </a:prstGeom>
          <a:noFill/>
          <a:ln/>
        </p:spPr>
        <p:txBody>
          <a:bodyPr wrap="square" lIns="0" tIns="0" rIns="0" bIns="0" rtlCol="0" anchor="ctr"/>
          <a:lstStyle/>
          <a:p>
            <a:pPr indent="0" marL="0">
              <a:buNone/>
            </a:pPr>
            <a:r>
              <a:rPr lang="en-US" sz="1600" dirty="0">
                <a:solidFill>
                  <a:srgbClr val="20242C"/>
                </a:solidFill>
                <a:latin typeface="Calibri" pitchFamily="34" charset="0"/>
                <a:ea typeface="Calibri" pitchFamily="34" charset="-122"/>
                <a:cs typeface="Calibri" pitchFamily="34" charset="-120"/>
              </a:rPr>
              <a:t>Identify common misconceptions when comparing processor performance.</a:t>
            </a:r>
            <a:endParaRPr lang="en-US" sz="1600" dirty="0"/>
          </a:p>
        </p:txBody>
      </p:sp>
      <p:sp>
        <p:nvSpPr>
          <p:cNvPr id="22" name="Text 1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3" name="Text 1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24" name="Text 16"/>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WARM-UP</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Icebreaker: Before We Begin</a:t>
            </a:r>
            <a:endParaRPr lang="en-US" sz="3200" dirty="0"/>
          </a:p>
        </p:txBody>
      </p:sp>
      <p:sp>
        <p:nvSpPr>
          <p:cNvPr id="4" name="Shape 2"/>
          <p:cNvSpPr/>
          <p:nvPr/>
        </p:nvSpPr>
        <p:spPr>
          <a:xfrm>
            <a:off x="9692640" y="685800"/>
            <a:ext cx="1554480" cy="1554480"/>
          </a:xfrm>
          <a:prstGeom prst="ellipse">
            <a:avLst/>
          </a:prstGeom>
          <a:solidFill>
            <a:srgbClr val="D9822B"/>
          </a:solidFill>
          <a:ln/>
        </p:spPr>
      </p:sp>
      <p:pic>
        <p:nvPicPr>
          <p:cNvPr id="5" name="Image 0" descr="preencoded.png">    </p:cNvPr>
          <p:cNvPicPr>
            <a:picLocks noChangeAspect="1"/>
          </p:cNvPicPr>
          <p:nvPr/>
        </p:nvPicPr>
        <p:blipFill>
          <a:blip r:embed="rId1"/>
          <a:stretch>
            <a:fillRect/>
          </a:stretch>
        </p:blipFill>
        <p:spPr>
          <a:xfrm>
            <a:off x="9879178" y="872338"/>
            <a:ext cx="1181405" cy="1181405"/>
          </a:xfrm>
          <a:prstGeom prst="rect">
            <a:avLst/>
          </a:prstGeom>
        </p:spPr>
      </p:pic>
      <p:sp>
        <p:nvSpPr>
          <p:cNvPr id="6" name="Shape 3"/>
          <p:cNvSpPr/>
          <p:nvPr/>
        </p:nvSpPr>
        <p:spPr>
          <a:xfrm>
            <a:off x="640080" y="1737360"/>
            <a:ext cx="10058400" cy="1097280"/>
          </a:xfrm>
          <a:prstGeom prst="roundRect">
            <a:avLst>
              <a:gd name="adj" fmla="val 7500"/>
            </a:avLst>
          </a:prstGeom>
          <a:solidFill>
            <a:srgbClr val="FFFFFF"/>
          </a:solidFill>
          <a:ln w="12700">
            <a:solidFill>
              <a:srgbClr val="E2E6ED"/>
            </a:solidFill>
            <a:prstDash val="solid"/>
          </a:ln>
        </p:spPr>
      </p:sp>
      <p:sp>
        <p:nvSpPr>
          <p:cNvPr id="7" name="Text 4"/>
          <p:cNvSpPr/>
          <p:nvPr/>
        </p:nvSpPr>
        <p:spPr>
          <a:xfrm>
            <a:off x="868680" y="1737360"/>
            <a:ext cx="640080" cy="1097280"/>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Q1</a:t>
            </a:r>
            <a:endParaRPr lang="en-US" sz="2200" dirty="0"/>
          </a:p>
        </p:txBody>
      </p:sp>
      <p:sp>
        <p:nvSpPr>
          <p:cNvPr id="8" name="Text 5"/>
          <p:cNvSpPr/>
          <p:nvPr/>
        </p:nvSpPr>
        <p:spPr>
          <a:xfrm>
            <a:off x="1600200" y="1737360"/>
            <a:ext cx="8869680" cy="1097280"/>
          </a:xfrm>
          <a:prstGeom prst="rect">
            <a:avLst/>
          </a:prstGeom>
          <a:noFill/>
          <a:ln/>
        </p:spPr>
        <p:txBody>
          <a:bodyPr wrap="square" lIns="0" tIns="0" rIns="0" bIns="0" rtlCol="0" anchor="ctr"/>
          <a:lstStyle/>
          <a:p>
            <a:pPr indent="0" marL="0">
              <a:buNone/>
            </a:pPr>
            <a:r>
              <a:rPr lang="en-US" sz="1550" dirty="0">
                <a:solidFill>
                  <a:srgbClr val="20242C"/>
                </a:solidFill>
                <a:latin typeface="Calibri" pitchFamily="34" charset="0"/>
                <a:ea typeface="Calibri" pitchFamily="34" charset="-122"/>
                <a:cs typeface="Calibri" pitchFamily="34" charset="-120"/>
              </a:rPr>
              <a:t>When you shop for a laptop or phone, what number do you look at first -- GHz, RAM, or something else?</a:t>
            </a:r>
            <a:endParaRPr lang="en-US" sz="1550" dirty="0"/>
          </a:p>
        </p:txBody>
      </p:sp>
      <p:sp>
        <p:nvSpPr>
          <p:cNvPr id="9" name="Shape 6"/>
          <p:cNvSpPr/>
          <p:nvPr/>
        </p:nvSpPr>
        <p:spPr>
          <a:xfrm>
            <a:off x="640080" y="3063240"/>
            <a:ext cx="10058400" cy="1097280"/>
          </a:xfrm>
          <a:prstGeom prst="roundRect">
            <a:avLst>
              <a:gd name="adj" fmla="val 7500"/>
            </a:avLst>
          </a:prstGeom>
          <a:solidFill>
            <a:srgbClr val="FFFFFF"/>
          </a:solidFill>
          <a:ln w="12700">
            <a:solidFill>
              <a:srgbClr val="E2E6ED"/>
            </a:solidFill>
            <a:prstDash val="solid"/>
          </a:ln>
        </p:spPr>
      </p:sp>
      <p:sp>
        <p:nvSpPr>
          <p:cNvPr id="10" name="Text 7"/>
          <p:cNvSpPr/>
          <p:nvPr/>
        </p:nvSpPr>
        <p:spPr>
          <a:xfrm>
            <a:off x="868680" y="3063240"/>
            <a:ext cx="640080" cy="1097280"/>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Q2</a:t>
            </a:r>
            <a:endParaRPr lang="en-US" sz="2200" dirty="0"/>
          </a:p>
        </p:txBody>
      </p:sp>
      <p:sp>
        <p:nvSpPr>
          <p:cNvPr id="11" name="Text 8"/>
          <p:cNvSpPr/>
          <p:nvPr/>
        </p:nvSpPr>
        <p:spPr>
          <a:xfrm>
            <a:off x="1600200" y="3063240"/>
            <a:ext cx="8869680" cy="1097280"/>
          </a:xfrm>
          <a:prstGeom prst="rect">
            <a:avLst/>
          </a:prstGeom>
          <a:noFill/>
          <a:ln/>
        </p:spPr>
        <p:txBody>
          <a:bodyPr wrap="square" lIns="0" tIns="0" rIns="0" bIns="0" rtlCol="0" anchor="ctr"/>
          <a:lstStyle/>
          <a:p>
            <a:pPr indent="0" marL="0">
              <a:buNone/>
            </a:pPr>
            <a:r>
              <a:rPr lang="en-US" sz="1550" dirty="0">
                <a:solidFill>
                  <a:srgbClr val="20242C"/>
                </a:solidFill>
                <a:latin typeface="Calibri" pitchFamily="34" charset="0"/>
                <a:ea typeface="Calibri" pitchFamily="34" charset="-122"/>
                <a:cs typeface="Calibri" pitchFamily="34" charset="-120"/>
              </a:rPr>
              <a:t>Have you ever felt a "fast" processor still feel slow while multitasking? Why do you think that happens?</a:t>
            </a:r>
            <a:endParaRPr lang="en-US" sz="1550" dirty="0"/>
          </a:p>
        </p:txBody>
      </p:sp>
      <p:sp>
        <p:nvSpPr>
          <p:cNvPr id="12" name="Shape 9"/>
          <p:cNvSpPr/>
          <p:nvPr/>
        </p:nvSpPr>
        <p:spPr>
          <a:xfrm>
            <a:off x="640080" y="4389120"/>
            <a:ext cx="10058400" cy="1097280"/>
          </a:xfrm>
          <a:prstGeom prst="roundRect">
            <a:avLst>
              <a:gd name="adj" fmla="val 7500"/>
            </a:avLst>
          </a:prstGeom>
          <a:solidFill>
            <a:srgbClr val="FFFFFF"/>
          </a:solidFill>
          <a:ln w="12700">
            <a:solidFill>
              <a:srgbClr val="E2E6ED"/>
            </a:solidFill>
            <a:prstDash val="solid"/>
          </a:ln>
        </p:spPr>
      </p:sp>
      <p:sp>
        <p:nvSpPr>
          <p:cNvPr id="13" name="Text 10"/>
          <p:cNvSpPr/>
          <p:nvPr/>
        </p:nvSpPr>
        <p:spPr>
          <a:xfrm>
            <a:off x="868680" y="4389120"/>
            <a:ext cx="640080" cy="1097280"/>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Q3</a:t>
            </a:r>
            <a:endParaRPr lang="en-US" sz="2200" dirty="0"/>
          </a:p>
        </p:txBody>
      </p:sp>
      <p:sp>
        <p:nvSpPr>
          <p:cNvPr id="14" name="Text 11"/>
          <p:cNvSpPr/>
          <p:nvPr/>
        </p:nvSpPr>
        <p:spPr>
          <a:xfrm>
            <a:off x="1600200" y="4389120"/>
            <a:ext cx="8869680" cy="1097280"/>
          </a:xfrm>
          <a:prstGeom prst="rect">
            <a:avLst/>
          </a:prstGeom>
          <a:noFill/>
          <a:ln/>
        </p:spPr>
        <p:txBody>
          <a:bodyPr wrap="square" lIns="0" tIns="0" rIns="0" bIns="0" rtlCol="0" anchor="ctr"/>
          <a:lstStyle/>
          <a:p>
            <a:pPr indent="0" marL="0">
              <a:buNone/>
            </a:pPr>
            <a:r>
              <a:rPr lang="en-US" sz="1550" dirty="0">
                <a:solidFill>
                  <a:srgbClr val="20242C"/>
                </a:solidFill>
                <a:latin typeface="Calibri" pitchFamily="34" charset="0"/>
                <a:ea typeface="Calibri" pitchFamily="34" charset="-122"/>
                <a:cs typeface="Calibri" pitchFamily="34" charset="-120"/>
              </a:rPr>
              <a:t>If Processor A runs at 4 GHz and Processor B at 2 GHz, is A definitely faster? Quick show of hands.</a:t>
            </a:r>
            <a:endParaRPr lang="en-US" sz="1550" dirty="0"/>
          </a:p>
        </p:txBody>
      </p:sp>
      <p:sp>
        <p:nvSpPr>
          <p:cNvPr id="15" name="Text 12"/>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6" name="Text 13"/>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7" name="Text 14"/>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Why This Topic Matters</a:t>
            </a:r>
            <a:endParaRPr lang="en-US" sz="3200" dirty="0"/>
          </a:p>
        </p:txBody>
      </p:sp>
      <p:sp>
        <p:nvSpPr>
          <p:cNvPr id="4" name="Text 2"/>
          <p:cNvSpPr/>
          <p:nvPr/>
        </p:nvSpPr>
        <p:spPr>
          <a:xfrm>
            <a:off x="640080" y="1691640"/>
            <a:ext cx="6492240" cy="4297680"/>
          </a:xfrm>
          <a:prstGeom prst="rect">
            <a:avLst/>
          </a:prstGeom>
          <a:noFill/>
          <a:ln/>
        </p:spPr>
        <p:txBody>
          <a:bodyPr wrap="square" lIns="0" tIns="0" rIns="0" bIns="0" rtlCol="0" anchor="t"/>
          <a:lstStyle/>
          <a:p>
            <a:pPr algn="l" marL="342900" indent="-342900">
              <a:lnSpc>
                <a:spcPct val="115000"/>
              </a:lnSpc>
              <a:spcAft>
                <a:spcPts val="2200"/>
              </a:spcAft>
              <a:buSzPct val="100000"/>
              <a:buChar char="•"/>
            </a:pPr>
            <a:r>
              <a:rPr lang="en-US" sz="1650" dirty="0">
                <a:solidFill>
                  <a:srgbClr val="20242C"/>
                </a:solidFill>
                <a:latin typeface="Calibri" pitchFamily="34" charset="0"/>
                <a:ea typeface="Calibri" pitchFamily="34" charset="-122"/>
                <a:cs typeface="Calibri" pitchFamily="34" charset="-120"/>
              </a:rPr>
              <a:t>Every performance claim you see -- "30% faster," "2x GHz," "10,000 MIPS" -- has to be interpreted through a formula, not taken at face value.</a:t>
            </a:r>
            <a:endParaRPr lang="en-US" sz="1650" dirty="0"/>
          </a:p>
          <a:p>
            <a:pPr algn="l" marL="342900" indent="-342900">
              <a:lnSpc>
                <a:spcPct val="115000"/>
              </a:lnSpc>
              <a:spcAft>
                <a:spcPts val="2200"/>
              </a:spcAft>
              <a:buSzPct val="100000"/>
              <a:buChar char="•"/>
            </a:pPr>
            <a:r>
              <a:rPr lang="en-US" sz="1650" dirty="0">
                <a:solidFill>
                  <a:srgbClr val="20242C"/>
                </a:solidFill>
                <a:latin typeface="Calibri" pitchFamily="34" charset="0"/>
                <a:ea typeface="Calibri" pitchFamily="34" charset="-122"/>
                <a:cs typeface="Calibri" pitchFamily="34" charset="-120"/>
              </a:rPr>
              <a:t>Chip designers spend billions of dollars deciding pipeline depth: too shallow wastes clock speed potential, too deep multiplies stall penalties.</a:t>
            </a:r>
            <a:endParaRPr lang="en-US" sz="1650" dirty="0"/>
          </a:p>
          <a:p>
            <a:pPr algn="l" marL="342900" indent="-342900">
              <a:lnSpc>
                <a:spcPct val="115000"/>
              </a:lnSpc>
              <a:spcAft>
                <a:spcPts val="2200"/>
              </a:spcAft>
              <a:buSzPct val="100000"/>
              <a:buChar char="•"/>
            </a:pPr>
            <a:r>
              <a:rPr lang="en-US" sz="1650" dirty="0">
                <a:solidFill>
                  <a:srgbClr val="20242C"/>
                </a:solidFill>
                <a:latin typeface="Calibri" pitchFamily="34" charset="0"/>
                <a:ea typeface="Calibri" pitchFamily="34" charset="-122"/>
                <a:cs typeface="Calibri" pitchFamily="34" charset="-120"/>
              </a:rPr>
              <a:t>Compiler and OS engineers tune code specifically to reduce CPI -- fewer branch mispredictions, fewer memory stalls -- because CPI, not just clock rate, drives real-world speed.</a:t>
            </a:r>
            <a:endParaRPr lang="en-US" sz="1650" dirty="0"/>
          </a:p>
          <a:p>
            <a:pPr algn="l" marL="342900" indent="-342900">
              <a:lnSpc>
                <a:spcPct val="115000"/>
              </a:lnSpc>
              <a:spcAft>
                <a:spcPts val="2200"/>
              </a:spcAft>
              <a:buSzPct val="100000"/>
              <a:buChar char="•"/>
            </a:pPr>
            <a:r>
              <a:rPr lang="en-US" sz="1650" dirty="0">
                <a:solidFill>
                  <a:srgbClr val="20242C"/>
                </a:solidFill>
                <a:latin typeface="Calibri" pitchFamily="34" charset="0"/>
                <a:ea typeface="Calibri" pitchFamily="34" charset="-122"/>
                <a:cs typeface="Calibri" pitchFamily="34" charset="-120"/>
              </a:rPr>
              <a:t>Interview and exam questions in computer architecture almost always come back to this one equation, in disguise.</a:t>
            </a:r>
            <a:endParaRPr lang="en-US" sz="1650" dirty="0"/>
          </a:p>
        </p:txBody>
      </p:sp>
      <p:sp>
        <p:nvSpPr>
          <p:cNvPr id="5" name="Shape 3"/>
          <p:cNvSpPr/>
          <p:nvPr/>
        </p:nvSpPr>
        <p:spPr>
          <a:xfrm>
            <a:off x="7635240" y="1920240"/>
            <a:ext cx="1005840" cy="100584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7755941" y="2040941"/>
            <a:ext cx="764438" cy="764438"/>
          </a:xfrm>
          <a:prstGeom prst="rect">
            <a:avLst/>
          </a:prstGeom>
        </p:spPr>
      </p:pic>
      <p:sp>
        <p:nvSpPr>
          <p:cNvPr id="7" name="Shape 4"/>
          <p:cNvSpPr/>
          <p:nvPr/>
        </p:nvSpPr>
        <p:spPr>
          <a:xfrm>
            <a:off x="7406640" y="3108960"/>
            <a:ext cx="3840480" cy="2743200"/>
          </a:xfrm>
          <a:prstGeom prst="roundRect">
            <a:avLst>
              <a:gd name="adj" fmla="val 3000"/>
            </a:avLst>
          </a:prstGeom>
          <a:solidFill>
            <a:srgbClr val="21295C"/>
          </a:solidFill>
          <a:ln/>
        </p:spPr>
      </p:sp>
      <p:sp>
        <p:nvSpPr>
          <p:cNvPr id="8" name="Text 5"/>
          <p:cNvSpPr/>
          <p:nvPr/>
        </p:nvSpPr>
        <p:spPr>
          <a:xfrm>
            <a:off x="7680960" y="3291840"/>
            <a:ext cx="3383280" cy="365760"/>
          </a:xfrm>
          <a:prstGeom prst="rect">
            <a:avLst/>
          </a:prstGeom>
          <a:noFill/>
          <a:ln/>
        </p:spPr>
        <p:txBody>
          <a:bodyPr wrap="square" lIns="0" tIns="0" rIns="0" bIns="0" rtlCol="0" anchor="ctr"/>
          <a:lstStyle/>
          <a:p>
            <a:pPr indent="0" marL="0">
              <a:buNone/>
            </a:pPr>
            <a:r>
              <a:rPr lang="en-US" sz="1300" b="1" dirty="0">
                <a:solidFill>
                  <a:srgbClr val="9FD6E8"/>
                </a:solidFill>
                <a:latin typeface="Calibri" pitchFamily="34" charset="0"/>
                <a:ea typeface="Calibri" pitchFamily="34" charset="-122"/>
                <a:cs typeface="Calibri" pitchFamily="34" charset="-120"/>
              </a:rPr>
              <a:t>Real-world stakes</a:t>
            </a:r>
            <a:endParaRPr lang="en-US" sz="1300" dirty="0"/>
          </a:p>
        </p:txBody>
      </p:sp>
      <p:sp>
        <p:nvSpPr>
          <p:cNvPr id="9" name="Text 6"/>
          <p:cNvSpPr/>
          <p:nvPr/>
        </p:nvSpPr>
        <p:spPr>
          <a:xfrm>
            <a:off x="7680960" y="3657600"/>
            <a:ext cx="3383280" cy="2103120"/>
          </a:xfrm>
          <a:prstGeom prst="rect">
            <a:avLst/>
          </a:prstGeom>
          <a:noFill/>
          <a:ln/>
        </p:spPr>
        <p:txBody>
          <a:bodyPr wrap="square" lIns="0" tIns="0" rIns="0" bIns="0" rtlCol="0" anchor="t"/>
          <a:lstStyle/>
          <a:p>
            <a:pPr indent="0" marL="0">
              <a:spcAft>
                <a:spcPts val="1000"/>
              </a:spcAft>
              <a:buNone/>
            </a:pPr>
            <a:r>
              <a:rPr lang="en-US" sz="1400" dirty="0">
                <a:solidFill>
                  <a:srgbClr val="FFFFFF"/>
                </a:solidFill>
              </a:rPr>
              <a:t>A single extra pipeline stall per instruction, at 3 GHz, over a billion instructions, costs real seconds users can feel.</a:t>
            </a:r>
            <a:endParaRPr lang="en-US" sz="1400" dirty="0"/>
          </a:p>
          <a:p>
            <a:pPr indent="0" marL="0">
              <a:buNone/>
            </a:pPr>
            <a:r>
              <a:rPr lang="en-US" sz="1400" dirty="0">
                <a:solidFill>
                  <a:srgbClr val="FFFFFF"/>
                </a:solidFill>
              </a:rPr>
              <a:t>Data centers pay for every wasted cycle -- in electricity and in cooling.</a:t>
            </a:r>
            <a:endParaRPr lang="en-US" sz="1400" dirty="0"/>
          </a:p>
        </p:txBody>
      </p:sp>
      <p:sp>
        <p:nvSpPr>
          <p:cNvPr id="10" name="Text 7"/>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1" name="Text 8"/>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2" name="Text 9"/>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FOUNDATIONS</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Recap: What Is CPU Time?</a:t>
            </a:r>
            <a:endParaRPr lang="en-US" sz="3200" dirty="0"/>
          </a:p>
        </p:txBody>
      </p:sp>
      <p:sp>
        <p:nvSpPr>
          <p:cNvPr id="4" name="Text 2"/>
          <p:cNvSpPr/>
          <p:nvPr/>
        </p:nvSpPr>
        <p:spPr>
          <a:xfrm>
            <a:off x="640080" y="1691640"/>
            <a:ext cx="6309360" cy="4114800"/>
          </a:xfrm>
          <a:prstGeom prst="rect">
            <a:avLst/>
          </a:prstGeom>
          <a:noFill/>
          <a:ln/>
        </p:spPr>
        <p:txBody>
          <a:bodyPr wrap="square" lIns="0" tIns="0" rIns="0" bIns="0" rtlCol="0" anchor="t"/>
          <a:lstStyle/>
          <a:p>
            <a:pPr algn="l" marL="342900" indent="-342900">
              <a:lnSpc>
                <a:spcPct val="115000"/>
              </a:lnSpc>
              <a:spcAft>
                <a:spcPts val="2000"/>
              </a:spcAft>
              <a:buSzPct val="100000"/>
              <a:buChar char="•"/>
            </a:pPr>
            <a:r>
              <a:rPr lang="en-US" sz="1650" dirty="0">
                <a:solidFill>
                  <a:srgbClr val="20242C"/>
                </a:solidFill>
                <a:latin typeface="Calibri" pitchFamily="34" charset="0"/>
                <a:ea typeface="Calibri" pitchFamily="34" charset="-122"/>
                <a:cs typeface="Calibri" pitchFamily="34" charset="-120"/>
              </a:rPr>
              <a:t>CPU Time (or CPU Execution Time) is the total time the processor spends actively executing a given program.</a:t>
            </a:r>
            <a:endParaRPr lang="en-US" sz="1650" dirty="0"/>
          </a:p>
          <a:p>
            <a:pPr algn="l" marL="342900" indent="-342900">
              <a:lnSpc>
                <a:spcPct val="115000"/>
              </a:lnSpc>
              <a:spcAft>
                <a:spcPts val="2000"/>
              </a:spcAft>
              <a:buSzPct val="100000"/>
              <a:buChar char="•"/>
            </a:pPr>
            <a:r>
              <a:rPr lang="en-US" sz="1650" dirty="0">
                <a:solidFill>
                  <a:srgbClr val="20242C"/>
                </a:solidFill>
                <a:latin typeface="Calibri" pitchFamily="34" charset="0"/>
                <a:ea typeface="Calibri" pitchFamily="34" charset="-122"/>
                <a:cs typeface="Calibri" pitchFamily="34" charset="-120"/>
              </a:rPr>
              <a:t>It excludes time waiting on I/O, waiting for the OS scheduler, or sitting idle -- it is purely the processor’s own working time.</a:t>
            </a:r>
            <a:endParaRPr lang="en-US" sz="1650" dirty="0"/>
          </a:p>
          <a:p>
            <a:pPr algn="l" marL="342900" indent="-342900">
              <a:lnSpc>
                <a:spcPct val="115000"/>
              </a:lnSpc>
              <a:spcAft>
                <a:spcPts val="2000"/>
              </a:spcAft>
              <a:buSzPct val="100000"/>
              <a:buChar char="•"/>
            </a:pPr>
            <a:r>
              <a:rPr lang="en-US" sz="1650" dirty="0">
                <a:solidFill>
                  <a:srgbClr val="20242C"/>
                </a:solidFill>
                <a:latin typeface="Calibri" pitchFamily="34" charset="0"/>
                <a:ea typeface="Calibri" pitchFamily="34" charset="-122"/>
                <a:cs typeface="Calibri" pitchFamily="34" charset="-120"/>
              </a:rPr>
              <a:t>It is measured in seconds, and it is the single most honest measure of "how long did this program take to run on this chip."</a:t>
            </a:r>
            <a:endParaRPr lang="en-US" sz="1650" dirty="0"/>
          </a:p>
          <a:p>
            <a:pPr algn="l" marL="342900" indent="-342900">
              <a:lnSpc>
                <a:spcPct val="115000"/>
              </a:lnSpc>
              <a:spcAft>
                <a:spcPts val="2000"/>
              </a:spcAft>
              <a:buSzPct val="100000"/>
              <a:buChar char="•"/>
            </a:pPr>
            <a:r>
              <a:rPr lang="en-US" sz="1650" dirty="0">
                <a:solidFill>
                  <a:srgbClr val="20242C"/>
                </a:solidFill>
                <a:latin typeface="Calibri" pitchFamily="34" charset="0"/>
                <a:ea typeface="Calibri" pitchFamily="34" charset="-122"/>
                <a:cs typeface="Calibri" pitchFamily="34" charset="-120"/>
              </a:rPr>
              <a:t>Everything we do today is really about predicting and reducing this one number.</a:t>
            </a:r>
            <a:endParaRPr lang="en-US" sz="1650" dirty="0"/>
          </a:p>
        </p:txBody>
      </p:sp>
      <p:sp>
        <p:nvSpPr>
          <p:cNvPr id="5" name="Shape 3"/>
          <p:cNvSpPr/>
          <p:nvPr/>
        </p:nvSpPr>
        <p:spPr>
          <a:xfrm>
            <a:off x="7315200" y="1828800"/>
            <a:ext cx="3931920" cy="3291840"/>
          </a:xfrm>
          <a:prstGeom prst="roundRect">
            <a:avLst>
              <a:gd name="adj" fmla="val 2778"/>
            </a:avLst>
          </a:prstGeom>
          <a:solidFill>
            <a:srgbClr val="F7F8FA"/>
          </a:solidFill>
          <a:ln w="12700">
            <a:solidFill>
              <a:srgbClr val="E2E6ED"/>
            </a:solidFill>
            <a:prstDash val="solid"/>
          </a:ln>
        </p:spPr>
      </p:sp>
      <p:sp>
        <p:nvSpPr>
          <p:cNvPr id="6" name="Shape 4"/>
          <p:cNvSpPr/>
          <p:nvPr/>
        </p:nvSpPr>
        <p:spPr>
          <a:xfrm>
            <a:off x="7589520" y="2148840"/>
            <a:ext cx="822960" cy="822960"/>
          </a:xfrm>
          <a:prstGeom prst="ellipse">
            <a:avLst/>
          </a:prstGeom>
          <a:solidFill>
            <a:srgbClr val="1C7293"/>
          </a:solidFill>
          <a:ln/>
        </p:spPr>
      </p:sp>
      <p:pic>
        <p:nvPicPr>
          <p:cNvPr id="7" name="Image 0" descr="preencoded.png">    </p:cNvPr>
          <p:cNvPicPr>
            <a:picLocks noChangeAspect="1"/>
          </p:cNvPicPr>
          <p:nvPr/>
        </p:nvPicPr>
        <p:blipFill>
          <a:blip r:embed="rId1"/>
          <a:stretch>
            <a:fillRect/>
          </a:stretch>
        </p:blipFill>
        <p:spPr>
          <a:xfrm>
            <a:off x="7688275" y="2247595"/>
            <a:ext cx="625450" cy="625450"/>
          </a:xfrm>
          <a:prstGeom prst="rect">
            <a:avLst/>
          </a:prstGeom>
        </p:spPr>
      </p:pic>
      <p:sp>
        <p:nvSpPr>
          <p:cNvPr id="8" name="Text 5"/>
          <p:cNvSpPr/>
          <p:nvPr/>
        </p:nvSpPr>
        <p:spPr>
          <a:xfrm>
            <a:off x="7589520" y="3108960"/>
            <a:ext cx="3383280" cy="36576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CPU Time</a:t>
            </a:r>
            <a:endParaRPr lang="en-US" sz="1400" dirty="0"/>
          </a:p>
        </p:txBody>
      </p:sp>
      <p:sp>
        <p:nvSpPr>
          <p:cNvPr id="9" name="Text 6"/>
          <p:cNvSpPr/>
          <p:nvPr/>
        </p:nvSpPr>
        <p:spPr>
          <a:xfrm>
            <a:off x="7589520" y="3520440"/>
            <a:ext cx="3383280" cy="1463040"/>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The wall-clock seconds the CPU itself spends executing your program’s instructions -- start to finish.</a:t>
            </a:r>
            <a:endParaRPr lang="en-US" sz="1350" dirty="0"/>
          </a:p>
        </p:txBody>
      </p:sp>
      <p:sp>
        <p:nvSpPr>
          <p:cNvPr id="10" name="Text 7"/>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1" name="Text 8"/>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2" name="Text 9"/>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KEY TERM 1 OF 3</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Instruction Count (IC)</a:t>
            </a:r>
            <a:endParaRPr lang="en-US" sz="3200" dirty="0"/>
          </a:p>
        </p:txBody>
      </p:sp>
      <p:sp>
        <p:nvSpPr>
          <p:cNvPr id="4" name="Shape 2"/>
          <p:cNvSpPr/>
          <p:nvPr/>
        </p:nvSpPr>
        <p:spPr>
          <a:xfrm>
            <a:off x="9601200" y="1737360"/>
            <a:ext cx="1463040" cy="146304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9776765" y="1912925"/>
            <a:ext cx="1111910" cy="1111910"/>
          </a:xfrm>
          <a:prstGeom prst="rect">
            <a:avLst/>
          </a:prstGeom>
        </p:spPr>
      </p:pic>
      <p:sp>
        <p:nvSpPr>
          <p:cNvPr id="6" name="Text 3"/>
          <p:cNvSpPr/>
          <p:nvPr/>
        </p:nvSpPr>
        <p:spPr>
          <a:xfrm>
            <a:off x="640080" y="1691640"/>
            <a:ext cx="8503920" cy="4206240"/>
          </a:xfrm>
          <a:prstGeom prst="rect">
            <a:avLst/>
          </a:prstGeom>
          <a:noFill/>
          <a:ln/>
        </p:spPr>
        <p:txBody>
          <a:bodyPr wrap="square" lIns="0" tIns="0" rIns="0" bIns="0" rtlCol="0" anchor="t"/>
          <a:lstStyle/>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The total number of machine instructions actually executed while running the program -- not the number of lines in the source code.</a:t>
            </a:r>
            <a:endParaRPr lang="en-US" sz="1650" dirty="0"/>
          </a:p>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Depends heavily on the algorithm and the instruction set architecture (ISA): a loop that runs 1,000 times contributes 1,000× its body’s instructions.</a:t>
            </a:r>
            <a:endParaRPr lang="en-US" sz="1650" dirty="0"/>
          </a:p>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A single high-level statement can expand into many machine instructions, and that expansion factor changes with compiler optimization.</a:t>
            </a:r>
            <a:endParaRPr lang="en-US" sz="1650" dirty="0"/>
          </a:p>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Symbol: IC. Typical scale: millions to billions of instructions for real programs.</a:t>
            </a:r>
            <a:endParaRPr lang="en-US" sz="1650" dirty="0"/>
          </a:p>
        </p:txBody>
      </p:sp>
      <p:sp>
        <p:nvSpPr>
          <p:cNvPr id="7" name="Text 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8" name="Text 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9" name="Text 6"/>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KEY TERM 2 OF 3</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CPI — Cycles Per Instruction</a:t>
            </a:r>
            <a:endParaRPr lang="en-US" sz="3200" dirty="0"/>
          </a:p>
        </p:txBody>
      </p:sp>
      <p:sp>
        <p:nvSpPr>
          <p:cNvPr id="4" name="Shape 2"/>
          <p:cNvSpPr/>
          <p:nvPr/>
        </p:nvSpPr>
        <p:spPr>
          <a:xfrm>
            <a:off x="9601200" y="1737360"/>
            <a:ext cx="1463040" cy="1463040"/>
          </a:xfrm>
          <a:prstGeom prst="ellipse">
            <a:avLst/>
          </a:prstGeom>
          <a:solidFill>
            <a:srgbClr val="1C7293"/>
          </a:solidFill>
          <a:ln/>
        </p:spPr>
      </p:sp>
      <p:pic>
        <p:nvPicPr>
          <p:cNvPr id="5" name="Image 0" descr="preencoded.png">    </p:cNvPr>
          <p:cNvPicPr>
            <a:picLocks noChangeAspect="1"/>
          </p:cNvPicPr>
          <p:nvPr/>
        </p:nvPicPr>
        <p:blipFill>
          <a:blip r:embed="rId1"/>
          <a:stretch>
            <a:fillRect/>
          </a:stretch>
        </p:blipFill>
        <p:spPr>
          <a:xfrm>
            <a:off x="9776765" y="1912925"/>
            <a:ext cx="1111910" cy="1111910"/>
          </a:xfrm>
          <a:prstGeom prst="rect">
            <a:avLst/>
          </a:prstGeom>
        </p:spPr>
      </p:pic>
      <p:sp>
        <p:nvSpPr>
          <p:cNvPr id="6" name="Text 3"/>
          <p:cNvSpPr/>
          <p:nvPr/>
        </p:nvSpPr>
        <p:spPr>
          <a:xfrm>
            <a:off x="640080" y="1691640"/>
            <a:ext cx="8503920" cy="4206240"/>
          </a:xfrm>
          <a:prstGeom prst="rect">
            <a:avLst/>
          </a:prstGeom>
          <a:noFill/>
          <a:ln/>
        </p:spPr>
        <p:txBody>
          <a:bodyPr wrap="square" lIns="0" tIns="0" rIns="0" bIns="0" rtlCol="0" anchor="t"/>
          <a:lstStyle/>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The average number of clock cycles it takes to execute one instruction, averaged across the whole program.</a:t>
            </a:r>
            <a:endParaRPr lang="en-US" sz="1650" dirty="0"/>
          </a:p>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In an ideal, hazard-free pipeline, CPI approaches 1 -- one instruction finishes roughly every cycle.</a:t>
            </a:r>
            <a:endParaRPr lang="en-US" sz="1650" dirty="0"/>
          </a:p>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Real CPI is almost always higher than ideal, because of pipeline stalls, cache misses, and branch mispredictions -- the exact topic of our next section.</a:t>
            </a:r>
            <a:endParaRPr lang="en-US" sz="1650" dirty="0"/>
          </a:p>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Symbol: CPI. Formula: CPI = Total Clock Cycles ÷ Instruction Count.</a:t>
            </a:r>
            <a:endParaRPr lang="en-US" sz="1650" dirty="0"/>
          </a:p>
        </p:txBody>
      </p:sp>
      <p:sp>
        <p:nvSpPr>
          <p:cNvPr id="7" name="Text 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8" name="Text 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9" name="Text 6"/>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KEY TERM 3 OF 3</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Clock Cycle Time &amp; Clock Rate</a:t>
            </a:r>
            <a:endParaRPr lang="en-US" sz="3200" dirty="0"/>
          </a:p>
        </p:txBody>
      </p:sp>
      <p:sp>
        <p:nvSpPr>
          <p:cNvPr id="4" name="Shape 2"/>
          <p:cNvSpPr/>
          <p:nvPr/>
        </p:nvSpPr>
        <p:spPr>
          <a:xfrm>
            <a:off x="9601200" y="1737360"/>
            <a:ext cx="1463040" cy="1463040"/>
          </a:xfrm>
          <a:prstGeom prst="ellipse">
            <a:avLst/>
          </a:prstGeom>
          <a:solidFill>
            <a:srgbClr val="21295C"/>
          </a:solidFill>
          <a:ln/>
        </p:spPr>
      </p:sp>
      <p:pic>
        <p:nvPicPr>
          <p:cNvPr id="5" name="Image 0" descr="preencoded.png">    </p:cNvPr>
          <p:cNvPicPr>
            <a:picLocks noChangeAspect="1"/>
          </p:cNvPicPr>
          <p:nvPr/>
        </p:nvPicPr>
        <p:blipFill>
          <a:blip r:embed="rId1"/>
          <a:stretch>
            <a:fillRect/>
          </a:stretch>
        </p:blipFill>
        <p:spPr>
          <a:xfrm>
            <a:off x="9776765" y="1912925"/>
            <a:ext cx="1111910" cy="1111910"/>
          </a:xfrm>
          <a:prstGeom prst="rect">
            <a:avLst/>
          </a:prstGeom>
        </p:spPr>
      </p:pic>
      <p:sp>
        <p:nvSpPr>
          <p:cNvPr id="6" name="Text 3"/>
          <p:cNvSpPr/>
          <p:nvPr/>
        </p:nvSpPr>
        <p:spPr>
          <a:xfrm>
            <a:off x="640080" y="1691640"/>
            <a:ext cx="8503920" cy="4206240"/>
          </a:xfrm>
          <a:prstGeom prst="rect">
            <a:avLst/>
          </a:prstGeom>
          <a:noFill/>
          <a:ln/>
        </p:spPr>
        <p:txBody>
          <a:bodyPr wrap="square" lIns="0" tIns="0" rIns="0" bIns="0" rtlCol="0" anchor="t"/>
          <a:lstStyle/>
          <a:p>
            <a:pPr algn="l" marL="342900" indent="-342900">
              <a:lnSpc>
                <a:spcPct val="115000"/>
              </a:lnSpc>
              <a:spcAft>
                <a:spcPts val="1600"/>
              </a:spcAft>
              <a:buSzPct val="100000"/>
              <a:buChar char="•"/>
            </a:pPr>
            <a:r>
              <a:rPr lang="en-US" sz="1650" dirty="0">
                <a:solidFill>
                  <a:srgbClr val="20242C"/>
                </a:solidFill>
                <a:latin typeface="Calibri" pitchFamily="34" charset="0"/>
                <a:ea typeface="Calibri" pitchFamily="34" charset="-122"/>
                <a:cs typeface="Calibri" pitchFamily="34" charset="-120"/>
              </a:rPr>
              <a:t>Clock Cycle Time (T_clock) is the duration of one clock tick, in seconds (commonly nanoseconds).</a:t>
            </a:r>
            <a:endParaRPr lang="en-US" sz="1650" dirty="0"/>
          </a:p>
          <a:p>
            <a:pPr algn="l" marL="342900" indent="-342900">
              <a:lnSpc>
                <a:spcPct val="115000"/>
              </a:lnSpc>
              <a:spcAft>
                <a:spcPts val="1600"/>
              </a:spcAft>
              <a:buSzPct val="100000"/>
              <a:buChar char="•"/>
            </a:pPr>
            <a:r>
              <a:rPr lang="en-US" sz="1650" dirty="0">
                <a:solidFill>
                  <a:srgbClr val="20242C"/>
                </a:solidFill>
                <a:latin typeface="Calibri" pitchFamily="34" charset="0"/>
                <a:ea typeface="Calibri" pitchFamily="34" charset="-122"/>
                <a:cs typeface="Calibri" pitchFamily="34" charset="-120"/>
              </a:rPr>
              <a:t>Clock Rate is its reciprocal: Clock Rate = 1 ÷ Clock Cycle Time, measured in Hertz (GHz today).</a:t>
            </a:r>
            <a:endParaRPr lang="en-US" sz="1650" dirty="0"/>
          </a:p>
          <a:p>
            <a:pPr algn="l" marL="342900" indent="-342900">
              <a:lnSpc>
                <a:spcPct val="115000"/>
              </a:lnSpc>
              <a:spcAft>
                <a:spcPts val="1600"/>
              </a:spcAft>
              <a:buSzPct val="100000"/>
              <a:buChar char="•"/>
            </a:pPr>
            <a:r>
              <a:rPr lang="en-US" sz="1650" dirty="0">
                <a:solidFill>
                  <a:srgbClr val="20242C"/>
                </a:solidFill>
                <a:latin typeface="Calibri" pitchFamily="34" charset="0"/>
                <a:ea typeface="Calibri" pitchFamily="34" charset="-122"/>
                <a:cs typeface="Calibri" pitchFamily="34" charset="-120"/>
              </a:rPr>
              <a:t>A 3 GHz processor has a clock cycle time of about 0.33 nanoseconds -- three billion ticks every second.</a:t>
            </a:r>
            <a:endParaRPr lang="en-US" sz="1650" dirty="0"/>
          </a:p>
          <a:p>
            <a:pPr algn="l" marL="342900" indent="-342900">
              <a:lnSpc>
                <a:spcPct val="115000"/>
              </a:lnSpc>
              <a:spcAft>
                <a:spcPts val="1600"/>
              </a:spcAft>
              <a:buSzPct val="100000"/>
              <a:buChar char="•"/>
            </a:pPr>
            <a:r>
              <a:rPr lang="en-US" sz="1650" dirty="0">
                <a:solidFill>
                  <a:srgbClr val="20242C"/>
                </a:solidFill>
                <a:latin typeface="Calibri" pitchFamily="34" charset="0"/>
                <a:ea typeface="Calibri" pitchFamily="34" charset="-122"/>
                <a:cs typeface="Calibri" pitchFamily="34" charset="-120"/>
              </a:rPr>
              <a:t>Faster clock rate shortens each tick, but it does not by itself change how many ticks an instruction needs -- that is CPI’s job.</a:t>
            </a:r>
            <a:endParaRPr lang="en-US" sz="1650" dirty="0"/>
          </a:p>
        </p:txBody>
      </p:sp>
      <p:sp>
        <p:nvSpPr>
          <p:cNvPr id="7" name="Text 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8" name="Text 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9" name="Text 6"/>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9FD6E8"/>
                </a:solidFill>
                <a:latin typeface="Calibri" pitchFamily="34" charset="0"/>
                <a:ea typeface="Calibri" pitchFamily="34" charset="-122"/>
                <a:cs typeface="Calibri" pitchFamily="34" charset="-120"/>
              </a:rPr>
              <a:t>THE CORE FORMULA</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Basic Performance Equation</a:t>
            </a:r>
            <a:endParaRPr lang="en-US" sz="3200" dirty="0"/>
          </a:p>
        </p:txBody>
      </p:sp>
      <p:sp>
        <p:nvSpPr>
          <p:cNvPr id="4" name="Shape 2"/>
          <p:cNvSpPr/>
          <p:nvPr/>
        </p:nvSpPr>
        <p:spPr>
          <a:xfrm>
            <a:off x="822960" y="1874520"/>
            <a:ext cx="10515600" cy="1737360"/>
          </a:xfrm>
          <a:prstGeom prst="roundRect">
            <a:avLst>
              <a:gd name="adj" fmla="val 5263"/>
            </a:avLst>
          </a:prstGeom>
          <a:solidFill>
            <a:srgbClr val="1A2150"/>
          </a:solidFill>
          <a:ln/>
        </p:spPr>
      </p:sp>
      <p:sp>
        <p:nvSpPr>
          <p:cNvPr id="5" name="Text 3"/>
          <p:cNvSpPr/>
          <p:nvPr/>
        </p:nvSpPr>
        <p:spPr>
          <a:xfrm>
            <a:off x="1097280" y="2148840"/>
            <a:ext cx="1005840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CPU Time  =  IC  ×  CPI  ×  T</a:t>
            </a:r>
            <a:pPr indent="0" marL="0">
              <a:buNone/>
            </a:pPr>
            <a:r>
              <a:rPr lang="en-US" sz="1800" b="1" baseline="-40000" dirty="0">
                <a:solidFill>
                  <a:srgbClr val="9FD6E8"/>
                </a:solidFill>
                <a:latin typeface="Cambria" pitchFamily="34" charset="0"/>
                <a:ea typeface="Cambria" pitchFamily="34" charset="-122"/>
                <a:cs typeface="Cambria" pitchFamily="34" charset="-120"/>
              </a:rPr>
              <a:t>clock</a:t>
            </a:r>
            <a:endParaRPr lang="en-US" sz="3400" dirty="0"/>
          </a:p>
        </p:txBody>
      </p:sp>
      <p:sp>
        <p:nvSpPr>
          <p:cNvPr id="6" name="Shape 4"/>
          <p:cNvSpPr/>
          <p:nvPr/>
        </p:nvSpPr>
        <p:spPr>
          <a:xfrm>
            <a:off x="822960" y="3977640"/>
            <a:ext cx="777240" cy="777240"/>
          </a:xfrm>
          <a:prstGeom prst="ellipse">
            <a:avLst/>
          </a:prstGeom>
          <a:solidFill>
            <a:srgbClr val="065A82"/>
          </a:solidFill>
          <a:ln/>
        </p:spPr>
      </p:sp>
      <p:pic>
        <p:nvPicPr>
          <p:cNvPr id="7" name="Image 0" descr="preencoded.png">    </p:cNvPr>
          <p:cNvPicPr>
            <a:picLocks noChangeAspect="1"/>
          </p:cNvPicPr>
          <p:nvPr/>
        </p:nvPicPr>
        <p:blipFill>
          <a:blip r:embed="rId1"/>
          <a:stretch>
            <a:fillRect/>
          </a:stretch>
        </p:blipFill>
        <p:spPr>
          <a:xfrm>
            <a:off x="916229" y="4070909"/>
            <a:ext cx="590702" cy="590702"/>
          </a:xfrm>
          <a:prstGeom prst="rect">
            <a:avLst/>
          </a:prstGeom>
        </p:spPr>
      </p:pic>
      <p:sp>
        <p:nvSpPr>
          <p:cNvPr id="8" name="Text 5"/>
          <p:cNvSpPr/>
          <p:nvPr/>
        </p:nvSpPr>
        <p:spPr>
          <a:xfrm>
            <a:off x="1737360" y="4023360"/>
            <a:ext cx="246888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IC</a:t>
            </a:r>
            <a:endParaRPr lang="en-US" sz="1800" dirty="0"/>
          </a:p>
        </p:txBody>
      </p:sp>
      <p:sp>
        <p:nvSpPr>
          <p:cNvPr id="9" name="Text 6"/>
          <p:cNvSpPr/>
          <p:nvPr/>
        </p:nvSpPr>
        <p:spPr>
          <a:xfrm>
            <a:off x="1737360" y="4343400"/>
            <a:ext cx="2468880" cy="5486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Instructions executed (count)</a:t>
            </a:r>
            <a:endParaRPr lang="en-US" sz="1250" dirty="0"/>
          </a:p>
        </p:txBody>
      </p:sp>
      <p:sp>
        <p:nvSpPr>
          <p:cNvPr id="10" name="Shape 7"/>
          <p:cNvSpPr/>
          <p:nvPr/>
        </p:nvSpPr>
        <p:spPr>
          <a:xfrm>
            <a:off x="4434840" y="3977640"/>
            <a:ext cx="777240" cy="777240"/>
          </a:xfrm>
          <a:prstGeom prst="ellipse">
            <a:avLst/>
          </a:prstGeom>
          <a:solidFill>
            <a:srgbClr val="1C7293"/>
          </a:solidFill>
          <a:ln/>
        </p:spPr>
      </p:sp>
      <p:pic>
        <p:nvPicPr>
          <p:cNvPr id="11" name="Image 1" descr="preencoded.png">    </p:cNvPr>
          <p:cNvPicPr>
            <a:picLocks noChangeAspect="1"/>
          </p:cNvPicPr>
          <p:nvPr/>
        </p:nvPicPr>
        <p:blipFill>
          <a:blip r:embed="rId2"/>
          <a:stretch>
            <a:fillRect/>
          </a:stretch>
        </p:blipFill>
        <p:spPr>
          <a:xfrm>
            <a:off x="4528109" y="4070909"/>
            <a:ext cx="590702" cy="590702"/>
          </a:xfrm>
          <a:prstGeom prst="rect">
            <a:avLst/>
          </a:prstGeom>
        </p:spPr>
      </p:pic>
      <p:sp>
        <p:nvSpPr>
          <p:cNvPr id="12" name="Text 8"/>
          <p:cNvSpPr/>
          <p:nvPr/>
        </p:nvSpPr>
        <p:spPr>
          <a:xfrm>
            <a:off x="5349240" y="4023360"/>
            <a:ext cx="246888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CPI</a:t>
            </a:r>
            <a:endParaRPr lang="en-US" sz="1800" dirty="0"/>
          </a:p>
        </p:txBody>
      </p:sp>
      <p:sp>
        <p:nvSpPr>
          <p:cNvPr id="13" name="Text 9"/>
          <p:cNvSpPr/>
          <p:nvPr/>
        </p:nvSpPr>
        <p:spPr>
          <a:xfrm>
            <a:off x="5349240" y="4343400"/>
            <a:ext cx="2468880" cy="5486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Average cycles per instruction</a:t>
            </a:r>
            <a:endParaRPr lang="en-US" sz="1250" dirty="0"/>
          </a:p>
        </p:txBody>
      </p:sp>
      <p:sp>
        <p:nvSpPr>
          <p:cNvPr id="14" name="Shape 10"/>
          <p:cNvSpPr/>
          <p:nvPr/>
        </p:nvSpPr>
        <p:spPr>
          <a:xfrm>
            <a:off x="8046720" y="3977640"/>
            <a:ext cx="777240" cy="777240"/>
          </a:xfrm>
          <a:prstGeom prst="ellipse">
            <a:avLst/>
          </a:prstGeom>
          <a:solidFill>
            <a:srgbClr val="D9822B"/>
          </a:solidFill>
          <a:ln/>
        </p:spPr>
      </p:sp>
      <p:pic>
        <p:nvPicPr>
          <p:cNvPr id="15" name="Image 2" descr="preencoded.png">    </p:cNvPr>
          <p:cNvPicPr>
            <a:picLocks noChangeAspect="1"/>
          </p:cNvPicPr>
          <p:nvPr/>
        </p:nvPicPr>
        <p:blipFill>
          <a:blip r:embed="rId3"/>
          <a:stretch>
            <a:fillRect/>
          </a:stretch>
        </p:blipFill>
        <p:spPr>
          <a:xfrm>
            <a:off x="8139989" y="4070909"/>
            <a:ext cx="590702" cy="590702"/>
          </a:xfrm>
          <a:prstGeom prst="rect">
            <a:avLst/>
          </a:prstGeom>
        </p:spPr>
      </p:pic>
      <p:sp>
        <p:nvSpPr>
          <p:cNvPr id="16" name="Text 11"/>
          <p:cNvSpPr/>
          <p:nvPr/>
        </p:nvSpPr>
        <p:spPr>
          <a:xfrm>
            <a:off x="8961120" y="4023360"/>
            <a:ext cx="246888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Clock Time</a:t>
            </a:r>
            <a:endParaRPr lang="en-US" sz="1800" dirty="0"/>
          </a:p>
        </p:txBody>
      </p:sp>
      <p:sp>
        <p:nvSpPr>
          <p:cNvPr id="17" name="Text 12"/>
          <p:cNvSpPr/>
          <p:nvPr/>
        </p:nvSpPr>
        <p:spPr>
          <a:xfrm>
            <a:off x="8961120" y="4343400"/>
            <a:ext cx="2468880" cy="5486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Seconds per clock cycle</a:t>
            </a:r>
            <a:endParaRPr lang="en-US" sz="1250" dirty="0"/>
          </a:p>
        </p:txBody>
      </p:sp>
      <p:sp>
        <p:nvSpPr>
          <p:cNvPr id="18" name="Text 13"/>
          <p:cNvSpPr/>
          <p:nvPr/>
        </p:nvSpPr>
        <p:spPr>
          <a:xfrm>
            <a:off x="822960" y="5486400"/>
            <a:ext cx="10515600" cy="457200"/>
          </a:xfrm>
          <a:prstGeom prst="rect">
            <a:avLst/>
          </a:prstGeom>
          <a:noFill/>
          <a:ln/>
        </p:spPr>
        <p:txBody>
          <a:bodyPr wrap="square" lIns="0" tIns="0" rIns="0" bIns="0" rtlCol="0" anchor="ctr"/>
          <a:lstStyle/>
          <a:p>
            <a:pPr indent="0" marL="0">
              <a:buNone/>
            </a:pPr>
            <a:r>
              <a:rPr lang="en-US" sz="1500" i="1" dirty="0">
                <a:solidFill>
                  <a:srgbClr val="9FD6E8"/>
                </a:solidFill>
                <a:latin typeface="Calibri" pitchFamily="34" charset="0"/>
                <a:ea typeface="Calibri" pitchFamily="34" charset="-122"/>
                <a:cs typeface="Calibri" pitchFamily="34" charset="-120"/>
              </a:rPr>
              <a:t>Three independent levers. Move any one, and CPU time moves with it.</a:t>
            </a:r>
            <a:endParaRPr lang="en-US" sz="1500" dirty="0"/>
          </a:p>
        </p:txBody>
      </p:sp>
      <p:sp>
        <p:nvSpPr>
          <p:cNvPr id="19" name="Text 1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C7D0DE"/>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0" name="Text 1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21" name="Text 16"/>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C7D0D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FROM CYCLES TO SECONDS</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Deriving the Equation</a:t>
            </a:r>
            <a:endParaRPr lang="en-US" sz="3200" dirty="0"/>
          </a:p>
        </p:txBody>
      </p:sp>
      <p:sp>
        <p:nvSpPr>
          <p:cNvPr id="4" name="Shape 2"/>
          <p:cNvSpPr/>
          <p:nvPr/>
        </p:nvSpPr>
        <p:spPr>
          <a:xfrm>
            <a:off x="640080" y="1691640"/>
            <a:ext cx="685800" cy="685800"/>
          </a:xfrm>
          <a:prstGeom prst="roundRect">
            <a:avLst>
              <a:gd name="adj" fmla="val 12000"/>
            </a:avLst>
          </a:prstGeom>
          <a:solidFill>
            <a:srgbClr val="065A82"/>
          </a:solidFill>
          <a:ln/>
        </p:spPr>
      </p:sp>
      <p:sp>
        <p:nvSpPr>
          <p:cNvPr id="5" name="Text 3"/>
          <p:cNvSpPr/>
          <p:nvPr/>
        </p:nvSpPr>
        <p:spPr>
          <a:xfrm>
            <a:off x="640080" y="16916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Text 4"/>
          <p:cNvSpPr/>
          <p:nvPr/>
        </p:nvSpPr>
        <p:spPr>
          <a:xfrm>
            <a:off x="1508760" y="1664208"/>
            <a:ext cx="2926080" cy="73152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Total Clock Cycles</a:t>
            </a:r>
            <a:endParaRPr lang="en-US" sz="1550" dirty="0"/>
          </a:p>
        </p:txBody>
      </p:sp>
      <p:sp>
        <p:nvSpPr>
          <p:cNvPr id="7" name="Text 5"/>
          <p:cNvSpPr/>
          <p:nvPr/>
        </p:nvSpPr>
        <p:spPr>
          <a:xfrm>
            <a:off x="4526280" y="1664208"/>
            <a:ext cx="6446520" cy="731520"/>
          </a:xfrm>
          <a:prstGeom prst="rect">
            <a:avLst/>
          </a:prstGeom>
          <a:noFill/>
          <a:ln/>
        </p:spPr>
        <p:txBody>
          <a:bodyPr wrap="square" lIns="0" tIns="0" rIns="0" bIns="0" rtlCol="0" anchor="ctr"/>
          <a:lstStyle/>
          <a:p>
            <a:pPr indent="0" marL="0">
              <a:buNone/>
            </a:pPr>
            <a:r>
              <a:rPr lang="en-US" sz="1400" dirty="0">
                <a:solidFill>
                  <a:srgbClr val="20242C"/>
                </a:solidFill>
                <a:latin typeface="Calibri" pitchFamily="34" charset="0"/>
                <a:ea typeface="Calibri" pitchFamily="34" charset="-122"/>
                <a:cs typeface="Calibri" pitchFamily="34" charset="-120"/>
              </a:rPr>
              <a:t>The processor spends some number of clock ticks executing the whole program.</a:t>
            </a:r>
            <a:endParaRPr lang="en-US" sz="1400" dirty="0"/>
          </a:p>
        </p:txBody>
      </p:sp>
      <p:sp>
        <p:nvSpPr>
          <p:cNvPr id="8" name="Shape 6"/>
          <p:cNvSpPr/>
          <p:nvPr/>
        </p:nvSpPr>
        <p:spPr>
          <a:xfrm>
            <a:off x="640080" y="2743200"/>
            <a:ext cx="685800" cy="685800"/>
          </a:xfrm>
          <a:prstGeom prst="roundRect">
            <a:avLst>
              <a:gd name="adj" fmla="val 12000"/>
            </a:avLst>
          </a:prstGeom>
          <a:solidFill>
            <a:srgbClr val="1C7293"/>
          </a:solidFill>
          <a:ln/>
        </p:spPr>
      </p:sp>
      <p:sp>
        <p:nvSpPr>
          <p:cNvPr id="9" name="Text 7"/>
          <p:cNvSpPr/>
          <p:nvPr/>
        </p:nvSpPr>
        <p:spPr>
          <a:xfrm>
            <a:off x="640080" y="27432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ext 8"/>
          <p:cNvSpPr/>
          <p:nvPr/>
        </p:nvSpPr>
        <p:spPr>
          <a:xfrm>
            <a:off x="1508760" y="2715768"/>
            <a:ext cx="2926080" cy="73152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Cycles per Instruction</a:t>
            </a:r>
            <a:endParaRPr lang="en-US" sz="1550" dirty="0"/>
          </a:p>
        </p:txBody>
      </p:sp>
      <p:sp>
        <p:nvSpPr>
          <p:cNvPr id="11" name="Text 9"/>
          <p:cNvSpPr/>
          <p:nvPr/>
        </p:nvSpPr>
        <p:spPr>
          <a:xfrm>
            <a:off x="4526280" y="2715768"/>
            <a:ext cx="6446520" cy="731520"/>
          </a:xfrm>
          <a:prstGeom prst="rect">
            <a:avLst/>
          </a:prstGeom>
          <a:noFill/>
          <a:ln/>
        </p:spPr>
        <p:txBody>
          <a:bodyPr wrap="square" lIns="0" tIns="0" rIns="0" bIns="0" rtlCol="0" anchor="ctr"/>
          <a:lstStyle/>
          <a:p>
            <a:pPr indent="0" marL="0">
              <a:buNone/>
            </a:pPr>
            <a:r>
              <a:rPr lang="en-US" sz="1400" dirty="0">
                <a:solidFill>
                  <a:srgbClr val="20242C"/>
                </a:solidFill>
                <a:latin typeface="Calibri" pitchFamily="34" charset="0"/>
                <a:ea typeface="Calibri" pitchFamily="34" charset="-122"/>
                <a:cs typeface="Calibri" pitchFamily="34" charset="-120"/>
              </a:rPr>
              <a:t>On average, each instruction consumes CPI cycles, so Total Cycles = IC × CPI.</a:t>
            </a:r>
            <a:endParaRPr lang="en-US" sz="1400" dirty="0"/>
          </a:p>
        </p:txBody>
      </p:sp>
      <p:sp>
        <p:nvSpPr>
          <p:cNvPr id="12" name="Shape 10"/>
          <p:cNvSpPr/>
          <p:nvPr/>
        </p:nvSpPr>
        <p:spPr>
          <a:xfrm>
            <a:off x="640080" y="3794760"/>
            <a:ext cx="685800" cy="685800"/>
          </a:xfrm>
          <a:prstGeom prst="roundRect">
            <a:avLst>
              <a:gd name="adj" fmla="val 12000"/>
            </a:avLst>
          </a:prstGeom>
          <a:solidFill>
            <a:srgbClr val="D9822B"/>
          </a:solidFill>
          <a:ln/>
        </p:spPr>
      </p:sp>
      <p:sp>
        <p:nvSpPr>
          <p:cNvPr id="13" name="Text 11"/>
          <p:cNvSpPr/>
          <p:nvPr/>
        </p:nvSpPr>
        <p:spPr>
          <a:xfrm>
            <a:off x="640080" y="3794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4" name="Text 12"/>
          <p:cNvSpPr/>
          <p:nvPr/>
        </p:nvSpPr>
        <p:spPr>
          <a:xfrm>
            <a:off x="1508760" y="3767328"/>
            <a:ext cx="2926080" cy="73152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Seconds per Cycle</a:t>
            </a:r>
            <a:endParaRPr lang="en-US" sz="1550" dirty="0"/>
          </a:p>
        </p:txBody>
      </p:sp>
      <p:sp>
        <p:nvSpPr>
          <p:cNvPr id="15" name="Text 13"/>
          <p:cNvSpPr/>
          <p:nvPr/>
        </p:nvSpPr>
        <p:spPr>
          <a:xfrm>
            <a:off x="4526280" y="3767328"/>
            <a:ext cx="6446520" cy="731520"/>
          </a:xfrm>
          <a:prstGeom prst="rect">
            <a:avLst/>
          </a:prstGeom>
          <a:noFill/>
          <a:ln/>
        </p:spPr>
        <p:txBody>
          <a:bodyPr wrap="square" lIns="0" tIns="0" rIns="0" bIns="0" rtlCol="0" anchor="ctr"/>
          <a:lstStyle/>
          <a:p>
            <a:pPr indent="0" marL="0">
              <a:buNone/>
            </a:pPr>
            <a:r>
              <a:rPr lang="en-US" sz="1400" dirty="0">
                <a:solidFill>
                  <a:srgbClr val="20242C"/>
                </a:solidFill>
                <a:latin typeface="Calibri" pitchFamily="34" charset="0"/>
                <a:ea typeface="Calibri" pitchFamily="34" charset="-122"/>
                <a:cs typeface="Calibri" pitchFamily="34" charset="-120"/>
              </a:rPr>
              <a:t>Each cycle lasts T_clock seconds, so we convert cycles to time by multiplying.</a:t>
            </a:r>
            <a:endParaRPr lang="en-US" sz="1400" dirty="0"/>
          </a:p>
        </p:txBody>
      </p:sp>
      <p:sp>
        <p:nvSpPr>
          <p:cNvPr id="16" name="Shape 14"/>
          <p:cNvSpPr/>
          <p:nvPr/>
        </p:nvSpPr>
        <p:spPr>
          <a:xfrm>
            <a:off x="640080" y="4846320"/>
            <a:ext cx="685800" cy="685800"/>
          </a:xfrm>
          <a:prstGeom prst="roundRect">
            <a:avLst>
              <a:gd name="adj" fmla="val 12000"/>
            </a:avLst>
          </a:prstGeom>
          <a:solidFill>
            <a:srgbClr val="2E8B57"/>
          </a:solidFill>
          <a:ln/>
        </p:spPr>
      </p:sp>
      <p:sp>
        <p:nvSpPr>
          <p:cNvPr id="17" name="Text 15"/>
          <p:cNvSpPr/>
          <p:nvPr/>
        </p:nvSpPr>
        <p:spPr>
          <a:xfrm>
            <a:off x="640080" y="48463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8" name="Text 16"/>
          <p:cNvSpPr/>
          <p:nvPr/>
        </p:nvSpPr>
        <p:spPr>
          <a:xfrm>
            <a:off x="1508760" y="4818888"/>
            <a:ext cx="2926080" cy="73152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CPU Time</a:t>
            </a:r>
            <a:endParaRPr lang="en-US" sz="1550" dirty="0"/>
          </a:p>
        </p:txBody>
      </p:sp>
      <p:sp>
        <p:nvSpPr>
          <p:cNvPr id="19" name="Text 17"/>
          <p:cNvSpPr/>
          <p:nvPr/>
        </p:nvSpPr>
        <p:spPr>
          <a:xfrm>
            <a:off x="4526280" y="4818888"/>
            <a:ext cx="6446520" cy="731520"/>
          </a:xfrm>
          <a:prstGeom prst="rect">
            <a:avLst/>
          </a:prstGeom>
          <a:noFill/>
          <a:ln/>
        </p:spPr>
        <p:txBody>
          <a:bodyPr wrap="square" lIns="0" tIns="0" rIns="0" bIns="0" rtlCol="0" anchor="ctr"/>
          <a:lstStyle/>
          <a:p>
            <a:pPr indent="0" marL="0">
              <a:buNone/>
            </a:pPr>
            <a:r>
              <a:rPr lang="en-US" sz="1400" dirty="0">
                <a:solidFill>
                  <a:srgbClr val="20242C"/>
                </a:solidFill>
                <a:latin typeface="Calibri" pitchFamily="34" charset="0"/>
                <a:ea typeface="Calibri" pitchFamily="34" charset="-122"/>
                <a:cs typeface="Calibri" pitchFamily="34" charset="-120"/>
              </a:rPr>
              <a:t>CPU Time = (IC × CPI) × T_clock  —  our Basic Performance Equation.</a:t>
            </a:r>
            <a:endParaRPr lang="en-US" sz="1400" dirty="0"/>
          </a:p>
        </p:txBody>
      </p:sp>
      <p:sp>
        <p:nvSpPr>
          <p:cNvPr id="20" name="Text 18"/>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1" name="Text 19"/>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22" name="Text 20"/>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TRADE-OFFS</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Three Performance Levers</a:t>
            </a:r>
            <a:endParaRPr lang="en-US" sz="3200" dirty="0"/>
          </a:p>
        </p:txBody>
      </p:sp>
      <p:sp>
        <p:nvSpPr>
          <p:cNvPr id="4" name="Shape 2"/>
          <p:cNvSpPr/>
          <p:nvPr/>
        </p:nvSpPr>
        <p:spPr>
          <a:xfrm>
            <a:off x="640080" y="1691640"/>
            <a:ext cx="3429000" cy="4160520"/>
          </a:xfrm>
          <a:prstGeom prst="roundRect">
            <a:avLst>
              <a:gd name="adj" fmla="val 2667"/>
            </a:avLst>
          </a:prstGeom>
          <a:solidFill>
            <a:srgbClr val="FFFFFF"/>
          </a:solidFill>
          <a:ln w="12700">
            <a:solidFill>
              <a:srgbClr val="E2E6ED"/>
            </a:solidFill>
            <a:prstDash val="solid"/>
          </a:ln>
        </p:spPr>
      </p:sp>
      <p:sp>
        <p:nvSpPr>
          <p:cNvPr id="5" name="Shape 3"/>
          <p:cNvSpPr/>
          <p:nvPr/>
        </p:nvSpPr>
        <p:spPr>
          <a:xfrm>
            <a:off x="914400" y="1965960"/>
            <a:ext cx="822960" cy="82296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1013155" y="2064715"/>
            <a:ext cx="625450" cy="625450"/>
          </a:xfrm>
          <a:prstGeom prst="rect">
            <a:avLst/>
          </a:prstGeom>
        </p:spPr>
      </p:pic>
      <p:sp>
        <p:nvSpPr>
          <p:cNvPr id="7" name="Text 4"/>
          <p:cNvSpPr/>
          <p:nvPr/>
        </p:nvSpPr>
        <p:spPr>
          <a:xfrm>
            <a:off x="914400" y="2697480"/>
            <a:ext cx="2880360" cy="45720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Reduce IC</a:t>
            </a:r>
            <a:endParaRPr lang="en-US" sz="1800" dirty="0"/>
          </a:p>
        </p:txBody>
      </p:sp>
      <p:sp>
        <p:nvSpPr>
          <p:cNvPr id="8" name="Text 5"/>
          <p:cNvSpPr/>
          <p:nvPr/>
        </p:nvSpPr>
        <p:spPr>
          <a:xfrm>
            <a:off x="914400" y="3127248"/>
            <a:ext cx="2880360" cy="365760"/>
          </a:xfrm>
          <a:prstGeom prst="rect">
            <a:avLst/>
          </a:prstGeom>
          <a:noFill/>
          <a:ln/>
        </p:spPr>
        <p:txBody>
          <a:bodyPr wrap="square" lIns="0" tIns="0" rIns="0" bIns="0" rtlCol="0" anchor="ctr"/>
          <a:lstStyle/>
          <a:p>
            <a:pPr indent="0" marL="0">
              <a:buNone/>
            </a:pPr>
            <a:r>
              <a:rPr lang="en-US" sz="1100" b="1" spc="100" kern="0" dirty="0">
                <a:solidFill>
                  <a:srgbClr val="065A82"/>
                </a:solidFill>
                <a:latin typeface="Calibri" pitchFamily="34" charset="0"/>
                <a:ea typeface="Calibri" pitchFamily="34" charset="-122"/>
                <a:cs typeface="Calibri" pitchFamily="34" charset="-120"/>
              </a:rPr>
              <a:t>COMPILER / ALGORITHM DESIGNER</a:t>
            </a:r>
            <a:endParaRPr lang="en-US" sz="1100" dirty="0"/>
          </a:p>
        </p:txBody>
      </p:sp>
      <p:sp>
        <p:nvSpPr>
          <p:cNvPr id="9" name="Text 6"/>
          <p:cNvSpPr/>
          <p:nvPr/>
        </p:nvSpPr>
        <p:spPr>
          <a:xfrm>
            <a:off x="914400" y="3566160"/>
            <a:ext cx="2880360" cy="2103120"/>
          </a:xfrm>
          <a:prstGeom prst="rect">
            <a:avLst/>
          </a:prstGeom>
          <a:noFill/>
          <a:ln/>
        </p:spPr>
        <p:txBody>
          <a:bodyPr wrap="square" lIns="0" tIns="0" rIns="0" bIns="0" rtlCol="0" anchor="t"/>
          <a:lstStyle/>
          <a:p>
            <a:pPr indent="0" marL="0">
              <a:buNone/>
            </a:pPr>
            <a:r>
              <a:rPr lang="en-US" sz="1350" dirty="0">
                <a:solidFill>
                  <a:srgbClr val="20242C"/>
                </a:solidFill>
                <a:latin typeface="Calibri" pitchFamily="34" charset="0"/>
                <a:ea typeface="Calibri" pitchFamily="34" charset="-122"/>
                <a:cs typeface="Calibri" pitchFamily="34" charset="-120"/>
              </a:rPr>
              <a:t>Better algorithms, compiler optimizations, richer instructions that do more per instruction.</a:t>
            </a:r>
            <a:endParaRPr lang="en-US" sz="1350" dirty="0"/>
          </a:p>
        </p:txBody>
      </p:sp>
      <p:sp>
        <p:nvSpPr>
          <p:cNvPr id="10" name="Shape 7"/>
          <p:cNvSpPr/>
          <p:nvPr/>
        </p:nvSpPr>
        <p:spPr>
          <a:xfrm>
            <a:off x="4297680" y="1691640"/>
            <a:ext cx="3429000" cy="4160520"/>
          </a:xfrm>
          <a:prstGeom prst="roundRect">
            <a:avLst>
              <a:gd name="adj" fmla="val 2667"/>
            </a:avLst>
          </a:prstGeom>
          <a:solidFill>
            <a:srgbClr val="FFFFFF"/>
          </a:solidFill>
          <a:ln w="12700">
            <a:solidFill>
              <a:srgbClr val="E2E6ED"/>
            </a:solidFill>
            <a:prstDash val="solid"/>
          </a:ln>
        </p:spPr>
      </p:sp>
      <p:sp>
        <p:nvSpPr>
          <p:cNvPr id="11" name="Shape 8"/>
          <p:cNvSpPr/>
          <p:nvPr/>
        </p:nvSpPr>
        <p:spPr>
          <a:xfrm>
            <a:off x="4572000" y="1965960"/>
            <a:ext cx="822960" cy="822960"/>
          </a:xfrm>
          <a:prstGeom prst="ellipse">
            <a:avLst/>
          </a:prstGeom>
          <a:solidFill>
            <a:srgbClr val="1C7293"/>
          </a:solidFill>
          <a:ln/>
        </p:spPr>
      </p:sp>
      <p:pic>
        <p:nvPicPr>
          <p:cNvPr id="12" name="Image 1" descr="preencoded.png">    </p:cNvPr>
          <p:cNvPicPr>
            <a:picLocks noChangeAspect="1"/>
          </p:cNvPicPr>
          <p:nvPr/>
        </p:nvPicPr>
        <p:blipFill>
          <a:blip r:embed="rId2"/>
          <a:stretch>
            <a:fillRect/>
          </a:stretch>
        </p:blipFill>
        <p:spPr>
          <a:xfrm>
            <a:off x="4670755" y="2064715"/>
            <a:ext cx="625450" cy="625450"/>
          </a:xfrm>
          <a:prstGeom prst="rect">
            <a:avLst/>
          </a:prstGeom>
        </p:spPr>
      </p:pic>
      <p:sp>
        <p:nvSpPr>
          <p:cNvPr id="13" name="Text 9"/>
          <p:cNvSpPr/>
          <p:nvPr/>
        </p:nvSpPr>
        <p:spPr>
          <a:xfrm>
            <a:off x="4572000" y="2697480"/>
            <a:ext cx="2880360" cy="45720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Reduce CPI</a:t>
            </a:r>
            <a:endParaRPr lang="en-US" sz="1800" dirty="0"/>
          </a:p>
        </p:txBody>
      </p:sp>
      <p:sp>
        <p:nvSpPr>
          <p:cNvPr id="14" name="Text 10"/>
          <p:cNvSpPr/>
          <p:nvPr/>
        </p:nvSpPr>
        <p:spPr>
          <a:xfrm>
            <a:off x="4572000" y="3127248"/>
            <a:ext cx="2880360" cy="365760"/>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PIPELINE / MICROARCHITECT</a:t>
            </a:r>
            <a:endParaRPr lang="en-US" sz="1100" dirty="0"/>
          </a:p>
        </p:txBody>
      </p:sp>
      <p:sp>
        <p:nvSpPr>
          <p:cNvPr id="15" name="Text 11"/>
          <p:cNvSpPr/>
          <p:nvPr/>
        </p:nvSpPr>
        <p:spPr>
          <a:xfrm>
            <a:off x="4572000" y="3566160"/>
            <a:ext cx="2880360" cy="2103120"/>
          </a:xfrm>
          <a:prstGeom prst="rect">
            <a:avLst/>
          </a:prstGeom>
          <a:noFill/>
          <a:ln/>
        </p:spPr>
        <p:txBody>
          <a:bodyPr wrap="square" lIns="0" tIns="0" rIns="0" bIns="0" rtlCol="0" anchor="t"/>
          <a:lstStyle/>
          <a:p>
            <a:pPr indent="0" marL="0">
              <a:buNone/>
            </a:pPr>
            <a:r>
              <a:rPr lang="en-US" sz="1350" dirty="0">
                <a:solidFill>
                  <a:srgbClr val="20242C"/>
                </a:solidFill>
                <a:latin typeface="Calibri" pitchFamily="34" charset="0"/>
                <a:ea typeface="Calibri" pitchFamily="34" charset="-122"/>
                <a:cs typeface="Calibri" pitchFamily="34" charset="-120"/>
              </a:rPr>
              <a:t>Fewer stalls, better branch prediction, hazard forwarding, deeper pipelining.</a:t>
            </a:r>
            <a:endParaRPr lang="en-US" sz="1350" dirty="0"/>
          </a:p>
        </p:txBody>
      </p:sp>
      <p:sp>
        <p:nvSpPr>
          <p:cNvPr id="16" name="Shape 12"/>
          <p:cNvSpPr/>
          <p:nvPr/>
        </p:nvSpPr>
        <p:spPr>
          <a:xfrm>
            <a:off x="7955280" y="1691640"/>
            <a:ext cx="3429000" cy="4160520"/>
          </a:xfrm>
          <a:prstGeom prst="roundRect">
            <a:avLst>
              <a:gd name="adj" fmla="val 2667"/>
            </a:avLst>
          </a:prstGeom>
          <a:solidFill>
            <a:srgbClr val="FFFFFF"/>
          </a:solidFill>
          <a:ln w="12700">
            <a:solidFill>
              <a:srgbClr val="E2E6ED"/>
            </a:solidFill>
            <a:prstDash val="solid"/>
          </a:ln>
        </p:spPr>
      </p:sp>
      <p:sp>
        <p:nvSpPr>
          <p:cNvPr id="17" name="Shape 13"/>
          <p:cNvSpPr/>
          <p:nvPr/>
        </p:nvSpPr>
        <p:spPr>
          <a:xfrm>
            <a:off x="8229600" y="1965960"/>
            <a:ext cx="822960" cy="822960"/>
          </a:xfrm>
          <a:prstGeom prst="ellipse">
            <a:avLst/>
          </a:prstGeom>
          <a:solidFill>
            <a:srgbClr val="D9822B"/>
          </a:solidFill>
          <a:ln/>
        </p:spPr>
      </p:sp>
      <p:pic>
        <p:nvPicPr>
          <p:cNvPr id="18" name="Image 2" descr="preencoded.png">    </p:cNvPr>
          <p:cNvPicPr>
            <a:picLocks noChangeAspect="1"/>
          </p:cNvPicPr>
          <p:nvPr/>
        </p:nvPicPr>
        <p:blipFill>
          <a:blip r:embed="rId3"/>
          <a:stretch>
            <a:fillRect/>
          </a:stretch>
        </p:blipFill>
        <p:spPr>
          <a:xfrm>
            <a:off x="8328355" y="2064715"/>
            <a:ext cx="625450" cy="625450"/>
          </a:xfrm>
          <a:prstGeom prst="rect">
            <a:avLst/>
          </a:prstGeom>
        </p:spPr>
      </p:pic>
      <p:sp>
        <p:nvSpPr>
          <p:cNvPr id="19" name="Text 14"/>
          <p:cNvSpPr/>
          <p:nvPr/>
        </p:nvSpPr>
        <p:spPr>
          <a:xfrm>
            <a:off x="8229600" y="2697480"/>
            <a:ext cx="2880360" cy="45720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Reduce Clock Cycle Time</a:t>
            </a:r>
            <a:endParaRPr lang="en-US" sz="1500" dirty="0"/>
          </a:p>
        </p:txBody>
      </p:sp>
      <p:sp>
        <p:nvSpPr>
          <p:cNvPr id="20" name="Text 15"/>
          <p:cNvSpPr/>
          <p:nvPr/>
        </p:nvSpPr>
        <p:spPr>
          <a:xfrm>
            <a:off x="8229600" y="3127248"/>
            <a:ext cx="2880360" cy="365760"/>
          </a:xfrm>
          <a:prstGeom prst="rect">
            <a:avLst/>
          </a:prstGeom>
          <a:noFill/>
          <a:ln/>
        </p:spPr>
        <p:txBody>
          <a:bodyPr wrap="square" lIns="0" tIns="0" rIns="0" bIns="0" rtlCol="0" anchor="ctr"/>
          <a:lstStyle/>
          <a:p>
            <a:pPr indent="0" marL="0">
              <a:buNone/>
            </a:pPr>
            <a:r>
              <a:rPr lang="en-US" sz="1100" b="1" spc="100" kern="0" dirty="0">
                <a:solidFill>
                  <a:srgbClr val="D9822B"/>
                </a:solidFill>
                <a:latin typeface="Calibri" pitchFamily="34" charset="0"/>
                <a:ea typeface="Calibri" pitchFamily="34" charset="-122"/>
                <a:cs typeface="Calibri" pitchFamily="34" charset="-120"/>
              </a:rPr>
              <a:t>FABRICATION / CIRCUIT DESIGNER</a:t>
            </a:r>
            <a:endParaRPr lang="en-US" sz="1100" dirty="0"/>
          </a:p>
        </p:txBody>
      </p:sp>
      <p:sp>
        <p:nvSpPr>
          <p:cNvPr id="21" name="Text 16"/>
          <p:cNvSpPr/>
          <p:nvPr/>
        </p:nvSpPr>
        <p:spPr>
          <a:xfrm>
            <a:off x="8229600" y="3566160"/>
            <a:ext cx="2880360" cy="2103120"/>
          </a:xfrm>
          <a:prstGeom prst="rect">
            <a:avLst/>
          </a:prstGeom>
          <a:noFill/>
          <a:ln/>
        </p:spPr>
        <p:txBody>
          <a:bodyPr wrap="square" lIns="0" tIns="0" rIns="0" bIns="0" rtlCol="0" anchor="t"/>
          <a:lstStyle/>
          <a:p>
            <a:pPr indent="0" marL="0">
              <a:buNone/>
            </a:pPr>
            <a:r>
              <a:rPr lang="en-US" sz="1350" dirty="0">
                <a:solidFill>
                  <a:srgbClr val="20242C"/>
                </a:solidFill>
                <a:latin typeface="Calibri" pitchFamily="34" charset="0"/>
                <a:ea typeface="Calibri" pitchFamily="34" charset="-122"/>
                <a:cs typeface="Calibri" pitchFamily="34" charset="-120"/>
              </a:rPr>
              <a:t>Smaller transistors, better process node, shorter critical path per stage.</a:t>
            </a:r>
            <a:endParaRPr lang="en-US" sz="1350" dirty="0"/>
          </a:p>
        </p:txBody>
      </p:sp>
      <p:sp>
        <p:nvSpPr>
          <p:cNvPr id="22" name="Text 17"/>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3" name="Text 18"/>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24" name="Text 19"/>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FROM IDEAL TO REAL CPI</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Are Pipeline Stalls?</a:t>
            </a:r>
            <a:endParaRPr lang="en-US" sz="3200" dirty="0"/>
          </a:p>
        </p:txBody>
      </p:sp>
      <p:sp>
        <p:nvSpPr>
          <p:cNvPr id="4" name="Shape 2"/>
          <p:cNvSpPr/>
          <p:nvPr/>
        </p:nvSpPr>
        <p:spPr>
          <a:xfrm>
            <a:off x="9509760" y="1737360"/>
            <a:ext cx="1554480" cy="1554480"/>
          </a:xfrm>
          <a:prstGeom prst="ellipse">
            <a:avLst/>
          </a:prstGeom>
          <a:solidFill>
            <a:srgbClr val="D9822B"/>
          </a:solidFill>
          <a:ln/>
        </p:spPr>
      </p:sp>
      <p:pic>
        <p:nvPicPr>
          <p:cNvPr id="5" name="Image 0" descr="preencoded.png">    </p:cNvPr>
          <p:cNvPicPr>
            <a:picLocks noChangeAspect="1"/>
          </p:cNvPicPr>
          <p:nvPr/>
        </p:nvPicPr>
        <p:blipFill>
          <a:blip r:embed="rId1"/>
          <a:stretch>
            <a:fillRect/>
          </a:stretch>
        </p:blipFill>
        <p:spPr>
          <a:xfrm>
            <a:off x="9696298" y="1923898"/>
            <a:ext cx="1181405" cy="1181405"/>
          </a:xfrm>
          <a:prstGeom prst="rect">
            <a:avLst/>
          </a:prstGeom>
        </p:spPr>
      </p:pic>
      <p:sp>
        <p:nvSpPr>
          <p:cNvPr id="6" name="Text 3"/>
          <p:cNvSpPr/>
          <p:nvPr/>
        </p:nvSpPr>
        <p:spPr>
          <a:xfrm>
            <a:off x="640080" y="1691640"/>
            <a:ext cx="8321040" cy="4206240"/>
          </a:xfrm>
          <a:prstGeom prst="rect">
            <a:avLst/>
          </a:prstGeom>
          <a:noFill/>
          <a:ln/>
        </p:spPr>
        <p:txBody>
          <a:bodyPr wrap="square" lIns="0" tIns="0" rIns="0" bIns="0" rtlCol="0" anchor="t"/>
          <a:lstStyle/>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A stall (or "bubble") is a clock cycle in which the pipeline cannot make forward progress on the next instruction.</a:t>
            </a:r>
            <a:endParaRPr lang="en-US" sz="1650" dirty="0"/>
          </a:p>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The processor effectively "wastes" that cycle -- no useful instruction completes during it.</a:t>
            </a:r>
            <a:endParaRPr lang="en-US" sz="1650" dirty="0"/>
          </a:p>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Stalls happen because one instruction is not yet ready to be fed into the pipeline -- data it needs, or the next instruction it needs, is not available yet.</a:t>
            </a:r>
            <a:endParaRPr lang="en-US" sz="1650" dirty="0"/>
          </a:p>
          <a:p>
            <a:pPr algn="l" marL="342900" indent="-342900">
              <a:lnSpc>
                <a:spcPct val="115000"/>
              </a:lnSpc>
              <a:spcAft>
                <a:spcPts val="1800"/>
              </a:spcAft>
              <a:buSzPct val="100000"/>
              <a:buChar char="•"/>
            </a:pPr>
            <a:r>
              <a:rPr lang="en-US" sz="1650" dirty="0">
                <a:solidFill>
                  <a:srgbClr val="20242C"/>
                </a:solidFill>
                <a:latin typeface="Calibri" pitchFamily="34" charset="0"/>
                <a:ea typeface="Calibri" pitchFamily="34" charset="-122"/>
                <a:cs typeface="Calibri" pitchFamily="34" charset="-120"/>
              </a:rPr>
              <a:t>Every stall cycle directly raises the effective CPI above its ideal value of 1.</a:t>
            </a:r>
            <a:endParaRPr lang="en-US" sz="1650" dirty="0"/>
          </a:p>
        </p:txBody>
      </p:sp>
      <p:sp>
        <p:nvSpPr>
          <p:cNvPr id="7" name="Text 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8" name="Text 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9" name="Text 6"/>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THREE CULPRITS</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Types of Pipeline Stalls</a:t>
            </a:r>
            <a:endParaRPr lang="en-US" sz="3200" dirty="0"/>
          </a:p>
        </p:txBody>
      </p:sp>
      <p:sp>
        <p:nvSpPr>
          <p:cNvPr id="4" name="Shape 2"/>
          <p:cNvSpPr/>
          <p:nvPr/>
        </p:nvSpPr>
        <p:spPr>
          <a:xfrm>
            <a:off x="640080" y="1691640"/>
            <a:ext cx="3429000" cy="4160520"/>
          </a:xfrm>
          <a:prstGeom prst="roundRect">
            <a:avLst>
              <a:gd name="adj" fmla="val 2667"/>
            </a:avLst>
          </a:prstGeom>
          <a:solidFill>
            <a:srgbClr val="FFFFFF"/>
          </a:solidFill>
          <a:ln w="12700">
            <a:solidFill>
              <a:srgbClr val="E2E6ED"/>
            </a:solidFill>
            <a:prstDash val="solid"/>
          </a:ln>
        </p:spPr>
      </p:sp>
      <p:sp>
        <p:nvSpPr>
          <p:cNvPr id="5" name="Shape 3"/>
          <p:cNvSpPr/>
          <p:nvPr/>
        </p:nvSpPr>
        <p:spPr>
          <a:xfrm>
            <a:off x="1920240" y="2011680"/>
            <a:ext cx="914400" cy="91440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2029968" y="2121408"/>
            <a:ext cx="694944" cy="694944"/>
          </a:xfrm>
          <a:prstGeom prst="rect">
            <a:avLst/>
          </a:prstGeom>
        </p:spPr>
      </p:pic>
      <p:sp>
        <p:nvSpPr>
          <p:cNvPr id="7" name="Text 4"/>
          <p:cNvSpPr/>
          <p:nvPr/>
        </p:nvSpPr>
        <p:spPr>
          <a:xfrm>
            <a:off x="914400" y="3154680"/>
            <a:ext cx="2880360" cy="640080"/>
          </a:xfrm>
          <a:prstGeom prst="rect">
            <a:avLst/>
          </a:prstGeom>
          <a:noFill/>
          <a:ln/>
        </p:spPr>
        <p:txBody>
          <a:bodyPr wrap="square" lIns="0" tIns="0" rIns="0" bIns="0" rtlCol="0" anchor="ctr"/>
          <a:lstStyle/>
          <a:p>
            <a:pPr algn="ctr" indent="0" marL="0">
              <a:buNone/>
            </a:pPr>
            <a:r>
              <a:rPr lang="en-US" sz="1650" b="1" dirty="0">
                <a:solidFill>
                  <a:srgbClr val="21295C"/>
                </a:solidFill>
                <a:latin typeface="Cambria" pitchFamily="34" charset="0"/>
                <a:ea typeface="Cambria" pitchFamily="34" charset="-122"/>
                <a:cs typeface="Cambria" pitchFamily="34" charset="-120"/>
              </a:rPr>
              <a:t>Structural Hazard</a:t>
            </a:r>
            <a:endParaRPr lang="en-US" sz="1650" dirty="0"/>
          </a:p>
        </p:txBody>
      </p:sp>
      <p:sp>
        <p:nvSpPr>
          <p:cNvPr id="8" name="Text 5"/>
          <p:cNvSpPr/>
          <p:nvPr/>
        </p:nvSpPr>
        <p:spPr>
          <a:xfrm>
            <a:off x="914400" y="3794760"/>
            <a:ext cx="2880360" cy="1828800"/>
          </a:xfrm>
          <a:prstGeom prst="rect">
            <a:avLst/>
          </a:prstGeom>
          <a:noFill/>
          <a:ln/>
        </p:spPr>
        <p:txBody>
          <a:bodyPr wrap="square" lIns="0" tIns="0" rIns="0" bIns="0" rtlCol="0" anchor="t"/>
          <a:lstStyle/>
          <a:p>
            <a:pPr algn="ctr" indent="0" marL="0">
              <a:buNone/>
            </a:pPr>
            <a:r>
              <a:rPr lang="en-US" sz="1350" dirty="0">
                <a:solidFill>
                  <a:srgbClr val="20242C"/>
                </a:solidFill>
                <a:latin typeface="Calibri" pitchFamily="34" charset="0"/>
                <a:ea typeface="Calibri" pitchFamily="34" charset="-122"/>
                <a:cs typeface="Calibri" pitchFamily="34" charset="-120"/>
              </a:rPr>
              <a:t>Two instructions need the same hardware resource (e.g., one memory port) at the same time.</a:t>
            </a:r>
            <a:endParaRPr lang="en-US" sz="1350" dirty="0"/>
          </a:p>
        </p:txBody>
      </p:sp>
      <p:sp>
        <p:nvSpPr>
          <p:cNvPr id="9" name="Shape 6"/>
          <p:cNvSpPr/>
          <p:nvPr/>
        </p:nvSpPr>
        <p:spPr>
          <a:xfrm>
            <a:off x="4297680" y="1691640"/>
            <a:ext cx="3429000" cy="4160520"/>
          </a:xfrm>
          <a:prstGeom prst="roundRect">
            <a:avLst>
              <a:gd name="adj" fmla="val 2667"/>
            </a:avLst>
          </a:prstGeom>
          <a:solidFill>
            <a:srgbClr val="FFFFFF"/>
          </a:solidFill>
          <a:ln w="12700">
            <a:solidFill>
              <a:srgbClr val="E2E6ED"/>
            </a:solidFill>
            <a:prstDash val="solid"/>
          </a:ln>
        </p:spPr>
      </p:sp>
      <p:sp>
        <p:nvSpPr>
          <p:cNvPr id="10" name="Shape 7"/>
          <p:cNvSpPr/>
          <p:nvPr/>
        </p:nvSpPr>
        <p:spPr>
          <a:xfrm>
            <a:off x="5577840" y="2011680"/>
            <a:ext cx="914400" cy="914400"/>
          </a:xfrm>
          <a:prstGeom prst="ellipse">
            <a:avLst/>
          </a:prstGeom>
          <a:solidFill>
            <a:srgbClr val="1C7293"/>
          </a:solidFill>
          <a:ln/>
        </p:spPr>
      </p:sp>
      <p:pic>
        <p:nvPicPr>
          <p:cNvPr id="11" name="Image 1" descr="preencoded.png">    </p:cNvPr>
          <p:cNvPicPr>
            <a:picLocks noChangeAspect="1"/>
          </p:cNvPicPr>
          <p:nvPr/>
        </p:nvPicPr>
        <p:blipFill>
          <a:blip r:embed="rId2"/>
          <a:stretch>
            <a:fillRect/>
          </a:stretch>
        </p:blipFill>
        <p:spPr>
          <a:xfrm>
            <a:off x="5687568" y="2121408"/>
            <a:ext cx="694944" cy="694944"/>
          </a:xfrm>
          <a:prstGeom prst="rect">
            <a:avLst/>
          </a:prstGeom>
        </p:spPr>
      </p:pic>
      <p:sp>
        <p:nvSpPr>
          <p:cNvPr id="12" name="Text 8"/>
          <p:cNvSpPr/>
          <p:nvPr/>
        </p:nvSpPr>
        <p:spPr>
          <a:xfrm>
            <a:off x="4572000" y="3154680"/>
            <a:ext cx="2880360" cy="640080"/>
          </a:xfrm>
          <a:prstGeom prst="rect">
            <a:avLst/>
          </a:prstGeom>
          <a:noFill/>
          <a:ln/>
        </p:spPr>
        <p:txBody>
          <a:bodyPr wrap="square" lIns="0" tIns="0" rIns="0" bIns="0" rtlCol="0" anchor="ctr"/>
          <a:lstStyle/>
          <a:p>
            <a:pPr algn="ctr" indent="0" marL="0">
              <a:buNone/>
            </a:pPr>
            <a:r>
              <a:rPr lang="en-US" sz="1650" b="1" dirty="0">
                <a:solidFill>
                  <a:srgbClr val="21295C"/>
                </a:solidFill>
                <a:latin typeface="Cambria" pitchFamily="34" charset="0"/>
                <a:ea typeface="Cambria" pitchFamily="34" charset="-122"/>
                <a:cs typeface="Cambria" pitchFamily="34" charset="-120"/>
              </a:rPr>
              <a:t>Data Hazard</a:t>
            </a:r>
            <a:endParaRPr lang="en-US" sz="1650" dirty="0"/>
          </a:p>
        </p:txBody>
      </p:sp>
      <p:sp>
        <p:nvSpPr>
          <p:cNvPr id="13" name="Text 9"/>
          <p:cNvSpPr/>
          <p:nvPr/>
        </p:nvSpPr>
        <p:spPr>
          <a:xfrm>
            <a:off x="4572000" y="3794760"/>
            <a:ext cx="2880360" cy="1828800"/>
          </a:xfrm>
          <a:prstGeom prst="rect">
            <a:avLst/>
          </a:prstGeom>
          <a:noFill/>
          <a:ln/>
        </p:spPr>
        <p:txBody>
          <a:bodyPr wrap="square" lIns="0" tIns="0" rIns="0" bIns="0" rtlCol="0" anchor="t"/>
          <a:lstStyle/>
          <a:p>
            <a:pPr algn="ctr" indent="0" marL="0">
              <a:buNone/>
            </a:pPr>
            <a:r>
              <a:rPr lang="en-US" sz="1350" dirty="0">
                <a:solidFill>
                  <a:srgbClr val="20242C"/>
                </a:solidFill>
                <a:latin typeface="Calibri" pitchFamily="34" charset="0"/>
                <a:ea typeface="Calibri" pitchFamily="34" charset="-122"/>
                <a:cs typeface="Calibri" pitchFamily="34" charset="-120"/>
              </a:rPr>
              <a:t>An instruction needs a result that a previous, still-in-flight instruction hasn’t produced yet.</a:t>
            </a:r>
            <a:endParaRPr lang="en-US" sz="1350" dirty="0"/>
          </a:p>
        </p:txBody>
      </p:sp>
      <p:sp>
        <p:nvSpPr>
          <p:cNvPr id="14" name="Shape 10"/>
          <p:cNvSpPr/>
          <p:nvPr/>
        </p:nvSpPr>
        <p:spPr>
          <a:xfrm>
            <a:off x="7955280" y="1691640"/>
            <a:ext cx="3429000" cy="4160520"/>
          </a:xfrm>
          <a:prstGeom prst="roundRect">
            <a:avLst>
              <a:gd name="adj" fmla="val 2667"/>
            </a:avLst>
          </a:prstGeom>
          <a:solidFill>
            <a:srgbClr val="FFFFFF"/>
          </a:solidFill>
          <a:ln w="12700">
            <a:solidFill>
              <a:srgbClr val="E2E6ED"/>
            </a:solidFill>
            <a:prstDash val="solid"/>
          </a:ln>
        </p:spPr>
      </p:sp>
      <p:sp>
        <p:nvSpPr>
          <p:cNvPr id="15" name="Shape 11"/>
          <p:cNvSpPr/>
          <p:nvPr/>
        </p:nvSpPr>
        <p:spPr>
          <a:xfrm>
            <a:off x="9235440" y="2011680"/>
            <a:ext cx="914400" cy="914400"/>
          </a:xfrm>
          <a:prstGeom prst="ellipse">
            <a:avLst/>
          </a:prstGeom>
          <a:solidFill>
            <a:srgbClr val="C0392B"/>
          </a:solidFill>
          <a:ln/>
        </p:spPr>
      </p:sp>
      <p:pic>
        <p:nvPicPr>
          <p:cNvPr id="16" name="Image 2" descr="preencoded.png">    </p:cNvPr>
          <p:cNvPicPr>
            <a:picLocks noChangeAspect="1"/>
          </p:cNvPicPr>
          <p:nvPr/>
        </p:nvPicPr>
        <p:blipFill>
          <a:blip r:embed="rId3"/>
          <a:stretch>
            <a:fillRect/>
          </a:stretch>
        </p:blipFill>
        <p:spPr>
          <a:xfrm>
            <a:off x="9345168" y="2121408"/>
            <a:ext cx="694944" cy="694944"/>
          </a:xfrm>
          <a:prstGeom prst="rect">
            <a:avLst/>
          </a:prstGeom>
        </p:spPr>
      </p:pic>
      <p:sp>
        <p:nvSpPr>
          <p:cNvPr id="17" name="Text 12"/>
          <p:cNvSpPr/>
          <p:nvPr/>
        </p:nvSpPr>
        <p:spPr>
          <a:xfrm>
            <a:off x="8229600" y="3154680"/>
            <a:ext cx="2880360" cy="640080"/>
          </a:xfrm>
          <a:prstGeom prst="rect">
            <a:avLst/>
          </a:prstGeom>
          <a:noFill/>
          <a:ln/>
        </p:spPr>
        <p:txBody>
          <a:bodyPr wrap="square" lIns="0" tIns="0" rIns="0" bIns="0" rtlCol="0" anchor="ctr"/>
          <a:lstStyle/>
          <a:p>
            <a:pPr algn="ctr" indent="0" marL="0">
              <a:buNone/>
            </a:pPr>
            <a:r>
              <a:rPr lang="en-US" sz="1650" b="1" dirty="0">
                <a:solidFill>
                  <a:srgbClr val="21295C"/>
                </a:solidFill>
                <a:latin typeface="Cambria" pitchFamily="34" charset="0"/>
                <a:ea typeface="Cambria" pitchFamily="34" charset="-122"/>
                <a:cs typeface="Cambria" pitchFamily="34" charset="-120"/>
              </a:rPr>
              <a:t>Control Hazard</a:t>
            </a:r>
            <a:endParaRPr lang="en-US" sz="1650" dirty="0"/>
          </a:p>
        </p:txBody>
      </p:sp>
      <p:sp>
        <p:nvSpPr>
          <p:cNvPr id="18" name="Text 13"/>
          <p:cNvSpPr/>
          <p:nvPr/>
        </p:nvSpPr>
        <p:spPr>
          <a:xfrm>
            <a:off x="8229600" y="3794760"/>
            <a:ext cx="2880360" cy="1828800"/>
          </a:xfrm>
          <a:prstGeom prst="rect">
            <a:avLst/>
          </a:prstGeom>
          <a:noFill/>
          <a:ln/>
        </p:spPr>
        <p:txBody>
          <a:bodyPr wrap="square" lIns="0" tIns="0" rIns="0" bIns="0" rtlCol="0" anchor="t"/>
          <a:lstStyle/>
          <a:p>
            <a:pPr algn="ctr" indent="0" marL="0">
              <a:buNone/>
            </a:pPr>
            <a:r>
              <a:rPr lang="en-US" sz="1350" dirty="0">
                <a:solidFill>
                  <a:srgbClr val="20242C"/>
                </a:solidFill>
                <a:latin typeface="Calibri" pitchFamily="34" charset="0"/>
                <a:ea typeface="Calibri" pitchFamily="34" charset="-122"/>
                <a:cs typeface="Calibri" pitchFamily="34" charset="-120"/>
              </a:rPr>
              <a:t>A branch instruction hasn’t been resolved yet, so the pipeline doesn’t know which instruction to fetch next.</a:t>
            </a:r>
            <a:endParaRPr lang="en-US" sz="1350" dirty="0"/>
          </a:p>
        </p:txBody>
      </p:sp>
      <p:sp>
        <p:nvSpPr>
          <p:cNvPr id="19" name="Text 1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0" name="Text 1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21" name="Text 16"/>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QUANTIFYING THE DAMAGE</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Effect of Stalls and Penalties on CPI</a:t>
            </a:r>
            <a:endParaRPr lang="en-US" sz="3200" dirty="0"/>
          </a:p>
        </p:txBody>
      </p:sp>
      <p:sp>
        <p:nvSpPr>
          <p:cNvPr id="4" name="Shape 2"/>
          <p:cNvSpPr/>
          <p:nvPr/>
        </p:nvSpPr>
        <p:spPr>
          <a:xfrm>
            <a:off x="640080" y="1645920"/>
            <a:ext cx="10515600" cy="1051560"/>
          </a:xfrm>
          <a:prstGeom prst="roundRect">
            <a:avLst>
              <a:gd name="adj" fmla="val 7826"/>
            </a:avLst>
          </a:prstGeom>
          <a:solidFill>
            <a:srgbClr val="21295C"/>
          </a:solidFill>
          <a:ln/>
        </p:spPr>
      </p:sp>
      <p:sp>
        <p:nvSpPr>
          <p:cNvPr id="5" name="Text 3"/>
          <p:cNvSpPr/>
          <p:nvPr/>
        </p:nvSpPr>
        <p:spPr>
          <a:xfrm>
            <a:off x="640080" y="1645920"/>
            <a:ext cx="10515600" cy="10515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CPI = CPI_ideal  +  Stall Cycles per Instruction</a:t>
            </a:r>
            <a:endParaRPr lang="en-US" sz="2400" dirty="0"/>
          </a:p>
        </p:txBody>
      </p:sp>
      <p:sp>
        <p:nvSpPr>
          <p:cNvPr id="6" name="Text 4"/>
          <p:cNvSpPr/>
          <p:nvPr/>
        </p:nvSpPr>
        <p:spPr>
          <a:xfrm>
            <a:off x="640080" y="2926080"/>
            <a:ext cx="10332720" cy="3108960"/>
          </a:xfrm>
          <a:prstGeom prst="rect">
            <a:avLst/>
          </a:prstGeom>
          <a:noFill/>
          <a:ln/>
        </p:spPr>
        <p:txBody>
          <a:bodyPr wrap="square" lIns="0" tIns="0" rIns="0" bIns="0" rtlCol="0" anchor="t"/>
          <a:lstStyle/>
          <a:p>
            <a:pPr algn="l" marL="342900" indent="-342900">
              <a:lnSpc>
                <a:spcPct val="115000"/>
              </a:lnSpc>
              <a:spcAft>
                <a:spcPts val="1600"/>
              </a:spcAft>
              <a:buSzPct val="100000"/>
              <a:buChar char="•"/>
            </a:pPr>
            <a:r>
              <a:rPr lang="en-US" sz="1550" dirty="0">
                <a:solidFill>
                  <a:srgbClr val="20242C"/>
                </a:solidFill>
                <a:latin typeface="Calibri" pitchFamily="34" charset="0"/>
                <a:ea typeface="Calibri" pitchFamily="34" charset="-122"/>
                <a:cs typeface="Calibri" pitchFamily="34" charset="-120"/>
              </a:rPr>
              <a:t>CPI_ideal is what CPI would be with zero hazards -- typically 1.0 for a simple scalar pipeline.</a:t>
            </a:r>
            <a:endParaRPr lang="en-US" sz="1550" dirty="0"/>
          </a:p>
          <a:p>
            <a:pPr algn="l" marL="342900" indent="-342900">
              <a:lnSpc>
                <a:spcPct val="115000"/>
              </a:lnSpc>
              <a:spcAft>
                <a:spcPts val="1600"/>
              </a:spcAft>
              <a:buSzPct val="100000"/>
              <a:buChar char="•"/>
            </a:pPr>
            <a:r>
              <a:rPr lang="en-US" sz="1550" dirty="0">
                <a:solidFill>
                  <a:srgbClr val="20242C"/>
                </a:solidFill>
                <a:latin typeface="Calibri" pitchFamily="34" charset="0"/>
                <a:ea typeface="Calibri" pitchFamily="34" charset="-122"/>
                <a:cs typeface="Calibri" pitchFamily="34" charset="-120"/>
              </a:rPr>
              <a:t>Stall Cycles per Instruction = (fraction of instructions that stall) × (penalty cycles per stall).</a:t>
            </a:r>
            <a:endParaRPr lang="en-US" sz="1550" dirty="0"/>
          </a:p>
          <a:p>
            <a:pPr algn="l" marL="342900" indent="-342900">
              <a:lnSpc>
                <a:spcPct val="115000"/>
              </a:lnSpc>
              <a:spcAft>
                <a:spcPts val="1600"/>
              </a:spcAft>
              <a:buSzPct val="100000"/>
              <a:buChar char="•"/>
            </a:pPr>
            <a:r>
              <a:rPr lang="en-US" sz="1550" dirty="0">
                <a:solidFill>
                  <a:srgbClr val="20242C"/>
                </a:solidFill>
                <a:latin typeface="Calibri" pitchFamily="34" charset="0"/>
                <a:ea typeface="Calibri" pitchFamily="34" charset="-122"/>
                <a:cs typeface="Calibri" pitchFamily="34" charset="-120"/>
              </a:rPr>
              <a:t>This is exactly the same shape as Amdahl’s-style reasoning: frequency of an event × cost of that event.</a:t>
            </a:r>
            <a:endParaRPr lang="en-US" sz="1550" dirty="0"/>
          </a:p>
          <a:p>
            <a:pPr algn="l" marL="342900" indent="-342900">
              <a:lnSpc>
                <a:spcPct val="115000"/>
              </a:lnSpc>
              <a:spcAft>
                <a:spcPts val="1600"/>
              </a:spcAft>
              <a:buSzPct val="100000"/>
              <a:buChar char="•"/>
            </a:pPr>
            <a:r>
              <a:rPr lang="en-US" sz="1550" dirty="0">
                <a:solidFill>
                  <a:srgbClr val="20242C"/>
                </a:solidFill>
                <a:latin typeface="Calibri" pitchFamily="34" charset="0"/>
                <a:ea typeface="Calibri" pitchFamily="34" charset="-122"/>
                <a:cs typeface="Calibri" pitchFamily="34" charset="-120"/>
              </a:rPr>
              <a:t>Reducing either the frequency of stalls (better prediction, better scheduling) or the penalty per stall (shorter pipeline recovery) directly lowers CPI -- and therefore CPU time.</a:t>
            </a:r>
            <a:endParaRPr lang="en-US" sz="1550" dirty="0"/>
          </a:p>
        </p:txBody>
      </p:sp>
      <p:sp>
        <p:nvSpPr>
          <p:cNvPr id="7" name="Text 5"/>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8" name="Text 6"/>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9" name="Text 7"/>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CONTROL HAZARDS IN DETAIL</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Branch Penalty — A Closer Look</a:t>
            </a:r>
            <a:endParaRPr lang="en-US" sz="3200" dirty="0"/>
          </a:p>
        </p:txBody>
      </p:sp>
      <p:sp>
        <p:nvSpPr>
          <p:cNvPr id="4" name="Text 2"/>
          <p:cNvSpPr/>
          <p:nvPr/>
        </p:nvSpPr>
        <p:spPr>
          <a:xfrm>
            <a:off x="640080" y="1691640"/>
            <a:ext cx="6035040" cy="4206240"/>
          </a:xfrm>
          <a:prstGeom prst="rect">
            <a:avLst/>
          </a:prstGeom>
          <a:noFill/>
          <a:ln/>
        </p:spPr>
        <p:txBody>
          <a:bodyPr wrap="square" lIns="0" tIns="0" rIns="0" bIns="0" rtlCol="0" anchor="t"/>
          <a:lstStyle/>
          <a:p>
            <a:pPr algn="l" marL="342900" indent="-342900">
              <a:lnSpc>
                <a:spcPct val="115000"/>
              </a:lnSpc>
              <a:spcAft>
                <a:spcPts val="1800"/>
              </a:spcAft>
              <a:buSzPct val="100000"/>
              <a:buChar char="•"/>
            </a:pPr>
            <a:r>
              <a:rPr lang="en-US" sz="1550" dirty="0">
                <a:solidFill>
                  <a:srgbClr val="20242C"/>
                </a:solidFill>
                <a:latin typeface="Calibri" pitchFamily="34" charset="0"/>
                <a:ea typeface="Calibri" pitchFamily="34" charset="-122"/>
                <a:cs typeface="Calibri" pitchFamily="34" charset="-120"/>
              </a:rPr>
              <a:t>When the pipeline fetches a branch, it doesn’t yet know if the branch will be taken -- but it must fetch something next.</a:t>
            </a:r>
            <a:endParaRPr lang="en-US" sz="1550" dirty="0"/>
          </a:p>
          <a:p>
            <a:pPr algn="l" marL="342900" indent="-342900">
              <a:lnSpc>
                <a:spcPct val="115000"/>
              </a:lnSpc>
              <a:spcAft>
                <a:spcPts val="1800"/>
              </a:spcAft>
              <a:buSzPct val="100000"/>
              <a:buChar char="•"/>
            </a:pPr>
            <a:r>
              <a:rPr lang="en-US" sz="1550" dirty="0">
                <a:solidFill>
                  <a:srgbClr val="20242C"/>
                </a:solidFill>
                <a:latin typeface="Calibri" pitchFamily="34" charset="0"/>
                <a:ea typeface="Calibri" pitchFamily="34" charset="-122"/>
                <a:cs typeface="Calibri" pitchFamily="34" charset="-120"/>
              </a:rPr>
              <a:t>If it guesses wrong (or simply waits), the instructions already fetched must be discarded -- a "pipeline flush."</a:t>
            </a:r>
            <a:endParaRPr lang="en-US" sz="1550" dirty="0"/>
          </a:p>
          <a:p>
            <a:pPr algn="l" marL="342900" indent="-342900">
              <a:lnSpc>
                <a:spcPct val="115000"/>
              </a:lnSpc>
              <a:spcAft>
                <a:spcPts val="1800"/>
              </a:spcAft>
              <a:buSzPct val="100000"/>
              <a:buChar char="•"/>
            </a:pPr>
            <a:r>
              <a:rPr lang="en-US" sz="1550" dirty="0">
                <a:solidFill>
                  <a:srgbClr val="20242C"/>
                </a:solidFill>
                <a:latin typeface="Calibri" pitchFamily="34" charset="0"/>
                <a:ea typeface="Calibri" pitchFamily="34" charset="-122"/>
                <a:cs typeface="Calibri" pitchFamily="34" charset="-120"/>
              </a:rPr>
              <a:t>Every flushed instruction costs one stall cycle -- deeper pipelines flush more instructions per misprediction.</a:t>
            </a:r>
            <a:endParaRPr lang="en-US" sz="1550" dirty="0"/>
          </a:p>
          <a:p>
            <a:pPr algn="l" marL="342900" indent="-342900">
              <a:lnSpc>
                <a:spcPct val="115000"/>
              </a:lnSpc>
              <a:spcAft>
                <a:spcPts val="1800"/>
              </a:spcAft>
              <a:buSzPct val="100000"/>
              <a:buChar char="•"/>
            </a:pPr>
            <a:r>
              <a:rPr lang="en-US" sz="1550" dirty="0">
                <a:solidFill>
                  <a:srgbClr val="20242C"/>
                </a:solidFill>
                <a:latin typeface="Calibri" pitchFamily="34" charset="0"/>
                <a:ea typeface="Calibri" pitchFamily="34" charset="-122"/>
                <a:cs typeface="Calibri" pitchFamily="34" charset="-120"/>
              </a:rPr>
              <a:t>Branch penalty (cycles) × branch misprediction rate becomes a direct addition to CPI, exactly as in the formula on the previous slide.</a:t>
            </a:r>
            <a:endParaRPr lang="en-US" sz="1550" dirty="0"/>
          </a:p>
        </p:txBody>
      </p:sp>
      <p:sp>
        <p:nvSpPr>
          <p:cNvPr id="5" name="Shape 3"/>
          <p:cNvSpPr/>
          <p:nvPr/>
        </p:nvSpPr>
        <p:spPr>
          <a:xfrm>
            <a:off x="6949440" y="1737360"/>
            <a:ext cx="4206240" cy="4023360"/>
          </a:xfrm>
          <a:prstGeom prst="roundRect">
            <a:avLst>
              <a:gd name="adj" fmla="val 2273"/>
            </a:avLst>
          </a:prstGeom>
          <a:solidFill>
            <a:srgbClr val="FFFFFF"/>
          </a:solidFill>
          <a:ln w="12700">
            <a:solidFill>
              <a:srgbClr val="E2E6ED"/>
            </a:solidFill>
            <a:prstDash val="solid"/>
          </a:ln>
        </p:spPr>
      </p:sp>
      <p:sp>
        <p:nvSpPr>
          <p:cNvPr id="6" name="Text 4"/>
          <p:cNvSpPr/>
          <p:nvPr/>
        </p:nvSpPr>
        <p:spPr>
          <a:xfrm>
            <a:off x="7223760" y="1920240"/>
            <a:ext cx="3657600" cy="36576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Worked mini-example</a:t>
            </a:r>
            <a:endParaRPr lang="en-US" sz="1300" dirty="0"/>
          </a:p>
        </p:txBody>
      </p:sp>
      <p:sp>
        <p:nvSpPr>
          <p:cNvPr id="7" name="Text 5"/>
          <p:cNvSpPr/>
          <p:nvPr/>
        </p:nvSpPr>
        <p:spPr>
          <a:xfrm>
            <a:off x="7223760" y="2377440"/>
            <a:ext cx="3657600" cy="3108960"/>
          </a:xfrm>
          <a:prstGeom prst="rect">
            <a:avLst/>
          </a:prstGeom>
          <a:noFill/>
          <a:ln/>
        </p:spPr>
        <p:txBody>
          <a:bodyPr wrap="square" lIns="0" tIns="0" rIns="0" bIns="0" rtlCol="0" anchor="t"/>
          <a:lstStyle/>
          <a:p>
            <a:pPr indent="0" marL="0">
              <a:spcAft>
                <a:spcPts val="1000"/>
              </a:spcAft>
              <a:buNone/>
            </a:pPr>
            <a:r>
              <a:rPr lang="en-US" sz="1450" dirty="0">
                <a:solidFill>
                  <a:srgbClr val="20242C"/>
                </a:solidFill>
                <a:latin typeface="Calibri" pitchFamily="34" charset="0"/>
                <a:ea typeface="Calibri" pitchFamily="34" charset="-122"/>
                <a:cs typeface="Calibri" pitchFamily="34" charset="-120"/>
              </a:rPr>
              <a:t>20% of instructions are branches</a:t>
            </a:r>
            <a:endParaRPr lang="en-US" sz="1450" dirty="0"/>
          </a:p>
          <a:p>
            <a:pPr indent="0" marL="0">
              <a:spcAft>
                <a:spcPts val="1000"/>
              </a:spcAft>
              <a:buNone/>
            </a:pPr>
            <a:r>
              <a:rPr lang="en-US" sz="1450" dirty="0">
                <a:solidFill>
                  <a:srgbClr val="20242C"/>
                </a:solidFill>
                <a:latin typeface="Calibri" pitchFamily="34" charset="0"/>
                <a:ea typeface="Calibri" pitchFamily="34" charset="-122"/>
                <a:cs typeface="Calibri" pitchFamily="34" charset="-120"/>
              </a:rPr>
              <a:t>30% of those are mispredicted</a:t>
            </a:r>
            <a:endParaRPr lang="en-US" sz="1450" dirty="0"/>
          </a:p>
          <a:p>
            <a:pPr indent="0" marL="0">
              <a:spcAft>
                <a:spcPts val="1400"/>
              </a:spcAft>
              <a:buNone/>
            </a:pPr>
            <a:r>
              <a:rPr lang="en-US" sz="1450" dirty="0">
                <a:solidFill>
                  <a:srgbClr val="20242C"/>
                </a:solidFill>
                <a:latin typeface="Calibri" pitchFamily="34" charset="0"/>
                <a:ea typeface="Calibri" pitchFamily="34" charset="-122"/>
                <a:cs typeface="Calibri" pitchFamily="34" charset="-120"/>
              </a:rPr>
              <a:t>Misprediction penalty = 3 cycles</a:t>
            </a:r>
            <a:endParaRPr lang="en-US" sz="1450" dirty="0"/>
          </a:p>
          <a:p>
            <a:pPr indent="0" marL="0">
              <a:buNone/>
            </a:pPr>
            <a:r>
              <a:rPr lang="en-US" sz="1450" b="1" dirty="0">
                <a:solidFill>
                  <a:srgbClr val="C0392B"/>
                </a:solidFill>
                <a:latin typeface="Calibri" pitchFamily="34" charset="0"/>
                <a:ea typeface="Calibri" pitchFamily="34" charset="-122"/>
                <a:cs typeface="Calibri" pitchFamily="34" charset="-120"/>
              </a:rPr>
              <a:t>CPI added = 0.20 × 0.30 × 3 = 0.18 cycles/instr</a:t>
            </a:r>
            <a:endParaRPr lang="en-US" sz="1450" dirty="0"/>
          </a:p>
        </p:txBody>
      </p:sp>
      <p:sp>
        <p:nvSpPr>
          <p:cNvPr id="8" name="Text 6"/>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9" name="Text 7"/>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0" name="Text 8"/>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PIPELINE DEPTH</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Are Pipeline Stages?</a:t>
            </a:r>
            <a:endParaRPr lang="en-US" sz="3200" dirty="0"/>
          </a:p>
        </p:txBody>
      </p:sp>
      <p:sp>
        <p:nvSpPr>
          <p:cNvPr id="4" name="Shape 2"/>
          <p:cNvSpPr/>
          <p:nvPr/>
        </p:nvSpPr>
        <p:spPr>
          <a:xfrm>
            <a:off x="640080" y="2011680"/>
            <a:ext cx="2011680" cy="1188720"/>
          </a:xfrm>
          <a:prstGeom prst="roundRect">
            <a:avLst>
              <a:gd name="adj" fmla="val 6923"/>
            </a:avLst>
          </a:prstGeom>
          <a:solidFill>
            <a:srgbClr val="065A82"/>
          </a:solidFill>
          <a:ln/>
        </p:spPr>
      </p:sp>
      <p:sp>
        <p:nvSpPr>
          <p:cNvPr id="5" name="Text 3"/>
          <p:cNvSpPr/>
          <p:nvPr/>
        </p:nvSpPr>
        <p:spPr>
          <a:xfrm>
            <a:off x="640080" y="2148840"/>
            <a:ext cx="201168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IF</a:t>
            </a:r>
            <a:endParaRPr lang="en-US" sz="2200" dirty="0"/>
          </a:p>
        </p:txBody>
      </p:sp>
      <p:sp>
        <p:nvSpPr>
          <p:cNvPr id="6" name="Text 4"/>
          <p:cNvSpPr/>
          <p:nvPr/>
        </p:nvSpPr>
        <p:spPr>
          <a:xfrm>
            <a:off x="685800" y="2697480"/>
            <a:ext cx="192024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Instruction Fetch</a:t>
            </a:r>
            <a:endParaRPr lang="en-US" sz="1000" dirty="0"/>
          </a:p>
        </p:txBody>
      </p:sp>
      <p:sp>
        <p:nvSpPr>
          <p:cNvPr id="7" name="Shape 5"/>
          <p:cNvSpPr/>
          <p:nvPr/>
        </p:nvSpPr>
        <p:spPr>
          <a:xfrm>
            <a:off x="2651760" y="2450592"/>
            <a:ext cx="137160" cy="182880"/>
          </a:xfrm>
          <a:prstGeom prst="rightArrow">
            <a:avLst/>
          </a:prstGeom>
          <a:solidFill>
            <a:srgbClr val="6B7280"/>
          </a:solidFill>
          <a:ln/>
        </p:spPr>
      </p:sp>
      <p:sp>
        <p:nvSpPr>
          <p:cNvPr id="8" name="Shape 6"/>
          <p:cNvSpPr/>
          <p:nvPr/>
        </p:nvSpPr>
        <p:spPr>
          <a:xfrm>
            <a:off x="2788920" y="2011680"/>
            <a:ext cx="2011680" cy="1188720"/>
          </a:xfrm>
          <a:prstGeom prst="roundRect">
            <a:avLst>
              <a:gd name="adj" fmla="val 6923"/>
            </a:avLst>
          </a:prstGeom>
          <a:solidFill>
            <a:srgbClr val="1C7293"/>
          </a:solidFill>
          <a:ln/>
        </p:spPr>
      </p:sp>
      <p:sp>
        <p:nvSpPr>
          <p:cNvPr id="9" name="Text 7"/>
          <p:cNvSpPr/>
          <p:nvPr/>
        </p:nvSpPr>
        <p:spPr>
          <a:xfrm>
            <a:off x="2788920" y="2148840"/>
            <a:ext cx="201168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ID</a:t>
            </a:r>
            <a:endParaRPr lang="en-US" sz="2200" dirty="0"/>
          </a:p>
        </p:txBody>
      </p:sp>
      <p:sp>
        <p:nvSpPr>
          <p:cNvPr id="10" name="Text 8"/>
          <p:cNvSpPr/>
          <p:nvPr/>
        </p:nvSpPr>
        <p:spPr>
          <a:xfrm>
            <a:off x="2834640" y="2697480"/>
            <a:ext cx="192024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Instr. Decode / Reg. Read</a:t>
            </a:r>
            <a:endParaRPr lang="en-US" sz="1000" dirty="0"/>
          </a:p>
        </p:txBody>
      </p:sp>
      <p:sp>
        <p:nvSpPr>
          <p:cNvPr id="11" name="Shape 9"/>
          <p:cNvSpPr/>
          <p:nvPr/>
        </p:nvSpPr>
        <p:spPr>
          <a:xfrm>
            <a:off x="4800600" y="2450592"/>
            <a:ext cx="137160" cy="182880"/>
          </a:xfrm>
          <a:prstGeom prst="rightArrow">
            <a:avLst/>
          </a:prstGeom>
          <a:solidFill>
            <a:srgbClr val="6B7280"/>
          </a:solidFill>
          <a:ln/>
        </p:spPr>
      </p:sp>
      <p:sp>
        <p:nvSpPr>
          <p:cNvPr id="12" name="Shape 10"/>
          <p:cNvSpPr/>
          <p:nvPr/>
        </p:nvSpPr>
        <p:spPr>
          <a:xfrm>
            <a:off x="4937760" y="2011680"/>
            <a:ext cx="2011680" cy="1188720"/>
          </a:xfrm>
          <a:prstGeom prst="roundRect">
            <a:avLst>
              <a:gd name="adj" fmla="val 6923"/>
            </a:avLst>
          </a:prstGeom>
          <a:solidFill>
            <a:srgbClr val="D9822B"/>
          </a:solidFill>
          <a:ln/>
        </p:spPr>
      </p:sp>
      <p:sp>
        <p:nvSpPr>
          <p:cNvPr id="13" name="Text 11"/>
          <p:cNvSpPr/>
          <p:nvPr/>
        </p:nvSpPr>
        <p:spPr>
          <a:xfrm>
            <a:off x="4937760" y="2148840"/>
            <a:ext cx="201168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EX</a:t>
            </a:r>
            <a:endParaRPr lang="en-US" sz="2200" dirty="0"/>
          </a:p>
        </p:txBody>
      </p:sp>
      <p:sp>
        <p:nvSpPr>
          <p:cNvPr id="14" name="Text 12"/>
          <p:cNvSpPr/>
          <p:nvPr/>
        </p:nvSpPr>
        <p:spPr>
          <a:xfrm>
            <a:off x="4983480" y="2697480"/>
            <a:ext cx="192024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Execute / ALU</a:t>
            </a:r>
            <a:endParaRPr lang="en-US" sz="1000" dirty="0"/>
          </a:p>
        </p:txBody>
      </p:sp>
      <p:sp>
        <p:nvSpPr>
          <p:cNvPr id="15" name="Shape 13"/>
          <p:cNvSpPr/>
          <p:nvPr/>
        </p:nvSpPr>
        <p:spPr>
          <a:xfrm>
            <a:off x="6949440" y="2450592"/>
            <a:ext cx="137160" cy="182880"/>
          </a:xfrm>
          <a:prstGeom prst="rightArrow">
            <a:avLst/>
          </a:prstGeom>
          <a:solidFill>
            <a:srgbClr val="6B7280"/>
          </a:solidFill>
          <a:ln/>
        </p:spPr>
      </p:sp>
      <p:sp>
        <p:nvSpPr>
          <p:cNvPr id="16" name="Shape 14"/>
          <p:cNvSpPr/>
          <p:nvPr/>
        </p:nvSpPr>
        <p:spPr>
          <a:xfrm>
            <a:off x="7086600" y="2011680"/>
            <a:ext cx="2011680" cy="1188720"/>
          </a:xfrm>
          <a:prstGeom prst="roundRect">
            <a:avLst>
              <a:gd name="adj" fmla="val 6923"/>
            </a:avLst>
          </a:prstGeom>
          <a:solidFill>
            <a:srgbClr val="1C7293"/>
          </a:solidFill>
          <a:ln/>
        </p:spPr>
      </p:sp>
      <p:sp>
        <p:nvSpPr>
          <p:cNvPr id="17" name="Text 15"/>
          <p:cNvSpPr/>
          <p:nvPr/>
        </p:nvSpPr>
        <p:spPr>
          <a:xfrm>
            <a:off x="7086600" y="2148840"/>
            <a:ext cx="201168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MEM</a:t>
            </a:r>
            <a:endParaRPr lang="en-US" sz="2200" dirty="0"/>
          </a:p>
        </p:txBody>
      </p:sp>
      <p:sp>
        <p:nvSpPr>
          <p:cNvPr id="18" name="Text 16"/>
          <p:cNvSpPr/>
          <p:nvPr/>
        </p:nvSpPr>
        <p:spPr>
          <a:xfrm>
            <a:off x="7132320" y="2697480"/>
            <a:ext cx="192024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Memory Access</a:t>
            </a:r>
            <a:endParaRPr lang="en-US" sz="1000" dirty="0"/>
          </a:p>
        </p:txBody>
      </p:sp>
      <p:sp>
        <p:nvSpPr>
          <p:cNvPr id="19" name="Shape 17"/>
          <p:cNvSpPr/>
          <p:nvPr/>
        </p:nvSpPr>
        <p:spPr>
          <a:xfrm>
            <a:off x="9098280" y="2450592"/>
            <a:ext cx="137160" cy="182880"/>
          </a:xfrm>
          <a:prstGeom prst="rightArrow">
            <a:avLst/>
          </a:prstGeom>
          <a:solidFill>
            <a:srgbClr val="6B7280"/>
          </a:solidFill>
          <a:ln/>
        </p:spPr>
      </p:sp>
      <p:sp>
        <p:nvSpPr>
          <p:cNvPr id="20" name="Shape 18"/>
          <p:cNvSpPr/>
          <p:nvPr/>
        </p:nvSpPr>
        <p:spPr>
          <a:xfrm>
            <a:off x="9235440" y="2011680"/>
            <a:ext cx="2011680" cy="1188720"/>
          </a:xfrm>
          <a:prstGeom prst="roundRect">
            <a:avLst>
              <a:gd name="adj" fmla="val 6923"/>
            </a:avLst>
          </a:prstGeom>
          <a:solidFill>
            <a:srgbClr val="065A82"/>
          </a:solidFill>
          <a:ln/>
        </p:spPr>
      </p:sp>
      <p:sp>
        <p:nvSpPr>
          <p:cNvPr id="21" name="Text 19"/>
          <p:cNvSpPr/>
          <p:nvPr/>
        </p:nvSpPr>
        <p:spPr>
          <a:xfrm>
            <a:off x="9235440" y="2148840"/>
            <a:ext cx="201168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WB</a:t>
            </a:r>
            <a:endParaRPr lang="en-US" sz="2200" dirty="0"/>
          </a:p>
        </p:txBody>
      </p:sp>
      <p:sp>
        <p:nvSpPr>
          <p:cNvPr id="22" name="Text 20"/>
          <p:cNvSpPr/>
          <p:nvPr/>
        </p:nvSpPr>
        <p:spPr>
          <a:xfrm>
            <a:off x="9281160" y="2697480"/>
            <a:ext cx="192024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Write Back</a:t>
            </a:r>
            <a:endParaRPr lang="en-US" sz="1000" dirty="0"/>
          </a:p>
        </p:txBody>
      </p:sp>
      <p:sp>
        <p:nvSpPr>
          <p:cNvPr id="23" name="Text 21"/>
          <p:cNvSpPr/>
          <p:nvPr/>
        </p:nvSpPr>
        <p:spPr>
          <a:xfrm>
            <a:off x="640080" y="3566160"/>
            <a:ext cx="10332720" cy="2743200"/>
          </a:xfrm>
          <a:prstGeom prst="rect">
            <a:avLst/>
          </a:prstGeom>
          <a:noFill/>
          <a:ln/>
        </p:spPr>
        <p:txBody>
          <a:bodyPr wrap="square" lIns="0" tIns="0" rIns="0" bIns="0" rtlCol="0" anchor="t"/>
          <a:lstStyle/>
          <a:p>
            <a:pPr algn="l" marL="342900" indent="-342900">
              <a:lnSpc>
                <a:spcPct val="115000"/>
              </a:lnSpc>
              <a:spcAft>
                <a:spcPts val="1200"/>
              </a:spcAft>
              <a:buSzPct val="100000"/>
              <a:buChar char="•"/>
            </a:pPr>
            <a:r>
              <a:rPr lang="en-US" sz="1450" dirty="0">
                <a:solidFill>
                  <a:srgbClr val="20242C"/>
                </a:solidFill>
                <a:latin typeface="Calibri" pitchFamily="34" charset="0"/>
                <a:ea typeface="Calibri" pitchFamily="34" charset="-122"/>
                <a:cs typeface="Calibri" pitchFamily="34" charset="-120"/>
              </a:rPr>
              <a:t>A pipeline stage is one step of instruction processing that can run in parallel, in the same cycle, with other instructions’ other stages.</a:t>
            </a:r>
            <a:endParaRPr lang="en-US" sz="1450" dirty="0"/>
          </a:p>
          <a:p>
            <a:pPr algn="l" marL="342900" indent="-342900">
              <a:lnSpc>
                <a:spcPct val="115000"/>
              </a:lnSpc>
              <a:spcAft>
                <a:spcPts val="1200"/>
              </a:spcAft>
              <a:buSzPct val="100000"/>
              <a:buChar char="•"/>
            </a:pPr>
            <a:r>
              <a:rPr lang="en-US" sz="1450" dirty="0">
                <a:solidFill>
                  <a:srgbClr val="20242C"/>
                </a:solidFill>
                <a:latin typeface="Calibri" pitchFamily="34" charset="0"/>
                <a:ea typeface="Calibri" pitchFamily="34" charset="-122"/>
                <a:cs typeface="Calibri" pitchFamily="34" charset="-120"/>
              </a:rPr>
              <a:t>The classic five-stage RISC pipeline shown above lets up to five different instructions be "in flight" simultaneously, one per stage.</a:t>
            </a:r>
            <a:endParaRPr lang="en-US" sz="1450" dirty="0"/>
          </a:p>
          <a:p>
            <a:pPr algn="l" marL="342900" indent="-342900">
              <a:lnSpc>
                <a:spcPct val="115000"/>
              </a:lnSpc>
              <a:spcAft>
                <a:spcPts val="1200"/>
              </a:spcAft>
              <a:buSzPct val="100000"/>
              <a:buChar char="•"/>
            </a:pPr>
            <a:r>
              <a:rPr lang="en-US" sz="1450" dirty="0">
                <a:solidFill>
                  <a:srgbClr val="20242C"/>
                </a:solidFill>
                <a:latin typeface="Calibri" pitchFamily="34" charset="0"/>
                <a:ea typeface="Calibri" pitchFamily="34" charset="-122"/>
                <a:cs typeface="Calibri" pitchFamily="34" charset="-120"/>
              </a:rPr>
              <a:t>Each stage’s work must fit inside one clock cycle -- the slowest stage sets the clock cycle time for the whole pipeline.</a:t>
            </a:r>
            <a:endParaRPr lang="en-US" sz="1450" dirty="0"/>
          </a:p>
          <a:p>
            <a:pPr algn="l" marL="342900" indent="-342900">
              <a:lnSpc>
                <a:spcPct val="115000"/>
              </a:lnSpc>
              <a:spcAft>
                <a:spcPts val="1200"/>
              </a:spcAft>
              <a:buSzPct val="100000"/>
              <a:buChar char="•"/>
            </a:pPr>
            <a:r>
              <a:rPr lang="en-US" sz="1450" dirty="0">
                <a:solidFill>
                  <a:srgbClr val="20242C"/>
                </a:solidFill>
                <a:latin typeface="Calibri" pitchFamily="34" charset="0"/>
                <a:ea typeface="Calibri" pitchFamily="34" charset="-122"/>
                <a:cs typeface="Calibri" pitchFamily="34" charset="-120"/>
              </a:rPr>
              <a:t>More stages = each stage does less work = each stage can be shorter = the clock can potentially run faster.</a:t>
            </a:r>
            <a:endParaRPr lang="en-US" sz="1450" dirty="0"/>
          </a:p>
        </p:txBody>
      </p:sp>
      <p:sp>
        <p:nvSpPr>
          <p:cNvPr id="24" name="Text 22"/>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5" name="Text 23"/>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26" name="Text 24"/>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CORE TRADE-OFF</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Number of Pipeline Stages vs. Clock Rate</a:t>
            </a:r>
            <a:endParaRPr lang="en-US" sz="3200" dirty="0"/>
          </a:p>
        </p:txBody>
      </p:sp>
      <p:sp>
        <p:nvSpPr>
          <p:cNvPr id="4" name="Shape 2"/>
          <p:cNvSpPr/>
          <p:nvPr/>
        </p:nvSpPr>
        <p:spPr>
          <a:xfrm>
            <a:off x="640080" y="1691640"/>
            <a:ext cx="5120640" cy="4160520"/>
          </a:xfrm>
          <a:prstGeom prst="roundRect">
            <a:avLst>
              <a:gd name="adj" fmla="val 2198"/>
            </a:avLst>
          </a:prstGeom>
          <a:solidFill>
            <a:srgbClr val="FFFFFF"/>
          </a:solidFill>
          <a:ln w="12700">
            <a:solidFill>
              <a:srgbClr val="E2E6ED"/>
            </a:solidFill>
            <a:prstDash val="solid"/>
          </a:ln>
        </p:spPr>
      </p:sp>
      <p:sp>
        <p:nvSpPr>
          <p:cNvPr id="5" name="Shape 3"/>
          <p:cNvSpPr/>
          <p:nvPr/>
        </p:nvSpPr>
        <p:spPr>
          <a:xfrm>
            <a:off x="914400" y="1920240"/>
            <a:ext cx="777240" cy="77724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1007669" y="2013509"/>
            <a:ext cx="590702" cy="590702"/>
          </a:xfrm>
          <a:prstGeom prst="rect">
            <a:avLst/>
          </a:prstGeom>
        </p:spPr>
      </p:pic>
      <p:sp>
        <p:nvSpPr>
          <p:cNvPr id="7" name="Text 4"/>
          <p:cNvSpPr/>
          <p:nvPr/>
        </p:nvSpPr>
        <p:spPr>
          <a:xfrm>
            <a:off x="1828800" y="2011680"/>
            <a:ext cx="3749040" cy="45720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Fewer, Deeper Stages</a:t>
            </a:r>
            <a:endParaRPr lang="en-US" sz="1600" dirty="0"/>
          </a:p>
        </p:txBody>
      </p:sp>
      <p:sp>
        <p:nvSpPr>
          <p:cNvPr id="8" name="Text 5"/>
          <p:cNvSpPr/>
          <p:nvPr/>
        </p:nvSpPr>
        <p:spPr>
          <a:xfrm>
            <a:off x="914400" y="2743200"/>
            <a:ext cx="4572000" cy="2926080"/>
          </a:xfrm>
          <a:prstGeom prst="rect">
            <a:avLst/>
          </a:prstGeom>
          <a:noFill/>
          <a:ln/>
        </p:spPr>
        <p:txBody>
          <a:bodyPr wrap="square" lIns="0" tIns="0" rIns="0" bIns="0" rtlCol="0" anchor="t"/>
          <a:lstStyle/>
          <a:p>
            <a:pPr algn="l" marL="342900" indent="-342900">
              <a:lnSpc>
                <a:spcPct val="115000"/>
              </a:lnSpc>
              <a:spcAft>
                <a:spcPts val="1200"/>
              </a:spcAft>
              <a:buSzPct val="100000"/>
              <a:buChar char="•"/>
            </a:pPr>
            <a:r>
              <a:rPr lang="en-US" sz="1350" dirty="0">
                <a:solidFill>
                  <a:srgbClr val="20242C"/>
                </a:solidFill>
                <a:latin typeface="Calibri" pitchFamily="34" charset="0"/>
                <a:ea typeface="Calibri" pitchFamily="34" charset="-122"/>
                <a:cs typeface="Calibri" pitchFamily="34" charset="-120"/>
              </a:rPr>
              <a:t>Each stage does more work → takes longer → clock cycle time is longer → clock rate is lower.</a:t>
            </a:r>
            <a:endParaRPr lang="en-US" sz="1350" dirty="0"/>
          </a:p>
          <a:p>
            <a:pPr algn="l" marL="342900" indent="-342900">
              <a:lnSpc>
                <a:spcPct val="115000"/>
              </a:lnSpc>
              <a:spcAft>
                <a:spcPts val="1200"/>
              </a:spcAft>
              <a:buSzPct val="100000"/>
              <a:buChar char="•"/>
            </a:pPr>
            <a:r>
              <a:rPr lang="en-US" sz="1350" dirty="0">
                <a:solidFill>
                  <a:srgbClr val="20242C"/>
                </a:solidFill>
                <a:latin typeface="Calibri" pitchFamily="34" charset="0"/>
                <a:ea typeface="Calibri" pitchFamily="34" charset="-122"/>
                <a:cs typeface="Calibri" pitchFamily="34" charset="-120"/>
              </a:rPr>
              <a:t>Fewer pipeline boundaries → fewer hazards → CPI stays closer to ideal.</a:t>
            </a:r>
            <a:endParaRPr lang="en-US" sz="1350" dirty="0"/>
          </a:p>
          <a:p>
            <a:pPr algn="l" marL="342900" indent="-342900">
              <a:lnSpc>
                <a:spcPct val="115000"/>
              </a:lnSpc>
              <a:spcAft>
                <a:spcPts val="1200"/>
              </a:spcAft>
              <a:buSzPct val="100000"/>
              <a:buChar char="•"/>
            </a:pPr>
            <a:r>
              <a:rPr lang="en-US" sz="1350" dirty="0">
                <a:solidFill>
                  <a:srgbClr val="20242C"/>
                </a:solidFill>
                <a:latin typeface="Calibri" pitchFamily="34" charset="0"/>
                <a:ea typeface="Calibri" pitchFamily="34" charset="-122"/>
                <a:cs typeface="Calibri" pitchFamily="34" charset="-120"/>
              </a:rPr>
              <a:t>Simpler control logic, easier to design and verify.</a:t>
            </a:r>
            <a:endParaRPr lang="en-US" sz="1350" dirty="0"/>
          </a:p>
        </p:txBody>
      </p:sp>
      <p:sp>
        <p:nvSpPr>
          <p:cNvPr id="9" name="Shape 6"/>
          <p:cNvSpPr/>
          <p:nvPr/>
        </p:nvSpPr>
        <p:spPr>
          <a:xfrm>
            <a:off x="6309360" y="1691640"/>
            <a:ext cx="5120640" cy="4160520"/>
          </a:xfrm>
          <a:prstGeom prst="roundRect">
            <a:avLst>
              <a:gd name="adj" fmla="val 2198"/>
            </a:avLst>
          </a:prstGeom>
          <a:solidFill>
            <a:srgbClr val="FFFFFF"/>
          </a:solidFill>
          <a:ln w="12700">
            <a:solidFill>
              <a:srgbClr val="E2E6ED"/>
            </a:solidFill>
            <a:prstDash val="solid"/>
          </a:ln>
        </p:spPr>
      </p:sp>
      <p:sp>
        <p:nvSpPr>
          <p:cNvPr id="10" name="Shape 7"/>
          <p:cNvSpPr/>
          <p:nvPr/>
        </p:nvSpPr>
        <p:spPr>
          <a:xfrm>
            <a:off x="6583680" y="1920240"/>
            <a:ext cx="777240" cy="777240"/>
          </a:xfrm>
          <a:prstGeom prst="ellipse">
            <a:avLst/>
          </a:prstGeom>
          <a:solidFill>
            <a:srgbClr val="C0392B"/>
          </a:solidFill>
          <a:ln/>
        </p:spPr>
      </p:sp>
      <p:pic>
        <p:nvPicPr>
          <p:cNvPr id="11" name="Image 1" descr="preencoded.png">    </p:cNvPr>
          <p:cNvPicPr>
            <a:picLocks noChangeAspect="1"/>
          </p:cNvPicPr>
          <p:nvPr/>
        </p:nvPicPr>
        <p:blipFill>
          <a:blip r:embed="rId2"/>
          <a:stretch>
            <a:fillRect/>
          </a:stretch>
        </p:blipFill>
        <p:spPr>
          <a:xfrm>
            <a:off x="6676949" y="2013509"/>
            <a:ext cx="590702" cy="590702"/>
          </a:xfrm>
          <a:prstGeom prst="rect">
            <a:avLst/>
          </a:prstGeom>
        </p:spPr>
      </p:pic>
      <p:sp>
        <p:nvSpPr>
          <p:cNvPr id="12" name="Text 8"/>
          <p:cNvSpPr/>
          <p:nvPr/>
        </p:nvSpPr>
        <p:spPr>
          <a:xfrm>
            <a:off x="7498080" y="2011680"/>
            <a:ext cx="3749040" cy="45720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More, Shallower Stages</a:t>
            </a:r>
            <a:endParaRPr lang="en-US" sz="1600" dirty="0"/>
          </a:p>
        </p:txBody>
      </p:sp>
      <p:sp>
        <p:nvSpPr>
          <p:cNvPr id="13" name="Text 9"/>
          <p:cNvSpPr/>
          <p:nvPr/>
        </p:nvSpPr>
        <p:spPr>
          <a:xfrm>
            <a:off x="6583680" y="2743200"/>
            <a:ext cx="4572000" cy="2926080"/>
          </a:xfrm>
          <a:prstGeom prst="rect">
            <a:avLst/>
          </a:prstGeom>
          <a:noFill/>
          <a:ln/>
        </p:spPr>
        <p:txBody>
          <a:bodyPr wrap="square" lIns="0" tIns="0" rIns="0" bIns="0" rtlCol="0" anchor="t"/>
          <a:lstStyle/>
          <a:p>
            <a:pPr algn="l" marL="342900" indent="-342900">
              <a:lnSpc>
                <a:spcPct val="115000"/>
              </a:lnSpc>
              <a:spcAft>
                <a:spcPts val="1200"/>
              </a:spcAft>
              <a:buSzPct val="100000"/>
              <a:buChar char="•"/>
            </a:pPr>
            <a:r>
              <a:rPr lang="en-US" sz="1350" dirty="0">
                <a:solidFill>
                  <a:srgbClr val="20242C"/>
                </a:solidFill>
                <a:latin typeface="Calibri" pitchFamily="34" charset="0"/>
                <a:ea typeface="Calibri" pitchFamily="34" charset="-122"/>
                <a:cs typeface="Calibri" pitchFamily="34" charset="-120"/>
              </a:rPr>
              <a:t>Each stage does less work → takes less time → clock cycle time is shorter → clock rate is higher.</a:t>
            </a:r>
            <a:endParaRPr lang="en-US" sz="1350" dirty="0"/>
          </a:p>
          <a:p>
            <a:pPr algn="l" marL="342900" indent="-342900">
              <a:lnSpc>
                <a:spcPct val="115000"/>
              </a:lnSpc>
              <a:spcAft>
                <a:spcPts val="1200"/>
              </a:spcAft>
              <a:buSzPct val="100000"/>
              <a:buChar char="•"/>
            </a:pPr>
            <a:r>
              <a:rPr lang="en-US" sz="1350" dirty="0">
                <a:solidFill>
                  <a:srgbClr val="20242C"/>
                </a:solidFill>
                <a:latin typeface="Calibri" pitchFamily="34" charset="0"/>
                <a:ea typeface="Calibri" pitchFamily="34" charset="-122"/>
                <a:cs typeface="Calibri" pitchFamily="34" charset="-120"/>
              </a:rPr>
              <a:t>More pipeline boundaries → more hazards possible → branch and data stalls get more expensive (bigger flush penalty).</a:t>
            </a:r>
            <a:endParaRPr lang="en-US" sz="1350" dirty="0"/>
          </a:p>
          <a:p>
            <a:pPr algn="l" marL="342900" indent="-342900">
              <a:lnSpc>
                <a:spcPct val="115000"/>
              </a:lnSpc>
              <a:spcAft>
                <a:spcPts val="1200"/>
              </a:spcAft>
              <a:buSzPct val="100000"/>
              <a:buChar char="•"/>
            </a:pPr>
            <a:r>
              <a:rPr lang="en-US" sz="1350" dirty="0">
                <a:solidFill>
                  <a:srgbClr val="20242C"/>
                </a:solidFill>
                <a:latin typeface="Calibri" pitchFamily="34" charset="0"/>
                <a:ea typeface="Calibri" pitchFamily="34" charset="-122"/>
                <a:cs typeface="Calibri" pitchFamily="34" charset="-120"/>
              </a:rPr>
              <a:t>CPI tends to rise even as clock rate rises -- the two effects fight each other.</a:t>
            </a:r>
            <a:endParaRPr lang="en-US" sz="1350" dirty="0"/>
          </a:p>
        </p:txBody>
      </p:sp>
      <p:sp>
        <p:nvSpPr>
          <p:cNvPr id="14" name="Text 10"/>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5" name="Text 11"/>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6" name="Text 12"/>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WEIGHING THE TRADE-OFF</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Deeper Pipelines: Benefit vs. Cost</a:t>
            </a:r>
            <a:endParaRPr lang="en-US" sz="3200" dirty="0"/>
          </a:p>
        </p:txBody>
      </p:sp>
      <p:sp>
        <p:nvSpPr>
          <p:cNvPr id="4" name="Shape 2"/>
          <p:cNvSpPr/>
          <p:nvPr/>
        </p:nvSpPr>
        <p:spPr>
          <a:xfrm>
            <a:off x="640080" y="1737360"/>
            <a:ext cx="3200400" cy="566928"/>
          </a:xfrm>
          <a:prstGeom prst="rect">
            <a:avLst/>
          </a:prstGeom>
          <a:solidFill>
            <a:srgbClr val="21295C"/>
          </a:solidFill>
          <a:ln w="6350">
            <a:solidFill>
              <a:srgbClr val="FFFFFF"/>
            </a:solidFill>
            <a:prstDash val="solid"/>
          </a:ln>
        </p:spPr>
      </p:sp>
      <p:sp>
        <p:nvSpPr>
          <p:cNvPr id="5" name="Text 3"/>
          <p:cNvSpPr/>
          <p:nvPr/>
        </p:nvSpPr>
        <p:spPr>
          <a:xfrm>
            <a:off x="731520" y="1737360"/>
            <a:ext cx="3017520"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Factor</a:t>
            </a:r>
            <a:endParaRPr lang="en-US" sz="1300" dirty="0"/>
          </a:p>
        </p:txBody>
      </p:sp>
      <p:sp>
        <p:nvSpPr>
          <p:cNvPr id="6" name="Shape 4"/>
          <p:cNvSpPr/>
          <p:nvPr/>
        </p:nvSpPr>
        <p:spPr>
          <a:xfrm>
            <a:off x="3840480" y="1737360"/>
            <a:ext cx="3657600" cy="566928"/>
          </a:xfrm>
          <a:prstGeom prst="rect">
            <a:avLst/>
          </a:prstGeom>
          <a:solidFill>
            <a:srgbClr val="21295C"/>
          </a:solidFill>
          <a:ln w="6350">
            <a:solidFill>
              <a:srgbClr val="FFFFFF"/>
            </a:solidFill>
            <a:prstDash val="solid"/>
          </a:ln>
        </p:spPr>
      </p:sp>
      <p:sp>
        <p:nvSpPr>
          <p:cNvPr id="7" name="Text 5"/>
          <p:cNvSpPr/>
          <p:nvPr/>
        </p:nvSpPr>
        <p:spPr>
          <a:xfrm>
            <a:off x="3931920" y="1737360"/>
            <a:ext cx="3474720"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Shallow Pipeline (few stages)</a:t>
            </a:r>
            <a:endParaRPr lang="en-US" sz="1300" dirty="0"/>
          </a:p>
        </p:txBody>
      </p:sp>
      <p:sp>
        <p:nvSpPr>
          <p:cNvPr id="8" name="Shape 6"/>
          <p:cNvSpPr/>
          <p:nvPr/>
        </p:nvSpPr>
        <p:spPr>
          <a:xfrm>
            <a:off x="7498080" y="1737360"/>
            <a:ext cx="3657600" cy="566928"/>
          </a:xfrm>
          <a:prstGeom prst="rect">
            <a:avLst/>
          </a:prstGeom>
          <a:solidFill>
            <a:srgbClr val="21295C"/>
          </a:solidFill>
          <a:ln w="6350">
            <a:solidFill>
              <a:srgbClr val="FFFFFF"/>
            </a:solidFill>
            <a:prstDash val="solid"/>
          </a:ln>
        </p:spPr>
      </p:sp>
      <p:sp>
        <p:nvSpPr>
          <p:cNvPr id="9" name="Text 7"/>
          <p:cNvSpPr/>
          <p:nvPr/>
        </p:nvSpPr>
        <p:spPr>
          <a:xfrm>
            <a:off x="7589520" y="1737360"/>
            <a:ext cx="3474720"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Deep Pipeline (many stages)</a:t>
            </a:r>
            <a:endParaRPr lang="en-US" sz="1300" dirty="0"/>
          </a:p>
        </p:txBody>
      </p:sp>
      <p:sp>
        <p:nvSpPr>
          <p:cNvPr id="10" name="Shape 8"/>
          <p:cNvSpPr/>
          <p:nvPr/>
        </p:nvSpPr>
        <p:spPr>
          <a:xfrm>
            <a:off x="640080" y="2304288"/>
            <a:ext cx="3200400" cy="566928"/>
          </a:xfrm>
          <a:prstGeom prst="rect">
            <a:avLst/>
          </a:prstGeom>
          <a:solidFill>
            <a:srgbClr val="F7F8FA"/>
          </a:solidFill>
          <a:ln w="6350">
            <a:solidFill>
              <a:srgbClr val="E2E6ED"/>
            </a:solidFill>
            <a:prstDash val="solid"/>
          </a:ln>
        </p:spPr>
      </p:sp>
      <p:sp>
        <p:nvSpPr>
          <p:cNvPr id="11" name="Text 9"/>
          <p:cNvSpPr/>
          <p:nvPr/>
        </p:nvSpPr>
        <p:spPr>
          <a:xfrm>
            <a:off x="731520" y="2304288"/>
            <a:ext cx="3017520" cy="566928"/>
          </a:xfrm>
          <a:prstGeom prst="rect">
            <a:avLst/>
          </a:prstGeom>
          <a:noFill/>
          <a:ln/>
        </p:spPr>
        <p:txBody>
          <a:bodyPr wrap="square" lIns="0" tIns="0" rIns="0" bIns="0" rtlCol="0" anchor="ctr"/>
          <a:lstStyle/>
          <a:p>
            <a:pPr algn="l" indent="0" marL="0">
              <a:buNone/>
            </a:pPr>
            <a:r>
              <a:rPr lang="en-US" sz="1250" b="1" dirty="0">
                <a:solidFill>
                  <a:srgbClr val="21295C"/>
                </a:solidFill>
                <a:latin typeface="Calibri" pitchFamily="34" charset="0"/>
                <a:ea typeface="Calibri" pitchFamily="34" charset="-122"/>
                <a:cs typeface="Calibri" pitchFamily="34" charset="-120"/>
              </a:rPr>
              <a:t>Clock rate</a:t>
            </a:r>
            <a:endParaRPr lang="en-US" sz="1250" dirty="0"/>
          </a:p>
        </p:txBody>
      </p:sp>
      <p:sp>
        <p:nvSpPr>
          <p:cNvPr id="12" name="Shape 10"/>
          <p:cNvSpPr/>
          <p:nvPr/>
        </p:nvSpPr>
        <p:spPr>
          <a:xfrm>
            <a:off x="3840480" y="2304288"/>
            <a:ext cx="3657600" cy="566928"/>
          </a:xfrm>
          <a:prstGeom prst="rect">
            <a:avLst/>
          </a:prstGeom>
          <a:solidFill>
            <a:srgbClr val="F7F8FA"/>
          </a:solidFill>
          <a:ln w="6350">
            <a:solidFill>
              <a:srgbClr val="E2E6ED"/>
            </a:solidFill>
            <a:prstDash val="solid"/>
          </a:ln>
        </p:spPr>
      </p:sp>
      <p:sp>
        <p:nvSpPr>
          <p:cNvPr id="13" name="Text 11"/>
          <p:cNvSpPr/>
          <p:nvPr/>
        </p:nvSpPr>
        <p:spPr>
          <a:xfrm>
            <a:off x="3931920" y="2304288"/>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Lower</a:t>
            </a:r>
            <a:endParaRPr lang="en-US" sz="1250" dirty="0"/>
          </a:p>
        </p:txBody>
      </p:sp>
      <p:sp>
        <p:nvSpPr>
          <p:cNvPr id="14" name="Shape 12"/>
          <p:cNvSpPr/>
          <p:nvPr/>
        </p:nvSpPr>
        <p:spPr>
          <a:xfrm>
            <a:off x="7498080" y="2304288"/>
            <a:ext cx="3657600" cy="566928"/>
          </a:xfrm>
          <a:prstGeom prst="rect">
            <a:avLst/>
          </a:prstGeom>
          <a:solidFill>
            <a:srgbClr val="F7F8FA"/>
          </a:solidFill>
          <a:ln w="6350">
            <a:solidFill>
              <a:srgbClr val="E2E6ED"/>
            </a:solidFill>
            <a:prstDash val="solid"/>
          </a:ln>
        </p:spPr>
      </p:sp>
      <p:sp>
        <p:nvSpPr>
          <p:cNvPr id="15" name="Text 13"/>
          <p:cNvSpPr/>
          <p:nvPr/>
        </p:nvSpPr>
        <p:spPr>
          <a:xfrm>
            <a:off x="7589520" y="2304288"/>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Higher</a:t>
            </a:r>
            <a:endParaRPr lang="en-US" sz="1250" dirty="0"/>
          </a:p>
        </p:txBody>
      </p:sp>
      <p:sp>
        <p:nvSpPr>
          <p:cNvPr id="16" name="Shape 14"/>
          <p:cNvSpPr/>
          <p:nvPr/>
        </p:nvSpPr>
        <p:spPr>
          <a:xfrm>
            <a:off x="640080" y="2871216"/>
            <a:ext cx="3200400" cy="566928"/>
          </a:xfrm>
          <a:prstGeom prst="rect">
            <a:avLst/>
          </a:prstGeom>
          <a:solidFill>
            <a:srgbClr val="FFFFFF"/>
          </a:solidFill>
          <a:ln w="6350">
            <a:solidFill>
              <a:srgbClr val="E2E6ED"/>
            </a:solidFill>
            <a:prstDash val="solid"/>
          </a:ln>
        </p:spPr>
      </p:sp>
      <p:sp>
        <p:nvSpPr>
          <p:cNvPr id="17" name="Text 15"/>
          <p:cNvSpPr/>
          <p:nvPr/>
        </p:nvSpPr>
        <p:spPr>
          <a:xfrm>
            <a:off x="731520" y="2871216"/>
            <a:ext cx="3017520" cy="566928"/>
          </a:xfrm>
          <a:prstGeom prst="rect">
            <a:avLst/>
          </a:prstGeom>
          <a:noFill/>
          <a:ln/>
        </p:spPr>
        <p:txBody>
          <a:bodyPr wrap="square" lIns="0" tIns="0" rIns="0" bIns="0" rtlCol="0" anchor="ctr"/>
          <a:lstStyle/>
          <a:p>
            <a:pPr algn="l" indent="0" marL="0">
              <a:buNone/>
            </a:pPr>
            <a:r>
              <a:rPr lang="en-US" sz="1250" b="1" dirty="0">
                <a:solidFill>
                  <a:srgbClr val="21295C"/>
                </a:solidFill>
                <a:latin typeface="Calibri" pitchFamily="34" charset="0"/>
                <a:ea typeface="Calibri" pitchFamily="34" charset="-122"/>
                <a:cs typeface="Calibri" pitchFamily="34" charset="-120"/>
              </a:rPr>
              <a:t>CPI (ideal)</a:t>
            </a:r>
            <a:endParaRPr lang="en-US" sz="1250" dirty="0"/>
          </a:p>
        </p:txBody>
      </p:sp>
      <p:sp>
        <p:nvSpPr>
          <p:cNvPr id="18" name="Shape 16"/>
          <p:cNvSpPr/>
          <p:nvPr/>
        </p:nvSpPr>
        <p:spPr>
          <a:xfrm>
            <a:off x="3840480" y="2871216"/>
            <a:ext cx="3657600" cy="566928"/>
          </a:xfrm>
          <a:prstGeom prst="rect">
            <a:avLst/>
          </a:prstGeom>
          <a:solidFill>
            <a:srgbClr val="FFFFFF"/>
          </a:solidFill>
          <a:ln w="6350">
            <a:solidFill>
              <a:srgbClr val="E2E6ED"/>
            </a:solidFill>
            <a:prstDash val="solid"/>
          </a:ln>
        </p:spPr>
      </p:sp>
      <p:sp>
        <p:nvSpPr>
          <p:cNvPr id="19" name="Text 17"/>
          <p:cNvSpPr/>
          <p:nvPr/>
        </p:nvSpPr>
        <p:spPr>
          <a:xfrm>
            <a:off x="3931920" y="2871216"/>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Close to 1</a:t>
            </a:r>
            <a:endParaRPr lang="en-US" sz="1250" dirty="0"/>
          </a:p>
        </p:txBody>
      </p:sp>
      <p:sp>
        <p:nvSpPr>
          <p:cNvPr id="20" name="Shape 18"/>
          <p:cNvSpPr/>
          <p:nvPr/>
        </p:nvSpPr>
        <p:spPr>
          <a:xfrm>
            <a:off x="7498080" y="2871216"/>
            <a:ext cx="3657600" cy="566928"/>
          </a:xfrm>
          <a:prstGeom prst="rect">
            <a:avLst/>
          </a:prstGeom>
          <a:solidFill>
            <a:srgbClr val="FFFFFF"/>
          </a:solidFill>
          <a:ln w="6350">
            <a:solidFill>
              <a:srgbClr val="E2E6ED"/>
            </a:solidFill>
            <a:prstDash val="solid"/>
          </a:ln>
        </p:spPr>
      </p:sp>
      <p:sp>
        <p:nvSpPr>
          <p:cNvPr id="21" name="Text 19"/>
          <p:cNvSpPr/>
          <p:nvPr/>
        </p:nvSpPr>
        <p:spPr>
          <a:xfrm>
            <a:off x="7589520" y="2871216"/>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Still close to 1</a:t>
            </a:r>
            <a:endParaRPr lang="en-US" sz="1250" dirty="0"/>
          </a:p>
        </p:txBody>
      </p:sp>
      <p:sp>
        <p:nvSpPr>
          <p:cNvPr id="22" name="Shape 20"/>
          <p:cNvSpPr/>
          <p:nvPr/>
        </p:nvSpPr>
        <p:spPr>
          <a:xfrm>
            <a:off x="640080" y="3438144"/>
            <a:ext cx="3200400" cy="566928"/>
          </a:xfrm>
          <a:prstGeom prst="rect">
            <a:avLst/>
          </a:prstGeom>
          <a:solidFill>
            <a:srgbClr val="F7F8FA"/>
          </a:solidFill>
          <a:ln w="6350">
            <a:solidFill>
              <a:srgbClr val="E2E6ED"/>
            </a:solidFill>
            <a:prstDash val="solid"/>
          </a:ln>
        </p:spPr>
      </p:sp>
      <p:sp>
        <p:nvSpPr>
          <p:cNvPr id="23" name="Text 21"/>
          <p:cNvSpPr/>
          <p:nvPr/>
        </p:nvSpPr>
        <p:spPr>
          <a:xfrm>
            <a:off x="731520" y="3438144"/>
            <a:ext cx="3017520" cy="566928"/>
          </a:xfrm>
          <a:prstGeom prst="rect">
            <a:avLst/>
          </a:prstGeom>
          <a:noFill/>
          <a:ln/>
        </p:spPr>
        <p:txBody>
          <a:bodyPr wrap="square" lIns="0" tIns="0" rIns="0" bIns="0" rtlCol="0" anchor="ctr"/>
          <a:lstStyle/>
          <a:p>
            <a:pPr algn="l" indent="0" marL="0">
              <a:buNone/>
            </a:pPr>
            <a:r>
              <a:rPr lang="en-US" sz="1250" b="1" dirty="0">
                <a:solidFill>
                  <a:srgbClr val="21295C"/>
                </a:solidFill>
                <a:latin typeface="Calibri" pitchFamily="34" charset="0"/>
                <a:ea typeface="Calibri" pitchFamily="34" charset="-122"/>
                <a:cs typeface="Calibri" pitchFamily="34" charset="-120"/>
              </a:rPr>
              <a:t>Branch mispredict penalty</a:t>
            </a:r>
            <a:endParaRPr lang="en-US" sz="1250" dirty="0"/>
          </a:p>
        </p:txBody>
      </p:sp>
      <p:sp>
        <p:nvSpPr>
          <p:cNvPr id="24" name="Shape 22"/>
          <p:cNvSpPr/>
          <p:nvPr/>
        </p:nvSpPr>
        <p:spPr>
          <a:xfrm>
            <a:off x="3840480" y="3438144"/>
            <a:ext cx="3657600" cy="566928"/>
          </a:xfrm>
          <a:prstGeom prst="rect">
            <a:avLst/>
          </a:prstGeom>
          <a:solidFill>
            <a:srgbClr val="F7F8FA"/>
          </a:solidFill>
          <a:ln w="6350">
            <a:solidFill>
              <a:srgbClr val="E2E6ED"/>
            </a:solidFill>
            <a:prstDash val="solid"/>
          </a:ln>
        </p:spPr>
      </p:sp>
      <p:sp>
        <p:nvSpPr>
          <p:cNvPr id="25" name="Text 23"/>
          <p:cNvSpPr/>
          <p:nvPr/>
        </p:nvSpPr>
        <p:spPr>
          <a:xfrm>
            <a:off x="3931920" y="3438144"/>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Small</a:t>
            </a:r>
            <a:endParaRPr lang="en-US" sz="1250" dirty="0"/>
          </a:p>
        </p:txBody>
      </p:sp>
      <p:sp>
        <p:nvSpPr>
          <p:cNvPr id="26" name="Shape 24"/>
          <p:cNvSpPr/>
          <p:nvPr/>
        </p:nvSpPr>
        <p:spPr>
          <a:xfrm>
            <a:off x="7498080" y="3438144"/>
            <a:ext cx="3657600" cy="566928"/>
          </a:xfrm>
          <a:prstGeom prst="rect">
            <a:avLst/>
          </a:prstGeom>
          <a:solidFill>
            <a:srgbClr val="F7F8FA"/>
          </a:solidFill>
          <a:ln w="6350">
            <a:solidFill>
              <a:srgbClr val="E2E6ED"/>
            </a:solidFill>
            <a:prstDash val="solid"/>
          </a:ln>
        </p:spPr>
      </p:sp>
      <p:sp>
        <p:nvSpPr>
          <p:cNvPr id="27" name="Text 25"/>
          <p:cNvSpPr/>
          <p:nvPr/>
        </p:nvSpPr>
        <p:spPr>
          <a:xfrm>
            <a:off x="7589520" y="3438144"/>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Large</a:t>
            </a:r>
            <a:endParaRPr lang="en-US" sz="1250" dirty="0"/>
          </a:p>
        </p:txBody>
      </p:sp>
      <p:sp>
        <p:nvSpPr>
          <p:cNvPr id="28" name="Shape 26"/>
          <p:cNvSpPr/>
          <p:nvPr/>
        </p:nvSpPr>
        <p:spPr>
          <a:xfrm>
            <a:off x="640080" y="4005072"/>
            <a:ext cx="3200400" cy="566928"/>
          </a:xfrm>
          <a:prstGeom prst="rect">
            <a:avLst/>
          </a:prstGeom>
          <a:solidFill>
            <a:srgbClr val="FFFFFF"/>
          </a:solidFill>
          <a:ln w="6350">
            <a:solidFill>
              <a:srgbClr val="E2E6ED"/>
            </a:solidFill>
            <a:prstDash val="solid"/>
          </a:ln>
        </p:spPr>
      </p:sp>
      <p:sp>
        <p:nvSpPr>
          <p:cNvPr id="29" name="Text 27"/>
          <p:cNvSpPr/>
          <p:nvPr/>
        </p:nvSpPr>
        <p:spPr>
          <a:xfrm>
            <a:off x="731520" y="4005072"/>
            <a:ext cx="3017520" cy="566928"/>
          </a:xfrm>
          <a:prstGeom prst="rect">
            <a:avLst/>
          </a:prstGeom>
          <a:noFill/>
          <a:ln/>
        </p:spPr>
        <p:txBody>
          <a:bodyPr wrap="square" lIns="0" tIns="0" rIns="0" bIns="0" rtlCol="0" anchor="ctr"/>
          <a:lstStyle/>
          <a:p>
            <a:pPr algn="l" indent="0" marL="0">
              <a:buNone/>
            </a:pPr>
            <a:r>
              <a:rPr lang="en-US" sz="1250" b="1" dirty="0">
                <a:solidFill>
                  <a:srgbClr val="21295C"/>
                </a:solidFill>
                <a:latin typeface="Calibri" pitchFamily="34" charset="0"/>
                <a:ea typeface="Calibri" pitchFamily="34" charset="-122"/>
                <a:cs typeface="Calibri" pitchFamily="34" charset="-120"/>
              </a:rPr>
              <a:t>Data hazard exposure</a:t>
            </a:r>
            <a:endParaRPr lang="en-US" sz="1250" dirty="0"/>
          </a:p>
        </p:txBody>
      </p:sp>
      <p:sp>
        <p:nvSpPr>
          <p:cNvPr id="30" name="Shape 28"/>
          <p:cNvSpPr/>
          <p:nvPr/>
        </p:nvSpPr>
        <p:spPr>
          <a:xfrm>
            <a:off x="3840480" y="4005072"/>
            <a:ext cx="3657600" cy="566928"/>
          </a:xfrm>
          <a:prstGeom prst="rect">
            <a:avLst/>
          </a:prstGeom>
          <a:solidFill>
            <a:srgbClr val="FFFFFF"/>
          </a:solidFill>
          <a:ln w="6350">
            <a:solidFill>
              <a:srgbClr val="E2E6ED"/>
            </a:solidFill>
            <a:prstDash val="solid"/>
          </a:ln>
        </p:spPr>
      </p:sp>
      <p:sp>
        <p:nvSpPr>
          <p:cNvPr id="31" name="Text 29"/>
          <p:cNvSpPr/>
          <p:nvPr/>
        </p:nvSpPr>
        <p:spPr>
          <a:xfrm>
            <a:off x="3931920" y="4005072"/>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Lower</a:t>
            </a:r>
            <a:endParaRPr lang="en-US" sz="1250" dirty="0"/>
          </a:p>
        </p:txBody>
      </p:sp>
      <p:sp>
        <p:nvSpPr>
          <p:cNvPr id="32" name="Shape 30"/>
          <p:cNvSpPr/>
          <p:nvPr/>
        </p:nvSpPr>
        <p:spPr>
          <a:xfrm>
            <a:off x="7498080" y="4005072"/>
            <a:ext cx="3657600" cy="566928"/>
          </a:xfrm>
          <a:prstGeom prst="rect">
            <a:avLst/>
          </a:prstGeom>
          <a:solidFill>
            <a:srgbClr val="FFFFFF"/>
          </a:solidFill>
          <a:ln w="6350">
            <a:solidFill>
              <a:srgbClr val="E2E6ED"/>
            </a:solidFill>
            <a:prstDash val="solid"/>
          </a:ln>
        </p:spPr>
      </p:sp>
      <p:sp>
        <p:nvSpPr>
          <p:cNvPr id="33" name="Text 31"/>
          <p:cNvSpPr/>
          <p:nvPr/>
        </p:nvSpPr>
        <p:spPr>
          <a:xfrm>
            <a:off x="7589520" y="4005072"/>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Higher</a:t>
            </a:r>
            <a:endParaRPr lang="en-US" sz="1250" dirty="0"/>
          </a:p>
        </p:txBody>
      </p:sp>
      <p:sp>
        <p:nvSpPr>
          <p:cNvPr id="34" name="Shape 32"/>
          <p:cNvSpPr/>
          <p:nvPr/>
        </p:nvSpPr>
        <p:spPr>
          <a:xfrm>
            <a:off x="640080" y="4572000"/>
            <a:ext cx="3200400" cy="566928"/>
          </a:xfrm>
          <a:prstGeom prst="rect">
            <a:avLst/>
          </a:prstGeom>
          <a:solidFill>
            <a:srgbClr val="F7F8FA"/>
          </a:solidFill>
          <a:ln w="6350">
            <a:solidFill>
              <a:srgbClr val="E2E6ED"/>
            </a:solidFill>
            <a:prstDash val="solid"/>
          </a:ln>
        </p:spPr>
      </p:sp>
      <p:sp>
        <p:nvSpPr>
          <p:cNvPr id="35" name="Text 33"/>
          <p:cNvSpPr/>
          <p:nvPr/>
        </p:nvSpPr>
        <p:spPr>
          <a:xfrm>
            <a:off x="731520" y="4572000"/>
            <a:ext cx="3017520" cy="566928"/>
          </a:xfrm>
          <a:prstGeom prst="rect">
            <a:avLst/>
          </a:prstGeom>
          <a:noFill/>
          <a:ln/>
        </p:spPr>
        <p:txBody>
          <a:bodyPr wrap="square" lIns="0" tIns="0" rIns="0" bIns="0" rtlCol="0" anchor="ctr"/>
          <a:lstStyle/>
          <a:p>
            <a:pPr algn="l" indent="0" marL="0">
              <a:buNone/>
            </a:pPr>
            <a:r>
              <a:rPr lang="en-US" sz="1250" b="1" dirty="0">
                <a:solidFill>
                  <a:srgbClr val="21295C"/>
                </a:solidFill>
                <a:latin typeface="Calibri" pitchFamily="34" charset="0"/>
                <a:ea typeface="Calibri" pitchFamily="34" charset="-122"/>
                <a:cs typeface="Calibri" pitchFamily="34" charset="-120"/>
              </a:rPr>
              <a:t>Design &amp; verification effort</a:t>
            </a:r>
            <a:endParaRPr lang="en-US" sz="1250" dirty="0"/>
          </a:p>
        </p:txBody>
      </p:sp>
      <p:sp>
        <p:nvSpPr>
          <p:cNvPr id="36" name="Shape 34"/>
          <p:cNvSpPr/>
          <p:nvPr/>
        </p:nvSpPr>
        <p:spPr>
          <a:xfrm>
            <a:off x="3840480" y="4572000"/>
            <a:ext cx="3657600" cy="566928"/>
          </a:xfrm>
          <a:prstGeom prst="rect">
            <a:avLst/>
          </a:prstGeom>
          <a:solidFill>
            <a:srgbClr val="F7F8FA"/>
          </a:solidFill>
          <a:ln w="6350">
            <a:solidFill>
              <a:srgbClr val="E2E6ED"/>
            </a:solidFill>
            <a:prstDash val="solid"/>
          </a:ln>
        </p:spPr>
      </p:sp>
      <p:sp>
        <p:nvSpPr>
          <p:cNvPr id="37" name="Text 35"/>
          <p:cNvSpPr/>
          <p:nvPr/>
        </p:nvSpPr>
        <p:spPr>
          <a:xfrm>
            <a:off x="3931920" y="4572000"/>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Lower</a:t>
            </a:r>
            <a:endParaRPr lang="en-US" sz="1250" dirty="0"/>
          </a:p>
        </p:txBody>
      </p:sp>
      <p:sp>
        <p:nvSpPr>
          <p:cNvPr id="38" name="Shape 36"/>
          <p:cNvSpPr/>
          <p:nvPr/>
        </p:nvSpPr>
        <p:spPr>
          <a:xfrm>
            <a:off x="7498080" y="4572000"/>
            <a:ext cx="3657600" cy="566928"/>
          </a:xfrm>
          <a:prstGeom prst="rect">
            <a:avLst/>
          </a:prstGeom>
          <a:solidFill>
            <a:srgbClr val="F7F8FA"/>
          </a:solidFill>
          <a:ln w="6350">
            <a:solidFill>
              <a:srgbClr val="E2E6ED"/>
            </a:solidFill>
            <a:prstDash val="solid"/>
          </a:ln>
        </p:spPr>
      </p:sp>
      <p:sp>
        <p:nvSpPr>
          <p:cNvPr id="39" name="Text 37"/>
          <p:cNvSpPr/>
          <p:nvPr/>
        </p:nvSpPr>
        <p:spPr>
          <a:xfrm>
            <a:off x="7589520" y="4572000"/>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Higher</a:t>
            </a:r>
            <a:endParaRPr lang="en-US" sz="1250" dirty="0"/>
          </a:p>
        </p:txBody>
      </p:sp>
      <p:sp>
        <p:nvSpPr>
          <p:cNvPr id="40" name="Shape 38"/>
          <p:cNvSpPr/>
          <p:nvPr/>
        </p:nvSpPr>
        <p:spPr>
          <a:xfrm>
            <a:off x="640080" y="5138928"/>
            <a:ext cx="3200400" cy="566928"/>
          </a:xfrm>
          <a:prstGeom prst="rect">
            <a:avLst/>
          </a:prstGeom>
          <a:solidFill>
            <a:srgbClr val="FFFFFF"/>
          </a:solidFill>
          <a:ln w="6350">
            <a:solidFill>
              <a:srgbClr val="E2E6ED"/>
            </a:solidFill>
            <a:prstDash val="solid"/>
          </a:ln>
        </p:spPr>
      </p:sp>
      <p:sp>
        <p:nvSpPr>
          <p:cNvPr id="41" name="Text 39"/>
          <p:cNvSpPr/>
          <p:nvPr/>
        </p:nvSpPr>
        <p:spPr>
          <a:xfrm>
            <a:off x="731520" y="5138928"/>
            <a:ext cx="3017520" cy="566928"/>
          </a:xfrm>
          <a:prstGeom prst="rect">
            <a:avLst/>
          </a:prstGeom>
          <a:noFill/>
          <a:ln/>
        </p:spPr>
        <p:txBody>
          <a:bodyPr wrap="square" lIns="0" tIns="0" rIns="0" bIns="0" rtlCol="0" anchor="ctr"/>
          <a:lstStyle/>
          <a:p>
            <a:pPr algn="l" indent="0" marL="0">
              <a:buNone/>
            </a:pPr>
            <a:r>
              <a:rPr lang="en-US" sz="1250" b="1" dirty="0">
                <a:solidFill>
                  <a:srgbClr val="21295C"/>
                </a:solidFill>
                <a:latin typeface="Calibri" pitchFamily="34" charset="0"/>
                <a:ea typeface="Calibri" pitchFamily="34" charset="-122"/>
                <a:cs typeface="Calibri" pitchFamily="34" charset="-120"/>
              </a:rPr>
              <a:t>Net CPU Time</a:t>
            </a:r>
            <a:endParaRPr lang="en-US" sz="1250" dirty="0"/>
          </a:p>
        </p:txBody>
      </p:sp>
      <p:sp>
        <p:nvSpPr>
          <p:cNvPr id="42" name="Shape 40"/>
          <p:cNvSpPr/>
          <p:nvPr/>
        </p:nvSpPr>
        <p:spPr>
          <a:xfrm>
            <a:off x="3840480" y="5138928"/>
            <a:ext cx="3657600" cy="566928"/>
          </a:xfrm>
          <a:prstGeom prst="rect">
            <a:avLst/>
          </a:prstGeom>
          <a:solidFill>
            <a:srgbClr val="FFFFFF"/>
          </a:solidFill>
          <a:ln w="6350">
            <a:solidFill>
              <a:srgbClr val="E2E6ED"/>
            </a:solidFill>
            <a:prstDash val="solid"/>
          </a:ln>
        </p:spPr>
      </p:sp>
      <p:sp>
        <p:nvSpPr>
          <p:cNvPr id="43" name="Text 41"/>
          <p:cNvSpPr/>
          <p:nvPr/>
        </p:nvSpPr>
        <p:spPr>
          <a:xfrm>
            <a:off x="3931920" y="5138928"/>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Depends on workload</a:t>
            </a:r>
            <a:endParaRPr lang="en-US" sz="1250" dirty="0"/>
          </a:p>
        </p:txBody>
      </p:sp>
      <p:sp>
        <p:nvSpPr>
          <p:cNvPr id="44" name="Shape 42"/>
          <p:cNvSpPr/>
          <p:nvPr/>
        </p:nvSpPr>
        <p:spPr>
          <a:xfrm>
            <a:off x="7498080" y="5138928"/>
            <a:ext cx="3657600" cy="566928"/>
          </a:xfrm>
          <a:prstGeom prst="rect">
            <a:avLst/>
          </a:prstGeom>
          <a:solidFill>
            <a:srgbClr val="FFFFFF"/>
          </a:solidFill>
          <a:ln w="6350">
            <a:solidFill>
              <a:srgbClr val="E2E6ED"/>
            </a:solidFill>
            <a:prstDash val="solid"/>
          </a:ln>
        </p:spPr>
      </p:sp>
      <p:sp>
        <p:nvSpPr>
          <p:cNvPr id="45" name="Text 43"/>
          <p:cNvSpPr/>
          <p:nvPr/>
        </p:nvSpPr>
        <p:spPr>
          <a:xfrm>
            <a:off x="7589520" y="5138928"/>
            <a:ext cx="3474720" cy="566928"/>
          </a:xfrm>
          <a:prstGeom prst="rect">
            <a:avLst/>
          </a:prstGeom>
          <a:noFill/>
          <a:ln/>
        </p:spPr>
        <p:txBody>
          <a:bodyPr wrap="square" lIns="0" tIns="0" rIns="0" bIns="0" rtlCol="0" anchor="ctr"/>
          <a:lstStyle/>
          <a:p>
            <a:pPr algn="l" indent="0" marL="0">
              <a:buNone/>
            </a:pPr>
            <a:r>
              <a:rPr lang="en-US" sz="1250" dirty="0">
                <a:solidFill>
                  <a:srgbClr val="20242C"/>
                </a:solidFill>
                <a:latin typeface="Calibri" pitchFamily="34" charset="0"/>
                <a:ea typeface="Calibri" pitchFamily="34" charset="-122"/>
                <a:cs typeface="Calibri" pitchFamily="34" charset="-120"/>
              </a:rPr>
              <a:t>Depends on workload</a:t>
            </a:r>
            <a:endParaRPr lang="en-US" sz="1250" dirty="0"/>
          </a:p>
        </p:txBody>
      </p:sp>
      <p:sp>
        <p:nvSpPr>
          <p:cNvPr id="46" name="Text 4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47" name="Text 4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48" name="Text 46"/>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Pipeline Depths in Real Processors</a:t>
            </a:r>
            <a:endParaRPr lang="en-US" sz="3200" dirty="0"/>
          </a:p>
        </p:txBody>
      </p:sp>
      <p:sp>
        <p:nvSpPr>
          <p:cNvPr id="4" name="Shape 2"/>
          <p:cNvSpPr/>
          <p:nvPr/>
        </p:nvSpPr>
        <p:spPr>
          <a:xfrm>
            <a:off x="640080" y="1737360"/>
            <a:ext cx="3429000" cy="4023360"/>
          </a:xfrm>
          <a:prstGeom prst="roundRect">
            <a:avLst>
              <a:gd name="adj" fmla="val 2667"/>
            </a:avLst>
          </a:prstGeom>
          <a:solidFill>
            <a:srgbClr val="FFFFFF"/>
          </a:solidFill>
          <a:ln w="12700">
            <a:solidFill>
              <a:srgbClr val="E2E6ED"/>
            </a:solidFill>
            <a:prstDash val="solid"/>
          </a:ln>
        </p:spPr>
      </p:sp>
      <p:sp>
        <p:nvSpPr>
          <p:cNvPr id="5" name="Shape 3"/>
          <p:cNvSpPr/>
          <p:nvPr/>
        </p:nvSpPr>
        <p:spPr>
          <a:xfrm>
            <a:off x="1920240" y="2011680"/>
            <a:ext cx="914400" cy="91440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2029968" y="2121408"/>
            <a:ext cx="694944" cy="694944"/>
          </a:xfrm>
          <a:prstGeom prst="rect">
            <a:avLst/>
          </a:prstGeom>
        </p:spPr>
      </p:pic>
      <p:sp>
        <p:nvSpPr>
          <p:cNvPr id="7" name="Text 4"/>
          <p:cNvSpPr/>
          <p:nvPr/>
        </p:nvSpPr>
        <p:spPr>
          <a:xfrm>
            <a:off x="868680" y="3108960"/>
            <a:ext cx="29718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Classic RISC (MIPS)</a:t>
            </a:r>
            <a:endParaRPr lang="en-US" sz="1500" dirty="0"/>
          </a:p>
        </p:txBody>
      </p:sp>
      <p:sp>
        <p:nvSpPr>
          <p:cNvPr id="8" name="Text 5"/>
          <p:cNvSpPr/>
          <p:nvPr/>
        </p:nvSpPr>
        <p:spPr>
          <a:xfrm>
            <a:off x="868680" y="3520440"/>
            <a:ext cx="2971800" cy="502920"/>
          </a:xfrm>
          <a:prstGeom prst="rect">
            <a:avLst/>
          </a:prstGeom>
          <a:noFill/>
          <a:ln/>
        </p:spPr>
        <p:txBody>
          <a:bodyPr wrap="square" lIns="0" tIns="0" rIns="0" bIns="0" rtlCol="0" anchor="ctr"/>
          <a:lstStyle/>
          <a:p>
            <a:pPr algn="ctr" indent="0" marL="0">
              <a:buNone/>
            </a:pPr>
            <a:r>
              <a:rPr lang="en-US" sz="2600" b="1" dirty="0">
                <a:solidFill>
                  <a:srgbClr val="065A82"/>
                </a:solidFill>
                <a:latin typeface="Cambria" pitchFamily="34" charset="0"/>
                <a:ea typeface="Cambria" pitchFamily="34" charset="-122"/>
                <a:cs typeface="Cambria" pitchFamily="34" charset="-120"/>
              </a:rPr>
              <a:t>5 stages</a:t>
            </a:r>
            <a:endParaRPr lang="en-US" sz="2600" dirty="0"/>
          </a:p>
        </p:txBody>
      </p:sp>
      <p:sp>
        <p:nvSpPr>
          <p:cNvPr id="9" name="Text 6"/>
          <p:cNvSpPr/>
          <p:nvPr/>
        </p:nvSpPr>
        <p:spPr>
          <a:xfrm>
            <a:off x="914400" y="4114800"/>
            <a:ext cx="2880360" cy="1554480"/>
          </a:xfrm>
          <a:prstGeom prst="rect">
            <a:avLst/>
          </a:prstGeom>
          <a:noFill/>
          <a:ln/>
        </p:spPr>
        <p:txBody>
          <a:bodyPr wrap="square" lIns="0" tIns="0" rIns="0" bIns="0" rtlCol="0" anchor="t"/>
          <a:lstStyle/>
          <a:p>
            <a:pPr algn="ctr" indent="0" marL="0">
              <a:buNone/>
            </a:pPr>
            <a:r>
              <a:rPr lang="en-US" sz="1250" dirty="0">
                <a:solidFill>
                  <a:srgbClr val="6B7280"/>
                </a:solidFill>
                <a:latin typeface="Calibri" pitchFamily="34" charset="0"/>
                <a:ea typeface="Calibri" pitchFamily="34" charset="-122"/>
                <a:cs typeface="Calibri" pitchFamily="34" charset="-120"/>
              </a:rPr>
              <a:t>Textbook baseline: IF-ID-EX-MEM-WB.</a:t>
            </a:r>
            <a:endParaRPr lang="en-US" sz="1250" dirty="0"/>
          </a:p>
        </p:txBody>
      </p:sp>
      <p:sp>
        <p:nvSpPr>
          <p:cNvPr id="10" name="Shape 7"/>
          <p:cNvSpPr/>
          <p:nvPr/>
        </p:nvSpPr>
        <p:spPr>
          <a:xfrm>
            <a:off x="4297680" y="1737360"/>
            <a:ext cx="3429000" cy="4023360"/>
          </a:xfrm>
          <a:prstGeom prst="roundRect">
            <a:avLst>
              <a:gd name="adj" fmla="val 2667"/>
            </a:avLst>
          </a:prstGeom>
          <a:solidFill>
            <a:srgbClr val="FFFFFF"/>
          </a:solidFill>
          <a:ln w="12700">
            <a:solidFill>
              <a:srgbClr val="E2E6ED"/>
            </a:solidFill>
            <a:prstDash val="solid"/>
          </a:ln>
        </p:spPr>
      </p:sp>
      <p:sp>
        <p:nvSpPr>
          <p:cNvPr id="11" name="Shape 8"/>
          <p:cNvSpPr/>
          <p:nvPr/>
        </p:nvSpPr>
        <p:spPr>
          <a:xfrm>
            <a:off x="5577840" y="2011680"/>
            <a:ext cx="914400" cy="914400"/>
          </a:xfrm>
          <a:prstGeom prst="ellipse">
            <a:avLst/>
          </a:prstGeom>
          <a:solidFill>
            <a:srgbClr val="1C7293"/>
          </a:solidFill>
          <a:ln/>
        </p:spPr>
      </p:sp>
      <p:pic>
        <p:nvPicPr>
          <p:cNvPr id="12" name="Image 1" descr="preencoded.png">    </p:cNvPr>
          <p:cNvPicPr>
            <a:picLocks noChangeAspect="1"/>
          </p:cNvPicPr>
          <p:nvPr/>
        </p:nvPicPr>
        <p:blipFill>
          <a:blip r:embed="rId2"/>
          <a:stretch>
            <a:fillRect/>
          </a:stretch>
        </p:blipFill>
        <p:spPr>
          <a:xfrm>
            <a:off x="5687568" y="2121408"/>
            <a:ext cx="694944" cy="694944"/>
          </a:xfrm>
          <a:prstGeom prst="rect">
            <a:avLst/>
          </a:prstGeom>
        </p:spPr>
      </p:pic>
      <p:sp>
        <p:nvSpPr>
          <p:cNvPr id="13" name="Text 9"/>
          <p:cNvSpPr/>
          <p:nvPr/>
        </p:nvSpPr>
        <p:spPr>
          <a:xfrm>
            <a:off x="4526280" y="3108960"/>
            <a:ext cx="29718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ARM Cortex-A53</a:t>
            </a:r>
            <a:endParaRPr lang="en-US" sz="1500" dirty="0"/>
          </a:p>
        </p:txBody>
      </p:sp>
      <p:sp>
        <p:nvSpPr>
          <p:cNvPr id="14" name="Text 10"/>
          <p:cNvSpPr/>
          <p:nvPr/>
        </p:nvSpPr>
        <p:spPr>
          <a:xfrm>
            <a:off x="4526280" y="3520440"/>
            <a:ext cx="2971800" cy="502920"/>
          </a:xfrm>
          <a:prstGeom prst="rect">
            <a:avLst/>
          </a:prstGeom>
          <a:noFill/>
          <a:ln/>
        </p:spPr>
        <p:txBody>
          <a:bodyPr wrap="square" lIns="0" tIns="0" rIns="0" bIns="0" rtlCol="0" anchor="ctr"/>
          <a:lstStyle/>
          <a:p>
            <a:pPr algn="ctr" indent="0" marL="0">
              <a:buNone/>
            </a:pPr>
            <a:r>
              <a:rPr lang="en-US" sz="2600" b="1" dirty="0">
                <a:solidFill>
                  <a:srgbClr val="1C7293"/>
                </a:solidFill>
                <a:latin typeface="Cambria" pitchFamily="34" charset="0"/>
                <a:ea typeface="Cambria" pitchFamily="34" charset="-122"/>
                <a:cs typeface="Cambria" pitchFamily="34" charset="-120"/>
              </a:rPr>
              <a:t>~8 stages</a:t>
            </a:r>
            <a:endParaRPr lang="en-US" sz="2600" dirty="0"/>
          </a:p>
        </p:txBody>
      </p:sp>
      <p:sp>
        <p:nvSpPr>
          <p:cNvPr id="15" name="Text 11"/>
          <p:cNvSpPr/>
          <p:nvPr/>
        </p:nvSpPr>
        <p:spPr>
          <a:xfrm>
            <a:off x="4572000" y="4114800"/>
            <a:ext cx="2880360" cy="1554480"/>
          </a:xfrm>
          <a:prstGeom prst="rect">
            <a:avLst/>
          </a:prstGeom>
          <a:noFill/>
          <a:ln/>
        </p:spPr>
        <p:txBody>
          <a:bodyPr wrap="square" lIns="0" tIns="0" rIns="0" bIns="0" rtlCol="0" anchor="t"/>
          <a:lstStyle/>
          <a:p>
            <a:pPr algn="ctr" indent="0" marL="0">
              <a:buNone/>
            </a:pPr>
            <a:r>
              <a:rPr lang="en-US" sz="1250" dirty="0">
                <a:solidFill>
                  <a:srgbClr val="6B7280"/>
                </a:solidFill>
                <a:latin typeface="Calibri" pitchFamily="34" charset="0"/>
                <a:ea typeface="Calibri" pitchFamily="34" charset="-122"/>
                <a:cs typeface="Calibri" pitchFamily="34" charset="-120"/>
              </a:rPr>
              <a:t>In-order, mobile-class -- balances battery life and speed.</a:t>
            </a:r>
            <a:endParaRPr lang="en-US" sz="1250" dirty="0"/>
          </a:p>
        </p:txBody>
      </p:sp>
      <p:sp>
        <p:nvSpPr>
          <p:cNvPr id="16" name="Shape 12"/>
          <p:cNvSpPr/>
          <p:nvPr/>
        </p:nvSpPr>
        <p:spPr>
          <a:xfrm>
            <a:off x="7955280" y="1737360"/>
            <a:ext cx="3429000" cy="4023360"/>
          </a:xfrm>
          <a:prstGeom prst="roundRect">
            <a:avLst>
              <a:gd name="adj" fmla="val 2667"/>
            </a:avLst>
          </a:prstGeom>
          <a:solidFill>
            <a:srgbClr val="FFFFFF"/>
          </a:solidFill>
          <a:ln w="12700">
            <a:solidFill>
              <a:srgbClr val="E2E6ED"/>
            </a:solidFill>
            <a:prstDash val="solid"/>
          </a:ln>
        </p:spPr>
      </p:sp>
      <p:sp>
        <p:nvSpPr>
          <p:cNvPr id="17" name="Shape 13"/>
          <p:cNvSpPr/>
          <p:nvPr/>
        </p:nvSpPr>
        <p:spPr>
          <a:xfrm>
            <a:off x="9235440" y="2011680"/>
            <a:ext cx="914400" cy="914400"/>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9345168" y="2121408"/>
            <a:ext cx="694944" cy="694944"/>
          </a:xfrm>
          <a:prstGeom prst="rect">
            <a:avLst/>
          </a:prstGeom>
        </p:spPr>
      </p:pic>
      <p:sp>
        <p:nvSpPr>
          <p:cNvPr id="19" name="Text 14"/>
          <p:cNvSpPr/>
          <p:nvPr/>
        </p:nvSpPr>
        <p:spPr>
          <a:xfrm>
            <a:off x="8183880" y="3108960"/>
            <a:ext cx="29718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Pentium 4 (Prescott)</a:t>
            </a:r>
            <a:endParaRPr lang="en-US" sz="1500" dirty="0"/>
          </a:p>
        </p:txBody>
      </p:sp>
      <p:sp>
        <p:nvSpPr>
          <p:cNvPr id="20" name="Text 15"/>
          <p:cNvSpPr/>
          <p:nvPr/>
        </p:nvSpPr>
        <p:spPr>
          <a:xfrm>
            <a:off x="8183880" y="3520440"/>
            <a:ext cx="2971800" cy="502920"/>
          </a:xfrm>
          <a:prstGeom prst="rect">
            <a:avLst/>
          </a:prstGeom>
          <a:noFill/>
          <a:ln/>
        </p:spPr>
        <p:txBody>
          <a:bodyPr wrap="square" lIns="0" tIns="0" rIns="0" bIns="0" rtlCol="0" anchor="ctr"/>
          <a:lstStyle/>
          <a:p>
            <a:pPr algn="ctr" indent="0" marL="0">
              <a:buNone/>
            </a:pPr>
            <a:r>
              <a:rPr lang="en-US" sz="2600" b="1" dirty="0">
                <a:solidFill>
                  <a:srgbClr val="C0392B"/>
                </a:solidFill>
                <a:latin typeface="Cambria" pitchFamily="34" charset="0"/>
                <a:ea typeface="Cambria" pitchFamily="34" charset="-122"/>
                <a:cs typeface="Cambria" pitchFamily="34" charset="-120"/>
              </a:rPr>
              <a:t>~31 stages</a:t>
            </a:r>
            <a:endParaRPr lang="en-US" sz="2600" dirty="0"/>
          </a:p>
        </p:txBody>
      </p:sp>
      <p:sp>
        <p:nvSpPr>
          <p:cNvPr id="21" name="Text 16"/>
          <p:cNvSpPr/>
          <p:nvPr/>
        </p:nvSpPr>
        <p:spPr>
          <a:xfrm>
            <a:off x="8229600" y="4114800"/>
            <a:ext cx="2880360" cy="1554480"/>
          </a:xfrm>
          <a:prstGeom prst="rect">
            <a:avLst/>
          </a:prstGeom>
          <a:noFill/>
          <a:ln/>
        </p:spPr>
        <p:txBody>
          <a:bodyPr wrap="square" lIns="0" tIns="0" rIns="0" bIns="0" rtlCol="0" anchor="t"/>
          <a:lstStyle/>
          <a:p>
            <a:pPr algn="ctr" indent="0" marL="0">
              <a:buNone/>
            </a:pPr>
            <a:r>
              <a:rPr lang="en-US" sz="1250" dirty="0">
                <a:solidFill>
                  <a:srgbClr val="6B7280"/>
                </a:solidFill>
                <a:latin typeface="Calibri" pitchFamily="34" charset="0"/>
                <a:ea typeface="Calibri" pitchFamily="34" charset="-122"/>
                <a:cs typeface="Calibri" pitchFamily="34" charset="-120"/>
              </a:rPr>
              <a:t>Chased very high clock rates; paid a heavy branch-mispredict penalty.</a:t>
            </a:r>
            <a:endParaRPr lang="en-US" sz="1250" dirty="0"/>
          </a:p>
        </p:txBody>
      </p:sp>
      <p:sp>
        <p:nvSpPr>
          <p:cNvPr id="22" name="Text 17"/>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3" name="Text 18"/>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24" name="Text 19"/>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WORKED EXAMPLE 1</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Basic CPU Time — Problem Statement</a:t>
            </a:r>
            <a:endParaRPr lang="en-US" sz="3200" dirty="0"/>
          </a:p>
        </p:txBody>
      </p:sp>
      <p:sp>
        <p:nvSpPr>
          <p:cNvPr id="4" name="Shape 2"/>
          <p:cNvSpPr/>
          <p:nvPr/>
        </p:nvSpPr>
        <p:spPr>
          <a:xfrm>
            <a:off x="9601200" y="1737360"/>
            <a:ext cx="1463040" cy="146304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9776765" y="1912925"/>
            <a:ext cx="1111910" cy="1111910"/>
          </a:xfrm>
          <a:prstGeom prst="rect">
            <a:avLst/>
          </a:prstGeom>
        </p:spPr>
      </p:pic>
      <p:sp>
        <p:nvSpPr>
          <p:cNvPr id="6" name="Text 3"/>
          <p:cNvSpPr/>
          <p:nvPr/>
        </p:nvSpPr>
        <p:spPr>
          <a:xfrm>
            <a:off x="640080" y="1737360"/>
            <a:ext cx="8138160" cy="2011680"/>
          </a:xfrm>
          <a:prstGeom prst="rect">
            <a:avLst/>
          </a:prstGeom>
          <a:noFill/>
          <a:ln/>
        </p:spPr>
        <p:txBody>
          <a:bodyPr wrap="square" lIns="0" tIns="0" rIns="0" bIns="0" rtlCol="0" anchor="t"/>
          <a:lstStyle/>
          <a:p>
            <a:pPr algn="l" marL="342900" indent="-342900">
              <a:lnSpc>
                <a:spcPct val="115000"/>
              </a:lnSpc>
              <a:spcAft>
                <a:spcPts val="1600"/>
              </a:spcAft>
              <a:buSzPct val="100000"/>
              <a:buChar char="•"/>
            </a:pPr>
            <a:r>
              <a:rPr lang="en-US" sz="1700" dirty="0">
                <a:solidFill>
                  <a:srgbClr val="20242C"/>
                </a:solidFill>
                <a:latin typeface="Calibri" pitchFamily="34" charset="0"/>
                <a:ea typeface="Calibri" pitchFamily="34" charset="-122"/>
                <a:cs typeface="Calibri" pitchFamily="34" charset="-120"/>
              </a:rPr>
              <a:t>A program executes 50 million (50 × 10⁶) instructions.</a:t>
            </a:r>
            <a:endParaRPr lang="en-US" sz="1700" dirty="0"/>
          </a:p>
          <a:p>
            <a:pPr algn="l" marL="342900" indent="-342900">
              <a:lnSpc>
                <a:spcPct val="115000"/>
              </a:lnSpc>
              <a:spcAft>
                <a:spcPts val="1600"/>
              </a:spcAft>
              <a:buSzPct val="100000"/>
              <a:buChar char="•"/>
            </a:pPr>
            <a:r>
              <a:rPr lang="en-US" sz="1700" dirty="0">
                <a:solidFill>
                  <a:srgbClr val="20242C"/>
                </a:solidFill>
                <a:latin typeface="Calibri" pitchFamily="34" charset="0"/>
                <a:ea typeface="Calibri" pitchFamily="34" charset="-122"/>
                <a:cs typeface="Calibri" pitchFamily="34" charset="-120"/>
              </a:rPr>
              <a:t>The processor has a clock rate of 2 GHz (2 × 10⁹ Hz).</a:t>
            </a:r>
            <a:endParaRPr lang="en-US" sz="1700" dirty="0"/>
          </a:p>
          <a:p>
            <a:pPr algn="l" marL="342900" indent="-342900">
              <a:lnSpc>
                <a:spcPct val="115000"/>
              </a:lnSpc>
              <a:spcAft>
                <a:spcPts val="1600"/>
              </a:spcAft>
              <a:buSzPct val="100000"/>
              <a:buChar char="•"/>
            </a:pPr>
            <a:r>
              <a:rPr lang="en-US" sz="1700" dirty="0">
                <a:solidFill>
                  <a:srgbClr val="20242C"/>
                </a:solidFill>
                <a:latin typeface="Calibri" pitchFamily="34" charset="0"/>
                <a:ea typeface="Calibri" pitchFamily="34" charset="-122"/>
                <a:cs typeface="Calibri" pitchFamily="34" charset="-120"/>
              </a:rPr>
              <a:t>The average CPI for this program on this processor is 1.5.</a:t>
            </a:r>
            <a:endParaRPr lang="en-US" sz="1700" dirty="0"/>
          </a:p>
        </p:txBody>
      </p:sp>
      <p:sp>
        <p:nvSpPr>
          <p:cNvPr id="7" name="Shape 4"/>
          <p:cNvSpPr/>
          <p:nvPr/>
        </p:nvSpPr>
        <p:spPr>
          <a:xfrm>
            <a:off x="640080" y="3931920"/>
            <a:ext cx="8503920" cy="1737360"/>
          </a:xfrm>
          <a:prstGeom prst="roundRect">
            <a:avLst>
              <a:gd name="adj" fmla="val 4737"/>
            </a:avLst>
          </a:prstGeom>
          <a:solidFill>
            <a:srgbClr val="21295C"/>
          </a:solidFill>
          <a:ln/>
        </p:spPr>
      </p:sp>
      <p:sp>
        <p:nvSpPr>
          <p:cNvPr id="8" name="Text 5"/>
          <p:cNvSpPr/>
          <p:nvPr/>
        </p:nvSpPr>
        <p:spPr>
          <a:xfrm>
            <a:off x="914400" y="3931920"/>
            <a:ext cx="7955280" cy="17373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Find: the total CPU execution time, in seconds.</a:t>
            </a:r>
            <a:endParaRPr lang="en-US" sz="2000" dirty="0"/>
          </a:p>
        </p:txBody>
      </p:sp>
      <p:sp>
        <p:nvSpPr>
          <p:cNvPr id="9" name="Text 6"/>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0" name="Text 7"/>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1" name="Text 8"/>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WORKED EXAMPLE 1</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Step-by-Step Solution</a:t>
            </a:r>
            <a:endParaRPr lang="en-US" sz="3200" dirty="0"/>
          </a:p>
        </p:txBody>
      </p:sp>
      <p:sp>
        <p:nvSpPr>
          <p:cNvPr id="4" name="Shape 2"/>
          <p:cNvSpPr/>
          <p:nvPr/>
        </p:nvSpPr>
        <p:spPr>
          <a:xfrm>
            <a:off x="640080" y="1691640"/>
            <a:ext cx="5074920" cy="4160520"/>
          </a:xfrm>
          <a:prstGeom prst="roundRect">
            <a:avLst>
              <a:gd name="adj" fmla="val 1978"/>
            </a:avLst>
          </a:prstGeom>
          <a:solidFill>
            <a:srgbClr val="F7F8FA"/>
          </a:solidFill>
          <a:ln w="12700">
            <a:solidFill>
              <a:srgbClr val="E2E6ED"/>
            </a:solidFill>
            <a:prstDash val="solid"/>
          </a:ln>
        </p:spPr>
      </p:sp>
      <p:sp>
        <p:nvSpPr>
          <p:cNvPr id="5" name="Text 3"/>
          <p:cNvSpPr/>
          <p:nvPr/>
        </p:nvSpPr>
        <p:spPr>
          <a:xfrm>
            <a:off x="914400" y="1874520"/>
            <a:ext cx="4526280" cy="3794760"/>
          </a:xfrm>
          <a:prstGeom prst="rect">
            <a:avLst/>
          </a:prstGeom>
          <a:noFill/>
          <a:ln/>
        </p:spPr>
        <p:txBody>
          <a:bodyPr wrap="square" lIns="0" tIns="0" rIns="0" bIns="0" rtlCol="0" anchor="t"/>
          <a:lstStyle/>
          <a:p>
            <a:pPr indent="0" marL="0">
              <a:spcAft>
                <a:spcPts val="800"/>
              </a:spcAft>
              <a:buNone/>
            </a:pPr>
            <a:r>
              <a:rPr lang="en-US" sz="1500" b="1" dirty="0">
                <a:solidFill>
                  <a:srgbClr val="1C7293"/>
                </a:solidFill>
                <a:latin typeface="Calibri" pitchFamily="34" charset="0"/>
                <a:ea typeface="Calibri" pitchFamily="34" charset="-122"/>
                <a:cs typeface="Calibri" pitchFamily="34" charset="-120"/>
              </a:rPr>
              <a:t>Step 1 — Write the formula</a:t>
            </a:r>
            <a:endParaRPr lang="en-US" sz="1500" dirty="0"/>
          </a:p>
          <a:p>
            <a:pPr indent="0" marL="0">
              <a:spcAft>
                <a:spcPts val="800"/>
              </a:spcAft>
              <a:buNone/>
            </a:pPr>
            <a:r>
              <a:rPr lang="en-US" sz="1500" dirty="0">
                <a:solidFill>
                  <a:srgbClr val="20242C"/>
                </a:solidFill>
                <a:latin typeface="Calibri" pitchFamily="34" charset="0"/>
                <a:ea typeface="Calibri" pitchFamily="34" charset="-122"/>
                <a:cs typeface="Calibri" pitchFamily="34" charset="-120"/>
              </a:rPr>
              <a:t>CPU Time = IC × CPI × T_clock = IC × CPI ÷ Clock Rate</a:t>
            </a:r>
            <a:endParaRPr lang="en-US" sz="1500" dirty="0"/>
          </a:p>
          <a:p>
            <a:pPr indent="0" marL="0">
              <a:spcAft>
                <a:spcPts val="800"/>
              </a:spcAft>
              <a:buNone/>
            </a:pPr>
            <a:r>
              <a:rPr lang="en-US" sz="1500" b="1" dirty="0">
                <a:solidFill>
                  <a:srgbClr val="1C7293"/>
                </a:solidFill>
                <a:latin typeface="Calibri" pitchFamily="34" charset="0"/>
                <a:ea typeface="Calibri" pitchFamily="34" charset="-122"/>
                <a:cs typeface="Calibri" pitchFamily="34" charset="-120"/>
              </a:rPr>
              <a:t>Step 2 — Substitute values</a:t>
            </a:r>
            <a:endParaRPr lang="en-US" sz="1500" dirty="0"/>
          </a:p>
          <a:p>
            <a:pPr indent="0" marL="0">
              <a:spcAft>
                <a:spcPts val="800"/>
              </a:spcAft>
              <a:buNone/>
            </a:pPr>
            <a:r>
              <a:rPr lang="en-US" sz="1500" dirty="0">
                <a:solidFill>
                  <a:srgbClr val="20242C"/>
                </a:solidFill>
                <a:latin typeface="Calibri" pitchFamily="34" charset="0"/>
                <a:ea typeface="Calibri" pitchFamily="34" charset="-122"/>
                <a:cs typeface="Calibri" pitchFamily="34" charset="-120"/>
              </a:rPr>
              <a:t>IC = 50 × 10⁶,  CPI = 1.5,  Clock Rate = 2 × 10⁹ Hz</a:t>
            </a:r>
            <a:endParaRPr lang="en-US" sz="1500" dirty="0"/>
          </a:p>
          <a:p>
            <a:pPr indent="0" marL="0">
              <a:spcAft>
                <a:spcPts val="800"/>
              </a:spcAft>
              <a:buNone/>
            </a:pPr>
            <a:r>
              <a:rPr lang="en-US" sz="1500" b="1" dirty="0">
                <a:solidFill>
                  <a:srgbClr val="1C7293"/>
                </a:solidFill>
                <a:latin typeface="Calibri" pitchFamily="34" charset="0"/>
                <a:ea typeface="Calibri" pitchFamily="34" charset="-122"/>
                <a:cs typeface="Calibri" pitchFamily="34" charset="-120"/>
              </a:rPr>
              <a:t>Step 3 — Compute total cycles</a:t>
            </a:r>
            <a:endParaRPr lang="en-US" sz="1500" dirty="0"/>
          </a:p>
          <a:p>
            <a:pPr indent="0" marL="0">
              <a:spcAft>
                <a:spcPts val="800"/>
              </a:spcAft>
              <a:buNone/>
            </a:pPr>
            <a:r>
              <a:rPr lang="en-US" sz="1500" dirty="0">
                <a:solidFill>
                  <a:srgbClr val="20242C"/>
                </a:solidFill>
                <a:latin typeface="Calibri" pitchFamily="34" charset="0"/>
                <a:ea typeface="Calibri" pitchFamily="34" charset="-122"/>
                <a:cs typeface="Calibri" pitchFamily="34" charset="-120"/>
              </a:rPr>
              <a:t>Total Cycles = IC × CPI = 50×10⁶ × 1.5 = 75 × 10⁶ cycles</a:t>
            </a:r>
            <a:endParaRPr lang="en-US" sz="1500" dirty="0"/>
          </a:p>
        </p:txBody>
      </p:sp>
      <p:sp>
        <p:nvSpPr>
          <p:cNvPr id="6" name="Shape 4"/>
          <p:cNvSpPr/>
          <p:nvPr/>
        </p:nvSpPr>
        <p:spPr>
          <a:xfrm>
            <a:off x="5943600" y="1691640"/>
            <a:ext cx="5577840" cy="4160520"/>
          </a:xfrm>
          <a:prstGeom prst="roundRect">
            <a:avLst>
              <a:gd name="adj" fmla="val 1978"/>
            </a:avLst>
          </a:prstGeom>
          <a:solidFill>
            <a:srgbClr val="F7F8FA"/>
          </a:solidFill>
          <a:ln w="12700">
            <a:solidFill>
              <a:srgbClr val="E2E6ED"/>
            </a:solidFill>
            <a:prstDash val="solid"/>
          </a:ln>
        </p:spPr>
      </p:sp>
      <p:sp>
        <p:nvSpPr>
          <p:cNvPr id="7" name="Text 5"/>
          <p:cNvSpPr/>
          <p:nvPr/>
        </p:nvSpPr>
        <p:spPr>
          <a:xfrm>
            <a:off x="6217920" y="1874520"/>
            <a:ext cx="5029200" cy="3794760"/>
          </a:xfrm>
          <a:prstGeom prst="rect">
            <a:avLst/>
          </a:prstGeom>
          <a:noFill/>
          <a:ln/>
        </p:spPr>
        <p:txBody>
          <a:bodyPr wrap="square" lIns="0" tIns="0" rIns="0" bIns="0" rtlCol="0" anchor="t"/>
          <a:lstStyle/>
          <a:p>
            <a:pPr indent="0" marL="0">
              <a:spcAft>
                <a:spcPts val="800"/>
              </a:spcAft>
              <a:buNone/>
            </a:pPr>
            <a:r>
              <a:rPr lang="en-US" sz="1500" b="1" dirty="0">
                <a:solidFill>
                  <a:srgbClr val="1C7293"/>
                </a:solidFill>
                <a:latin typeface="Calibri" pitchFamily="34" charset="0"/>
                <a:ea typeface="Calibri" pitchFamily="34" charset="-122"/>
                <a:cs typeface="Calibri" pitchFamily="34" charset="-120"/>
              </a:rPr>
              <a:t>Step 4 — Convert cycles to time</a:t>
            </a:r>
            <a:endParaRPr lang="en-US" sz="1500" dirty="0"/>
          </a:p>
          <a:p>
            <a:pPr indent="0" marL="0">
              <a:spcAft>
                <a:spcPts val="800"/>
              </a:spcAft>
              <a:buNone/>
            </a:pPr>
            <a:r>
              <a:rPr lang="en-US" sz="1500" dirty="0">
                <a:solidFill>
                  <a:srgbClr val="20242C"/>
                </a:solidFill>
                <a:latin typeface="Calibri" pitchFamily="34" charset="0"/>
                <a:ea typeface="Calibri" pitchFamily="34" charset="-122"/>
                <a:cs typeface="Calibri" pitchFamily="34" charset="-120"/>
              </a:rPr>
              <a:t>CPU Time = 75×10⁶ ÷ 2×10⁹</a:t>
            </a:r>
            <a:endParaRPr lang="en-US" sz="1500" dirty="0"/>
          </a:p>
          <a:p>
            <a:pPr indent="0" marL="0">
              <a:spcAft>
                <a:spcPts val="800"/>
              </a:spcAft>
              <a:buNone/>
            </a:pPr>
            <a:r>
              <a:rPr lang="en-US" sz="1500" b="1" dirty="0">
                <a:solidFill>
                  <a:srgbClr val="1C7293"/>
                </a:solidFill>
                <a:latin typeface="Calibri" pitchFamily="34" charset="0"/>
                <a:ea typeface="Calibri" pitchFamily="34" charset="-122"/>
                <a:cs typeface="Calibri" pitchFamily="34" charset="-120"/>
              </a:rPr>
              <a:t>Step 5 — Simplify</a:t>
            </a:r>
            <a:endParaRPr lang="en-US" sz="1500" dirty="0"/>
          </a:p>
          <a:p>
            <a:pPr indent="0" marL="0">
              <a:spcAft>
                <a:spcPts val="800"/>
              </a:spcAft>
              <a:buNone/>
            </a:pPr>
            <a:r>
              <a:rPr lang="en-US" sz="1500" dirty="0">
                <a:solidFill>
                  <a:srgbClr val="20242C"/>
                </a:solidFill>
                <a:latin typeface="Calibri" pitchFamily="34" charset="0"/>
                <a:ea typeface="Calibri" pitchFamily="34" charset="-122"/>
                <a:cs typeface="Calibri" pitchFamily="34" charset="-120"/>
              </a:rPr>
              <a:t>= 37.5 × 10⁻³ seconds</a:t>
            </a:r>
            <a:endParaRPr lang="en-US" sz="1500" dirty="0"/>
          </a:p>
          <a:p>
            <a:pPr indent="0" marL="0">
              <a:spcAft>
                <a:spcPts val="800"/>
              </a:spcAft>
              <a:buNone/>
            </a:pPr>
            <a:r>
              <a:rPr lang="en-US" sz="1700" b="1" dirty="0">
                <a:solidFill>
                  <a:srgbClr val="C0392B"/>
                </a:solidFill>
                <a:latin typeface="Calibri" pitchFamily="34" charset="0"/>
                <a:ea typeface="Calibri" pitchFamily="34" charset="-122"/>
                <a:cs typeface="Calibri" pitchFamily="34" charset="-120"/>
              </a:rPr>
              <a:t>Final Answer</a:t>
            </a:r>
            <a:endParaRPr lang="en-US" sz="1500" dirty="0"/>
          </a:p>
          <a:p>
            <a:pPr indent="0" marL="0">
              <a:spcAft>
                <a:spcPts val="800"/>
              </a:spcAft>
              <a:buNone/>
            </a:pPr>
            <a:r>
              <a:rPr lang="en-US" sz="2000" b="1" dirty="0">
                <a:solidFill>
                  <a:srgbClr val="C0392B"/>
                </a:solidFill>
                <a:latin typeface="Calibri" pitchFamily="34" charset="0"/>
                <a:ea typeface="Calibri" pitchFamily="34" charset="-122"/>
                <a:cs typeface="Calibri" pitchFamily="34" charset="-120"/>
              </a:rPr>
              <a:t>CPU Time = 37.5 milliseconds</a:t>
            </a:r>
            <a:endParaRPr lang="en-US" sz="1500" dirty="0"/>
          </a:p>
        </p:txBody>
      </p:sp>
      <p:sp>
        <p:nvSpPr>
          <p:cNvPr id="8" name="Text 6"/>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9" name="Text 7"/>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0" name="Text 8"/>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WORKED EXAMPLE 2</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Effect of Stalls — Problem Statement</a:t>
            </a:r>
            <a:endParaRPr lang="en-US" sz="3200" dirty="0"/>
          </a:p>
        </p:txBody>
      </p:sp>
      <p:sp>
        <p:nvSpPr>
          <p:cNvPr id="4" name="Shape 2"/>
          <p:cNvSpPr/>
          <p:nvPr/>
        </p:nvSpPr>
        <p:spPr>
          <a:xfrm>
            <a:off x="9601200" y="1737360"/>
            <a:ext cx="1463040" cy="1463040"/>
          </a:xfrm>
          <a:prstGeom prst="ellipse">
            <a:avLst/>
          </a:prstGeom>
          <a:solidFill>
            <a:srgbClr val="C0392B"/>
          </a:solidFill>
          <a:ln/>
        </p:spPr>
      </p:sp>
      <p:pic>
        <p:nvPicPr>
          <p:cNvPr id="5" name="Image 0" descr="preencoded.png">    </p:cNvPr>
          <p:cNvPicPr>
            <a:picLocks noChangeAspect="1"/>
          </p:cNvPicPr>
          <p:nvPr/>
        </p:nvPicPr>
        <p:blipFill>
          <a:blip r:embed="rId1"/>
          <a:stretch>
            <a:fillRect/>
          </a:stretch>
        </p:blipFill>
        <p:spPr>
          <a:xfrm>
            <a:off x="9776765" y="1912925"/>
            <a:ext cx="1111910" cy="1111910"/>
          </a:xfrm>
          <a:prstGeom prst="rect">
            <a:avLst/>
          </a:prstGeom>
        </p:spPr>
      </p:pic>
      <p:sp>
        <p:nvSpPr>
          <p:cNvPr id="6" name="Text 3"/>
          <p:cNvSpPr/>
          <p:nvPr/>
        </p:nvSpPr>
        <p:spPr>
          <a:xfrm>
            <a:off x="640080" y="1737360"/>
            <a:ext cx="8138160" cy="2194560"/>
          </a:xfrm>
          <a:prstGeom prst="rect">
            <a:avLst/>
          </a:prstGeom>
          <a:noFill/>
          <a:ln/>
        </p:spPr>
        <p:txBody>
          <a:bodyPr wrap="square" lIns="0" tIns="0" rIns="0" bIns="0" rtlCol="0" anchor="t"/>
          <a:lstStyle/>
          <a:p>
            <a:pPr algn="l" marL="342900" indent="-342900">
              <a:lnSpc>
                <a:spcPct val="115000"/>
              </a:lnSpc>
              <a:spcAft>
                <a:spcPts val="1600"/>
              </a:spcAft>
              <a:buSzPct val="100000"/>
              <a:buChar char="•"/>
            </a:pPr>
            <a:r>
              <a:rPr lang="en-US" sz="1700" dirty="0">
                <a:solidFill>
                  <a:srgbClr val="20242C"/>
                </a:solidFill>
                <a:latin typeface="Calibri" pitchFamily="34" charset="0"/>
                <a:ea typeface="Calibri" pitchFamily="34" charset="-122"/>
                <a:cs typeface="Calibri" pitchFamily="34" charset="-120"/>
              </a:rPr>
              <a:t>A processor has an ideal CPI (no hazards) of 1.0, running at 1 GHz.</a:t>
            </a:r>
            <a:endParaRPr lang="en-US" sz="1700" dirty="0"/>
          </a:p>
          <a:p>
            <a:pPr algn="l" marL="342900" indent="-342900">
              <a:lnSpc>
                <a:spcPct val="115000"/>
              </a:lnSpc>
              <a:spcAft>
                <a:spcPts val="1600"/>
              </a:spcAft>
              <a:buSzPct val="100000"/>
              <a:buChar char="•"/>
            </a:pPr>
            <a:r>
              <a:rPr lang="en-US" sz="1700" dirty="0">
                <a:solidFill>
                  <a:srgbClr val="20242C"/>
                </a:solidFill>
                <a:latin typeface="Calibri" pitchFamily="34" charset="0"/>
                <a:ea typeface="Calibri" pitchFamily="34" charset="-122"/>
                <a:cs typeface="Calibri" pitchFamily="34" charset="-120"/>
              </a:rPr>
              <a:t>The program has 10 million (10 × 10⁶) instructions.</a:t>
            </a:r>
            <a:endParaRPr lang="en-US" sz="1700" dirty="0"/>
          </a:p>
          <a:p>
            <a:pPr algn="l" marL="342900" indent="-342900">
              <a:lnSpc>
                <a:spcPct val="115000"/>
              </a:lnSpc>
              <a:spcAft>
                <a:spcPts val="1600"/>
              </a:spcAft>
              <a:buSzPct val="100000"/>
              <a:buChar char="•"/>
            </a:pPr>
            <a:r>
              <a:rPr lang="en-US" sz="1700" dirty="0">
                <a:solidFill>
                  <a:srgbClr val="20242C"/>
                </a:solidFill>
                <a:latin typeface="Calibri" pitchFamily="34" charset="0"/>
                <a:ea typeface="Calibri" pitchFamily="34" charset="-122"/>
                <a:cs typeface="Calibri" pitchFamily="34" charset="-120"/>
              </a:rPr>
              <a:t>20% of instructions are branches, and each branch that stalls the pipeline costs 2 extra cycles.</a:t>
            </a:r>
            <a:endParaRPr lang="en-US" sz="1700" dirty="0"/>
          </a:p>
        </p:txBody>
      </p:sp>
      <p:sp>
        <p:nvSpPr>
          <p:cNvPr id="7" name="Shape 4"/>
          <p:cNvSpPr/>
          <p:nvPr/>
        </p:nvSpPr>
        <p:spPr>
          <a:xfrm>
            <a:off x="640080" y="4114800"/>
            <a:ext cx="8503920" cy="1645920"/>
          </a:xfrm>
          <a:prstGeom prst="roundRect">
            <a:avLst>
              <a:gd name="adj" fmla="val 5000"/>
            </a:avLst>
          </a:prstGeom>
          <a:solidFill>
            <a:srgbClr val="21295C"/>
          </a:solidFill>
          <a:ln/>
        </p:spPr>
      </p:sp>
      <p:sp>
        <p:nvSpPr>
          <p:cNvPr id="8" name="Text 5"/>
          <p:cNvSpPr/>
          <p:nvPr/>
        </p:nvSpPr>
        <p:spPr>
          <a:xfrm>
            <a:off x="914400" y="4114800"/>
            <a:ext cx="7955280" cy="1645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Find: (a) actual CPI, and (b) how much CPU time is lost to stalls, vs. the ideal case.</a:t>
            </a:r>
            <a:endParaRPr lang="en-US" sz="1700" dirty="0"/>
          </a:p>
        </p:txBody>
      </p:sp>
      <p:sp>
        <p:nvSpPr>
          <p:cNvPr id="9" name="Text 6"/>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0" name="Text 7"/>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1" name="Text 8"/>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WORKED EXAMPLE 2</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000" b="1" dirty="0">
                <a:solidFill>
                  <a:srgbClr val="21295C"/>
                </a:solidFill>
                <a:latin typeface="Cambria" pitchFamily="34" charset="0"/>
                <a:ea typeface="Cambria" pitchFamily="34" charset="-122"/>
                <a:cs typeface="Cambria" pitchFamily="34" charset="-120"/>
              </a:rPr>
              <a:t>Step-by-Step Solution</a:t>
            </a:r>
            <a:endParaRPr lang="en-US" sz="3000" dirty="0"/>
          </a:p>
        </p:txBody>
      </p:sp>
      <p:sp>
        <p:nvSpPr>
          <p:cNvPr id="4" name="Shape 2"/>
          <p:cNvSpPr/>
          <p:nvPr/>
        </p:nvSpPr>
        <p:spPr>
          <a:xfrm>
            <a:off x="640080" y="1600200"/>
            <a:ext cx="5074920" cy="4297680"/>
          </a:xfrm>
          <a:prstGeom prst="roundRect">
            <a:avLst>
              <a:gd name="adj" fmla="val 1915"/>
            </a:avLst>
          </a:prstGeom>
          <a:solidFill>
            <a:srgbClr val="F7F8FA"/>
          </a:solidFill>
          <a:ln w="12700">
            <a:solidFill>
              <a:srgbClr val="E2E6ED"/>
            </a:solidFill>
            <a:prstDash val="solid"/>
          </a:ln>
        </p:spPr>
      </p:sp>
      <p:sp>
        <p:nvSpPr>
          <p:cNvPr id="5" name="Text 3"/>
          <p:cNvSpPr/>
          <p:nvPr/>
        </p:nvSpPr>
        <p:spPr>
          <a:xfrm>
            <a:off x="914400" y="1783080"/>
            <a:ext cx="4526280" cy="3931920"/>
          </a:xfrm>
          <a:prstGeom prst="rect">
            <a:avLst/>
          </a:prstGeom>
          <a:noFill/>
          <a:ln/>
        </p:spPr>
        <p:txBody>
          <a:bodyPr wrap="square" lIns="0" tIns="0" rIns="0" bIns="0" rtlCol="0" anchor="t"/>
          <a:lstStyle/>
          <a:p>
            <a:pPr indent="0" marL="0">
              <a:spcAft>
                <a:spcPts val="800"/>
              </a:spcAft>
              <a:buNone/>
            </a:pPr>
            <a:r>
              <a:rPr lang="en-US" sz="1500" b="1" dirty="0">
                <a:solidFill>
                  <a:srgbClr val="1C7293"/>
                </a:solidFill>
                <a:latin typeface="Calibri" pitchFamily="34" charset="0"/>
                <a:ea typeface="Calibri" pitchFamily="34" charset="-122"/>
                <a:cs typeface="Calibri" pitchFamily="34" charset="-120"/>
              </a:rPr>
              <a:t>Step 1 — Extra CPI from stalls</a:t>
            </a:r>
            <a:endParaRPr lang="en-US" sz="1500" dirty="0"/>
          </a:p>
          <a:p>
            <a:pPr indent="0" marL="0">
              <a:spcAft>
                <a:spcPts val="800"/>
              </a:spcAft>
              <a:buNone/>
            </a:pPr>
            <a:r>
              <a:rPr lang="en-US" sz="1500" dirty="0">
                <a:solidFill>
                  <a:srgbClr val="20242C"/>
                </a:solidFill>
                <a:latin typeface="Calibri" pitchFamily="34" charset="0"/>
                <a:ea typeface="Calibri" pitchFamily="34" charset="-122"/>
                <a:cs typeface="Calibri" pitchFamily="34" charset="-120"/>
              </a:rPr>
              <a:t>Stall CPI = (branch freq.) × (penalty) = 0.20 × 2 = 0.4</a:t>
            </a:r>
            <a:endParaRPr lang="en-US" sz="1500" dirty="0"/>
          </a:p>
          <a:p>
            <a:pPr indent="0" marL="0">
              <a:spcAft>
                <a:spcPts val="800"/>
              </a:spcAft>
              <a:buNone/>
            </a:pPr>
            <a:r>
              <a:rPr lang="en-US" sz="1500" b="1" dirty="0">
                <a:solidFill>
                  <a:srgbClr val="1C7293"/>
                </a:solidFill>
                <a:latin typeface="Calibri" pitchFamily="34" charset="0"/>
                <a:ea typeface="Calibri" pitchFamily="34" charset="-122"/>
                <a:cs typeface="Calibri" pitchFamily="34" charset="-120"/>
              </a:rPr>
              <a:t>Step 2 — Actual CPI</a:t>
            </a:r>
            <a:endParaRPr lang="en-US" sz="1500" dirty="0"/>
          </a:p>
          <a:p>
            <a:pPr indent="0" marL="0">
              <a:spcAft>
                <a:spcPts val="800"/>
              </a:spcAft>
              <a:buNone/>
            </a:pPr>
            <a:r>
              <a:rPr lang="en-US" sz="1500" dirty="0">
                <a:solidFill>
                  <a:srgbClr val="20242C"/>
                </a:solidFill>
                <a:latin typeface="Calibri" pitchFamily="34" charset="0"/>
                <a:ea typeface="Calibri" pitchFamily="34" charset="-122"/>
                <a:cs typeface="Calibri" pitchFamily="34" charset="-120"/>
              </a:rPr>
              <a:t>CPI = CPI_ideal + Stall CPI = 1.0 + 0.4 = 1.4</a:t>
            </a:r>
            <a:endParaRPr lang="en-US" sz="1500" dirty="0"/>
          </a:p>
          <a:p>
            <a:pPr indent="0" marL="0">
              <a:spcAft>
                <a:spcPts val="800"/>
              </a:spcAft>
              <a:buNone/>
            </a:pPr>
            <a:r>
              <a:rPr lang="en-US" sz="1500" b="1" dirty="0">
                <a:solidFill>
                  <a:srgbClr val="1C7293"/>
                </a:solidFill>
                <a:latin typeface="Calibri" pitchFamily="34" charset="0"/>
                <a:ea typeface="Calibri" pitchFamily="34" charset="-122"/>
                <a:cs typeface="Calibri" pitchFamily="34" charset="-120"/>
              </a:rPr>
              <a:t>Step 3 — CPU Time (actual)</a:t>
            </a:r>
            <a:endParaRPr lang="en-US" sz="1500" dirty="0"/>
          </a:p>
          <a:p>
            <a:pPr indent="0" marL="0">
              <a:spcAft>
                <a:spcPts val="800"/>
              </a:spcAft>
              <a:buNone/>
            </a:pPr>
            <a:r>
              <a:rPr lang="en-US" sz="1500" dirty="0">
                <a:solidFill>
                  <a:srgbClr val="20242C"/>
                </a:solidFill>
                <a:latin typeface="Calibri" pitchFamily="34" charset="0"/>
                <a:ea typeface="Calibri" pitchFamily="34" charset="-122"/>
                <a:cs typeface="Calibri" pitchFamily="34" charset="-120"/>
              </a:rPr>
              <a:t>= IC × CPI ÷ Clock Rate = 10×10⁶ × 1.4 ÷ 1×10⁹ = 14 ms</a:t>
            </a:r>
            <a:endParaRPr lang="en-US" sz="1500" dirty="0"/>
          </a:p>
        </p:txBody>
      </p:sp>
      <p:sp>
        <p:nvSpPr>
          <p:cNvPr id="6" name="Shape 4"/>
          <p:cNvSpPr/>
          <p:nvPr/>
        </p:nvSpPr>
        <p:spPr>
          <a:xfrm>
            <a:off x="5943600" y="1600200"/>
            <a:ext cx="5577840" cy="4297680"/>
          </a:xfrm>
          <a:prstGeom prst="roundRect">
            <a:avLst>
              <a:gd name="adj" fmla="val 1915"/>
            </a:avLst>
          </a:prstGeom>
          <a:solidFill>
            <a:srgbClr val="F7F8FA"/>
          </a:solidFill>
          <a:ln w="12700">
            <a:solidFill>
              <a:srgbClr val="E2E6ED"/>
            </a:solidFill>
            <a:prstDash val="solid"/>
          </a:ln>
        </p:spPr>
      </p:sp>
      <p:sp>
        <p:nvSpPr>
          <p:cNvPr id="7" name="Text 5"/>
          <p:cNvSpPr/>
          <p:nvPr/>
        </p:nvSpPr>
        <p:spPr>
          <a:xfrm>
            <a:off x="6217920" y="1783080"/>
            <a:ext cx="5029200" cy="3931920"/>
          </a:xfrm>
          <a:prstGeom prst="rect">
            <a:avLst/>
          </a:prstGeom>
          <a:noFill/>
          <a:ln/>
        </p:spPr>
        <p:txBody>
          <a:bodyPr wrap="square" lIns="0" tIns="0" rIns="0" bIns="0" rtlCol="0" anchor="t"/>
          <a:lstStyle/>
          <a:p>
            <a:pPr indent="0" marL="0">
              <a:spcAft>
                <a:spcPts val="800"/>
              </a:spcAft>
              <a:buNone/>
            </a:pPr>
            <a:r>
              <a:rPr lang="en-US" sz="1500" b="1" dirty="0">
                <a:solidFill>
                  <a:srgbClr val="1C7293"/>
                </a:solidFill>
                <a:latin typeface="Calibri" pitchFamily="34" charset="0"/>
                <a:ea typeface="Calibri" pitchFamily="34" charset="-122"/>
                <a:cs typeface="Calibri" pitchFamily="34" charset="-120"/>
              </a:rPr>
              <a:t>Step 4 — CPU Time (ideal, no stalls)</a:t>
            </a:r>
            <a:endParaRPr lang="en-US" sz="1500" dirty="0"/>
          </a:p>
          <a:p>
            <a:pPr indent="0" marL="0">
              <a:spcAft>
                <a:spcPts val="800"/>
              </a:spcAft>
              <a:buNone/>
            </a:pPr>
            <a:r>
              <a:rPr lang="en-US" sz="1500" dirty="0">
                <a:solidFill>
                  <a:srgbClr val="20242C"/>
                </a:solidFill>
                <a:latin typeface="Calibri" pitchFamily="34" charset="0"/>
                <a:ea typeface="Calibri" pitchFamily="34" charset="-122"/>
                <a:cs typeface="Calibri" pitchFamily="34" charset="-120"/>
              </a:rPr>
              <a:t>= 10×10⁶ × 1.0 ÷ 1×10⁹ = 10 ms</a:t>
            </a:r>
            <a:endParaRPr lang="en-US" sz="1500" dirty="0"/>
          </a:p>
          <a:p>
            <a:pPr indent="0" marL="0">
              <a:spcAft>
                <a:spcPts val="800"/>
              </a:spcAft>
              <a:buNone/>
            </a:pPr>
            <a:r>
              <a:rPr lang="en-US" sz="1500" b="1" dirty="0">
                <a:solidFill>
                  <a:srgbClr val="1C7293"/>
                </a:solidFill>
                <a:latin typeface="Calibri" pitchFamily="34" charset="0"/>
                <a:ea typeface="Calibri" pitchFamily="34" charset="-122"/>
                <a:cs typeface="Calibri" pitchFamily="34" charset="-120"/>
              </a:rPr>
              <a:t>Step 5 — Time lost to stalls</a:t>
            </a:r>
            <a:endParaRPr lang="en-US" sz="1500" dirty="0"/>
          </a:p>
          <a:p>
            <a:pPr indent="0" marL="0">
              <a:spcAft>
                <a:spcPts val="800"/>
              </a:spcAft>
              <a:buNone/>
            </a:pPr>
            <a:r>
              <a:rPr lang="en-US" sz="1500" dirty="0">
                <a:solidFill>
                  <a:srgbClr val="20242C"/>
                </a:solidFill>
                <a:latin typeface="Calibri" pitchFamily="34" charset="0"/>
                <a:ea typeface="Calibri" pitchFamily="34" charset="-122"/>
                <a:cs typeface="Calibri" pitchFamily="34" charset="-120"/>
              </a:rPr>
              <a:t>14 ms − 10 ms = 4 ms lost</a:t>
            </a:r>
            <a:endParaRPr lang="en-US" sz="1500" dirty="0"/>
          </a:p>
          <a:p>
            <a:pPr indent="0" marL="0">
              <a:spcAft>
                <a:spcPts val="800"/>
              </a:spcAft>
              <a:buNone/>
            </a:pPr>
            <a:r>
              <a:rPr lang="en-US" sz="1600" b="1" dirty="0">
                <a:solidFill>
                  <a:srgbClr val="C0392B"/>
                </a:solidFill>
                <a:latin typeface="Calibri" pitchFamily="34" charset="0"/>
                <a:ea typeface="Calibri" pitchFamily="34" charset="-122"/>
                <a:cs typeface="Calibri" pitchFamily="34" charset="-120"/>
              </a:rPr>
              <a:t>Final Answer</a:t>
            </a:r>
            <a:endParaRPr lang="en-US" sz="1500" dirty="0"/>
          </a:p>
          <a:p>
            <a:pPr indent="0" marL="0">
              <a:spcAft>
                <a:spcPts val="800"/>
              </a:spcAft>
              <a:buNone/>
            </a:pPr>
            <a:r>
              <a:rPr lang="en-US" sz="1700" b="1" dirty="0">
                <a:solidFill>
                  <a:srgbClr val="C0392B"/>
                </a:solidFill>
                <a:latin typeface="Calibri" pitchFamily="34" charset="0"/>
                <a:ea typeface="Calibri" pitchFamily="34" charset="-122"/>
                <a:cs typeface="Calibri" pitchFamily="34" charset="-120"/>
              </a:rPr>
              <a:t>CPI = 1.4  |  40% more CPU time than the hazard-free ideal</a:t>
            </a:r>
            <a:endParaRPr lang="en-US" sz="1500" dirty="0"/>
          </a:p>
        </p:txBody>
      </p:sp>
      <p:sp>
        <p:nvSpPr>
          <p:cNvPr id="8" name="Text 6"/>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9" name="Text 7"/>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0" name="Text 8"/>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MEASURING PERFORMANCE</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Performance Measurement: Clock Speed</a:t>
            </a:r>
            <a:endParaRPr lang="en-US" sz="3200" dirty="0"/>
          </a:p>
        </p:txBody>
      </p:sp>
      <p:sp>
        <p:nvSpPr>
          <p:cNvPr id="4" name="Shape 2"/>
          <p:cNvSpPr/>
          <p:nvPr/>
        </p:nvSpPr>
        <p:spPr>
          <a:xfrm>
            <a:off x="9601200" y="1737360"/>
            <a:ext cx="1463040" cy="146304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9776765" y="1912925"/>
            <a:ext cx="1111910" cy="1111910"/>
          </a:xfrm>
          <a:prstGeom prst="rect">
            <a:avLst/>
          </a:prstGeom>
        </p:spPr>
      </p:pic>
      <p:sp>
        <p:nvSpPr>
          <p:cNvPr id="6" name="Text 3"/>
          <p:cNvSpPr/>
          <p:nvPr/>
        </p:nvSpPr>
        <p:spPr>
          <a:xfrm>
            <a:off x="640080" y="1737360"/>
            <a:ext cx="8412480" cy="4206240"/>
          </a:xfrm>
          <a:prstGeom prst="rect">
            <a:avLst/>
          </a:prstGeom>
          <a:noFill/>
          <a:ln/>
        </p:spPr>
        <p:txBody>
          <a:bodyPr wrap="square" lIns="0" tIns="0" rIns="0" bIns="0" rtlCol="0" anchor="t"/>
          <a:lstStyle/>
          <a:p>
            <a:pPr algn="l" marL="342900" indent="-342900">
              <a:lnSpc>
                <a:spcPct val="115000"/>
              </a:lnSpc>
              <a:spcAft>
                <a:spcPts val="1800"/>
              </a:spcAft>
              <a:buSzPct val="100000"/>
              <a:buChar char="•"/>
            </a:pPr>
            <a:r>
              <a:rPr lang="en-US" sz="1600" dirty="0">
                <a:solidFill>
                  <a:srgbClr val="20242C"/>
                </a:solidFill>
                <a:latin typeface="Calibri" pitchFamily="34" charset="0"/>
                <a:ea typeface="Calibri" pitchFamily="34" charset="-122"/>
                <a:cs typeface="Calibri" pitchFamily="34" charset="-120"/>
              </a:rPr>
              <a:t>Clock speed (clock rate) is the easiest number to measure and market -- it is simply how many cycles occur per second.</a:t>
            </a:r>
            <a:endParaRPr lang="en-US" sz="1600" dirty="0"/>
          </a:p>
          <a:p>
            <a:pPr algn="l" marL="342900" indent="-342900">
              <a:lnSpc>
                <a:spcPct val="115000"/>
              </a:lnSpc>
              <a:spcAft>
                <a:spcPts val="1800"/>
              </a:spcAft>
              <a:buSzPct val="100000"/>
              <a:buChar char="•"/>
            </a:pPr>
            <a:r>
              <a:rPr lang="en-US" sz="1600" dirty="0">
                <a:solidFill>
                  <a:srgbClr val="20242C"/>
                </a:solidFill>
                <a:latin typeface="Calibri" pitchFamily="34" charset="0"/>
                <a:ea typeface="Calibri" pitchFamily="34" charset="-122"/>
                <a:cs typeface="Calibri" pitchFamily="34" charset="-120"/>
              </a:rPr>
              <a:t>It is a genuinely important input to performance -- doubling clock rate, with everything else fixed, halves CPU time.</a:t>
            </a:r>
            <a:endParaRPr lang="en-US" sz="1600" dirty="0"/>
          </a:p>
          <a:p>
            <a:pPr algn="l" marL="342900" indent="-342900">
              <a:lnSpc>
                <a:spcPct val="115000"/>
              </a:lnSpc>
              <a:spcAft>
                <a:spcPts val="1800"/>
              </a:spcAft>
              <a:buSzPct val="100000"/>
              <a:buChar char="•"/>
            </a:pPr>
            <a:r>
              <a:rPr lang="en-US" sz="1600" dirty="0">
                <a:solidFill>
                  <a:srgbClr val="20242C"/>
                </a:solidFill>
                <a:latin typeface="Calibri" pitchFamily="34" charset="0"/>
                <a:ea typeface="Calibri" pitchFamily="34" charset="-122"/>
                <a:cs typeface="Calibri" pitchFamily="34" charset="-120"/>
              </a:rPr>
              <a:t>But clock speed alone tells you nothing about CPI or Instruction Count -- and both of those can vary enormously between chip designs.</a:t>
            </a:r>
            <a:endParaRPr lang="en-US" sz="1600" dirty="0"/>
          </a:p>
          <a:p>
            <a:pPr algn="l" marL="342900" indent="-342900">
              <a:lnSpc>
                <a:spcPct val="115000"/>
              </a:lnSpc>
              <a:spcAft>
                <a:spcPts val="1800"/>
              </a:spcAft>
              <a:buSzPct val="100000"/>
              <a:buChar char="•"/>
            </a:pPr>
            <a:r>
              <a:rPr lang="en-US" sz="1600" dirty="0">
                <a:solidFill>
                  <a:srgbClr val="20242C"/>
                </a:solidFill>
                <a:latin typeface="Calibri" pitchFamily="34" charset="0"/>
                <a:ea typeface="Calibri" pitchFamily="34" charset="-122"/>
                <a:cs typeface="Calibri" pitchFamily="34" charset="-120"/>
              </a:rPr>
              <a:t>Comparing two different processor families purely by GHz is comparing one-third of the equation and ignoring the other two-thirds.</a:t>
            </a:r>
            <a:endParaRPr lang="en-US" sz="1600" dirty="0"/>
          </a:p>
        </p:txBody>
      </p:sp>
      <p:sp>
        <p:nvSpPr>
          <p:cNvPr id="7" name="Text 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8" name="Text 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9" name="Text 6"/>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TRAP</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Why Clock Speed Alone Misleads Us</a:t>
            </a:r>
            <a:endParaRPr lang="en-US" sz="3200" dirty="0"/>
          </a:p>
        </p:txBody>
      </p:sp>
      <p:sp>
        <p:nvSpPr>
          <p:cNvPr id="4" name="Shape 2"/>
          <p:cNvSpPr/>
          <p:nvPr/>
        </p:nvSpPr>
        <p:spPr>
          <a:xfrm>
            <a:off x="640080" y="1691640"/>
            <a:ext cx="5029200" cy="4114800"/>
          </a:xfrm>
          <a:prstGeom prst="roundRect">
            <a:avLst>
              <a:gd name="adj" fmla="val 2222"/>
            </a:avLst>
          </a:prstGeom>
          <a:solidFill>
            <a:srgbClr val="FFFFFF"/>
          </a:solidFill>
          <a:ln w="19050">
            <a:solidFill>
              <a:srgbClr val="C0392B"/>
            </a:solidFill>
            <a:prstDash val="solid"/>
          </a:ln>
        </p:spPr>
      </p:sp>
      <p:sp>
        <p:nvSpPr>
          <p:cNvPr id="5" name="Shape 3"/>
          <p:cNvSpPr/>
          <p:nvPr/>
        </p:nvSpPr>
        <p:spPr>
          <a:xfrm>
            <a:off x="914400" y="1920240"/>
            <a:ext cx="777240" cy="777240"/>
          </a:xfrm>
          <a:prstGeom prst="ellipse">
            <a:avLst/>
          </a:prstGeom>
          <a:solidFill>
            <a:srgbClr val="C0392B"/>
          </a:solidFill>
          <a:ln/>
        </p:spPr>
      </p:sp>
      <p:pic>
        <p:nvPicPr>
          <p:cNvPr id="6" name="Image 0" descr="preencoded.png">    </p:cNvPr>
          <p:cNvPicPr>
            <a:picLocks noChangeAspect="1"/>
          </p:cNvPicPr>
          <p:nvPr/>
        </p:nvPicPr>
        <p:blipFill>
          <a:blip r:embed="rId1"/>
          <a:stretch>
            <a:fillRect/>
          </a:stretch>
        </p:blipFill>
        <p:spPr>
          <a:xfrm>
            <a:off x="1007669" y="2013509"/>
            <a:ext cx="590702" cy="590702"/>
          </a:xfrm>
          <a:prstGeom prst="rect">
            <a:avLst/>
          </a:prstGeom>
        </p:spPr>
      </p:pic>
      <p:sp>
        <p:nvSpPr>
          <p:cNvPr id="7" name="Text 4"/>
          <p:cNvSpPr/>
          <p:nvPr/>
        </p:nvSpPr>
        <p:spPr>
          <a:xfrm>
            <a:off x="1828800" y="2011680"/>
            <a:ext cx="365760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Processor A: 4 GHz</a:t>
            </a:r>
            <a:endParaRPr lang="en-US" sz="1500" dirty="0"/>
          </a:p>
        </p:txBody>
      </p:sp>
      <p:sp>
        <p:nvSpPr>
          <p:cNvPr id="8" name="Text 5"/>
          <p:cNvSpPr/>
          <p:nvPr/>
        </p:nvSpPr>
        <p:spPr>
          <a:xfrm>
            <a:off x="914400" y="2743200"/>
            <a:ext cx="4572000" cy="2651760"/>
          </a:xfrm>
          <a:prstGeom prst="rect">
            <a:avLst/>
          </a:prstGeom>
          <a:noFill/>
          <a:ln/>
        </p:spPr>
        <p:txBody>
          <a:bodyPr wrap="square" lIns="0" tIns="0" rIns="0" bIns="0" rtlCol="0" anchor="t"/>
          <a:lstStyle/>
          <a:p>
            <a:pPr indent="0" marL="0">
              <a:spcAft>
                <a:spcPts val="800"/>
              </a:spcAft>
              <a:buNone/>
            </a:pPr>
            <a:r>
              <a:rPr lang="en-US" sz="1450" dirty="0">
                <a:solidFill>
                  <a:srgbClr val="20242C"/>
                </a:solidFill>
                <a:latin typeface="Calibri" pitchFamily="34" charset="0"/>
                <a:ea typeface="Calibri" pitchFamily="34" charset="-122"/>
                <a:cs typeface="Calibri" pitchFamily="34" charset="-120"/>
              </a:rPr>
              <a:t>CPI = 2.5 (deep pipeline, many stalls)</a:t>
            </a:r>
            <a:endParaRPr lang="en-US" sz="1450" dirty="0"/>
          </a:p>
          <a:p>
            <a:pPr indent="0" marL="0">
              <a:spcAft>
                <a:spcPts val="800"/>
              </a:spcAft>
              <a:buNone/>
            </a:pPr>
            <a:r>
              <a:rPr lang="en-US" sz="1450" dirty="0">
                <a:solidFill>
                  <a:srgbClr val="20242C"/>
                </a:solidFill>
                <a:latin typeface="Calibri" pitchFamily="34" charset="0"/>
                <a:ea typeface="Calibri" pitchFamily="34" charset="-122"/>
                <a:cs typeface="Calibri" pitchFamily="34" charset="-120"/>
              </a:rPr>
              <a:t>IC = 100 million instructions</a:t>
            </a:r>
            <a:endParaRPr lang="en-US" sz="1450" dirty="0"/>
          </a:p>
          <a:p>
            <a:pPr indent="0" marL="0">
              <a:buNone/>
            </a:pPr>
            <a:r>
              <a:rPr lang="en-US" sz="1450" b="1" dirty="0">
                <a:solidFill>
                  <a:srgbClr val="C0392B"/>
                </a:solidFill>
                <a:latin typeface="Calibri" pitchFamily="34" charset="0"/>
                <a:ea typeface="Calibri" pitchFamily="34" charset="-122"/>
                <a:cs typeface="Calibri" pitchFamily="34" charset="-120"/>
              </a:rPr>
              <a:t>CPU Time = 100×10⁶ × 2.5 ÷ 4×10⁹ = 62.5 ms</a:t>
            </a:r>
            <a:endParaRPr lang="en-US" sz="1450" dirty="0"/>
          </a:p>
        </p:txBody>
      </p:sp>
      <p:sp>
        <p:nvSpPr>
          <p:cNvPr id="9" name="Shape 6"/>
          <p:cNvSpPr/>
          <p:nvPr/>
        </p:nvSpPr>
        <p:spPr>
          <a:xfrm>
            <a:off x="6309360" y="1691640"/>
            <a:ext cx="5029200" cy="4114800"/>
          </a:xfrm>
          <a:prstGeom prst="roundRect">
            <a:avLst>
              <a:gd name="adj" fmla="val 2222"/>
            </a:avLst>
          </a:prstGeom>
          <a:solidFill>
            <a:srgbClr val="FFFFFF"/>
          </a:solidFill>
          <a:ln w="19050">
            <a:solidFill>
              <a:srgbClr val="2E8B57"/>
            </a:solidFill>
            <a:prstDash val="solid"/>
          </a:ln>
        </p:spPr>
      </p:sp>
      <p:sp>
        <p:nvSpPr>
          <p:cNvPr id="10" name="Shape 7"/>
          <p:cNvSpPr/>
          <p:nvPr/>
        </p:nvSpPr>
        <p:spPr>
          <a:xfrm>
            <a:off x="6583680" y="1920240"/>
            <a:ext cx="777240" cy="777240"/>
          </a:xfrm>
          <a:prstGeom prst="ellipse">
            <a:avLst/>
          </a:prstGeom>
          <a:solidFill>
            <a:srgbClr val="2E8B57"/>
          </a:solidFill>
          <a:ln/>
        </p:spPr>
      </p:sp>
      <p:pic>
        <p:nvPicPr>
          <p:cNvPr id="11" name="Image 1" descr="preencoded.png">    </p:cNvPr>
          <p:cNvPicPr>
            <a:picLocks noChangeAspect="1"/>
          </p:cNvPicPr>
          <p:nvPr/>
        </p:nvPicPr>
        <p:blipFill>
          <a:blip r:embed="rId2"/>
          <a:stretch>
            <a:fillRect/>
          </a:stretch>
        </p:blipFill>
        <p:spPr>
          <a:xfrm>
            <a:off x="6676949" y="2013509"/>
            <a:ext cx="590702" cy="590702"/>
          </a:xfrm>
          <a:prstGeom prst="rect">
            <a:avLst/>
          </a:prstGeom>
        </p:spPr>
      </p:pic>
      <p:sp>
        <p:nvSpPr>
          <p:cNvPr id="12" name="Text 8"/>
          <p:cNvSpPr/>
          <p:nvPr/>
        </p:nvSpPr>
        <p:spPr>
          <a:xfrm>
            <a:off x="7498080" y="2011680"/>
            <a:ext cx="365760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Processor B: 2 GHz</a:t>
            </a:r>
            <a:endParaRPr lang="en-US" sz="1500" dirty="0"/>
          </a:p>
        </p:txBody>
      </p:sp>
      <p:sp>
        <p:nvSpPr>
          <p:cNvPr id="13" name="Text 9"/>
          <p:cNvSpPr/>
          <p:nvPr/>
        </p:nvSpPr>
        <p:spPr>
          <a:xfrm>
            <a:off x="6583680" y="2743200"/>
            <a:ext cx="4572000" cy="2651760"/>
          </a:xfrm>
          <a:prstGeom prst="rect">
            <a:avLst/>
          </a:prstGeom>
          <a:noFill/>
          <a:ln/>
        </p:spPr>
        <p:txBody>
          <a:bodyPr wrap="square" lIns="0" tIns="0" rIns="0" bIns="0" rtlCol="0" anchor="t"/>
          <a:lstStyle/>
          <a:p>
            <a:pPr indent="0" marL="0">
              <a:spcAft>
                <a:spcPts val="800"/>
              </a:spcAft>
              <a:buNone/>
            </a:pPr>
            <a:r>
              <a:rPr lang="en-US" sz="1450" dirty="0">
                <a:solidFill>
                  <a:srgbClr val="20242C"/>
                </a:solidFill>
                <a:latin typeface="Calibri" pitchFamily="34" charset="0"/>
                <a:ea typeface="Calibri" pitchFamily="34" charset="-122"/>
                <a:cs typeface="Calibri" pitchFamily="34" charset="-120"/>
              </a:rPr>
              <a:t>CPI = 1.0 (shallow, hazard-free pipeline)</a:t>
            </a:r>
            <a:endParaRPr lang="en-US" sz="1450" dirty="0"/>
          </a:p>
          <a:p>
            <a:pPr indent="0" marL="0">
              <a:spcAft>
                <a:spcPts val="800"/>
              </a:spcAft>
              <a:buNone/>
            </a:pPr>
            <a:r>
              <a:rPr lang="en-US" sz="1450" dirty="0">
                <a:solidFill>
                  <a:srgbClr val="20242C"/>
                </a:solidFill>
                <a:latin typeface="Calibri" pitchFamily="34" charset="0"/>
                <a:ea typeface="Calibri" pitchFamily="34" charset="-122"/>
                <a:cs typeface="Calibri" pitchFamily="34" charset="-120"/>
              </a:rPr>
              <a:t>IC = 100 million instructions</a:t>
            </a:r>
            <a:endParaRPr lang="en-US" sz="1450" dirty="0"/>
          </a:p>
          <a:p>
            <a:pPr indent="0" marL="0">
              <a:buNone/>
            </a:pPr>
            <a:r>
              <a:rPr lang="en-US" sz="1450" b="1" dirty="0">
                <a:solidFill>
                  <a:srgbClr val="2E8B57"/>
                </a:solidFill>
                <a:latin typeface="Calibri" pitchFamily="34" charset="0"/>
                <a:ea typeface="Calibri" pitchFamily="34" charset="-122"/>
                <a:cs typeface="Calibri" pitchFamily="34" charset="-120"/>
              </a:rPr>
              <a:t>CPU Time = 100×10⁶ × 1.0 ÷ 2×10⁹ = 50 ms</a:t>
            </a:r>
            <a:endParaRPr lang="en-US" sz="1450" dirty="0"/>
          </a:p>
        </p:txBody>
      </p:sp>
      <p:sp>
        <p:nvSpPr>
          <p:cNvPr id="14" name="Text 10"/>
          <p:cNvSpPr/>
          <p:nvPr/>
        </p:nvSpPr>
        <p:spPr>
          <a:xfrm>
            <a:off x="640080" y="5943600"/>
            <a:ext cx="10515600" cy="457200"/>
          </a:xfrm>
          <a:prstGeom prst="rect">
            <a:avLst/>
          </a:prstGeom>
          <a:noFill/>
          <a:ln/>
        </p:spPr>
        <p:txBody>
          <a:bodyPr wrap="square" lIns="0" tIns="0" rIns="0" bIns="0" rtlCol="0" anchor="ctr"/>
          <a:lstStyle/>
          <a:p>
            <a:pPr algn="ctr" indent="0" marL="0">
              <a:buNone/>
            </a:pPr>
            <a:r>
              <a:rPr lang="en-US" sz="1500" i="1" dirty="0">
                <a:solidFill>
                  <a:srgbClr val="21295C"/>
                </a:solidFill>
                <a:latin typeface="Calibri" pitchFamily="34" charset="0"/>
                <a:ea typeface="Calibri" pitchFamily="34" charset="-122"/>
                <a:cs typeface="Calibri" pitchFamily="34" charset="-120"/>
              </a:rPr>
              <a:t>The 2 GHz processor finishes faster. This is the "Megahertz Myth."</a:t>
            </a:r>
            <a:endParaRPr lang="en-US" sz="1500" dirty="0"/>
          </a:p>
        </p:txBody>
      </p:sp>
      <p:sp>
        <p:nvSpPr>
          <p:cNvPr id="15" name="Text 11"/>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6" name="Text 12"/>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7" name="Text 13"/>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AN ALTERNATIVE METRIC</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Instruction Execution Rate: MIPS</a:t>
            </a:r>
            <a:endParaRPr lang="en-US" sz="3200" dirty="0"/>
          </a:p>
        </p:txBody>
      </p:sp>
      <p:sp>
        <p:nvSpPr>
          <p:cNvPr id="4" name="Shape 2"/>
          <p:cNvSpPr/>
          <p:nvPr/>
        </p:nvSpPr>
        <p:spPr>
          <a:xfrm>
            <a:off x="9601200" y="1737360"/>
            <a:ext cx="1463040" cy="1463040"/>
          </a:xfrm>
          <a:prstGeom prst="ellipse">
            <a:avLst/>
          </a:prstGeom>
          <a:solidFill>
            <a:srgbClr val="1C7293"/>
          </a:solidFill>
          <a:ln/>
        </p:spPr>
      </p:sp>
      <p:pic>
        <p:nvPicPr>
          <p:cNvPr id="5" name="Image 0" descr="preencoded.png">    </p:cNvPr>
          <p:cNvPicPr>
            <a:picLocks noChangeAspect="1"/>
          </p:cNvPicPr>
          <p:nvPr/>
        </p:nvPicPr>
        <p:blipFill>
          <a:blip r:embed="rId1"/>
          <a:stretch>
            <a:fillRect/>
          </a:stretch>
        </p:blipFill>
        <p:spPr>
          <a:xfrm>
            <a:off x="9776765" y="1912925"/>
            <a:ext cx="1111910" cy="1111910"/>
          </a:xfrm>
          <a:prstGeom prst="rect">
            <a:avLst/>
          </a:prstGeom>
        </p:spPr>
      </p:pic>
      <p:sp>
        <p:nvSpPr>
          <p:cNvPr id="6" name="Shape 3"/>
          <p:cNvSpPr/>
          <p:nvPr/>
        </p:nvSpPr>
        <p:spPr>
          <a:xfrm>
            <a:off x="640080" y="1691640"/>
            <a:ext cx="8138160" cy="1005840"/>
          </a:xfrm>
          <a:prstGeom prst="roundRect">
            <a:avLst>
              <a:gd name="adj" fmla="val 8182"/>
            </a:avLst>
          </a:prstGeom>
          <a:solidFill>
            <a:srgbClr val="21295C"/>
          </a:solidFill>
          <a:ln/>
        </p:spPr>
      </p:sp>
      <p:sp>
        <p:nvSpPr>
          <p:cNvPr id="7" name="Text 4"/>
          <p:cNvSpPr/>
          <p:nvPr/>
        </p:nvSpPr>
        <p:spPr>
          <a:xfrm>
            <a:off x="822960" y="1691640"/>
            <a:ext cx="7772400" cy="10058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MIPS = Instruction Count ÷ (CPU Time × 10⁶)  =  Clock Rate ÷ (CPI × 10⁶)</a:t>
            </a:r>
            <a:endParaRPr lang="en-US" sz="1700" dirty="0"/>
          </a:p>
        </p:txBody>
      </p:sp>
      <p:sp>
        <p:nvSpPr>
          <p:cNvPr id="8" name="Text 5"/>
          <p:cNvSpPr/>
          <p:nvPr/>
        </p:nvSpPr>
        <p:spPr>
          <a:xfrm>
            <a:off x="640080" y="2926080"/>
            <a:ext cx="8138160" cy="2926080"/>
          </a:xfrm>
          <a:prstGeom prst="rect">
            <a:avLst/>
          </a:prstGeom>
          <a:noFill/>
          <a:ln/>
        </p:spPr>
        <p:txBody>
          <a:bodyPr wrap="square" lIns="0" tIns="0" rIns="0" bIns="0" rtlCol="0" anchor="t"/>
          <a:lstStyle/>
          <a:p>
            <a:pPr algn="l" marL="342900" indent="-342900">
              <a:lnSpc>
                <a:spcPct val="115000"/>
              </a:lnSpc>
              <a:spcAft>
                <a:spcPts val="1600"/>
              </a:spcAft>
              <a:buSzPct val="100000"/>
              <a:buChar char="•"/>
            </a:pPr>
            <a:r>
              <a:rPr lang="en-US" sz="1550" dirty="0">
                <a:solidFill>
                  <a:srgbClr val="20242C"/>
                </a:solidFill>
                <a:latin typeface="Calibri" pitchFamily="34" charset="0"/>
                <a:ea typeface="Calibri" pitchFamily="34" charset="-122"/>
                <a:cs typeface="Calibri" pitchFamily="34" charset="-120"/>
              </a:rPr>
              <a:t>MIPS stands for Million Instructions Per Second -- a direct measure of instruction throughput.</a:t>
            </a:r>
            <a:endParaRPr lang="en-US" sz="1550" dirty="0"/>
          </a:p>
          <a:p>
            <a:pPr algn="l" marL="342900" indent="-342900">
              <a:lnSpc>
                <a:spcPct val="115000"/>
              </a:lnSpc>
              <a:spcAft>
                <a:spcPts val="1600"/>
              </a:spcAft>
              <a:buSzPct val="100000"/>
              <a:buChar char="•"/>
            </a:pPr>
            <a:r>
              <a:rPr lang="en-US" sz="1550" dirty="0">
                <a:solidFill>
                  <a:srgbClr val="20242C"/>
                </a:solidFill>
                <a:latin typeface="Calibri" pitchFamily="34" charset="0"/>
                <a:ea typeface="Calibri" pitchFamily="34" charset="-122"/>
                <a:cs typeface="Calibri" pitchFamily="34" charset="-120"/>
              </a:rPr>
              <a:t>It rises when clock rate rises, and falls when CPI rises -- so, unlike clock speed alone, it does account for CPI.</a:t>
            </a:r>
            <a:endParaRPr lang="en-US" sz="1550" dirty="0"/>
          </a:p>
          <a:p>
            <a:pPr algn="l" marL="342900" indent="-342900">
              <a:lnSpc>
                <a:spcPct val="115000"/>
              </a:lnSpc>
              <a:spcAft>
                <a:spcPts val="1600"/>
              </a:spcAft>
              <a:buSzPct val="100000"/>
              <a:buChar char="•"/>
            </a:pPr>
            <a:r>
              <a:rPr lang="en-US" sz="1550" dirty="0">
                <a:solidFill>
                  <a:srgbClr val="20242C"/>
                </a:solidFill>
                <a:latin typeface="Calibri" pitchFamily="34" charset="0"/>
                <a:ea typeface="Calibri" pitchFamily="34" charset="-122"/>
                <a:cs typeface="Calibri" pitchFamily="34" charset="-120"/>
              </a:rPr>
              <a:t>Higher MIPS looks intuitively like "more work done per second," which is why it became popular as a marketing number in the 1980s-90s.</a:t>
            </a:r>
            <a:endParaRPr lang="en-US" sz="1550" dirty="0"/>
          </a:p>
        </p:txBody>
      </p:sp>
      <p:sp>
        <p:nvSpPr>
          <p:cNvPr id="9" name="Text 6"/>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0" name="Text 7"/>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1" name="Text 8"/>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CATCH</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Pitfalls of Using MIPS</a:t>
            </a:r>
            <a:endParaRPr lang="en-US" sz="3200" dirty="0"/>
          </a:p>
        </p:txBody>
      </p:sp>
      <p:sp>
        <p:nvSpPr>
          <p:cNvPr id="4" name="Text 2"/>
          <p:cNvSpPr/>
          <p:nvPr/>
        </p:nvSpPr>
        <p:spPr>
          <a:xfrm>
            <a:off x="640080" y="1737360"/>
            <a:ext cx="10241280" cy="4206240"/>
          </a:xfrm>
          <a:prstGeom prst="rect">
            <a:avLst/>
          </a:prstGeom>
          <a:noFill/>
          <a:ln/>
        </p:spPr>
        <p:txBody>
          <a:bodyPr wrap="square" lIns="0" tIns="0" rIns="0" bIns="0" rtlCol="0" anchor="t"/>
          <a:lstStyle/>
          <a:p>
            <a:pPr algn="l" marL="342900" indent="-342900">
              <a:lnSpc>
                <a:spcPct val="115000"/>
              </a:lnSpc>
              <a:spcAft>
                <a:spcPts val="1800"/>
              </a:spcAft>
              <a:buSzPct val="100000"/>
              <a:buChar char="•"/>
            </a:pPr>
            <a:r>
              <a:rPr lang="en-US" sz="1600" dirty="0">
                <a:solidFill>
                  <a:srgbClr val="20242C"/>
                </a:solidFill>
                <a:latin typeface="Calibri" pitchFamily="34" charset="0"/>
                <a:ea typeface="Calibri" pitchFamily="34" charset="-122"/>
                <a:cs typeface="Calibri" pitchFamily="34" charset="-120"/>
              </a:rPr>
              <a:t>MIPS counts instructions, but different instruction sets do very different amounts of "work" per instruction -- a CISC instruction may do what three RISC instructions do.</a:t>
            </a:r>
            <a:endParaRPr lang="en-US" sz="1600" dirty="0"/>
          </a:p>
          <a:p>
            <a:pPr algn="l" marL="342900" indent="-342900">
              <a:lnSpc>
                <a:spcPct val="115000"/>
              </a:lnSpc>
              <a:spcAft>
                <a:spcPts val="1800"/>
              </a:spcAft>
              <a:buSzPct val="100000"/>
              <a:buChar char="•"/>
            </a:pPr>
            <a:r>
              <a:rPr lang="en-US" sz="1600" dirty="0">
                <a:solidFill>
                  <a:srgbClr val="20242C"/>
                </a:solidFill>
                <a:latin typeface="Calibri" pitchFamily="34" charset="0"/>
                <a:ea typeface="Calibri" pitchFamily="34" charset="-122"/>
                <a:cs typeface="Calibri" pitchFamily="34" charset="-120"/>
              </a:rPr>
              <a:t>A processor could "cheat" a MIPS benchmark by using more, simpler instructions -- inflating MIPS while doing the same real work.</a:t>
            </a:r>
            <a:endParaRPr lang="en-US" sz="1600" dirty="0"/>
          </a:p>
          <a:p>
            <a:pPr algn="l" marL="342900" indent="-342900">
              <a:lnSpc>
                <a:spcPct val="115000"/>
              </a:lnSpc>
              <a:spcAft>
                <a:spcPts val="1800"/>
              </a:spcAft>
              <a:buSzPct val="100000"/>
              <a:buChar char="•"/>
            </a:pPr>
            <a:r>
              <a:rPr lang="en-US" sz="1600" dirty="0">
                <a:solidFill>
                  <a:srgbClr val="20242C"/>
                </a:solidFill>
                <a:latin typeface="Calibri" pitchFamily="34" charset="0"/>
                <a:ea typeface="Calibri" pitchFamily="34" charset="-122"/>
                <a:cs typeface="Calibri" pitchFamily="34" charset="-120"/>
              </a:rPr>
              <a:t>MIPS ignores the program’s actual task -- it says nothing about which program was run, or whether that program matters to the user.</a:t>
            </a:r>
            <a:endParaRPr lang="en-US" sz="1600" dirty="0"/>
          </a:p>
          <a:p>
            <a:pPr algn="l" marL="342900" indent="-342900">
              <a:lnSpc>
                <a:spcPct val="115000"/>
              </a:lnSpc>
              <a:spcAft>
                <a:spcPts val="1800"/>
              </a:spcAft>
              <a:buSzPct val="100000"/>
              <a:buChar char="•"/>
            </a:pPr>
            <a:r>
              <a:rPr lang="en-US" sz="1600" dirty="0">
                <a:solidFill>
                  <a:srgbClr val="20242C"/>
                </a:solidFill>
                <a:latin typeface="Calibri" pitchFamily="34" charset="0"/>
                <a:ea typeface="Calibri" pitchFamily="34" charset="-122"/>
                <a:cs typeface="Calibri" pitchFamily="34" charset="-120"/>
              </a:rPr>
              <a:t>Comparing MIPS across different instruction set architectures (ISAs) is comparing incompatible units -- it is often called "Meaningless Indicator of Performance."</a:t>
            </a:r>
            <a:endParaRPr lang="en-US" sz="1600" dirty="0"/>
          </a:p>
        </p:txBody>
      </p:sp>
      <p:sp>
        <p:nvSpPr>
          <p:cNvPr id="5" name="Text 3"/>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6" name="Text 4"/>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7" name="Text 5"/>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HONEST ANSWER</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Better Metrics: Execution Time &amp; Benchmarks</a:t>
            </a:r>
            <a:endParaRPr lang="en-US" sz="3200" dirty="0"/>
          </a:p>
        </p:txBody>
      </p:sp>
      <p:sp>
        <p:nvSpPr>
          <p:cNvPr id="4" name="Shape 2"/>
          <p:cNvSpPr/>
          <p:nvPr/>
        </p:nvSpPr>
        <p:spPr>
          <a:xfrm>
            <a:off x="640080" y="1737360"/>
            <a:ext cx="914400" cy="91440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749808" y="1847088"/>
            <a:ext cx="694944" cy="694944"/>
          </a:xfrm>
          <a:prstGeom prst="rect">
            <a:avLst/>
          </a:prstGeom>
        </p:spPr>
      </p:pic>
      <p:sp>
        <p:nvSpPr>
          <p:cNvPr id="6" name="Text 3"/>
          <p:cNvSpPr/>
          <p:nvPr/>
        </p:nvSpPr>
        <p:spPr>
          <a:xfrm>
            <a:off x="1737360" y="1691640"/>
            <a:ext cx="9144000"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Actual Execution Time</a:t>
            </a:r>
            <a:endParaRPr lang="en-US" sz="1700" dirty="0"/>
          </a:p>
        </p:txBody>
      </p:sp>
      <p:sp>
        <p:nvSpPr>
          <p:cNvPr id="7" name="Text 4"/>
          <p:cNvSpPr/>
          <p:nvPr/>
        </p:nvSpPr>
        <p:spPr>
          <a:xfrm>
            <a:off x="1737360" y="2148840"/>
            <a:ext cx="9144000" cy="822960"/>
          </a:xfrm>
          <a:prstGeom prst="rect">
            <a:avLst/>
          </a:prstGeom>
          <a:noFill/>
          <a:ln/>
        </p:spPr>
        <p:txBody>
          <a:bodyPr wrap="square" lIns="0" tIns="0" rIns="0" bIns="0" rtlCol="0" anchor="t"/>
          <a:lstStyle/>
          <a:p>
            <a:pPr indent="0" marL="0">
              <a:buNone/>
            </a:pPr>
            <a:r>
              <a:rPr lang="en-US" sz="1400" dirty="0">
                <a:solidFill>
                  <a:srgbClr val="20242C"/>
                </a:solidFill>
                <a:latin typeface="Calibri" pitchFamily="34" charset="0"/>
                <a:ea typeface="Calibri" pitchFamily="34" charset="-122"/>
                <a:cs typeface="Calibri" pitchFamily="34" charset="-120"/>
              </a:rPr>
              <a:t>The only metric that can never be gamed -- seconds to finish a real, agreed-upon task, on real hardware.</a:t>
            </a:r>
            <a:endParaRPr lang="en-US" sz="1400" dirty="0"/>
          </a:p>
        </p:txBody>
      </p:sp>
      <p:sp>
        <p:nvSpPr>
          <p:cNvPr id="8" name="Shape 5"/>
          <p:cNvSpPr/>
          <p:nvPr/>
        </p:nvSpPr>
        <p:spPr>
          <a:xfrm>
            <a:off x="640080" y="3154680"/>
            <a:ext cx="914400" cy="914400"/>
          </a:xfrm>
          <a:prstGeom prst="ellipse">
            <a:avLst/>
          </a:prstGeom>
          <a:solidFill>
            <a:srgbClr val="1C7293"/>
          </a:solidFill>
          <a:ln/>
        </p:spPr>
      </p:sp>
      <p:pic>
        <p:nvPicPr>
          <p:cNvPr id="9" name="Image 1" descr="preencoded.png">    </p:cNvPr>
          <p:cNvPicPr>
            <a:picLocks noChangeAspect="1"/>
          </p:cNvPicPr>
          <p:nvPr/>
        </p:nvPicPr>
        <p:blipFill>
          <a:blip r:embed="rId2"/>
          <a:stretch>
            <a:fillRect/>
          </a:stretch>
        </p:blipFill>
        <p:spPr>
          <a:xfrm>
            <a:off x="749808" y="3264408"/>
            <a:ext cx="694944" cy="694944"/>
          </a:xfrm>
          <a:prstGeom prst="rect">
            <a:avLst/>
          </a:prstGeom>
        </p:spPr>
      </p:pic>
      <p:sp>
        <p:nvSpPr>
          <p:cNvPr id="10" name="Text 6"/>
          <p:cNvSpPr/>
          <p:nvPr/>
        </p:nvSpPr>
        <p:spPr>
          <a:xfrm>
            <a:off x="1737360" y="3108960"/>
            <a:ext cx="9144000"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Standard Benchmark Suites (e.g., SPEC)</a:t>
            </a:r>
            <a:endParaRPr lang="en-US" sz="1700" dirty="0"/>
          </a:p>
        </p:txBody>
      </p:sp>
      <p:sp>
        <p:nvSpPr>
          <p:cNvPr id="11" name="Text 7"/>
          <p:cNvSpPr/>
          <p:nvPr/>
        </p:nvSpPr>
        <p:spPr>
          <a:xfrm>
            <a:off x="1737360" y="3566160"/>
            <a:ext cx="9144000" cy="822960"/>
          </a:xfrm>
          <a:prstGeom prst="rect">
            <a:avLst/>
          </a:prstGeom>
          <a:noFill/>
          <a:ln/>
        </p:spPr>
        <p:txBody>
          <a:bodyPr wrap="square" lIns="0" tIns="0" rIns="0" bIns="0" rtlCol="0" anchor="t"/>
          <a:lstStyle/>
          <a:p>
            <a:pPr indent="0" marL="0">
              <a:buNone/>
            </a:pPr>
            <a:r>
              <a:rPr lang="en-US" sz="1400" dirty="0">
                <a:solidFill>
                  <a:srgbClr val="20242C"/>
                </a:solidFill>
                <a:latin typeface="Calibri" pitchFamily="34" charset="0"/>
                <a:ea typeface="Calibri" pitchFamily="34" charset="-122"/>
                <a:cs typeface="Calibri" pitchFamily="34" charset="-120"/>
              </a:rPr>
              <a:t>A fixed, representative bundle of real programs, run identically on every candidate processor, so comparisons are apples-to-apples.</a:t>
            </a:r>
            <a:endParaRPr lang="en-US" sz="1400" dirty="0"/>
          </a:p>
        </p:txBody>
      </p:sp>
      <p:sp>
        <p:nvSpPr>
          <p:cNvPr id="12" name="Shape 8"/>
          <p:cNvSpPr/>
          <p:nvPr/>
        </p:nvSpPr>
        <p:spPr>
          <a:xfrm>
            <a:off x="640080" y="4572000"/>
            <a:ext cx="914400" cy="914400"/>
          </a:xfrm>
          <a:prstGeom prst="ellipse">
            <a:avLst/>
          </a:prstGeom>
          <a:solidFill>
            <a:srgbClr val="D9822B"/>
          </a:solidFill>
          <a:ln/>
        </p:spPr>
      </p:sp>
      <p:pic>
        <p:nvPicPr>
          <p:cNvPr id="13" name="Image 2" descr="preencoded.png">    </p:cNvPr>
          <p:cNvPicPr>
            <a:picLocks noChangeAspect="1"/>
          </p:cNvPicPr>
          <p:nvPr/>
        </p:nvPicPr>
        <p:blipFill>
          <a:blip r:embed="rId3"/>
          <a:stretch>
            <a:fillRect/>
          </a:stretch>
        </p:blipFill>
        <p:spPr>
          <a:xfrm>
            <a:off x="749808" y="4681728"/>
            <a:ext cx="694944" cy="694944"/>
          </a:xfrm>
          <a:prstGeom prst="rect">
            <a:avLst/>
          </a:prstGeom>
        </p:spPr>
      </p:pic>
      <p:sp>
        <p:nvSpPr>
          <p:cNvPr id="14" name="Text 9"/>
          <p:cNvSpPr/>
          <p:nvPr/>
        </p:nvSpPr>
        <p:spPr>
          <a:xfrm>
            <a:off x="1737360" y="4526280"/>
            <a:ext cx="9144000"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Workload-Specific Benchmarking</a:t>
            </a:r>
            <a:endParaRPr lang="en-US" sz="1700" dirty="0"/>
          </a:p>
        </p:txBody>
      </p:sp>
      <p:sp>
        <p:nvSpPr>
          <p:cNvPr id="15" name="Text 10"/>
          <p:cNvSpPr/>
          <p:nvPr/>
        </p:nvSpPr>
        <p:spPr>
          <a:xfrm>
            <a:off x="1737360" y="4983480"/>
            <a:ext cx="9144000" cy="822960"/>
          </a:xfrm>
          <a:prstGeom prst="rect">
            <a:avLst/>
          </a:prstGeom>
          <a:noFill/>
          <a:ln/>
        </p:spPr>
        <p:txBody>
          <a:bodyPr wrap="square" lIns="0" tIns="0" rIns="0" bIns="0" rtlCol="0" anchor="t"/>
          <a:lstStyle/>
          <a:p>
            <a:pPr indent="0" marL="0">
              <a:buNone/>
            </a:pPr>
            <a:r>
              <a:rPr lang="en-US" sz="1400" dirty="0">
                <a:solidFill>
                  <a:srgbClr val="20242C"/>
                </a:solidFill>
                <a:latin typeface="Calibri" pitchFamily="34" charset="0"/>
                <a:ea typeface="Calibri" pitchFamily="34" charset="-122"/>
                <a:cs typeface="Calibri" pitchFamily="34" charset="-120"/>
              </a:rPr>
              <a:t>For any real decision, measure performance on the actual software you intend to run -- generic scores are only a starting hint.</a:t>
            </a:r>
            <a:endParaRPr lang="en-US" sz="1400" dirty="0"/>
          </a:p>
        </p:txBody>
      </p:sp>
      <p:sp>
        <p:nvSpPr>
          <p:cNvPr id="16" name="Text 11"/>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7" name="Text 12"/>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8" name="Text 13"/>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WATCH OUT</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Common Misconceptions &amp; Pitfalls</a:t>
            </a:r>
            <a:endParaRPr lang="en-US" sz="3200" dirty="0"/>
          </a:p>
        </p:txBody>
      </p:sp>
      <p:sp>
        <p:nvSpPr>
          <p:cNvPr id="4" name="Shape 2"/>
          <p:cNvSpPr/>
          <p:nvPr/>
        </p:nvSpPr>
        <p:spPr>
          <a:xfrm>
            <a:off x="640080" y="1691640"/>
            <a:ext cx="640080" cy="640080"/>
          </a:xfrm>
          <a:prstGeom prst="ellipse">
            <a:avLst/>
          </a:prstGeom>
          <a:solidFill>
            <a:srgbClr val="C0392B"/>
          </a:solidFill>
          <a:ln/>
        </p:spPr>
      </p:sp>
      <p:pic>
        <p:nvPicPr>
          <p:cNvPr id="5" name="Image 0" descr="preencoded.png">    </p:cNvPr>
          <p:cNvPicPr>
            <a:picLocks noChangeAspect="1"/>
          </p:cNvPicPr>
          <p:nvPr/>
        </p:nvPicPr>
        <p:blipFill>
          <a:blip r:embed="rId1"/>
          <a:stretch>
            <a:fillRect/>
          </a:stretch>
        </p:blipFill>
        <p:spPr>
          <a:xfrm>
            <a:off x="716890" y="1768450"/>
            <a:ext cx="486461" cy="486461"/>
          </a:xfrm>
          <a:prstGeom prst="rect">
            <a:avLst/>
          </a:prstGeom>
        </p:spPr>
      </p:pic>
      <p:sp>
        <p:nvSpPr>
          <p:cNvPr id="6" name="Text 3"/>
          <p:cNvSpPr/>
          <p:nvPr/>
        </p:nvSpPr>
        <p:spPr>
          <a:xfrm>
            <a:off x="1463040" y="1645920"/>
            <a:ext cx="4572000" cy="82296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Higher clock rate always means faster.</a:t>
            </a:r>
            <a:endParaRPr lang="en-US" sz="1400" dirty="0"/>
          </a:p>
        </p:txBody>
      </p:sp>
      <p:sp>
        <p:nvSpPr>
          <p:cNvPr id="7" name="Shape 4"/>
          <p:cNvSpPr/>
          <p:nvPr/>
        </p:nvSpPr>
        <p:spPr>
          <a:xfrm>
            <a:off x="6172200" y="1691640"/>
            <a:ext cx="5349240" cy="868680"/>
          </a:xfrm>
          <a:prstGeom prst="roundRect">
            <a:avLst>
              <a:gd name="adj" fmla="val 8421"/>
            </a:avLst>
          </a:prstGeom>
          <a:solidFill>
            <a:srgbClr val="FFFFFF"/>
          </a:solidFill>
          <a:ln w="12700">
            <a:solidFill>
              <a:srgbClr val="E2E6ED"/>
            </a:solidFill>
            <a:prstDash val="solid"/>
          </a:ln>
        </p:spPr>
      </p:sp>
      <p:sp>
        <p:nvSpPr>
          <p:cNvPr id="8" name="Text 5"/>
          <p:cNvSpPr/>
          <p:nvPr/>
        </p:nvSpPr>
        <p:spPr>
          <a:xfrm>
            <a:off x="6355080" y="1691640"/>
            <a:ext cx="5029200" cy="868680"/>
          </a:xfrm>
          <a:prstGeom prst="rect">
            <a:avLst/>
          </a:prstGeom>
          <a:noFill/>
          <a:ln/>
        </p:spPr>
        <p:txBody>
          <a:bodyPr wrap="square" lIns="0" tIns="0" rIns="0" bIns="0" rtlCol="0" anchor="ctr"/>
          <a:lstStyle/>
          <a:p>
            <a:pPr indent="0" marL="0">
              <a:buNone/>
            </a:pPr>
            <a:r>
              <a:rPr lang="en-US" sz="1350" dirty="0">
                <a:solidFill>
                  <a:srgbClr val="20242C"/>
                </a:solidFill>
                <a:latin typeface="Calibri" pitchFamily="34" charset="0"/>
                <a:ea typeface="Calibri" pitchFamily="34" charset="-122"/>
                <a:cs typeface="Calibri" pitchFamily="34" charset="-120"/>
              </a:rPr>
              <a:t>False — only true if CPI and IC are held equal.</a:t>
            </a:r>
            <a:endParaRPr lang="en-US" sz="1350" dirty="0"/>
          </a:p>
        </p:txBody>
      </p:sp>
      <p:sp>
        <p:nvSpPr>
          <p:cNvPr id="9" name="Shape 6"/>
          <p:cNvSpPr/>
          <p:nvPr/>
        </p:nvSpPr>
        <p:spPr>
          <a:xfrm>
            <a:off x="640080" y="2743200"/>
            <a:ext cx="640080" cy="640080"/>
          </a:xfrm>
          <a:prstGeom prst="ellipse">
            <a:avLst/>
          </a:prstGeom>
          <a:solidFill>
            <a:srgbClr val="C0392B"/>
          </a:solidFill>
          <a:ln/>
        </p:spPr>
      </p:sp>
      <p:pic>
        <p:nvPicPr>
          <p:cNvPr id="10" name="Image 1" descr="preencoded.png">    </p:cNvPr>
          <p:cNvPicPr>
            <a:picLocks noChangeAspect="1"/>
          </p:cNvPicPr>
          <p:nvPr/>
        </p:nvPicPr>
        <p:blipFill>
          <a:blip r:embed="rId2"/>
          <a:stretch>
            <a:fillRect/>
          </a:stretch>
        </p:blipFill>
        <p:spPr>
          <a:xfrm>
            <a:off x="716890" y="2820010"/>
            <a:ext cx="486461" cy="486461"/>
          </a:xfrm>
          <a:prstGeom prst="rect">
            <a:avLst/>
          </a:prstGeom>
        </p:spPr>
      </p:pic>
      <p:sp>
        <p:nvSpPr>
          <p:cNvPr id="11" name="Text 7"/>
          <p:cNvSpPr/>
          <p:nvPr/>
        </p:nvSpPr>
        <p:spPr>
          <a:xfrm>
            <a:off x="1463040" y="2697480"/>
            <a:ext cx="4572000" cy="82296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Higher MIPS always means better performance.</a:t>
            </a:r>
            <a:endParaRPr lang="en-US" sz="1400" dirty="0"/>
          </a:p>
        </p:txBody>
      </p:sp>
      <p:sp>
        <p:nvSpPr>
          <p:cNvPr id="12" name="Shape 8"/>
          <p:cNvSpPr/>
          <p:nvPr/>
        </p:nvSpPr>
        <p:spPr>
          <a:xfrm>
            <a:off x="6172200" y="2743200"/>
            <a:ext cx="5349240" cy="868680"/>
          </a:xfrm>
          <a:prstGeom prst="roundRect">
            <a:avLst>
              <a:gd name="adj" fmla="val 8421"/>
            </a:avLst>
          </a:prstGeom>
          <a:solidFill>
            <a:srgbClr val="FFFFFF"/>
          </a:solidFill>
          <a:ln w="12700">
            <a:solidFill>
              <a:srgbClr val="E2E6ED"/>
            </a:solidFill>
            <a:prstDash val="solid"/>
          </a:ln>
        </p:spPr>
      </p:sp>
      <p:sp>
        <p:nvSpPr>
          <p:cNvPr id="13" name="Text 9"/>
          <p:cNvSpPr/>
          <p:nvPr/>
        </p:nvSpPr>
        <p:spPr>
          <a:xfrm>
            <a:off x="6355080" y="2743200"/>
            <a:ext cx="5029200" cy="868680"/>
          </a:xfrm>
          <a:prstGeom prst="rect">
            <a:avLst/>
          </a:prstGeom>
          <a:noFill/>
          <a:ln/>
        </p:spPr>
        <p:txBody>
          <a:bodyPr wrap="square" lIns="0" tIns="0" rIns="0" bIns="0" rtlCol="0" anchor="ctr"/>
          <a:lstStyle/>
          <a:p>
            <a:pPr indent="0" marL="0">
              <a:buNone/>
            </a:pPr>
            <a:r>
              <a:rPr lang="en-US" sz="1350" dirty="0">
                <a:solidFill>
                  <a:srgbClr val="20242C"/>
                </a:solidFill>
                <a:latin typeface="Calibri" pitchFamily="34" charset="0"/>
                <a:ea typeface="Calibri" pitchFamily="34" charset="-122"/>
                <a:cs typeface="Calibri" pitchFamily="34" charset="-120"/>
              </a:rPr>
              <a:t>False — MIPS ignores work-per-instruction and program identity.</a:t>
            </a:r>
            <a:endParaRPr lang="en-US" sz="1350" dirty="0"/>
          </a:p>
        </p:txBody>
      </p:sp>
      <p:sp>
        <p:nvSpPr>
          <p:cNvPr id="14" name="Shape 10"/>
          <p:cNvSpPr/>
          <p:nvPr/>
        </p:nvSpPr>
        <p:spPr>
          <a:xfrm>
            <a:off x="640080" y="3794760"/>
            <a:ext cx="640080" cy="640080"/>
          </a:xfrm>
          <a:prstGeom prst="ellipse">
            <a:avLst/>
          </a:prstGeom>
          <a:solidFill>
            <a:srgbClr val="C0392B"/>
          </a:solidFill>
          <a:ln/>
        </p:spPr>
      </p:sp>
      <p:pic>
        <p:nvPicPr>
          <p:cNvPr id="15" name="Image 2" descr="preencoded.png">    </p:cNvPr>
          <p:cNvPicPr>
            <a:picLocks noChangeAspect="1"/>
          </p:cNvPicPr>
          <p:nvPr/>
        </p:nvPicPr>
        <p:blipFill>
          <a:blip r:embed="rId3"/>
          <a:stretch>
            <a:fillRect/>
          </a:stretch>
        </p:blipFill>
        <p:spPr>
          <a:xfrm>
            <a:off x="716890" y="3871570"/>
            <a:ext cx="486461" cy="486461"/>
          </a:xfrm>
          <a:prstGeom prst="rect">
            <a:avLst/>
          </a:prstGeom>
        </p:spPr>
      </p:pic>
      <p:sp>
        <p:nvSpPr>
          <p:cNvPr id="16" name="Text 11"/>
          <p:cNvSpPr/>
          <p:nvPr/>
        </p:nvSpPr>
        <p:spPr>
          <a:xfrm>
            <a:off x="1463040" y="3749040"/>
            <a:ext cx="4572000" cy="82296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More pipeline stages always improves performance.</a:t>
            </a:r>
            <a:endParaRPr lang="en-US" sz="1400" dirty="0"/>
          </a:p>
        </p:txBody>
      </p:sp>
      <p:sp>
        <p:nvSpPr>
          <p:cNvPr id="17" name="Shape 12"/>
          <p:cNvSpPr/>
          <p:nvPr/>
        </p:nvSpPr>
        <p:spPr>
          <a:xfrm>
            <a:off x="6172200" y="3794760"/>
            <a:ext cx="5349240" cy="868680"/>
          </a:xfrm>
          <a:prstGeom prst="roundRect">
            <a:avLst>
              <a:gd name="adj" fmla="val 8421"/>
            </a:avLst>
          </a:prstGeom>
          <a:solidFill>
            <a:srgbClr val="FFFFFF"/>
          </a:solidFill>
          <a:ln w="12700">
            <a:solidFill>
              <a:srgbClr val="E2E6ED"/>
            </a:solidFill>
            <a:prstDash val="solid"/>
          </a:ln>
        </p:spPr>
      </p:sp>
      <p:sp>
        <p:nvSpPr>
          <p:cNvPr id="18" name="Text 13"/>
          <p:cNvSpPr/>
          <p:nvPr/>
        </p:nvSpPr>
        <p:spPr>
          <a:xfrm>
            <a:off x="6355080" y="3794760"/>
            <a:ext cx="5029200" cy="868680"/>
          </a:xfrm>
          <a:prstGeom prst="rect">
            <a:avLst/>
          </a:prstGeom>
          <a:noFill/>
          <a:ln/>
        </p:spPr>
        <p:txBody>
          <a:bodyPr wrap="square" lIns="0" tIns="0" rIns="0" bIns="0" rtlCol="0" anchor="ctr"/>
          <a:lstStyle/>
          <a:p>
            <a:pPr indent="0" marL="0">
              <a:buNone/>
            </a:pPr>
            <a:r>
              <a:rPr lang="en-US" sz="1350" dirty="0">
                <a:solidFill>
                  <a:srgbClr val="20242C"/>
                </a:solidFill>
                <a:latin typeface="Calibri" pitchFamily="34" charset="0"/>
                <a:ea typeface="Calibri" pitchFamily="34" charset="-122"/>
                <a:cs typeface="Calibri" pitchFamily="34" charset="-120"/>
              </a:rPr>
              <a:t>False — stall/flush penalties grow with depth.</a:t>
            </a:r>
            <a:endParaRPr lang="en-US" sz="1350" dirty="0"/>
          </a:p>
        </p:txBody>
      </p:sp>
      <p:sp>
        <p:nvSpPr>
          <p:cNvPr id="19" name="Shape 14"/>
          <p:cNvSpPr/>
          <p:nvPr/>
        </p:nvSpPr>
        <p:spPr>
          <a:xfrm>
            <a:off x="640080" y="4846320"/>
            <a:ext cx="640080" cy="640080"/>
          </a:xfrm>
          <a:prstGeom prst="ellipse">
            <a:avLst/>
          </a:prstGeom>
          <a:solidFill>
            <a:srgbClr val="C0392B"/>
          </a:solidFill>
          <a:ln/>
        </p:spPr>
      </p:sp>
      <p:pic>
        <p:nvPicPr>
          <p:cNvPr id="20" name="Image 3" descr="preencoded.png">    </p:cNvPr>
          <p:cNvPicPr>
            <a:picLocks noChangeAspect="1"/>
          </p:cNvPicPr>
          <p:nvPr/>
        </p:nvPicPr>
        <p:blipFill>
          <a:blip r:embed="rId4"/>
          <a:stretch>
            <a:fillRect/>
          </a:stretch>
        </p:blipFill>
        <p:spPr>
          <a:xfrm>
            <a:off x="716890" y="4923130"/>
            <a:ext cx="486461" cy="486461"/>
          </a:xfrm>
          <a:prstGeom prst="rect">
            <a:avLst/>
          </a:prstGeom>
        </p:spPr>
      </p:pic>
      <p:sp>
        <p:nvSpPr>
          <p:cNvPr id="21" name="Text 15"/>
          <p:cNvSpPr/>
          <p:nvPr/>
        </p:nvSpPr>
        <p:spPr>
          <a:xfrm>
            <a:off x="1463040" y="4800600"/>
            <a:ext cx="4572000" cy="82296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CPI of 1 is the best any pipeline can do.</a:t>
            </a:r>
            <a:endParaRPr lang="en-US" sz="1400" dirty="0"/>
          </a:p>
        </p:txBody>
      </p:sp>
      <p:sp>
        <p:nvSpPr>
          <p:cNvPr id="22" name="Shape 16"/>
          <p:cNvSpPr/>
          <p:nvPr/>
        </p:nvSpPr>
        <p:spPr>
          <a:xfrm>
            <a:off x="6172200" y="4846320"/>
            <a:ext cx="5349240" cy="868680"/>
          </a:xfrm>
          <a:prstGeom prst="roundRect">
            <a:avLst>
              <a:gd name="adj" fmla="val 8421"/>
            </a:avLst>
          </a:prstGeom>
          <a:solidFill>
            <a:srgbClr val="FFFFFF"/>
          </a:solidFill>
          <a:ln w="12700">
            <a:solidFill>
              <a:srgbClr val="E2E6ED"/>
            </a:solidFill>
            <a:prstDash val="solid"/>
          </a:ln>
        </p:spPr>
      </p:sp>
      <p:sp>
        <p:nvSpPr>
          <p:cNvPr id="23" name="Text 17"/>
          <p:cNvSpPr/>
          <p:nvPr/>
        </p:nvSpPr>
        <p:spPr>
          <a:xfrm>
            <a:off x="6355080" y="4846320"/>
            <a:ext cx="5029200" cy="868680"/>
          </a:xfrm>
          <a:prstGeom prst="rect">
            <a:avLst/>
          </a:prstGeom>
          <a:noFill/>
          <a:ln/>
        </p:spPr>
        <p:txBody>
          <a:bodyPr wrap="square" lIns="0" tIns="0" rIns="0" bIns="0" rtlCol="0" anchor="ctr"/>
          <a:lstStyle/>
          <a:p>
            <a:pPr indent="0" marL="0">
              <a:buNone/>
            </a:pPr>
            <a:r>
              <a:rPr lang="en-US" sz="1350" dirty="0">
                <a:solidFill>
                  <a:srgbClr val="20242C"/>
                </a:solidFill>
                <a:latin typeface="Calibri" pitchFamily="34" charset="0"/>
                <a:ea typeface="Calibri" pitchFamily="34" charset="-122"/>
                <a:cs typeface="Calibri" pitchFamily="34" charset="-120"/>
              </a:rPr>
              <a:t>Roughly true for a simple scalar pipeline — superscalar designs can beat it.</a:t>
            </a:r>
            <a:endParaRPr lang="en-US" sz="1350" dirty="0"/>
          </a:p>
        </p:txBody>
      </p:sp>
      <p:sp>
        <p:nvSpPr>
          <p:cNvPr id="24" name="Text 18"/>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5" name="Text 19"/>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26" name="Text 20"/>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CHECK YOUR UNDERSTANDING</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Quick Check / Mini Activity</a:t>
            </a:r>
            <a:endParaRPr lang="en-US" sz="3200" dirty="0"/>
          </a:p>
        </p:txBody>
      </p:sp>
      <p:sp>
        <p:nvSpPr>
          <p:cNvPr id="4" name="Shape 2"/>
          <p:cNvSpPr/>
          <p:nvPr/>
        </p:nvSpPr>
        <p:spPr>
          <a:xfrm>
            <a:off x="9601200" y="1737360"/>
            <a:ext cx="1463040" cy="1463040"/>
          </a:xfrm>
          <a:prstGeom prst="ellipse">
            <a:avLst/>
          </a:prstGeom>
          <a:solidFill>
            <a:srgbClr val="1C7293"/>
          </a:solidFill>
          <a:ln/>
        </p:spPr>
      </p:sp>
      <p:pic>
        <p:nvPicPr>
          <p:cNvPr id="5" name="Image 0" descr="preencoded.png">    </p:cNvPr>
          <p:cNvPicPr>
            <a:picLocks noChangeAspect="1"/>
          </p:cNvPicPr>
          <p:nvPr/>
        </p:nvPicPr>
        <p:blipFill>
          <a:blip r:embed="rId1"/>
          <a:stretch>
            <a:fillRect/>
          </a:stretch>
        </p:blipFill>
        <p:spPr>
          <a:xfrm>
            <a:off x="9776765" y="1912925"/>
            <a:ext cx="1111910" cy="1111910"/>
          </a:xfrm>
          <a:prstGeom prst="rect">
            <a:avLst/>
          </a:prstGeom>
        </p:spPr>
      </p:pic>
      <p:sp>
        <p:nvSpPr>
          <p:cNvPr id="6" name="Shape 3"/>
          <p:cNvSpPr/>
          <p:nvPr/>
        </p:nvSpPr>
        <p:spPr>
          <a:xfrm>
            <a:off x="640080" y="1691640"/>
            <a:ext cx="8412480" cy="1920240"/>
          </a:xfrm>
          <a:prstGeom prst="roundRect">
            <a:avLst>
              <a:gd name="adj" fmla="val 4286"/>
            </a:avLst>
          </a:prstGeom>
          <a:solidFill>
            <a:srgbClr val="F7F8FA"/>
          </a:solidFill>
          <a:ln w="12700">
            <a:solidFill>
              <a:srgbClr val="E2E6ED"/>
            </a:solidFill>
            <a:prstDash val="solid"/>
          </a:ln>
        </p:spPr>
      </p:sp>
      <p:sp>
        <p:nvSpPr>
          <p:cNvPr id="7" name="Text 4"/>
          <p:cNvSpPr/>
          <p:nvPr/>
        </p:nvSpPr>
        <p:spPr>
          <a:xfrm>
            <a:off x="914400" y="1691640"/>
            <a:ext cx="7863840" cy="1920240"/>
          </a:xfrm>
          <a:prstGeom prst="rect">
            <a:avLst/>
          </a:prstGeom>
          <a:noFill/>
          <a:ln/>
        </p:spPr>
        <p:txBody>
          <a:bodyPr wrap="square" lIns="0" tIns="0" rIns="0" bIns="0" rtlCol="0" anchor="ctr"/>
          <a:lstStyle/>
          <a:p>
            <a:pPr indent="0" marL="0">
              <a:buNone/>
            </a:pPr>
            <a:r>
              <a:rPr lang="en-US" sz="1550" dirty="0">
                <a:solidFill>
                  <a:srgbClr val="20242C"/>
                </a:solidFill>
                <a:latin typeface="Calibri" pitchFamily="34" charset="0"/>
                <a:ea typeface="Calibri" pitchFamily="34" charset="-122"/>
                <a:cs typeface="Calibri" pitchFamily="34" charset="-120"/>
              </a:rPr>
              <a:t>A processor runs at 2.5 GHz with an ideal CPI of 1.0. Adding a new feature raises the clock rate to 3 GHz but also raises CPI to 1.3 (more stalls). For a fixed 20-million-instruction program, is the new design faster or slower?</a:t>
            </a:r>
            <a:endParaRPr lang="en-US" sz="1550" dirty="0"/>
          </a:p>
        </p:txBody>
      </p:sp>
      <p:sp>
        <p:nvSpPr>
          <p:cNvPr id="8" name="Text 5"/>
          <p:cNvSpPr/>
          <p:nvPr/>
        </p:nvSpPr>
        <p:spPr>
          <a:xfrm>
            <a:off x="640080" y="3794760"/>
            <a:ext cx="8412480" cy="2194560"/>
          </a:xfrm>
          <a:prstGeom prst="rect">
            <a:avLst/>
          </a:prstGeom>
          <a:noFill/>
          <a:ln/>
        </p:spPr>
        <p:txBody>
          <a:bodyPr wrap="square" lIns="0" tIns="0" rIns="0" bIns="0" rtlCol="0" anchor="t"/>
          <a:lstStyle/>
          <a:p>
            <a:pPr algn="l" marL="342900" indent="-342900">
              <a:lnSpc>
                <a:spcPct val="115000"/>
              </a:lnSpc>
              <a:spcAft>
                <a:spcPts val="1200"/>
              </a:spcAft>
              <a:buSzPct val="100000"/>
              <a:buChar char="•"/>
            </a:pPr>
            <a:r>
              <a:rPr lang="en-US" sz="1500" dirty="0">
                <a:solidFill>
                  <a:srgbClr val="20242C"/>
                </a:solidFill>
                <a:latin typeface="Calibri" pitchFamily="34" charset="0"/>
                <a:ea typeface="Calibri" pitchFamily="34" charset="-122"/>
                <a:cs typeface="Calibri" pitchFamily="34" charset="-120"/>
              </a:rPr>
              <a:t>Work in pairs for 2 minutes -- compute CPU Time for both designs.</a:t>
            </a:r>
            <a:endParaRPr lang="en-US" sz="1500" dirty="0"/>
          </a:p>
          <a:p>
            <a:pPr algn="l" marL="342900" indent="-342900">
              <a:lnSpc>
                <a:spcPct val="115000"/>
              </a:lnSpc>
              <a:spcAft>
                <a:spcPts val="1200"/>
              </a:spcAft>
              <a:buSzPct val="100000"/>
              <a:buChar char="•"/>
            </a:pPr>
            <a:r>
              <a:rPr lang="en-US" sz="1500" dirty="0">
                <a:solidFill>
                  <a:srgbClr val="20242C"/>
                </a:solidFill>
                <a:latin typeface="Calibri" pitchFamily="34" charset="0"/>
                <a:ea typeface="Calibri" pitchFamily="34" charset="-122"/>
                <a:cs typeface="Calibri" pitchFamily="34" charset="-120"/>
              </a:rPr>
              <a:t>Old: CPU Time = 20×10⁶ × 1.0 ÷ 2.5×10⁹ = 8 ms</a:t>
            </a:r>
            <a:endParaRPr lang="en-US" sz="1500" dirty="0"/>
          </a:p>
          <a:p>
            <a:pPr algn="l" marL="342900" indent="-342900">
              <a:lnSpc>
                <a:spcPct val="115000"/>
              </a:lnSpc>
              <a:spcAft>
                <a:spcPts val="1200"/>
              </a:spcAft>
              <a:buSzPct val="100000"/>
              <a:buChar char="•"/>
            </a:pPr>
            <a:r>
              <a:rPr lang="en-US" sz="1500" dirty="0">
                <a:solidFill>
                  <a:srgbClr val="20242C"/>
                </a:solidFill>
                <a:latin typeface="Calibri" pitchFamily="34" charset="0"/>
                <a:ea typeface="Calibri" pitchFamily="34" charset="-122"/>
                <a:cs typeface="Calibri" pitchFamily="34" charset="-120"/>
              </a:rPr>
              <a:t>New: CPU Time = 20×10⁶ × 1.3 ÷ 3×10⁹ ≈ 8.67 ms</a:t>
            </a:r>
            <a:endParaRPr lang="en-US" sz="1500" dirty="0"/>
          </a:p>
          <a:p>
            <a:pPr algn="l" marL="342900" indent="-342900">
              <a:lnSpc>
                <a:spcPct val="115000"/>
              </a:lnSpc>
              <a:spcAft>
                <a:spcPts val="1200"/>
              </a:spcAft>
              <a:buSzPct val="100000"/>
              <a:buChar char="•"/>
            </a:pPr>
            <a:r>
              <a:rPr lang="en-US" sz="1500" dirty="0">
                <a:solidFill>
                  <a:srgbClr val="20242C"/>
                </a:solidFill>
                <a:latin typeface="Calibri" pitchFamily="34" charset="0"/>
                <a:ea typeface="Calibri" pitchFamily="34" charset="-122"/>
                <a:cs typeface="Calibri" pitchFamily="34" charset="-120"/>
              </a:rPr>
              <a:t>Answer: the "upgraded," higher-clocked design is actually slower.</a:t>
            </a:r>
            <a:endParaRPr lang="en-US" sz="1500" dirty="0"/>
          </a:p>
        </p:txBody>
      </p:sp>
      <p:sp>
        <p:nvSpPr>
          <p:cNvPr id="9" name="Text 6"/>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0" name="Text 7"/>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1" name="Text 8"/>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9FD6E8"/>
                </a:solidFill>
                <a:latin typeface="Calibri" pitchFamily="34" charset="0"/>
                <a:ea typeface="Calibri" pitchFamily="34" charset="-122"/>
                <a:cs typeface="Calibri" pitchFamily="34" charset="-120"/>
              </a:rPr>
              <a:t>WRAP-UP</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Summary of Key Points</a:t>
            </a:r>
            <a:endParaRPr lang="en-US" sz="3000" dirty="0"/>
          </a:p>
        </p:txBody>
      </p:sp>
      <p:sp>
        <p:nvSpPr>
          <p:cNvPr id="4" name="Shape 2"/>
          <p:cNvSpPr/>
          <p:nvPr/>
        </p:nvSpPr>
        <p:spPr>
          <a:xfrm>
            <a:off x="640080" y="1783080"/>
            <a:ext cx="640080" cy="64008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716890" y="1859890"/>
            <a:ext cx="486461" cy="486461"/>
          </a:xfrm>
          <a:prstGeom prst="rect">
            <a:avLst/>
          </a:prstGeom>
        </p:spPr>
      </p:pic>
      <p:sp>
        <p:nvSpPr>
          <p:cNvPr id="6" name="Text 3"/>
          <p:cNvSpPr/>
          <p:nvPr/>
        </p:nvSpPr>
        <p:spPr>
          <a:xfrm>
            <a:off x="1508760" y="1737360"/>
            <a:ext cx="9509760" cy="82296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CPU Time = IC × CPI × T_clock -- the equation behind every performance claim.</a:t>
            </a:r>
            <a:endParaRPr lang="en-US" sz="1550" dirty="0"/>
          </a:p>
        </p:txBody>
      </p:sp>
      <p:sp>
        <p:nvSpPr>
          <p:cNvPr id="7" name="Shape 4"/>
          <p:cNvSpPr/>
          <p:nvPr/>
        </p:nvSpPr>
        <p:spPr>
          <a:xfrm>
            <a:off x="640080" y="2834640"/>
            <a:ext cx="640080" cy="640080"/>
          </a:xfrm>
          <a:prstGeom prst="ellipse">
            <a:avLst/>
          </a:prstGeom>
          <a:solidFill>
            <a:srgbClr val="C0392B"/>
          </a:solidFill>
          <a:ln/>
        </p:spPr>
      </p:sp>
      <p:pic>
        <p:nvPicPr>
          <p:cNvPr id="8" name="Image 1" descr="preencoded.png">    </p:cNvPr>
          <p:cNvPicPr>
            <a:picLocks noChangeAspect="1"/>
          </p:cNvPicPr>
          <p:nvPr/>
        </p:nvPicPr>
        <p:blipFill>
          <a:blip r:embed="rId2"/>
          <a:stretch>
            <a:fillRect/>
          </a:stretch>
        </p:blipFill>
        <p:spPr>
          <a:xfrm>
            <a:off x="716890" y="2911450"/>
            <a:ext cx="486461" cy="486461"/>
          </a:xfrm>
          <a:prstGeom prst="rect">
            <a:avLst/>
          </a:prstGeom>
        </p:spPr>
      </p:pic>
      <p:sp>
        <p:nvSpPr>
          <p:cNvPr id="9" name="Text 5"/>
          <p:cNvSpPr/>
          <p:nvPr/>
        </p:nvSpPr>
        <p:spPr>
          <a:xfrm>
            <a:off x="1508760" y="2788920"/>
            <a:ext cx="9509760" cy="82296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CPI = CPI_ideal + stall cycles per instruction -- stalls come from structural, data, and control hazards.</a:t>
            </a:r>
            <a:endParaRPr lang="en-US" sz="1550" dirty="0"/>
          </a:p>
        </p:txBody>
      </p:sp>
      <p:sp>
        <p:nvSpPr>
          <p:cNvPr id="10" name="Shape 6"/>
          <p:cNvSpPr/>
          <p:nvPr/>
        </p:nvSpPr>
        <p:spPr>
          <a:xfrm>
            <a:off x="640080" y="3886200"/>
            <a:ext cx="640080" cy="640080"/>
          </a:xfrm>
          <a:prstGeom prst="ellipse">
            <a:avLst/>
          </a:prstGeom>
          <a:solidFill>
            <a:srgbClr val="1C7293"/>
          </a:solidFill>
          <a:ln/>
        </p:spPr>
      </p:sp>
      <p:pic>
        <p:nvPicPr>
          <p:cNvPr id="11" name="Image 2" descr="preencoded.png">    </p:cNvPr>
          <p:cNvPicPr>
            <a:picLocks noChangeAspect="1"/>
          </p:cNvPicPr>
          <p:nvPr/>
        </p:nvPicPr>
        <p:blipFill>
          <a:blip r:embed="rId3"/>
          <a:stretch>
            <a:fillRect/>
          </a:stretch>
        </p:blipFill>
        <p:spPr>
          <a:xfrm>
            <a:off x="716890" y="3963010"/>
            <a:ext cx="486461" cy="486461"/>
          </a:xfrm>
          <a:prstGeom prst="rect">
            <a:avLst/>
          </a:prstGeom>
        </p:spPr>
      </p:pic>
      <p:sp>
        <p:nvSpPr>
          <p:cNvPr id="12" name="Text 7"/>
          <p:cNvSpPr/>
          <p:nvPr/>
        </p:nvSpPr>
        <p:spPr>
          <a:xfrm>
            <a:off x="1508760" y="3840480"/>
            <a:ext cx="9509760" cy="82296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Pipeline depth trades clock rate against stall/flush penalty -- there is no free lunch.</a:t>
            </a:r>
            <a:endParaRPr lang="en-US" sz="1550" dirty="0"/>
          </a:p>
        </p:txBody>
      </p:sp>
      <p:sp>
        <p:nvSpPr>
          <p:cNvPr id="13" name="Shape 8"/>
          <p:cNvSpPr/>
          <p:nvPr/>
        </p:nvSpPr>
        <p:spPr>
          <a:xfrm>
            <a:off x="640080" y="4937760"/>
            <a:ext cx="640080" cy="640080"/>
          </a:xfrm>
          <a:prstGeom prst="ellipse">
            <a:avLst/>
          </a:prstGeom>
          <a:solidFill>
            <a:srgbClr val="D9822B"/>
          </a:solidFill>
          <a:ln/>
        </p:spPr>
      </p:sp>
      <p:pic>
        <p:nvPicPr>
          <p:cNvPr id="14" name="Image 3" descr="preencoded.png">    </p:cNvPr>
          <p:cNvPicPr>
            <a:picLocks noChangeAspect="1"/>
          </p:cNvPicPr>
          <p:nvPr/>
        </p:nvPicPr>
        <p:blipFill>
          <a:blip r:embed="rId4"/>
          <a:stretch>
            <a:fillRect/>
          </a:stretch>
        </p:blipFill>
        <p:spPr>
          <a:xfrm>
            <a:off x="716890" y="5014570"/>
            <a:ext cx="486461" cy="486461"/>
          </a:xfrm>
          <a:prstGeom prst="rect">
            <a:avLst/>
          </a:prstGeom>
        </p:spPr>
      </p:pic>
      <p:sp>
        <p:nvSpPr>
          <p:cNvPr id="15" name="Text 9"/>
          <p:cNvSpPr/>
          <p:nvPr/>
        </p:nvSpPr>
        <p:spPr>
          <a:xfrm>
            <a:off x="1508760" y="4892040"/>
            <a:ext cx="9509760" cy="82296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Clock speed and MIPS are each only part of the story -- true performance needs all three terms of the equation, or real execution time.</a:t>
            </a:r>
            <a:endParaRPr lang="en-US" sz="1550" dirty="0"/>
          </a:p>
        </p:txBody>
      </p:sp>
      <p:sp>
        <p:nvSpPr>
          <p:cNvPr id="16" name="Text 10"/>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C7D0DE"/>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17" name="Text 11"/>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18" name="Text 12"/>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C7D0DE"/>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QUIZ — CSS2257</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Quiz Questions</a:t>
            </a:r>
            <a:endParaRPr lang="en-US" sz="3200" dirty="0"/>
          </a:p>
        </p:txBody>
      </p:sp>
      <p:sp>
        <p:nvSpPr>
          <p:cNvPr id="4" name="Text 2"/>
          <p:cNvSpPr/>
          <p:nvPr/>
        </p:nvSpPr>
        <p:spPr>
          <a:xfrm>
            <a:off x="640080" y="1645920"/>
            <a:ext cx="10515600" cy="4663440"/>
          </a:xfrm>
          <a:prstGeom prst="rect">
            <a:avLst/>
          </a:prstGeom>
          <a:noFill/>
          <a:ln/>
        </p:spPr>
        <p:txBody>
          <a:bodyPr wrap="square" lIns="0" tIns="0" rIns="0" bIns="0" rtlCol="0" anchor="t"/>
          <a:lstStyle/>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Q1 (MCQ): CPU Time is best expressed as: (a) IC + CPI + Clock Rate  (b) IC × CPI × Clock Cycle Time  (c) Clock Rate ÷ CPI  (d) IC ÷ Clock Rate</a:t>
            </a:r>
            <a:endParaRPr lang="en-US" sz="1400" dirty="0"/>
          </a:p>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Q2 (True/False): Increasing clock rate always increases overall processor performance.</a:t>
            </a:r>
            <a:endParaRPr lang="en-US" sz="1400" dirty="0"/>
          </a:p>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Q3 (MCQ): A control hazard is caused by: (a) two instructions sharing hardware  (b) an unresolved branch  (c) a slow multiplier  (d) low clock rate</a:t>
            </a:r>
            <a:endParaRPr lang="en-US" sz="1400" dirty="0"/>
          </a:p>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Q4 (Short Answer): If Instruction Count doubles while CPI and clock rate stay fixed, what happens to CPU Time?</a:t>
            </a:r>
            <a:endParaRPr lang="en-US" sz="1400" dirty="0"/>
          </a:p>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Q5 (True/False): A deeper pipeline always improves overall performance.</a:t>
            </a:r>
            <a:endParaRPr lang="en-US" sz="1400" dirty="0"/>
          </a:p>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Q6 (Short Answer): Why is comparing MIPS across two different instruction set architectures misleading?</a:t>
            </a:r>
            <a:endParaRPr lang="en-US" sz="1400" dirty="0"/>
          </a:p>
        </p:txBody>
      </p:sp>
      <p:sp>
        <p:nvSpPr>
          <p:cNvPr id="5" name="Text 3"/>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6" name="Text 4"/>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7" name="Text 5"/>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QUIZ — CSS2257</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Quiz Answers</a:t>
            </a:r>
            <a:endParaRPr lang="en-US" sz="3200" dirty="0"/>
          </a:p>
        </p:txBody>
      </p:sp>
      <p:sp>
        <p:nvSpPr>
          <p:cNvPr id="4" name="Text 2"/>
          <p:cNvSpPr/>
          <p:nvPr/>
        </p:nvSpPr>
        <p:spPr>
          <a:xfrm>
            <a:off x="640080" y="1645920"/>
            <a:ext cx="10515600" cy="4663440"/>
          </a:xfrm>
          <a:prstGeom prst="rect">
            <a:avLst/>
          </a:prstGeom>
          <a:noFill/>
          <a:ln/>
        </p:spPr>
        <p:txBody>
          <a:bodyPr wrap="square" lIns="0" tIns="0" rIns="0" bIns="0" rtlCol="0" anchor="t"/>
          <a:lstStyle/>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A1: (b) CPU Time = IC × CPI × Clock Cycle Time — the Basic Performance Equation.</a:t>
            </a:r>
            <a:endParaRPr lang="en-US" sz="1400" dirty="0"/>
          </a:p>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A2: False — only if CPI and Instruction Count stay the same; a higher clock rate with higher CPI can still be slower overall.</a:t>
            </a:r>
            <a:endParaRPr lang="en-US" sz="1400" dirty="0"/>
          </a:p>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A3: (b) An unresolved branch — the pipeline doesn’t yet know which instruction to fetch next.</a:t>
            </a:r>
            <a:endParaRPr lang="en-US" sz="1400" dirty="0"/>
          </a:p>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A4: CPU Time doubles — it is directly proportional to Instruction Count.</a:t>
            </a:r>
            <a:endParaRPr lang="en-US" sz="1400" dirty="0"/>
          </a:p>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A5: False — deeper pipelines raise clock rate but also raise stall/flush penalties, which can raise CPI enough to offset the gain.</a:t>
            </a:r>
            <a:endParaRPr lang="en-US" sz="1400" dirty="0"/>
          </a:p>
          <a:p>
            <a:pPr algn="l" marL="342900" indent="-342900">
              <a:lnSpc>
                <a:spcPct val="115000"/>
              </a:lnSpc>
              <a:spcAft>
                <a:spcPts val="1400"/>
              </a:spcAft>
              <a:buSzPct val="100000"/>
              <a:buChar char="•"/>
            </a:pPr>
            <a:r>
              <a:rPr lang="en-US" sz="1400" dirty="0">
                <a:solidFill>
                  <a:srgbClr val="20242C"/>
                </a:solidFill>
                <a:latin typeface="Calibri" pitchFamily="34" charset="0"/>
                <a:ea typeface="Calibri" pitchFamily="34" charset="-122"/>
                <a:cs typeface="Calibri" pitchFamily="34" charset="-120"/>
              </a:rPr>
              <a:t>A6: Different ISAs do different amounts of work per instruction, so counting instructions per second compares incompatible units of "work."</a:t>
            </a:r>
            <a:endParaRPr lang="en-US" sz="1400" dirty="0"/>
          </a:p>
        </p:txBody>
      </p:sp>
      <p:sp>
        <p:nvSpPr>
          <p:cNvPr id="5" name="Text 3"/>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6" name="Text 4"/>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7" name="Text 5"/>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9FD6E8"/>
                </a:solidFill>
                <a:latin typeface="Calibri" pitchFamily="34" charset="0"/>
                <a:ea typeface="Calibri" pitchFamily="34" charset="-122"/>
                <a:cs typeface="Calibri" pitchFamily="34" charset="-120"/>
              </a:rPr>
              <a:t>WHAT’S NEXT</a:t>
            </a:r>
            <a:endParaRPr lang="en-US" sz="1300" dirty="0"/>
          </a:p>
        </p:txBody>
      </p:sp>
      <p:sp>
        <p:nvSpPr>
          <p:cNvPr id="3" name="Text 1"/>
          <p:cNvSpPr/>
          <p:nvPr/>
        </p:nvSpPr>
        <p:spPr>
          <a:xfrm>
            <a:off x="548640" y="658368"/>
            <a:ext cx="10607040" cy="822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Further Reading &amp; Assignment</a:t>
            </a:r>
            <a:endParaRPr lang="en-US" sz="3000" dirty="0"/>
          </a:p>
        </p:txBody>
      </p:sp>
      <p:sp>
        <p:nvSpPr>
          <p:cNvPr id="4" name="Shape 2"/>
          <p:cNvSpPr/>
          <p:nvPr/>
        </p:nvSpPr>
        <p:spPr>
          <a:xfrm>
            <a:off x="640080" y="1828800"/>
            <a:ext cx="3429000" cy="3931920"/>
          </a:xfrm>
          <a:prstGeom prst="roundRect">
            <a:avLst>
              <a:gd name="adj" fmla="val 2667"/>
            </a:avLst>
          </a:prstGeom>
          <a:solidFill>
            <a:srgbClr val="1A2150"/>
          </a:solidFill>
          <a:ln/>
        </p:spPr>
      </p:sp>
      <p:sp>
        <p:nvSpPr>
          <p:cNvPr id="5" name="Shape 3"/>
          <p:cNvSpPr/>
          <p:nvPr/>
        </p:nvSpPr>
        <p:spPr>
          <a:xfrm>
            <a:off x="1920240" y="2148840"/>
            <a:ext cx="914400" cy="914400"/>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2029968" y="2258568"/>
            <a:ext cx="694944" cy="694944"/>
          </a:xfrm>
          <a:prstGeom prst="rect">
            <a:avLst/>
          </a:prstGeom>
        </p:spPr>
      </p:pic>
      <p:sp>
        <p:nvSpPr>
          <p:cNvPr id="7" name="Text 4"/>
          <p:cNvSpPr/>
          <p:nvPr/>
        </p:nvSpPr>
        <p:spPr>
          <a:xfrm>
            <a:off x="914400" y="3246120"/>
            <a:ext cx="2880360" cy="457200"/>
          </a:xfrm>
          <a:prstGeom prst="rect">
            <a:avLst/>
          </a:prstGeom>
          <a:noFill/>
          <a:ln/>
        </p:spPr>
        <p:txBody>
          <a:bodyPr wrap="square" lIns="0" tIns="0" rIns="0" bIns="0" rtlCol="0" anchor="ctr"/>
          <a:lstStyle/>
          <a:p>
            <a:pPr algn="ctr" indent="0" marL="0">
              <a:buNone/>
            </a:pPr>
            <a:r>
              <a:rPr lang="en-US" sz="1550" b="1" dirty="0">
                <a:solidFill>
                  <a:srgbClr val="FFFFFF"/>
                </a:solidFill>
                <a:latin typeface="Cambria" pitchFamily="34" charset="0"/>
                <a:ea typeface="Cambria" pitchFamily="34" charset="-122"/>
                <a:cs typeface="Cambria" pitchFamily="34" charset="-120"/>
              </a:rPr>
              <a:t>Further Reading</a:t>
            </a:r>
            <a:endParaRPr lang="en-US" sz="1550" dirty="0"/>
          </a:p>
        </p:txBody>
      </p:sp>
      <p:sp>
        <p:nvSpPr>
          <p:cNvPr id="8" name="Text 5"/>
          <p:cNvSpPr/>
          <p:nvPr/>
        </p:nvSpPr>
        <p:spPr>
          <a:xfrm>
            <a:off x="914400" y="3749040"/>
            <a:ext cx="2880360" cy="173736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Hennessy &amp; Patterson, "Computer Organization and Design" — chapters on performance and pipelining.</a:t>
            </a:r>
            <a:endParaRPr lang="en-US" sz="1250" dirty="0"/>
          </a:p>
        </p:txBody>
      </p:sp>
      <p:sp>
        <p:nvSpPr>
          <p:cNvPr id="9" name="Shape 6"/>
          <p:cNvSpPr/>
          <p:nvPr/>
        </p:nvSpPr>
        <p:spPr>
          <a:xfrm>
            <a:off x="4297680" y="1828800"/>
            <a:ext cx="3429000" cy="3931920"/>
          </a:xfrm>
          <a:prstGeom prst="roundRect">
            <a:avLst>
              <a:gd name="adj" fmla="val 2667"/>
            </a:avLst>
          </a:prstGeom>
          <a:solidFill>
            <a:srgbClr val="1A2150"/>
          </a:solidFill>
          <a:ln/>
        </p:spPr>
      </p:sp>
      <p:sp>
        <p:nvSpPr>
          <p:cNvPr id="10" name="Shape 7"/>
          <p:cNvSpPr/>
          <p:nvPr/>
        </p:nvSpPr>
        <p:spPr>
          <a:xfrm>
            <a:off x="5577840" y="2148840"/>
            <a:ext cx="914400" cy="914400"/>
          </a:xfrm>
          <a:prstGeom prst="ellipse">
            <a:avLst/>
          </a:prstGeom>
          <a:solidFill>
            <a:srgbClr val="D9822B"/>
          </a:solidFill>
          <a:ln/>
        </p:spPr>
      </p:sp>
      <p:pic>
        <p:nvPicPr>
          <p:cNvPr id="11" name="Image 1" descr="preencoded.png">    </p:cNvPr>
          <p:cNvPicPr>
            <a:picLocks noChangeAspect="1"/>
          </p:cNvPicPr>
          <p:nvPr/>
        </p:nvPicPr>
        <p:blipFill>
          <a:blip r:embed="rId2"/>
          <a:stretch>
            <a:fillRect/>
          </a:stretch>
        </p:blipFill>
        <p:spPr>
          <a:xfrm>
            <a:off x="5687568" y="2258568"/>
            <a:ext cx="694944" cy="694944"/>
          </a:xfrm>
          <a:prstGeom prst="rect">
            <a:avLst/>
          </a:prstGeom>
        </p:spPr>
      </p:pic>
      <p:sp>
        <p:nvSpPr>
          <p:cNvPr id="12" name="Text 8"/>
          <p:cNvSpPr/>
          <p:nvPr/>
        </p:nvSpPr>
        <p:spPr>
          <a:xfrm>
            <a:off x="4572000" y="3246120"/>
            <a:ext cx="2880360" cy="457200"/>
          </a:xfrm>
          <a:prstGeom prst="rect">
            <a:avLst/>
          </a:prstGeom>
          <a:noFill/>
          <a:ln/>
        </p:spPr>
        <p:txBody>
          <a:bodyPr wrap="square" lIns="0" tIns="0" rIns="0" bIns="0" rtlCol="0" anchor="ctr"/>
          <a:lstStyle/>
          <a:p>
            <a:pPr algn="ctr" indent="0" marL="0">
              <a:buNone/>
            </a:pPr>
            <a:r>
              <a:rPr lang="en-US" sz="1550" b="1" dirty="0">
                <a:solidFill>
                  <a:srgbClr val="FFFFFF"/>
                </a:solidFill>
                <a:latin typeface="Cambria" pitchFamily="34" charset="0"/>
                <a:ea typeface="Cambria" pitchFamily="34" charset="-122"/>
                <a:cs typeface="Cambria" pitchFamily="34" charset="-120"/>
              </a:rPr>
              <a:t>Assignment</a:t>
            </a:r>
            <a:endParaRPr lang="en-US" sz="1550" dirty="0"/>
          </a:p>
        </p:txBody>
      </p:sp>
      <p:sp>
        <p:nvSpPr>
          <p:cNvPr id="13" name="Text 9"/>
          <p:cNvSpPr/>
          <p:nvPr/>
        </p:nvSpPr>
        <p:spPr>
          <a:xfrm>
            <a:off x="4572000" y="3749040"/>
            <a:ext cx="2880360" cy="173736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Compute CPU Time and effective CPI for 2 given processors with stall data; submit before next session.</a:t>
            </a:r>
            <a:endParaRPr lang="en-US" sz="1250" dirty="0"/>
          </a:p>
        </p:txBody>
      </p:sp>
      <p:sp>
        <p:nvSpPr>
          <p:cNvPr id="14" name="Shape 10"/>
          <p:cNvSpPr/>
          <p:nvPr/>
        </p:nvSpPr>
        <p:spPr>
          <a:xfrm>
            <a:off x="7955280" y="1828800"/>
            <a:ext cx="3429000" cy="3931920"/>
          </a:xfrm>
          <a:prstGeom prst="roundRect">
            <a:avLst>
              <a:gd name="adj" fmla="val 2667"/>
            </a:avLst>
          </a:prstGeom>
          <a:solidFill>
            <a:srgbClr val="1A2150"/>
          </a:solidFill>
          <a:ln/>
        </p:spPr>
      </p:sp>
      <p:sp>
        <p:nvSpPr>
          <p:cNvPr id="15" name="Shape 11"/>
          <p:cNvSpPr/>
          <p:nvPr/>
        </p:nvSpPr>
        <p:spPr>
          <a:xfrm>
            <a:off x="9235440" y="2148840"/>
            <a:ext cx="914400" cy="914400"/>
          </a:xfrm>
          <a:prstGeom prst="ellipse">
            <a:avLst/>
          </a:prstGeom>
          <a:solidFill>
            <a:srgbClr val="065A82"/>
          </a:solidFill>
          <a:ln/>
        </p:spPr>
      </p:sp>
      <p:pic>
        <p:nvPicPr>
          <p:cNvPr id="16" name="Image 2" descr="preencoded.png">    </p:cNvPr>
          <p:cNvPicPr>
            <a:picLocks noChangeAspect="1"/>
          </p:cNvPicPr>
          <p:nvPr/>
        </p:nvPicPr>
        <p:blipFill>
          <a:blip r:embed="rId3"/>
          <a:stretch>
            <a:fillRect/>
          </a:stretch>
        </p:blipFill>
        <p:spPr>
          <a:xfrm>
            <a:off x="9345168" y="2258568"/>
            <a:ext cx="694944" cy="694944"/>
          </a:xfrm>
          <a:prstGeom prst="rect">
            <a:avLst/>
          </a:prstGeom>
        </p:spPr>
      </p:pic>
      <p:sp>
        <p:nvSpPr>
          <p:cNvPr id="17" name="Text 12"/>
          <p:cNvSpPr/>
          <p:nvPr/>
        </p:nvSpPr>
        <p:spPr>
          <a:xfrm>
            <a:off x="8229600" y="3246120"/>
            <a:ext cx="2880360" cy="457200"/>
          </a:xfrm>
          <a:prstGeom prst="rect">
            <a:avLst/>
          </a:prstGeom>
          <a:noFill/>
          <a:ln/>
        </p:spPr>
        <p:txBody>
          <a:bodyPr wrap="square" lIns="0" tIns="0" rIns="0" bIns="0" rtlCol="0" anchor="ctr"/>
          <a:lstStyle/>
          <a:p>
            <a:pPr algn="ctr" indent="0" marL="0">
              <a:buNone/>
            </a:pPr>
            <a:r>
              <a:rPr lang="en-US" sz="1550" b="1" dirty="0">
                <a:solidFill>
                  <a:srgbClr val="FFFFFF"/>
                </a:solidFill>
                <a:latin typeface="Cambria" pitchFamily="34" charset="0"/>
                <a:ea typeface="Cambria" pitchFamily="34" charset="-122"/>
                <a:cs typeface="Cambria" pitchFamily="34" charset="-120"/>
              </a:rPr>
              <a:t>Coming Up Next</a:t>
            </a:r>
            <a:endParaRPr lang="en-US" sz="1550" dirty="0"/>
          </a:p>
        </p:txBody>
      </p:sp>
      <p:sp>
        <p:nvSpPr>
          <p:cNvPr id="18" name="Text 13"/>
          <p:cNvSpPr/>
          <p:nvPr/>
        </p:nvSpPr>
        <p:spPr>
          <a:xfrm>
            <a:off x="8229600" y="3749040"/>
            <a:ext cx="2880360" cy="173736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Superscalar execution and out-of-order pipelines — how CPI can drop below 1.</a:t>
            </a:r>
            <a:endParaRPr lang="en-US" sz="1250" dirty="0"/>
          </a:p>
        </p:txBody>
      </p:sp>
      <p:sp>
        <p:nvSpPr>
          <p:cNvPr id="19" name="Text 14"/>
          <p:cNvSpPr/>
          <p:nvPr/>
        </p:nvSpPr>
        <p:spPr>
          <a:xfrm>
            <a:off x="457200" y="6510528"/>
            <a:ext cx="11247120" cy="274320"/>
          </a:xfrm>
          <a:prstGeom prst="rect">
            <a:avLst/>
          </a:prstGeom>
          <a:noFill/>
          <a:ln/>
        </p:spPr>
        <p:txBody>
          <a:bodyPr wrap="square" lIns="0" tIns="0" rIns="0" bIns="0" rtlCol="0" anchor="ctr"/>
          <a:lstStyle/>
          <a:p>
            <a:pPr algn="l" indent="0" marL="0">
              <a:buNone/>
            </a:pPr>
            <a:r>
              <a:rPr lang="en-US" sz="1000" dirty="0">
                <a:solidFill>
                  <a:srgbClr val="C7D0DE"/>
                </a:solidFill>
                <a:latin typeface="Calibri" pitchFamily="34" charset="0"/>
                <a:ea typeface="Calibri" pitchFamily="34" charset="-122"/>
                <a:cs typeface="Calibri" pitchFamily="34" charset="-120"/>
              </a:rPr>
              <a:t>Presidency University, Bengaluru  |  Department of AI &amp; Robotics  |  CSS2257  |  Computer Organization and Architecture</a:t>
            </a:r>
            <a:endParaRPr lang="en-US" sz="1000" dirty="0"/>
          </a:p>
        </p:txBody>
      </p:sp>
      <p:sp>
        <p:nvSpPr>
          <p:cNvPr id="20" name="Text 15"/>
          <p:cNvSpPr/>
          <p:nvPr/>
        </p:nvSpPr>
        <p:spPr>
          <a:xfrm>
            <a:off x="11338560" y="6510528"/>
            <a:ext cx="365760" cy="274320"/>
          </a:xfrm>
          <a:prstGeom prst="rect">
            <a:avLst/>
          </a:prstGeom>
          <a:noFill/>
          <a:ln/>
        </p:spPr>
        <p:txBody>
          <a:bodyPr wrap="square" rtlCol="0" anchor="ctr"/>
          <a:lstStyle/>
          <a:p>
            <a:pPr indent="0" marL="0">
              <a:buNone/>
            </a:pPr>
            <a:endParaRPr lang="en-US" dirty="0"/>
          </a:p>
        </p:txBody>
      </p:sp>
      <p:sp>
        <p:nvSpPr>
          <p:cNvPr id="21" name="Text 16"/>
          <p:cNvSpPr/>
          <p:nvPr/>
        </p:nvSpPr>
        <p:spPr>
          <a:xfrm>
            <a:off x="11475720" y="6510528"/>
            <a:ext cx="365760" cy="274320"/>
          </a:xfrm>
          <a:prstGeom prst="rect">
            <a:avLst/>
          </a:prstGeom>
          <a:noFill/>
          <a:ln/>
        </p:spPr>
        <p:txBody>
          <a:bodyPr wrap="square" lIns="0" tIns="0" rIns="0" bIns="0" rtlCol="0" anchor="ctr"/>
          <a:lstStyle/>
          <a:p>
            <a:pPr algn="r" indent="0" marL="0">
              <a:buNone/>
            </a:pPr>
            <a:r>
              <a:rPr lang="en-US" sz="1000" dirty="0">
                <a:solidFill>
                  <a:srgbClr val="C7D0DE"/>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2026-08-18T03:42:38Z</dcterms:created>
  <dcterms:modified xsi:type="dcterms:W3CDTF">2026-08-18T03:42:38Z</dcterms:modified>
</cp:coreProperties>
</file>