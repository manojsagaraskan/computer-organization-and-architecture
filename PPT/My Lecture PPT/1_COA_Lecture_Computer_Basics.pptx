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76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6888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6858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85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 &amp; ARCHITECTURE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Computer System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Types  •  Input Unit  •  Memory Unit  •  ALU  •  Output Unit  •  Control Unit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4160520"/>
            <a:ext cx="109728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34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III  |  B.Tech Computer Science
Duration: 50 minutes  |  Lecture Session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92640" y="2468880"/>
            <a:ext cx="1920240" cy="1920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0" descr="/home/claude/coa_deck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0" y="2948940"/>
            <a:ext cx="960120" cy="9601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 |  School of Artificial Intelligence &amp; Advanced Computing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943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home/claude/coa_deck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7795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713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1170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minutes, no wrong answers.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965960"/>
            <a:ext cx="106984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233172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your smartphone were a full-sized computer, what would each part be the size of?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397764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your neighbour: name one part of your phone (screen, chip, battery, speaker) and guess what desktop-computer part it matches. We'll compare answers with today's topics.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coa_deck/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04779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Computers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9900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Analog, digital &amp; hybrid; micro to super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062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192024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3" name="Image 1" descr="/home/claude/coa_deck/icons/key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204779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Unit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34840" y="29900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enters the system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638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9244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coa_deck/icons/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999" y="2047799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9244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Unit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92440" y="29900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secondary &amp; cache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11480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3" name="Image 3" descr="/home/claude/coa_deck/icons/calcula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99" y="4242359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&amp; Logic Unit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77240" y="51846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computation happens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206240" y="3886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434840" y="4114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4" descr="/home/claude/coa_deck/icons/moni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399" y="4242359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43484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Unit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434840" y="51846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results reach us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863840" y="3886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092440" y="411480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33" name="Image 5" descr="/home/claude/coa_deck/icons/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9999" y="4242359"/>
            <a:ext cx="311810" cy="31181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09244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092440" y="51846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 conductor of the CPU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Lecture, You Will Be Able To...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589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computers by type, size, and purpose, and justify the classification with real examples.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role of the five functional units of a computer system.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how a single keystroke travels from Input → Memory → ALU → Control Unit → Output.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functional unit to a real, everyday device you already use.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viva/exam questions on the fetch-decode-execute cycle with confidence.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78240" y="219456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coa_deck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7889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Is a "Computer"?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refresher before we classify and dissect 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/home/claude/coa_deck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Computer, in One Sentence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 device that accepts data (Input), stores and processes it under a set of instructions (Memory, ALU, Control Unit), and produces meaningful results (Output).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5212080" cy="868680"/>
          </a:xfrm>
          <a:prstGeom prst="roundRect">
            <a:avLst>
              <a:gd name="adj" fmla="val 12632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520440"/>
            <a:ext cx="4809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washing machine controller is a tiny "computer" — sensors (input) feed a chip (CU+ALU+memory) that drives the motor (output).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Functional Units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23774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377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UNIT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784080" y="23774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0" y="2377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UNIT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5120" y="39776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977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84080" y="39776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0" y="3977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3182112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31821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UNIT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3063240"/>
            <a:ext cx="9144" cy="118872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3063240"/>
            <a:ext cx="9144" cy="118872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3867912"/>
            <a:ext cx="9144" cy="109728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3867912"/>
            <a:ext cx="9144" cy="109728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5212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= ALU + Control Unit + Registers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Computers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machines by how they process data, and by size &amp; power.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/home/claude/coa_dec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BY DATA HANDLING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Analog, Digital &amp; Hybrid 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coa_deck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2099691"/>
            <a:ext cx="326898" cy="326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 Computer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108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continuous physical signals (voltage, temperature, speed) rather than discrete numbers.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452628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617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1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fuel gauge or an old speedometer needle.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062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1965960"/>
            <a:ext cx="594360" cy="5943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5" name="Image 1" descr="/home/claude/coa_deck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571" y="2099691"/>
            <a:ext cx="326898" cy="3268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Computer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34840" y="3108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 as discrete binary values (0s and 1s). Nearly all modern computers.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452628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34840" y="4617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1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laptop, smartphone, and this projector's PC.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8638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92440" y="19659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2" descr="/home/claude/coa_deck/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171" y="2099691"/>
            <a:ext cx="326898" cy="32689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Computer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092440" y="3108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analog input sensing with digital processing for precision.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092440" y="452628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092440" y="4617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1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patient monitors — sense analog vitals, display digital readouts.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BY SIZE &amp; POWER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Micro to Super: The Digital Computer Family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1620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coa_deck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499" y="2598039"/>
            <a:ext cx="427482" cy="4274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Microcomputer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single-user</a:t>
            </a:r>
            <a:endParaRPr lang="en-US" sz="1100" dirty="0"/>
          </a:p>
        </p:txBody>
      </p:sp>
      <p:pic>
        <p:nvPicPr>
          <p:cNvPr id="11" name="Image 1" descr="/home/claude/coa_deck/icons/arrowRight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3172968" y="3118104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47288" y="219456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93108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coa_deck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987" y="2598039"/>
            <a:ext cx="427482" cy="4274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38728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Minicomputer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538728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Multi-user, mid-range</a:t>
            </a:r>
            <a:endParaRPr lang="en-US" sz="1100" dirty="0"/>
          </a:p>
        </p:txBody>
      </p:sp>
      <p:pic>
        <p:nvPicPr>
          <p:cNvPr id="17" name="Image 3" descr="/home/claude/coa_deck/icons/arrowRight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934456" y="311810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08776" y="219456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54596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/home/claude/coa_deck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475" y="2598039"/>
            <a:ext cx="427482" cy="4274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00216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Mainframe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300216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Large-scale, enterprise</a:t>
            </a:r>
            <a:endParaRPr lang="en-US" sz="1100" dirty="0"/>
          </a:p>
        </p:txBody>
      </p:sp>
      <p:pic>
        <p:nvPicPr>
          <p:cNvPr id="23" name="Image 5" descr="/home/claude/coa_deck/icons/arrowRight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695944" y="3118104"/>
            <a:ext cx="256032" cy="25603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970264" y="219456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0B2545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9816084" y="242316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6" descr="/home/claude/coa_deck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0963" y="2598039"/>
            <a:ext cx="427482" cy="42748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061704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Supercomputer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061704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Extreme-speed scientific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68580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processing power &amp; cost, decreasing user count per machine   →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coa_deck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" y="1959102"/>
            <a:ext cx="653796" cy="65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69164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and most common category — built around a single microprocessor chip, designed for one user at a time.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affordable, general-purpose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desktops, laptops, tablets &amp; smartphones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Sub-types: Desktop, Laptop/Notebook, Tablet, Smartphone, Wearable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/>
          <p:nvPr/>
        </p:nvSpPr>
        <p:spPr>
          <a:xfrm>
            <a:off x="6784848" y="3291840"/>
            <a:ext cx="4626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laptop or phone in your bag right now is a microcomputer.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188720" cy="118872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7" name="Image 0" descr="/home/claude/coa_dec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" y="1959102"/>
            <a:ext cx="653796" cy="65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69164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systems more powerful than microcomputers, supporting multiple users simultaneously through terminals.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Multi-user, multi-tasking capability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small-to-medium businesses &amp; labs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between micro and mainframe scale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/>
          <p:nvPr/>
        </p:nvSpPr>
        <p:spPr>
          <a:xfrm>
            <a:off x="6784848" y="3291840"/>
            <a:ext cx="4626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department server handling attendance for 50 lab terminals at once.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Mainframe 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coa_deck/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" y="1959102"/>
            <a:ext cx="653796" cy="65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69164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powerful systems that process massive volumes of data for hundreds of users, prized for reliability and uptime.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throughput, strong data security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mission-critical business applications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thousands of transactions per second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/>
          <p:nvPr/>
        </p:nvSpPr>
        <p:spPr>
          <a:xfrm>
            <a:off x="6784848" y="3291840"/>
            <a:ext cx="4626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use IBM Z mainframes to process millions of ATM &amp; UPI transactions daily.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188720" cy="11887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0" descr="/home/claude/coa_deck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" y="1959102"/>
            <a:ext cx="653796" cy="65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69164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fastest, most powerful computers on Earth — thousands of processors working in parallel on massive scientific problems.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FLOPS (floating point ops/sec)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simulation, modelling &amp; forecasting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 cost, power &amp; cooling needs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/>
          <p:nvPr/>
        </p:nvSpPr>
        <p:spPr>
          <a:xfrm>
            <a:off x="6784848" y="3291840"/>
            <a:ext cx="4626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"PARAM Siddhi-AI" supercomputer forecasts monsoon weather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Types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09728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Microcomputer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computing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MacBook, iPhone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Minicomputer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Department-level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ProLiant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Hundreds/thousands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Z16 (banking)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Supercomputer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Specialised teams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Scientific 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 Siddhi-AI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943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home/claude/coa_deck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7795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713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1170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 — raise your hand.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965960"/>
            <a:ext cx="106984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233172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computer type do you personally interact with the most before 9 AM?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397764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phone alarm (micro), campus Wi-Fi login (mini/server), UPI payment for breakfast (mainframe at the bank), or none? Let's tally hands by show.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Input Unit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outside world talks to a computer.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/home/claude/coa_dec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Input Unit 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Unit converts data and instructions from a human-readable / physical form into machine-readable binary form, and sends it to memory for processing.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2735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data from the user or environment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587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840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it into binary (0s &amp; 1s)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256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25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4074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it to main memory for processing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192024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0" descr="/home/claude/coa_dec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167128"/>
            <a:ext cx="603504" cy="603504"/>
          </a:xfrm>
          <a:prstGeom prst="rect">
            <a:avLst/>
          </a:prstGeom>
        </p:spPr>
      </p:pic>
      <p:pic>
        <p:nvPicPr>
          <p:cNvPr id="18" name="Image 1" descr="/home/claude/coa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304288"/>
            <a:ext cx="365760" cy="365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229600" y="20574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B2545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0" y="20574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01001101</a:t>
            </a:r>
            <a:endParaRPr lang="en-US" sz="1300" dirty="0"/>
          </a:p>
        </p:txBody>
      </p:sp>
      <p:pic>
        <p:nvPicPr>
          <p:cNvPr id="21" name="Image 2" descr="/home/claude/coa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2304288"/>
            <a:ext cx="365760" cy="3657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241280" y="1920240"/>
            <a:ext cx="1097280" cy="109728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3" name="Image 3" descr="/home/claude/coa_deck/icons/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216712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0080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4672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Code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05840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492240" y="379476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</p:sp>
      <p:sp>
        <p:nvSpPr>
          <p:cNvPr id="28" name="Text 22"/>
          <p:cNvSpPr/>
          <p:nvPr/>
        </p:nvSpPr>
        <p:spPr>
          <a:xfrm>
            <a:off x="6693408" y="3794760"/>
            <a:ext cx="4626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"hi" on your phone converts each letter into ASCII/Unicode binary before it ever reaches the messaging app.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DEVICES — MANUAL ENTRY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 You Operate By Hand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coa_dec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09351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characters, numbers &amp; commands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this code on a laptop keyboard.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/home/claude/coa_deck/icons/m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2093519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 / Touchpad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348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clicks &amp; drags on screen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348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file icon on your desktop.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8638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9244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/home/claude/coa_deck/icons/gamep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999" y="2093519"/>
            <a:ext cx="311810" cy="3118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Joystick / Gamepad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0924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&amp; button-based control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0924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0924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a character in a racing game.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DEVICES — SENSING &amp; CAPTURE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 That Read the Physical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8" name="Image 0" descr="/home/claude/coa_deck/icons/sc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09351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 / Barcode Reader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printed images or codes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counter scanning a product barcode.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196596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5" name="Image 1" descr="/home/claude/coa_deck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2093519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Microphone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348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sound and converts to signal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348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"Hey Google" to a smart speaker.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8638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92440" y="196596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2" name="Image 2" descr="/home/claude/coa_deck/icon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999" y="2093519"/>
            <a:ext cx="311810" cy="3118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/ Webcam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0924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still or moving images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0924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0924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Face-unlock scanning your face at login.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Unit in Action: An ATM Transaction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coa_deck/icons/h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566" y="237972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Swipe / Chip Read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3794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stripe or chip data is read as input</a:t>
            </a:r>
            <a:endParaRPr lang="en-US" sz="1100" dirty="0"/>
          </a:p>
        </p:txBody>
      </p:sp>
      <p:pic>
        <p:nvPicPr>
          <p:cNvPr id="10" name="Image 1" descr="/home/claude/coa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4" y="329184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805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7150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2" descr="/home/claude/coa_deck/icons/key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166" y="2379726"/>
            <a:ext cx="452628" cy="4526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Entry via Keypad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63440" y="3794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keypad sends the 4-digit PIN as input</a:t>
            </a:r>
            <a:endParaRPr lang="en-US" sz="1100" dirty="0"/>
          </a:p>
        </p:txBody>
      </p:sp>
      <p:pic>
        <p:nvPicPr>
          <p:cNvPr id="16" name="Image 3" descr="/home/claude/coa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4" y="329184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381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3726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4" descr="/home/claude/coa_deck/icon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7766" y="2379726"/>
            <a:ext cx="452628" cy="4526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2104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Camera Capture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321040" y="3794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your image for fraud verification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inputs are converted to binary and sent to the bank's system before a single rupee moves.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Unit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and instructions live while they wait their turn.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/home/claude/coa_deck/icons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HIERARCHY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vs. Capacity Trade-off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49140" y="16916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49140" y="16916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52560" y="17647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tiniest — inside the CPU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91280" y="2560320"/>
            <a:ext cx="300736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891280" y="2560320"/>
            <a:ext cx="300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Memory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0" y="26334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buffer between CPU &amp; RAM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45460" y="3429000"/>
            <a:ext cx="4699000" cy="6858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3045460" y="3429000"/>
            <a:ext cx="469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Memory (RAM)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52560" y="350215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volatile working memory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11680" y="4297680"/>
            <a:ext cx="6766560" cy="6858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429768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Memory (SSD/HDD)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52560" y="43708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permanent storage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52120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Faster &amp; costlier per byte        ↓ Slower &amp; cheaper per byte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vs. 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coa_deck/icons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215569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(Random Access Memory)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— data lost when power is off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write; holds running programs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RAM = smoother multitasking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46177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1069848" y="461772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an unsaved Word file loses changes — they were only in RAM.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5" name="Image 1" descr="/home/claude/coa_deck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215569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3796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 (Read-Only Memory)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37960" y="324612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 — retains data without power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read-only; stores firmware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startup instructions (bootloader)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537960" y="46177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</p:sp>
      <p:sp>
        <p:nvSpPr>
          <p:cNvPr id="19" name="Text 15"/>
          <p:cNvSpPr/>
          <p:nvPr/>
        </p:nvSpPr>
        <p:spPr>
          <a:xfrm>
            <a:off x="6739128" y="461772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BIOS/UEFI that boots your laptop before Windows loads.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Permanent, Non-Volatile Storage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/home/claude/coa_deck/icons/h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09351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Disk Drive (HDD)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platters, high capacity, cheaper per GB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 TB external drive storing your photo library.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196596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5" name="Image 1" descr="/home/claude/coa_deck/icons/s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2093519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State Drive (SSD)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348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memory, no moving parts, much faster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348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laptops booting Windows in under 15 seconds.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8638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92440" y="196596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2" descr="/home/claude/coa_deck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999" y="2093519"/>
            <a:ext cx="311810" cy="3118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0924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servers accessed via internet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0924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0924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lecture notes to Google Drive from anywhere.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Memory in Action: Why Apps Feel Instant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memory stores frequently-used data close to the CPU so it doesn't have to fetch it from slower RAM every time.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Reopening a recently closed app loads almost instantly — its data was still in cache.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 caches images of a website so a revisit loads faster.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pre-buffers (caches) the next few seconds of video while you watch.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78308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/home/claude/coa_deck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08026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338328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17804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41148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RAM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&amp; Logic Unit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computational heart of the CPU.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/home/claude/coa_deck/icons/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Jobs of the ALU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coa_deck/icons/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215569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Addition, subtraction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Multiplication, division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/ decrement operations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6177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1069848" y="461772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calculator app computing 245 + 879 = 1124.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5" name="Image 1" descr="/home/claude/coa_deck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215569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3796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Operations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37960" y="324612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NOT, XOR comparisons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Greater-than / less-than decisions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branching (if/else) in programs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37960" y="46177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</p:sp>
      <p:sp>
        <p:nvSpPr>
          <p:cNvPr id="19" name="Text 15"/>
          <p:cNvSpPr/>
          <p:nvPr/>
        </p:nvSpPr>
        <p:spPr>
          <a:xfrm>
            <a:off x="6739128" y="461772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"if age &gt;= 18" on an online age-verification form.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 in Action: UPI Payment Split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three friends split a ₹900 dinner bill equally using a UPI app: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Arithmetic: ALU divides ₹900 ÷ 3 = ₹300 per person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1546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Logical: ALU checks IF (balance &gt;= ₹300) before allowing payment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931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Arithmetic: ALU subtracts ₹300 from payer's balance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"smart" decision an app makes is really just ALU arithmetic + logic underneath.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Unit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processed binary back into something humans understand.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/home/claude/coa_deck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&amp; DEVICES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 the Processed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Unit converts binary results from the CPU back into human-readable form — text, images, sound, or physical motion.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651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coa_deck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779319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337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/ Display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721608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text, images &amp; video output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425196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3434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projected on the classroom screen.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06240" y="242316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34840" y="2651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coa_deck/icons/pri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2779319"/>
            <a:ext cx="311810" cy="3118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34840" y="3337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Printer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434840" y="3721608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hard-copy on paper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434840" y="425196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34840" y="43434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your semester hall ticket.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863840" y="242316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92440" y="2651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2" descr="/home/claude/coa_deck/icons/spea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999" y="2779319"/>
            <a:ext cx="311810" cy="31181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92440" y="3337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092440" y="3721608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092440" y="425196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092440" y="43434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0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assistant reading out the weather.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in Action: Google Maps Navigation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coa_deck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566" y="237972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3611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map &amp; route line on screen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50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2" name="Image 1" descr="/home/claude/coa_deck/icons/spea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166" y="237972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63440" y="3611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 left in 200 metres" voice prompt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726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/home/claude/coa_deck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7766" y="2379726"/>
            <a:ext cx="452628" cy="4526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Haptic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21040" y="3611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alert when you go off-route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navigation instruction — three simultaneous output channels, all driven by the same processed data.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Unit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conductor that directs every other unit — without doing the computing itself.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/home/claude/coa_deck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Control Unit Actually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(CU) does not process data itself. It directs and coordinates the activities of the input, memory, ALU, and output units by generating timing and control signals.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00200" y="2971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coa_deck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505" y="3126105"/>
            <a:ext cx="377190" cy="3771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840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instructions from memory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29000" y="2697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2971800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3" name="Image 1" descr="/home/claude/coa_deck/icons/pro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425" y="3126105"/>
            <a:ext cx="377190" cy="3771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840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what the instruction means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697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78040" y="297180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/home/claude/coa_deck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345" y="312610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840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the ALU / memory / I/O to execute it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06840" y="2697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66960" y="2971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coa_deck/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1265" y="312610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840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everything in correct order &amp; timing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5349240"/>
            <a:ext cx="7315200" cy="566928"/>
          </a:xfrm>
          <a:prstGeom prst="roundRect">
            <a:avLst>
              <a:gd name="adj" fmla="val 19355"/>
            </a:avLst>
          </a:prstGeom>
          <a:solidFill>
            <a:srgbClr val="0B2545"/>
          </a:solidFill>
          <a:ln/>
        </p:spPr>
      </p:sp>
      <p:sp>
        <p:nvSpPr>
          <p:cNvPr id="24" name="Text 18"/>
          <p:cNvSpPr/>
          <p:nvPr/>
        </p:nvSpPr>
        <p:spPr>
          <a:xfrm>
            <a:off x="841248" y="5349240"/>
            <a:ext cx="6912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traffic police officer at a junction — doesn't drive any car, just directs the flow.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→ Decode → Execute → Store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16459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0" y="17830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/home/claude/coa_dec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477" y="189623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40680" y="1755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23042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retrieves the next instruction from memory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909560" y="3474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0" y="36118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/home/claude/coa_deck/icons/pro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877" y="372503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41080" y="3584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046720" y="4133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interprets what operation is required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09160" y="5440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</p:sp>
      <p:sp>
        <p:nvSpPr>
          <p:cNvPr id="17" name="Shape 13"/>
          <p:cNvSpPr/>
          <p:nvPr/>
        </p:nvSpPr>
        <p:spPr>
          <a:xfrm>
            <a:off x="4846320" y="55778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2" descr="/home/claude/coa_deck/icons/calc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477" y="569099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5550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0" y="6099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/ relevant unit performs the operation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423160" y="3474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22" name="Shape 17"/>
          <p:cNvSpPr/>
          <p:nvPr/>
        </p:nvSpPr>
        <p:spPr>
          <a:xfrm>
            <a:off x="2560320" y="36118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3" descr="/home/claude/coa_deck/icons/sa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3477" y="3725037"/>
            <a:ext cx="276606" cy="27660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154680" y="3584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2560320" y="4133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written back to memory / register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577840" y="352044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7" name="Image 4" descr="/home/claude/coa_deck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3580" y="372618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344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cycle repeats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times per second.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 in Action: Opening a Camera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FETCH: CU retrieves the "open camera" instruction triggered by your tap.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54203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DECODE: CU recognises this means "launch camera application".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255264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2278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EXECUTE: CU signals ALU + memory + camera sensor (input) to activate.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968496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684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9410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 OUTPUT: Live preview is sent to the display (output unit).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5120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happens in milliseconds — faster than your finger leaves the screen.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2194560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194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03520" y="3383280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383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4572000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4572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0" y="3383280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3383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pic>
        <p:nvPicPr>
          <p:cNvPr id="16" name="Image 0" descr="/home/claude/coa_deck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611880"/>
            <a:ext cx="457200" cy="457200"/>
          </a:xfrm>
          <a:prstGeom prst="rect">
            <a:avLst/>
          </a:prstGeom>
        </p:spPr>
      </p:pic>
      <p:pic>
        <p:nvPicPr>
          <p:cNvPr id="17" name="Image 1" descr="/home/claude/coa_deck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11880"/>
            <a:ext cx="457200" cy="457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023360" y="2606040"/>
            <a:ext cx="0" cy="82296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4023360" y="3429000"/>
            <a:ext cx="128016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6126480" y="3429000"/>
            <a:ext cx="0" cy="123444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</a:ln>
        </p:spPr>
      </p:sp>
      <p:sp>
        <p:nvSpPr>
          <p:cNvPr id="21" name="Text 17"/>
          <p:cNvSpPr/>
          <p:nvPr/>
        </p:nvSpPr>
        <p:spPr>
          <a:xfrm>
            <a:off x="5120640" y="5532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= Control Unit + ALU + Registers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22960" y="5742432"/>
            <a:ext cx="10424160" cy="502920"/>
          </a:xfrm>
          <a:prstGeom prst="roundRect">
            <a:avLst>
              <a:gd name="adj" fmla="val 21818"/>
            </a:avLst>
          </a:prstGeom>
          <a:solidFill>
            <a:srgbClr val="0B2545"/>
          </a:solidFill>
          <a:ln/>
        </p:spPr>
      </p:sp>
      <p:sp>
        <p:nvSpPr>
          <p:cNvPr id="23" name="Text 19"/>
          <p:cNvSpPr/>
          <p:nvPr/>
        </p:nvSpPr>
        <p:spPr>
          <a:xfrm>
            <a:off x="1024128" y="5742432"/>
            <a:ext cx="10021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WhatsApp voice note: Mic (input) → RAM (memory) → CU directs ALU to compress audio → speaker/network (output).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Smartphone: All Five Units in One Device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coa_dec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18150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74720" y="1691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Touchscreen, mic, camera, fingerprint sensor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5328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coa_deck/icons/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2656332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5328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74720" y="253288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for active apps + flash storage for files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33741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coa_deck/icons/calc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3497580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3741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3374136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Snapdragon/Exynos chip crunches every calculation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2960" y="421538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coa_deck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4338828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2153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474720" y="4215384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app switching, notifications, calls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960" y="50566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/home/claude/coa_deck/icons/moni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5180076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50566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474720" y="505663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AMOLED screen, speaker, haptic vibration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b="1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are classified by data type (analog/digital/hybrid) and by size &amp; power (micro to super).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Unit converts real-world data into binary for the machine to use.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Unit stores data/instructions — a hierarchy trading speed for capacity.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 performs all arithmetic and logical computation.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Unit converts binary results back into human-usable form.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directs and synchronises all other units via the fetch-decode-execute cycle.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A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206240" cy="4206240"/>
          </a:xfrm>
          <a:prstGeom prst="ellipse">
            <a:avLst/>
          </a:prstGeom>
          <a:solidFill>
            <a:srgbClr val="E89A2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9436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4" name="Image 0" descr="/home/claude/coa_deck/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77952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7132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QUIZ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600200"/>
            <a:ext cx="106984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19202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Which topic we seen converts binary output into human-readable form?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88720" y="278892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Name one non-volatile memory type used to store firmware.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88720" y="365760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Which unit performs "if age &gt;= 18" style comparisons?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88720" y="452628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What are the four stages of the instruction cycle?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554480"/>
            <a:ext cx="2103120" cy="2103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coa_deck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208026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see you in the next session on Basic Operational Concepts and  Bus Structures.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2403</Words>
  <Application>Microsoft Office PowerPoint</Application>
  <PresentationFormat>Widescreen</PresentationFormat>
  <Paragraphs>419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Manoj Sagar K - Assistant Professor - SCSE</cp:lastModifiedBy>
  <cp:revision>4</cp:revision>
  <dcterms:created xsi:type="dcterms:W3CDTF">2026-08-05T09:24:34Z</dcterms:created>
  <dcterms:modified xsi:type="dcterms:W3CDTF">2026-08-05T16:35:06Z</dcterms:modified>
</cp:coreProperties>
</file>