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95" autoAdjust="0"/>
    <p:restoredTop sz="89065" autoAdjust="0"/>
  </p:normalViewPr>
  <p:slideViewPr>
    <p:cSldViewPr snapToGrid="0" snapToObjects="1">
      <p:cViewPr>
        <p:scale>
          <a:sx n="81" d="100"/>
          <a:sy n="81" d="100"/>
        </p:scale>
        <p:origin x="566" y="-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5466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reminder of where we are — Computer Organization and Architecture, part of your AI &amp; Robotics curriculum. Understanding memory hardware might feel far from 'AI,' but every model you train or deploy lives inside memory systems like the ones we're about to study.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roadmap. By the end of this lecture, you should be comfortable defining memory hierarchy, telling SRAM and DRAM apart, and solving simple address-line problems. Keep these in mind — we revisit all of them in the quiz.</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Q1 first, take a couple of quick verbal answers. Then Q2 and Q3 by show of hands. Q3 is the real hook — it sets up volatile vs non-volatile. Transition: 'Great instincts — today we turn that intuition into precise engineering.'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CPU often sits idle waiting for data — this is the 'memory wall,' one of the biggest challenges in architecture. In AI or robotics you'll constantly fight memory bandwidth limits. Understanding this helps you write faster code and design better systems.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memory like an apartment building — each apartment has a unique address, and holds a fixed amount of 'stuff,' the word size. The CPU goes directly to an address, like a mail carrier to apartment 402 — this is 'random access.'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Registers at the top: blazing fast, only a handful. Moving down: cache, main memory, secondary storage. Each level down is slower but bigger and cheaper per byte. This layered design is a clever compromise.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1TB drive built entirely from register-speed memory would cost more than a house. So engineers use a little fast, expensive memory backed by more slow, cheap memory. This is the core idea behind the whole hierarchy.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terms appear on every datasheet you will read. Access time vs cycle time: cycle time includes recovery time before the next operation. Volatility explains why your open apps vanish when you unplug your laptop.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can answer the icebreaker properly: apps vanish because RAM is volatile. ROM holds startup firmware — data that must survive power loss. Both are 'random access' because the CPU jumps directly to any address, unlike a sequential tape.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 is where your OS and active data live while the computer runs. Not all RAM is built the same way internally — SRAM and DRAM trade off speed, cost, and complexity very differently. Let us look at both.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SRAM is like a light switch that stays put until flipped; DRAM is like a leaky bucket you constantly top up. That leakiness is the source of almost every practical difference between the two — let us open up both cells.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inverters wired so one's output feeds the other's input — a stable feedback loop, like two people constantly agreeing with each other. The other two transistors are just switches to the word and bit lines. No refresh needed — that's the 'static' in Static RAM.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SRAM needs no refresh, it is extremely fast — exactly why cache, which must keep pace with the CPU clock, is built from SRAM. The trade-off is size: 6 transistors/bit takes a lot of chip area, so cache stays small while RAM scales to gigabytes.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transistor and one capacitor — a huge space saving over SRAM's six transistors, which is why DRAM packs so much more storage. The catch: capacitors leak charge like a bucket with a tiny hole. That leak is why DRAM needs refreshing.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DRAM cell must be refreshed roughly every 64 ms or the charge decays too far. This background task is invisible to the programmer, but costs a little time and power — and is the single biggest architectural difference from SRAM.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exam-favorite material. Every SRAM advantage (speed, no refresh) costs density and price, and vice versa for DRAM — a perfect example of the speed-cost-capacity trade-off from the hierarchy discussion.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straight back to the icebreaker: '8GB RAM' is DRAM, a low-power variant for battery life. Cache sizes in laptop specs are SRAM. GPU memory (GDDR6/HBM) is specialized DRAM for very high bandwidth. You can now read a spec sheet.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pins select WHICH word you want; data pins carry the bits in or out. Address lines = log base 2 of total words — asking 'how many binary digits to uniquely number every location?' Let's work an example.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 what is given: 1024 locations, 8 bits each. Since 2 to the 10 equals 1024, we need exactly 10 address lines. Data lines simply equal the word size, 8. Address lines answer "which location"; data lines answer "how much data per access."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 in memory notation is always 1024, not exactly 1000, so 64K = 65,536. Since 2 to the 16 equals 65,536, 16 address lines. Quick check: if the chip were 64K × 32, address lines stay 16, but data lines become 32 — this trips people up on exams.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decoder is the traffic director — it activates exactly one row out of thousands. Chip Select says "you are the one being addressed" when multiple chips share a bus. R/W tells the chip whether this is a read or a write.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Chips share the exact same address lines, so they always point at the same row simultaneously — but each contributes a slice of the final word, like four musicians each playing their own instrument's part of one chord.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size stays 8 bits, but we need more total words, so we stack chips. 4096/1024 = 4 chips. Each chip needs 10 lines internally. Two extra lines, decoded by a small 2-to-4 decoder, pick which chip is active. 10 + 2 = 12 total.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ROM variant solves "how do we change it later" differently. Mask ROM never changes. PROM is written once. EPROM needed UV light to erase — genuinely. EEPROM erases electrically byte by byte. Flash erases in large blocks for speed.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"Read-Only Memory" sounds absolute, but several ROM types are rewritable — a historical name, not a strict rule. Adding RAM will not fix a slow CPU or disk. Never confuse RAM with storage — this single mix-up costs the most exam marks.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correct answer — the point is weighing trade-offs like an engineer. Large sensor/AI data pushes toward DRAM for main memory; time-critical control loops might use small SRAM caches. Ask a couple of pairs to share their reasoning.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memory concepts enter real products, especially in AI &amp; Robotics. Embedded devices are resource-constrained — extra kilobytes cost battery and money. If you build an IoT project this semester, you will make exactly these trade-off decisions.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the big picture — the hierarchy — and zoomed to individual transistors. We calculated address/data lines and expanded memory in width and capacity. Check off each learning objective from Slide 3 — any quick questions before the quiz?</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everyone ~4 minutes, individually or in pairs. This is for their own understanding, not grading. Q1/Q5 test SRAM/DRAM, Q2 tests the ROM misconception, Q3 tests cell structure, Q4 applies the address-line formula, Q6/Q7 test real-world understanding.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Q4 live: 2K = 2048 words, 2¹¹ = 2048, so 11 address lines — same method as Slides 20-21. Pay special attention to Q2 and Q6, our two myth-vs-fact items — if many got these wrong, revisit volatility and rewritability next class.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E2761"/>
          </a:solidFill>
          <a:ln/>
        </p:spPr>
      </p:sp>
      <p:sp>
        <p:nvSpPr>
          <p:cNvPr id="3" name="Shape 1"/>
          <p:cNvSpPr/>
          <p:nvPr/>
        </p:nvSpPr>
        <p:spPr>
          <a:xfrm>
            <a:off x="9326880" y="-1828800"/>
            <a:ext cx="5486400" cy="5486400"/>
          </a:xfrm>
          <a:prstGeom prst="ellipse">
            <a:avLst/>
          </a:prstGeom>
          <a:solidFill>
            <a:srgbClr val="141A45"/>
          </a:solidFill>
          <a:ln/>
        </p:spPr>
      </p:sp>
      <p:sp>
        <p:nvSpPr>
          <p:cNvPr id="4" name="Shape 2"/>
          <p:cNvSpPr/>
          <p:nvPr/>
        </p:nvSpPr>
        <p:spPr>
          <a:xfrm>
            <a:off x="-2194560" y="4206240"/>
            <a:ext cx="4572000" cy="4572000"/>
          </a:xfrm>
          <a:prstGeom prst="ellipse">
            <a:avLst/>
          </a:prstGeom>
          <a:solidFill>
            <a:srgbClr val="141A45"/>
          </a:solidFill>
          <a:ln/>
        </p:spPr>
      </p:sp>
      <p:sp>
        <p:nvSpPr>
          <p:cNvPr id="5" name="Text 3"/>
          <p:cNvSpPr txBox="1"/>
          <p:nvPr/>
        </p:nvSpPr>
        <p:spPr>
          <a:xfrm>
            <a:off x="822960" y="640080"/>
            <a:ext cx="10515600" cy="457200"/>
          </a:xfrm>
          <a:prstGeom prst="rect">
            <a:avLst/>
          </a:prstGeom>
          <a:noFill/>
          <a:ln/>
        </p:spPr>
        <p:txBody>
          <a:bodyPr wrap="square" lIns="0" tIns="0" rIns="0" bIns="0" rtlCol="0" anchor="ctr"/>
          <a:lstStyle/>
          <a:p>
            <a:pPr marL="0" indent="0">
              <a:buNone/>
            </a:pPr>
            <a:r>
              <a:rPr lang="en-US" sz="2000" b="1" kern="0" spc="200" dirty="0">
                <a:solidFill>
                  <a:srgbClr val="D4AF37"/>
                </a:solidFill>
                <a:latin typeface="Calibri" pitchFamily="34" charset="0"/>
                <a:ea typeface="Calibri" pitchFamily="34" charset="-122"/>
                <a:cs typeface="Calibri" pitchFamily="34" charset="-120"/>
              </a:rPr>
              <a:t>PRESIDENCY UNIVERSITY, BENGALURU</a:t>
            </a:r>
            <a:endParaRPr lang="en-US" sz="2000" dirty="0"/>
          </a:p>
        </p:txBody>
      </p:sp>
      <p:sp>
        <p:nvSpPr>
          <p:cNvPr id="6" name="Text 4"/>
          <p:cNvSpPr txBox="1"/>
          <p:nvPr/>
        </p:nvSpPr>
        <p:spPr>
          <a:xfrm>
            <a:off x="822960" y="1078992"/>
            <a:ext cx="10515600" cy="45720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School of Artificial Intelligence and Advanced Computing  |  Department of AI &amp; Robotics</a:t>
            </a:r>
            <a:endParaRPr lang="en-US" sz="2000" dirty="0"/>
          </a:p>
        </p:txBody>
      </p:sp>
      <p:sp>
        <p:nvSpPr>
          <p:cNvPr id="7" name="Shape 5"/>
          <p:cNvSpPr/>
          <p:nvPr/>
        </p:nvSpPr>
        <p:spPr>
          <a:xfrm>
            <a:off x="868680" y="1874520"/>
            <a:ext cx="2926080" cy="0"/>
          </a:xfrm>
          <a:prstGeom prst="line">
            <a:avLst/>
          </a:prstGeom>
          <a:noFill/>
          <a:ln w="25400">
            <a:solidFill>
              <a:srgbClr val="D4AF37"/>
            </a:solidFill>
            <a:prstDash val="solid"/>
          </a:ln>
        </p:spPr>
      </p:sp>
      <p:sp>
        <p:nvSpPr>
          <p:cNvPr id="8" name="Text 6"/>
          <p:cNvSpPr txBox="1"/>
          <p:nvPr/>
        </p:nvSpPr>
        <p:spPr>
          <a:xfrm>
            <a:off x="822960" y="2194560"/>
            <a:ext cx="10515600" cy="2011680"/>
          </a:xfrm>
          <a:prstGeom prst="rect">
            <a:avLst/>
          </a:prstGeom>
          <a:noFill/>
          <a:ln/>
        </p:spPr>
        <p:txBody>
          <a:bodyPr wrap="square" lIns="0" tIns="0" rIns="0" bIns="0" rtlCol="0" anchor="t"/>
          <a:lstStyle/>
          <a:p>
            <a:pPr marL="0" indent="0">
              <a:lnSpc>
                <a:spcPct val="108000"/>
              </a:lnSpc>
              <a:buNone/>
            </a:pPr>
            <a:r>
              <a:rPr lang="en-US" sz="4400" b="1" dirty="0">
                <a:solidFill>
                  <a:srgbClr val="FFFFFF"/>
                </a:solidFill>
                <a:latin typeface="Cambria" pitchFamily="34" charset="0"/>
                <a:ea typeface="Cambria" pitchFamily="34" charset="-122"/>
                <a:cs typeface="Cambria" pitchFamily="34" charset="-120"/>
              </a:rPr>
              <a:t>Memory System: Basic Concepts,</a:t>
            </a:r>
            <a:endParaRPr lang="en-US" sz="4400" dirty="0"/>
          </a:p>
          <a:p>
            <a:pPr marL="0" indent="0">
              <a:lnSpc>
                <a:spcPct val="108000"/>
              </a:lnSpc>
              <a:buNone/>
            </a:pPr>
            <a:r>
              <a:rPr lang="en-US" sz="4400" b="1" dirty="0">
                <a:solidFill>
                  <a:srgbClr val="FFFFFF"/>
                </a:solidFill>
                <a:latin typeface="Cambria" pitchFamily="34" charset="0"/>
                <a:ea typeface="Cambria" pitchFamily="34" charset="-122"/>
                <a:cs typeface="Cambria" pitchFamily="34" charset="-120"/>
              </a:rPr>
              <a:t>Semiconductor RAM Memories</a:t>
            </a:r>
            <a:endParaRPr lang="en-US" sz="4400" dirty="0"/>
          </a:p>
        </p:txBody>
      </p:sp>
      <p:sp>
        <p:nvSpPr>
          <p:cNvPr id="9" name="Text 7"/>
          <p:cNvSpPr txBox="1"/>
          <p:nvPr/>
        </p:nvSpPr>
        <p:spPr>
          <a:xfrm>
            <a:off x="822960" y="4343400"/>
            <a:ext cx="10515600" cy="457200"/>
          </a:xfrm>
          <a:prstGeom prst="rect">
            <a:avLst/>
          </a:prstGeom>
          <a:noFill/>
          <a:ln/>
        </p:spPr>
        <p:txBody>
          <a:bodyPr wrap="square" lIns="0" tIns="0" rIns="0" bIns="0" rtlCol="0" anchor="ctr"/>
          <a:lstStyle/>
          <a:p>
            <a:pPr marL="0" indent="0">
              <a:buNone/>
            </a:pPr>
            <a:r>
              <a:rPr lang="en-US" sz="2400" dirty="0">
                <a:solidFill>
                  <a:srgbClr val="CADCFC"/>
                </a:solidFill>
                <a:latin typeface="Calibri" pitchFamily="34" charset="0"/>
                <a:ea typeface="Calibri" pitchFamily="34" charset="-122"/>
                <a:cs typeface="Calibri" pitchFamily="34" charset="-120"/>
              </a:rPr>
              <a:t>Computer Organization and Architecture  •  CSS2257</a:t>
            </a:r>
            <a:endParaRPr lang="en-US" sz="2400" dirty="0"/>
          </a:p>
        </p:txBody>
      </p:sp>
      <p:pic>
        <p:nvPicPr>
          <p:cNvPr id="10" name="Image 0" descr="preencoded.png"/>
          <p:cNvPicPr>
            <a:picLocks noChangeAspect="1"/>
          </p:cNvPicPr>
          <p:nvPr/>
        </p:nvPicPr>
        <p:blipFill>
          <a:blip r:embed="rId3"/>
          <a:stretch>
            <a:fillRect/>
          </a:stretch>
        </p:blipFill>
        <p:spPr>
          <a:xfrm>
            <a:off x="10241280" y="5120640"/>
            <a:ext cx="1188720" cy="1188720"/>
          </a:xfrm>
          <a:prstGeom prst="rect">
            <a:avLst/>
          </a:prstGeom>
        </p:spPr>
      </p:pic>
      <p:sp>
        <p:nvSpPr>
          <p:cNvPr id="11" name="Text 8"/>
          <p:cNvSpPr txBox="1"/>
          <p:nvPr/>
        </p:nvSpPr>
        <p:spPr>
          <a:xfrm>
            <a:off x="822960" y="5806440"/>
            <a:ext cx="594360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Faculty: Mr. Manoj Sagar</a:t>
            </a:r>
            <a:endParaRPr lang="en-US" sz="2000" dirty="0"/>
          </a:p>
        </p:txBody>
      </p:sp>
      <p:sp>
        <p:nvSpPr>
          <p:cNvPr id="12" name="Text 9"/>
          <p:cNvSpPr txBox="1"/>
          <p:nvPr/>
        </p:nvSpPr>
        <p:spPr>
          <a:xfrm>
            <a:off x="822960" y="6236208"/>
            <a:ext cx="5943600" cy="36576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Semester — | Academic Year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COMPUTER ORGANIZATION AND ARCHITECTURE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Institute &amp; Department</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Presidency University, Bengaluru</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School of Artificial Intelligence and Advanced Computing</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Department of Artificial Intelligence &amp; Robotics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Course: CSS2257 — Computer Organization and Architecture</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TODAY'S ROADMAP</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Learning Objectives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Define memory and its role in a computer system</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Explain the memory hierarchy and its speed–cost trade-off</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Differentiate RAM from ROM, and SRAM from DRAM</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Describe SRAM and DRAM cell structures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Solve basic memory addressing problems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Identify types of ROM and real-world uses</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3</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ICEBREAKER</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Let's Talk Memory!</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When you hear "memory," what comes to mind first?</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Ever seen "8GB RAM" on a phone box? What did you think it meant?</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Why does your laptop forget everything once unplugged?</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If you built the "perfect" memory, what would you use it for?</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4</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MOTIVATION</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Why This Topic Matters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Every running program lives in memory</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Memory speed — not the CPU — is often the real bottleneck</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AI training relies on massive, fast memory (GPU VRAM, HBM)</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Phones, laptops, cars, wearables all depend on memory design</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5</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BASIC CONCEPT</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What Is Memory?</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Hardware that stores binary data (0s and 1s) for the CPU</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Stores both data and instructions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Organized as locations, each with a unique address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Each location holds a fixed number of bits — a word</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6</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OVERVIEW</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Memory Hierarchy</a:t>
            </a:r>
            <a:endParaRPr lang="en-US" sz="3600" dirty="0"/>
          </a:p>
        </p:txBody>
      </p:sp>
      <p:sp>
        <p:nvSpPr>
          <p:cNvPr id="4" name="Shape 2"/>
          <p:cNvSpPr/>
          <p:nvPr/>
        </p:nvSpPr>
        <p:spPr>
          <a:xfrm>
            <a:off x="2468880" y="1737360"/>
            <a:ext cx="2926080" cy="960120"/>
          </a:xfrm>
          <a:prstGeom prst="rect">
            <a:avLst/>
          </a:prstGeom>
          <a:solidFill>
            <a:srgbClr val="1E2761"/>
          </a:solidFill>
          <a:ln w="19050">
            <a:solidFill>
              <a:srgbClr val="FFFFFF"/>
            </a:solidFill>
            <a:prstDash val="solid"/>
          </a:ln>
        </p:spPr>
      </p:sp>
      <p:sp>
        <p:nvSpPr>
          <p:cNvPr id="5" name="Text 3"/>
          <p:cNvSpPr txBox="1"/>
          <p:nvPr/>
        </p:nvSpPr>
        <p:spPr>
          <a:xfrm>
            <a:off x="2468880" y="1792224"/>
            <a:ext cx="2926080" cy="50292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Registers</a:t>
            </a:r>
            <a:endParaRPr lang="en-US" sz="2000" dirty="0"/>
          </a:p>
        </p:txBody>
      </p:sp>
      <p:sp>
        <p:nvSpPr>
          <p:cNvPr id="6" name="Text 4"/>
          <p:cNvSpPr txBox="1"/>
          <p:nvPr/>
        </p:nvSpPr>
        <p:spPr>
          <a:xfrm>
            <a:off x="2468880" y="2267712"/>
            <a:ext cx="2926080" cy="365760"/>
          </a:xfrm>
          <a:prstGeom prst="rect">
            <a:avLst/>
          </a:prstGeom>
          <a:noFill/>
          <a:ln/>
        </p:spPr>
        <p:txBody>
          <a:bodyPr wrap="square" lIns="25400" tIns="25400" rIns="25400" bIns="25400"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Fastest · Smallest · Costliest</a:t>
            </a:r>
            <a:endParaRPr lang="en-US" sz="2000" dirty="0"/>
          </a:p>
        </p:txBody>
      </p:sp>
      <p:sp>
        <p:nvSpPr>
          <p:cNvPr id="7" name="Shape 5"/>
          <p:cNvSpPr/>
          <p:nvPr/>
        </p:nvSpPr>
        <p:spPr>
          <a:xfrm>
            <a:off x="1828800" y="2807208"/>
            <a:ext cx="4206240" cy="960120"/>
          </a:xfrm>
          <a:prstGeom prst="rect">
            <a:avLst/>
          </a:prstGeom>
          <a:solidFill>
            <a:srgbClr val="2C3A7A"/>
          </a:solidFill>
          <a:ln w="19050">
            <a:solidFill>
              <a:srgbClr val="FFFFFF"/>
            </a:solidFill>
            <a:prstDash val="solid"/>
          </a:ln>
        </p:spPr>
      </p:sp>
      <p:sp>
        <p:nvSpPr>
          <p:cNvPr id="8" name="Text 6"/>
          <p:cNvSpPr txBox="1"/>
          <p:nvPr/>
        </p:nvSpPr>
        <p:spPr>
          <a:xfrm>
            <a:off x="1828800" y="2862072"/>
            <a:ext cx="4206240" cy="50292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Cache (SRAM)</a:t>
            </a:r>
            <a:endParaRPr lang="en-US" sz="2000" dirty="0"/>
          </a:p>
        </p:txBody>
      </p:sp>
      <p:sp>
        <p:nvSpPr>
          <p:cNvPr id="9" name="Text 7"/>
          <p:cNvSpPr txBox="1"/>
          <p:nvPr/>
        </p:nvSpPr>
        <p:spPr>
          <a:xfrm>
            <a:off x="1828800" y="3337560"/>
            <a:ext cx="4206240" cy="365760"/>
          </a:xfrm>
          <a:prstGeom prst="rect">
            <a:avLst/>
          </a:prstGeom>
          <a:noFill/>
          <a:ln/>
        </p:spPr>
        <p:txBody>
          <a:bodyPr wrap="square" lIns="25400" tIns="25400" rIns="25400" bIns="25400"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Very fast · Small</a:t>
            </a:r>
            <a:endParaRPr lang="en-US" sz="2000" dirty="0"/>
          </a:p>
        </p:txBody>
      </p:sp>
      <p:sp>
        <p:nvSpPr>
          <p:cNvPr id="10" name="Shape 8"/>
          <p:cNvSpPr/>
          <p:nvPr/>
        </p:nvSpPr>
        <p:spPr>
          <a:xfrm>
            <a:off x="1188720" y="3877056"/>
            <a:ext cx="5486400" cy="960120"/>
          </a:xfrm>
          <a:prstGeom prst="rect">
            <a:avLst/>
          </a:prstGeom>
          <a:solidFill>
            <a:srgbClr val="4C5FA6"/>
          </a:solidFill>
          <a:ln w="19050">
            <a:solidFill>
              <a:srgbClr val="FFFFFF"/>
            </a:solidFill>
            <a:prstDash val="solid"/>
          </a:ln>
        </p:spPr>
      </p:sp>
      <p:sp>
        <p:nvSpPr>
          <p:cNvPr id="11" name="Text 9"/>
          <p:cNvSpPr txBox="1"/>
          <p:nvPr/>
        </p:nvSpPr>
        <p:spPr>
          <a:xfrm>
            <a:off x="1188720" y="3931920"/>
            <a:ext cx="5486400" cy="50292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Main Memory (DRAM)</a:t>
            </a:r>
            <a:endParaRPr lang="en-US" sz="2000" dirty="0"/>
          </a:p>
        </p:txBody>
      </p:sp>
      <p:sp>
        <p:nvSpPr>
          <p:cNvPr id="12" name="Text 10"/>
          <p:cNvSpPr txBox="1"/>
          <p:nvPr/>
        </p:nvSpPr>
        <p:spPr>
          <a:xfrm>
            <a:off x="1188720" y="4407408"/>
            <a:ext cx="5486400" cy="365760"/>
          </a:xfrm>
          <a:prstGeom prst="rect">
            <a:avLst/>
          </a:prstGeom>
          <a:noFill/>
          <a:ln/>
        </p:spPr>
        <p:txBody>
          <a:bodyPr wrap="square" lIns="25400" tIns="25400" rIns="25400" bIns="25400"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Fast · Medium size</a:t>
            </a:r>
            <a:endParaRPr lang="en-US" sz="2000" dirty="0"/>
          </a:p>
        </p:txBody>
      </p:sp>
      <p:sp>
        <p:nvSpPr>
          <p:cNvPr id="13" name="Shape 11"/>
          <p:cNvSpPr/>
          <p:nvPr/>
        </p:nvSpPr>
        <p:spPr>
          <a:xfrm>
            <a:off x="548640" y="4946904"/>
            <a:ext cx="6766560" cy="960120"/>
          </a:xfrm>
          <a:prstGeom prst="rect">
            <a:avLst/>
          </a:prstGeom>
          <a:solidFill>
            <a:srgbClr val="CADCFC"/>
          </a:solidFill>
          <a:ln w="19050">
            <a:solidFill>
              <a:srgbClr val="FFFFFF"/>
            </a:solidFill>
            <a:prstDash val="solid"/>
          </a:ln>
        </p:spPr>
      </p:sp>
      <p:sp>
        <p:nvSpPr>
          <p:cNvPr id="14" name="Text 12"/>
          <p:cNvSpPr txBox="1"/>
          <p:nvPr/>
        </p:nvSpPr>
        <p:spPr>
          <a:xfrm>
            <a:off x="548640" y="5001768"/>
            <a:ext cx="6766560" cy="50292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Secondary Storage (SSD/HDD)</a:t>
            </a:r>
            <a:endParaRPr lang="en-US" sz="2000" dirty="0"/>
          </a:p>
        </p:txBody>
      </p:sp>
      <p:sp>
        <p:nvSpPr>
          <p:cNvPr id="15" name="Text 13"/>
          <p:cNvSpPr txBox="1"/>
          <p:nvPr/>
        </p:nvSpPr>
        <p:spPr>
          <a:xfrm>
            <a:off x="548640" y="5477256"/>
            <a:ext cx="6766560" cy="365760"/>
          </a:xfrm>
          <a:prstGeom prst="rect">
            <a:avLst/>
          </a:prstGeom>
          <a:noFill/>
          <a:ln/>
        </p:spPr>
        <p:txBody>
          <a:bodyPr wrap="square" lIns="25400" tIns="25400" rIns="25400" bIns="25400" rtlCol="0" anchor="ctr"/>
          <a:lstStyle/>
          <a:p>
            <a:pPr marL="0" indent="0" algn="ctr">
              <a:buNone/>
            </a:pPr>
            <a:r>
              <a:rPr lang="en-US" sz="2000" dirty="0">
                <a:solidFill>
                  <a:srgbClr val="1E2761"/>
                </a:solidFill>
                <a:latin typeface="Calibri" pitchFamily="34" charset="0"/>
                <a:ea typeface="Calibri" pitchFamily="34" charset="-122"/>
                <a:cs typeface="Calibri" pitchFamily="34" charset="-120"/>
              </a:rPr>
              <a:t>Slower · Largest · Cheapest</a:t>
            </a:r>
            <a:endParaRPr lang="en-US" sz="2000" dirty="0"/>
          </a:p>
        </p:txBody>
      </p:sp>
      <p:sp>
        <p:nvSpPr>
          <p:cNvPr id="16" name="Shape 14"/>
          <p:cNvSpPr/>
          <p:nvPr/>
        </p:nvSpPr>
        <p:spPr>
          <a:xfrm>
            <a:off x="8138160" y="1737360"/>
            <a:ext cx="0" cy="4169664"/>
          </a:xfrm>
          <a:prstGeom prst="line">
            <a:avLst/>
          </a:prstGeom>
          <a:noFill/>
          <a:ln w="25400">
            <a:solidFill>
              <a:srgbClr val="D4AF37"/>
            </a:solidFill>
            <a:prstDash val="solid"/>
            <a:tailEnd type="triangle"/>
          </a:ln>
        </p:spPr>
      </p:sp>
      <p:sp>
        <p:nvSpPr>
          <p:cNvPr id="17" name="Text 15"/>
          <p:cNvSpPr txBox="1"/>
          <p:nvPr/>
        </p:nvSpPr>
        <p:spPr>
          <a:xfrm>
            <a:off x="8321040" y="1737360"/>
            <a:ext cx="3108960" cy="41148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Speed &amp; Cost per bit ↓</a:t>
            </a:r>
            <a:endParaRPr lang="en-US" sz="2000" dirty="0"/>
          </a:p>
        </p:txBody>
      </p:sp>
      <p:sp>
        <p:nvSpPr>
          <p:cNvPr id="18" name="Shape 16"/>
          <p:cNvSpPr/>
          <p:nvPr/>
        </p:nvSpPr>
        <p:spPr>
          <a:xfrm>
            <a:off x="11338560" y="1737360"/>
            <a:ext cx="0" cy="4169664"/>
          </a:xfrm>
          <a:prstGeom prst="line">
            <a:avLst/>
          </a:prstGeom>
          <a:noFill/>
          <a:ln w="25400">
            <a:solidFill>
              <a:srgbClr val="1E2761"/>
            </a:solidFill>
            <a:prstDash val="solid"/>
            <a:tailEnd type="triangle"/>
          </a:ln>
        </p:spPr>
      </p:sp>
      <p:sp>
        <p:nvSpPr>
          <p:cNvPr id="19" name="Text 17"/>
          <p:cNvSpPr txBox="1"/>
          <p:nvPr/>
        </p:nvSpPr>
        <p:spPr>
          <a:xfrm>
            <a:off x="8321040" y="5541264"/>
            <a:ext cx="3108960" cy="54864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Capacity ↓ (bottom→top)</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7</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TRADE-OFF</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Speed – Cost – Capacity</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Faster memory = more expensive per byte = smaller capacity</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Slower memory = cheaper per byte = larger capacity</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No single technology gives fast + cheap + large together</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The hierarchy exploits this trade-off intelligently</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8</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VOCABULARY</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Key Memory Characteristics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Access time — time to read/write one word</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Cycle time — minimum time between two operations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Capacity — total data memory can hold</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Cost per bit — economic cost of storing one bit</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Volatility — does data survive when power is removed?</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9</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CLASSIFICATION</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RAM vs. ROM</a:t>
            </a:r>
            <a:endParaRPr lang="en-US" sz="3600" dirty="0"/>
          </a:p>
        </p:txBody>
      </p:sp>
      <p:sp>
        <p:nvSpPr>
          <p:cNvPr id="4" name="Shape 2"/>
          <p:cNvSpPr/>
          <p:nvPr/>
        </p:nvSpPr>
        <p:spPr>
          <a:xfrm>
            <a:off x="548640" y="1737360"/>
            <a:ext cx="5349240" cy="1737360"/>
          </a:xfrm>
          <a:prstGeom prst="roundRect">
            <a:avLst>
              <a:gd name="adj" fmla="val 5263"/>
            </a:avLst>
          </a:prstGeom>
          <a:solidFill>
            <a:srgbClr val="E7EEFC"/>
          </a:solidFill>
          <a:ln/>
        </p:spPr>
      </p:sp>
      <p:sp>
        <p:nvSpPr>
          <p:cNvPr id="5" name="Shape 3"/>
          <p:cNvSpPr/>
          <p:nvPr/>
        </p:nvSpPr>
        <p:spPr>
          <a:xfrm>
            <a:off x="2766060" y="1938528"/>
            <a:ext cx="914400" cy="914400"/>
          </a:xfrm>
          <a:prstGeom prst="ellipse">
            <a:avLst/>
          </a:prstGeom>
          <a:solidFill>
            <a:srgbClr val="D4AF37"/>
          </a:solidFill>
          <a:ln/>
        </p:spPr>
      </p:sp>
      <p:pic>
        <p:nvPicPr>
          <p:cNvPr id="6" name="Image 0" descr="preencoded.png"/>
          <p:cNvPicPr>
            <a:picLocks noChangeAspect="1"/>
          </p:cNvPicPr>
          <p:nvPr/>
        </p:nvPicPr>
        <p:blipFill>
          <a:blip r:embed="rId3"/>
          <a:stretch>
            <a:fillRect/>
          </a:stretch>
        </p:blipFill>
        <p:spPr>
          <a:xfrm>
            <a:off x="2884932" y="2057400"/>
            <a:ext cx="676656" cy="676656"/>
          </a:xfrm>
          <a:prstGeom prst="rect">
            <a:avLst/>
          </a:prstGeom>
        </p:spPr>
      </p:pic>
      <p:sp>
        <p:nvSpPr>
          <p:cNvPr id="7" name="Text 4"/>
          <p:cNvSpPr txBox="1"/>
          <p:nvPr/>
        </p:nvSpPr>
        <p:spPr>
          <a:xfrm>
            <a:off x="640080" y="2926080"/>
            <a:ext cx="5166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RAM — Read &amp; Write, Volatile</a:t>
            </a:r>
            <a:endParaRPr lang="en-US" sz="2000" dirty="0"/>
          </a:p>
        </p:txBody>
      </p:sp>
      <p:sp>
        <p:nvSpPr>
          <p:cNvPr id="8" name="Shape 5"/>
          <p:cNvSpPr/>
          <p:nvPr/>
        </p:nvSpPr>
        <p:spPr>
          <a:xfrm>
            <a:off x="6263640" y="1737360"/>
            <a:ext cx="5349240" cy="1737360"/>
          </a:xfrm>
          <a:prstGeom prst="roundRect">
            <a:avLst>
              <a:gd name="adj" fmla="val 5263"/>
            </a:avLst>
          </a:prstGeom>
          <a:solidFill>
            <a:srgbClr val="E7EEFC"/>
          </a:solidFill>
          <a:ln/>
        </p:spPr>
      </p:sp>
      <p:sp>
        <p:nvSpPr>
          <p:cNvPr id="9" name="Shape 6"/>
          <p:cNvSpPr/>
          <p:nvPr/>
        </p:nvSpPr>
        <p:spPr>
          <a:xfrm>
            <a:off x="8481060" y="1938528"/>
            <a:ext cx="914400" cy="914400"/>
          </a:xfrm>
          <a:prstGeom prst="ellipse">
            <a:avLst/>
          </a:prstGeom>
          <a:solidFill>
            <a:srgbClr val="D4AF37"/>
          </a:solidFill>
          <a:ln/>
        </p:spPr>
      </p:sp>
      <p:pic>
        <p:nvPicPr>
          <p:cNvPr id="10" name="Image 1" descr="preencoded.png"/>
          <p:cNvPicPr>
            <a:picLocks noChangeAspect="1"/>
          </p:cNvPicPr>
          <p:nvPr/>
        </p:nvPicPr>
        <p:blipFill>
          <a:blip r:embed="rId3"/>
          <a:stretch>
            <a:fillRect/>
          </a:stretch>
        </p:blipFill>
        <p:spPr>
          <a:xfrm>
            <a:off x="8599932" y="2057400"/>
            <a:ext cx="676656" cy="676656"/>
          </a:xfrm>
          <a:prstGeom prst="rect">
            <a:avLst/>
          </a:prstGeom>
        </p:spPr>
      </p:pic>
      <p:sp>
        <p:nvSpPr>
          <p:cNvPr id="11" name="Text 7"/>
          <p:cNvSpPr txBox="1"/>
          <p:nvPr/>
        </p:nvSpPr>
        <p:spPr>
          <a:xfrm>
            <a:off x="6355080" y="2926080"/>
            <a:ext cx="5166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ROM — Read-mostly, Non-volatile</a:t>
            </a:r>
            <a:endParaRPr lang="en-US" sz="2000" dirty="0"/>
          </a:p>
        </p:txBody>
      </p:sp>
      <p:sp>
        <p:nvSpPr>
          <p:cNvPr id="12" name="Shape 8"/>
          <p:cNvSpPr/>
          <p:nvPr/>
        </p:nvSpPr>
        <p:spPr>
          <a:xfrm>
            <a:off x="548640" y="3749040"/>
            <a:ext cx="11064240" cy="2331720"/>
          </a:xfrm>
          <a:prstGeom prst="roundRect">
            <a:avLst>
              <a:gd name="adj" fmla="val 3922"/>
            </a:avLst>
          </a:prstGeom>
          <a:solidFill>
            <a:srgbClr val="FFFFFF"/>
          </a:solidFill>
          <a:ln w="19050">
            <a:solidFill>
              <a:srgbClr val="CADCFC"/>
            </a:solidFill>
            <a:prstDash val="solid"/>
          </a:ln>
        </p:spPr>
      </p:sp>
      <p:sp>
        <p:nvSpPr>
          <p:cNvPr id="13" name="Text 9"/>
          <p:cNvSpPr txBox="1"/>
          <p:nvPr/>
        </p:nvSpPr>
        <p:spPr>
          <a:xfrm>
            <a:off x="868680" y="3950208"/>
            <a:ext cx="10424160" cy="1965960"/>
          </a:xfrm>
          <a:prstGeom prst="rect">
            <a:avLst/>
          </a:prstGeom>
          <a:noFill/>
          <a:ln/>
        </p:spPr>
        <p:txBody>
          <a:bodyPr wrap="square" lIns="0" tIns="0" rIns="0" bIns="0" rtlCol="0" anchor="t"/>
          <a:lstStyle/>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RAM loses data when powered off; ROM retains it without power</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Both are "random access" — any location reached directly, roughly constant time</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RAM = working memory; ROM = permanent/firmware storage</a:t>
            </a:r>
            <a:endParaRPr lang="en-US" sz="1900" dirty="0"/>
          </a:p>
        </p:txBody>
      </p:sp>
      <p:sp>
        <p:nvSpPr>
          <p:cNvPr id="14" name="Text 10"/>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15" name="Text 11"/>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10</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RAM</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Random Access Memory — The Concept</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RAM is the CPU's primary working memory</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Supports both read and write operations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Access time is roughly equal for any address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Two major types: Static RAM (SRAM) and Dynamic RAM (DRAM)</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11</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PREVIEW</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Types of RAM — SRAM vs. DRAM</a:t>
            </a:r>
            <a:endParaRPr lang="en-US" sz="3600" dirty="0"/>
          </a:p>
        </p:txBody>
      </p:sp>
      <p:sp>
        <p:nvSpPr>
          <p:cNvPr id="4" name="Shape 2"/>
          <p:cNvSpPr/>
          <p:nvPr/>
        </p:nvSpPr>
        <p:spPr>
          <a:xfrm>
            <a:off x="548640" y="1737360"/>
            <a:ext cx="5349240" cy="1737360"/>
          </a:xfrm>
          <a:prstGeom prst="roundRect">
            <a:avLst>
              <a:gd name="adj" fmla="val 5263"/>
            </a:avLst>
          </a:prstGeom>
          <a:solidFill>
            <a:srgbClr val="E7EEFC"/>
          </a:solidFill>
          <a:ln/>
        </p:spPr>
      </p:sp>
      <p:sp>
        <p:nvSpPr>
          <p:cNvPr id="5" name="Shape 3"/>
          <p:cNvSpPr/>
          <p:nvPr/>
        </p:nvSpPr>
        <p:spPr>
          <a:xfrm>
            <a:off x="2766060" y="1938528"/>
            <a:ext cx="914400" cy="914400"/>
          </a:xfrm>
          <a:prstGeom prst="ellipse">
            <a:avLst/>
          </a:prstGeom>
          <a:solidFill>
            <a:srgbClr val="D4AF37"/>
          </a:solidFill>
          <a:ln/>
        </p:spPr>
      </p:sp>
      <p:pic>
        <p:nvPicPr>
          <p:cNvPr id="6" name="Image 0" descr="preencoded.png"/>
          <p:cNvPicPr>
            <a:picLocks noChangeAspect="1"/>
          </p:cNvPicPr>
          <p:nvPr/>
        </p:nvPicPr>
        <p:blipFill>
          <a:blip r:embed="rId3"/>
          <a:stretch>
            <a:fillRect/>
          </a:stretch>
        </p:blipFill>
        <p:spPr>
          <a:xfrm>
            <a:off x="2884932" y="2057400"/>
            <a:ext cx="676656" cy="676656"/>
          </a:xfrm>
          <a:prstGeom prst="rect">
            <a:avLst/>
          </a:prstGeom>
        </p:spPr>
      </p:pic>
      <p:sp>
        <p:nvSpPr>
          <p:cNvPr id="7" name="Text 4"/>
          <p:cNvSpPr txBox="1"/>
          <p:nvPr/>
        </p:nvSpPr>
        <p:spPr>
          <a:xfrm>
            <a:off x="640080" y="2926080"/>
            <a:ext cx="5166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SRAM — Fast, 6-transistor, no refresh</a:t>
            </a:r>
            <a:endParaRPr lang="en-US" sz="2000" dirty="0"/>
          </a:p>
        </p:txBody>
      </p:sp>
      <p:sp>
        <p:nvSpPr>
          <p:cNvPr id="8" name="Shape 5"/>
          <p:cNvSpPr/>
          <p:nvPr/>
        </p:nvSpPr>
        <p:spPr>
          <a:xfrm>
            <a:off x="6263640" y="1737360"/>
            <a:ext cx="5349240" cy="1737360"/>
          </a:xfrm>
          <a:prstGeom prst="roundRect">
            <a:avLst>
              <a:gd name="adj" fmla="val 5263"/>
            </a:avLst>
          </a:prstGeom>
          <a:solidFill>
            <a:srgbClr val="E7EEFC"/>
          </a:solidFill>
          <a:ln/>
        </p:spPr>
      </p:sp>
      <p:sp>
        <p:nvSpPr>
          <p:cNvPr id="9" name="Shape 6"/>
          <p:cNvSpPr/>
          <p:nvPr/>
        </p:nvSpPr>
        <p:spPr>
          <a:xfrm>
            <a:off x="8481060" y="1938528"/>
            <a:ext cx="914400" cy="914400"/>
          </a:xfrm>
          <a:prstGeom prst="ellipse">
            <a:avLst/>
          </a:prstGeom>
          <a:solidFill>
            <a:srgbClr val="D4AF37"/>
          </a:solidFill>
          <a:ln/>
        </p:spPr>
      </p:sp>
      <p:pic>
        <p:nvPicPr>
          <p:cNvPr id="10" name="Image 1" descr="preencoded.png"/>
          <p:cNvPicPr>
            <a:picLocks noChangeAspect="1"/>
          </p:cNvPicPr>
          <p:nvPr/>
        </p:nvPicPr>
        <p:blipFill>
          <a:blip r:embed="rId4"/>
          <a:stretch>
            <a:fillRect/>
          </a:stretch>
        </p:blipFill>
        <p:spPr>
          <a:xfrm>
            <a:off x="8599932" y="2057400"/>
            <a:ext cx="676656" cy="676656"/>
          </a:xfrm>
          <a:prstGeom prst="rect">
            <a:avLst/>
          </a:prstGeom>
        </p:spPr>
      </p:pic>
      <p:sp>
        <p:nvSpPr>
          <p:cNvPr id="11" name="Text 7"/>
          <p:cNvSpPr txBox="1"/>
          <p:nvPr/>
        </p:nvSpPr>
        <p:spPr>
          <a:xfrm>
            <a:off x="6355080" y="2926080"/>
            <a:ext cx="5166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DRAM — Dense, 1T-1C, needs refresh</a:t>
            </a:r>
            <a:endParaRPr lang="en-US" sz="2000" dirty="0"/>
          </a:p>
        </p:txBody>
      </p:sp>
      <p:sp>
        <p:nvSpPr>
          <p:cNvPr id="12" name="Shape 8"/>
          <p:cNvSpPr/>
          <p:nvPr/>
        </p:nvSpPr>
        <p:spPr>
          <a:xfrm>
            <a:off x="548640" y="3749040"/>
            <a:ext cx="11064240" cy="2331720"/>
          </a:xfrm>
          <a:prstGeom prst="roundRect">
            <a:avLst>
              <a:gd name="adj" fmla="val 3922"/>
            </a:avLst>
          </a:prstGeom>
          <a:solidFill>
            <a:srgbClr val="FFFFFF"/>
          </a:solidFill>
          <a:ln w="19050">
            <a:solidFill>
              <a:srgbClr val="CADCFC"/>
            </a:solidFill>
            <a:prstDash val="solid"/>
          </a:ln>
        </p:spPr>
      </p:sp>
      <p:sp>
        <p:nvSpPr>
          <p:cNvPr id="13" name="Text 9"/>
          <p:cNvSpPr txBox="1"/>
          <p:nvPr/>
        </p:nvSpPr>
        <p:spPr>
          <a:xfrm>
            <a:off x="868680" y="3950208"/>
            <a:ext cx="10424160" cy="1965960"/>
          </a:xfrm>
          <a:prstGeom prst="rect">
            <a:avLst/>
          </a:prstGeom>
          <a:noFill/>
          <a:ln/>
        </p:spPr>
        <p:txBody>
          <a:bodyPr wrap="square" lIns="0" tIns="0" rIns="0" bIns="0" rtlCol="0" anchor="t"/>
          <a:lstStyle/>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SRAM → faster, more expensive → used in cache</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DRAM → slower, cheaper, denser → used in main memory</a:t>
            </a:r>
            <a:endParaRPr lang="en-US" sz="1900" dirty="0"/>
          </a:p>
        </p:txBody>
      </p:sp>
      <p:sp>
        <p:nvSpPr>
          <p:cNvPr id="14" name="Text 10"/>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15" name="Text 11"/>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12</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SRAM</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Static RAM — Cell Structure</a:t>
            </a:r>
            <a:endParaRPr lang="en-US" sz="3600" dirty="0"/>
          </a:p>
        </p:txBody>
      </p:sp>
      <p:sp>
        <p:nvSpPr>
          <p:cNvPr id="4" name="Shape 2"/>
          <p:cNvSpPr/>
          <p:nvPr/>
        </p:nvSpPr>
        <p:spPr>
          <a:xfrm>
            <a:off x="548640" y="1737360"/>
            <a:ext cx="6400800" cy="2834640"/>
          </a:xfrm>
          <a:prstGeom prst="roundRect">
            <a:avLst>
              <a:gd name="adj" fmla="val 3226"/>
            </a:avLst>
          </a:prstGeom>
          <a:solidFill>
            <a:srgbClr val="E7EEFC"/>
          </a:solidFill>
          <a:ln w="12700">
            <a:solidFill>
              <a:srgbClr val="CADCFC"/>
            </a:solidFill>
            <a:prstDash val="solid"/>
          </a:ln>
        </p:spPr>
      </p:sp>
      <p:sp>
        <p:nvSpPr>
          <p:cNvPr id="5" name="Shape 3"/>
          <p:cNvSpPr/>
          <p:nvPr/>
        </p:nvSpPr>
        <p:spPr>
          <a:xfrm>
            <a:off x="914400" y="2103120"/>
            <a:ext cx="5669280" cy="0"/>
          </a:xfrm>
          <a:prstGeom prst="line">
            <a:avLst/>
          </a:prstGeom>
          <a:noFill/>
          <a:ln w="25400">
            <a:solidFill>
              <a:srgbClr val="1E2761"/>
            </a:solidFill>
            <a:prstDash val="solid"/>
          </a:ln>
        </p:spPr>
      </p:sp>
      <p:sp>
        <p:nvSpPr>
          <p:cNvPr id="6" name="Text 4"/>
          <p:cNvSpPr txBox="1"/>
          <p:nvPr/>
        </p:nvSpPr>
        <p:spPr>
          <a:xfrm>
            <a:off x="914400" y="1783080"/>
            <a:ext cx="2011680" cy="32004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Word Line</a:t>
            </a:r>
            <a:endParaRPr lang="en-US" sz="2000" dirty="0"/>
          </a:p>
        </p:txBody>
      </p:sp>
      <p:sp>
        <p:nvSpPr>
          <p:cNvPr id="7" name="Shape 5"/>
          <p:cNvSpPr/>
          <p:nvPr/>
        </p:nvSpPr>
        <p:spPr>
          <a:xfrm>
            <a:off x="1508760" y="2057400"/>
            <a:ext cx="457200" cy="274320"/>
          </a:xfrm>
          <a:prstGeom prst="rect">
            <a:avLst/>
          </a:prstGeom>
          <a:solidFill>
            <a:srgbClr val="D4AF37"/>
          </a:solidFill>
          <a:ln w="12700">
            <a:solidFill>
              <a:srgbClr val="1E2761"/>
            </a:solidFill>
            <a:prstDash val="solid"/>
          </a:ln>
        </p:spPr>
      </p:sp>
      <p:sp>
        <p:nvSpPr>
          <p:cNvPr id="8" name="Shape 6"/>
          <p:cNvSpPr/>
          <p:nvPr/>
        </p:nvSpPr>
        <p:spPr>
          <a:xfrm>
            <a:off x="5166360" y="2057400"/>
            <a:ext cx="457200" cy="274320"/>
          </a:xfrm>
          <a:prstGeom prst="rect">
            <a:avLst/>
          </a:prstGeom>
          <a:solidFill>
            <a:srgbClr val="D4AF37"/>
          </a:solidFill>
          <a:ln w="12700">
            <a:solidFill>
              <a:srgbClr val="1E2761"/>
            </a:solidFill>
            <a:prstDash val="solid"/>
          </a:ln>
        </p:spPr>
      </p:sp>
      <p:sp>
        <p:nvSpPr>
          <p:cNvPr id="9" name="Text 7"/>
          <p:cNvSpPr txBox="1"/>
          <p:nvPr/>
        </p:nvSpPr>
        <p:spPr>
          <a:xfrm>
            <a:off x="1188720" y="2377440"/>
            <a:ext cx="1097280" cy="27432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Access Tr.</a:t>
            </a:r>
            <a:endParaRPr lang="en-US" sz="2000" dirty="0"/>
          </a:p>
        </p:txBody>
      </p:sp>
      <p:sp>
        <p:nvSpPr>
          <p:cNvPr id="10" name="Text 8"/>
          <p:cNvSpPr txBox="1"/>
          <p:nvPr/>
        </p:nvSpPr>
        <p:spPr>
          <a:xfrm>
            <a:off x="4846320" y="2377440"/>
            <a:ext cx="1097280" cy="27432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Access Tr.</a:t>
            </a:r>
            <a:endParaRPr lang="en-US" sz="2000" dirty="0"/>
          </a:p>
        </p:txBody>
      </p:sp>
      <p:sp>
        <p:nvSpPr>
          <p:cNvPr id="11" name="Shape 9"/>
          <p:cNvSpPr/>
          <p:nvPr/>
        </p:nvSpPr>
        <p:spPr>
          <a:xfrm>
            <a:off x="1371600" y="3017520"/>
            <a:ext cx="1280160" cy="822960"/>
          </a:xfrm>
          <a:prstGeom prst="rect">
            <a:avLst/>
          </a:prstGeom>
          <a:solidFill>
            <a:srgbClr val="1E2761"/>
          </a:solidFill>
          <a:ln/>
        </p:spPr>
      </p:sp>
      <p:sp>
        <p:nvSpPr>
          <p:cNvPr id="12" name="Text 10"/>
          <p:cNvSpPr txBox="1"/>
          <p:nvPr/>
        </p:nvSpPr>
        <p:spPr>
          <a:xfrm>
            <a:off x="1371600" y="3273552"/>
            <a:ext cx="1280160" cy="36576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Inverter 1</a:t>
            </a:r>
            <a:endParaRPr lang="en-US" sz="2000" dirty="0"/>
          </a:p>
        </p:txBody>
      </p:sp>
      <p:sp>
        <p:nvSpPr>
          <p:cNvPr id="13" name="Shape 11"/>
          <p:cNvSpPr/>
          <p:nvPr/>
        </p:nvSpPr>
        <p:spPr>
          <a:xfrm>
            <a:off x="4846320" y="3017520"/>
            <a:ext cx="1280160" cy="822960"/>
          </a:xfrm>
          <a:prstGeom prst="rect">
            <a:avLst/>
          </a:prstGeom>
          <a:solidFill>
            <a:srgbClr val="1E2761"/>
          </a:solidFill>
          <a:ln/>
        </p:spPr>
      </p:sp>
      <p:sp>
        <p:nvSpPr>
          <p:cNvPr id="14" name="Text 12"/>
          <p:cNvSpPr txBox="1"/>
          <p:nvPr/>
        </p:nvSpPr>
        <p:spPr>
          <a:xfrm>
            <a:off x="4846320" y="3273552"/>
            <a:ext cx="1280160" cy="36576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Inverter 2</a:t>
            </a:r>
            <a:endParaRPr lang="en-US" sz="2000" dirty="0"/>
          </a:p>
        </p:txBody>
      </p:sp>
      <p:sp>
        <p:nvSpPr>
          <p:cNvPr id="15" name="Shape 13"/>
          <p:cNvSpPr/>
          <p:nvPr/>
        </p:nvSpPr>
        <p:spPr>
          <a:xfrm>
            <a:off x="2651760" y="3200400"/>
            <a:ext cx="2194560" cy="0"/>
          </a:xfrm>
          <a:prstGeom prst="line">
            <a:avLst/>
          </a:prstGeom>
          <a:noFill/>
          <a:ln w="31750">
            <a:solidFill>
              <a:srgbClr val="D4AF37"/>
            </a:solidFill>
            <a:prstDash val="solid"/>
            <a:tailEnd type="triangle"/>
          </a:ln>
        </p:spPr>
      </p:sp>
      <p:sp>
        <p:nvSpPr>
          <p:cNvPr id="16" name="Shape 14"/>
          <p:cNvSpPr/>
          <p:nvPr/>
        </p:nvSpPr>
        <p:spPr>
          <a:xfrm>
            <a:off x="4846320" y="3657600"/>
            <a:ext cx="0" cy="0"/>
          </a:xfrm>
          <a:prstGeom prst="line">
            <a:avLst/>
          </a:prstGeom>
          <a:noFill/>
          <a:ln w="31750">
            <a:solidFill>
              <a:srgbClr val="D4AF37"/>
            </a:solidFill>
            <a:prstDash val="solid"/>
            <a:tailEnd type="triangle"/>
          </a:ln>
        </p:spPr>
      </p:sp>
      <p:sp>
        <p:nvSpPr>
          <p:cNvPr id="17" name="Text 15"/>
          <p:cNvSpPr txBox="1"/>
          <p:nvPr/>
        </p:nvSpPr>
        <p:spPr>
          <a:xfrm>
            <a:off x="2651760" y="3794760"/>
            <a:ext cx="2194560" cy="36576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Feedback loop holds the bit</a:t>
            </a:r>
            <a:endParaRPr lang="en-US" sz="2000" dirty="0"/>
          </a:p>
        </p:txBody>
      </p:sp>
      <p:sp>
        <p:nvSpPr>
          <p:cNvPr id="18" name="Shape 16"/>
          <p:cNvSpPr/>
          <p:nvPr/>
        </p:nvSpPr>
        <p:spPr>
          <a:xfrm>
            <a:off x="1737360" y="2331720"/>
            <a:ext cx="0" cy="685800"/>
          </a:xfrm>
          <a:prstGeom prst="line">
            <a:avLst/>
          </a:prstGeom>
          <a:noFill/>
          <a:ln w="25400">
            <a:solidFill>
              <a:srgbClr val="1E2761"/>
            </a:solidFill>
            <a:prstDash val="solid"/>
          </a:ln>
        </p:spPr>
      </p:sp>
      <p:sp>
        <p:nvSpPr>
          <p:cNvPr id="19" name="Shape 17"/>
          <p:cNvSpPr/>
          <p:nvPr/>
        </p:nvSpPr>
        <p:spPr>
          <a:xfrm>
            <a:off x="5394960" y="2331720"/>
            <a:ext cx="0" cy="685800"/>
          </a:xfrm>
          <a:prstGeom prst="line">
            <a:avLst/>
          </a:prstGeom>
          <a:noFill/>
          <a:ln w="25400">
            <a:solidFill>
              <a:srgbClr val="1E2761"/>
            </a:solidFill>
            <a:prstDash val="solid"/>
          </a:ln>
        </p:spPr>
      </p:sp>
      <p:sp>
        <p:nvSpPr>
          <p:cNvPr id="20" name="Text 18"/>
          <p:cNvSpPr txBox="1"/>
          <p:nvPr/>
        </p:nvSpPr>
        <p:spPr>
          <a:xfrm>
            <a:off x="1143000" y="4069080"/>
            <a:ext cx="1188720" cy="32004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Bit Line</a:t>
            </a:r>
            <a:endParaRPr lang="en-US" sz="2000" dirty="0"/>
          </a:p>
        </p:txBody>
      </p:sp>
      <p:sp>
        <p:nvSpPr>
          <p:cNvPr id="21" name="Text 19"/>
          <p:cNvSpPr txBox="1"/>
          <p:nvPr/>
        </p:nvSpPr>
        <p:spPr>
          <a:xfrm>
            <a:off x="4800600" y="4069080"/>
            <a:ext cx="1188720" cy="32004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Bit Line'</a:t>
            </a:r>
            <a:endParaRPr lang="en-US" sz="2000" dirty="0"/>
          </a:p>
        </p:txBody>
      </p:sp>
      <p:sp>
        <p:nvSpPr>
          <p:cNvPr id="22" name="Text 20"/>
          <p:cNvSpPr txBox="1"/>
          <p:nvPr/>
        </p:nvSpPr>
        <p:spPr>
          <a:xfrm>
            <a:off x="7315200" y="1737360"/>
            <a:ext cx="4297680" cy="283464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41A45"/>
                </a:solidFill>
                <a:latin typeface="Calibri" pitchFamily="34" charset="0"/>
                <a:ea typeface="Calibri" pitchFamily="34" charset="-122"/>
                <a:cs typeface="Calibri" pitchFamily="34" charset="-120"/>
              </a:rPr>
              <a:t>Six transistors (6T) per cell</a:t>
            </a:r>
            <a:endParaRPr lang="en-US" sz="2000" dirty="0"/>
          </a:p>
          <a:p>
            <a:pPr marL="342900" indent="-342900">
              <a:spcAft>
                <a:spcPts val="1200"/>
              </a:spcAft>
              <a:buSzPct val="100000"/>
              <a:buChar char="•"/>
            </a:pPr>
            <a:r>
              <a:rPr lang="en-US" sz="2000" dirty="0">
                <a:solidFill>
                  <a:srgbClr val="141A45"/>
                </a:solidFill>
                <a:latin typeface="Calibri" pitchFamily="34" charset="0"/>
                <a:ea typeface="Calibri" pitchFamily="34" charset="-122"/>
                <a:cs typeface="Calibri" pitchFamily="34" charset="-120"/>
              </a:rPr>
              <a:t>Two cross-coupled inverters hold a stable 0 or 1</a:t>
            </a:r>
            <a:endParaRPr lang="en-US" sz="2000" dirty="0"/>
          </a:p>
          <a:p>
            <a:pPr marL="342900" indent="-342900">
              <a:spcAft>
                <a:spcPts val="1200"/>
              </a:spcAft>
              <a:buSzPct val="100000"/>
              <a:buChar char="•"/>
            </a:pPr>
            <a:r>
              <a:rPr lang="en-US" sz="2000" dirty="0">
                <a:solidFill>
                  <a:srgbClr val="141A45"/>
                </a:solidFill>
                <a:latin typeface="Calibri" pitchFamily="34" charset="0"/>
                <a:ea typeface="Calibri" pitchFamily="34" charset="-122"/>
                <a:cs typeface="Calibri" pitchFamily="34" charset="-120"/>
              </a:rPr>
              <a:t>Two access transistors connect to word/bit lines</a:t>
            </a:r>
            <a:endParaRPr lang="en-US" sz="2000" dirty="0"/>
          </a:p>
          <a:p>
            <a:pPr marL="342900" indent="-342900">
              <a:spcAft>
                <a:spcPts val="1200"/>
              </a:spcAft>
              <a:buSzPct val="100000"/>
              <a:buChar char="•"/>
            </a:pPr>
            <a:r>
              <a:rPr lang="en-US" sz="2000" dirty="0">
                <a:solidFill>
                  <a:srgbClr val="141A45"/>
                </a:solidFill>
                <a:latin typeface="Calibri" pitchFamily="34" charset="0"/>
                <a:ea typeface="Calibri" pitchFamily="34" charset="-122"/>
                <a:cs typeface="Calibri" pitchFamily="34" charset="-120"/>
              </a:rPr>
              <a:t>Retains its value as long as power is applied</a:t>
            </a:r>
            <a:endParaRPr lang="en-US" sz="2000" dirty="0"/>
          </a:p>
        </p:txBody>
      </p:sp>
      <p:sp>
        <p:nvSpPr>
          <p:cNvPr id="23" name="Text 21"/>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4" name="Text 22"/>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13</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SRAM</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SRAM — Characteristics &amp; Use Cases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Very fast access time (nanoseconds)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No refresh circuitry → simpler control logic</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Larger cell (6T) → lower density, higher cost/bit</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Used in: CPU cache (L1/L2/L3), registers, buffers</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14</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DRAM</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Dynamic RAM — Cell Structure</a:t>
            </a:r>
            <a:endParaRPr lang="en-US" sz="3600" dirty="0"/>
          </a:p>
        </p:txBody>
      </p:sp>
      <p:sp>
        <p:nvSpPr>
          <p:cNvPr id="4" name="Shape 2"/>
          <p:cNvSpPr/>
          <p:nvPr/>
        </p:nvSpPr>
        <p:spPr>
          <a:xfrm>
            <a:off x="548640" y="1737360"/>
            <a:ext cx="5852160" cy="2834640"/>
          </a:xfrm>
          <a:prstGeom prst="roundRect">
            <a:avLst>
              <a:gd name="adj" fmla="val 3226"/>
            </a:avLst>
          </a:prstGeom>
          <a:solidFill>
            <a:srgbClr val="E7EEFC"/>
          </a:solidFill>
          <a:ln w="12700">
            <a:solidFill>
              <a:srgbClr val="CADCFC"/>
            </a:solidFill>
            <a:prstDash val="solid"/>
          </a:ln>
        </p:spPr>
      </p:sp>
      <p:sp>
        <p:nvSpPr>
          <p:cNvPr id="5" name="Text 3"/>
          <p:cNvSpPr txBox="1"/>
          <p:nvPr/>
        </p:nvSpPr>
        <p:spPr>
          <a:xfrm>
            <a:off x="822960" y="1920240"/>
            <a:ext cx="1828800" cy="32004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Word Line</a:t>
            </a:r>
            <a:endParaRPr lang="en-US" sz="2000" dirty="0"/>
          </a:p>
        </p:txBody>
      </p:sp>
      <p:sp>
        <p:nvSpPr>
          <p:cNvPr id="6" name="Shape 4"/>
          <p:cNvSpPr/>
          <p:nvPr/>
        </p:nvSpPr>
        <p:spPr>
          <a:xfrm>
            <a:off x="822960" y="2423160"/>
            <a:ext cx="5303520" cy="0"/>
          </a:xfrm>
          <a:prstGeom prst="line">
            <a:avLst/>
          </a:prstGeom>
          <a:noFill/>
          <a:ln w="25400">
            <a:solidFill>
              <a:srgbClr val="1E2761"/>
            </a:solidFill>
            <a:prstDash val="solid"/>
          </a:ln>
        </p:spPr>
      </p:sp>
      <p:sp>
        <p:nvSpPr>
          <p:cNvPr id="7" name="Shape 5"/>
          <p:cNvSpPr/>
          <p:nvPr/>
        </p:nvSpPr>
        <p:spPr>
          <a:xfrm>
            <a:off x="3154680" y="2286000"/>
            <a:ext cx="640080" cy="274320"/>
          </a:xfrm>
          <a:prstGeom prst="rect">
            <a:avLst/>
          </a:prstGeom>
          <a:solidFill>
            <a:srgbClr val="D4AF37"/>
          </a:solidFill>
          <a:ln w="12700">
            <a:solidFill>
              <a:srgbClr val="1E2761"/>
            </a:solidFill>
            <a:prstDash val="solid"/>
          </a:ln>
        </p:spPr>
      </p:sp>
      <p:sp>
        <p:nvSpPr>
          <p:cNvPr id="8" name="Text 6"/>
          <p:cNvSpPr txBox="1"/>
          <p:nvPr/>
        </p:nvSpPr>
        <p:spPr>
          <a:xfrm>
            <a:off x="2286000" y="2606040"/>
            <a:ext cx="2377440" cy="32004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Transistor (switch)</a:t>
            </a:r>
            <a:endParaRPr lang="en-US" sz="2000" dirty="0"/>
          </a:p>
        </p:txBody>
      </p:sp>
      <p:sp>
        <p:nvSpPr>
          <p:cNvPr id="9" name="Shape 7"/>
          <p:cNvSpPr/>
          <p:nvPr/>
        </p:nvSpPr>
        <p:spPr>
          <a:xfrm>
            <a:off x="3474720" y="2560320"/>
            <a:ext cx="0" cy="685800"/>
          </a:xfrm>
          <a:prstGeom prst="line">
            <a:avLst/>
          </a:prstGeom>
          <a:noFill/>
          <a:ln w="25400">
            <a:solidFill>
              <a:srgbClr val="1E2761"/>
            </a:solidFill>
            <a:prstDash val="solid"/>
          </a:ln>
        </p:spPr>
      </p:sp>
      <p:sp>
        <p:nvSpPr>
          <p:cNvPr id="10" name="Shape 8"/>
          <p:cNvSpPr/>
          <p:nvPr/>
        </p:nvSpPr>
        <p:spPr>
          <a:xfrm>
            <a:off x="3017520" y="3246120"/>
            <a:ext cx="914400" cy="0"/>
          </a:xfrm>
          <a:prstGeom prst="line">
            <a:avLst/>
          </a:prstGeom>
          <a:noFill/>
          <a:ln w="50800">
            <a:solidFill>
              <a:srgbClr val="1E2761"/>
            </a:solidFill>
            <a:prstDash val="solid"/>
          </a:ln>
        </p:spPr>
      </p:sp>
      <p:sp>
        <p:nvSpPr>
          <p:cNvPr id="11" name="Shape 9"/>
          <p:cNvSpPr/>
          <p:nvPr/>
        </p:nvSpPr>
        <p:spPr>
          <a:xfrm>
            <a:off x="3017520" y="3429000"/>
            <a:ext cx="914400" cy="0"/>
          </a:xfrm>
          <a:prstGeom prst="line">
            <a:avLst/>
          </a:prstGeom>
          <a:noFill/>
          <a:ln w="50800">
            <a:solidFill>
              <a:srgbClr val="1E2761"/>
            </a:solidFill>
            <a:prstDash val="solid"/>
          </a:ln>
        </p:spPr>
      </p:sp>
      <p:sp>
        <p:nvSpPr>
          <p:cNvPr id="12" name="Text 10"/>
          <p:cNvSpPr txBox="1"/>
          <p:nvPr/>
        </p:nvSpPr>
        <p:spPr>
          <a:xfrm>
            <a:off x="2011680" y="3566160"/>
            <a:ext cx="2926080" cy="32004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Capacitor (stores charge)</a:t>
            </a:r>
            <a:endParaRPr lang="en-US" sz="2000" dirty="0"/>
          </a:p>
        </p:txBody>
      </p:sp>
      <p:sp>
        <p:nvSpPr>
          <p:cNvPr id="13" name="Shape 11"/>
          <p:cNvSpPr/>
          <p:nvPr/>
        </p:nvSpPr>
        <p:spPr>
          <a:xfrm>
            <a:off x="822960" y="4114800"/>
            <a:ext cx="5303520" cy="0"/>
          </a:xfrm>
          <a:prstGeom prst="line">
            <a:avLst/>
          </a:prstGeom>
          <a:noFill/>
          <a:ln w="25400">
            <a:solidFill>
              <a:srgbClr val="1E2761"/>
            </a:solidFill>
            <a:prstDash val="solid"/>
          </a:ln>
        </p:spPr>
      </p:sp>
      <p:sp>
        <p:nvSpPr>
          <p:cNvPr id="14" name="Shape 12"/>
          <p:cNvSpPr/>
          <p:nvPr/>
        </p:nvSpPr>
        <p:spPr>
          <a:xfrm>
            <a:off x="3474720" y="2560320"/>
            <a:ext cx="0" cy="0"/>
          </a:xfrm>
          <a:prstGeom prst="line">
            <a:avLst/>
          </a:prstGeom>
          <a:noFill/>
          <a:ln/>
        </p:spPr>
      </p:sp>
      <p:sp>
        <p:nvSpPr>
          <p:cNvPr id="15" name="Shape 13"/>
          <p:cNvSpPr/>
          <p:nvPr/>
        </p:nvSpPr>
        <p:spPr>
          <a:xfrm>
            <a:off x="1005840" y="2560320"/>
            <a:ext cx="0" cy="1554480"/>
          </a:xfrm>
          <a:prstGeom prst="line">
            <a:avLst/>
          </a:prstGeom>
          <a:noFill/>
          <a:ln w="25400">
            <a:solidFill>
              <a:srgbClr val="1E2761"/>
            </a:solidFill>
            <a:prstDash val="dash"/>
          </a:ln>
        </p:spPr>
      </p:sp>
      <p:sp>
        <p:nvSpPr>
          <p:cNvPr id="16" name="Text 14"/>
          <p:cNvSpPr txBox="1"/>
          <p:nvPr/>
        </p:nvSpPr>
        <p:spPr>
          <a:xfrm>
            <a:off x="822960" y="4206240"/>
            <a:ext cx="1463040" cy="32004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Bit Line</a:t>
            </a:r>
            <a:endParaRPr lang="en-US" sz="2000" dirty="0"/>
          </a:p>
        </p:txBody>
      </p:sp>
      <p:sp>
        <p:nvSpPr>
          <p:cNvPr id="17" name="Text 15"/>
          <p:cNvSpPr txBox="1"/>
          <p:nvPr/>
        </p:nvSpPr>
        <p:spPr>
          <a:xfrm>
            <a:off x="6858000" y="1737360"/>
            <a:ext cx="4754880" cy="283464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41A45"/>
                </a:solidFill>
                <a:latin typeface="Calibri" pitchFamily="34" charset="0"/>
                <a:ea typeface="Calibri" pitchFamily="34" charset="-122"/>
                <a:cs typeface="Calibri" pitchFamily="34" charset="-120"/>
              </a:rPr>
              <a:t>One transistor + one capacitor (1T-1C) per cell</a:t>
            </a:r>
            <a:endParaRPr lang="en-US" sz="2000" dirty="0"/>
          </a:p>
          <a:p>
            <a:pPr marL="342900" indent="-342900">
              <a:spcAft>
                <a:spcPts val="1200"/>
              </a:spcAft>
              <a:buSzPct val="100000"/>
              <a:buChar char="•"/>
            </a:pPr>
            <a:r>
              <a:rPr lang="en-US" sz="2000" dirty="0">
                <a:solidFill>
                  <a:srgbClr val="141A45"/>
                </a:solidFill>
                <a:latin typeface="Calibri" pitchFamily="34" charset="0"/>
                <a:ea typeface="Calibri" pitchFamily="34" charset="-122"/>
                <a:cs typeface="Calibri" pitchFamily="34" charset="-120"/>
              </a:rPr>
              <a:t>Charge on the capacitor: charged = 1, discharged = 0</a:t>
            </a:r>
            <a:endParaRPr lang="en-US" sz="2000" dirty="0"/>
          </a:p>
          <a:p>
            <a:pPr marL="342900" indent="-342900">
              <a:spcAft>
                <a:spcPts val="1200"/>
              </a:spcAft>
              <a:buSzPct val="100000"/>
              <a:buChar char="•"/>
            </a:pPr>
            <a:r>
              <a:rPr lang="en-US" sz="2000" dirty="0">
                <a:solidFill>
                  <a:srgbClr val="141A45"/>
                </a:solidFill>
                <a:latin typeface="Calibri" pitchFamily="34" charset="0"/>
                <a:ea typeface="Calibri" pitchFamily="34" charset="-122"/>
                <a:cs typeface="Calibri" pitchFamily="34" charset="-120"/>
              </a:rPr>
              <a:t>Transistor switches the capacitor to the bit line</a:t>
            </a:r>
            <a:endParaRPr lang="en-US" sz="2000" dirty="0"/>
          </a:p>
          <a:p>
            <a:pPr marL="342900" indent="-342900">
              <a:spcAft>
                <a:spcPts val="1200"/>
              </a:spcAft>
              <a:buSzPct val="100000"/>
              <a:buChar char="•"/>
            </a:pPr>
            <a:r>
              <a:rPr lang="en-US" sz="2000" dirty="0">
                <a:solidFill>
                  <a:srgbClr val="141A45"/>
                </a:solidFill>
                <a:latin typeface="Calibri" pitchFamily="34" charset="0"/>
                <a:ea typeface="Calibri" pitchFamily="34" charset="-122"/>
                <a:cs typeface="Calibri" pitchFamily="34" charset="-120"/>
              </a:rPr>
              <a:t>Far more compact than SRAM's 6-transistor design</a:t>
            </a:r>
            <a:endParaRPr lang="en-US" sz="2000" dirty="0"/>
          </a:p>
        </p:txBody>
      </p:sp>
      <p:sp>
        <p:nvSpPr>
          <p:cNvPr id="18" name="Text 16"/>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19" name="Text 17"/>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15</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DRAM</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DRAM — The Refresh Operation</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Capacitors leak charge over time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Refresh: periodically read &amp; rewrite each cell</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Typical interval: ~64 ms for the whole chip</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Handled automatically by the memory controller</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16</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COMPARISON</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SRAM vs. DRAM — Side by Side</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4389119"/>
        </p:xfrm>
        <a:graphic>
          <a:graphicData uri="http://schemas.openxmlformats.org/drawingml/2006/table">
            <a:tbl>
              <a:tblPr/>
              <a:tblGrid>
                <a:gridCol w="3688080">
                  <a:extLst>
                    <a:ext uri="{9D8B030D-6E8A-4147-A177-3AD203B41FA5}">
                      <a16:colId xmlns:a16="http://schemas.microsoft.com/office/drawing/2014/main" val="20000"/>
                    </a:ext>
                  </a:extLst>
                </a:gridCol>
                <a:gridCol w="3688080">
                  <a:extLst>
                    <a:ext uri="{9D8B030D-6E8A-4147-A177-3AD203B41FA5}">
                      <a16:colId xmlns:a16="http://schemas.microsoft.com/office/drawing/2014/main" val="20001"/>
                    </a:ext>
                  </a:extLst>
                </a:gridCol>
                <a:gridCol w="3688080">
                  <a:extLst>
                    <a:ext uri="{9D8B030D-6E8A-4147-A177-3AD203B41FA5}">
                      <a16:colId xmlns:a16="http://schemas.microsoft.com/office/drawing/2014/main" val="20002"/>
                    </a:ext>
                  </a:extLst>
                </a:gridCol>
              </a:tblGrid>
              <a:tr h="627017">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Feature</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SRAM</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DRAM</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27017">
                <a:tc>
                  <a:txBody>
                    <a:bodyPr/>
                    <a:lstStyle/>
                    <a:p>
                      <a:pPr marL="0" indent="0" algn="l">
                        <a:buNone/>
                      </a:pPr>
                      <a:r>
                        <a:rPr lang="en-US" sz="2000" b="1" dirty="0">
                          <a:solidFill>
                            <a:srgbClr val="141A45"/>
                          </a:solidFill>
                          <a:latin typeface="Calibri" pitchFamily="34" charset="0"/>
                          <a:ea typeface="Calibri" pitchFamily="34" charset="-122"/>
                          <a:cs typeface="Calibri" pitchFamily="34" charset="-120"/>
                        </a:rPr>
                        <a:t>Cell structure</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41A45"/>
                          </a:solidFill>
                          <a:latin typeface="Calibri" pitchFamily="34" charset="0"/>
                          <a:ea typeface="Calibri" pitchFamily="34" charset="-122"/>
                          <a:cs typeface="Calibri" pitchFamily="34" charset="-120"/>
                        </a:rPr>
                        <a:t>6 transistors</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41A45"/>
                          </a:solidFill>
                          <a:latin typeface="Calibri" pitchFamily="34" charset="0"/>
                          <a:ea typeface="Calibri" pitchFamily="34" charset="-122"/>
                          <a:cs typeface="Calibri" pitchFamily="34" charset="-120"/>
                        </a:rPr>
                        <a:t>1 transistor + 1 capacitor</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7017">
                <a:tc>
                  <a:txBody>
                    <a:bodyPr/>
                    <a:lstStyle/>
                    <a:p>
                      <a:pPr marL="0" indent="0" algn="l">
                        <a:buNone/>
                      </a:pPr>
                      <a:r>
                        <a:rPr lang="en-US" sz="2000" b="1" dirty="0">
                          <a:solidFill>
                            <a:srgbClr val="141A45"/>
                          </a:solidFill>
                          <a:latin typeface="Calibri" pitchFamily="34" charset="0"/>
                          <a:ea typeface="Calibri" pitchFamily="34" charset="-122"/>
                          <a:cs typeface="Calibri" pitchFamily="34" charset="-120"/>
                        </a:rPr>
                        <a:t>Refresh needed?</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7EEFC"/>
                    </a:solidFill>
                  </a:tcPr>
                </a:tc>
                <a:tc>
                  <a:txBody>
                    <a:bodyPr/>
                    <a:lstStyle/>
                    <a:p>
                      <a:pPr marL="0" indent="0" algn="ctr">
                        <a:buNone/>
                      </a:pPr>
                      <a:r>
                        <a:rPr lang="en-US" sz="2000" dirty="0">
                          <a:solidFill>
                            <a:srgbClr val="141A45"/>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7EEFC"/>
                    </a:solidFill>
                  </a:tcPr>
                </a:tc>
                <a:tc>
                  <a:txBody>
                    <a:bodyPr/>
                    <a:lstStyle/>
                    <a:p>
                      <a:pPr marL="0" indent="0" algn="ctr">
                        <a:buNone/>
                      </a:pPr>
                      <a:r>
                        <a:rPr lang="en-US" sz="2000" dirty="0">
                          <a:solidFill>
                            <a:srgbClr val="141A45"/>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7EEFC"/>
                    </a:solidFill>
                  </a:tcPr>
                </a:tc>
                <a:extLst>
                  <a:ext uri="{0D108BD9-81ED-4DB2-BD59-A6C34878D82A}">
                    <a16:rowId xmlns:a16="http://schemas.microsoft.com/office/drawing/2014/main" val="10002"/>
                  </a:ext>
                </a:extLst>
              </a:tr>
              <a:tr h="627017">
                <a:tc>
                  <a:txBody>
                    <a:bodyPr/>
                    <a:lstStyle/>
                    <a:p>
                      <a:pPr marL="0" indent="0" algn="l">
                        <a:buNone/>
                      </a:pPr>
                      <a:r>
                        <a:rPr lang="en-US" sz="2000" b="1" dirty="0">
                          <a:solidFill>
                            <a:srgbClr val="141A45"/>
                          </a:solidFill>
                          <a:latin typeface="Calibri" pitchFamily="34" charset="0"/>
                          <a:ea typeface="Calibri" pitchFamily="34" charset="-122"/>
                          <a:cs typeface="Calibri" pitchFamily="34" charset="-120"/>
                        </a:rPr>
                        <a:t>Speed</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41A45"/>
                          </a:solidFill>
                          <a:latin typeface="Calibri" pitchFamily="34" charset="0"/>
                          <a:ea typeface="Calibri" pitchFamily="34" charset="-122"/>
                          <a:cs typeface="Calibri" pitchFamily="34" charset="-120"/>
                        </a:rPr>
                        <a:t>Faster</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41A45"/>
                          </a:solidFill>
                          <a:latin typeface="Calibri" pitchFamily="34" charset="0"/>
                          <a:ea typeface="Calibri" pitchFamily="34" charset="-122"/>
                          <a:cs typeface="Calibri" pitchFamily="34" charset="-120"/>
                        </a:rPr>
                        <a:t>Slower</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7017">
                <a:tc>
                  <a:txBody>
                    <a:bodyPr/>
                    <a:lstStyle/>
                    <a:p>
                      <a:pPr marL="0" indent="0" algn="l">
                        <a:buNone/>
                      </a:pPr>
                      <a:r>
                        <a:rPr lang="en-US" sz="2000" b="1" dirty="0">
                          <a:solidFill>
                            <a:srgbClr val="141A45"/>
                          </a:solidFill>
                          <a:latin typeface="Calibri" pitchFamily="34" charset="0"/>
                          <a:ea typeface="Calibri" pitchFamily="34" charset="-122"/>
                          <a:cs typeface="Calibri" pitchFamily="34" charset="-120"/>
                        </a:rPr>
                        <a:t>Density / Capacity</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7EEFC"/>
                    </a:solidFill>
                  </a:tcPr>
                </a:tc>
                <a:tc>
                  <a:txBody>
                    <a:bodyPr/>
                    <a:lstStyle/>
                    <a:p>
                      <a:pPr marL="0" indent="0" algn="ctr">
                        <a:buNone/>
                      </a:pPr>
                      <a:r>
                        <a:rPr lang="en-US" sz="2000" dirty="0">
                          <a:solidFill>
                            <a:srgbClr val="141A45"/>
                          </a:solidFill>
                          <a:latin typeface="Calibri" pitchFamily="34" charset="0"/>
                          <a:ea typeface="Calibri" pitchFamily="34" charset="-122"/>
                          <a:cs typeface="Calibri" pitchFamily="34" charset="-120"/>
                        </a:rPr>
                        <a:t>Lower</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7EEFC"/>
                    </a:solidFill>
                  </a:tcPr>
                </a:tc>
                <a:tc>
                  <a:txBody>
                    <a:bodyPr/>
                    <a:lstStyle/>
                    <a:p>
                      <a:pPr marL="0" indent="0" algn="ctr">
                        <a:buNone/>
                      </a:pPr>
                      <a:r>
                        <a:rPr lang="en-US" sz="2000" dirty="0">
                          <a:solidFill>
                            <a:srgbClr val="141A45"/>
                          </a:solidFill>
                          <a:latin typeface="Calibri" pitchFamily="34" charset="0"/>
                          <a:ea typeface="Calibri" pitchFamily="34" charset="-122"/>
                          <a:cs typeface="Calibri" pitchFamily="34" charset="-120"/>
                        </a:rPr>
                        <a:t>Higher</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7EEFC"/>
                    </a:solidFill>
                  </a:tcPr>
                </a:tc>
                <a:extLst>
                  <a:ext uri="{0D108BD9-81ED-4DB2-BD59-A6C34878D82A}">
                    <a16:rowId xmlns:a16="http://schemas.microsoft.com/office/drawing/2014/main" val="10004"/>
                  </a:ext>
                </a:extLst>
              </a:tr>
              <a:tr h="627017">
                <a:tc>
                  <a:txBody>
                    <a:bodyPr/>
                    <a:lstStyle/>
                    <a:p>
                      <a:pPr marL="0" indent="0" algn="l">
                        <a:buNone/>
                      </a:pPr>
                      <a:r>
                        <a:rPr lang="en-US" sz="2000" b="1" dirty="0">
                          <a:solidFill>
                            <a:srgbClr val="141A45"/>
                          </a:solidFill>
                          <a:latin typeface="Calibri" pitchFamily="34" charset="0"/>
                          <a:ea typeface="Calibri" pitchFamily="34" charset="-122"/>
                          <a:cs typeface="Calibri" pitchFamily="34" charset="-120"/>
                        </a:rPr>
                        <a:t>Cost per bit</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41A45"/>
                          </a:solidFill>
                          <a:latin typeface="Calibri" pitchFamily="34" charset="0"/>
                          <a:ea typeface="Calibri" pitchFamily="34" charset="-122"/>
                          <a:cs typeface="Calibri" pitchFamily="34" charset="-120"/>
                        </a:rPr>
                        <a:t>Higher</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41A45"/>
                          </a:solidFill>
                          <a:latin typeface="Calibri" pitchFamily="34" charset="0"/>
                          <a:ea typeface="Calibri" pitchFamily="34" charset="-122"/>
                          <a:cs typeface="Calibri" pitchFamily="34" charset="-120"/>
                        </a:rPr>
                        <a:t>Lower</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7017">
                <a:tc>
                  <a:txBody>
                    <a:bodyPr/>
                    <a:lstStyle/>
                    <a:p>
                      <a:pPr marL="0" indent="0" algn="l">
                        <a:buNone/>
                      </a:pPr>
                      <a:r>
                        <a:rPr lang="en-US" sz="2000" b="1" dirty="0">
                          <a:solidFill>
                            <a:srgbClr val="141A45"/>
                          </a:solidFill>
                          <a:latin typeface="Calibri" pitchFamily="34" charset="0"/>
                          <a:ea typeface="Calibri" pitchFamily="34" charset="-122"/>
                          <a:cs typeface="Calibri" pitchFamily="34" charset="-120"/>
                        </a:rPr>
                        <a:t>Typical use</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7EEFC"/>
                    </a:solidFill>
                  </a:tcPr>
                </a:tc>
                <a:tc>
                  <a:txBody>
                    <a:bodyPr/>
                    <a:lstStyle/>
                    <a:p>
                      <a:pPr marL="0" indent="0" algn="ctr">
                        <a:buNone/>
                      </a:pPr>
                      <a:r>
                        <a:rPr lang="en-US" sz="2000" dirty="0">
                          <a:solidFill>
                            <a:srgbClr val="141A45"/>
                          </a:solidFill>
                          <a:latin typeface="Calibri" pitchFamily="34" charset="0"/>
                          <a:ea typeface="Calibri" pitchFamily="34" charset="-122"/>
                          <a:cs typeface="Calibri" pitchFamily="34" charset="-120"/>
                        </a:rPr>
                        <a:t>Cache</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7EEFC"/>
                    </a:solidFill>
                  </a:tcPr>
                </a:tc>
                <a:tc>
                  <a:txBody>
                    <a:bodyPr/>
                    <a:lstStyle/>
                    <a:p>
                      <a:pPr marL="0" indent="0" algn="ctr">
                        <a:buNone/>
                      </a:pPr>
                      <a:r>
                        <a:rPr lang="en-US" sz="2000" dirty="0">
                          <a:solidFill>
                            <a:srgbClr val="141A45"/>
                          </a:solidFill>
                          <a:latin typeface="Calibri" pitchFamily="34" charset="0"/>
                          <a:ea typeface="Calibri" pitchFamily="34" charset="-122"/>
                          <a:cs typeface="Calibri" pitchFamily="34" charset="-120"/>
                        </a:rPr>
                        <a:t>Main memory</a:t>
                      </a:r>
                      <a:endParaRPr lang="en-US" sz="20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7EEFC"/>
                    </a:solidFill>
                  </a:tcPr>
                </a:tc>
                <a:extLst>
                  <a:ext uri="{0D108BD9-81ED-4DB2-BD59-A6C34878D82A}">
                    <a16:rowId xmlns:a16="http://schemas.microsoft.com/office/drawing/2014/main" val="10006"/>
                  </a:ext>
                </a:extLst>
              </a:tr>
            </a:tbl>
          </a:graphicData>
        </a:graphic>
      </p:graphicFrame>
      <p:sp>
        <p:nvSpPr>
          <p:cNvPr id="7" name="Text 3"/>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8" name="Text 4"/>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17</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REAL-WORLD</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RAM in Your Devices</a:t>
            </a:r>
            <a:endParaRPr lang="en-US" sz="3600" dirty="0"/>
          </a:p>
        </p:txBody>
      </p:sp>
      <p:sp>
        <p:nvSpPr>
          <p:cNvPr id="4" name="Shape 2"/>
          <p:cNvSpPr/>
          <p:nvPr/>
        </p:nvSpPr>
        <p:spPr>
          <a:xfrm>
            <a:off x="548640" y="1737360"/>
            <a:ext cx="3444240" cy="1737360"/>
          </a:xfrm>
          <a:prstGeom prst="roundRect">
            <a:avLst>
              <a:gd name="adj" fmla="val 5263"/>
            </a:avLst>
          </a:prstGeom>
          <a:solidFill>
            <a:srgbClr val="E7EEFC"/>
          </a:solidFill>
          <a:ln/>
        </p:spPr>
      </p:sp>
      <p:sp>
        <p:nvSpPr>
          <p:cNvPr id="5" name="Shape 3"/>
          <p:cNvSpPr/>
          <p:nvPr/>
        </p:nvSpPr>
        <p:spPr>
          <a:xfrm>
            <a:off x="1813560" y="1938528"/>
            <a:ext cx="914400" cy="914400"/>
          </a:xfrm>
          <a:prstGeom prst="ellipse">
            <a:avLst/>
          </a:prstGeom>
          <a:solidFill>
            <a:srgbClr val="D4AF37"/>
          </a:solidFill>
          <a:ln/>
        </p:spPr>
      </p:sp>
      <p:pic>
        <p:nvPicPr>
          <p:cNvPr id="6" name="Image 0" descr="preencoded.png"/>
          <p:cNvPicPr>
            <a:picLocks noChangeAspect="1"/>
          </p:cNvPicPr>
          <p:nvPr/>
        </p:nvPicPr>
        <p:blipFill>
          <a:blip r:embed="rId3"/>
          <a:stretch>
            <a:fillRect/>
          </a:stretch>
        </p:blipFill>
        <p:spPr>
          <a:xfrm>
            <a:off x="1932432" y="2057400"/>
            <a:ext cx="676656" cy="676656"/>
          </a:xfrm>
          <a:prstGeom prst="rect">
            <a:avLst/>
          </a:prstGeom>
        </p:spPr>
      </p:pic>
      <p:sp>
        <p:nvSpPr>
          <p:cNvPr id="7" name="Text 4"/>
          <p:cNvSpPr txBox="1"/>
          <p:nvPr/>
        </p:nvSpPr>
        <p:spPr>
          <a:xfrm>
            <a:off x="64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Phone RAM — DRAM (LPDDR)</a:t>
            </a:r>
            <a:endParaRPr lang="en-US" sz="2000" dirty="0"/>
          </a:p>
        </p:txBody>
      </p:sp>
      <p:sp>
        <p:nvSpPr>
          <p:cNvPr id="8" name="Shape 5"/>
          <p:cNvSpPr/>
          <p:nvPr/>
        </p:nvSpPr>
        <p:spPr>
          <a:xfrm>
            <a:off x="4358640" y="1737360"/>
            <a:ext cx="3444240" cy="1737360"/>
          </a:xfrm>
          <a:prstGeom prst="roundRect">
            <a:avLst>
              <a:gd name="adj" fmla="val 5263"/>
            </a:avLst>
          </a:prstGeom>
          <a:solidFill>
            <a:srgbClr val="E7EEFC"/>
          </a:solidFill>
          <a:ln/>
        </p:spPr>
      </p:sp>
      <p:sp>
        <p:nvSpPr>
          <p:cNvPr id="9" name="Shape 6"/>
          <p:cNvSpPr/>
          <p:nvPr/>
        </p:nvSpPr>
        <p:spPr>
          <a:xfrm>
            <a:off x="5623560" y="1938528"/>
            <a:ext cx="914400" cy="914400"/>
          </a:xfrm>
          <a:prstGeom prst="ellipse">
            <a:avLst/>
          </a:prstGeom>
          <a:solidFill>
            <a:srgbClr val="D4AF37"/>
          </a:solidFill>
          <a:ln/>
        </p:spPr>
      </p:sp>
      <p:pic>
        <p:nvPicPr>
          <p:cNvPr id="10" name="Image 1" descr="preencoded.png"/>
          <p:cNvPicPr>
            <a:picLocks noChangeAspect="1"/>
          </p:cNvPicPr>
          <p:nvPr/>
        </p:nvPicPr>
        <p:blipFill>
          <a:blip r:embed="rId4"/>
          <a:stretch>
            <a:fillRect/>
          </a:stretch>
        </p:blipFill>
        <p:spPr>
          <a:xfrm>
            <a:off x="5742432" y="2057400"/>
            <a:ext cx="676656" cy="676656"/>
          </a:xfrm>
          <a:prstGeom prst="rect">
            <a:avLst/>
          </a:prstGeom>
        </p:spPr>
      </p:pic>
      <p:sp>
        <p:nvSpPr>
          <p:cNvPr id="11" name="Text 7"/>
          <p:cNvSpPr txBox="1"/>
          <p:nvPr/>
        </p:nvSpPr>
        <p:spPr>
          <a:xfrm>
            <a:off x="445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CPU Cache — SRAM (L1/L2/L3)</a:t>
            </a:r>
            <a:endParaRPr lang="en-US" sz="2000" dirty="0"/>
          </a:p>
        </p:txBody>
      </p:sp>
      <p:sp>
        <p:nvSpPr>
          <p:cNvPr id="12" name="Shape 8"/>
          <p:cNvSpPr/>
          <p:nvPr/>
        </p:nvSpPr>
        <p:spPr>
          <a:xfrm>
            <a:off x="8168640" y="1737360"/>
            <a:ext cx="3444240" cy="1737360"/>
          </a:xfrm>
          <a:prstGeom prst="roundRect">
            <a:avLst>
              <a:gd name="adj" fmla="val 5263"/>
            </a:avLst>
          </a:prstGeom>
          <a:solidFill>
            <a:srgbClr val="E7EEFC"/>
          </a:solidFill>
          <a:ln/>
        </p:spPr>
      </p:sp>
      <p:sp>
        <p:nvSpPr>
          <p:cNvPr id="13" name="Shape 9"/>
          <p:cNvSpPr/>
          <p:nvPr/>
        </p:nvSpPr>
        <p:spPr>
          <a:xfrm>
            <a:off x="9433560" y="1938528"/>
            <a:ext cx="914400" cy="914400"/>
          </a:xfrm>
          <a:prstGeom prst="ellipse">
            <a:avLst/>
          </a:prstGeom>
          <a:solidFill>
            <a:srgbClr val="D4AF37"/>
          </a:solidFill>
          <a:ln/>
        </p:spPr>
      </p:sp>
      <p:pic>
        <p:nvPicPr>
          <p:cNvPr id="14" name="Image 2" descr="preencoded.png"/>
          <p:cNvPicPr>
            <a:picLocks noChangeAspect="1"/>
          </p:cNvPicPr>
          <p:nvPr/>
        </p:nvPicPr>
        <p:blipFill>
          <a:blip r:embed="rId5"/>
          <a:stretch>
            <a:fillRect/>
          </a:stretch>
        </p:blipFill>
        <p:spPr>
          <a:xfrm>
            <a:off x="9552432" y="2057400"/>
            <a:ext cx="676656" cy="676656"/>
          </a:xfrm>
          <a:prstGeom prst="rect">
            <a:avLst/>
          </a:prstGeom>
        </p:spPr>
      </p:pic>
      <p:sp>
        <p:nvSpPr>
          <p:cNvPr id="15" name="Text 10"/>
          <p:cNvSpPr txBox="1"/>
          <p:nvPr/>
        </p:nvSpPr>
        <p:spPr>
          <a:xfrm>
            <a:off x="826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GPU Memory — GDDR6 / HBM</a:t>
            </a:r>
            <a:endParaRPr lang="en-US" sz="2000" dirty="0"/>
          </a:p>
        </p:txBody>
      </p:sp>
      <p:sp>
        <p:nvSpPr>
          <p:cNvPr id="16" name="Shape 11"/>
          <p:cNvSpPr/>
          <p:nvPr/>
        </p:nvSpPr>
        <p:spPr>
          <a:xfrm>
            <a:off x="548640" y="3749040"/>
            <a:ext cx="11064240" cy="2331720"/>
          </a:xfrm>
          <a:prstGeom prst="roundRect">
            <a:avLst>
              <a:gd name="adj" fmla="val 3922"/>
            </a:avLst>
          </a:prstGeom>
          <a:solidFill>
            <a:srgbClr val="FFFFFF"/>
          </a:solidFill>
          <a:ln w="19050">
            <a:solidFill>
              <a:srgbClr val="CADCFC"/>
            </a:solidFill>
            <a:prstDash val="solid"/>
          </a:ln>
        </p:spPr>
      </p:sp>
      <p:sp>
        <p:nvSpPr>
          <p:cNvPr id="17" name="Text 12"/>
          <p:cNvSpPr txBox="1"/>
          <p:nvPr/>
        </p:nvSpPr>
        <p:spPr>
          <a:xfrm>
            <a:off x="868680" y="3950208"/>
            <a:ext cx="10424160" cy="1965960"/>
          </a:xfrm>
          <a:prstGeom prst="rect">
            <a:avLst/>
          </a:prstGeom>
          <a:noFill/>
          <a:ln/>
        </p:spPr>
        <p:txBody>
          <a:bodyPr wrap="square" lIns="0" tIns="0" rIns="0" bIns="0" rtlCol="0" anchor="t"/>
          <a:lstStyle/>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"8GB RAM" on a phone box = DRAM, a low-power variant</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Cache sizes in CPU specs (L1/L2/L3) = SRAM, on-chip</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Gaming/AI GPUs use specialized high-bandwidth DRAM</a:t>
            </a:r>
            <a:endParaRPr lang="en-US" sz="1900" dirty="0"/>
          </a:p>
        </p:txBody>
      </p:sp>
      <p:sp>
        <p:nvSpPr>
          <p:cNvPr id="18" name="Text 13"/>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19" name="Text 14"/>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18</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ORGANIZATION</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Address Lines and Word Size</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Capacity = (number of words) × (bits per word)</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Address lines needed = log₂(number of words)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Data lines needed = word size (bits per word)</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Notation: "1K × 8" = 1024 words, each 8 bits wide</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19</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Finding Address Lines</a:t>
            </a:r>
            <a:endParaRPr lang="en-US" sz="3600" dirty="0"/>
          </a:p>
        </p:txBody>
      </p:sp>
      <p:sp>
        <p:nvSpPr>
          <p:cNvPr id="4" name="Shape 2"/>
          <p:cNvSpPr/>
          <p:nvPr/>
        </p:nvSpPr>
        <p:spPr>
          <a:xfrm>
            <a:off x="548640" y="1600200"/>
            <a:ext cx="11064240" cy="777240"/>
          </a:xfrm>
          <a:prstGeom prst="roundRect">
            <a:avLst>
              <a:gd name="adj" fmla="val 9412"/>
            </a:avLst>
          </a:prstGeom>
          <a:solidFill>
            <a:srgbClr val="1E2761"/>
          </a:solidFill>
          <a:ln/>
        </p:spPr>
      </p:sp>
      <p:sp>
        <p:nvSpPr>
          <p:cNvPr id="5" name="Text 3"/>
          <p:cNvSpPr txBox="1"/>
          <p:nvPr/>
        </p:nvSpPr>
        <p:spPr>
          <a:xfrm>
            <a:off x="822960" y="1600200"/>
            <a:ext cx="10515600" cy="777240"/>
          </a:xfrm>
          <a:prstGeom prst="rect">
            <a:avLst/>
          </a:prstGeom>
          <a:noFill/>
          <a:ln/>
        </p:spPr>
        <p:txBody>
          <a:bodyPr wrap="square" lIns="25400" tIns="25400" rIns="25400" bIns="254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Problem: A memory chip has capacity 1K × 8. Find the address and data lines.</a:t>
            </a:r>
            <a:endParaRPr lang="en-US" sz="2000" dirty="0"/>
          </a:p>
        </p:txBody>
      </p:sp>
      <p:sp>
        <p:nvSpPr>
          <p:cNvPr id="6" name="Text 4"/>
          <p:cNvSpPr txBox="1"/>
          <p:nvPr/>
        </p:nvSpPr>
        <p:spPr>
          <a:xfrm>
            <a:off x="548640" y="2514600"/>
            <a:ext cx="11064240" cy="36576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Given: 1K words = 1024 words, 8 bits per word</a:t>
            </a:r>
            <a:endParaRPr lang="en-US" sz="2000" dirty="0"/>
          </a:p>
        </p:txBody>
      </p:sp>
      <p:sp>
        <p:nvSpPr>
          <p:cNvPr id="7" name="Shape 5"/>
          <p:cNvSpPr/>
          <p:nvPr/>
        </p:nvSpPr>
        <p:spPr>
          <a:xfrm>
            <a:off x="548640" y="3017520"/>
            <a:ext cx="3505200" cy="1097280"/>
          </a:xfrm>
          <a:prstGeom prst="roundRect">
            <a:avLst>
              <a:gd name="adj" fmla="val 6667"/>
            </a:avLst>
          </a:prstGeom>
          <a:solidFill>
            <a:srgbClr val="E7EEFC"/>
          </a:solidFill>
          <a:ln w="12700">
            <a:solidFill>
              <a:srgbClr val="CADCFC"/>
            </a:solidFill>
            <a:prstDash val="solid"/>
          </a:ln>
        </p:spPr>
      </p:sp>
      <p:sp>
        <p:nvSpPr>
          <p:cNvPr id="8" name="Text 6"/>
          <p:cNvSpPr txBox="1"/>
          <p:nvPr/>
        </p:nvSpPr>
        <p:spPr>
          <a:xfrm>
            <a:off x="54864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1</a:t>
            </a:r>
            <a:endParaRPr lang="en-US" sz="2000" dirty="0"/>
          </a:p>
        </p:txBody>
      </p:sp>
      <p:sp>
        <p:nvSpPr>
          <p:cNvPr id="9" name="Text 7"/>
          <p:cNvSpPr txBox="1"/>
          <p:nvPr/>
        </p:nvSpPr>
        <p:spPr>
          <a:xfrm>
            <a:off x="64008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Address lines = log₂(1024)</a:t>
            </a:r>
            <a:endParaRPr lang="en-US" sz="2000" dirty="0"/>
          </a:p>
        </p:txBody>
      </p:sp>
      <p:sp>
        <p:nvSpPr>
          <p:cNvPr id="10" name="Shape 8"/>
          <p:cNvSpPr/>
          <p:nvPr/>
        </p:nvSpPr>
        <p:spPr>
          <a:xfrm>
            <a:off x="4053840" y="3566160"/>
            <a:ext cx="274320" cy="0"/>
          </a:xfrm>
          <a:prstGeom prst="line">
            <a:avLst/>
          </a:prstGeom>
          <a:noFill/>
          <a:ln w="25400">
            <a:solidFill>
              <a:srgbClr val="D4AF37"/>
            </a:solidFill>
            <a:prstDash val="solid"/>
            <a:tailEnd type="triangle"/>
          </a:ln>
        </p:spPr>
      </p:sp>
      <p:sp>
        <p:nvSpPr>
          <p:cNvPr id="11" name="Shape 9"/>
          <p:cNvSpPr/>
          <p:nvPr/>
        </p:nvSpPr>
        <p:spPr>
          <a:xfrm>
            <a:off x="4328160" y="3017520"/>
            <a:ext cx="3505200" cy="1097280"/>
          </a:xfrm>
          <a:prstGeom prst="roundRect">
            <a:avLst>
              <a:gd name="adj" fmla="val 6667"/>
            </a:avLst>
          </a:prstGeom>
          <a:solidFill>
            <a:srgbClr val="E7EEFC"/>
          </a:solidFill>
          <a:ln w="12700">
            <a:solidFill>
              <a:srgbClr val="CADCFC"/>
            </a:solidFill>
            <a:prstDash val="solid"/>
          </a:ln>
        </p:spPr>
      </p:sp>
      <p:sp>
        <p:nvSpPr>
          <p:cNvPr id="12" name="Text 10"/>
          <p:cNvSpPr txBox="1"/>
          <p:nvPr/>
        </p:nvSpPr>
        <p:spPr>
          <a:xfrm>
            <a:off x="432816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2</a:t>
            </a:r>
            <a:endParaRPr lang="en-US" sz="2000" dirty="0"/>
          </a:p>
        </p:txBody>
      </p:sp>
      <p:sp>
        <p:nvSpPr>
          <p:cNvPr id="13" name="Text 11"/>
          <p:cNvSpPr txBox="1"/>
          <p:nvPr/>
        </p:nvSpPr>
        <p:spPr>
          <a:xfrm>
            <a:off x="441960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2¹⁰ = 1024, so 10 address lines</a:t>
            </a:r>
            <a:endParaRPr lang="en-US" sz="2000" dirty="0"/>
          </a:p>
        </p:txBody>
      </p:sp>
      <p:sp>
        <p:nvSpPr>
          <p:cNvPr id="14" name="Shape 12"/>
          <p:cNvSpPr/>
          <p:nvPr/>
        </p:nvSpPr>
        <p:spPr>
          <a:xfrm>
            <a:off x="7833360" y="3566160"/>
            <a:ext cx="274320" cy="0"/>
          </a:xfrm>
          <a:prstGeom prst="line">
            <a:avLst/>
          </a:prstGeom>
          <a:noFill/>
          <a:ln w="25400">
            <a:solidFill>
              <a:srgbClr val="D4AF37"/>
            </a:solidFill>
            <a:prstDash val="solid"/>
            <a:tailEnd type="triangle"/>
          </a:ln>
        </p:spPr>
      </p:sp>
      <p:sp>
        <p:nvSpPr>
          <p:cNvPr id="15" name="Shape 13"/>
          <p:cNvSpPr/>
          <p:nvPr/>
        </p:nvSpPr>
        <p:spPr>
          <a:xfrm>
            <a:off x="8107680" y="3017520"/>
            <a:ext cx="3505200" cy="1097280"/>
          </a:xfrm>
          <a:prstGeom prst="roundRect">
            <a:avLst>
              <a:gd name="adj" fmla="val 6667"/>
            </a:avLst>
          </a:prstGeom>
          <a:solidFill>
            <a:srgbClr val="E7EEFC"/>
          </a:solidFill>
          <a:ln w="12700">
            <a:solidFill>
              <a:srgbClr val="CADCFC"/>
            </a:solidFill>
            <a:prstDash val="solid"/>
          </a:ln>
        </p:spPr>
      </p:sp>
      <p:sp>
        <p:nvSpPr>
          <p:cNvPr id="16" name="Text 14"/>
          <p:cNvSpPr txBox="1"/>
          <p:nvPr/>
        </p:nvSpPr>
        <p:spPr>
          <a:xfrm>
            <a:off x="810768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3</a:t>
            </a:r>
            <a:endParaRPr lang="en-US" sz="2000" dirty="0"/>
          </a:p>
        </p:txBody>
      </p:sp>
      <p:sp>
        <p:nvSpPr>
          <p:cNvPr id="17" name="Text 15"/>
          <p:cNvSpPr txBox="1"/>
          <p:nvPr/>
        </p:nvSpPr>
        <p:spPr>
          <a:xfrm>
            <a:off x="819912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Data lines = word size = 8 bits</a:t>
            </a:r>
            <a:endParaRPr lang="en-US" sz="2000" dirty="0"/>
          </a:p>
        </p:txBody>
      </p:sp>
      <p:sp>
        <p:nvSpPr>
          <p:cNvPr id="18" name="Shape 16"/>
          <p:cNvSpPr/>
          <p:nvPr/>
        </p:nvSpPr>
        <p:spPr>
          <a:xfrm>
            <a:off x="548640" y="4434840"/>
            <a:ext cx="11064240" cy="685800"/>
          </a:xfrm>
          <a:prstGeom prst="roundRect">
            <a:avLst>
              <a:gd name="adj" fmla="val 10667"/>
            </a:avLst>
          </a:prstGeom>
          <a:solidFill>
            <a:srgbClr val="D4AF37"/>
          </a:solidFill>
          <a:ln/>
        </p:spPr>
      </p:sp>
      <p:sp>
        <p:nvSpPr>
          <p:cNvPr id="19" name="Text 17"/>
          <p:cNvSpPr txBox="1"/>
          <p:nvPr/>
        </p:nvSpPr>
        <p:spPr>
          <a:xfrm>
            <a:off x="822960" y="4434840"/>
            <a:ext cx="10515600" cy="68580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Answer: 10 address lines, 8 data lines</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20</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A Larger Chip</a:t>
            </a:r>
            <a:endParaRPr lang="en-US" sz="3600" dirty="0"/>
          </a:p>
        </p:txBody>
      </p:sp>
      <p:sp>
        <p:nvSpPr>
          <p:cNvPr id="4" name="Shape 2"/>
          <p:cNvSpPr/>
          <p:nvPr/>
        </p:nvSpPr>
        <p:spPr>
          <a:xfrm>
            <a:off x="548640" y="1600200"/>
            <a:ext cx="11064240" cy="777240"/>
          </a:xfrm>
          <a:prstGeom prst="roundRect">
            <a:avLst>
              <a:gd name="adj" fmla="val 9412"/>
            </a:avLst>
          </a:prstGeom>
          <a:solidFill>
            <a:srgbClr val="1E2761"/>
          </a:solidFill>
          <a:ln/>
        </p:spPr>
      </p:sp>
      <p:sp>
        <p:nvSpPr>
          <p:cNvPr id="5" name="Text 3"/>
          <p:cNvSpPr txBox="1"/>
          <p:nvPr/>
        </p:nvSpPr>
        <p:spPr>
          <a:xfrm>
            <a:off x="822960" y="1600200"/>
            <a:ext cx="10515600" cy="777240"/>
          </a:xfrm>
          <a:prstGeom prst="rect">
            <a:avLst/>
          </a:prstGeom>
          <a:noFill/>
          <a:ln/>
        </p:spPr>
        <p:txBody>
          <a:bodyPr wrap="square" lIns="25400" tIns="25400" rIns="25400" bIns="254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Problem: A memory chip is 64K × 16. Find the address and data lines.</a:t>
            </a:r>
            <a:endParaRPr lang="en-US" sz="2000" dirty="0"/>
          </a:p>
        </p:txBody>
      </p:sp>
      <p:sp>
        <p:nvSpPr>
          <p:cNvPr id="6" name="Text 4"/>
          <p:cNvSpPr txBox="1"/>
          <p:nvPr/>
        </p:nvSpPr>
        <p:spPr>
          <a:xfrm>
            <a:off x="548640" y="2514600"/>
            <a:ext cx="11064240" cy="36576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Given: 64K words = 65,536 words, 16 bits per word</a:t>
            </a:r>
            <a:endParaRPr lang="en-US" sz="2000" dirty="0"/>
          </a:p>
        </p:txBody>
      </p:sp>
      <p:sp>
        <p:nvSpPr>
          <p:cNvPr id="7" name="Shape 5"/>
          <p:cNvSpPr/>
          <p:nvPr/>
        </p:nvSpPr>
        <p:spPr>
          <a:xfrm>
            <a:off x="548640" y="3017520"/>
            <a:ext cx="3505200" cy="1097280"/>
          </a:xfrm>
          <a:prstGeom prst="roundRect">
            <a:avLst>
              <a:gd name="adj" fmla="val 6667"/>
            </a:avLst>
          </a:prstGeom>
          <a:solidFill>
            <a:srgbClr val="E7EEFC"/>
          </a:solidFill>
          <a:ln w="12700">
            <a:solidFill>
              <a:srgbClr val="CADCFC"/>
            </a:solidFill>
            <a:prstDash val="solid"/>
          </a:ln>
        </p:spPr>
      </p:sp>
      <p:sp>
        <p:nvSpPr>
          <p:cNvPr id="8" name="Text 6"/>
          <p:cNvSpPr txBox="1"/>
          <p:nvPr/>
        </p:nvSpPr>
        <p:spPr>
          <a:xfrm>
            <a:off x="54864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1</a:t>
            </a:r>
            <a:endParaRPr lang="en-US" sz="2000" dirty="0"/>
          </a:p>
        </p:txBody>
      </p:sp>
      <p:sp>
        <p:nvSpPr>
          <p:cNvPr id="9" name="Text 7"/>
          <p:cNvSpPr txBox="1"/>
          <p:nvPr/>
        </p:nvSpPr>
        <p:spPr>
          <a:xfrm>
            <a:off x="64008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Address lines = log₂(65,536)</a:t>
            </a:r>
            <a:endParaRPr lang="en-US" sz="2000" dirty="0"/>
          </a:p>
        </p:txBody>
      </p:sp>
      <p:sp>
        <p:nvSpPr>
          <p:cNvPr id="10" name="Shape 8"/>
          <p:cNvSpPr/>
          <p:nvPr/>
        </p:nvSpPr>
        <p:spPr>
          <a:xfrm>
            <a:off x="4053840" y="3566160"/>
            <a:ext cx="274320" cy="0"/>
          </a:xfrm>
          <a:prstGeom prst="line">
            <a:avLst/>
          </a:prstGeom>
          <a:noFill/>
          <a:ln w="25400">
            <a:solidFill>
              <a:srgbClr val="D4AF37"/>
            </a:solidFill>
            <a:prstDash val="solid"/>
            <a:tailEnd type="triangle"/>
          </a:ln>
        </p:spPr>
      </p:sp>
      <p:sp>
        <p:nvSpPr>
          <p:cNvPr id="11" name="Shape 9"/>
          <p:cNvSpPr/>
          <p:nvPr/>
        </p:nvSpPr>
        <p:spPr>
          <a:xfrm>
            <a:off x="4328160" y="3017520"/>
            <a:ext cx="3505200" cy="1097280"/>
          </a:xfrm>
          <a:prstGeom prst="roundRect">
            <a:avLst>
              <a:gd name="adj" fmla="val 6667"/>
            </a:avLst>
          </a:prstGeom>
          <a:solidFill>
            <a:srgbClr val="E7EEFC"/>
          </a:solidFill>
          <a:ln w="12700">
            <a:solidFill>
              <a:srgbClr val="CADCFC"/>
            </a:solidFill>
            <a:prstDash val="solid"/>
          </a:ln>
        </p:spPr>
      </p:sp>
      <p:sp>
        <p:nvSpPr>
          <p:cNvPr id="12" name="Text 10"/>
          <p:cNvSpPr txBox="1"/>
          <p:nvPr/>
        </p:nvSpPr>
        <p:spPr>
          <a:xfrm>
            <a:off x="432816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2</a:t>
            </a:r>
            <a:endParaRPr lang="en-US" sz="2000" dirty="0"/>
          </a:p>
        </p:txBody>
      </p:sp>
      <p:sp>
        <p:nvSpPr>
          <p:cNvPr id="13" name="Text 11"/>
          <p:cNvSpPr txBox="1"/>
          <p:nvPr/>
        </p:nvSpPr>
        <p:spPr>
          <a:xfrm>
            <a:off x="441960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2¹⁶ = 65,536, so 16 address lines</a:t>
            </a:r>
            <a:endParaRPr lang="en-US" sz="2000" dirty="0"/>
          </a:p>
        </p:txBody>
      </p:sp>
      <p:sp>
        <p:nvSpPr>
          <p:cNvPr id="14" name="Shape 12"/>
          <p:cNvSpPr/>
          <p:nvPr/>
        </p:nvSpPr>
        <p:spPr>
          <a:xfrm>
            <a:off x="7833360" y="3566160"/>
            <a:ext cx="274320" cy="0"/>
          </a:xfrm>
          <a:prstGeom prst="line">
            <a:avLst/>
          </a:prstGeom>
          <a:noFill/>
          <a:ln w="25400">
            <a:solidFill>
              <a:srgbClr val="D4AF37"/>
            </a:solidFill>
            <a:prstDash val="solid"/>
            <a:tailEnd type="triangle"/>
          </a:ln>
        </p:spPr>
      </p:sp>
      <p:sp>
        <p:nvSpPr>
          <p:cNvPr id="15" name="Shape 13"/>
          <p:cNvSpPr/>
          <p:nvPr/>
        </p:nvSpPr>
        <p:spPr>
          <a:xfrm>
            <a:off x="8107680" y="3017520"/>
            <a:ext cx="3505200" cy="1097280"/>
          </a:xfrm>
          <a:prstGeom prst="roundRect">
            <a:avLst>
              <a:gd name="adj" fmla="val 6667"/>
            </a:avLst>
          </a:prstGeom>
          <a:solidFill>
            <a:srgbClr val="E7EEFC"/>
          </a:solidFill>
          <a:ln w="12700">
            <a:solidFill>
              <a:srgbClr val="CADCFC"/>
            </a:solidFill>
            <a:prstDash val="solid"/>
          </a:ln>
        </p:spPr>
      </p:sp>
      <p:sp>
        <p:nvSpPr>
          <p:cNvPr id="16" name="Text 14"/>
          <p:cNvSpPr txBox="1"/>
          <p:nvPr/>
        </p:nvSpPr>
        <p:spPr>
          <a:xfrm>
            <a:off x="810768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3</a:t>
            </a:r>
            <a:endParaRPr lang="en-US" sz="2000" dirty="0"/>
          </a:p>
        </p:txBody>
      </p:sp>
      <p:sp>
        <p:nvSpPr>
          <p:cNvPr id="17" name="Text 15"/>
          <p:cNvSpPr txBox="1"/>
          <p:nvPr/>
        </p:nvSpPr>
        <p:spPr>
          <a:xfrm>
            <a:off x="819912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Data lines = word size = 16 bits</a:t>
            </a:r>
            <a:endParaRPr lang="en-US" sz="2000" dirty="0"/>
          </a:p>
        </p:txBody>
      </p:sp>
      <p:sp>
        <p:nvSpPr>
          <p:cNvPr id="18" name="Shape 16"/>
          <p:cNvSpPr/>
          <p:nvPr/>
        </p:nvSpPr>
        <p:spPr>
          <a:xfrm>
            <a:off x="548640" y="4434840"/>
            <a:ext cx="11064240" cy="685800"/>
          </a:xfrm>
          <a:prstGeom prst="roundRect">
            <a:avLst>
              <a:gd name="adj" fmla="val 10667"/>
            </a:avLst>
          </a:prstGeom>
          <a:solidFill>
            <a:srgbClr val="D4AF37"/>
          </a:solidFill>
          <a:ln/>
        </p:spPr>
      </p:sp>
      <p:sp>
        <p:nvSpPr>
          <p:cNvPr id="19" name="Text 17"/>
          <p:cNvSpPr txBox="1"/>
          <p:nvPr/>
        </p:nvSpPr>
        <p:spPr>
          <a:xfrm>
            <a:off x="822960" y="4434840"/>
            <a:ext cx="10515600" cy="68580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Answer: 16 address lines, 16 data lines</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21</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INTERNAL ORGANIZATION</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Inside a Memory Chip</a:t>
            </a:r>
            <a:endParaRPr lang="en-US" sz="3600" dirty="0"/>
          </a:p>
        </p:txBody>
      </p:sp>
      <p:sp>
        <p:nvSpPr>
          <p:cNvPr id="4" name="Shape 2"/>
          <p:cNvSpPr/>
          <p:nvPr/>
        </p:nvSpPr>
        <p:spPr>
          <a:xfrm>
            <a:off x="640080" y="1691640"/>
            <a:ext cx="1737360" cy="822960"/>
          </a:xfrm>
          <a:prstGeom prst="roundRect">
            <a:avLst>
              <a:gd name="adj" fmla="val 8889"/>
            </a:avLst>
          </a:prstGeom>
          <a:solidFill>
            <a:srgbClr val="E7EEFC"/>
          </a:solidFill>
          <a:ln w="12700">
            <a:solidFill>
              <a:srgbClr val="1E2761"/>
            </a:solidFill>
            <a:prstDash val="solid"/>
          </a:ln>
        </p:spPr>
      </p:sp>
      <p:sp>
        <p:nvSpPr>
          <p:cNvPr id="5" name="Text 3"/>
          <p:cNvSpPr txBox="1"/>
          <p:nvPr/>
        </p:nvSpPr>
        <p:spPr>
          <a:xfrm>
            <a:off x="640080" y="1828800"/>
            <a:ext cx="1737360" cy="59436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Address In</a:t>
            </a:r>
            <a:endParaRPr lang="en-US" sz="2000" dirty="0"/>
          </a:p>
        </p:txBody>
      </p:sp>
      <p:sp>
        <p:nvSpPr>
          <p:cNvPr id="6" name="Shape 4"/>
          <p:cNvSpPr/>
          <p:nvPr/>
        </p:nvSpPr>
        <p:spPr>
          <a:xfrm>
            <a:off x="2377440" y="2103120"/>
            <a:ext cx="365760" cy="0"/>
          </a:xfrm>
          <a:prstGeom prst="line">
            <a:avLst/>
          </a:prstGeom>
          <a:noFill/>
          <a:ln w="31750">
            <a:solidFill>
              <a:srgbClr val="D4AF37"/>
            </a:solidFill>
            <a:prstDash val="solid"/>
            <a:tailEnd type="triangle"/>
          </a:ln>
        </p:spPr>
      </p:sp>
      <p:sp>
        <p:nvSpPr>
          <p:cNvPr id="7" name="Shape 5"/>
          <p:cNvSpPr/>
          <p:nvPr/>
        </p:nvSpPr>
        <p:spPr>
          <a:xfrm>
            <a:off x="2743200" y="1691640"/>
            <a:ext cx="1737360" cy="822960"/>
          </a:xfrm>
          <a:prstGeom prst="roundRect">
            <a:avLst>
              <a:gd name="adj" fmla="val 8889"/>
            </a:avLst>
          </a:prstGeom>
          <a:solidFill>
            <a:srgbClr val="1E2761"/>
          </a:solidFill>
          <a:ln w="12700">
            <a:solidFill>
              <a:srgbClr val="1E2761"/>
            </a:solidFill>
            <a:prstDash val="solid"/>
          </a:ln>
        </p:spPr>
      </p:sp>
      <p:sp>
        <p:nvSpPr>
          <p:cNvPr id="8" name="Text 6"/>
          <p:cNvSpPr txBox="1"/>
          <p:nvPr/>
        </p:nvSpPr>
        <p:spPr>
          <a:xfrm>
            <a:off x="2743200" y="1828800"/>
            <a:ext cx="1737360" cy="59436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Decoder</a:t>
            </a:r>
            <a:endParaRPr lang="en-US" sz="2000" dirty="0"/>
          </a:p>
        </p:txBody>
      </p:sp>
      <p:sp>
        <p:nvSpPr>
          <p:cNvPr id="9" name="Shape 7"/>
          <p:cNvSpPr/>
          <p:nvPr/>
        </p:nvSpPr>
        <p:spPr>
          <a:xfrm>
            <a:off x="4480560" y="2103120"/>
            <a:ext cx="365760" cy="0"/>
          </a:xfrm>
          <a:prstGeom prst="line">
            <a:avLst/>
          </a:prstGeom>
          <a:noFill/>
          <a:ln w="31750">
            <a:solidFill>
              <a:srgbClr val="D4AF37"/>
            </a:solidFill>
            <a:prstDash val="solid"/>
            <a:tailEnd type="triangle"/>
          </a:ln>
        </p:spPr>
      </p:sp>
      <p:sp>
        <p:nvSpPr>
          <p:cNvPr id="10" name="Shape 8"/>
          <p:cNvSpPr/>
          <p:nvPr/>
        </p:nvSpPr>
        <p:spPr>
          <a:xfrm>
            <a:off x="4846320" y="1691640"/>
            <a:ext cx="1920240" cy="822960"/>
          </a:xfrm>
          <a:prstGeom prst="roundRect">
            <a:avLst>
              <a:gd name="adj" fmla="val 8889"/>
            </a:avLst>
          </a:prstGeom>
          <a:solidFill>
            <a:srgbClr val="1E2761"/>
          </a:solidFill>
          <a:ln w="12700">
            <a:solidFill>
              <a:srgbClr val="1E2761"/>
            </a:solidFill>
            <a:prstDash val="solid"/>
          </a:ln>
        </p:spPr>
      </p:sp>
      <p:sp>
        <p:nvSpPr>
          <p:cNvPr id="11" name="Text 9"/>
          <p:cNvSpPr txBox="1"/>
          <p:nvPr/>
        </p:nvSpPr>
        <p:spPr>
          <a:xfrm>
            <a:off x="4846320" y="1828800"/>
            <a:ext cx="1920240" cy="59436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Memory</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Cell Array</a:t>
            </a:r>
            <a:endParaRPr lang="en-US" sz="2000" dirty="0"/>
          </a:p>
        </p:txBody>
      </p:sp>
      <p:sp>
        <p:nvSpPr>
          <p:cNvPr id="12" name="Shape 10"/>
          <p:cNvSpPr/>
          <p:nvPr/>
        </p:nvSpPr>
        <p:spPr>
          <a:xfrm>
            <a:off x="6766560" y="2103120"/>
            <a:ext cx="365760" cy="0"/>
          </a:xfrm>
          <a:prstGeom prst="line">
            <a:avLst/>
          </a:prstGeom>
          <a:noFill/>
          <a:ln w="31750">
            <a:solidFill>
              <a:srgbClr val="D4AF37"/>
            </a:solidFill>
            <a:prstDash val="solid"/>
            <a:tailEnd type="triangle"/>
          </a:ln>
        </p:spPr>
      </p:sp>
      <p:sp>
        <p:nvSpPr>
          <p:cNvPr id="13" name="Shape 11"/>
          <p:cNvSpPr/>
          <p:nvPr/>
        </p:nvSpPr>
        <p:spPr>
          <a:xfrm>
            <a:off x="7132320" y="1691640"/>
            <a:ext cx="1737360" cy="822960"/>
          </a:xfrm>
          <a:prstGeom prst="roundRect">
            <a:avLst>
              <a:gd name="adj" fmla="val 8889"/>
            </a:avLst>
          </a:prstGeom>
          <a:solidFill>
            <a:srgbClr val="E7EEFC"/>
          </a:solidFill>
          <a:ln w="12700">
            <a:solidFill>
              <a:srgbClr val="1E2761"/>
            </a:solidFill>
            <a:prstDash val="solid"/>
          </a:ln>
        </p:spPr>
      </p:sp>
      <p:sp>
        <p:nvSpPr>
          <p:cNvPr id="14" name="Text 12"/>
          <p:cNvSpPr txBox="1"/>
          <p:nvPr/>
        </p:nvSpPr>
        <p:spPr>
          <a:xfrm>
            <a:off x="7132320" y="1828800"/>
            <a:ext cx="1737360" cy="59436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Data Out</a:t>
            </a:r>
            <a:endParaRPr lang="en-US" sz="2000" dirty="0"/>
          </a:p>
        </p:txBody>
      </p:sp>
      <p:sp>
        <p:nvSpPr>
          <p:cNvPr id="15" name="Shape 13"/>
          <p:cNvSpPr/>
          <p:nvPr/>
        </p:nvSpPr>
        <p:spPr>
          <a:xfrm>
            <a:off x="2743200" y="2971800"/>
            <a:ext cx="1737360" cy="594360"/>
          </a:xfrm>
          <a:prstGeom prst="roundRect">
            <a:avLst>
              <a:gd name="adj" fmla="val 12308"/>
            </a:avLst>
          </a:prstGeom>
          <a:solidFill>
            <a:srgbClr val="D4AF37"/>
          </a:solidFill>
          <a:ln/>
        </p:spPr>
      </p:sp>
      <p:sp>
        <p:nvSpPr>
          <p:cNvPr id="16" name="Text 14"/>
          <p:cNvSpPr txBox="1"/>
          <p:nvPr/>
        </p:nvSpPr>
        <p:spPr>
          <a:xfrm>
            <a:off x="2743200" y="3044952"/>
            <a:ext cx="1737360" cy="45720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CS · R/W Control</a:t>
            </a:r>
            <a:endParaRPr lang="en-US" sz="2000" dirty="0"/>
          </a:p>
        </p:txBody>
      </p:sp>
      <p:sp>
        <p:nvSpPr>
          <p:cNvPr id="17" name="Shape 15"/>
          <p:cNvSpPr/>
          <p:nvPr/>
        </p:nvSpPr>
        <p:spPr>
          <a:xfrm>
            <a:off x="3611880" y="2971800"/>
            <a:ext cx="0" cy="0"/>
          </a:xfrm>
          <a:prstGeom prst="line">
            <a:avLst/>
          </a:prstGeom>
          <a:noFill/>
          <a:ln w="31750">
            <a:solidFill>
              <a:srgbClr val="D4AF37"/>
            </a:solidFill>
            <a:prstDash val="solid"/>
            <a:tailEnd type="triangle"/>
          </a:ln>
        </p:spPr>
      </p:sp>
      <p:sp>
        <p:nvSpPr>
          <p:cNvPr id="18" name="Text 16"/>
          <p:cNvSpPr txBox="1"/>
          <p:nvPr/>
        </p:nvSpPr>
        <p:spPr>
          <a:xfrm>
            <a:off x="640080" y="3977640"/>
            <a:ext cx="10881360" cy="210312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Decoder converts the binary address to select one word</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Chip Select (CS) activates the chip when addressed</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Read/Write (R/W) line sets the operation type</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Together they turn an address into real electrical signals</a:t>
            </a:r>
            <a:endParaRPr lang="en-US" sz="2000" dirty="0"/>
          </a:p>
        </p:txBody>
      </p:sp>
      <p:sp>
        <p:nvSpPr>
          <p:cNvPr id="19" name="Text 17"/>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0" name="Text 18"/>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22</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EXPANSION</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Increasing Word Size</a:t>
            </a:r>
            <a:endParaRPr lang="en-US" sz="3600" dirty="0"/>
          </a:p>
        </p:txBody>
      </p:sp>
      <p:sp>
        <p:nvSpPr>
          <p:cNvPr id="4" name="Shape 2"/>
          <p:cNvSpPr/>
          <p:nvPr/>
        </p:nvSpPr>
        <p:spPr>
          <a:xfrm>
            <a:off x="1005840" y="2011680"/>
            <a:ext cx="1371600" cy="1188720"/>
          </a:xfrm>
          <a:prstGeom prst="roundRect">
            <a:avLst>
              <a:gd name="adj" fmla="val 6154"/>
            </a:avLst>
          </a:prstGeom>
          <a:solidFill>
            <a:srgbClr val="1E2761"/>
          </a:solidFill>
          <a:ln w="19050">
            <a:solidFill>
              <a:srgbClr val="D4AF37"/>
            </a:solidFill>
            <a:prstDash val="solid"/>
          </a:ln>
        </p:spPr>
      </p:sp>
      <p:sp>
        <p:nvSpPr>
          <p:cNvPr id="5" name="Text 3"/>
          <p:cNvSpPr txBox="1"/>
          <p:nvPr/>
        </p:nvSpPr>
        <p:spPr>
          <a:xfrm>
            <a:off x="1005840" y="2331720"/>
            <a:ext cx="1371600" cy="54864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Chip 1</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4-bit</a:t>
            </a:r>
            <a:endParaRPr lang="en-US" sz="2000" dirty="0"/>
          </a:p>
        </p:txBody>
      </p:sp>
      <p:sp>
        <p:nvSpPr>
          <p:cNvPr id="6" name="Shape 4"/>
          <p:cNvSpPr/>
          <p:nvPr/>
        </p:nvSpPr>
        <p:spPr>
          <a:xfrm>
            <a:off x="1691640" y="1691640"/>
            <a:ext cx="0" cy="320040"/>
          </a:xfrm>
          <a:prstGeom prst="line">
            <a:avLst/>
          </a:prstGeom>
          <a:noFill/>
          <a:ln w="25400">
            <a:solidFill>
              <a:srgbClr val="1E2761"/>
            </a:solidFill>
            <a:prstDash val="solid"/>
          </a:ln>
        </p:spPr>
      </p:sp>
      <p:sp>
        <p:nvSpPr>
          <p:cNvPr id="7" name="Shape 5"/>
          <p:cNvSpPr/>
          <p:nvPr/>
        </p:nvSpPr>
        <p:spPr>
          <a:xfrm>
            <a:off x="2697480" y="2011680"/>
            <a:ext cx="1371600" cy="1188720"/>
          </a:xfrm>
          <a:prstGeom prst="roundRect">
            <a:avLst>
              <a:gd name="adj" fmla="val 6154"/>
            </a:avLst>
          </a:prstGeom>
          <a:solidFill>
            <a:srgbClr val="1E2761"/>
          </a:solidFill>
          <a:ln w="19050">
            <a:solidFill>
              <a:srgbClr val="D4AF37"/>
            </a:solidFill>
            <a:prstDash val="solid"/>
          </a:ln>
        </p:spPr>
      </p:sp>
      <p:sp>
        <p:nvSpPr>
          <p:cNvPr id="8" name="Text 6"/>
          <p:cNvSpPr txBox="1"/>
          <p:nvPr/>
        </p:nvSpPr>
        <p:spPr>
          <a:xfrm>
            <a:off x="2697480" y="2331720"/>
            <a:ext cx="1371600" cy="54864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Chip 2</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4-bit</a:t>
            </a:r>
            <a:endParaRPr lang="en-US" sz="2000" dirty="0"/>
          </a:p>
        </p:txBody>
      </p:sp>
      <p:sp>
        <p:nvSpPr>
          <p:cNvPr id="9" name="Shape 7"/>
          <p:cNvSpPr/>
          <p:nvPr/>
        </p:nvSpPr>
        <p:spPr>
          <a:xfrm>
            <a:off x="3383280" y="1691640"/>
            <a:ext cx="0" cy="320040"/>
          </a:xfrm>
          <a:prstGeom prst="line">
            <a:avLst/>
          </a:prstGeom>
          <a:noFill/>
          <a:ln w="25400">
            <a:solidFill>
              <a:srgbClr val="1E2761"/>
            </a:solidFill>
            <a:prstDash val="solid"/>
          </a:ln>
        </p:spPr>
      </p:sp>
      <p:sp>
        <p:nvSpPr>
          <p:cNvPr id="10" name="Shape 8"/>
          <p:cNvSpPr/>
          <p:nvPr/>
        </p:nvSpPr>
        <p:spPr>
          <a:xfrm>
            <a:off x="4389120" y="2011680"/>
            <a:ext cx="1371600" cy="1188720"/>
          </a:xfrm>
          <a:prstGeom prst="roundRect">
            <a:avLst>
              <a:gd name="adj" fmla="val 6154"/>
            </a:avLst>
          </a:prstGeom>
          <a:solidFill>
            <a:srgbClr val="1E2761"/>
          </a:solidFill>
          <a:ln w="19050">
            <a:solidFill>
              <a:srgbClr val="D4AF37"/>
            </a:solidFill>
            <a:prstDash val="solid"/>
          </a:ln>
        </p:spPr>
      </p:sp>
      <p:sp>
        <p:nvSpPr>
          <p:cNvPr id="11" name="Text 9"/>
          <p:cNvSpPr txBox="1"/>
          <p:nvPr/>
        </p:nvSpPr>
        <p:spPr>
          <a:xfrm>
            <a:off x="4389120" y="2331720"/>
            <a:ext cx="1371600" cy="54864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Chip 3</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4-bit</a:t>
            </a:r>
            <a:endParaRPr lang="en-US" sz="2000" dirty="0"/>
          </a:p>
        </p:txBody>
      </p:sp>
      <p:sp>
        <p:nvSpPr>
          <p:cNvPr id="12" name="Shape 10"/>
          <p:cNvSpPr/>
          <p:nvPr/>
        </p:nvSpPr>
        <p:spPr>
          <a:xfrm>
            <a:off x="5074920" y="1691640"/>
            <a:ext cx="0" cy="320040"/>
          </a:xfrm>
          <a:prstGeom prst="line">
            <a:avLst/>
          </a:prstGeom>
          <a:noFill/>
          <a:ln w="25400">
            <a:solidFill>
              <a:srgbClr val="1E2761"/>
            </a:solidFill>
            <a:prstDash val="solid"/>
          </a:ln>
        </p:spPr>
      </p:sp>
      <p:sp>
        <p:nvSpPr>
          <p:cNvPr id="13" name="Shape 11"/>
          <p:cNvSpPr/>
          <p:nvPr/>
        </p:nvSpPr>
        <p:spPr>
          <a:xfrm>
            <a:off x="6080760" y="2011680"/>
            <a:ext cx="1371600" cy="1188720"/>
          </a:xfrm>
          <a:prstGeom prst="roundRect">
            <a:avLst>
              <a:gd name="adj" fmla="val 6154"/>
            </a:avLst>
          </a:prstGeom>
          <a:solidFill>
            <a:srgbClr val="1E2761"/>
          </a:solidFill>
          <a:ln w="19050">
            <a:solidFill>
              <a:srgbClr val="D4AF37"/>
            </a:solidFill>
            <a:prstDash val="solid"/>
          </a:ln>
        </p:spPr>
      </p:sp>
      <p:sp>
        <p:nvSpPr>
          <p:cNvPr id="14" name="Text 12"/>
          <p:cNvSpPr txBox="1"/>
          <p:nvPr/>
        </p:nvSpPr>
        <p:spPr>
          <a:xfrm>
            <a:off x="6080760" y="2331720"/>
            <a:ext cx="1371600" cy="54864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Chip 4</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4-bit</a:t>
            </a:r>
            <a:endParaRPr lang="en-US" sz="2000" dirty="0"/>
          </a:p>
        </p:txBody>
      </p:sp>
      <p:sp>
        <p:nvSpPr>
          <p:cNvPr id="15" name="Shape 13"/>
          <p:cNvSpPr/>
          <p:nvPr/>
        </p:nvSpPr>
        <p:spPr>
          <a:xfrm>
            <a:off x="6766560" y="1691640"/>
            <a:ext cx="0" cy="320040"/>
          </a:xfrm>
          <a:prstGeom prst="line">
            <a:avLst/>
          </a:prstGeom>
          <a:noFill/>
          <a:ln w="25400">
            <a:solidFill>
              <a:srgbClr val="1E2761"/>
            </a:solidFill>
            <a:prstDash val="solid"/>
          </a:ln>
        </p:spPr>
      </p:sp>
      <p:sp>
        <p:nvSpPr>
          <p:cNvPr id="16" name="Shape 14"/>
          <p:cNvSpPr/>
          <p:nvPr/>
        </p:nvSpPr>
        <p:spPr>
          <a:xfrm>
            <a:off x="1005840" y="1691640"/>
            <a:ext cx="6446520" cy="0"/>
          </a:xfrm>
          <a:prstGeom prst="line">
            <a:avLst/>
          </a:prstGeom>
          <a:noFill/>
          <a:ln w="25400">
            <a:solidFill>
              <a:srgbClr val="1E2761"/>
            </a:solidFill>
            <a:prstDash val="solid"/>
          </a:ln>
        </p:spPr>
      </p:sp>
      <p:sp>
        <p:nvSpPr>
          <p:cNvPr id="17" name="Text 15"/>
          <p:cNvSpPr txBox="1"/>
          <p:nvPr/>
        </p:nvSpPr>
        <p:spPr>
          <a:xfrm>
            <a:off x="1005840" y="1325880"/>
            <a:ext cx="5486400" cy="32004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Shared Address Bus</a:t>
            </a:r>
            <a:endParaRPr lang="en-US" sz="2000" dirty="0"/>
          </a:p>
        </p:txBody>
      </p:sp>
      <p:sp>
        <p:nvSpPr>
          <p:cNvPr id="18" name="Shape 16"/>
          <p:cNvSpPr/>
          <p:nvPr/>
        </p:nvSpPr>
        <p:spPr>
          <a:xfrm>
            <a:off x="1691640" y="3200400"/>
            <a:ext cx="0" cy="320040"/>
          </a:xfrm>
          <a:prstGeom prst="line">
            <a:avLst/>
          </a:prstGeom>
          <a:noFill/>
          <a:ln w="25400">
            <a:solidFill>
              <a:srgbClr val="D4AF37"/>
            </a:solidFill>
            <a:prstDash val="solid"/>
          </a:ln>
        </p:spPr>
      </p:sp>
      <p:sp>
        <p:nvSpPr>
          <p:cNvPr id="19" name="Shape 17"/>
          <p:cNvSpPr/>
          <p:nvPr/>
        </p:nvSpPr>
        <p:spPr>
          <a:xfrm>
            <a:off x="3383280" y="3200400"/>
            <a:ext cx="0" cy="320040"/>
          </a:xfrm>
          <a:prstGeom prst="line">
            <a:avLst/>
          </a:prstGeom>
          <a:noFill/>
          <a:ln w="25400">
            <a:solidFill>
              <a:srgbClr val="D4AF37"/>
            </a:solidFill>
            <a:prstDash val="solid"/>
          </a:ln>
        </p:spPr>
      </p:sp>
      <p:sp>
        <p:nvSpPr>
          <p:cNvPr id="20" name="Shape 18"/>
          <p:cNvSpPr/>
          <p:nvPr/>
        </p:nvSpPr>
        <p:spPr>
          <a:xfrm>
            <a:off x="5074920" y="3200400"/>
            <a:ext cx="0" cy="320040"/>
          </a:xfrm>
          <a:prstGeom prst="line">
            <a:avLst/>
          </a:prstGeom>
          <a:noFill/>
          <a:ln w="25400">
            <a:solidFill>
              <a:srgbClr val="D4AF37"/>
            </a:solidFill>
            <a:prstDash val="solid"/>
          </a:ln>
        </p:spPr>
      </p:sp>
      <p:sp>
        <p:nvSpPr>
          <p:cNvPr id="21" name="Shape 19"/>
          <p:cNvSpPr/>
          <p:nvPr/>
        </p:nvSpPr>
        <p:spPr>
          <a:xfrm>
            <a:off x="6766560" y="3200400"/>
            <a:ext cx="0" cy="320040"/>
          </a:xfrm>
          <a:prstGeom prst="line">
            <a:avLst/>
          </a:prstGeom>
          <a:noFill/>
          <a:ln w="25400">
            <a:solidFill>
              <a:srgbClr val="D4AF37"/>
            </a:solidFill>
            <a:prstDash val="solid"/>
          </a:ln>
        </p:spPr>
      </p:sp>
      <p:sp>
        <p:nvSpPr>
          <p:cNvPr id="22" name="Shape 20"/>
          <p:cNvSpPr/>
          <p:nvPr/>
        </p:nvSpPr>
        <p:spPr>
          <a:xfrm>
            <a:off x="1005840" y="3520440"/>
            <a:ext cx="6446520" cy="0"/>
          </a:xfrm>
          <a:prstGeom prst="line">
            <a:avLst/>
          </a:prstGeom>
          <a:noFill/>
          <a:ln w="38100">
            <a:solidFill>
              <a:srgbClr val="D4AF37"/>
            </a:solidFill>
            <a:prstDash val="solid"/>
          </a:ln>
        </p:spPr>
      </p:sp>
      <p:sp>
        <p:nvSpPr>
          <p:cNvPr id="23" name="Text 21"/>
          <p:cNvSpPr txBox="1"/>
          <p:nvPr/>
        </p:nvSpPr>
        <p:spPr>
          <a:xfrm>
            <a:off x="1005840" y="3611880"/>
            <a:ext cx="5943600" cy="32004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Combined 16-bit Data Bus</a:t>
            </a:r>
            <a:endParaRPr lang="en-US" sz="2000" dirty="0"/>
          </a:p>
        </p:txBody>
      </p:sp>
      <p:sp>
        <p:nvSpPr>
          <p:cNvPr id="24" name="Text 22"/>
          <p:cNvSpPr txBox="1"/>
          <p:nvPr/>
        </p:nvSpPr>
        <p:spPr>
          <a:xfrm>
            <a:off x="640080" y="4297680"/>
            <a:ext cx="10881360" cy="169164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Connect chips in parallel, sharing the same address lines</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Each chip contributes some bits of the total word</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Four 4-bit chips combine into a 16-bit-wide memory</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Address lines stay the same; data lines multiply</a:t>
            </a:r>
            <a:endParaRPr lang="en-US" sz="2000" dirty="0"/>
          </a:p>
        </p:txBody>
      </p:sp>
      <p:sp>
        <p:nvSpPr>
          <p:cNvPr id="25" name="Text 23"/>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6" name="Text 24"/>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23</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EXPANSION — 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Increasing Capacity</a:t>
            </a:r>
            <a:endParaRPr lang="en-US" sz="3600" dirty="0"/>
          </a:p>
        </p:txBody>
      </p:sp>
      <p:sp>
        <p:nvSpPr>
          <p:cNvPr id="4" name="Shape 2"/>
          <p:cNvSpPr/>
          <p:nvPr/>
        </p:nvSpPr>
        <p:spPr>
          <a:xfrm>
            <a:off x="1188720" y="1645920"/>
            <a:ext cx="2743200" cy="548640"/>
          </a:xfrm>
          <a:prstGeom prst="roundRect">
            <a:avLst>
              <a:gd name="adj" fmla="val 13333"/>
            </a:avLst>
          </a:prstGeom>
          <a:solidFill>
            <a:srgbClr val="1E2761"/>
          </a:solidFill>
          <a:ln w="19050">
            <a:solidFill>
              <a:srgbClr val="D4AF37"/>
            </a:solidFill>
            <a:prstDash val="solid"/>
          </a:ln>
        </p:spPr>
      </p:sp>
      <p:sp>
        <p:nvSpPr>
          <p:cNvPr id="5" name="Text 3"/>
          <p:cNvSpPr txBox="1"/>
          <p:nvPr/>
        </p:nvSpPr>
        <p:spPr>
          <a:xfrm>
            <a:off x="1188720" y="1645920"/>
            <a:ext cx="2743200" cy="54864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Chip 1 — 1K × 8</a:t>
            </a:r>
            <a:endParaRPr lang="en-US" sz="2000" dirty="0"/>
          </a:p>
        </p:txBody>
      </p:sp>
      <p:sp>
        <p:nvSpPr>
          <p:cNvPr id="6" name="Shape 4"/>
          <p:cNvSpPr/>
          <p:nvPr/>
        </p:nvSpPr>
        <p:spPr>
          <a:xfrm>
            <a:off x="1188720" y="2322576"/>
            <a:ext cx="2743200" cy="548640"/>
          </a:xfrm>
          <a:prstGeom prst="roundRect">
            <a:avLst>
              <a:gd name="adj" fmla="val 13333"/>
            </a:avLst>
          </a:prstGeom>
          <a:solidFill>
            <a:srgbClr val="1E2761"/>
          </a:solidFill>
          <a:ln w="19050">
            <a:solidFill>
              <a:srgbClr val="D4AF37"/>
            </a:solidFill>
            <a:prstDash val="solid"/>
          </a:ln>
        </p:spPr>
      </p:sp>
      <p:sp>
        <p:nvSpPr>
          <p:cNvPr id="7" name="Text 5"/>
          <p:cNvSpPr txBox="1"/>
          <p:nvPr/>
        </p:nvSpPr>
        <p:spPr>
          <a:xfrm>
            <a:off x="1188720" y="2322576"/>
            <a:ext cx="2743200" cy="54864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Chip 2 — 1K × 8</a:t>
            </a:r>
            <a:endParaRPr lang="en-US" sz="2000" dirty="0"/>
          </a:p>
        </p:txBody>
      </p:sp>
      <p:sp>
        <p:nvSpPr>
          <p:cNvPr id="8" name="Shape 6"/>
          <p:cNvSpPr/>
          <p:nvPr/>
        </p:nvSpPr>
        <p:spPr>
          <a:xfrm>
            <a:off x="1188720" y="2999232"/>
            <a:ext cx="2743200" cy="548640"/>
          </a:xfrm>
          <a:prstGeom prst="roundRect">
            <a:avLst>
              <a:gd name="adj" fmla="val 13333"/>
            </a:avLst>
          </a:prstGeom>
          <a:solidFill>
            <a:srgbClr val="1E2761"/>
          </a:solidFill>
          <a:ln w="19050">
            <a:solidFill>
              <a:srgbClr val="D4AF37"/>
            </a:solidFill>
            <a:prstDash val="solid"/>
          </a:ln>
        </p:spPr>
      </p:sp>
      <p:sp>
        <p:nvSpPr>
          <p:cNvPr id="9" name="Text 7"/>
          <p:cNvSpPr txBox="1"/>
          <p:nvPr/>
        </p:nvSpPr>
        <p:spPr>
          <a:xfrm>
            <a:off x="1188720" y="2999232"/>
            <a:ext cx="2743200" cy="54864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Chip 3 — 1K × 8</a:t>
            </a:r>
            <a:endParaRPr lang="en-US" sz="2000" dirty="0"/>
          </a:p>
        </p:txBody>
      </p:sp>
      <p:sp>
        <p:nvSpPr>
          <p:cNvPr id="10" name="Shape 8"/>
          <p:cNvSpPr/>
          <p:nvPr/>
        </p:nvSpPr>
        <p:spPr>
          <a:xfrm>
            <a:off x="1188720" y="3675888"/>
            <a:ext cx="2743200" cy="548640"/>
          </a:xfrm>
          <a:prstGeom prst="roundRect">
            <a:avLst>
              <a:gd name="adj" fmla="val 13333"/>
            </a:avLst>
          </a:prstGeom>
          <a:solidFill>
            <a:srgbClr val="1E2761"/>
          </a:solidFill>
          <a:ln w="19050">
            <a:solidFill>
              <a:srgbClr val="D4AF37"/>
            </a:solidFill>
            <a:prstDash val="solid"/>
          </a:ln>
        </p:spPr>
      </p:sp>
      <p:sp>
        <p:nvSpPr>
          <p:cNvPr id="11" name="Text 9"/>
          <p:cNvSpPr txBox="1"/>
          <p:nvPr/>
        </p:nvSpPr>
        <p:spPr>
          <a:xfrm>
            <a:off x="1188720" y="3675888"/>
            <a:ext cx="2743200" cy="54864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Chip 4 — 1K × 8</a:t>
            </a:r>
            <a:endParaRPr lang="en-US" sz="2000" dirty="0"/>
          </a:p>
        </p:txBody>
      </p:sp>
      <p:sp>
        <p:nvSpPr>
          <p:cNvPr id="12" name="Shape 10"/>
          <p:cNvSpPr/>
          <p:nvPr/>
        </p:nvSpPr>
        <p:spPr>
          <a:xfrm>
            <a:off x="4846320" y="2651760"/>
            <a:ext cx="1280160" cy="914400"/>
          </a:xfrm>
          <a:prstGeom prst="roundRect">
            <a:avLst>
              <a:gd name="adj" fmla="val 8000"/>
            </a:avLst>
          </a:prstGeom>
          <a:solidFill>
            <a:srgbClr val="D4AF37"/>
          </a:solidFill>
          <a:ln/>
        </p:spPr>
      </p:sp>
      <p:sp>
        <p:nvSpPr>
          <p:cNvPr id="13" name="Text 11"/>
          <p:cNvSpPr txBox="1"/>
          <p:nvPr/>
        </p:nvSpPr>
        <p:spPr>
          <a:xfrm>
            <a:off x="4846320" y="2788920"/>
            <a:ext cx="1280160" cy="64008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2-to-4</a:t>
            </a:r>
            <a:endParaRPr lang="en-US" sz="2000" dirty="0"/>
          </a:p>
          <a:p>
            <a:pPr marL="0" indent="0" algn="ctr">
              <a:buNone/>
            </a:pPr>
            <a:r>
              <a:rPr lang="en-US" sz="2000" b="1" dirty="0">
                <a:solidFill>
                  <a:srgbClr val="1E2761"/>
                </a:solidFill>
                <a:latin typeface="Calibri" pitchFamily="34" charset="0"/>
                <a:ea typeface="Calibri" pitchFamily="34" charset="-122"/>
                <a:cs typeface="Calibri" pitchFamily="34" charset="-120"/>
              </a:rPr>
              <a:t>Decoder</a:t>
            </a:r>
            <a:endParaRPr lang="en-US" sz="2000" dirty="0"/>
          </a:p>
        </p:txBody>
      </p:sp>
      <p:sp>
        <p:nvSpPr>
          <p:cNvPr id="14" name="Shape 12"/>
          <p:cNvSpPr/>
          <p:nvPr/>
        </p:nvSpPr>
        <p:spPr>
          <a:xfrm>
            <a:off x="4846320" y="3108960"/>
            <a:ext cx="0" cy="0"/>
          </a:xfrm>
          <a:prstGeom prst="line">
            <a:avLst/>
          </a:prstGeom>
          <a:noFill/>
          <a:ln w="19050">
            <a:solidFill>
              <a:srgbClr val="1E2761"/>
            </a:solidFill>
            <a:prstDash val="solid"/>
            <a:tailEnd type="triangle"/>
          </a:ln>
        </p:spPr>
      </p:sp>
      <p:sp>
        <p:nvSpPr>
          <p:cNvPr id="15" name="Shape 13"/>
          <p:cNvSpPr/>
          <p:nvPr/>
        </p:nvSpPr>
        <p:spPr>
          <a:xfrm>
            <a:off x="4846320" y="3108960"/>
            <a:ext cx="0" cy="0"/>
          </a:xfrm>
          <a:prstGeom prst="line">
            <a:avLst/>
          </a:prstGeom>
          <a:noFill/>
          <a:ln w="19050">
            <a:solidFill>
              <a:srgbClr val="1E2761"/>
            </a:solidFill>
            <a:prstDash val="solid"/>
            <a:tailEnd type="triangle"/>
          </a:ln>
        </p:spPr>
      </p:sp>
      <p:sp>
        <p:nvSpPr>
          <p:cNvPr id="16" name="Shape 14"/>
          <p:cNvSpPr/>
          <p:nvPr/>
        </p:nvSpPr>
        <p:spPr>
          <a:xfrm>
            <a:off x="4846320" y="3108960"/>
            <a:ext cx="0" cy="164592"/>
          </a:xfrm>
          <a:prstGeom prst="line">
            <a:avLst/>
          </a:prstGeom>
          <a:noFill/>
          <a:ln w="19050">
            <a:solidFill>
              <a:srgbClr val="1E2761"/>
            </a:solidFill>
            <a:prstDash val="solid"/>
            <a:tailEnd type="triangle"/>
          </a:ln>
        </p:spPr>
      </p:sp>
      <p:sp>
        <p:nvSpPr>
          <p:cNvPr id="17" name="Shape 15"/>
          <p:cNvSpPr/>
          <p:nvPr/>
        </p:nvSpPr>
        <p:spPr>
          <a:xfrm>
            <a:off x="4846320" y="3108960"/>
            <a:ext cx="0" cy="841248"/>
          </a:xfrm>
          <a:prstGeom prst="line">
            <a:avLst/>
          </a:prstGeom>
          <a:noFill/>
          <a:ln w="19050">
            <a:solidFill>
              <a:srgbClr val="1E2761"/>
            </a:solidFill>
            <a:prstDash val="solid"/>
            <a:tailEnd type="triangle"/>
          </a:ln>
        </p:spPr>
      </p:sp>
      <p:sp>
        <p:nvSpPr>
          <p:cNvPr id="18" name="Text 16"/>
          <p:cNvSpPr txBox="1"/>
          <p:nvPr/>
        </p:nvSpPr>
        <p:spPr>
          <a:xfrm>
            <a:off x="4846320" y="2240280"/>
            <a:ext cx="2194560" cy="32004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2 extra address lines</a:t>
            </a:r>
            <a:endParaRPr lang="en-US" sz="2000" dirty="0"/>
          </a:p>
        </p:txBody>
      </p:sp>
      <p:sp>
        <p:nvSpPr>
          <p:cNvPr id="19" name="Text 17"/>
          <p:cNvSpPr txBox="1"/>
          <p:nvPr/>
        </p:nvSpPr>
        <p:spPr>
          <a:xfrm>
            <a:off x="640080" y="4617720"/>
            <a:ext cx="10881360" cy="13716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Need 4K × 8 memory, have 1K × 8 chips: 4096 ÷ 1024 = 4 chips</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Each chip needs log₂(1024) = 10 address lines internally</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log₂(4) = 2 extra lines select which chip is active</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Total: 10 + 2 = 12 address lines for the whole system</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24</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ROM FAMILY</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Types of ROM</a:t>
            </a:r>
            <a:endParaRPr lang="en-US" sz="3600" dirty="0"/>
          </a:p>
        </p:txBody>
      </p:sp>
      <p:sp>
        <p:nvSpPr>
          <p:cNvPr id="4" name="Shape 2"/>
          <p:cNvSpPr/>
          <p:nvPr/>
        </p:nvSpPr>
        <p:spPr>
          <a:xfrm>
            <a:off x="1234440" y="2377440"/>
            <a:ext cx="9692640" cy="0"/>
          </a:xfrm>
          <a:prstGeom prst="line">
            <a:avLst/>
          </a:prstGeom>
          <a:noFill/>
          <a:ln w="50800">
            <a:solidFill>
              <a:srgbClr val="CADCFC"/>
            </a:solidFill>
            <a:prstDash val="solid"/>
          </a:ln>
        </p:spPr>
      </p:sp>
      <p:sp>
        <p:nvSpPr>
          <p:cNvPr id="5" name="Shape 3"/>
          <p:cNvSpPr/>
          <p:nvPr/>
        </p:nvSpPr>
        <p:spPr>
          <a:xfrm>
            <a:off x="914400" y="2057400"/>
            <a:ext cx="640080" cy="640080"/>
          </a:xfrm>
          <a:prstGeom prst="ellipse">
            <a:avLst/>
          </a:prstGeom>
          <a:solidFill>
            <a:srgbClr val="1E2761"/>
          </a:solidFill>
          <a:ln w="25400">
            <a:solidFill>
              <a:srgbClr val="FFFFFF"/>
            </a:solidFill>
            <a:prstDash val="solid"/>
          </a:ln>
        </p:spPr>
      </p:sp>
      <p:sp>
        <p:nvSpPr>
          <p:cNvPr id="6" name="Text 4"/>
          <p:cNvSpPr txBox="1"/>
          <p:nvPr/>
        </p:nvSpPr>
        <p:spPr>
          <a:xfrm>
            <a:off x="914400" y="2057400"/>
            <a:ext cx="640080" cy="64008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320040" y="2834640"/>
            <a:ext cx="1828800" cy="45720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MROM</a:t>
            </a:r>
            <a:endParaRPr lang="en-US" sz="2000" dirty="0"/>
          </a:p>
        </p:txBody>
      </p:sp>
      <p:sp>
        <p:nvSpPr>
          <p:cNvPr id="8" name="Text 6"/>
          <p:cNvSpPr txBox="1"/>
          <p:nvPr/>
        </p:nvSpPr>
        <p:spPr>
          <a:xfrm>
            <a:off x="320040" y="3291840"/>
            <a:ext cx="1828800" cy="146304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Set at manufacture, permanent</a:t>
            </a:r>
            <a:endParaRPr lang="en-US" sz="2000" dirty="0"/>
          </a:p>
        </p:txBody>
      </p:sp>
      <p:sp>
        <p:nvSpPr>
          <p:cNvPr id="9" name="Shape 7"/>
          <p:cNvSpPr/>
          <p:nvPr/>
        </p:nvSpPr>
        <p:spPr>
          <a:xfrm>
            <a:off x="3337560" y="2057400"/>
            <a:ext cx="640080" cy="640080"/>
          </a:xfrm>
          <a:prstGeom prst="ellipse">
            <a:avLst/>
          </a:prstGeom>
          <a:solidFill>
            <a:srgbClr val="1E2761"/>
          </a:solidFill>
          <a:ln w="25400">
            <a:solidFill>
              <a:srgbClr val="FFFFFF"/>
            </a:solidFill>
            <a:prstDash val="solid"/>
          </a:ln>
        </p:spPr>
      </p:sp>
      <p:sp>
        <p:nvSpPr>
          <p:cNvPr id="10" name="Text 8"/>
          <p:cNvSpPr txBox="1"/>
          <p:nvPr/>
        </p:nvSpPr>
        <p:spPr>
          <a:xfrm>
            <a:off x="3337560" y="2057400"/>
            <a:ext cx="640080" cy="64008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2743200" y="2834640"/>
            <a:ext cx="1828800" cy="45720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PROM</a:t>
            </a:r>
            <a:endParaRPr lang="en-US" sz="2000" dirty="0"/>
          </a:p>
        </p:txBody>
      </p:sp>
      <p:sp>
        <p:nvSpPr>
          <p:cNvPr id="12" name="Text 10"/>
          <p:cNvSpPr txBox="1"/>
          <p:nvPr/>
        </p:nvSpPr>
        <p:spPr>
          <a:xfrm>
            <a:off x="2743200" y="3291840"/>
            <a:ext cx="1828800" cy="146304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Written once by the user</a:t>
            </a:r>
            <a:endParaRPr lang="en-US" sz="2000" dirty="0"/>
          </a:p>
        </p:txBody>
      </p:sp>
      <p:sp>
        <p:nvSpPr>
          <p:cNvPr id="13" name="Shape 11"/>
          <p:cNvSpPr/>
          <p:nvPr/>
        </p:nvSpPr>
        <p:spPr>
          <a:xfrm>
            <a:off x="5760720" y="2057400"/>
            <a:ext cx="640080" cy="640080"/>
          </a:xfrm>
          <a:prstGeom prst="ellipse">
            <a:avLst/>
          </a:prstGeom>
          <a:solidFill>
            <a:srgbClr val="1E2761"/>
          </a:solidFill>
          <a:ln w="25400">
            <a:solidFill>
              <a:srgbClr val="FFFFFF"/>
            </a:solidFill>
            <a:prstDash val="solid"/>
          </a:ln>
        </p:spPr>
      </p:sp>
      <p:sp>
        <p:nvSpPr>
          <p:cNvPr id="14" name="Text 12"/>
          <p:cNvSpPr txBox="1"/>
          <p:nvPr/>
        </p:nvSpPr>
        <p:spPr>
          <a:xfrm>
            <a:off x="5760720" y="2057400"/>
            <a:ext cx="640080" cy="64008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5166360" y="2834640"/>
            <a:ext cx="1828800" cy="45720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EPROM</a:t>
            </a:r>
            <a:endParaRPr lang="en-US" sz="2000" dirty="0"/>
          </a:p>
        </p:txBody>
      </p:sp>
      <p:sp>
        <p:nvSpPr>
          <p:cNvPr id="16" name="Text 14"/>
          <p:cNvSpPr txBox="1"/>
          <p:nvPr/>
        </p:nvSpPr>
        <p:spPr>
          <a:xfrm>
            <a:off x="5166360" y="3291840"/>
            <a:ext cx="1828800" cy="146304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Erased using UV light</a:t>
            </a:r>
            <a:endParaRPr lang="en-US" sz="2000" dirty="0"/>
          </a:p>
        </p:txBody>
      </p:sp>
      <p:sp>
        <p:nvSpPr>
          <p:cNvPr id="17" name="Shape 15"/>
          <p:cNvSpPr/>
          <p:nvPr/>
        </p:nvSpPr>
        <p:spPr>
          <a:xfrm>
            <a:off x="8183880" y="2057400"/>
            <a:ext cx="640080" cy="640080"/>
          </a:xfrm>
          <a:prstGeom prst="ellipse">
            <a:avLst/>
          </a:prstGeom>
          <a:solidFill>
            <a:srgbClr val="1E2761"/>
          </a:solidFill>
          <a:ln w="25400">
            <a:solidFill>
              <a:srgbClr val="FFFFFF"/>
            </a:solidFill>
            <a:prstDash val="solid"/>
          </a:ln>
        </p:spPr>
      </p:sp>
      <p:sp>
        <p:nvSpPr>
          <p:cNvPr id="18" name="Text 16"/>
          <p:cNvSpPr txBox="1"/>
          <p:nvPr/>
        </p:nvSpPr>
        <p:spPr>
          <a:xfrm>
            <a:off x="8183880" y="2057400"/>
            <a:ext cx="640080" cy="64008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9" name="Text 17"/>
          <p:cNvSpPr txBox="1"/>
          <p:nvPr/>
        </p:nvSpPr>
        <p:spPr>
          <a:xfrm>
            <a:off x="7589520" y="2834640"/>
            <a:ext cx="1828800" cy="45720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EEPROM</a:t>
            </a:r>
            <a:endParaRPr lang="en-US" sz="2000" dirty="0"/>
          </a:p>
        </p:txBody>
      </p:sp>
      <p:sp>
        <p:nvSpPr>
          <p:cNvPr id="20" name="Text 18"/>
          <p:cNvSpPr txBox="1"/>
          <p:nvPr/>
        </p:nvSpPr>
        <p:spPr>
          <a:xfrm>
            <a:off x="7589520" y="3291840"/>
            <a:ext cx="1828800" cy="146304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Erased electrically, byte by byte</a:t>
            </a:r>
            <a:endParaRPr lang="en-US" sz="2000" dirty="0"/>
          </a:p>
        </p:txBody>
      </p:sp>
      <p:sp>
        <p:nvSpPr>
          <p:cNvPr id="21" name="Shape 19"/>
          <p:cNvSpPr/>
          <p:nvPr/>
        </p:nvSpPr>
        <p:spPr>
          <a:xfrm>
            <a:off x="10607040" y="2057400"/>
            <a:ext cx="640080" cy="640080"/>
          </a:xfrm>
          <a:prstGeom prst="ellipse">
            <a:avLst/>
          </a:prstGeom>
          <a:solidFill>
            <a:srgbClr val="D4AF37"/>
          </a:solidFill>
          <a:ln w="25400">
            <a:solidFill>
              <a:srgbClr val="FFFFFF"/>
            </a:solidFill>
            <a:prstDash val="solid"/>
          </a:ln>
        </p:spPr>
      </p:sp>
      <p:sp>
        <p:nvSpPr>
          <p:cNvPr id="22" name="Text 20"/>
          <p:cNvSpPr txBox="1"/>
          <p:nvPr/>
        </p:nvSpPr>
        <p:spPr>
          <a:xfrm>
            <a:off x="10607040" y="2057400"/>
            <a:ext cx="640080" cy="64008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3" name="Text 21"/>
          <p:cNvSpPr txBox="1"/>
          <p:nvPr/>
        </p:nvSpPr>
        <p:spPr>
          <a:xfrm>
            <a:off x="10012680" y="2834640"/>
            <a:ext cx="1828800" cy="45720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Flash</a:t>
            </a:r>
            <a:endParaRPr lang="en-US" sz="2000" dirty="0"/>
          </a:p>
        </p:txBody>
      </p:sp>
      <p:sp>
        <p:nvSpPr>
          <p:cNvPr id="24" name="Text 22"/>
          <p:cNvSpPr txBox="1"/>
          <p:nvPr/>
        </p:nvSpPr>
        <p:spPr>
          <a:xfrm>
            <a:off x="10012680" y="3291840"/>
            <a:ext cx="1828800" cy="146304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Erased in blocks — USB, SSD</a:t>
            </a:r>
            <a:endParaRPr lang="en-US" sz="2000" dirty="0"/>
          </a:p>
        </p:txBody>
      </p:sp>
      <p:sp>
        <p:nvSpPr>
          <p:cNvPr id="25" name="Text 23"/>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6" name="Text 24"/>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25</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COMMON MISCONCEPTIONS</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Myth vs. Fact</a:t>
            </a:r>
            <a:endParaRPr lang="en-US" sz="3600" dirty="0"/>
          </a:p>
        </p:txBody>
      </p:sp>
      <p:sp>
        <p:nvSpPr>
          <p:cNvPr id="4" name="Shape 2"/>
          <p:cNvSpPr/>
          <p:nvPr/>
        </p:nvSpPr>
        <p:spPr>
          <a:xfrm>
            <a:off x="548640" y="1645920"/>
            <a:ext cx="5394960" cy="960120"/>
          </a:xfrm>
          <a:prstGeom prst="roundRect">
            <a:avLst>
              <a:gd name="adj" fmla="val 7619"/>
            </a:avLst>
          </a:prstGeom>
          <a:solidFill>
            <a:srgbClr val="FBEAEA"/>
          </a:solidFill>
          <a:ln/>
        </p:spPr>
      </p:sp>
      <p:sp>
        <p:nvSpPr>
          <p:cNvPr id="5" name="Text 3"/>
          <p:cNvSpPr txBox="1"/>
          <p:nvPr/>
        </p:nvSpPr>
        <p:spPr>
          <a:xfrm>
            <a:off x="731520" y="1700784"/>
            <a:ext cx="1097280" cy="320040"/>
          </a:xfrm>
          <a:prstGeom prst="rect">
            <a:avLst/>
          </a:prstGeom>
          <a:noFill/>
          <a:ln/>
        </p:spPr>
        <p:txBody>
          <a:bodyPr wrap="square" lIns="25400" tIns="25400" rIns="25400" bIns="25400" rtlCol="0" anchor="ctr"/>
          <a:lstStyle/>
          <a:p>
            <a:pPr marL="0" indent="0" algn="l">
              <a:buNone/>
            </a:pPr>
            <a:r>
              <a:rPr lang="en-US" sz="2000" b="1" dirty="0">
                <a:solidFill>
                  <a:srgbClr val="B23B3B"/>
                </a:solidFill>
                <a:latin typeface="Calibri" pitchFamily="34" charset="0"/>
                <a:ea typeface="Calibri" pitchFamily="34" charset="-122"/>
                <a:cs typeface="Calibri" pitchFamily="34" charset="-120"/>
              </a:rPr>
              <a:t>Myth</a:t>
            </a:r>
            <a:endParaRPr lang="en-US" sz="2000" dirty="0"/>
          </a:p>
        </p:txBody>
      </p:sp>
      <p:sp>
        <p:nvSpPr>
          <p:cNvPr id="6" name="Text 4"/>
          <p:cNvSpPr txBox="1"/>
          <p:nvPr/>
        </p:nvSpPr>
        <p:spPr>
          <a:xfrm>
            <a:off x="731520" y="201168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ROM can never be changed at all</a:t>
            </a:r>
            <a:endParaRPr lang="en-US" sz="2000" dirty="0"/>
          </a:p>
        </p:txBody>
      </p:sp>
      <p:sp>
        <p:nvSpPr>
          <p:cNvPr id="7" name="Shape 5"/>
          <p:cNvSpPr/>
          <p:nvPr/>
        </p:nvSpPr>
        <p:spPr>
          <a:xfrm>
            <a:off x="6217920" y="1645920"/>
            <a:ext cx="5394960" cy="960120"/>
          </a:xfrm>
          <a:prstGeom prst="roundRect">
            <a:avLst>
              <a:gd name="adj" fmla="val 7619"/>
            </a:avLst>
          </a:prstGeom>
          <a:solidFill>
            <a:srgbClr val="E7F3EC"/>
          </a:solidFill>
          <a:ln/>
        </p:spPr>
      </p:sp>
      <p:sp>
        <p:nvSpPr>
          <p:cNvPr id="8" name="Text 6"/>
          <p:cNvSpPr txBox="1"/>
          <p:nvPr/>
        </p:nvSpPr>
        <p:spPr>
          <a:xfrm>
            <a:off x="6400800" y="1700784"/>
            <a:ext cx="1097280" cy="320040"/>
          </a:xfrm>
          <a:prstGeom prst="rect">
            <a:avLst/>
          </a:prstGeom>
          <a:noFill/>
          <a:ln/>
        </p:spPr>
        <p:txBody>
          <a:bodyPr wrap="square" lIns="25400" tIns="25400" rIns="25400" bIns="25400" rtlCol="0" anchor="ctr"/>
          <a:lstStyle/>
          <a:p>
            <a:pPr marL="0" indent="0" algn="l">
              <a:buNone/>
            </a:pPr>
            <a:r>
              <a:rPr lang="en-US" sz="2000" b="1" dirty="0">
                <a:solidFill>
                  <a:srgbClr val="2E7D5B"/>
                </a:solidFill>
                <a:latin typeface="Calibri" pitchFamily="34" charset="0"/>
                <a:ea typeface="Calibri" pitchFamily="34" charset="-122"/>
                <a:cs typeface="Calibri" pitchFamily="34" charset="-120"/>
              </a:rPr>
              <a:t>Fact</a:t>
            </a:r>
            <a:endParaRPr lang="en-US" sz="2000" dirty="0"/>
          </a:p>
        </p:txBody>
      </p:sp>
      <p:sp>
        <p:nvSpPr>
          <p:cNvPr id="9" name="Text 7"/>
          <p:cNvSpPr txBox="1"/>
          <p:nvPr/>
        </p:nvSpPr>
        <p:spPr>
          <a:xfrm>
            <a:off x="6400800" y="201168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EPROM, EEPROM, and Flash can be rewritten</a:t>
            </a:r>
            <a:endParaRPr lang="en-US" sz="2000" dirty="0"/>
          </a:p>
        </p:txBody>
      </p:sp>
      <p:sp>
        <p:nvSpPr>
          <p:cNvPr id="10" name="Shape 8"/>
          <p:cNvSpPr/>
          <p:nvPr/>
        </p:nvSpPr>
        <p:spPr>
          <a:xfrm>
            <a:off x="548640" y="2743200"/>
            <a:ext cx="5394960" cy="960120"/>
          </a:xfrm>
          <a:prstGeom prst="roundRect">
            <a:avLst>
              <a:gd name="adj" fmla="val 7619"/>
            </a:avLst>
          </a:prstGeom>
          <a:solidFill>
            <a:srgbClr val="FBEAEA"/>
          </a:solidFill>
          <a:ln/>
        </p:spPr>
      </p:sp>
      <p:sp>
        <p:nvSpPr>
          <p:cNvPr id="11" name="Text 9"/>
          <p:cNvSpPr txBox="1"/>
          <p:nvPr/>
        </p:nvSpPr>
        <p:spPr>
          <a:xfrm>
            <a:off x="731520" y="2798064"/>
            <a:ext cx="1097280" cy="320040"/>
          </a:xfrm>
          <a:prstGeom prst="rect">
            <a:avLst/>
          </a:prstGeom>
          <a:noFill/>
          <a:ln/>
        </p:spPr>
        <p:txBody>
          <a:bodyPr wrap="square" lIns="25400" tIns="25400" rIns="25400" bIns="25400" rtlCol="0" anchor="ctr"/>
          <a:lstStyle/>
          <a:p>
            <a:pPr marL="0" indent="0" algn="l">
              <a:buNone/>
            </a:pPr>
            <a:r>
              <a:rPr lang="en-US" sz="2000" b="1" dirty="0">
                <a:solidFill>
                  <a:srgbClr val="B23B3B"/>
                </a:solidFill>
                <a:latin typeface="Calibri" pitchFamily="34" charset="0"/>
                <a:ea typeface="Calibri" pitchFamily="34" charset="-122"/>
                <a:cs typeface="Calibri" pitchFamily="34" charset="-120"/>
              </a:rPr>
              <a:t>Myth</a:t>
            </a:r>
            <a:endParaRPr lang="en-US" sz="2000" dirty="0"/>
          </a:p>
        </p:txBody>
      </p:sp>
      <p:sp>
        <p:nvSpPr>
          <p:cNvPr id="12" name="Text 10"/>
          <p:cNvSpPr txBox="1"/>
          <p:nvPr/>
        </p:nvSpPr>
        <p:spPr>
          <a:xfrm>
            <a:off x="731520" y="310896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More RAM always means a faster computer</a:t>
            </a:r>
            <a:endParaRPr lang="en-US" sz="2000" dirty="0"/>
          </a:p>
        </p:txBody>
      </p:sp>
      <p:sp>
        <p:nvSpPr>
          <p:cNvPr id="13" name="Shape 11"/>
          <p:cNvSpPr/>
          <p:nvPr/>
        </p:nvSpPr>
        <p:spPr>
          <a:xfrm>
            <a:off x="6217920" y="2743200"/>
            <a:ext cx="5394960" cy="960120"/>
          </a:xfrm>
          <a:prstGeom prst="roundRect">
            <a:avLst>
              <a:gd name="adj" fmla="val 7619"/>
            </a:avLst>
          </a:prstGeom>
          <a:solidFill>
            <a:srgbClr val="E7F3EC"/>
          </a:solidFill>
          <a:ln/>
        </p:spPr>
      </p:sp>
      <p:sp>
        <p:nvSpPr>
          <p:cNvPr id="14" name="Text 12"/>
          <p:cNvSpPr txBox="1"/>
          <p:nvPr/>
        </p:nvSpPr>
        <p:spPr>
          <a:xfrm>
            <a:off x="6400800" y="2798064"/>
            <a:ext cx="1097280" cy="320040"/>
          </a:xfrm>
          <a:prstGeom prst="rect">
            <a:avLst/>
          </a:prstGeom>
          <a:noFill/>
          <a:ln/>
        </p:spPr>
        <p:txBody>
          <a:bodyPr wrap="square" lIns="25400" tIns="25400" rIns="25400" bIns="25400" rtlCol="0" anchor="ctr"/>
          <a:lstStyle/>
          <a:p>
            <a:pPr marL="0" indent="0" algn="l">
              <a:buNone/>
            </a:pPr>
            <a:r>
              <a:rPr lang="en-US" sz="2000" b="1" dirty="0">
                <a:solidFill>
                  <a:srgbClr val="2E7D5B"/>
                </a:solidFill>
                <a:latin typeface="Calibri" pitchFamily="34" charset="0"/>
                <a:ea typeface="Calibri" pitchFamily="34" charset="-122"/>
                <a:cs typeface="Calibri" pitchFamily="34" charset="-120"/>
              </a:rPr>
              <a:t>Fact</a:t>
            </a:r>
            <a:endParaRPr lang="en-US" sz="2000" dirty="0"/>
          </a:p>
        </p:txBody>
      </p:sp>
      <p:sp>
        <p:nvSpPr>
          <p:cNvPr id="15" name="Text 13"/>
          <p:cNvSpPr txBox="1"/>
          <p:nvPr/>
        </p:nvSpPr>
        <p:spPr>
          <a:xfrm>
            <a:off x="6400800" y="310896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RAM aids multitasking; CPU &amp; storage speed matter too</a:t>
            </a:r>
            <a:endParaRPr lang="en-US" sz="2000" dirty="0"/>
          </a:p>
        </p:txBody>
      </p:sp>
      <p:sp>
        <p:nvSpPr>
          <p:cNvPr id="16" name="Shape 14"/>
          <p:cNvSpPr/>
          <p:nvPr/>
        </p:nvSpPr>
        <p:spPr>
          <a:xfrm>
            <a:off x="548640" y="3840480"/>
            <a:ext cx="5394960" cy="960120"/>
          </a:xfrm>
          <a:prstGeom prst="roundRect">
            <a:avLst>
              <a:gd name="adj" fmla="val 7619"/>
            </a:avLst>
          </a:prstGeom>
          <a:solidFill>
            <a:srgbClr val="FBEAEA"/>
          </a:solidFill>
          <a:ln/>
        </p:spPr>
      </p:sp>
      <p:sp>
        <p:nvSpPr>
          <p:cNvPr id="17" name="Text 15"/>
          <p:cNvSpPr txBox="1"/>
          <p:nvPr/>
        </p:nvSpPr>
        <p:spPr>
          <a:xfrm>
            <a:off x="731520" y="3895344"/>
            <a:ext cx="1097280" cy="320040"/>
          </a:xfrm>
          <a:prstGeom prst="rect">
            <a:avLst/>
          </a:prstGeom>
          <a:noFill/>
          <a:ln/>
        </p:spPr>
        <p:txBody>
          <a:bodyPr wrap="square" lIns="25400" tIns="25400" rIns="25400" bIns="25400" rtlCol="0" anchor="ctr"/>
          <a:lstStyle/>
          <a:p>
            <a:pPr marL="0" indent="0" algn="l">
              <a:buNone/>
            </a:pPr>
            <a:r>
              <a:rPr lang="en-US" sz="2000" b="1" dirty="0">
                <a:solidFill>
                  <a:srgbClr val="B23B3B"/>
                </a:solidFill>
                <a:latin typeface="Calibri" pitchFamily="34" charset="0"/>
                <a:ea typeface="Calibri" pitchFamily="34" charset="-122"/>
                <a:cs typeface="Calibri" pitchFamily="34" charset="-120"/>
              </a:rPr>
              <a:t>Myth</a:t>
            </a:r>
            <a:endParaRPr lang="en-US" sz="2000" dirty="0"/>
          </a:p>
        </p:txBody>
      </p:sp>
      <p:sp>
        <p:nvSpPr>
          <p:cNvPr id="18" name="Text 16"/>
          <p:cNvSpPr txBox="1"/>
          <p:nvPr/>
        </p:nvSpPr>
        <p:spPr>
          <a:xfrm>
            <a:off x="731520" y="420624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SRAM and DRAM are just different sizes</a:t>
            </a:r>
            <a:endParaRPr lang="en-US" sz="2000" dirty="0"/>
          </a:p>
        </p:txBody>
      </p:sp>
      <p:sp>
        <p:nvSpPr>
          <p:cNvPr id="19" name="Shape 17"/>
          <p:cNvSpPr/>
          <p:nvPr/>
        </p:nvSpPr>
        <p:spPr>
          <a:xfrm>
            <a:off x="6217920" y="3840480"/>
            <a:ext cx="5394960" cy="960120"/>
          </a:xfrm>
          <a:prstGeom prst="roundRect">
            <a:avLst>
              <a:gd name="adj" fmla="val 7619"/>
            </a:avLst>
          </a:prstGeom>
          <a:solidFill>
            <a:srgbClr val="E7F3EC"/>
          </a:solidFill>
          <a:ln/>
        </p:spPr>
      </p:sp>
      <p:sp>
        <p:nvSpPr>
          <p:cNvPr id="20" name="Text 18"/>
          <p:cNvSpPr txBox="1"/>
          <p:nvPr/>
        </p:nvSpPr>
        <p:spPr>
          <a:xfrm>
            <a:off x="6400800" y="3895344"/>
            <a:ext cx="1097280" cy="320040"/>
          </a:xfrm>
          <a:prstGeom prst="rect">
            <a:avLst/>
          </a:prstGeom>
          <a:noFill/>
          <a:ln/>
        </p:spPr>
        <p:txBody>
          <a:bodyPr wrap="square" lIns="25400" tIns="25400" rIns="25400" bIns="25400" rtlCol="0" anchor="ctr"/>
          <a:lstStyle/>
          <a:p>
            <a:pPr marL="0" indent="0" algn="l">
              <a:buNone/>
            </a:pPr>
            <a:r>
              <a:rPr lang="en-US" sz="2000" b="1" dirty="0">
                <a:solidFill>
                  <a:srgbClr val="2E7D5B"/>
                </a:solidFill>
                <a:latin typeface="Calibri" pitchFamily="34" charset="0"/>
                <a:ea typeface="Calibri" pitchFamily="34" charset="-122"/>
                <a:cs typeface="Calibri" pitchFamily="34" charset="-120"/>
              </a:rPr>
              <a:t>Fact</a:t>
            </a:r>
            <a:endParaRPr lang="en-US" sz="2000" dirty="0"/>
          </a:p>
        </p:txBody>
      </p:sp>
      <p:sp>
        <p:nvSpPr>
          <p:cNvPr id="21" name="Text 19"/>
          <p:cNvSpPr txBox="1"/>
          <p:nvPr/>
        </p:nvSpPr>
        <p:spPr>
          <a:xfrm>
            <a:off x="6400800" y="420624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They use entirely different storage mechanisms</a:t>
            </a:r>
            <a:endParaRPr lang="en-US" sz="2000" dirty="0"/>
          </a:p>
        </p:txBody>
      </p:sp>
      <p:sp>
        <p:nvSpPr>
          <p:cNvPr id="22" name="Shape 20"/>
          <p:cNvSpPr/>
          <p:nvPr/>
        </p:nvSpPr>
        <p:spPr>
          <a:xfrm>
            <a:off x="548640" y="4937760"/>
            <a:ext cx="5394960" cy="960120"/>
          </a:xfrm>
          <a:prstGeom prst="roundRect">
            <a:avLst>
              <a:gd name="adj" fmla="val 7619"/>
            </a:avLst>
          </a:prstGeom>
          <a:solidFill>
            <a:srgbClr val="FBEAEA"/>
          </a:solidFill>
          <a:ln/>
        </p:spPr>
      </p:sp>
      <p:sp>
        <p:nvSpPr>
          <p:cNvPr id="23" name="Text 21"/>
          <p:cNvSpPr txBox="1"/>
          <p:nvPr/>
        </p:nvSpPr>
        <p:spPr>
          <a:xfrm>
            <a:off x="731520" y="4992624"/>
            <a:ext cx="1097280" cy="320040"/>
          </a:xfrm>
          <a:prstGeom prst="rect">
            <a:avLst/>
          </a:prstGeom>
          <a:noFill/>
          <a:ln/>
        </p:spPr>
        <p:txBody>
          <a:bodyPr wrap="square" lIns="25400" tIns="25400" rIns="25400" bIns="25400" rtlCol="0" anchor="ctr"/>
          <a:lstStyle/>
          <a:p>
            <a:pPr marL="0" indent="0" algn="l">
              <a:buNone/>
            </a:pPr>
            <a:r>
              <a:rPr lang="en-US" sz="2000" b="1" dirty="0">
                <a:solidFill>
                  <a:srgbClr val="B23B3B"/>
                </a:solidFill>
                <a:latin typeface="Calibri" pitchFamily="34" charset="0"/>
                <a:ea typeface="Calibri" pitchFamily="34" charset="-122"/>
                <a:cs typeface="Calibri" pitchFamily="34" charset="-120"/>
              </a:rPr>
              <a:t>Myth</a:t>
            </a:r>
            <a:endParaRPr lang="en-US" sz="2000" dirty="0"/>
          </a:p>
        </p:txBody>
      </p:sp>
      <p:sp>
        <p:nvSpPr>
          <p:cNvPr id="24" name="Text 22"/>
          <p:cNvSpPr txBox="1"/>
          <p:nvPr/>
        </p:nvSpPr>
        <p:spPr>
          <a:xfrm>
            <a:off x="731520" y="530352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RAM and storage (SSD/HDD) are the same</a:t>
            </a:r>
            <a:endParaRPr lang="en-US" sz="2000" dirty="0"/>
          </a:p>
        </p:txBody>
      </p:sp>
      <p:sp>
        <p:nvSpPr>
          <p:cNvPr id="25" name="Shape 23"/>
          <p:cNvSpPr/>
          <p:nvPr/>
        </p:nvSpPr>
        <p:spPr>
          <a:xfrm>
            <a:off x="6217920" y="4937760"/>
            <a:ext cx="5394960" cy="960120"/>
          </a:xfrm>
          <a:prstGeom prst="roundRect">
            <a:avLst>
              <a:gd name="adj" fmla="val 7619"/>
            </a:avLst>
          </a:prstGeom>
          <a:solidFill>
            <a:srgbClr val="E7F3EC"/>
          </a:solidFill>
          <a:ln/>
        </p:spPr>
      </p:sp>
      <p:sp>
        <p:nvSpPr>
          <p:cNvPr id="26" name="Text 24"/>
          <p:cNvSpPr txBox="1"/>
          <p:nvPr/>
        </p:nvSpPr>
        <p:spPr>
          <a:xfrm>
            <a:off x="6400800" y="4992624"/>
            <a:ext cx="1097280" cy="320040"/>
          </a:xfrm>
          <a:prstGeom prst="rect">
            <a:avLst/>
          </a:prstGeom>
          <a:noFill/>
          <a:ln/>
        </p:spPr>
        <p:txBody>
          <a:bodyPr wrap="square" lIns="25400" tIns="25400" rIns="25400" bIns="25400" rtlCol="0" anchor="ctr"/>
          <a:lstStyle/>
          <a:p>
            <a:pPr marL="0" indent="0" algn="l">
              <a:buNone/>
            </a:pPr>
            <a:r>
              <a:rPr lang="en-US" sz="2000" b="1" dirty="0">
                <a:solidFill>
                  <a:srgbClr val="2E7D5B"/>
                </a:solidFill>
                <a:latin typeface="Calibri" pitchFamily="34" charset="0"/>
                <a:ea typeface="Calibri" pitchFamily="34" charset="-122"/>
                <a:cs typeface="Calibri" pitchFamily="34" charset="-120"/>
              </a:rPr>
              <a:t>Fact</a:t>
            </a:r>
            <a:endParaRPr lang="en-US" sz="2000" dirty="0"/>
          </a:p>
        </p:txBody>
      </p:sp>
      <p:sp>
        <p:nvSpPr>
          <p:cNvPr id="27" name="Text 25"/>
          <p:cNvSpPr txBox="1"/>
          <p:nvPr/>
        </p:nvSpPr>
        <p:spPr>
          <a:xfrm>
            <a:off x="6400800" y="530352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RAM is volatile working memory; storage is permanent</a:t>
            </a:r>
            <a:endParaRPr lang="en-US" sz="2000" dirty="0"/>
          </a:p>
        </p:txBody>
      </p:sp>
      <p:sp>
        <p:nvSpPr>
          <p:cNvPr id="28" name="Text 26"/>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9" name="Text 27"/>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26</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QUICK CHECK</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Mini Activity</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In pairs, discuss for 2 minutes: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"Would you use SRAM or DRAM for a self-driving car's main working memory? Why?"</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Think about: cost, capacity, speed, power consumption</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27</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INDUSTRY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Memory in Embedded &amp; IoT Systems</a:t>
            </a:r>
            <a:endParaRPr lang="en-US" sz="3600" dirty="0"/>
          </a:p>
        </p:txBody>
      </p:sp>
      <p:sp>
        <p:nvSpPr>
          <p:cNvPr id="4" name="Shape 2"/>
          <p:cNvSpPr/>
          <p:nvPr/>
        </p:nvSpPr>
        <p:spPr>
          <a:xfrm>
            <a:off x="548640" y="1737360"/>
            <a:ext cx="3444240" cy="1737360"/>
          </a:xfrm>
          <a:prstGeom prst="roundRect">
            <a:avLst>
              <a:gd name="adj" fmla="val 5263"/>
            </a:avLst>
          </a:prstGeom>
          <a:solidFill>
            <a:srgbClr val="E7EEFC"/>
          </a:solidFill>
          <a:ln/>
        </p:spPr>
      </p:sp>
      <p:sp>
        <p:nvSpPr>
          <p:cNvPr id="5" name="Shape 3"/>
          <p:cNvSpPr/>
          <p:nvPr/>
        </p:nvSpPr>
        <p:spPr>
          <a:xfrm>
            <a:off x="1813560" y="1938528"/>
            <a:ext cx="914400" cy="914400"/>
          </a:xfrm>
          <a:prstGeom prst="ellipse">
            <a:avLst/>
          </a:prstGeom>
          <a:solidFill>
            <a:srgbClr val="D4AF37"/>
          </a:solidFill>
          <a:ln/>
        </p:spPr>
      </p:sp>
      <p:pic>
        <p:nvPicPr>
          <p:cNvPr id="6" name="Image 0" descr="preencoded.png"/>
          <p:cNvPicPr>
            <a:picLocks noChangeAspect="1"/>
          </p:cNvPicPr>
          <p:nvPr/>
        </p:nvPicPr>
        <p:blipFill>
          <a:blip r:embed="rId3"/>
          <a:stretch>
            <a:fillRect/>
          </a:stretch>
        </p:blipFill>
        <p:spPr>
          <a:xfrm>
            <a:off x="1932432" y="2057400"/>
            <a:ext cx="676656" cy="676656"/>
          </a:xfrm>
          <a:prstGeom prst="rect">
            <a:avLst/>
          </a:prstGeom>
        </p:spPr>
      </p:pic>
      <p:sp>
        <p:nvSpPr>
          <p:cNvPr id="7" name="Text 4"/>
          <p:cNvSpPr txBox="1"/>
          <p:nvPr/>
        </p:nvSpPr>
        <p:spPr>
          <a:xfrm>
            <a:off x="64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Wearables — Flash + small SRAM</a:t>
            </a:r>
            <a:endParaRPr lang="en-US" sz="2000" dirty="0"/>
          </a:p>
        </p:txBody>
      </p:sp>
      <p:sp>
        <p:nvSpPr>
          <p:cNvPr id="8" name="Shape 5"/>
          <p:cNvSpPr/>
          <p:nvPr/>
        </p:nvSpPr>
        <p:spPr>
          <a:xfrm>
            <a:off x="4358640" y="1737360"/>
            <a:ext cx="3444240" cy="1737360"/>
          </a:xfrm>
          <a:prstGeom prst="roundRect">
            <a:avLst>
              <a:gd name="adj" fmla="val 5263"/>
            </a:avLst>
          </a:prstGeom>
          <a:solidFill>
            <a:srgbClr val="E7EEFC"/>
          </a:solidFill>
          <a:ln/>
        </p:spPr>
      </p:sp>
      <p:sp>
        <p:nvSpPr>
          <p:cNvPr id="9" name="Shape 6"/>
          <p:cNvSpPr/>
          <p:nvPr/>
        </p:nvSpPr>
        <p:spPr>
          <a:xfrm>
            <a:off x="5623560" y="1938528"/>
            <a:ext cx="914400" cy="914400"/>
          </a:xfrm>
          <a:prstGeom prst="ellipse">
            <a:avLst/>
          </a:prstGeom>
          <a:solidFill>
            <a:srgbClr val="D4AF37"/>
          </a:solidFill>
          <a:ln/>
        </p:spPr>
      </p:sp>
      <p:pic>
        <p:nvPicPr>
          <p:cNvPr id="10" name="Image 1" descr="preencoded.png"/>
          <p:cNvPicPr>
            <a:picLocks noChangeAspect="1"/>
          </p:cNvPicPr>
          <p:nvPr/>
        </p:nvPicPr>
        <p:blipFill>
          <a:blip r:embed="rId4"/>
          <a:stretch>
            <a:fillRect/>
          </a:stretch>
        </p:blipFill>
        <p:spPr>
          <a:xfrm>
            <a:off x="5742432" y="2057400"/>
            <a:ext cx="676656" cy="676656"/>
          </a:xfrm>
          <a:prstGeom prst="rect">
            <a:avLst/>
          </a:prstGeom>
        </p:spPr>
      </p:pic>
      <p:sp>
        <p:nvSpPr>
          <p:cNvPr id="11" name="Text 7"/>
          <p:cNvSpPr txBox="1"/>
          <p:nvPr/>
        </p:nvSpPr>
        <p:spPr>
          <a:xfrm>
            <a:off x="445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IoT Sensors — EEPROM/Flash firmware</a:t>
            </a:r>
            <a:endParaRPr lang="en-US" sz="2000" dirty="0"/>
          </a:p>
        </p:txBody>
      </p:sp>
      <p:sp>
        <p:nvSpPr>
          <p:cNvPr id="12" name="Shape 8"/>
          <p:cNvSpPr/>
          <p:nvPr/>
        </p:nvSpPr>
        <p:spPr>
          <a:xfrm>
            <a:off x="8168640" y="1737360"/>
            <a:ext cx="3444240" cy="1737360"/>
          </a:xfrm>
          <a:prstGeom prst="roundRect">
            <a:avLst>
              <a:gd name="adj" fmla="val 5263"/>
            </a:avLst>
          </a:prstGeom>
          <a:solidFill>
            <a:srgbClr val="E7EEFC"/>
          </a:solidFill>
          <a:ln/>
        </p:spPr>
      </p:sp>
      <p:sp>
        <p:nvSpPr>
          <p:cNvPr id="13" name="Shape 9"/>
          <p:cNvSpPr/>
          <p:nvPr/>
        </p:nvSpPr>
        <p:spPr>
          <a:xfrm>
            <a:off x="9433560" y="1938528"/>
            <a:ext cx="914400" cy="914400"/>
          </a:xfrm>
          <a:prstGeom prst="ellipse">
            <a:avLst/>
          </a:prstGeom>
          <a:solidFill>
            <a:srgbClr val="D4AF37"/>
          </a:solidFill>
          <a:ln/>
        </p:spPr>
      </p:sp>
      <p:pic>
        <p:nvPicPr>
          <p:cNvPr id="14" name="Image 2" descr="preencoded.png"/>
          <p:cNvPicPr>
            <a:picLocks noChangeAspect="1"/>
          </p:cNvPicPr>
          <p:nvPr/>
        </p:nvPicPr>
        <p:blipFill>
          <a:blip r:embed="rId5"/>
          <a:stretch>
            <a:fillRect/>
          </a:stretch>
        </p:blipFill>
        <p:spPr>
          <a:xfrm>
            <a:off x="9552432" y="2057400"/>
            <a:ext cx="676656" cy="676656"/>
          </a:xfrm>
          <a:prstGeom prst="rect">
            <a:avLst/>
          </a:prstGeom>
        </p:spPr>
      </p:pic>
      <p:sp>
        <p:nvSpPr>
          <p:cNvPr id="15" name="Text 10"/>
          <p:cNvSpPr txBox="1"/>
          <p:nvPr/>
        </p:nvSpPr>
        <p:spPr>
          <a:xfrm>
            <a:off x="826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Automotive ECUs — reliable non-volatile</a:t>
            </a:r>
            <a:endParaRPr lang="en-US" sz="2000" dirty="0"/>
          </a:p>
        </p:txBody>
      </p:sp>
      <p:sp>
        <p:nvSpPr>
          <p:cNvPr id="16" name="Shape 11"/>
          <p:cNvSpPr/>
          <p:nvPr/>
        </p:nvSpPr>
        <p:spPr>
          <a:xfrm>
            <a:off x="548640" y="3749040"/>
            <a:ext cx="11064240" cy="2331720"/>
          </a:xfrm>
          <a:prstGeom prst="roundRect">
            <a:avLst>
              <a:gd name="adj" fmla="val 3922"/>
            </a:avLst>
          </a:prstGeom>
          <a:solidFill>
            <a:srgbClr val="FFFFFF"/>
          </a:solidFill>
          <a:ln w="19050">
            <a:solidFill>
              <a:srgbClr val="CADCFC"/>
            </a:solidFill>
            <a:prstDash val="solid"/>
          </a:ln>
        </p:spPr>
      </p:sp>
      <p:sp>
        <p:nvSpPr>
          <p:cNvPr id="17" name="Text 12"/>
          <p:cNvSpPr txBox="1"/>
          <p:nvPr/>
        </p:nvSpPr>
        <p:spPr>
          <a:xfrm>
            <a:off x="868680" y="3950208"/>
            <a:ext cx="10424160" cy="1965960"/>
          </a:xfrm>
          <a:prstGeom prst="rect">
            <a:avLst/>
          </a:prstGeom>
          <a:noFill/>
          <a:ln/>
        </p:spPr>
        <p:txBody>
          <a:bodyPr wrap="square" lIns="0" tIns="0" rIns="0" bIns="0" rtlCol="0" anchor="t"/>
          <a:lstStyle/>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Engineers agonize over every extra kilobyte (cost, battery life)</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Firmware lives in Flash/EEPROM — must survive power loss</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A little SRAM handles temporary, real-time calculations</a:t>
            </a:r>
            <a:endParaRPr lang="en-US" sz="1900" dirty="0"/>
          </a:p>
        </p:txBody>
      </p:sp>
      <p:sp>
        <p:nvSpPr>
          <p:cNvPr id="18" name="Text 13"/>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19" name="Text 14"/>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28</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RECAP</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Summary of Key Points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Memory hierarchy balances speed, cost, and capacity</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RAM (volatile) vs. ROM (non-volatile); both random access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SRAM: 6T latch, fast, no refresh, used in cache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DRAM: 1T-1C, needs refresh, used in main memory</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Address lines = log₂(words); data lines = word size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ROM family: MROM → PROM → EPROM → EEPROM → Flash</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29</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CHECK YOUR UNDERSTANDING</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Quiz — Memory Systems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728216"/>
            <a:ext cx="11064240" cy="535577"/>
          </a:xfrm>
          <a:prstGeom prst="roundRect">
            <a:avLst>
              <a:gd name="adj" fmla="val 10244"/>
            </a:avLst>
          </a:prstGeom>
          <a:solidFill>
            <a:srgbClr val="E7EEFC"/>
          </a:solidFill>
          <a:ln w="9525">
            <a:solidFill>
              <a:srgbClr val="CADCFC"/>
            </a:solidFill>
            <a:prstDash val="solid"/>
          </a:ln>
        </p:spPr>
      </p:sp>
      <p:sp>
        <p:nvSpPr>
          <p:cNvPr id="7" name="Text 4"/>
          <p:cNvSpPr txBox="1"/>
          <p:nvPr/>
        </p:nvSpPr>
        <p:spPr>
          <a:xfrm>
            <a:off x="822960" y="1728216"/>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Q1. Which RAM type needs no refreshing? (a) DRAM (b) SRAM (c) EEPROM (d) Flash</a:t>
            </a:r>
            <a:endParaRPr lang="en-US" sz="2000" dirty="0"/>
          </a:p>
        </p:txBody>
      </p:sp>
      <p:sp>
        <p:nvSpPr>
          <p:cNvPr id="8" name="Shape 5"/>
          <p:cNvSpPr/>
          <p:nvPr/>
        </p:nvSpPr>
        <p:spPr>
          <a:xfrm>
            <a:off x="548640" y="2355233"/>
            <a:ext cx="11064240" cy="535577"/>
          </a:xfrm>
          <a:prstGeom prst="roundRect">
            <a:avLst>
              <a:gd name="adj" fmla="val 10244"/>
            </a:avLst>
          </a:prstGeom>
          <a:solidFill>
            <a:srgbClr val="FFFFFF"/>
          </a:solidFill>
          <a:ln w="9525">
            <a:solidFill>
              <a:srgbClr val="CADCFC"/>
            </a:solidFill>
            <a:prstDash val="solid"/>
          </a:ln>
        </p:spPr>
      </p:sp>
      <p:sp>
        <p:nvSpPr>
          <p:cNvPr id="9" name="Text 6"/>
          <p:cNvSpPr txBox="1"/>
          <p:nvPr/>
        </p:nvSpPr>
        <p:spPr>
          <a:xfrm>
            <a:off x="822960" y="2355233"/>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Q2. True/False: ROM is always completely unchangeable after manufacture.</a:t>
            </a:r>
            <a:endParaRPr lang="en-US" sz="2000" dirty="0"/>
          </a:p>
        </p:txBody>
      </p:sp>
      <p:sp>
        <p:nvSpPr>
          <p:cNvPr id="10" name="Shape 7"/>
          <p:cNvSpPr/>
          <p:nvPr/>
        </p:nvSpPr>
        <p:spPr>
          <a:xfrm>
            <a:off x="548640" y="2982250"/>
            <a:ext cx="11064240" cy="535577"/>
          </a:xfrm>
          <a:prstGeom prst="roundRect">
            <a:avLst>
              <a:gd name="adj" fmla="val 10244"/>
            </a:avLst>
          </a:prstGeom>
          <a:solidFill>
            <a:srgbClr val="E7EEFC"/>
          </a:solidFill>
          <a:ln w="9525">
            <a:solidFill>
              <a:srgbClr val="CADCFC"/>
            </a:solidFill>
            <a:prstDash val="solid"/>
          </a:ln>
        </p:spPr>
      </p:sp>
      <p:sp>
        <p:nvSpPr>
          <p:cNvPr id="11" name="Text 8"/>
          <p:cNvSpPr txBox="1"/>
          <p:nvPr/>
        </p:nvSpPr>
        <p:spPr>
          <a:xfrm>
            <a:off x="822960" y="2982250"/>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Q3. A DRAM cell uses: (a) 6 transistors (b) 1 transistor + 1 capacitor (c) 4 transistors</a:t>
            </a:r>
            <a:endParaRPr lang="en-US" sz="2000" dirty="0"/>
          </a:p>
        </p:txBody>
      </p:sp>
      <p:sp>
        <p:nvSpPr>
          <p:cNvPr id="12" name="Shape 9"/>
          <p:cNvSpPr/>
          <p:nvPr/>
        </p:nvSpPr>
        <p:spPr>
          <a:xfrm>
            <a:off x="548640" y="3609267"/>
            <a:ext cx="11064240" cy="535577"/>
          </a:xfrm>
          <a:prstGeom prst="roundRect">
            <a:avLst>
              <a:gd name="adj" fmla="val 10244"/>
            </a:avLst>
          </a:prstGeom>
          <a:solidFill>
            <a:srgbClr val="FFFFFF"/>
          </a:solidFill>
          <a:ln w="9525">
            <a:solidFill>
              <a:srgbClr val="CADCFC"/>
            </a:solidFill>
            <a:prstDash val="solid"/>
          </a:ln>
        </p:spPr>
      </p:sp>
      <p:sp>
        <p:nvSpPr>
          <p:cNvPr id="13" name="Text 10"/>
          <p:cNvSpPr txBox="1"/>
          <p:nvPr/>
        </p:nvSpPr>
        <p:spPr>
          <a:xfrm>
            <a:off x="822960" y="3609267"/>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Q4. A chip is specified as 2K × 8. How many address lines does it need?</a:t>
            </a:r>
            <a:endParaRPr lang="en-US" sz="2000" dirty="0"/>
          </a:p>
        </p:txBody>
      </p:sp>
      <p:sp>
        <p:nvSpPr>
          <p:cNvPr id="14" name="Shape 11"/>
          <p:cNvSpPr/>
          <p:nvPr/>
        </p:nvSpPr>
        <p:spPr>
          <a:xfrm>
            <a:off x="548640" y="4236285"/>
            <a:ext cx="11064240" cy="535577"/>
          </a:xfrm>
          <a:prstGeom prst="roundRect">
            <a:avLst>
              <a:gd name="adj" fmla="val 10244"/>
            </a:avLst>
          </a:prstGeom>
          <a:solidFill>
            <a:srgbClr val="E7EEFC"/>
          </a:solidFill>
          <a:ln w="9525">
            <a:solidFill>
              <a:srgbClr val="CADCFC"/>
            </a:solidFill>
            <a:prstDash val="solid"/>
          </a:ln>
        </p:spPr>
      </p:sp>
      <p:sp>
        <p:nvSpPr>
          <p:cNvPr id="15" name="Text 12"/>
          <p:cNvSpPr txBox="1"/>
          <p:nvPr/>
        </p:nvSpPr>
        <p:spPr>
          <a:xfrm>
            <a:off x="822960" y="4236285"/>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Q5. Which memory type is used for CPU cache? (a) DRAM (b) SRAM (c) EEPROM</a:t>
            </a:r>
            <a:endParaRPr lang="en-US" sz="2000" dirty="0"/>
          </a:p>
        </p:txBody>
      </p:sp>
      <p:sp>
        <p:nvSpPr>
          <p:cNvPr id="16" name="Shape 13"/>
          <p:cNvSpPr/>
          <p:nvPr/>
        </p:nvSpPr>
        <p:spPr>
          <a:xfrm>
            <a:off x="548640" y="4863302"/>
            <a:ext cx="11064240" cy="535577"/>
          </a:xfrm>
          <a:prstGeom prst="roundRect">
            <a:avLst>
              <a:gd name="adj" fmla="val 10244"/>
            </a:avLst>
          </a:prstGeom>
          <a:solidFill>
            <a:srgbClr val="FFFFFF"/>
          </a:solidFill>
          <a:ln w="9525">
            <a:solidFill>
              <a:srgbClr val="CADCFC"/>
            </a:solidFill>
            <a:prstDash val="solid"/>
          </a:ln>
        </p:spPr>
      </p:sp>
      <p:sp>
        <p:nvSpPr>
          <p:cNvPr id="17" name="Text 14"/>
          <p:cNvSpPr txBox="1"/>
          <p:nvPr/>
        </p:nvSpPr>
        <p:spPr>
          <a:xfrm>
            <a:off x="822960" y="4863302"/>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Q6. True/False: RAM and secondary storage (SSD/HDD) are the same thing.</a:t>
            </a:r>
            <a:endParaRPr lang="en-US" sz="2000" dirty="0"/>
          </a:p>
        </p:txBody>
      </p:sp>
      <p:sp>
        <p:nvSpPr>
          <p:cNvPr id="18" name="Shape 15"/>
          <p:cNvSpPr/>
          <p:nvPr/>
        </p:nvSpPr>
        <p:spPr>
          <a:xfrm>
            <a:off x="548640" y="5490319"/>
            <a:ext cx="11064240" cy="535577"/>
          </a:xfrm>
          <a:prstGeom prst="roundRect">
            <a:avLst>
              <a:gd name="adj" fmla="val 10244"/>
            </a:avLst>
          </a:prstGeom>
          <a:solidFill>
            <a:srgbClr val="E7EEFC"/>
          </a:solidFill>
          <a:ln w="9525">
            <a:solidFill>
              <a:srgbClr val="CADCFC"/>
            </a:solidFill>
            <a:prstDash val="solid"/>
          </a:ln>
        </p:spPr>
      </p:sp>
      <p:sp>
        <p:nvSpPr>
          <p:cNvPr id="19" name="Text 16"/>
          <p:cNvSpPr txBox="1"/>
          <p:nvPr/>
        </p:nvSpPr>
        <p:spPr>
          <a:xfrm>
            <a:off x="822960" y="5490319"/>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Q7. Name one real-world device that uses Flash memory for firmware.</a:t>
            </a:r>
            <a:endParaRPr lang="en-US" sz="2000" dirty="0"/>
          </a:p>
        </p:txBody>
      </p:sp>
      <p:sp>
        <p:nvSpPr>
          <p:cNvPr id="20" name="Text 17"/>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8"/>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30</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ANSWERS</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Quiz Answers — Memory Systems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728216"/>
            <a:ext cx="11064240" cy="535577"/>
          </a:xfrm>
          <a:prstGeom prst="roundRect">
            <a:avLst>
              <a:gd name="adj" fmla="val 10244"/>
            </a:avLst>
          </a:prstGeom>
          <a:solidFill>
            <a:srgbClr val="E7EEFC"/>
          </a:solidFill>
          <a:ln w="9525">
            <a:solidFill>
              <a:srgbClr val="CADCFC"/>
            </a:solidFill>
            <a:prstDash val="solid"/>
          </a:ln>
        </p:spPr>
      </p:sp>
      <p:sp>
        <p:nvSpPr>
          <p:cNvPr id="7" name="Text 4"/>
          <p:cNvSpPr txBox="1"/>
          <p:nvPr/>
        </p:nvSpPr>
        <p:spPr>
          <a:xfrm>
            <a:off x="822960" y="1728216"/>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A1. (b) SRAM — holds data via transistor feedback, no leaking capacitor</a:t>
            </a:r>
            <a:endParaRPr lang="en-US" sz="2000" dirty="0"/>
          </a:p>
        </p:txBody>
      </p:sp>
      <p:sp>
        <p:nvSpPr>
          <p:cNvPr id="8" name="Shape 5"/>
          <p:cNvSpPr/>
          <p:nvPr/>
        </p:nvSpPr>
        <p:spPr>
          <a:xfrm>
            <a:off x="548640" y="2355233"/>
            <a:ext cx="11064240" cy="535577"/>
          </a:xfrm>
          <a:prstGeom prst="roundRect">
            <a:avLst>
              <a:gd name="adj" fmla="val 10244"/>
            </a:avLst>
          </a:prstGeom>
          <a:solidFill>
            <a:srgbClr val="FFFFFF"/>
          </a:solidFill>
          <a:ln w="9525">
            <a:solidFill>
              <a:srgbClr val="CADCFC"/>
            </a:solidFill>
            <a:prstDash val="solid"/>
          </a:ln>
        </p:spPr>
      </p:sp>
      <p:sp>
        <p:nvSpPr>
          <p:cNvPr id="9" name="Text 6"/>
          <p:cNvSpPr txBox="1"/>
          <p:nvPr/>
        </p:nvSpPr>
        <p:spPr>
          <a:xfrm>
            <a:off x="822960" y="2355233"/>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A2. False — EPROM, EEPROM, and Flash are rewritable</a:t>
            </a:r>
            <a:endParaRPr lang="en-US" sz="2000" dirty="0"/>
          </a:p>
        </p:txBody>
      </p:sp>
      <p:sp>
        <p:nvSpPr>
          <p:cNvPr id="10" name="Shape 7"/>
          <p:cNvSpPr/>
          <p:nvPr/>
        </p:nvSpPr>
        <p:spPr>
          <a:xfrm>
            <a:off x="548640" y="2982250"/>
            <a:ext cx="11064240" cy="535577"/>
          </a:xfrm>
          <a:prstGeom prst="roundRect">
            <a:avLst>
              <a:gd name="adj" fmla="val 10244"/>
            </a:avLst>
          </a:prstGeom>
          <a:solidFill>
            <a:srgbClr val="E7EEFC"/>
          </a:solidFill>
          <a:ln w="9525">
            <a:solidFill>
              <a:srgbClr val="CADCFC"/>
            </a:solidFill>
            <a:prstDash val="solid"/>
          </a:ln>
        </p:spPr>
      </p:sp>
      <p:sp>
        <p:nvSpPr>
          <p:cNvPr id="11" name="Text 8"/>
          <p:cNvSpPr txBox="1"/>
          <p:nvPr/>
        </p:nvSpPr>
        <p:spPr>
          <a:xfrm>
            <a:off x="822960" y="2982250"/>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A3. (b) 1 transistor + 1 capacitor — gives DRAM its high density</a:t>
            </a:r>
            <a:endParaRPr lang="en-US" sz="2000" dirty="0"/>
          </a:p>
        </p:txBody>
      </p:sp>
      <p:sp>
        <p:nvSpPr>
          <p:cNvPr id="12" name="Shape 9"/>
          <p:cNvSpPr/>
          <p:nvPr/>
        </p:nvSpPr>
        <p:spPr>
          <a:xfrm>
            <a:off x="548640" y="3609267"/>
            <a:ext cx="11064240" cy="535577"/>
          </a:xfrm>
          <a:prstGeom prst="roundRect">
            <a:avLst>
              <a:gd name="adj" fmla="val 10244"/>
            </a:avLst>
          </a:prstGeom>
          <a:solidFill>
            <a:srgbClr val="FFFFFF"/>
          </a:solidFill>
          <a:ln w="9525">
            <a:solidFill>
              <a:srgbClr val="CADCFC"/>
            </a:solidFill>
            <a:prstDash val="solid"/>
          </a:ln>
        </p:spPr>
      </p:sp>
      <p:sp>
        <p:nvSpPr>
          <p:cNvPr id="13" name="Text 10"/>
          <p:cNvSpPr txBox="1"/>
          <p:nvPr/>
        </p:nvSpPr>
        <p:spPr>
          <a:xfrm>
            <a:off x="822960" y="3609267"/>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A4. log₂(2048) = 11 address lines</a:t>
            </a:r>
            <a:endParaRPr lang="en-US" sz="2000" dirty="0"/>
          </a:p>
        </p:txBody>
      </p:sp>
      <p:sp>
        <p:nvSpPr>
          <p:cNvPr id="14" name="Shape 11"/>
          <p:cNvSpPr/>
          <p:nvPr/>
        </p:nvSpPr>
        <p:spPr>
          <a:xfrm>
            <a:off x="548640" y="4236285"/>
            <a:ext cx="11064240" cy="535577"/>
          </a:xfrm>
          <a:prstGeom prst="roundRect">
            <a:avLst>
              <a:gd name="adj" fmla="val 10244"/>
            </a:avLst>
          </a:prstGeom>
          <a:solidFill>
            <a:srgbClr val="E7EEFC"/>
          </a:solidFill>
          <a:ln w="9525">
            <a:solidFill>
              <a:srgbClr val="CADCFC"/>
            </a:solidFill>
            <a:prstDash val="solid"/>
          </a:ln>
        </p:spPr>
      </p:sp>
      <p:sp>
        <p:nvSpPr>
          <p:cNvPr id="15" name="Text 12"/>
          <p:cNvSpPr txBox="1"/>
          <p:nvPr/>
        </p:nvSpPr>
        <p:spPr>
          <a:xfrm>
            <a:off x="822960" y="4236285"/>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A5. (b) SRAM — chosen for speed to match the CPU</a:t>
            </a:r>
            <a:endParaRPr lang="en-US" sz="2000" dirty="0"/>
          </a:p>
        </p:txBody>
      </p:sp>
      <p:sp>
        <p:nvSpPr>
          <p:cNvPr id="16" name="Shape 13"/>
          <p:cNvSpPr/>
          <p:nvPr/>
        </p:nvSpPr>
        <p:spPr>
          <a:xfrm>
            <a:off x="548640" y="4863302"/>
            <a:ext cx="11064240" cy="535577"/>
          </a:xfrm>
          <a:prstGeom prst="roundRect">
            <a:avLst>
              <a:gd name="adj" fmla="val 10244"/>
            </a:avLst>
          </a:prstGeom>
          <a:solidFill>
            <a:srgbClr val="FFFFFF"/>
          </a:solidFill>
          <a:ln w="9525">
            <a:solidFill>
              <a:srgbClr val="CADCFC"/>
            </a:solidFill>
            <a:prstDash val="solid"/>
          </a:ln>
        </p:spPr>
      </p:sp>
      <p:sp>
        <p:nvSpPr>
          <p:cNvPr id="17" name="Text 14"/>
          <p:cNvSpPr txBox="1"/>
          <p:nvPr/>
        </p:nvSpPr>
        <p:spPr>
          <a:xfrm>
            <a:off x="822960" y="4863302"/>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A6. False — RAM is volatile working memory; storage is permanent</a:t>
            </a:r>
            <a:endParaRPr lang="en-US" sz="2000" dirty="0"/>
          </a:p>
        </p:txBody>
      </p:sp>
      <p:sp>
        <p:nvSpPr>
          <p:cNvPr id="18" name="Shape 15"/>
          <p:cNvSpPr/>
          <p:nvPr/>
        </p:nvSpPr>
        <p:spPr>
          <a:xfrm>
            <a:off x="548640" y="5490319"/>
            <a:ext cx="11064240" cy="535577"/>
          </a:xfrm>
          <a:prstGeom prst="roundRect">
            <a:avLst>
              <a:gd name="adj" fmla="val 10244"/>
            </a:avLst>
          </a:prstGeom>
          <a:solidFill>
            <a:srgbClr val="E7EEFC"/>
          </a:solidFill>
          <a:ln w="9525">
            <a:solidFill>
              <a:srgbClr val="CADCFC"/>
            </a:solidFill>
            <a:prstDash val="solid"/>
          </a:ln>
        </p:spPr>
      </p:sp>
      <p:sp>
        <p:nvSpPr>
          <p:cNvPr id="19" name="Text 16"/>
          <p:cNvSpPr txBox="1"/>
          <p:nvPr/>
        </p:nvSpPr>
        <p:spPr>
          <a:xfrm>
            <a:off x="822960" y="5490319"/>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A7. e.g. smartphone, USB drive, SSD, smart thermostat firmware</a:t>
            </a:r>
            <a:endParaRPr lang="en-US" sz="2000" dirty="0"/>
          </a:p>
        </p:txBody>
      </p:sp>
      <p:sp>
        <p:nvSpPr>
          <p:cNvPr id="20" name="Text 17"/>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8"/>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31</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3500</Words>
  <Application>Microsoft Office PowerPoint</Application>
  <PresentationFormat>Widescreen</PresentationFormat>
  <Paragraphs>414</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Manoj  Sagar K - Assistant Professor - SAIAC</cp:lastModifiedBy>
  <cp:revision>3</cp:revision>
  <dcterms:created xsi:type="dcterms:W3CDTF">2026-09-22T03:21:08Z</dcterms:created>
  <dcterms:modified xsi:type="dcterms:W3CDTF">2026-09-22T03:42:42Z</dcterms:modified>
</cp:coreProperties>
</file>